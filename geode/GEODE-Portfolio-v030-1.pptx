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8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616273"/>
            <a:ext cx="362248" cy="101501"/>
          </a:xfrm>
          <a:prstGeom prst="roundRect">
            <a:avLst>
              <a:gd name="adj" fmla="val 3753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7725" y="1638449"/>
            <a:ext cx="19461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v0.30.0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174998" y="1616273"/>
            <a:ext cx="987921" cy="101501"/>
          </a:xfrm>
          <a:prstGeom prst="roundRect">
            <a:avLst>
              <a:gd name="adj" fmla="val 375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60723" y="1638449"/>
            <a:ext cx="83280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Execution Harness</a:t>
            </a:r>
            <a:endParaRPr lang="en-US" sz="450" dirty="0"/>
          </a:p>
        </p:txBody>
      </p:sp>
      <p:sp>
        <p:nvSpPr>
          <p:cNvPr id="7" name="Text 4"/>
          <p:cNvSpPr/>
          <p:nvPr/>
        </p:nvSpPr>
        <p:spPr>
          <a:xfrm>
            <a:off x="762000" y="1793974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62000" y="2355949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Loop + 47 Tools + 37 Hook Events + 3 LLM Providers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2000" y="2667000"/>
            <a:ext cx="591294" cy="428625"/>
          </a:xfrm>
          <a:prstGeom prst="roundRect">
            <a:avLst>
              <a:gd name="adj" fmla="val 1185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95292" y="2752725"/>
            <a:ext cx="324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5292" y="2962275"/>
            <a:ext cx="32471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350" dirty="0"/>
          </a:p>
        </p:txBody>
      </p:sp>
      <p:sp>
        <p:nvSpPr>
          <p:cNvPr id="12" name="Text 9"/>
          <p:cNvSpPr/>
          <p:nvPr/>
        </p:nvSpPr>
        <p:spPr>
          <a:xfrm>
            <a:off x="1454795" y="2667000"/>
            <a:ext cx="821531" cy="428625"/>
          </a:xfrm>
          <a:prstGeom prst="roundRect">
            <a:avLst>
              <a:gd name="adj" fmla="val 1185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585785" y="2752725"/>
            <a:ext cx="559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3,219+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85785" y="2962275"/>
            <a:ext cx="55955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350" dirty="0"/>
          </a:p>
        </p:txBody>
      </p:sp>
      <p:sp>
        <p:nvSpPr>
          <p:cNvPr id="15" name="Text 12"/>
          <p:cNvSpPr/>
          <p:nvPr/>
        </p:nvSpPr>
        <p:spPr>
          <a:xfrm>
            <a:off x="2377827" y="2667000"/>
            <a:ext cx="673298" cy="428625"/>
          </a:xfrm>
          <a:prstGeom prst="roundRect">
            <a:avLst>
              <a:gd name="adj" fmla="val 1185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510299" y="2752725"/>
            <a:ext cx="408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485+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10299" y="2962275"/>
            <a:ext cx="408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350" dirty="0"/>
          </a:p>
        </p:txBody>
      </p:sp>
      <p:sp>
        <p:nvSpPr>
          <p:cNvPr id="18" name="Text 15"/>
          <p:cNvSpPr/>
          <p:nvPr/>
        </p:nvSpPr>
        <p:spPr>
          <a:xfrm>
            <a:off x="3152626" y="2667000"/>
            <a:ext cx="519708" cy="428625"/>
          </a:xfrm>
          <a:prstGeom prst="roundRect">
            <a:avLst>
              <a:gd name="adj" fmla="val 1185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86634" y="2752725"/>
            <a:ext cx="2516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86634" y="2962275"/>
            <a:ext cx="25169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350" dirty="0"/>
          </a:p>
        </p:txBody>
      </p:sp>
      <p:sp>
        <p:nvSpPr>
          <p:cNvPr id="21" name="Text 18"/>
          <p:cNvSpPr/>
          <p:nvPr/>
        </p:nvSpPr>
        <p:spPr>
          <a:xfrm>
            <a:off x="762000" y="3197126"/>
            <a:ext cx="77724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days  ·  900+ commits  ·  30+ releases  ·  6-Layer Architecture</a:t>
            </a:r>
            <a:endParaRPr lang="en-US" sz="400" dirty="0"/>
          </a:p>
        </p:txBody>
      </p:sp>
      <p:sp>
        <p:nvSpPr>
          <p:cNvPr id="22" name="Text 19"/>
          <p:cNvSpPr/>
          <p:nvPr/>
        </p:nvSpPr>
        <p:spPr>
          <a:xfrm>
            <a:off x="762000" y="3330476"/>
            <a:ext cx="338435" cy="72926"/>
          </a:xfrm>
          <a:prstGeom prst="roundRect">
            <a:avLst>
              <a:gd name="adj" fmla="val 3483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12750" y="3343126"/>
            <a:ext cx="2416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350" dirty="0"/>
          </a:p>
        </p:txBody>
      </p:sp>
      <p:sp>
        <p:nvSpPr>
          <p:cNvPr id="24" name="Text 21"/>
          <p:cNvSpPr/>
          <p:nvPr/>
        </p:nvSpPr>
        <p:spPr>
          <a:xfrm>
            <a:off x="1151186" y="3330476"/>
            <a:ext cx="323701" cy="72926"/>
          </a:xfrm>
          <a:prstGeom prst="roundRect">
            <a:avLst>
              <a:gd name="adj" fmla="val 3483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201936" y="3343126"/>
            <a:ext cx="22664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350" dirty="0"/>
          </a:p>
        </p:txBody>
      </p:sp>
      <p:sp>
        <p:nvSpPr>
          <p:cNvPr id="26" name="Text 23"/>
          <p:cNvSpPr/>
          <p:nvPr/>
        </p:nvSpPr>
        <p:spPr>
          <a:xfrm>
            <a:off x="1525637" y="3330476"/>
            <a:ext cx="360611" cy="72926"/>
          </a:xfrm>
          <a:prstGeom prst="roundRect">
            <a:avLst>
              <a:gd name="adj" fmla="val 3483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576388" y="3343126"/>
            <a:ext cx="26429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50" dirty="0"/>
          </a:p>
        </p:txBody>
      </p:sp>
      <p:sp>
        <p:nvSpPr>
          <p:cNvPr id="28" name="Text 25"/>
          <p:cNvSpPr/>
          <p:nvPr/>
        </p:nvSpPr>
        <p:spPr>
          <a:xfrm>
            <a:off x="1936998" y="3330476"/>
            <a:ext cx="693688" cy="72926"/>
          </a:xfrm>
          <a:prstGeom prst="roundRect">
            <a:avLst>
              <a:gd name="adj" fmla="val 3483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987748" y="3343126"/>
            <a:ext cx="60403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+ OpenAI + ZhipuAI</a:t>
            </a:r>
            <a:endParaRPr lang="en-US" sz="350" dirty="0"/>
          </a:p>
        </p:txBody>
      </p:sp>
      <p:sp>
        <p:nvSpPr>
          <p:cNvPr id="30" name="Text 27"/>
          <p:cNvSpPr/>
          <p:nvPr/>
        </p:nvSpPr>
        <p:spPr>
          <a:xfrm>
            <a:off x="2681436" y="3330476"/>
            <a:ext cx="200174" cy="72926"/>
          </a:xfrm>
          <a:prstGeom prst="roundRect">
            <a:avLst>
              <a:gd name="adj" fmla="val 3483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732187" y="3343126"/>
            <a:ext cx="10064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350" dirty="0"/>
          </a:p>
        </p:txBody>
      </p:sp>
      <p:pic>
        <p:nvPicPr>
          <p:cNvPr id="32" name="Image 1" descr="/Users/mango/workspace/portfolio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306" y="1205146"/>
            <a:ext cx="2568306" cy="256830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62000" y="5057775"/>
            <a:ext cx="777240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github.com/mangowhoiscloud/geode</a:t>
            </a:r>
            <a:endParaRPr lang="en-US" sz="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78741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Scaffold, Dev, Runtime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26703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프리미티브가 세 개의 루프를 관통합니다. Hook이 관측 데이터를 상위 루프로 전달하는 신경계입니다.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94879"/>
            <a:ext cx="8229600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790129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93675" y="875854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300" dirty="0"/>
          </a:p>
        </p:txBody>
      </p:sp>
      <p:sp>
        <p:nvSpPr>
          <p:cNvPr id="9" name="Text 7"/>
          <p:cNvSpPr/>
          <p:nvPr/>
        </p:nvSpPr>
        <p:spPr>
          <a:xfrm>
            <a:off x="1279327" y="780604"/>
            <a:ext cx="374749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65052" y="828229"/>
            <a:ext cx="20736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400" dirty="0"/>
          </a:p>
        </p:txBody>
      </p:sp>
      <p:sp>
        <p:nvSpPr>
          <p:cNvPr id="11" name="Text 9"/>
          <p:cNvSpPr/>
          <p:nvPr/>
        </p:nvSpPr>
        <p:spPr>
          <a:xfrm>
            <a:off x="1692176" y="813941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798439" y="780604"/>
            <a:ext cx="309711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84164" y="828229"/>
            <a:ext cx="14102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400" dirty="0"/>
          </a:p>
        </p:txBody>
      </p:sp>
      <p:sp>
        <p:nvSpPr>
          <p:cNvPr id="14" name="Text 12"/>
          <p:cNvSpPr/>
          <p:nvPr/>
        </p:nvSpPr>
        <p:spPr>
          <a:xfrm>
            <a:off x="2146250" y="813941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252514" y="780604"/>
            <a:ext cx="495895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38239" y="828229"/>
            <a:ext cx="33093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Rules</a:t>
            </a:r>
            <a:endParaRPr lang="en-US" sz="400" dirty="0"/>
          </a:p>
        </p:txBody>
      </p:sp>
      <p:sp>
        <p:nvSpPr>
          <p:cNvPr id="17" name="Text 15"/>
          <p:cNvSpPr/>
          <p:nvPr/>
        </p:nvSpPr>
        <p:spPr>
          <a:xfrm>
            <a:off x="2786509" y="813941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892772" y="780604"/>
            <a:ext cx="967234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78497" y="828229"/>
            <a:ext cx="8117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+ 21 Skills + CI Gates</a:t>
            </a:r>
            <a:endParaRPr lang="en-US" sz="400" dirty="0"/>
          </a:p>
        </p:txBody>
      </p:sp>
      <p:sp>
        <p:nvSpPr>
          <p:cNvPr id="20" name="Text 18"/>
          <p:cNvSpPr/>
          <p:nvPr/>
        </p:nvSpPr>
        <p:spPr>
          <a:xfrm>
            <a:off x="8298507" y="820341"/>
            <a:ext cx="251817" cy="72926"/>
          </a:xfrm>
          <a:prstGeom prst="roundRect">
            <a:avLst>
              <a:gd name="adj" fmla="val 34830"/>
            </a:avLst>
          </a:prstGeom>
          <a:solidFill>
            <a:srgbClr val="818CF8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49258" y="832991"/>
            <a:ext cx="15332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300" dirty="0"/>
          </a:p>
        </p:txBody>
      </p:sp>
      <p:sp>
        <p:nvSpPr>
          <p:cNvPr id="22" name="Text 20"/>
          <p:cNvSpPr/>
          <p:nvPr/>
        </p:nvSpPr>
        <p:spPr>
          <a:xfrm>
            <a:off x="1473101" y="1069479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49152" y="1096417"/>
            <a:ext cx="28524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37 events</a:t>
            </a:r>
            <a:endParaRPr lang="en-US" sz="300" dirty="0"/>
          </a:p>
        </p:txBody>
      </p:sp>
      <p:sp>
        <p:nvSpPr>
          <p:cNvPr id="24" name="Text 22"/>
          <p:cNvSpPr/>
          <p:nvPr/>
        </p:nvSpPr>
        <p:spPr>
          <a:xfrm>
            <a:off x="457200" y="1221730"/>
            <a:ext cx="8229600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3675" y="1316980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1402705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300" dirty="0"/>
          </a:p>
        </p:txBody>
      </p:sp>
      <p:sp>
        <p:nvSpPr>
          <p:cNvPr id="27" name="Text 25"/>
          <p:cNvSpPr/>
          <p:nvPr/>
        </p:nvSpPr>
        <p:spPr>
          <a:xfrm>
            <a:off x="1279327" y="1307455"/>
            <a:ext cx="278755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65052" y="1355080"/>
            <a:ext cx="10945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400" dirty="0"/>
          </a:p>
        </p:txBody>
      </p:sp>
      <p:sp>
        <p:nvSpPr>
          <p:cNvPr id="29" name="Text 27"/>
          <p:cNvSpPr/>
          <p:nvPr/>
        </p:nvSpPr>
        <p:spPr>
          <a:xfrm>
            <a:off x="1596182" y="1340793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702445" y="1307455"/>
            <a:ext cx="425351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88170" y="1355080"/>
            <a:ext cx="25897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400" dirty="0"/>
          </a:p>
        </p:txBody>
      </p:sp>
      <p:sp>
        <p:nvSpPr>
          <p:cNvPr id="32" name="Text 30"/>
          <p:cNvSpPr/>
          <p:nvPr/>
        </p:nvSpPr>
        <p:spPr>
          <a:xfrm>
            <a:off x="2165896" y="1340793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272159" y="1307455"/>
            <a:ext cx="309860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357884" y="1355080"/>
            <a:ext cx="14117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400" dirty="0"/>
          </a:p>
        </p:txBody>
      </p:sp>
      <p:sp>
        <p:nvSpPr>
          <p:cNvPr id="35" name="Text 33"/>
          <p:cNvSpPr/>
          <p:nvPr/>
        </p:nvSpPr>
        <p:spPr>
          <a:xfrm>
            <a:off x="2620119" y="1340793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726382" y="1307455"/>
            <a:ext cx="321022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12107" y="1355080"/>
            <a:ext cx="15256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400" dirty="0"/>
          </a:p>
        </p:txBody>
      </p:sp>
      <p:sp>
        <p:nvSpPr>
          <p:cNvPr id="38" name="Text 36"/>
          <p:cNvSpPr/>
          <p:nvPr/>
        </p:nvSpPr>
        <p:spPr>
          <a:xfrm>
            <a:off x="8277225" y="1347192"/>
            <a:ext cx="273100" cy="72926"/>
          </a:xfrm>
          <a:prstGeom prst="roundRect">
            <a:avLst>
              <a:gd name="adj" fmla="val 34830"/>
            </a:avLst>
          </a:prstGeom>
          <a:solidFill>
            <a:srgbClr val="4ECDC4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27975" y="1359843"/>
            <a:ext cx="17503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1473101" y="1596330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549152" y="1623268"/>
            <a:ext cx="28524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37 events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457200" y="1748582"/>
            <a:ext cx="8229600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3675" y="184383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93675" y="1929557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300" dirty="0"/>
          </a:p>
        </p:txBody>
      </p:sp>
      <p:sp>
        <p:nvSpPr>
          <p:cNvPr id="45" name="Text 43"/>
          <p:cNvSpPr/>
          <p:nvPr/>
        </p:nvSpPr>
        <p:spPr>
          <a:xfrm>
            <a:off x="1279327" y="1834307"/>
            <a:ext cx="318195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365052" y="1881932"/>
            <a:ext cx="14967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400" dirty="0"/>
          </a:p>
        </p:txBody>
      </p:sp>
      <p:sp>
        <p:nvSpPr>
          <p:cNvPr id="47" name="Text 45"/>
          <p:cNvSpPr/>
          <p:nvPr/>
        </p:nvSpPr>
        <p:spPr>
          <a:xfrm>
            <a:off x="1635621" y="1867644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741884" y="1834307"/>
            <a:ext cx="438596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827609" y="1881932"/>
            <a:ext cx="27248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400" dirty="0"/>
          </a:p>
        </p:txBody>
      </p:sp>
      <p:sp>
        <p:nvSpPr>
          <p:cNvPr id="50" name="Text 48"/>
          <p:cNvSpPr/>
          <p:nvPr/>
        </p:nvSpPr>
        <p:spPr>
          <a:xfrm>
            <a:off x="2218581" y="1867644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2324844" y="1834307"/>
            <a:ext cx="366266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410569" y="1881932"/>
            <a:ext cx="19871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400" dirty="0"/>
          </a:p>
        </p:txBody>
      </p:sp>
      <p:sp>
        <p:nvSpPr>
          <p:cNvPr id="53" name="Text 51"/>
          <p:cNvSpPr/>
          <p:nvPr/>
        </p:nvSpPr>
        <p:spPr>
          <a:xfrm>
            <a:off x="2729210" y="1867644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835473" y="1834307"/>
            <a:ext cx="374749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21198" y="1881932"/>
            <a:ext cx="20736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400" dirty="0"/>
          </a:p>
        </p:txBody>
      </p:sp>
      <p:sp>
        <p:nvSpPr>
          <p:cNvPr id="56" name="Text 54"/>
          <p:cNvSpPr/>
          <p:nvPr/>
        </p:nvSpPr>
        <p:spPr>
          <a:xfrm>
            <a:off x="8309074" y="1874044"/>
            <a:ext cx="241250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359825" y="1886694"/>
            <a:ext cx="1425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3194298" y="2207270"/>
            <a:ext cx="1015901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280688" y="2173932"/>
            <a:ext cx="5824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933652" y="2207270"/>
            <a:ext cx="1015901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74904" y="2275433"/>
            <a:ext cx="839419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Primitive — every ring runs the same loop at different scales</a:t>
            </a:r>
            <a:endParaRPr lang="en-US" sz="350" dirty="0"/>
          </a:p>
        </p:txBody>
      </p:sp>
      <p:sp>
        <p:nvSpPr>
          <p:cNvPr id="62" name="Text 60"/>
          <p:cNvSpPr/>
          <p:nvPr/>
        </p:nvSpPr>
        <p:spPr>
          <a:xfrm>
            <a:off x="457200" y="5010150"/>
            <a:ext cx="132950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makes the system. System proves the workflow.</a:t>
            </a:r>
            <a:endParaRPr lang="en-US" sz="400" dirty="0"/>
          </a:p>
        </p:txBody>
      </p:sp>
      <p:sp>
        <p:nvSpPr>
          <p:cNvPr id="63" name="Text 61"/>
          <p:cNvSpPr/>
          <p:nvPr/>
        </p:nvSpPr>
        <p:spPr>
          <a:xfrm>
            <a:off x="8550920" y="5014913"/>
            <a:ext cx="13859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26</a:t>
            </a:r>
            <a:endParaRPr lang="en-US" sz="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42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26703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Scaffold(생산)와 GEODE(산출물)는 구조적으로 자기유사합니다. 동일한 패턴이 다른 스케일에서 반복됩니다.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44128"/>
            <a:ext cx="3784550" cy="4315271"/>
          </a:xfrm>
          <a:prstGeom prst="roundRect">
            <a:avLst>
              <a:gd name="adj" fmla="val 134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755154"/>
            <a:ext cx="497830" cy="91976"/>
          </a:xfrm>
          <a:prstGeom prst="roundRect">
            <a:avLst>
              <a:gd name="adj" fmla="val 27616"/>
            </a:avLst>
          </a:prstGeom>
          <a:solidFill>
            <a:srgbClr val="818CF8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767804"/>
            <a:ext cx="35233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1116806" y="772567"/>
            <a:ext cx="754166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that builds GEODE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568226" y="923181"/>
            <a:ext cx="3562499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7751" y="923181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3476" y="973931"/>
            <a:ext cx="34588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(428 lines)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663476" y="1031081"/>
            <a:ext cx="34588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behavior rules, SOT</a:t>
            </a:r>
            <a:endParaRPr lang="en-US" sz="350" dirty="0"/>
          </a:p>
        </p:txBody>
      </p:sp>
      <p:sp>
        <p:nvSpPr>
          <p:cNvPr id="14" name="Text 12"/>
          <p:cNvSpPr/>
          <p:nvPr/>
        </p:nvSpPr>
        <p:spPr>
          <a:xfrm>
            <a:off x="568226" y="1180207"/>
            <a:ext cx="3562499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7751" y="1180207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3476" y="1230957"/>
            <a:ext cx="34588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Scaffold Skills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663476" y="1288107"/>
            <a:ext cx="34588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dev guidance</a:t>
            </a:r>
            <a:endParaRPr lang="en-US" sz="350" dirty="0"/>
          </a:p>
        </p:txBody>
      </p:sp>
      <p:sp>
        <p:nvSpPr>
          <p:cNvPr id="18" name="Text 16"/>
          <p:cNvSpPr/>
          <p:nvPr/>
        </p:nvSpPr>
        <p:spPr>
          <a:xfrm>
            <a:off x="568226" y="1437233"/>
            <a:ext cx="3562499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77751" y="1437233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3476" y="1487984"/>
            <a:ext cx="34588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663476" y="1545134"/>
            <a:ext cx="34588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mypy + ruff + import + test-count</a:t>
            </a:r>
            <a:endParaRPr lang="en-US" sz="350" dirty="0"/>
          </a:p>
        </p:txBody>
      </p:sp>
      <p:sp>
        <p:nvSpPr>
          <p:cNvPr id="22" name="Text 20"/>
          <p:cNvSpPr/>
          <p:nvPr/>
        </p:nvSpPr>
        <p:spPr>
          <a:xfrm>
            <a:off x="568226" y="1694259"/>
            <a:ext cx="3562499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77751" y="1694259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3476" y="1745010"/>
            <a:ext cx="34588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Hook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663476" y="1802160"/>
            <a:ext cx="34588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progress.md sync on stop</a:t>
            </a:r>
            <a:endParaRPr lang="en-US" sz="350" dirty="0"/>
          </a:p>
        </p:txBody>
      </p:sp>
      <p:sp>
        <p:nvSpPr>
          <p:cNvPr id="26" name="Text 24"/>
          <p:cNvSpPr/>
          <p:nvPr/>
        </p:nvSpPr>
        <p:spPr>
          <a:xfrm>
            <a:off x="568226" y="1951286"/>
            <a:ext cx="3562499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77751" y="1951286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63476" y="2002036"/>
            <a:ext cx="34588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5-Gate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663476" y="2059186"/>
            <a:ext cx="34588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 prevention</a:t>
            </a:r>
            <a:endParaRPr lang="en-US" sz="350" dirty="0"/>
          </a:p>
        </p:txBody>
      </p:sp>
      <p:sp>
        <p:nvSpPr>
          <p:cNvPr id="30" name="Text 28"/>
          <p:cNvSpPr/>
          <p:nvPr/>
        </p:nvSpPr>
        <p:spPr>
          <a:xfrm>
            <a:off x="568226" y="2208312"/>
            <a:ext cx="3562499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77751" y="2208312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3476" y="2259062"/>
            <a:ext cx="34588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663476" y="2316212"/>
            <a:ext cx="34588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Constraints-first guardrails</a:t>
            </a:r>
            <a:endParaRPr lang="en-US" sz="350" dirty="0"/>
          </a:p>
        </p:txBody>
      </p:sp>
      <p:sp>
        <p:nvSpPr>
          <p:cNvPr id="34" name="Text 32"/>
          <p:cNvSpPr/>
          <p:nvPr/>
        </p:nvSpPr>
        <p:spPr>
          <a:xfrm>
            <a:off x="4507181" y="2119164"/>
            <a:ext cx="12948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400" dirty="0"/>
          </a:p>
        </p:txBody>
      </p:sp>
      <p:sp>
        <p:nvSpPr>
          <p:cNvPr id="35" name="Text 33"/>
          <p:cNvSpPr/>
          <p:nvPr/>
        </p:nvSpPr>
        <p:spPr>
          <a:xfrm>
            <a:off x="4543008" y="2176314"/>
            <a:ext cx="57686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00" dirty="0"/>
          </a:p>
        </p:txBody>
      </p:sp>
      <p:sp>
        <p:nvSpPr>
          <p:cNvPr id="36" name="Text 34"/>
          <p:cNvSpPr/>
          <p:nvPr/>
        </p:nvSpPr>
        <p:spPr>
          <a:xfrm>
            <a:off x="4565600" y="2284214"/>
            <a:ext cx="1265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78375" y="2715964"/>
            <a:ext cx="386953" cy="190500"/>
          </a:xfrm>
          <a:prstGeom prst="roundRect">
            <a:avLst>
              <a:gd name="adj" fmla="val 20000"/>
            </a:avLst>
          </a:prstGeom>
          <a:solidFill>
            <a:srgbClr val="F5C542">
              <a:alpha val="19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35986" y="2763589"/>
            <a:ext cx="27173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350" dirty="0"/>
          </a:p>
        </p:txBody>
      </p:sp>
      <p:sp>
        <p:nvSpPr>
          <p:cNvPr id="39" name="Text 37"/>
          <p:cNvSpPr/>
          <p:nvPr/>
        </p:nvSpPr>
        <p:spPr>
          <a:xfrm>
            <a:off x="4435986" y="2811214"/>
            <a:ext cx="27173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350" dirty="0"/>
          </a:p>
        </p:txBody>
      </p:sp>
      <p:sp>
        <p:nvSpPr>
          <p:cNvPr id="40" name="Text 38"/>
          <p:cNvSpPr/>
          <p:nvPr/>
        </p:nvSpPr>
        <p:spPr>
          <a:xfrm>
            <a:off x="4565600" y="2957215"/>
            <a:ext cx="1265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09156" y="3388965"/>
            <a:ext cx="12539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4497315" y="3436590"/>
            <a:ext cx="14907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</a:t>
            </a:r>
            <a:endParaRPr lang="en-US" sz="300" dirty="0"/>
          </a:p>
        </p:txBody>
      </p:sp>
      <p:sp>
        <p:nvSpPr>
          <p:cNvPr id="43" name="Text 41"/>
          <p:cNvSpPr/>
          <p:nvPr/>
        </p:nvSpPr>
        <p:spPr>
          <a:xfrm>
            <a:off x="4902101" y="644128"/>
            <a:ext cx="3784699" cy="4315271"/>
          </a:xfrm>
          <a:prstGeom prst="roundRect">
            <a:avLst>
              <a:gd name="adj" fmla="val 134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013127" y="755154"/>
            <a:ext cx="381595" cy="91976"/>
          </a:xfrm>
          <a:prstGeom prst="roundRect">
            <a:avLst>
              <a:gd name="adj" fmla="val 27616"/>
            </a:avLst>
          </a:prstGeom>
          <a:solidFill>
            <a:srgbClr val="4ECDC4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089327" y="767804"/>
            <a:ext cx="23377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5445472" y="772567"/>
            <a:ext cx="62179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400" dirty="0"/>
          </a:p>
        </p:txBody>
      </p:sp>
      <p:sp>
        <p:nvSpPr>
          <p:cNvPr id="47" name="Text 45"/>
          <p:cNvSpPr/>
          <p:nvPr/>
        </p:nvSpPr>
        <p:spPr>
          <a:xfrm>
            <a:off x="5013127" y="923181"/>
            <a:ext cx="3562648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022652" y="923181"/>
            <a:ext cx="0" cy="20627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108377" y="973931"/>
            <a:ext cx="34590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(Identity)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5108377" y="1031081"/>
            <a:ext cx="345902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identity, core behavior</a:t>
            </a:r>
            <a:endParaRPr lang="en-US" sz="350" dirty="0"/>
          </a:p>
        </p:txBody>
      </p:sp>
      <p:sp>
        <p:nvSpPr>
          <p:cNvPr id="51" name="Text 49"/>
          <p:cNvSpPr/>
          <p:nvPr/>
        </p:nvSpPr>
        <p:spPr>
          <a:xfrm>
            <a:off x="5013127" y="1180207"/>
            <a:ext cx="3562648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22652" y="1180207"/>
            <a:ext cx="0" cy="20627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108377" y="1230957"/>
            <a:ext cx="34590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Runtime Skills</a:t>
            </a:r>
            <a:endParaRPr lang="en-US" sz="450" dirty="0"/>
          </a:p>
        </p:txBody>
      </p:sp>
      <p:sp>
        <p:nvSpPr>
          <p:cNvPr id="54" name="Text 52"/>
          <p:cNvSpPr/>
          <p:nvPr/>
        </p:nvSpPr>
        <p:spPr>
          <a:xfrm>
            <a:off x="5108377" y="1288107"/>
            <a:ext cx="345902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knowledge injection</a:t>
            </a:r>
            <a:endParaRPr lang="en-US" sz="350" dirty="0"/>
          </a:p>
        </p:txBody>
      </p:sp>
      <p:sp>
        <p:nvSpPr>
          <p:cNvPr id="55" name="Text 53"/>
          <p:cNvSpPr/>
          <p:nvPr/>
        </p:nvSpPr>
        <p:spPr>
          <a:xfrm>
            <a:off x="5013127" y="1437233"/>
            <a:ext cx="3562648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022652" y="1437233"/>
            <a:ext cx="0" cy="20627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108377" y="1487984"/>
            <a:ext cx="34590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5108377" y="1545134"/>
            <a:ext cx="345902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+ BiasBuster + Cross-LLM</a:t>
            </a:r>
            <a:endParaRPr lang="en-US" sz="350" dirty="0"/>
          </a:p>
        </p:txBody>
      </p:sp>
      <p:sp>
        <p:nvSpPr>
          <p:cNvPr id="59" name="Text 57"/>
          <p:cNvSpPr/>
          <p:nvPr/>
        </p:nvSpPr>
        <p:spPr>
          <a:xfrm>
            <a:off x="5013127" y="1694259"/>
            <a:ext cx="3562648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5022652" y="1694259"/>
            <a:ext cx="0" cy="20627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108377" y="1745010"/>
            <a:ext cx="34590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Hook Events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5108377" y="1802160"/>
            <a:ext cx="345902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lifecycle system</a:t>
            </a:r>
            <a:endParaRPr lang="en-US" sz="350" dirty="0"/>
          </a:p>
        </p:txBody>
      </p:sp>
      <p:sp>
        <p:nvSpPr>
          <p:cNvPr id="63" name="Text 61"/>
          <p:cNvSpPr/>
          <p:nvPr/>
        </p:nvSpPr>
        <p:spPr>
          <a:xfrm>
            <a:off x="5013127" y="1951286"/>
            <a:ext cx="3562648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022652" y="1951286"/>
            <a:ext cx="0" cy="20627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5108377" y="2002036"/>
            <a:ext cx="34590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450" dirty="0"/>
          </a:p>
        </p:txBody>
      </p:sp>
      <p:sp>
        <p:nvSpPr>
          <p:cNvPr id="66" name="Text 64"/>
          <p:cNvSpPr/>
          <p:nvPr/>
        </p:nvSpPr>
        <p:spPr>
          <a:xfrm>
            <a:off x="5108377" y="2059186"/>
            <a:ext cx="345902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&gt;= 0.7 threshold</a:t>
            </a:r>
            <a:endParaRPr lang="en-US" sz="350" dirty="0"/>
          </a:p>
        </p:txBody>
      </p:sp>
      <p:sp>
        <p:nvSpPr>
          <p:cNvPr id="67" name="Text 65"/>
          <p:cNvSpPr/>
          <p:nvPr/>
        </p:nvSpPr>
        <p:spPr>
          <a:xfrm>
            <a:off x="5013127" y="2208312"/>
            <a:ext cx="3562648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022652" y="2208312"/>
            <a:ext cx="0" cy="20627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5108377" y="2259062"/>
            <a:ext cx="34590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</a:t>
            </a:r>
            <a:endParaRPr lang="en-US" sz="450" dirty="0"/>
          </a:p>
        </p:txBody>
      </p:sp>
      <p:sp>
        <p:nvSpPr>
          <p:cNvPr id="70" name="Text 68"/>
          <p:cNvSpPr/>
          <p:nvPr/>
        </p:nvSpPr>
        <p:spPr>
          <a:xfrm>
            <a:off x="5108377" y="2316212"/>
            <a:ext cx="345902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access control</a:t>
            </a:r>
            <a:endParaRPr lang="en-US" sz="350" dirty="0"/>
          </a:p>
        </p:txBody>
      </p:sp>
      <p:sp>
        <p:nvSpPr>
          <p:cNvPr id="71" name="Text 69"/>
          <p:cNvSpPr/>
          <p:nvPr/>
        </p:nvSpPr>
        <p:spPr>
          <a:xfrm>
            <a:off x="457200" y="5010150"/>
            <a:ext cx="139888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that builds the harness shares its own structure.</a:t>
            </a:r>
            <a:endParaRPr lang="en-US" sz="400" dirty="0"/>
          </a:p>
        </p:txBody>
      </p:sp>
      <p:sp>
        <p:nvSpPr>
          <p:cNvPr id="72" name="Text 70"/>
          <p:cNvSpPr/>
          <p:nvPr/>
        </p:nvSpPr>
        <p:spPr>
          <a:xfrm>
            <a:off x="8550920" y="5014913"/>
            <a:ext cx="13859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26</a:t>
            </a:r>
            <a:endParaRPr lang="en-US" sz="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42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26703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P1: "무엇을 할 수 없는가를 먼저 정의합니다. 가드레일이 품질을 담보합니다."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44128"/>
            <a:ext cx="407670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691753"/>
            <a:ext cx="3931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863203"/>
            <a:ext cx="4076700" cy="409277"/>
          </a:xfrm>
          <a:prstGeom prst="roundRect">
            <a:avLst>
              <a:gd name="adj" fmla="val 93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25" y="863203"/>
            <a:ext cx="0" cy="40927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77751" y="926604"/>
            <a:ext cx="393174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Branch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679252" y="1009055"/>
            <a:ext cx="37531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동기화 미확인 브랜치 생성 금지</a:t>
            </a:r>
            <a:endParaRPr lang="en-US" sz="400" dirty="0"/>
          </a:p>
        </p:txBody>
      </p:sp>
      <p:sp>
        <p:nvSpPr>
          <p:cNvPr id="12" name="Text 10"/>
          <p:cNvSpPr/>
          <p:nvPr/>
        </p:nvSpPr>
        <p:spPr>
          <a:xfrm>
            <a:off x="457200" y="1310580"/>
            <a:ext cx="4076700" cy="342602"/>
          </a:xfrm>
          <a:prstGeom prst="roundRect">
            <a:avLst>
              <a:gd name="adj" fmla="val 111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25" y="1310580"/>
            <a:ext cx="0" cy="342602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7751" y="1373981"/>
            <a:ext cx="393174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679252" y="1456432"/>
            <a:ext cx="3753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400" dirty="0"/>
          </a:p>
        </p:txBody>
      </p:sp>
      <p:sp>
        <p:nvSpPr>
          <p:cNvPr id="16" name="Text 14"/>
          <p:cNvSpPr/>
          <p:nvPr/>
        </p:nvSpPr>
        <p:spPr>
          <a:xfrm>
            <a:off x="457200" y="1691283"/>
            <a:ext cx="4076700" cy="342602"/>
          </a:xfrm>
          <a:prstGeom prst="roundRect">
            <a:avLst>
              <a:gd name="adj" fmla="val 111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" y="1691283"/>
            <a:ext cx="0" cy="342602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77751" y="1754684"/>
            <a:ext cx="393174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Version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679252" y="1837134"/>
            <a:ext cx="3753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변경에 CHANGELOG 누락 금지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번호 4곳 불일치 금지</a:t>
            </a:r>
            <a:endParaRPr lang="en-US" sz="400" dirty="0"/>
          </a:p>
        </p:txBody>
      </p:sp>
      <p:sp>
        <p:nvSpPr>
          <p:cNvPr id="20" name="Text 18"/>
          <p:cNvSpPr/>
          <p:nvPr/>
        </p:nvSpPr>
        <p:spPr>
          <a:xfrm>
            <a:off x="4610100" y="644128"/>
            <a:ext cx="4076700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1126" y="691753"/>
            <a:ext cx="3931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610100" y="863203"/>
            <a:ext cx="4076700" cy="485477"/>
          </a:xfrm>
          <a:prstGeom prst="roundRect">
            <a:avLst>
              <a:gd name="adj" fmla="val 78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19625" y="863203"/>
            <a:ext cx="0" cy="48547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30651" y="926604"/>
            <a:ext cx="39317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CANNOT에 없으면 자유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4832152" y="1018580"/>
            <a:ext cx="37531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버그 수정은 Plan 없이 바로 구현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선택은 동일 결과면 자유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언어도 자유</a:t>
            </a:r>
            <a:endParaRPr lang="en-US" sz="400" dirty="0"/>
          </a:p>
          <a:p>
            <a:pPr marL="342900" indent="-342900" algn="l">
              <a:buSzPct val="100000"/>
              <a:buChar char="•"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구조 리팩토링 자유</a:t>
            </a:r>
            <a:endParaRPr lang="en-US" sz="400" dirty="0"/>
          </a:p>
        </p:txBody>
      </p:sp>
      <p:sp>
        <p:nvSpPr>
          <p:cNvPr id="26" name="Text 24"/>
          <p:cNvSpPr/>
          <p:nvPr/>
        </p:nvSpPr>
        <p:spPr>
          <a:xfrm>
            <a:off x="4610100" y="1386780"/>
            <a:ext cx="4076700" cy="285452"/>
          </a:xfrm>
          <a:prstGeom prst="roundRect">
            <a:avLst>
              <a:gd name="adj" fmla="val 1334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19625" y="1386780"/>
            <a:ext cx="0" cy="28545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30651" y="1450181"/>
            <a:ext cx="39317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원리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4730651" y="1542157"/>
            <a:ext cx="39317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구조로 강제되고, 제약 밖은 완전히 자유. "이것을 해도 되는가?"를 매번 고민하지 않습니다.</a:t>
            </a:r>
            <a:endParaRPr lang="en-US" sz="400" dirty="0"/>
          </a:p>
        </p:txBody>
      </p:sp>
      <p:sp>
        <p:nvSpPr>
          <p:cNvPr id="30" name="Text 28"/>
          <p:cNvSpPr/>
          <p:nvPr/>
        </p:nvSpPr>
        <p:spPr>
          <a:xfrm>
            <a:off x="4610100" y="1710333"/>
            <a:ext cx="4076700" cy="339626"/>
          </a:xfrm>
          <a:prstGeom prst="roundRect">
            <a:avLst>
              <a:gd name="adj" fmla="val 11218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44074" y="1770608"/>
            <a:ext cx="350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4074" y="1942058"/>
            <a:ext cx="35021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350" dirty="0"/>
          </a:p>
        </p:txBody>
      </p:sp>
      <p:sp>
        <p:nvSpPr>
          <p:cNvPr id="33" name="Text 31"/>
          <p:cNvSpPr/>
          <p:nvPr/>
        </p:nvSpPr>
        <p:spPr>
          <a:xfrm>
            <a:off x="6740194" y="1770608"/>
            <a:ext cx="3121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40194" y="1942058"/>
            <a:ext cx="31211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bypasses</a:t>
            </a:r>
            <a:endParaRPr lang="en-US" sz="350" dirty="0"/>
          </a:p>
        </p:txBody>
      </p:sp>
      <p:sp>
        <p:nvSpPr>
          <p:cNvPr id="35" name="Text 33"/>
          <p:cNvSpPr/>
          <p:nvPr/>
        </p:nvSpPr>
        <p:spPr>
          <a:xfrm>
            <a:off x="457200" y="5000625"/>
            <a:ext cx="150909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CANNOT/CAN 이원 구조 — 제약이 명확하므로 나머지는 고민 없이 진행</a:t>
            </a:r>
            <a:endParaRPr lang="en-US" sz="400" dirty="0"/>
          </a:p>
        </p:txBody>
      </p:sp>
      <p:sp>
        <p:nvSpPr>
          <p:cNvPr id="36" name="Text 34"/>
          <p:cNvSpPr/>
          <p:nvPr/>
        </p:nvSpPr>
        <p:spPr>
          <a:xfrm>
            <a:off x="8550920" y="5000625"/>
            <a:ext cx="1385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26</a:t>
            </a:r>
            <a:endParaRPr lang="en-US" sz="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42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 PR 전체가 이 사이클을 거쳤습니다. GAP Audit과 Socratic Gate가 과잉 구현을 원천 차단합니다.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44128"/>
            <a:ext cx="934641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653653"/>
            <a:ext cx="934641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99619" y="713929"/>
            <a:ext cx="84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9619" y="828229"/>
            <a:ext cx="8498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499619" y="885379"/>
            <a:ext cx="84980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+ .owner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1417141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1499295" y="644128"/>
            <a:ext cx="934789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499295" y="653653"/>
            <a:ext cx="93478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41712" y="713929"/>
            <a:ext cx="8499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41712" y="828229"/>
            <a:ext cx="84995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400" dirty="0"/>
          </a:p>
        </p:txBody>
      </p:sp>
      <p:sp>
        <p:nvSpPr>
          <p:cNvPr id="16" name="Text 14"/>
          <p:cNvSpPr/>
          <p:nvPr/>
        </p:nvSpPr>
        <p:spPr>
          <a:xfrm>
            <a:off x="1541712" y="885379"/>
            <a:ext cx="84995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있는가?</a:t>
            </a:r>
            <a:endParaRPr lang="en-US" sz="300" dirty="0"/>
          </a:p>
        </p:txBody>
      </p:sp>
      <p:sp>
        <p:nvSpPr>
          <p:cNvPr id="17" name="Text 15"/>
          <p:cNvSpPr/>
          <p:nvPr/>
        </p:nvSpPr>
        <p:spPr>
          <a:xfrm>
            <a:off x="2459385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2541538" y="644128"/>
            <a:ext cx="934641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41538" y="653653"/>
            <a:ext cx="934641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583957" y="713929"/>
            <a:ext cx="84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83957" y="828229"/>
            <a:ext cx="8498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</a:t>
            </a:r>
            <a:endParaRPr lang="en-US" sz="400" dirty="0"/>
          </a:p>
        </p:txBody>
      </p:sp>
      <p:sp>
        <p:nvSpPr>
          <p:cNvPr id="22" name="Text 20"/>
          <p:cNvSpPr/>
          <p:nvPr/>
        </p:nvSpPr>
        <p:spPr>
          <a:xfrm>
            <a:off x="2583957" y="885379"/>
            <a:ext cx="84980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정말 필요한가?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3501479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583632" y="644128"/>
            <a:ext cx="934789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83632" y="653653"/>
            <a:ext cx="93478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26050" y="713929"/>
            <a:ext cx="8499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26050" y="828229"/>
            <a:ext cx="84995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400" dirty="0"/>
          </a:p>
        </p:txBody>
      </p:sp>
      <p:sp>
        <p:nvSpPr>
          <p:cNvPr id="28" name="Text 26"/>
          <p:cNvSpPr/>
          <p:nvPr/>
        </p:nvSpPr>
        <p:spPr>
          <a:xfrm>
            <a:off x="3626050" y="885379"/>
            <a:ext cx="84995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test</a:t>
            </a:r>
            <a:endParaRPr lang="en-US" sz="300" dirty="0"/>
          </a:p>
        </p:txBody>
      </p:sp>
      <p:sp>
        <p:nvSpPr>
          <p:cNvPr id="29" name="Text 27"/>
          <p:cNvSpPr/>
          <p:nvPr/>
        </p:nvSpPr>
        <p:spPr>
          <a:xfrm>
            <a:off x="4543723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625876" y="644128"/>
            <a:ext cx="934641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25876" y="653653"/>
            <a:ext cx="934641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668295" y="713929"/>
            <a:ext cx="84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8295" y="828229"/>
            <a:ext cx="8498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400" dirty="0"/>
          </a:p>
        </p:txBody>
      </p:sp>
      <p:sp>
        <p:nvSpPr>
          <p:cNvPr id="34" name="Text 32"/>
          <p:cNvSpPr/>
          <p:nvPr/>
        </p:nvSpPr>
        <p:spPr>
          <a:xfrm>
            <a:off x="4668295" y="885379"/>
            <a:ext cx="84980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</a:t>
            </a:r>
            <a:endParaRPr lang="en-US" sz="300" dirty="0"/>
          </a:p>
        </p:txBody>
      </p:sp>
      <p:sp>
        <p:nvSpPr>
          <p:cNvPr id="35" name="Text 33"/>
          <p:cNvSpPr/>
          <p:nvPr/>
        </p:nvSpPr>
        <p:spPr>
          <a:xfrm>
            <a:off x="5585817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5667970" y="644128"/>
            <a:ext cx="934641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667970" y="653653"/>
            <a:ext cx="934641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710389" y="713929"/>
            <a:ext cx="84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0389" y="828229"/>
            <a:ext cx="8498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400" dirty="0"/>
          </a:p>
        </p:txBody>
      </p:sp>
      <p:sp>
        <p:nvSpPr>
          <p:cNvPr id="40" name="Text 38"/>
          <p:cNvSpPr/>
          <p:nvPr/>
        </p:nvSpPr>
        <p:spPr>
          <a:xfrm>
            <a:off x="5710389" y="885379"/>
            <a:ext cx="84980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</a:t>
            </a:r>
            <a:endParaRPr lang="en-US" sz="300" dirty="0"/>
          </a:p>
        </p:txBody>
      </p:sp>
      <p:sp>
        <p:nvSpPr>
          <p:cNvPr id="41" name="Text 39"/>
          <p:cNvSpPr/>
          <p:nvPr/>
        </p:nvSpPr>
        <p:spPr>
          <a:xfrm>
            <a:off x="6627912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710065" y="644128"/>
            <a:ext cx="934641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710065" y="653653"/>
            <a:ext cx="934641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752484" y="713929"/>
            <a:ext cx="84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52484" y="828229"/>
            <a:ext cx="8498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400" dirty="0"/>
          </a:p>
        </p:txBody>
      </p:sp>
      <p:sp>
        <p:nvSpPr>
          <p:cNvPr id="46" name="Text 44"/>
          <p:cNvSpPr/>
          <p:nvPr/>
        </p:nvSpPr>
        <p:spPr>
          <a:xfrm>
            <a:off x="6752484" y="885379"/>
            <a:ext cx="84980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5/5</a:t>
            </a:r>
            <a:endParaRPr lang="en-US" sz="300" dirty="0"/>
          </a:p>
        </p:txBody>
      </p:sp>
      <p:sp>
        <p:nvSpPr>
          <p:cNvPr id="47" name="Text 45"/>
          <p:cNvSpPr/>
          <p:nvPr/>
        </p:nvSpPr>
        <p:spPr>
          <a:xfrm>
            <a:off x="7670006" y="780604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7752159" y="644128"/>
            <a:ext cx="934641" cy="339626"/>
          </a:xfrm>
          <a:prstGeom prst="roundRect">
            <a:avLst>
              <a:gd name="adj" fmla="val 1121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7752159" y="653653"/>
            <a:ext cx="934641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794578" y="713929"/>
            <a:ext cx="84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94578" y="828229"/>
            <a:ext cx="8498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400" dirty="0"/>
          </a:p>
        </p:txBody>
      </p:sp>
      <p:sp>
        <p:nvSpPr>
          <p:cNvPr id="52" name="Text 50"/>
          <p:cNvSpPr/>
          <p:nvPr/>
        </p:nvSpPr>
        <p:spPr>
          <a:xfrm>
            <a:off x="7794578" y="885379"/>
            <a:ext cx="84980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3-Checkpoint</a:t>
            </a:r>
            <a:endParaRPr lang="en-US" sz="300" dirty="0"/>
          </a:p>
        </p:txBody>
      </p:sp>
      <p:sp>
        <p:nvSpPr>
          <p:cNvPr id="53" name="Text 51"/>
          <p:cNvSpPr/>
          <p:nvPr/>
        </p:nvSpPr>
        <p:spPr>
          <a:xfrm>
            <a:off x="457200" y="1059805"/>
            <a:ext cx="4980831" cy="3839319"/>
          </a:xfrm>
          <a:prstGeom prst="roundRect">
            <a:avLst>
              <a:gd name="adj" fmla="val 13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68226" y="1145530"/>
            <a:ext cx="48539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5-Question Gate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568226" y="1250305"/>
            <a:ext cx="177701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8214" y="1262955"/>
            <a:ext cx="777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400" dirty="0"/>
          </a:p>
        </p:txBody>
      </p:sp>
      <p:sp>
        <p:nvSpPr>
          <p:cNvPr id="57" name="Text 55"/>
          <p:cNvSpPr/>
          <p:nvPr/>
        </p:nvSpPr>
        <p:spPr>
          <a:xfrm>
            <a:off x="796677" y="1258193"/>
            <a:ext cx="8624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 이미 있는가? (grep/Explore 실측)</a:t>
            </a:r>
            <a:endParaRPr lang="en-US" sz="400" dirty="0"/>
          </a:p>
        </p:txBody>
      </p:sp>
      <p:sp>
        <p:nvSpPr>
          <p:cNvPr id="58" name="Text 56"/>
          <p:cNvSpPr/>
          <p:nvPr/>
        </p:nvSpPr>
        <p:spPr>
          <a:xfrm>
            <a:off x="568226" y="1358057"/>
            <a:ext cx="177701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18214" y="1370707"/>
            <a:ext cx="777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400" dirty="0"/>
          </a:p>
        </p:txBody>
      </p:sp>
      <p:sp>
        <p:nvSpPr>
          <p:cNvPr id="60" name="Text 58"/>
          <p:cNvSpPr/>
          <p:nvPr/>
        </p:nvSpPr>
        <p:spPr>
          <a:xfrm>
            <a:off x="796677" y="1365945"/>
            <a:ext cx="8519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 하면 무엇이 깨지는가? (장애 시나리오)</a:t>
            </a:r>
            <a:endParaRPr lang="en-US" sz="400" dirty="0"/>
          </a:p>
        </p:txBody>
      </p:sp>
      <p:sp>
        <p:nvSpPr>
          <p:cNvPr id="61" name="Text 59"/>
          <p:cNvSpPr/>
          <p:nvPr/>
        </p:nvSpPr>
        <p:spPr>
          <a:xfrm>
            <a:off x="568226" y="1465808"/>
            <a:ext cx="177701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18214" y="1478459"/>
            <a:ext cx="777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400" dirty="0"/>
          </a:p>
        </p:txBody>
      </p:sp>
      <p:sp>
        <p:nvSpPr>
          <p:cNvPr id="63" name="Text 61"/>
          <p:cNvSpPr/>
          <p:nvPr/>
        </p:nvSpPr>
        <p:spPr>
          <a:xfrm>
            <a:off x="796677" y="1473696"/>
            <a:ext cx="8824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효과를 어떻게 측정하는가? (테스트/메트릭)</a:t>
            </a:r>
            <a:endParaRPr lang="en-US" sz="400" dirty="0"/>
          </a:p>
        </p:txBody>
      </p:sp>
      <p:sp>
        <p:nvSpPr>
          <p:cNvPr id="64" name="Text 62"/>
          <p:cNvSpPr/>
          <p:nvPr/>
        </p:nvSpPr>
        <p:spPr>
          <a:xfrm>
            <a:off x="568226" y="1573560"/>
            <a:ext cx="177701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18214" y="1586210"/>
            <a:ext cx="777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400" dirty="0"/>
          </a:p>
        </p:txBody>
      </p:sp>
      <p:sp>
        <p:nvSpPr>
          <p:cNvPr id="66" name="Text 64"/>
          <p:cNvSpPr/>
          <p:nvPr/>
        </p:nvSpPr>
        <p:spPr>
          <a:xfrm>
            <a:off x="796677" y="1581448"/>
            <a:ext cx="7786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구현은? (Karpathy P10)</a:t>
            </a:r>
            <a:endParaRPr lang="en-US" sz="400" dirty="0"/>
          </a:p>
        </p:txBody>
      </p:sp>
      <p:sp>
        <p:nvSpPr>
          <p:cNvPr id="67" name="Text 65"/>
          <p:cNvSpPr/>
          <p:nvPr/>
        </p:nvSpPr>
        <p:spPr>
          <a:xfrm>
            <a:off x="568226" y="1681311"/>
            <a:ext cx="177701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18214" y="1693962"/>
            <a:ext cx="777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400" dirty="0"/>
          </a:p>
        </p:txBody>
      </p:sp>
      <p:sp>
        <p:nvSpPr>
          <p:cNvPr id="69" name="Text 67"/>
          <p:cNvSpPr/>
          <p:nvPr/>
        </p:nvSpPr>
        <p:spPr>
          <a:xfrm>
            <a:off x="796677" y="1689199"/>
            <a:ext cx="7871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이상에서 동일 패턴인가?</a:t>
            </a:r>
            <a:endParaRPr lang="en-US" sz="400" dirty="0"/>
          </a:p>
        </p:txBody>
      </p:sp>
      <p:sp>
        <p:nvSpPr>
          <p:cNvPr id="70" name="Text 68"/>
          <p:cNvSpPr/>
          <p:nvPr/>
        </p:nvSpPr>
        <p:spPr>
          <a:xfrm>
            <a:off x="568226" y="1801862"/>
            <a:ext cx="48539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Q1-Q5 모두 통과한 항목만 구현. 하나라도 실패하면 제거.</a:t>
            </a:r>
            <a:endParaRPr lang="en-US" sz="350" dirty="0"/>
          </a:p>
        </p:txBody>
      </p:sp>
      <p:sp>
        <p:nvSpPr>
          <p:cNvPr id="71" name="Text 69"/>
          <p:cNvSpPr/>
          <p:nvPr/>
        </p:nvSpPr>
        <p:spPr>
          <a:xfrm>
            <a:off x="5514231" y="1059805"/>
            <a:ext cx="3172569" cy="463451"/>
          </a:xfrm>
          <a:prstGeom prst="roundRect">
            <a:avLst>
              <a:gd name="adj" fmla="val 109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625257" y="1145530"/>
            <a:ext cx="30095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Recovery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5625257" y="1250305"/>
            <a:ext cx="300952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(Verify) fail ➔ Step 3</a:t>
            </a:r>
            <a:endParaRPr lang="en-US" sz="400" dirty="0"/>
          </a:p>
        </p:txBody>
      </p:sp>
      <p:sp>
        <p:nvSpPr>
          <p:cNvPr id="74" name="Text 72"/>
          <p:cNvSpPr/>
          <p:nvPr/>
        </p:nvSpPr>
        <p:spPr>
          <a:xfrm>
            <a:off x="5625257" y="1307455"/>
            <a:ext cx="300952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(CI) fail ➔ Step 3</a:t>
            </a:r>
            <a:endParaRPr lang="en-US" sz="400" dirty="0"/>
          </a:p>
        </p:txBody>
      </p:sp>
      <p:sp>
        <p:nvSpPr>
          <p:cNvPr id="75" name="Text 73"/>
          <p:cNvSpPr/>
          <p:nvPr/>
        </p:nvSpPr>
        <p:spPr>
          <a:xfrm>
            <a:off x="5625257" y="1389906"/>
            <a:ext cx="30095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실패를 무시하고 전진하는 경로는 존재하지 않습니다.</a:t>
            </a:r>
            <a:endParaRPr lang="en-US" sz="350" dirty="0"/>
          </a:p>
        </p:txBody>
      </p:sp>
      <p:sp>
        <p:nvSpPr>
          <p:cNvPr id="76" name="Text 74"/>
          <p:cNvSpPr/>
          <p:nvPr/>
        </p:nvSpPr>
        <p:spPr>
          <a:xfrm>
            <a:off x="5514231" y="1574006"/>
            <a:ext cx="3172569" cy="444401"/>
          </a:xfrm>
          <a:prstGeom prst="roundRect">
            <a:avLst>
              <a:gd name="adj" fmla="val 1143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625257" y="1659731"/>
            <a:ext cx="30095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Ratchet (5-Job Gate)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5625257" y="1764506"/>
            <a:ext cx="30095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CI fails:</a:t>
            </a:r>
            <a:endParaRPr lang="en-US" sz="350" dirty="0"/>
          </a:p>
        </p:txBody>
      </p:sp>
      <p:sp>
        <p:nvSpPr>
          <p:cNvPr id="79" name="Text 77"/>
          <p:cNvSpPr/>
          <p:nvPr/>
        </p:nvSpPr>
        <p:spPr>
          <a:xfrm>
            <a:off x="5625257" y="1812131"/>
            <a:ext cx="30095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➔ fix ➔ push ➔ re-run</a:t>
            </a:r>
            <a:endParaRPr lang="en-US" sz="350" dirty="0"/>
          </a:p>
        </p:txBody>
      </p:sp>
      <p:sp>
        <p:nvSpPr>
          <p:cNvPr id="80" name="Text 78"/>
          <p:cNvSpPr/>
          <p:nvPr/>
        </p:nvSpPr>
        <p:spPr>
          <a:xfrm>
            <a:off x="5625257" y="1885057"/>
            <a:ext cx="30095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mypy + ruff + import-order + test-count</a:t>
            </a:r>
            <a:endParaRPr lang="en-US" sz="350" dirty="0"/>
          </a:p>
        </p:txBody>
      </p:sp>
      <p:sp>
        <p:nvSpPr>
          <p:cNvPr id="81" name="Text 79"/>
          <p:cNvSpPr/>
          <p:nvPr/>
        </p:nvSpPr>
        <p:spPr>
          <a:xfrm>
            <a:off x="457200" y="5000625"/>
            <a:ext cx="17806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+ Socratic Gate 도입 후 Phase 3에서 밀도 최대 (2일 209커밋, 7릴리스)</a:t>
            </a:r>
            <a:endParaRPr lang="en-US" sz="400" dirty="0"/>
          </a:p>
        </p:txBody>
      </p:sp>
      <p:sp>
        <p:nvSpPr>
          <p:cNvPr id="82" name="Text 80"/>
          <p:cNvSpPr/>
          <p:nvPr/>
        </p:nvSpPr>
        <p:spPr>
          <a:xfrm>
            <a:off x="8550920" y="5000625"/>
            <a:ext cx="1385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26</a:t>
            </a:r>
            <a:endParaRPr lang="en-US" sz="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42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바퀴를 재발명하지 않습니다. 3종 이상 합의된 패턴만 채택하고, 4 관점 병렬 리뷰로 품질을 보증합니다.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2019300" cy="323552"/>
          </a:xfrm>
          <a:prstGeom prst="roundRect">
            <a:avLst>
              <a:gd name="adj" fmla="val 11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925" y="691753"/>
            <a:ext cx="188480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542925" y="748903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350" dirty="0"/>
          </a:p>
        </p:txBody>
      </p:sp>
      <p:sp>
        <p:nvSpPr>
          <p:cNvPr id="9" name="Text 7"/>
          <p:cNvSpPr/>
          <p:nvPr/>
        </p:nvSpPr>
        <p:spPr>
          <a:xfrm>
            <a:off x="542925" y="821829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제약 기반, P4 래칫, P6 컨텍스트 예산, P10 단순성</a:t>
            </a:r>
            <a:endParaRPr lang="en-US" sz="350" dirty="0"/>
          </a:p>
        </p:txBody>
      </p:sp>
      <p:sp>
        <p:nvSpPr>
          <p:cNvPr id="10" name="Text 8"/>
          <p:cNvSpPr/>
          <p:nvPr/>
        </p:nvSpPr>
        <p:spPr>
          <a:xfrm>
            <a:off x="2527250" y="618827"/>
            <a:ext cx="2019449" cy="323552"/>
          </a:xfrm>
          <a:prstGeom prst="roundRect">
            <a:avLst>
              <a:gd name="adj" fmla="val 11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2975" y="691753"/>
            <a:ext cx="188495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2612975" y="748903"/>
            <a:ext cx="188495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350" dirty="0"/>
          </a:p>
        </p:txBody>
      </p:sp>
      <p:sp>
        <p:nvSpPr>
          <p:cNvPr id="13" name="Text 11"/>
          <p:cNvSpPr/>
          <p:nvPr/>
        </p:nvSpPr>
        <p:spPr>
          <a:xfrm>
            <a:off x="2612975" y="821829"/>
            <a:ext cx="188495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확장</a:t>
            </a:r>
            <a:endParaRPr lang="en-US" sz="350" dirty="0"/>
          </a:p>
        </p:txBody>
      </p:sp>
      <p:sp>
        <p:nvSpPr>
          <p:cNvPr id="14" name="Text 12"/>
          <p:cNvSpPr/>
          <p:nvPr/>
        </p:nvSpPr>
        <p:spPr>
          <a:xfrm>
            <a:off x="4597450" y="618827"/>
            <a:ext cx="2019300" cy="323552"/>
          </a:xfrm>
          <a:prstGeom prst="roundRect">
            <a:avLst>
              <a:gd name="adj" fmla="val 11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83175" y="691753"/>
            <a:ext cx="188480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4683175" y="748903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350" dirty="0"/>
          </a:p>
        </p:txBody>
      </p:sp>
      <p:sp>
        <p:nvSpPr>
          <p:cNvPr id="17" name="Text 15"/>
          <p:cNvSpPr/>
          <p:nvPr/>
        </p:nvSpPr>
        <p:spPr>
          <a:xfrm>
            <a:off x="4683175" y="821829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while(tool_use), Sub-agent, HITL, Hook System</a:t>
            </a:r>
            <a:endParaRPr lang="en-US" sz="350" dirty="0"/>
          </a:p>
        </p:txBody>
      </p:sp>
      <p:sp>
        <p:nvSpPr>
          <p:cNvPr id="18" name="Text 16"/>
          <p:cNvSpPr/>
          <p:nvPr/>
        </p:nvSpPr>
        <p:spPr>
          <a:xfrm>
            <a:off x="6667500" y="618827"/>
            <a:ext cx="2019300" cy="323552"/>
          </a:xfrm>
          <a:prstGeom prst="roundRect">
            <a:avLst>
              <a:gd name="adj" fmla="val 11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53225" y="691753"/>
            <a:ext cx="188480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6753225" y="748903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350" dirty="0"/>
          </a:p>
        </p:txBody>
      </p:sp>
      <p:sp>
        <p:nvSpPr>
          <p:cNvPr id="21" name="Text 19"/>
          <p:cNvSpPr/>
          <p:nvPr/>
        </p:nvSpPr>
        <p:spPr>
          <a:xfrm>
            <a:off x="6753225" y="821829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보호, Dumb Platform</a:t>
            </a:r>
            <a:endParaRPr lang="en-US" sz="350" dirty="0"/>
          </a:p>
        </p:txBody>
      </p:sp>
      <p:sp>
        <p:nvSpPr>
          <p:cNvPr id="22" name="Text 20"/>
          <p:cNvSpPr/>
          <p:nvPr/>
        </p:nvSpPr>
        <p:spPr>
          <a:xfrm>
            <a:off x="457200" y="993130"/>
            <a:ext cx="8229600" cy="203002"/>
          </a:xfrm>
          <a:prstGeom prst="roundRect">
            <a:avLst>
              <a:gd name="adj" fmla="val 1876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8226" y="1053405"/>
            <a:ext cx="159395" cy="82451"/>
          </a:xfrm>
          <a:prstGeom prst="roundRect">
            <a:avLst>
              <a:gd name="adj" fmla="val 30806"/>
            </a:avLst>
          </a:prstGeom>
          <a:solidFill>
            <a:srgbClr val="34D399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8976" y="1066056"/>
            <a:ext cx="5905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400" dirty="0"/>
          </a:p>
        </p:txBody>
      </p:sp>
      <p:sp>
        <p:nvSpPr>
          <p:cNvPr id="25" name="Text 23"/>
          <p:cNvSpPr/>
          <p:nvPr/>
        </p:nvSpPr>
        <p:spPr>
          <a:xfrm>
            <a:off x="765721" y="1070818"/>
            <a:ext cx="442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패턴 ➔ 반드시 채택</a:t>
            </a:r>
            <a:endParaRPr lang="en-US" sz="350" dirty="0"/>
          </a:p>
        </p:txBody>
      </p:sp>
      <p:sp>
        <p:nvSpPr>
          <p:cNvPr id="26" name="Text 24"/>
          <p:cNvSpPr/>
          <p:nvPr/>
        </p:nvSpPr>
        <p:spPr>
          <a:xfrm>
            <a:off x="1351508" y="1053405"/>
            <a:ext cx="129778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2259" y="1066056"/>
            <a:ext cx="2884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" dirty="0"/>
          </a:p>
        </p:txBody>
      </p:sp>
      <p:sp>
        <p:nvSpPr>
          <p:cNvPr id="28" name="Text 26"/>
          <p:cNvSpPr/>
          <p:nvPr/>
        </p:nvSpPr>
        <p:spPr>
          <a:xfrm>
            <a:off x="1519386" y="1070818"/>
            <a:ext cx="442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패턴 ➔ 핵심만 추출</a:t>
            </a:r>
            <a:endParaRPr lang="en-US" sz="350" dirty="0"/>
          </a:p>
        </p:txBody>
      </p:sp>
      <p:sp>
        <p:nvSpPr>
          <p:cNvPr id="29" name="Text 27"/>
          <p:cNvSpPr/>
          <p:nvPr/>
        </p:nvSpPr>
        <p:spPr>
          <a:xfrm>
            <a:off x="2105174" y="1053405"/>
            <a:ext cx="129778" cy="82451"/>
          </a:xfrm>
          <a:prstGeom prst="roundRect">
            <a:avLst>
              <a:gd name="adj" fmla="val 30806"/>
            </a:avLst>
          </a:prstGeom>
          <a:solidFill>
            <a:srgbClr val="EF4444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55924" y="1066056"/>
            <a:ext cx="2884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" dirty="0"/>
          </a:p>
        </p:txBody>
      </p:sp>
      <p:sp>
        <p:nvSpPr>
          <p:cNvPr id="31" name="Text 29"/>
          <p:cNvSpPr/>
          <p:nvPr/>
        </p:nvSpPr>
        <p:spPr>
          <a:xfrm>
            <a:off x="2273052" y="1070818"/>
            <a:ext cx="50930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단독 ➔ Socratic Q5 재검증</a:t>
            </a:r>
            <a:endParaRPr lang="en-US" sz="350" dirty="0"/>
          </a:p>
        </p:txBody>
      </p:sp>
      <p:sp>
        <p:nvSpPr>
          <p:cNvPr id="32" name="Text 30"/>
          <p:cNvSpPr/>
          <p:nvPr/>
        </p:nvSpPr>
        <p:spPr>
          <a:xfrm>
            <a:off x="457200" y="1246882"/>
            <a:ext cx="2019300" cy="3426916"/>
          </a:xfrm>
          <a:prstGeom prst="roundRect">
            <a:avLst>
              <a:gd name="adj" fmla="val 188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57200" y="1256407"/>
            <a:ext cx="20193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471738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57200" y="4669036"/>
            <a:ext cx="2019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61963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42925" y="1329333"/>
            <a:ext cx="1884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542925" y="1396008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TDD, JUnit</a:t>
            </a:r>
            <a:endParaRPr lang="en-US" sz="350" dirty="0"/>
          </a:p>
        </p:txBody>
      </p:sp>
      <p:sp>
        <p:nvSpPr>
          <p:cNvPr id="39" name="Text 37"/>
          <p:cNvSpPr/>
          <p:nvPr/>
        </p:nvSpPr>
        <p:spPr>
          <a:xfrm>
            <a:off x="542925" y="1481733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커버리지, DRY 위반, 과잉 추상화 점검</a:t>
            </a:r>
            <a:endParaRPr lang="en-US" sz="350" dirty="0"/>
          </a:p>
        </p:txBody>
      </p:sp>
      <p:sp>
        <p:nvSpPr>
          <p:cNvPr id="40" name="Text 38"/>
          <p:cNvSpPr/>
          <p:nvPr/>
        </p:nvSpPr>
        <p:spPr>
          <a:xfrm>
            <a:off x="2527250" y="1246882"/>
            <a:ext cx="2019449" cy="3426916"/>
          </a:xfrm>
          <a:prstGeom prst="roundRect">
            <a:avLst>
              <a:gd name="adj" fmla="val 188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527250" y="1256407"/>
            <a:ext cx="201944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541937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527250" y="4669036"/>
            <a:ext cx="20194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532013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612975" y="1329333"/>
            <a:ext cx="188495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2612975" y="1396008"/>
            <a:ext cx="188495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AI, autoresearch</a:t>
            </a:r>
            <a:endParaRPr lang="en-US" sz="350" dirty="0"/>
          </a:p>
        </p:txBody>
      </p:sp>
      <p:sp>
        <p:nvSpPr>
          <p:cNvPr id="47" name="Text 45"/>
          <p:cNvSpPr/>
          <p:nvPr/>
        </p:nvSpPr>
        <p:spPr>
          <a:xfrm>
            <a:off x="2612975" y="1481733"/>
            <a:ext cx="188495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예산, 래칫, 시간 제한, 제약 기반 설계</a:t>
            </a:r>
            <a:endParaRPr lang="en-US" sz="350" dirty="0"/>
          </a:p>
        </p:txBody>
      </p:sp>
      <p:sp>
        <p:nvSpPr>
          <p:cNvPr id="48" name="Text 46"/>
          <p:cNvSpPr/>
          <p:nvPr/>
        </p:nvSpPr>
        <p:spPr>
          <a:xfrm>
            <a:off x="4597450" y="1246882"/>
            <a:ext cx="2019300" cy="3426916"/>
          </a:xfrm>
          <a:prstGeom prst="roundRect">
            <a:avLst>
              <a:gd name="adj" fmla="val 188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597450" y="1256407"/>
            <a:ext cx="20193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611987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597450" y="4669036"/>
            <a:ext cx="2019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602212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683175" y="1329333"/>
            <a:ext cx="1884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4683175" y="1396008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PSPDFKit, OpenClaw</a:t>
            </a:r>
            <a:endParaRPr lang="en-US" sz="350" dirty="0"/>
          </a:p>
        </p:txBody>
      </p:sp>
      <p:sp>
        <p:nvSpPr>
          <p:cNvPr id="55" name="Text 53"/>
          <p:cNvSpPr/>
          <p:nvPr/>
        </p:nvSpPr>
        <p:spPr>
          <a:xfrm>
            <a:off x="4683175" y="1481733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write, 세션 격리, Failover, 운영 안정성</a:t>
            </a:r>
            <a:endParaRPr lang="en-US" sz="350" dirty="0"/>
          </a:p>
        </p:txBody>
      </p:sp>
      <p:sp>
        <p:nvSpPr>
          <p:cNvPr id="56" name="Text 54"/>
          <p:cNvSpPr/>
          <p:nvPr/>
        </p:nvSpPr>
        <p:spPr>
          <a:xfrm>
            <a:off x="6667500" y="1246882"/>
            <a:ext cx="2019300" cy="3426916"/>
          </a:xfrm>
          <a:prstGeom prst="roundRect">
            <a:avLst>
              <a:gd name="adj" fmla="val 188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667500" y="1256407"/>
            <a:ext cx="201930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8682038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667500" y="4669036"/>
            <a:ext cx="2019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672263" y="1246882"/>
            <a:ext cx="0" cy="342691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753225" y="1329333"/>
            <a:ext cx="1884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6753225" y="1396008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Lead</a:t>
            </a:r>
            <a:endParaRPr lang="en-US" sz="350" dirty="0"/>
          </a:p>
        </p:txBody>
      </p:sp>
      <p:sp>
        <p:nvSpPr>
          <p:cNvPr id="63" name="Text 61"/>
          <p:cNvSpPr/>
          <p:nvPr/>
        </p:nvSpPr>
        <p:spPr>
          <a:xfrm>
            <a:off x="6753225" y="1481733"/>
            <a:ext cx="188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라우팅, HITL 안전, 서브에이전트 격리</a:t>
            </a:r>
            <a:endParaRPr lang="en-US" sz="350" dirty="0"/>
          </a:p>
        </p:txBody>
      </p:sp>
      <p:sp>
        <p:nvSpPr>
          <p:cNvPr id="64" name="Text 62"/>
          <p:cNvSpPr/>
          <p:nvPr/>
        </p:nvSpPr>
        <p:spPr>
          <a:xfrm>
            <a:off x="457200" y="4724549"/>
            <a:ext cx="8229600" cy="225326"/>
          </a:xfrm>
          <a:prstGeom prst="roundRect">
            <a:avLst>
              <a:gd name="adj" fmla="val 16909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8226" y="4784824"/>
            <a:ext cx="816769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Security Issue Caught Pre-Merge</a:t>
            </a:r>
            <a:endParaRPr lang="en-US" sz="400" dirty="0"/>
          </a:p>
        </p:txBody>
      </p:sp>
      <p:sp>
        <p:nvSpPr>
          <p:cNvPr id="66" name="Text 64"/>
          <p:cNvSpPr/>
          <p:nvPr/>
        </p:nvSpPr>
        <p:spPr>
          <a:xfrm>
            <a:off x="568226" y="4841974"/>
            <a:ext cx="81676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Steinberger: .env 기본 권한(0o666) + 크래시 시 손상 ➔ tmp+rename atomic write + chmod 0o600 적용</a:t>
            </a:r>
            <a:endParaRPr lang="en-US" sz="350" dirty="0"/>
          </a:p>
        </p:txBody>
      </p:sp>
      <p:sp>
        <p:nvSpPr>
          <p:cNvPr id="67" name="Text 65"/>
          <p:cNvSpPr/>
          <p:nvPr/>
        </p:nvSpPr>
        <p:spPr>
          <a:xfrm>
            <a:off x="457200" y="5000625"/>
            <a:ext cx="127136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리서치 시간이 구현 시간을 초과하면 안 됩니다 (Karpathy P3)</a:t>
            </a:r>
            <a:endParaRPr lang="en-US" sz="400" dirty="0"/>
          </a:p>
        </p:txBody>
      </p:sp>
      <p:sp>
        <p:nvSpPr>
          <p:cNvPr id="68" name="Text 66"/>
          <p:cNvSpPr/>
          <p:nvPr/>
        </p:nvSpPr>
        <p:spPr>
          <a:xfrm>
            <a:off x="8550920" y="5000625"/>
            <a:ext cx="1385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26</a:t>
            </a:r>
            <a:endParaRPr lang="en-US" sz="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42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Iteration Velocity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PR이 지식을 축적하고 다음 PR을 가속합니다. Atomic PR x CI Ratchet x CLAUDE.md 학습 루프.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4067324"/>
            <a:ext cx="4019550" cy="634901"/>
          </a:xfrm>
          <a:prstGeom prst="roundRect">
            <a:avLst>
              <a:gd name="adj" fmla="val 60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485" y="4451449"/>
            <a:ext cx="397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8485" y="4594324"/>
            <a:ext cx="397697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300" dirty="0"/>
          </a:p>
        </p:txBody>
      </p:sp>
      <p:sp>
        <p:nvSpPr>
          <p:cNvPr id="9" name="Text 7"/>
          <p:cNvSpPr/>
          <p:nvPr/>
        </p:nvSpPr>
        <p:spPr>
          <a:xfrm>
            <a:off x="2324734" y="4740325"/>
            <a:ext cx="284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2324734" y="4807000"/>
            <a:ext cx="2844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2/21-3/9 (18d)</a:t>
            </a:r>
            <a:endParaRPr lang="en-US" sz="350" dirty="0"/>
          </a:p>
        </p:txBody>
      </p:sp>
      <p:sp>
        <p:nvSpPr>
          <p:cNvPr id="11" name="Text 9"/>
          <p:cNvSpPr/>
          <p:nvPr/>
        </p:nvSpPr>
        <p:spPr>
          <a:xfrm>
            <a:off x="2324734" y="4854625"/>
            <a:ext cx="2844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" dirty="0"/>
          </a:p>
        </p:txBody>
      </p:sp>
      <p:sp>
        <p:nvSpPr>
          <p:cNvPr id="12" name="Text 10"/>
          <p:cNvSpPr/>
          <p:nvPr/>
        </p:nvSpPr>
        <p:spPr>
          <a:xfrm>
            <a:off x="2324734" y="4902250"/>
            <a:ext cx="2844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releases</a:t>
            </a:r>
            <a:endParaRPr lang="en-US" sz="300" dirty="0"/>
          </a:p>
        </p:txBody>
      </p:sp>
      <p:sp>
        <p:nvSpPr>
          <p:cNvPr id="13" name="Text 11"/>
          <p:cNvSpPr/>
          <p:nvPr/>
        </p:nvSpPr>
        <p:spPr>
          <a:xfrm>
            <a:off x="4514850" y="3432274"/>
            <a:ext cx="446633" cy="1269950"/>
          </a:xfrm>
          <a:prstGeom prst="roundRect">
            <a:avLst>
              <a:gd name="adj" fmla="val 853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1865" y="4451449"/>
            <a:ext cx="3326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1865" y="4594324"/>
            <a:ext cx="33260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300" dirty="0"/>
          </a:p>
        </p:txBody>
      </p:sp>
      <p:sp>
        <p:nvSpPr>
          <p:cNvPr id="16" name="Text 14"/>
          <p:cNvSpPr/>
          <p:nvPr/>
        </p:nvSpPr>
        <p:spPr>
          <a:xfrm>
            <a:off x="4597521" y="4740325"/>
            <a:ext cx="2811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4597521" y="4807000"/>
            <a:ext cx="2811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3/10-3/11 (2d)</a:t>
            </a:r>
            <a:endParaRPr lang="en-US" sz="350" dirty="0"/>
          </a:p>
        </p:txBody>
      </p:sp>
      <p:sp>
        <p:nvSpPr>
          <p:cNvPr id="18" name="Text 16"/>
          <p:cNvSpPr/>
          <p:nvPr/>
        </p:nvSpPr>
        <p:spPr>
          <a:xfrm>
            <a:off x="4597521" y="4854625"/>
            <a:ext cx="2811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Skills</a:t>
            </a:r>
            <a:endParaRPr lang="en-US" sz="300" dirty="0"/>
          </a:p>
        </p:txBody>
      </p:sp>
      <p:sp>
        <p:nvSpPr>
          <p:cNvPr id="19" name="Text 17"/>
          <p:cNvSpPr/>
          <p:nvPr/>
        </p:nvSpPr>
        <p:spPr>
          <a:xfrm>
            <a:off x="4597521" y="4902250"/>
            <a:ext cx="2811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releases</a:t>
            </a:r>
            <a:endParaRPr lang="en-US" sz="300" dirty="0"/>
          </a:p>
        </p:txBody>
      </p:sp>
      <p:sp>
        <p:nvSpPr>
          <p:cNvPr id="20" name="Text 18"/>
          <p:cNvSpPr/>
          <p:nvPr/>
        </p:nvSpPr>
        <p:spPr>
          <a:xfrm>
            <a:off x="4999583" y="3356074"/>
            <a:ext cx="669875" cy="1346150"/>
          </a:xfrm>
          <a:prstGeom prst="roundRect">
            <a:avLst>
              <a:gd name="adj" fmla="val 5688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54365" y="4451449"/>
            <a:ext cx="56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54365" y="4594324"/>
            <a:ext cx="5603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5160021" y="4740325"/>
            <a:ext cx="34899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5160021" y="4807000"/>
            <a:ext cx="3489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3/12-3/14 (3d)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5160021" y="4854625"/>
            <a:ext cx="3489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+ Domain</a:t>
            </a:r>
            <a:endParaRPr lang="en-US" sz="300" dirty="0"/>
          </a:p>
        </p:txBody>
      </p:sp>
      <p:sp>
        <p:nvSpPr>
          <p:cNvPr id="26" name="Text 24"/>
          <p:cNvSpPr/>
          <p:nvPr/>
        </p:nvSpPr>
        <p:spPr>
          <a:xfrm>
            <a:off x="5160021" y="4902250"/>
            <a:ext cx="3489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releases</a:t>
            </a:r>
            <a:endParaRPr lang="en-US" sz="300" dirty="0"/>
          </a:p>
        </p:txBody>
      </p:sp>
      <p:sp>
        <p:nvSpPr>
          <p:cNvPr id="27" name="Text 25"/>
          <p:cNvSpPr/>
          <p:nvPr/>
        </p:nvSpPr>
        <p:spPr>
          <a:xfrm>
            <a:off x="5817543" y="2807047"/>
            <a:ext cx="226516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6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77818" y="2829223"/>
            <a:ext cx="10808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300" dirty="0"/>
          </a:p>
        </p:txBody>
      </p:sp>
      <p:sp>
        <p:nvSpPr>
          <p:cNvPr id="29" name="Text 27"/>
          <p:cNvSpPr/>
          <p:nvPr/>
        </p:nvSpPr>
        <p:spPr>
          <a:xfrm>
            <a:off x="5707559" y="2924324"/>
            <a:ext cx="446633" cy="1777901"/>
          </a:xfrm>
          <a:prstGeom prst="roundRect">
            <a:avLst>
              <a:gd name="adj" fmla="val 8530"/>
            </a:avLst>
          </a:prstGeom>
          <a:solidFill>
            <a:srgbClr val="F5C542">
              <a:alpha val="12000"/>
            </a:srgbClr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74289" y="4327624"/>
            <a:ext cx="313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74289" y="4537174"/>
            <a:ext cx="3131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/ 2 days</a:t>
            </a:r>
            <a:endParaRPr lang="en-US" sz="300" dirty="0"/>
          </a:p>
        </p:txBody>
      </p:sp>
      <p:sp>
        <p:nvSpPr>
          <p:cNvPr id="32" name="Text 30"/>
          <p:cNvSpPr/>
          <p:nvPr/>
        </p:nvSpPr>
        <p:spPr>
          <a:xfrm>
            <a:off x="5774289" y="4584799"/>
            <a:ext cx="3131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of total</a:t>
            </a:r>
            <a:endParaRPr lang="en-US" sz="300" dirty="0"/>
          </a:p>
        </p:txBody>
      </p:sp>
      <p:sp>
        <p:nvSpPr>
          <p:cNvPr id="33" name="Text 31"/>
          <p:cNvSpPr/>
          <p:nvPr/>
        </p:nvSpPr>
        <p:spPr>
          <a:xfrm>
            <a:off x="5788560" y="4740325"/>
            <a:ext cx="284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5788560" y="4807000"/>
            <a:ext cx="2844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3/15-3/16 (2d)</a:t>
            </a:r>
            <a:endParaRPr lang="en-US" sz="350" dirty="0"/>
          </a:p>
        </p:txBody>
      </p:sp>
      <p:sp>
        <p:nvSpPr>
          <p:cNvPr id="35" name="Text 33"/>
          <p:cNvSpPr/>
          <p:nvPr/>
        </p:nvSpPr>
        <p:spPr>
          <a:xfrm>
            <a:off x="5788560" y="4854625"/>
            <a:ext cx="2844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</a:t>
            </a:r>
            <a:endParaRPr lang="en-US" sz="300" dirty="0"/>
          </a:p>
        </p:txBody>
      </p:sp>
      <p:sp>
        <p:nvSpPr>
          <p:cNvPr id="36" name="Text 34"/>
          <p:cNvSpPr/>
          <p:nvPr/>
        </p:nvSpPr>
        <p:spPr>
          <a:xfrm>
            <a:off x="5788560" y="4902250"/>
            <a:ext cx="2844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releases</a:t>
            </a:r>
            <a:endParaRPr lang="en-US" sz="300" dirty="0"/>
          </a:p>
        </p:txBody>
      </p:sp>
      <p:sp>
        <p:nvSpPr>
          <p:cNvPr id="37" name="Text 35"/>
          <p:cNvSpPr/>
          <p:nvPr/>
        </p:nvSpPr>
        <p:spPr>
          <a:xfrm>
            <a:off x="6192292" y="2860774"/>
            <a:ext cx="893266" cy="1841450"/>
          </a:xfrm>
          <a:prstGeom prst="roundRect">
            <a:avLst>
              <a:gd name="adj" fmla="val 426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44840" y="4451449"/>
            <a:ext cx="788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44840" y="4594324"/>
            <a:ext cx="7881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6454786" y="4740325"/>
            <a:ext cx="3682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6454786" y="4807000"/>
            <a:ext cx="36827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3/17-3/20 (4d)</a:t>
            </a:r>
            <a:endParaRPr lang="en-US" sz="350" dirty="0"/>
          </a:p>
        </p:txBody>
      </p:sp>
      <p:sp>
        <p:nvSpPr>
          <p:cNvPr id="42" name="Text 40"/>
          <p:cNvSpPr/>
          <p:nvPr/>
        </p:nvSpPr>
        <p:spPr>
          <a:xfrm>
            <a:off x="6454786" y="4854625"/>
            <a:ext cx="36827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Multi-LLM + Gateway</a:t>
            </a:r>
            <a:endParaRPr lang="en-US" sz="300" dirty="0"/>
          </a:p>
        </p:txBody>
      </p:sp>
      <p:sp>
        <p:nvSpPr>
          <p:cNvPr id="43" name="Text 41"/>
          <p:cNvSpPr/>
          <p:nvPr/>
        </p:nvSpPr>
        <p:spPr>
          <a:xfrm>
            <a:off x="6454786" y="4902250"/>
            <a:ext cx="36827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releases</a:t>
            </a:r>
            <a:endParaRPr lang="en-US" sz="300" dirty="0"/>
          </a:p>
        </p:txBody>
      </p:sp>
      <p:sp>
        <p:nvSpPr>
          <p:cNvPr id="44" name="Text 42"/>
          <p:cNvSpPr/>
          <p:nvPr/>
        </p:nvSpPr>
        <p:spPr>
          <a:xfrm>
            <a:off x="7123658" y="2733824"/>
            <a:ext cx="1563142" cy="1968401"/>
          </a:xfrm>
          <a:prstGeom prst="roundRect">
            <a:avLst>
              <a:gd name="adj" fmla="val 2437"/>
            </a:avLst>
          </a:prstGeom>
          <a:solidFill>
            <a:srgbClr val="C084FC">
              <a:alpha val="12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169508" y="4451449"/>
            <a:ext cx="1471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69508" y="4594324"/>
            <a:ext cx="147144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300" dirty="0"/>
          </a:p>
        </p:txBody>
      </p:sp>
      <p:sp>
        <p:nvSpPr>
          <p:cNvPr id="47" name="Text 45"/>
          <p:cNvSpPr/>
          <p:nvPr/>
        </p:nvSpPr>
        <p:spPr>
          <a:xfrm>
            <a:off x="7748035" y="4740325"/>
            <a:ext cx="3143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7748035" y="4807000"/>
            <a:ext cx="314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3/21-3/27 (7d)</a:t>
            </a:r>
            <a:endParaRPr lang="en-US" sz="350" dirty="0"/>
          </a:p>
        </p:txBody>
      </p:sp>
      <p:sp>
        <p:nvSpPr>
          <p:cNvPr id="49" name="Text 47"/>
          <p:cNvSpPr/>
          <p:nvPr/>
        </p:nvSpPr>
        <p:spPr>
          <a:xfrm>
            <a:off x="7748035" y="4854625"/>
            <a:ext cx="314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+ Hook</a:t>
            </a:r>
            <a:endParaRPr lang="en-US" sz="300" dirty="0"/>
          </a:p>
        </p:txBody>
      </p:sp>
      <p:sp>
        <p:nvSpPr>
          <p:cNvPr id="50" name="Text 48"/>
          <p:cNvSpPr/>
          <p:nvPr/>
        </p:nvSpPr>
        <p:spPr>
          <a:xfrm>
            <a:off x="7748035" y="4902250"/>
            <a:ext cx="314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releases</a:t>
            </a:r>
            <a:endParaRPr lang="en-US" sz="300" dirty="0"/>
          </a:p>
        </p:txBody>
      </p:sp>
      <p:sp>
        <p:nvSpPr>
          <p:cNvPr id="51" name="Text 49"/>
          <p:cNvSpPr/>
          <p:nvPr/>
        </p:nvSpPr>
        <p:spPr>
          <a:xfrm>
            <a:off x="457200" y="5000625"/>
            <a:ext cx="122066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충분히 성숙해진 후에야 속도가 폭발적으로 나옵니다.</a:t>
            </a:r>
            <a:endParaRPr lang="en-US" sz="400" dirty="0"/>
          </a:p>
        </p:txBody>
      </p:sp>
      <p:sp>
        <p:nvSpPr>
          <p:cNvPr id="52" name="Text 50"/>
          <p:cNvSpPr/>
          <p:nvPr/>
        </p:nvSpPr>
        <p:spPr>
          <a:xfrm>
            <a:off x="8550920" y="5000625"/>
            <a:ext cx="1385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26</a:t>
            </a:r>
            <a:endParaRPr lang="en-US" sz="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6-Layer + Hook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오케스트레이션이 에이전트를 지탱하고, 에이전트가 파이프라인을 호출합니다. Hook이 모든 레이어를 관통합니다.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5791349" cy="241102"/>
          </a:xfrm>
          <a:prstGeom prst="roundRect">
            <a:avLst>
              <a:gd name="adj" fmla="val 15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618827"/>
            <a:ext cx="0" cy="2411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6801" y="682228"/>
            <a:ext cx="10412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 CLI + Agent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596801" y="748903"/>
            <a:ext cx="10412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SubAgentManager, ToolCallProcessor</a:t>
            </a:r>
            <a:endParaRPr lang="en-US" sz="350" dirty="0"/>
          </a:p>
        </p:txBody>
      </p:sp>
      <p:sp>
        <p:nvSpPr>
          <p:cNvPr id="10" name="Text 8"/>
          <p:cNvSpPr/>
          <p:nvPr/>
        </p:nvSpPr>
        <p:spPr>
          <a:xfrm>
            <a:off x="5621089" y="720328"/>
            <a:ext cx="53647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core/cli/ + core/agent/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457200" y="885230"/>
            <a:ext cx="5791349" cy="241102"/>
          </a:xfrm>
          <a:prstGeom prst="roundRect">
            <a:avLst>
              <a:gd name="adj" fmla="val 15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885230"/>
            <a:ext cx="0" cy="2411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6801" y="948630"/>
            <a:ext cx="9563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 LLM Infrastructure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596801" y="1015305"/>
            <a:ext cx="9563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Claude/OpenAI/GLM Adapters, Router, Failover</a:t>
            </a:r>
            <a:endParaRPr lang="en-US" sz="350" dirty="0"/>
          </a:p>
        </p:txBody>
      </p:sp>
      <p:sp>
        <p:nvSpPr>
          <p:cNvPr id="15" name="Text 13"/>
          <p:cNvSpPr/>
          <p:nvPr/>
        </p:nvSpPr>
        <p:spPr>
          <a:xfrm>
            <a:off x="5712619" y="986730"/>
            <a:ext cx="44311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core/llm/providers/</a:t>
            </a:r>
            <a:endParaRPr lang="en-US" sz="300" dirty="0"/>
          </a:p>
        </p:txBody>
      </p:sp>
      <p:sp>
        <p:nvSpPr>
          <p:cNvPr id="16" name="Text 14"/>
          <p:cNvSpPr/>
          <p:nvPr/>
        </p:nvSpPr>
        <p:spPr>
          <a:xfrm>
            <a:off x="457200" y="1151632"/>
            <a:ext cx="5791349" cy="241102"/>
          </a:xfrm>
          <a:prstGeom prst="roundRect">
            <a:avLst>
              <a:gd name="adj" fmla="val 15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151632"/>
            <a:ext cx="0" cy="241102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6801" y="1215033"/>
            <a:ext cx="9043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 Memory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596801" y="1281708"/>
            <a:ext cx="90430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4-Tier: Profile, Organization, Project, Session</a:t>
            </a:r>
            <a:endParaRPr lang="en-US" sz="350" dirty="0"/>
          </a:p>
        </p:txBody>
      </p:sp>
      <p:sp>
        <p:nvSpPr>
          <p:cNvPr id="20" name="Text 18"/>
          <p:cNvSpPr/>
          <p:nvPr/>
        </p:nvSpPr>
        <p:spPr>
          <a:xfrm>
            <a:off x="5872609" y="1253133"/>
            <a:ext cx="27992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core/memory/</a:t>
            </a:r>
            <a:endParaRPr lang="en-US" sz="300" dirty="0"/>
          </a:p>
        </p:txBody>
      </p:sp>
      <p:sp>
        <p:nvSpPr>
          <p:cNvPr id="21" name="Text 19"/>
          <p:cNvSpPr/>
          <p:nvPr/>
        </p:nvSpPr>
        <p:spPr>
          <a:xfrm>
            <a:off x="457200" y="1418034"/>
            <a:ext cx="5791349" cy="241102"/>
          </a:xfrm>
          <a:prstGeom prst="roundRect">
            <a:avLst>
              <a:gd name="adj" fmla="val 15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1418034"/>
            <a:ext cx="0" cy="24110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96801" y="1481435"/>
            <a:ext cx="12056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 Orchestration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596801" y="1548110"/>
            <a:ext cx="120563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TaskGraph DAG, PlanMode, CoalescingQueue, LaneQueue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5712619" y="1519535"/>
            <a:ext cx="44311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core/orchestration/</a:t>
            </a:r>
            <a:endParaRPr lang="en-US" sz="300" dirty="0"/>
          </a:p>
        </p:txBody>
      </p:sp>
      <p:sp>
        <p:nvSpPr>
          <p:cNvPr id="26" name="Text 24"/>
          <p:cNvSpPr/>
          <p:nvPr/>
        </p:nvSpPr>
        <p:spPr>
          <a:xfrm>
            <a:off x="457200" y="1684437"/>
            <a:ext cx="5791349" cy="241102"/>
          </a:xfrm>
          <a:prstGeom prst="roundRect">
            <a:avLst>
              <a:gd name="adj" fmla="val 15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6250" y="1684437"/>
            <a:ext cx="0" cy="24110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6801" y="1747838"/>
            <a:ext cx="117937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 Extensibility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96801" y="1814513"/>
            <a:ext cx="117937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ToolRegistry(47), MCP Catalog(44), Skills(20), PolicyChain</a:t>
            </a:r>
            <a:endParaRPr lang="en-US" sz="350" dirty="0"/>
          </a:p>
        </p:txBody>
      </p:sp>
      <p:sp>
        <p:nvSpPr>
          <p:cNvPr id="30" name="Text 28"/>
          <p:cNvSpPr/>
          <p:nvPr/>
        </p:nvSpPr>
        <p:spPr>
          <a:xfrm>
            <a:off x="5621089" y="1785938"/>
            <a:ext cx="53647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core/tools/ + core/mcp/</a:t>
            </a:r>
            <a:endParaRPr lang="en-US" sz="300" dirty="0"/>
          </a:p>
        </p:txBody>
      </p:sp>
      <p:sp>
        <p:nvSpPr>
          <p:cNvPr id="31" name="Text 29"/>
          <p:cNvSpPr/>
          <p:nvPr/>
        </p:nvSpPr>
        <p:spPr>
          <a:xfrm>
            <a:off x="457200" y="1950839"/>
            <a:ext cx="5791349" cy="241102"/>
          </a:xfrm>
          <a:prstGeom prst="roundRect">
            <a:avLst>
              <a:gd name="adj" fmla="val 15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6250" y="1950839"/>
            <a:ext cx="0" cy="24110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96801" y="2014240"/>
            <a:ext cx="11878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 Domain Plugins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596801" y="2080915"/>
            <a:ext cx="118787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Protocol, GameIPDomain (LangGraph 9-node)</a:t>
            </a:r>
            <a:endParaRPr lang="en-US" sz="350" dirty="0"/>
          </a:p>
        </p:txBody>
      </p:sp>
      <p:sp>
        <p:nvSpPr>
          <p:cNvPr id="35" name="Text 33"/>
          <p:cNvSpPr/>
          <p:nvPr/>
        </p:nvSpPr>
        <p:spPr>
          <a:xfrm>
            <a:off x="5666780" y="2052340"/>
            <a:ext cx="489874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core/domains/game_ip/</a:t>
            </a:r>
            <a:endParaRPr lang="en-US" sz="300" dirty="0"/>
          </a:p>
        </p:txBody>
      </p:sp>
      <p:sp>
        <p:nvSpPr>
          <p:cNvPr id="36" name="Text 34"/>
          <p:cNvSpPr/>
          <p:nvPr/>
        </p:nvSpPr>
        <p:spPr>
          <a:xfrm>
            <a:off x="6324749" y="618827"/>
            <a:ext cx="1015901" cy="4340572"/>
          </a:xfrm>
          <a:prstGeom prst="roundRect">
            <a:avLst>
              <a:gd name="adj" fmla="val 5000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76071" y="2295525"/>
            <a:ext cx="913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376071" y="2381250"/>
            <a:ext cx="91325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400" dirty="0"/>
          </a:p>
        </p:txBody>
      </p:sp>
      <p:sp>
        <p:nvSpPr>
          <p:cNvPr id="39" name="Text 37"/>
          <p:cNvSpPr/>
          <p:nvPr/>
        </p:nvSpPr>
        <p:spPr>
          <a:xfrm>
            <a:off x="6385024" y="2489150"/>
            <a:ext cx="895350" cy="9525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76071" y="2549426"/>
            <a:ext cx="9132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76071" y="2758976"/>
            <a:ext cx="91325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350" dirty="0"/>
          </a:p>
        </p:txBody>
      </p:sp>
      <p:sp>
        <p:nvSpPr>
          <p:cNvPr id="42" name="Text 40"/>
          <p:cNvSpPr/>
          <p:nvPr/>
        </p:nvSpPr>
        <p:spPr>
          <a:xfrm>
            <a:off x="6385024" y="2857351"/>
            <a:ext cx="895350" cy="9525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76071" y="2917627"/>
            <a:ext cx="91325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</a:t>
            </a:r>
            <a:endParaRPr lang="en-US" sz="300" dirty="0"/>
          </a:p>
        </p:txBody>
      </p:sp>
      <p:sp>
        <p:nvSpPr>
          <p:cNvPr id="44" name="Text 42"/>
          <p:cNvSpPr/>
          <p:nvPr/>
        </p:nvSpPr>
        <p:spPr>
          <a:xfrm>
            <a:off x="6376071" y="2965252"/>
            <a:ext cx="91325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L0-L5 accessible</a:t>
            </a:r>
            <a:endParaRPr lang="en-US" sz="300" dirty="0"/>
          </a:p>
        </p:txBody>
      </p:sp>
      <p:sp>
        <p:nvSpPr>
          <p:cNvPr id="45" name="Text 43"/>
          <p:cNvSpPr/>
          <p:nvPr/>
        </p:nvSpPr>
        <p:spPr>
          <a:xfrm>
            <a:off x="6385024" y="3063627"/>
            <a:ext cx="895350" cy="9525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376071" y="3123902"/>
            <a:ext cx="913257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core/hooks/</a:t>
            </a:r>
            <a:endParaRPr lang="en-US" sz="300" dirty="0"/>
          </a:p>
        </p:txBody>
      </p:sp>
      <p:sp>
        <p:nvSpPr>
          <p:cNvPr id="47" name="Text 45"/>
          <p:cNvSpPr/>
          <p:nvPr/>
        </p:nvSpPr>
        <p:spPr>
          <a:xfrm>
            <a:off x="6376071" y="3187303"/>
            <a:ext cx="91325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</a:t>
            </a:r>
            <a:endParaRPr lang="en-US" sz="300" dirty="0"/>
          </a:p>
        </p:txBody>
      </p:sp>
      <p:sp>
        <p:nvSpPr>
          <p:cNvPr id="48" name="Text 46"/>
          <p:cNvSpPr/>
          <p:nvPr/>
        </p:nvSpPr>
        <p:spPr>
          <a:xfrm>
            <a:off x="6376071" y="3234928"/>
            <a:ext cx="91325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300" dirty="0"/>
          </a:p>
        </p:txBody>
      </p:sp>
      <p:sp>
        <p:nvSpPr>
          <p:cNvPr id="49" name="Text 47"/>
          <p:cNvSpPr/>
          <p:nvPr/>
        </p:nvSpPr>
        <p:spPr>
          <a:xfrm>
            <a:off x="7416850" y="618827"/>
            <a:ext cx="1269950" cy="1088975"/>
          </a:xfrm>
          <a:prstGeom prst="roundRect">
            <a:avLst>
              <a:gd name="adj" fmla="val 34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502575" y="704552"/>
            <a:ext cx="11204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View</a:t>
            </a:r>
            <a:endParaRPr lang="en-US" sz="400" dirty="0"/>
          </a:p>
        </p:txBody>
      </p:sp>
      <p:sp>
        <p:nvSpPr>
          <p:cNvPr id="51" name="Text 49"/>
          <p:cNvSpPr/>
          <p:nvPr/>
        </p:nvSpPr>
        <p:spPr>
          <a:xfrm>
            <a:off x="7502575" y="812453"/>
            <a:ext cx="1098500" cy="180975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543355" y="850553"/>
            <a:ext cx="101694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400" dirty="0"/>
          </a:p>
        </p:txBody>
      </p:sp>
      <p:sp>
        <p:nvSpPr>
          <p:cNvPr id="53" name="Text 51"/>
          <p:cNvSpPr/>
          <p:nvPr/>
        </p:nvSpPr>
        <p:spPr>
          <a:xfrm>
            <a:off x="7543355" y="907703"/>
            <a:ext cx="101694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+ L4</a:t>
            </a:r>
            <a:endParaRPr lang="en-US" sz="300" dirty="0"/>
          </a:p>
        </p:txBody>
      </p:sp>
      <p:sp>
        <p:nvSpPr>
          <p:cNvPr id="54" name="Text 52"/>
          <p:cNvSpPr/>
          <p:nvPr/>
        </p:nvSpPr>
        <p:spPr>
          <a:xfrm>
            <a:off x="7491590" y="1031528"/>
            <a:ext cx="11204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400" dirty="0"/>
          </a:p>
        </p:txBody>
      </p:sp>
      <p:sp>
        <p:nvSpPr>
          <p:cNvPr id="55" name="Text 53"/>
          <p:cNvSpPr/>
          <p:nvPr/>
        </p:nvSpPr>
        <p:spPr>
          <a:xfrm>
            <a:off x="7502575" y="1126778"/>
            <a:ext cx="1098500" cy="180975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543355" y="1164878"/>
            <a:ext cx="101694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400" dirty="0"/>
          </a:p>
        </p:txBody>
      </p:sp>
      <p:sp>
        <p:nvSpPr>
          <p:cNvPr id="57" name="Text 55"/>
          <p:cNvSpPr/>
          <p:nvPr/>
        </p:nvSpPr>
        <p:spPr>
          <a:xfrm>
            <a:off x="7543355" y="1222028"/>
            <a:ext cx="101694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+ L1 + L2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7491590" y="1345853"/>
            <a:ext cx="11204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400" dirty="0"/>
          </a:p>
        </p:txBody>
      </p:sp>
      <p:sp>
        <p:nvSpPr>
          <p:cNvPr id="59" name="Text 57"/>
          <p:cNvSpPr/>
          <p:nvPr/>
        </p:nvSpPr>
        <p:spPr>
          <a:xfrm>
            <a:off x="7502575" y="1441103"/>
            <a:ext cx="1098500" cy="180975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543355" y="1479203"/>
            <a:ext cx="101694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400" dirty="0"/>
          </a:p>
        </p:txBody>
      </p:sp>
      <p:sp>
        <p:nvSpPr>
          <p:cNvPr id="61" name="Text 59"/>
          <p:cNvSpPr/>
          <p:nvPr/>
        </p:nvSpPr>
        <p:spPr>
          <a:xfrm>
            <a:off x="7543355" y="1536353"/>
            <a:ext cx="101694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(pluggable)</a:t>
            </a:r>
            <a:endParaRPr lang="en-US" sz="300" dirty="0"/>
          </a:p>
        </p:txBody>
      </p:sp>
      <p:sp>
        <p:nvSpPr>
          <p:cNvPr id="62" name="Text 60"/>
          <p:cNvSpPr/>
          <p:nvPr/>
        </p:nvSpPr>
        <p:spPr>
          <a:xfrm>
            <a:off x="7416850" y="1745903"/>
            <a:ext cx="1269950" cy="288727"/>
          </a:xfrm>
          <a:prstGeom prst="roundRect">
            <a:avLst>
              <a:gd name="adj" fmla="val 131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477125" y="1806178"/>
            <a:ext cx="11723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Agent는 Pipeline을 모릅니다. 단지 analyze_ip이라는 도구를 호출할 뿐입니다.</a:t>
            </a:r>
            <a:endParaRPr lang="en-US" sz="350" dirty="0"/>
          </a:p>
        </p:txBody>
      </p:sp>
      <p:sp>
        <p:nvSpPr>
          <p:cNvPr id="64" name="Text 62"/>
          <p:cNvSpPr/>
          <p:nvPr/>
        </p:nvSpPr>
        <p:spPr>
          <a:xfrm>
            <a:off x="7477125" y="1926729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디커플링이 피봇을 가능하게 했습니다.</a:t>
            </a:r>
            <a:endParaRPr lang="en-US" sz="350" dirty="0"/>
          </a:p>
        </p:txBody>
      </p:sp>
      <p:sp>
        <p:nvSpPr>
          <p:cNvPr id="65" name="Text 63"/>
          <p:cNvSpPr/>
          <p:nvPr/>
        </p:nvSpPr>
        <p:spPr>
          <a:xfrm>
            <a:off x="457200" y="5010150"/>
            <a:ext cx="116434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modules across 6 layers + cross-cutting hooks</a:t>
            </a:r>
            <a:endParaRPr lang="en-US" sz="400" dirty="0"/>
          </a:p>
        </p:txBody>
      </p:sp>
      <p:sp>
        <p:nvSpPr>
          <p:cNvPr id="66" name="Text 6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26</a:t>
            </a:r>
            <a:endParaRPr lang="en-US" sz="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Loop: while(tool_use)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47개 도구 중에서 스스로 선택합니다. 3경로 디스패치 + 4단계 오류 복구 + 3사 Failover.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758779" cy="523726"/>
          </a:xfrm>
          <a:prstGeom prst="roundRect">
            <a:avLst>
              <a:gd name="adj" fmla="val 970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704552"/>
            <a:ext cx="462746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5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stop_reason == "tool_use":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568226" y="831503"/>
            <a:ext cx="396032" cy="225326"/>
          </a:xfrm>
          <a:prstGeom prst="roundRect">
            <a:avLst>
              <a:gd name="adj" fmla="val 16909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1705" y="891778"/>
            <a:ext cx="22907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651705" y="948928"/>
            <a:ext cx="2290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action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1002357" y="910828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1097310" y="831503"/>
            <a:ext cx="304949" cy="225326"/>
          </a:xfrm>
          <a:prstGeom prst="roundRect">
            <a:avLst>
              <a:gd name="adj" fmla="val 16909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1700" y="891778"/>
            <a:ext cx="13616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400" dirty="0"/>
          </a:p>
        </p:txBody>
      </p:sp>
      <p:sp>
        <p:nvSpPr>
          <p:cNvPr id="14" name="Text 12"/>
          <p:cNvSpPr/>
          <p:nvPr/>
        </p:nvSpPr>
        <p:spPr>
          <a:xfrm>
            <a:off x="1181700" y="948928"/>
            <a:ext cx="13616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300" dirty="0"/>
          </a:p>
        </p:txBody>
      </p:sp>
      <p:sp>
        <p:nvSpPr>
          <p:cNvPr id="15" name="Text 13"/>
          <p:cNvSpPr/>
          <p:nvPr/>
        </p:nvSpPr>
        <p:spPr>
          <a:xfrm>
            <a:off x="1440359" y="910828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535311" y="831503"/>
            <a:ext cx="326678" cy="225326"/>
          </a:xfrm>
          <a:prstGeom prst="roundRect">
            <a:avLst>
              <a:gd name="adj" fmla="val 1690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19484" y="891778"/>
            <a:ext cx="15833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400" dirty="0"/>
          </a:p>
        </p:txBody>
      </p:sp>
      <p:sp>
        <p:nvSpPr>
          <p:cNvPr id="18" name="Text 16"/>
          <p:cNvSpPr/>
          <p:nvPr/>
        </p:nvSpPr>
        <p:spPr>
          <a:xfrm>
            <a:off x="1619484" y="948928"/>
            <a:ext cx="15833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300" dirty="0"/>
          </a:p>
        </p:txBody>
      </p:sp>
      <p:sp>
        <p:nvSpPr>
          <p:cNvPr id="19" name="Text 17"/>
          <p:cNvSpPr/>
          <p:nvPr/>
        </p:nvSpPr>
        <p:spPr>
          <a:xfrm>
            <a:off x="1900089" y="910828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995041" y="831503"/>
            <a:ext cx="366415" cy="225326"/>
          </a:xfrm>
          <a:prstGeom prst="roundRect">
            <a:avLst>
              <a:gd name="adj" fmla="val 16909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78816" y="891778"/>
            <a:ext cx="19886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400" dirty="0"/>
          </a:p>
        </p:txBody>
      </p:sp>
      <p:sp>
        <p:nvSpPr>
          <p:cNvPr id="22" name="Text 20"/>
          <p:cNvSpPr/>
          <p:nvPr/>
        </p:nvSpPr>
        <p:spPr>
          <a:xfrm>
            <a:off x="2078816" y="948928"/>
            <a:ext cx="19886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end_turn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457200" y="1180654"/>
            <a:ext cx="48539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3-Route Dispatch</a:t>
            </a:r>
            <a:endParaRPr lang="en-US" sz="450" dirty="0"/>
          </a:p>
        </p:txBody>
      </p:sp>
      <p:sp>
        <p:nvSpPr>
          <p:cNvPr id="24" name="Text 22"/>
          <p:cNvSpPr/>
          <p:nvPr/>
        </p:nvSpPr>
        <p:spPr>
          <a:xfrm>
            <a:off x="457200" y="1275904"/>
            <a:ext cx="1560761" cy="225326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1285429"/>
            <a:ext cx="1560761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3400" y="1345704"/>
            <a:ext cx="143652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 (47)</a:t>
            </a:r>
            <a:endParaRPr lang="en-US" sz="400" dirty="0"/>
          </a:p>
        </p:txBody>
      </p:sp>
      <p:sp>
        <p:nvSpPr>
          <p:cNvPr id="27" name="Text 25"/>
          <p:cNvSpPr/>
          <p:nvPr/>
        </p:nvSpPr>
        <p:spPr>
          <a:xfrm>
            <a:off x="533400" y="1402854"/>
            <a:ext cx="14365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handlers. ToolCallProcessor routes by name.</a:t>
            </a:r>
            <a:endParaRPr lang="en-US" sz="350" dirty="0"/>
          </a:p>
        </p:txBody>
      </p:sp>
      <p:sp>
        <p:nvSpPr>
          <p:cNvPr id="28" name="Text 26"/>
          <p:cNvSpPr/>
          <p:nvPr/>
        </p:nvSpPr>
        <p:spPr>
          <a:xfrm>
            <a:off x="2056061" y="1275904"/>
            <a:ext cx="1560909" cy="225326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056061" y="1285429"/>
            <a:ext cx="1560909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132261" y="1345704"/>
            <a:ext cx="143668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(44)</a:t>
            </a:r>
            <a:endParaRPr lang="en-US" sz="400" dirty="0"/>
          </a:p>
        </p:txBody>
      </p:sp>
      <p:sp>
        <p:nvSpPr>
          <p:cNvPr id="31" name="Text 29"/>
          <p:cNvSpPr/>
          <p:nvPr/>
        </p:nvSpPr>
        <p:spPr>
          <a:xfrm>
            <a:off x="2132261" y="1402854"/>
            <a:ext cx="143668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server call via MCPServerManager singleton.</a:t>
            </a:r>
            <a:endParaRPr lang="en-US" sz="350" dirty="0"/>
          </a:p>
        </p:txBody>
      </p:sp>
      <p:sp>
        <p:nvSpPr>
          <p:cNvPr id="32" name="Text 30"/>
          <p:cNvSpPr/>
          <p:nvPr/>
        </p:nvSpPr>
        <p:spPr>
          <a:xfrm>
            <a:off x="3655070" y="1275904"/>
            <a:ext cx="1560909" cy="225326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655070" y="1285429"/>
            <a:ext cx="1560909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731270" y="1345704"/>
            <a:ext cx="143668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(3-Layer)</a:t>
            </a:r>
            <a:endParaRPr lang="en-US" sz="400" dirty="0"/>
          </a:p>
        </p:txBody>
      </p:sp>
      <p:sp>
        <p:nvSpPr>
          <p:cNvPr id="35" name="Text 33"/>
          <p:cNvSpPr/>
          <p:nvPr/>
        </p:nvSpPr>
        <p:spPr>
          <a:xfrm>
            <a:off x="3731270" y="1402854"/>
            <a:ext cx="143668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Blocked(9) ➔ Safe(27) ➔ HITL. Resource limits.</a:t>
            </a:r>
            <a:endParaRPr lang="en-US" sz="350" dirty="0"/>
          </a:p>
        </p:txBody>
      </p:sp>
      <p:sp>
        <p:nvSpPr>
          <p:cNvPr id="36" name="Text 34"/>
          <p:cNvSpPr/>
          <p:nvPr/>
        </p:nvSpPr>
        <p:spPr>
          <a:xfrm>
            <a:off x="457200" y="1539329"/>
            <a:ext cx="48539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LLM Failover</a:t>
            </a:r>
            <a:endParaRPr lang="en-US" sz="450" dirty="0"/>
          </a:p>
        </p:txBody>
      </p:sp>
      <p:sp>
        <p:nvSpPr>
          <p:cNvPr id="37" name="Text 35"/>
          <p:cNvSpPr/>
          <p:nvPr/>
        </p:nvSpPr>
        <p:spPr>
          <a:xfrm>
            <a:off x="457200" y="1634579"/>
            <a:ext cx="492026" cy="200025"/>
          </a:xfrm>
          <a:prstGeom prst="roundRect">
            <a:avLst>
              <a:gd name="adj" fmla="val 19048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8226" y="1682204"/>
            <a:ext cx="27537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450" dirty="0"/>
          </a:p>
        </p:txBody>
      </p:sp>
      <p:sp>
        <p:nvSpPr>
          <p:cNvPr id="39" name="Text 37"/>
          <p:cNvSpPr/>
          <p:nvPr/>
        </p:nvSpPr>
        <p:spPr>
          <a:xfrm>
            <a:off x="568226" y="1739354"/>
            <a:ext cx="27537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 (1M)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987326" y="1706017"/>
            <a:ext cx="12690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➔</a:t>
            </a:r>
            <a:endParaRPr lang="en-US" sz="400" dirty="0"/>
          </a:p>
        </p:txBody>
      </p:sp>
      <p:sp>
        <p:nvSpPr>
          <p:cNvPr id="41" name="Text 39"/>
          <p:cNvSpPr/>
          <p:nvPr/>
        </p:nvSpPr>
        <p:spPr>
          <a:xfrm>
            <a:off x="1149846" y="1634579"/>
            <a:ext cx="452884" cy="200025"/>
          </a:xfrm>
          <a:prstGeom prst="roundRect">
            <a:avLst>
              <a:gd name="adj" fmla="val 19048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60872" y="1682204"/>
            <a:ext cx="2354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450" dirty="0"/>
          </a:p>
        </p:txBody>
      </p:sp>
      <p:sp>
        <p:nvSpPr>
          <p:cNvPr id="43" name="Text 41"/>
          <p:cNvSpPr/>
          <p:nvPr/>
        </p:nvSpPr>
        <p:spPr>
          <a:xfrm>
            <a:off x="1260872" y="1739354"/>
            <a:ext cx="2354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(1M)</a:t>
            </a:r>
            <a:endParaRPr lang="en-US" sz="300" dirty="0"/>
          </a:p>
        </p:txBody>
      </p:sp>
      <p:sp>
        <p:nvSpPr>
          <p:cNvPr id="44" name="Text 42"/>
          <p:cNvSpPr/>
          <p:nvPr/>
        </p:nvSpPr>
        <p:spPr>
          <a:xfrm>
            <a:off x="1640830" y="1706017"/>
            <a:ext cx="12690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➔</a:t>
            </a:r>
            <a:endParaRPr lang="en-US" sz="400" dirty="0"/>
          </a:p>
        </p:txBody>
      </p:sp>
      <p:sp>
        <p:nvSpPr>
          <p:cNvPr id="45" name="Text 43"/>
          <p:cNvSpPr/>
          <p:nvPr/>
        </p:nvSpPr>
        <p:spPr>
          <a:xfrm>
            <a:off x="1803350" y="1634579"/>
            <a:ext cx="463451" cy="200025"/>
          </a:xfrm>
          <a:prstGeom prst="roundRect">
            <a:avLst>
              <a:gd name="adj" fmla="val 19048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914376" y="1682204"/>
            <a:ext cx="24622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1914376" y="1739354"/>
            <a:ext cx="24622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(200K)</a:t>
            </a:r>
            <a:endParaRPr lang="en-US" sz="300" dirty="0"/>
          </a:p>
        </p:txBody>
      </p:sp>
      <p:sp>
        <p:nvSpPr>
          <p:cNvPr id="48" name="Text 46"/>
          <p:cNvSpPr/>
          <p:nvPr/>
        </p:nvSpPr>
        <p:spPr>
          <a:xfrm>
            <a:off x="2355652" y="1706017"/>
            <a:ext cx="59006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per-model</a:t>
            </a:r>
            <a:endParaRPr lang="en-US" sz="400" dirty="0"/>
          </a:p>
        </p:txBody>
      </p:sp>
      <p:sp>
        <p:nvSpPr>
          <p:cNvPr id="49" name="Text 47"/>
          <p:cNvSpPr/>
          <p:nvPr/>
        </p:nvSpPr>
        <p:spPr>
          <a:xfrm>
            <a:off x="5292179" y="618827"/>
            <a:ext cx="3394621" cy="4340572"/>
          </a:xfrm>
          <a:prstGeom prst="roundRect">
            <a:avLst>
              <a:gd name="adj" fmla="val 14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03205" y="704552"/>
            <a:ext cx="32360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Error Recovery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5403205" y="833140"/>
            <a:ext cx="129778" cy="82451"/>
          </a:xfrm>
          <a:prstGeom prst="roundRect">
            <a:avLst>
              <a:gd name="adj" fmla="val 30806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453673" y="845790"/>
            <a:ext cx="2884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" dirty="0"/>
          </a:p>
        </p:txBody>
      </p:sp>
      <p:sp>
        <p:nvSpPr>
          <p:cNvPr id="53" name="Text 51"/>
          <p:cNvSpPr/>
          <p:nvPr/>
        </p:nvSpPr>
        <p:spPr>
          <a:xfrm>
            <a:off x="5583734" y="821978"/>
            <a:ext cx="4941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400" dirty="0"/>
          </a:p>
        </p:txBody>
      </p:sp>
      <p:sp>
        <p:nvSpPr>
          <p:cNvPr id="54" name="Text 52"/>
          <p:cNvSpPr/>
          <p:nvPr/>
        </p:nvSpPr>
        <p:spPr>
          <a:xfrm>
            <a:off x="5583734" y="879128"/>
            <a:ext cx="4941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1s/2s/4s</a:t>
            </a:r>
            <a:endParaRPr lang="en-US" sz="300" dirty="0"/>
          </a:p>
        </p:txBody>
      </p:sp>
      <p:sp>
        <p:nvSpPr>
          <p:cNvPr id="55" name="Text 53"/>
          <p:cNvSpPr/>
          <p:nvPr/>
        </p:nvSpPr>
        <p:spPr>
          <a:xfrm>
            <a:off x="5403205" y="988665"/>
            <a:ext cx="129778" cy="82451"/>
          </a:xfrm>
          <a:prstGeom prst="roundRect">
            <a:avLst>
              <a:gd name="adj" fmla="val 30806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453673" y="1001316"/>
            <a:ext cx="2884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" dirty="0"/>
          </a:p>
        </p:txBody>
      </p:sp>
      <p:sp>
        <p:nvSpPr>
          <p:cNvPr id="57" name="Text 55"/>
          <p:cNvSpPr/>
          <p:nvPr/>
        </p:nvSpPr>
        <p:spPr>
          <a:xfrm>
            <a:off x="5583734" y="977503"/>
            <a:ext cx="53571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400" dirty="0"/>
          </a:p>
        </p:txBody>
      </p:sp>
      <p:sp>
        <p:nvSpPr>
          <p:cNvPr id="58" name="Text 56"/>
          <p:cNvSpPr/>
          <p:nvPr/>
        </p:nvSpPr>
        <p:spPr>
          <a:xfrm>
            <a:off x="5583734" y="1034653"/>
            <a:ext cx="53571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category tool auto-select</a:t>
            </a:r>
            <a:endParaRPr lang="en-US" sz="300" dirty="0"/>
          </a:p>
        </p:txBody>
      </p:sp>
      <p:sp>
        <p:nvSpPr>
          <p:cNvPr id="59" name="Text 57"/>
          <p:cNvSpPr/>
          <p:nvPr/>
        </p:nvSpPr>
        <p:spPr>
          <a:xfrm>
            <a:off x="5403205" y="1144191"/>
            <a:ext cx="129778" cy="82451"/>
          </a:xfrm>
          <a:prstGeom prst="roundRect">
            <a:avLst>
              <a:gd name="adj" fmla="val 30806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53673" y="1156841"/>
            <a:ext cx="2884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" dirty="0"/>
          </a:p>
        </p:txBody>
      </p:sp>
      <p:sp>
        <p:nvSpPr>
          <p:cNvPr id="61" name="Text 59"/>
          <p:cNvSpPr/>
          <p:nvPr/>
        </p:nvSpPr>
        <p:spPr>
          <a:xfrm>
            <a:off x="5583734" y="1133029"/>
            <a:ext cx="44934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400" dirty="0"/>
          </a:p>
        </p:txBody>
      </p:sp>
      <p:sp>
        <p:nvSpPr>
          <p:cNvPr id="62" name="Text 60"/>
          <p:cNvSpPr/>
          <p:nvPr/>
        </p:nvSpPr>
        <p:spPr>
          <a:xfrm>
            <a:off x="5583734" y="1190179"/>
            <a:ext cx="4493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model tier switch</a:t>
            </a:r>
            <a:endParaRPr lang="en-US" sz="300" dirty="0"/>
          </a:p>
        </p:txBody>
      </p:sp>
      <p:sp>
        <p:nvSpPr>
          <p:cNvPr id="63" name="Text 61"/>
          <p:cNvSpPr/>
          <p:nvPr/>
        </p:nvSpPr>
        <p:spPr>
          <a:xfrm>
            <a:off x="5403205" y="1299716"/>
            <a:ext cx="129778" cy="82451"/>
          </a:xfrm>
          <a:prstGeom prst="roundRect">
            <a:avLst>
              <a:gd name="adj" fmla="val 30806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453673" y="1312366"/>
            <a:ext cx="2884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" dirty="0"/>
          </a:p>
        </p:txBody>
      </p:sp>
      <p:sp>
        <p:nvSpPr>
          <p:cNvPr id="65" name="Text 63"/>
          <p:cNvSpPr/>
          <p:nvPr/>
        </p:nvSpPr>
        <p:spPr>
          <a:xfrm>
            <a:off x="5583734" y="1288554"/>
            <a:ext cx="46513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400" dirty="0"/>
          </a:p>
        </p:txBody>
      </p:sp>
      <p:sp>
        <p:nvSpPr>
          <p:cNvPr id="66" name="Text 64"/>
          <p:cNvSpPr/>
          <p:nvPr/>
        </p:nvSpPr>
        <p:spPr>
          <a:xfrm>
            <a:off x="5583734" y="1345704"/>
            <a:ext cx="46513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gate for user decision</a:t>
            </a:r>
            <a:endParaRPr lang="en-US" sz="300" dirty="0"/>
          </a:p>
        </p:txBody>
      </p:sp>
      <p:sp>
        <p:nvSpPr>
          <p:cNvPr id="67" name="Shape 65"/>
          <p:cNvSpPr/>
          <p:nvPr/>
        </p:nvSpPr>
        <p:spPr>
          <a:xfrm>
            <a:off x="5403205" y="1474291"/>
            <a:ext cx="317256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403205" y="1529804"/>
            <a:ext cx="323602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TOOL_RECOVERY_* hook events fire at each stage for observability.</a:t>
            </a:r>
            <a:endParaRPr lang="en-US" sz="350" dirty="0"/>
          </a:p>
        </p:txBody>
      </p:sp>
      <p:sp>
        <p:nvSpPr>
          <p:cNvPr id="69" name="Text 67"/>
          <p:cNvSpPr/>
          <p:nvPr/>
        </p:nvSpPr>
        <p:spPr>
          <a:xfrm>
            <a:off x="457200" y="5010150"/>
            <a:ext cx="186218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 fully removed (frontier consensus). Compression at 80%/95% instead.</a:t>
            </a:r>
            <a:endParaRPr lang="en-US" sz="400" dirty="0"/>
          </a:p>
        </p:txBody>
      </p:sp>
      <p:sp>
        <p:nvSpPr>
          <p:cNvPr id="70" name="Text 68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26</a:t>
            </a:r>
            <a:endParaRPr lang="en-US" sz="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53921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37 Lifecycle Events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오케스트레이션에서 분리된 독립 모듈. 모든 레이어(L0-L5)가 의존하는 cross-cutting nervous system.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12953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SOURCES</a:t>
            </a:r>
            <a:endParaRPr lang="en-US" sz="400" dirty="0"/>
          </a:p>
        </p:txBody>
      </p:sp>
      <p:sp>
        <p:nvSpPr>
          <p:cNvPr id="7" name="Text 5"/>
          <p:cNvSpPr/>
          <p:nvPr/>
        </p:nvSpPr>
        <p:spPr>
          <a:xfrm>
            <a:off x="457200" y="713929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6725" y="713929"/>
            <a:ext cx="0" cy="17145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27000" y="752029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Agent</a:t>
            </a:r>
            <a:endParaRPr lang="en-US" sz="350" dirty="0"/>
          </a:p>
        </p:txBody>
      </p:sp>
      <p:sp>
        <p:nvSpPr>
          <p:cNvPr id="10" name="Text 8"/>
          <p:cNvSpPr/>
          <p:nvPr/>
        </p:nvSpPr>
        <p:spPr>
          <a:xfrm>
            <a:off x="527000" y="799654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TURN_COMPLETE, SUBAGENT_*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457200" y="910679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" y="910679"/>
            <a:ext cx="0" cy="17145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27000" y="948779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LLM</a:t>
            </a:r>
            <a:endParaRPr lang="en-US" sz="350" dirty="0"/>
          </a:p>
        </p:txBody>
      </p:sp>
      <p:sp>
        <p:nvSpPr>
          <p:cNvPr id="14" name="Text 12"/>
          <p:cNvSpPr/>
          <p:nvPr/>
        </p:nvSpPr>
        <p:spPr>
          <a:xfrm>
            <a:off x="527000" y="996404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CONTEXT_WARNING/CRITICAL</a:t>
            </a:r>
            <a:endParaRPr lang="en-US" sz="300" dirty="0"/>
          </a:p>
        </p:txBody>
      </p:sp>
      <p:sp>
        <p:nvSpPr>
          <p:cNvPr id="15" name="Text 13"/>
          <p:cNvSpPr/>
          <p:nvPr/>
        </p:nvSpPr>
        <p:spPr>
          <a:xfrm>
            <a:off x="457200" y="1107430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" y="1107430"/>
            <a:ext cx="0" cy="17145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27000" y="1145530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Memory</a:t>
            </a:r>
            <a:endParaRPr lang="en-US" sz="350" dirty="0"/>
          </a:p>
        </p:txBody>
      </p:sp>
      <p:sp>
        <p:nvSpPr>
          <p:cNvPr id="18" name="Text 16"/>
          <p:cNvSpPr/>
          <p:nvPr/>
        </p:nvSpPr>
        <p:spPr>
          <a:xfrm>
            <a:off x="527000" y="1193155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MEMORY_SAVED, RULE_*</a:t>
            </a:r>
            <a:endParaRPr lang="en-US" sz="300" dirty="0"/>
          </a:p>
        </p:txBody>
      </p:sp>
      <p:sp>
        <p:nvSpPr>
          <p:cNvPr id="19" name="Text 17"/>
          <p:cNvSpPr/>
          <p:nvPr/>
        </p:nvSpPr>
        <p:spPr>
          <a:xfrm>
            <a:off x="457200" y="1304181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" y="1304181"/>
            <a:ext cx="0" cy="17145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7000" y="1342281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Orch</a:t>
            </a:r>
            <a:endParaRPr lang="en-US" sz="350" dirty="0"/>
          </a:p>
        </p:txBody>
      </p:sp>
      <p:sp>
        <p:nvSpPr>
          <p:cNvPr id="22" name="Text 20"/>
          <p:cNvSpPr/>
          <p:nvPr/>
        </p:nvSpPr>
        <p:spPr>
          <a:xfrm>
            <a:off x="527000" y="1389906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PROMPT_*, MCP_*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457200" y="1500932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725" y="1500932"/>
            <a:ext cx="0" cy="17145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27000" y="1539032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Tools</a:t>
            </a:r>
            <a:endParaRPr lang="en-US" sz="350" dirty="0"/>
          </a:p>
        </p:txBody>
      </p:sp>
      <p:sp>
        <p:nvSpPr>
          <p:cNvPr id="26" name="Text 24"/>
          <p:cNvSpPr/>
          <p:nvPr/>
        </p:nvSpPr>
        <p:spPr>
          <a:xfrm>
            <a:off x="527000" y="1586657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TOOL_RECOVERY_*, TRIGGER_*</a:t>
            </a:r>
            <a:endParaRPr lang="en-US" sz="300" dirty="0"/>
          </a:p>
        </p:txBody>
      </p:sp>
      <p:sp>
        <p:nvSpPr>
          <p:cNvPr id="27" name="Text 25"/>
          <p:cNvSpPr/>
          <p:nvPr/>
        </p:nvSpPr>
        <p:spPr>
          <a:xfrm>
            <a:off x="457200" y="1697682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6725" y="1697682"/>
            <a:ext cx="0" cy="17145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7000" y="1735782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Domain</a:t>
            </a:r>
            <a:endParaRPr lang="en-US" sz="350" dirty="0"/>
          </a:p>
        </p:txBody>
      </p:sp>
      <p:sp>
        <p:nvSpPr>
          <p:cNvPr id="30" name="Text 28"/>
          <p:cNvSpPr/>
          <p:nvPr/>
        </p:nvSpPr>
        <p:spPr>
          <a:xfrm>
            <a:off x="527000" y="1783407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PIPELINE_*, NODE_*, ANALYST_*</a:t>
            </a:r>
            <a:endParaRPr lang="en-US" sz="300" dirty="0"/>
          </a:p>
        </p:txBody>
      </p:sp>
      <p:sp>
        <p:nvSpPr>
          <p:cNvPr id="31" name="Text 29"/>
          <p:cNvSpPr/>
          <p:nvPr/>
        </p:nvSpPr>
        <p:spPr>
          <a:xfrm>
            <a:off x="457200" y="1894433"/>
            <a:ext cx="1269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725" y="1894433"/>
            <a:ext cx="0" cy="17145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27000" y="1932533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350" dirty="0"/>
          </a:p>
        </p:txBody>
      </p:sp>
      <p:sp>
        <p:nvSpPr>
          <p:cNvPr id="34" name="Text 32"/>
          <p:cNvSpPr/>
          <p:nvPr/>
        </p:nvSpPr>
        <p:spPr>
          <a:xfrm>
            <a:off x="527000" y="1980158"/>
            <a:ext cx="1172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GATEWAY_MSG/RESPONSE</a:t>
            </a:r>
            <a:endParaRPr lang="en-US" sz="300" dirty="0"/>
          </a:p>
        </p:txBody>
      </p:sp>
      <p:sp>
        <p:nvSpPr>
          <p:cNvPr id="35" name="Text 33"/>
          <p:cNvSpPr/>
          <p:nvPr/>
        </p:nvSpPr>
        <p:spPr>
          <a:xfrm>
            <a:off x="1777901" y="618827"/>
            <a:ext cx="5207198" cy="4340572"/>
          </a:xfrm>
          <a:prstGeom prst="roundRect">
            <a:avLst>
              <a:gd name="adj" fmla="val 1170"/>
            </a:avLst>
          </a:prstGeom>
          <a:solidFill>
            <a:srgbClr val="F97316">
              <a:alpha val="6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813268" y="704552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813268" y="790277"/>
            <a:ext cx="51364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Thread-safe, priority-based, non-blocking</a:t>
            </a:r>
            <a:endParaRPr lang="en-US" sz="350" dirty="0"/>
          </a:p>
        </p:txBody>
      </p:sp>
      <p:sp>
        <p:nvSpPr>
          <p:cNvPr id="38" name="Text 36"/>
          <p:cNvSpPr/>
          <p:nvPr/>
        </p:nvSpPr>
        <p:spPr>
          <a:xfrm>
            <a:off x="2117973" y="888504"/>
            <a:ext cx="330250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168723" y="901154"/>
            <a:ext cx="2333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(3)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2473523" y="888504"/>
            <a:ext cx="268784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24274" y="901154"/>
            <a:ext cx="1706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(4)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2767608" y="888504"/>
            <a:ext cx="342305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18358" y="901154"/>
            <a:ext cx="24562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(3)</a:t>
            </a:r>
            <a:endParaRPr lang="en-US" sz="300" dirty="0"/>
          </a:p>
        </p:txBody>
      </p:sp>
      <p:sp>
        <p:nvSpPr>
          <p:cNvPr id="44" name="Text 42"/>
          <p:cNvSpPr/>
          <p:nvPr/>
        </p:nvSpPr>
        <p:spPr>
          <a:xfrm>
            <a:off x="3135213" y="888504"/>
            <a:ext cx="295573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185964" y="901154"/>
            <a:ext cx="19795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(2)</a:t>
            </a:r>
            <a:endParaRPr lang="en-US" sz="300" dirty="0"/>
          </a:p>
        </p:txBody>
      </p:sp>
      <p:sp>
        <p:nvSpPr>
          <p:cNvPr id="46" name="Text 44"/>
          <p:cNvSpPr/>
          <p:nvPr/>
        </p:nvSpPr>
        <p:spPr>
          <a:xfrm>
            <a:off x="3456087" y="888504"/>
            <a:ext cx="409129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506837" y="901154"/>
            <a:ext cx="31378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(5)</a:t>
            </a:r>
            <a:endParaRPr lang="en-US" sz="300" dirty="0"/>
          </a:p>
        </p:txBody>
      </p:sp>
      <p:sp>
        <p:nvSpPr>
          <p:cNvPr id="48" name="Text 46"/>
          <p:cNvSpPr/>
          <p:nvPr/>
        </p:nvSpPr>
        <p:spPr>
          <a:xfrm>
            <a:off x="3890516" y="888504"/>
            <a:ext cx="328761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941266" y="901154"/>
            <a:ext cx="23180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(5)</a:t>
            </a:r>
            <a:endParaRPr lang="en-US" sz="300" dirty="0"/>
          </a:p>
        </p:txBody>
      </p:sp>
      <p:sp>
        <p:nvSpPr>
          <p:cNvPr id="50" name="Text 48"/>
          <p:cNvSpPr/>
          <p:nvPr/>
        </p:nvSpPr>
        <p:spPr>
          <a:xfrm>
            <a:off x="4244578" y="888504"/>
            <a:ext cx="321022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295329" y="901154"/>
            <a:ext cx="22391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(2)</a:t>
            </a:r>
            <a:endParaRPr lang="en-US" sz="300" dirty="0"/>
          </a:p>
        </p:txBody>
      </p:sp>
      <p:sp>
        <p:nvSpPr>
          <p:cNvPr id="52" name="Text 50"/>
          <p:cNvSpPr/>
          <p:nvPr/>
        </p:nvSpPr>
        <p:spPr>
          <a:xfrm>
            <a:off x="4590901" y="888504"/>
            <a:ext cx="367605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641652" y="901154"/>
            <a:ext cx="27142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(3)</a:t>
            </a:r>
            <a:endParaRPr lang="en-US" sz="300" dirty="0"/>
          </a:p>
        </p:txBody>
      </p:sp>
      <p:sp>
        <p:nvSpPr>
          <p:cNvPr id="54" name="Text 52"/>
          <p:cNvSpPr/>
          <p:nvPr/>
        </p:nvSpPr>
        <p:spPr>
          <a:xfrm>
            <a:off x="4983807" y="888504"/>
            <a:ext cx="371177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034558" y="901154"/>
            <a:ext cx="27507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(3)</a:t>
            </a:r>
            <a:endParaRPr lang="en-US" sz="300" dirty="0"/>
          </a:p>
        </p:txBody>
      </p:sp>
      <p:sp>
        <p:nvSpPr>
          <p:cNvPr id="56" name="Text 54"/>
          <p:cNvSpPr/>
          <p:nvPr/>
        </p:nvSpPr>
        <p:spPr>
          <a:xfrm>
            <a:off x="5380286" y="888504"/>
            <a:ext cx="341412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31036" y="901154"/>
            <a:ext cx="2447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(2)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5746998" y="888504"/>
            <a:ext cx="242739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797748" y="901154"/>
            <a:ext cx="1440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(2)</a:t>
            </a:r>
            <a:endParaRPr lang="en-US" sz="300" dirty="0"/>
          </a:p>
        </p:txBody>
      </p:sp>
      <p:sp>
        <p:nvSpPr>
          <p:cNvPr id="60" name="Text 58"/>
          <p:cNvSpPr/>
          <p:nvPr/>
        </p:nvSpPr>
        <p:spPr>
          <a:xfrm>
            <a:off x="6015038" y="888504"/>
            <a:ext cx="264468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065788" y="901154"/>
            <a:ext cx="16622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(1)</a:t>
            </a:r>
            <a:endParaRPr lang="en-US" sz="300" dirty="0"/>
          </a:p>
        </p:txBody>
      </p:sp>
      <p:sp>
        <p:nvSpPr>
          <p:cNvPr id="62" name="Text 60"/>
          <p:cNvSpPr/>
          <p:nvPr/>
        </p:nvSpPr>
        <p:spPr>
          <a:xfrm>
            <a:off x="6304806" y="888504"/>
            <a:ext cx="340072" cy="72926"/>
          </a:xfrm>
          <a:prstGeom prst="roundRect">
            <a:avLst>
              <a:gd name="adj" fmla="val 348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355556" y="901154"/>
            <a:ext cx="24334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(2)</a:t>
            </a:r>
            <a:endParaRPr lang="en-US" sz="300" dirty="0"/>
          </a:p>
        </p:txBody>
      </p:sp>
      <p:sp>
        <p:nvSpPr>
          <p:cNvPr id="64" name="Text 62"/>
          <p:cNvSpPr/>
          <p:nvPr/>
        </p:nvSpPr>
        <p:spPr>
          <a:xfrm>
            <a:off x="1813268" y="4778425"/>
            <a:ext cx="51364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+ class-based plugin discovery</a:t>
            </a:r>
            <a:endParaRPr lang="en-US" sz="300" dirty="0"/>
          </a:p>
        </p:txBody>
      </p:sp>
      <p:sp>
        <p:nvSpPr>
          <p:cNvPr id="65" name="Text 63"/>
          <p:cNvSpPr/>
          <p:nvPr/>
        </p:nvSpPr>
        <p:spPr>
          <a:xfrm>
            <a:off x="1813268" y="4826050"/>
            <a:ext cx="51364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HookPluginLoader auto-register</a:t>
            </a:r>
            <a:endParaRPr lang="en-US" sz="300" dirty="0"/>
          </a:p>
        </p:txBody>
      </p:sp>
      <p:sp>
        <p:nvSpPr>
          <p:cNvPr id="66" name="Text 64"/>
          <p:cNvSpPr/>
          <p:nvPr/>
        </p:nvSpPr>
        <p:spPr>
          <a:xfrm>
            <a:off x="7035850" y="618827"/>
            <a:ext cx="168396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 (priority order)</a:t>
            </a:r>
            <a:endParaRPr lang="en-US" sz="400" dirty="0"/>
          </a:p>
        </p:txBody>
      </p:sp>
      <p:sp>
        <p:nvSpPr>
          <p:cNvPr id="67" name="Text 65"/>
          <p:cNvSpPr/>
          <p:nvPr/>
        </p:nvSpPr>
        <p:spPr>
          <a:xfrm>
            <a:off x="7035850" y="713929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086600" y="752029"/>
            <a:ext cx="42353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TaskGraphBridge</a:t>
            </a:r>
            <a:endParaRPr lang="en-US" sz="350" dirty="0"/>
          </a:p>
        </p:txBody>
      </p:sp>
      <p:sp>
        <p:nvSpPr>
          <p:cNvPr id="69" name="Text 67"/>
          <p:cNvSpPr/>
          <p:nvPr/>
        </p:nvSpPr>
        <p:spPr>
          <a:xfrm>
            <a:off x="7086600" y="799654"/>
            <a:ext cx="42353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NODE_* ➔ task tracking</a:t>
            </a:r>
            <a:endParaRPr lang="en-US" sz="300" dirty="0"/>
          </a:p>
        </p:txBody>
      </p:sp>
      <p:sp>
        <p:nvSpPr>
          <p:cNvPr id="70" name="Text 68"/>
          <p:cNvSpPr/>
          <p:nvPr/>
        </p:nvSpPr>
        <p:spPr>
          <a:xfrm>
            <a:off x="8568184" y="752029"/>
            <a:ext cx="69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P30</a:t>
            </a:r>
            <a:endParaRPr lang="en-US" sz="300" dirty="0"/>
          </a:p>
        </p:txBody>
      </p:sp>
      <p:sp>
        <p:nvSpPr>
          <p:cNvPr id="71" name="Text 69"/>
          <p:cNvSpPr/>
          <p:nvPr/>
        </p:nvSpPr>
        <p:spPr>
          <a:xfrm>
            <a:off x="7035850" y="910679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086600" y="948779"/>
            <a:ext cx="50566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350" dirty="0"/>
          </a:p>
        </p:txBody>
      </p:sp>
      <p:sp>
        <p:nvSpPr>
          <p:cNvPr id="73" name="Text 71"/>
          <p:cNvSpPr/>
          <p:nvPr/>
        </p:nvSpPr>
        <p:spPr>
          <a:xfrm>
            <a:off x="7086600" y="996404"/>
            <a:ext cx="50566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PIPELINE_* ➔ timeout guard</a:t>
            </a:r>
            <a:endParaRPr lang="en-US" sz="300" dirty="0"/>
          </a:p>
        </p:txBody>
      </p:sp>
      <p:sp>
        <p:nvSpPr>
          <p:cNvPr id="74" name="Text 72"/>
          <p:cNvSpPr/>
          <p:nvPr/>
        </p:nvSpPr>
        <p:spPr>
          <a:xfrm>
            <a:off x="8568184" y="948779"/>
            <a:ext cx="69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P40</a:t>
            </a:r>
            <a:endParaRPr lang="en-US" sz="300" dirty="0"/>
          </a:p>
        </p:txBody>
      </p:sp>
      <p:sp>
        <p:nvSpPr>
          <p:cNvPr id="75" name="Text 73"/>
          <p:cNvSpPr/>
          <p:nvPr/>
        </p:nvSpPr>
        <p:spPr>
          <a:xfrm>
            <a:off x="7035850" y="1107430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7086600" y="1145530"/>
            <a:ext cx="44235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RunLog</a:t>
            </a:r>
            <a:endParaRPr lang="en-US" sz="350" dirty="0"/>
          </a:p>
        </p:txBody>
      </p:sp>
      <p:sp>
        <p:nvSpPr>
          <p:cNvPr id="77" name="Text 75"/>
          <p:cNvSpPr/>
          <p:nvPr/>
        </p:nvSpPr>
        <p:spPr>
          <a:xfrm>
            <a:off x="7086600" y="1193155"/>
            <a:ext cx="44235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37 ➔ JSONL append</a:t>
            </a:r>
            <a:endParaRPr lang="en-US" sz="300" dirty="0"/>
          </a:p>
        </p:txBody>
      </p:sp>
      <p:sp>
        <p:nvSpPr>
          <p:cNvPr id="78" name="Text 76"/>
          <p:cNvSpPr/>
          <p:nvPr/>
        </p:nvSpPr>
        <p:spPr>
          <a:xfrm>
            <a:off x="8568184" y="1145530"/>
            <a:ext cx="69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300" dirty="0"/>
          </a:p>
        </p:txBody>
      </p:sp>
      <p:sp>
        <p:nvSpPr>
          <p:cNvPr id="79" name="Text 77"/>
          <p:cNvSpPr/>
          <p:nvPr/>
        </p:nvSpPr>
        <p:spPr>
          <a:xfrm>
            <a:off x="7035850" y="1304181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086600" y="1342281"/>
            <a:ext cx="5014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</a:t>
            </a:r>
            <a:endParaRPr lang="en-US" sz="350" dirty="0"/>
          </a:p>
        </p:txBody>
      </p:sp>
      <p:sp>
        <p:nvSpPr>
          <p:cNvPr id="81" name="Text 79"/>
          <p:cNvSpPr/>
          <p:nvPr/>
        </p:nvSpPr>
        <p:spPr>
          <a:xfrm>
            <a:off x="7086600" y="1389906"/>
            <a:ext cx="5014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➔ runs.jsonl</a:t>
            </a:r>
            <a:endParaRPr lang="en-US" sz="300" dirty="0"/>
          </a:p>
        </p:txBody>
      </p:sp>
      <p:sp>
        <p:nvSpPr>
          <p:cNvPr id="82" name="Text 80"/>
          <p:cNvSpPr/>
          <p:nvPr/>
        </p:nvSpPr>
        <p:spPr>
          <a:xfrm>
            <a:off x="8568184" y="1342281"/>
            <a:ext cx="69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P60</a:t>
            </a:r>
            <a:endParaRPr lang="en-US" sz="300" dirty="0"/>
          </a:p>
        </p:txBody>
      </p:sp>
      <p:sp>
        <p:nvSpPr>
          <p:cNvPr id="83" name="Text 81"/>
          <p:cNvSpPr/>
          <p:nvPr/>
        </p:nvSpPr>
        <p:spPr>
          <a:xfrm>
            <a:off x="7035850" y="1500932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7086600" y="1539032"/>
            <a:ext cx="5314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DriftAutoSnapshot</a:t>
            </a:r>
            <a:endParaRPr lang="en-US" sz="350" dirty="0"/>
          </a:p>
        </p:txBody>
      </p:sp>
      <p:sp>
        <p:nvSpPr>
          <p:cNvPr id="85" name="Text 83"/>
          <p:cNvSpPr/>
          <p:nvPr/>
        </p:nvSpPr>
        <p:spPr>
          <a:xfrm>
            <a:off x="7086600" y="1586657"/>
            <a:ext cx="5314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DRIFT_DETECTED ➔ capture</a:t>
            </a:r>
            <a:endParaRPr lang="en-US" sz="300" dirty="0"/>
          </a:p>
        </p:txBody>
      </p:sp>
      <p:sp>
        <p:nvSpPr>
          <p:cNvPr id="86" name="Text 84"/>
          <p:cNvSpPr/>
          <p:nvPr/>
        </p:nvSpPr>
        <p:spPr>
          <a:xfrm>
            <a:off x="8568184" y="1539032"/>
            <a:ext cx="69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300" dirty="0"/>
          </a:p>
        </p:txBody>
      </p:sp>
      <p:sp>
        <p:nvSpPr>
          <p:cNvPr id="87" name="Text 85"/>
          <p:cNvSpPr/>
          <p:nvPr/>
        </p:nvSpPr>
        <p:spPr>
          <a:xfrm>
            <a:off x="7035850" y="1697682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086600" y="1735782"/>
            <a:ext cx="51203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TurnAutoMemory</a:t>
            </a:r>
            <a:endParaRPr lang="en-US" sz="350" dirty="0"/>
          </a:p>
        </p:txBody>
      </p:sp>
      <p:sp>
        <p:nvSpPr>
          <p:cNvPr id="89" name="Text 87"/>
          <p:cNvSpPr/>
          <p:nvPr/>
        </p:nvSpPr>
        <p:spPr>
          <a:xfrm>
            <a:off x="7086600" y="1783407"/>
            <a:ext cx="51203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➔ insight</a:t>
            </a:r>
            <a:endParaRPr lang="en-US" sz="300" dirty="0"/>
          </a:p>
        </p:txBody>
      </p:sp>
      <p:sp>
        <p:nvSpPr>
          <p:cNvPr id="90" name="Text 88"/>
          <p:cNvSpPr/>
          <p:nvPr/>
        </p:nvSpPr>
        <p:spPr>
          <a:xfrm>
            <a:off x="8568184" y="1735782"/>
            <a:ext cx="69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</a:t>
            </a:r>
            <a:endParaRPr lang="en-US" sz="300" dirty="0"/>
          </a:p>
        </p:txBody>
      </p:sp>
      <p:sp>
        <p:nvSpPr>
          <p:cNvPr id="91" name="Text 89"/>
          <p:cNvSpPr/>
          <p:nvPr/>
        </p:nvSpPr>
        <p:spPr>
          <a:xfrm>
            <a:off x="7035850" y="1894433"/>
            <a:ext cx="16509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7086600" y="1932533"/>
            <a:ext cx="3846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NotificationHook</a:t>
            </a:r>
            <a:endParaRPr lang="en-US" sz="350" dirty="0"/>
          </a:p>
        </p:txBody>
      </p:sp>
      <p:sp>
        <p:nvSpPr>
          <p:cNvPr id="93" name="Text 91"/>
          <p:cNvSpPr/>
          <p:nvPr/>
        </p:nvSpPr>
        <p:spPr>
          <a:xfrm>
            <a:off x="7086600" y="1980158"/>
            <a:ext cx="3846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➔ Slack alert</a:t>
            </a:r>
            <a:endParaRPr lang="en-US" sz="300" dirty="0"/>
          </a:p>
        </p:txBody>
      </p:sp>
      <p:sp>
        <p:nvSpPr>
          <p:cNvPr id="94" name="Text 92"/>
          <p:cNvSpPr/>
          <p:nvPr/>
        </p:nvSpPr>
        <p:spPr>
          <a:xfrm>
            <a:off x="8547050" y="193253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P200</a:t>
            </a:r>
            <a:endParaRPr lang="en-US" sz="300" dirty="0"/>
          </a:p>
        </p:txBody>
      </p:sp>
      <p:sp>
        <p:nvSpPr>
          <p:cNvPr id="95" name="Text 93"/>
          <p:cNvSpPr/>
          <p:nvPr/>
        </p:nvSpPr>
        <p:spPr>
          <a:xfrm>
            <a:off x="457200" y="5010150"/>
            <a:ext cx="197953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violation resolved: L0-L4 no longer depend on L3(orchestration) for hooks</a:t>
            </a:r>
            <a:endParaRPr lang="en-US" sz="400" dirty="0"/>
          </a:p>
        </p:txBody>
      </p:sp>
      <p:sp>
        <p:nvSpPr>
          <p:cNvPr id="96" name="Text 9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26</a:t>
            </a:r>
            <a:endParaRPr lang="en-US" sz="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55253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Orchestration: Queue + DAG + Session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31478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직교 관심사 — Queue는 "언제, 몇 번" / DAG는 "무엇을 어떤 순서로"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7754"/>
            <a:ext cx="4038600" cy="3664595"/>
          </a:xfrm>
          <a:prstGeom prst="roundRect">
            <a:avLst>
              <a:gd name="adj" fmla="val 20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99679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7203" y="1075879"/>
            <a:ext cx="110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0125" y="1037779"/>
            <a:ext cx="1094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0125" y="1180654"/>
            <a:ext cx="10940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시간적 제어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619125" y="1405979"/>
            <a:ext cx="3714750" cy="44008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71525" y="1405979"/>
            <a:ext cx="3633597" cy="14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6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dedup window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71525" y="1555849"/>
            <a:ext cx="3633597" cy="14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6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threading.Timer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기반 병합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71525" y="1705719"/>
            <a:ext cx="3633597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agents가 같은 페이지를 동시 요청해도 </a:t>
            </a: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1회만 실행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19125" y="1973014"/>
            <a:ext cx="3714750" cy="607963"/>
          </a:xfrm>
          <a:prstGeom prst="roundRect">
            <a:avLst>
              <a:gd name="adj" fmla="val 835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0626" y="2074515"/>
            <a:ext cx="3581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20626" y="2220516"/>
            <a:ext cx="3511748" cy="258961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847576" y="2220516"/>
            <a:ext cx="345249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내 </a:t>
            </a: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실행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847576" y="2349996"/>
            <a:ext cx="345249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</a:t>
            </a: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semaphore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648200" y="837754"/>
            <a:ext cx="4038600" cy="3664595"/>
          </a:xfrm>
          <a:prstGeom prst="roundRect">
            <a:avLst>
              <a:gd name="adj" fmla="val 20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5" y="999679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8203" y="1075879"/>
            <a:ext cx="110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1125" y="1037779"/>
            <a:ext cx="667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TaskGraph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1125" y="1180654"/>
            <a:ext cx="6670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제어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810125" y="1405979"/>
            <a:ext cx="3714750" cy="42103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962525" y="1405979"/>
            <a:ext cx="3633597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</a:t>
            </a:r>
            <a:r>
              <a:rPr lang="en-US" sz="6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기반 실행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962525" y="1546324"/>
            <a:ext cx="3633597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tasks → 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962525" y="1686669"/>
            <a:ext cx="3633597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tasks → </a:t>
            </a:r>
            <a:r>
              <a:rPr lang="en-US" sz="6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810125" y="1953964"/>
            <a:ext cx="3714750" cy="558552"/>
          </a:xfrm>
          <a:prstGeom prst="roundRect">
            <a:avLst>
              <a:gd name="adj" fmla="val 90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1626" y="2055465"/>
            <a:ext cx="3581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Propagation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911626" y="2201466"/>
            <a:ext cx="35819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propagate_failure()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11626" y="2325291"/>
            <a:ext cx="35819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의존 태스크 → </a:t>
            </a: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57200" y="4603849"/>
            <a:ext cx="8229600" cy="304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9125" y="4689574"/>
            <a:ext cx="74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4146" y="4703862"/>
            <a:ext cx="3952783" cy="8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</a:t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하는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관심사</a:t>
            </a:r>
            <a:r>
              <a:rPr lang="ko-KR" alt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</a:t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제어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Queue는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주기와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횟수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DAG는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7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대상과</a:t>
            </a:r>
            <a:r>
              <a:rPr lang="en-US" sz="7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700" b="1" dirty="0" err="1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</a:t>
            </a:r>
            <a:r>
              <a:rPr lang="en-US" altLang="ko-KR" sz="7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ko-KR" altLang="en-US" sz="7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</a:t>
            </a:r>
            <a:r>
              <a:rPr lang="ko-KR" altLang="en-US" sz="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제어합니다</a:t>
            </a:r>
            <a:r>
              <a:rPr lang="en-US" altLang="ko-KR" sz="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5010150"/>
            <a:ext cx="92403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Autonomous Agent Architecture</a:t>
            </a:r>
            <a:endParaRPr lang="en-US" sz="400" dirty="0"/>
          </a:p>
        </p:txBody>
      </p:sp>
      <p:sp>
        <p:nvSpPr>
          <p:cNvPr id="37" name="Text 35"/>
          <p:cNvSpPr/>
          <p:nvPr/>
        </p:nvSpPr>
        <p:spPr>
          <a:xfrm>
            <a:off x="8554343" y="5010150"/>
            <a:ext cx="135106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26</a:t>
            </a:r>
            <a:endParaRPr lang="en-US" sz="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55253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4-Tier Memory + .geode/ 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578"/>
            <a:ext cx="3744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4-Tier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85379"/>
            <a:ext cx="3671441" cy="333375"/>
          </a:xfrm>
          <a:prstGeom prst="roundRect">
            <a:avLst>
              <a:gd name="adj" fmla="val 1523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6725" y="885379"/>
            <a:ext cx="0" cy="333375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77751" y="961579"/>
            <a:ext cx="3518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77751" y="1056829"/>
            <a:ext cx="35183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scope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57200" y="1294954"/>
            <a:ext cx="3671441" cy="333375"/>
          </a:xfrm>
          <a:prstGeom prst="roundRect">
            <a:avLst>
              <a:gd name="adj" fmla="val 1523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294954"/>
            <a:ext cx="0" cy="333375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7751" y="1371154"/>
            <a:ext cx="3518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77751" y="1466404"/>
            <a:ext cx="35183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/ shared config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57200" y="1704529"/>
            <a:ext cx="3671441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1704529"/>
            <a:ext cx="0" cy="32385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7751" y="1780729"/>
            <a:ext cx="3518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77751" y="1875979"/>
            <a:ext cx="35183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.geode/memory/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457200" y="2104579"/>
            <a:ext cx="3671441" cy="333375"/>
          </a:xfrm>
          <a:prstGeom prst="roundRect">
            <a:avLst>
              <a:gd name="adj" fmla="val 1523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" y="2104579"/>
            <a:ext cx="0" cy="333375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7751" y="2180779"/>
            <a:ext cx="3518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77751" y="2276029"/>
            <a:ext cx="35183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+ SQLite WAL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457200" y="2539454"/>
            <a:ext cx="3671441" cy="508992"/>
          </a:xfrm>
          <a:prstGeom prst="roundRect">
            <a:avLst>
              <a:gd name="adj" fmla="val 99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8701" y="2615654"/>
            <a:ext cx="35378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Tools (9)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58701" y="2749004"/>
            <a:ext cx="3537808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0"/>
              </a:lnSpc>
              <a:buNone/>
            </a:pPr>
            <a:r>
              <a:rPr lang="en-US" sz="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memory_search, memory_save, note_create, note_update, note_delete, note_list, rule_create, rule_update, rule_delete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4281041" y="669578"/>
            <a:ext cx="449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 Context Hub — 5 Layer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81041" y="859929"/>
            <a:ext cx="4405759" cy="3559373"/>
          </a:xfrm>
          <a:prstGeom prst="roundRect">
            <a:avLst>
              <a:gd name="adj" fmla="val 214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17516" y="996404"/>
            <a:ext cx="609600" cy="1524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58767" y="1039267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103316" y="1029742"/>
            <a:ext cx="3368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 SOUL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509766" y="1039267"/>
            <a:ext cx="4658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+ values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4417516" y="1212205"/>
            <a:ext cx="304800" cy="152400"/>
          </a:xfrm>
          <a:prstGeom prst="roundRect">
            <a:avLst>
              <a:gd name="adj" fmla="val 16667"/>
            </a:avLst>
          </a:prstGeom>
          <a:solidFill>
            <a:srgbClr val="F472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8516" y="1245543"/>
            <a:ext cx="4276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C0.5 Profile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293965" y="1255068"/>
            <a:ext cx="48562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preferences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4417516" y="1428006"/>
            <a:ext cx="1524000" cy="152400"/>
          </a:xfrm>
          <a:prstGeom prst="roundRect">
            <a:avLst>
              <a:gd name="adj" fmla="val 16667"/>
            </a:avLst>
          </a:prstGeom>
          <a:solidFill>
            <a:srgbClr val="C08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15967" y="1470868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6017716" y="1461343"/>
            <a:ext cx="2591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Org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347966" y="1470868"/>
            <a:ext cx="67082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rules + conventions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4417516" y="1643807"/>
            <a:ext cx="1524000" cy="15240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15967" y="1686669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6017716" y="1677144"/>
            <a:ext cx="3845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Project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470898" y="1686669"/>
            <a:ext cx="5935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 local context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4417516" y="1859607"/>
            <a:ext cx="2438400" cy="152400"/>
          </a:xfrm>
          <a:prstGeom prst="roundRect">
            <a:avLst>
              <a:gd name="adj" fmla="val 16667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73167" y="1902470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6932116" y="1892945"/>
            <a:ext cx="419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Session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419231" y="1902470"/>
            <a:ext cx="5539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conversation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417516" y="2126159"/>
            <a:ext cx="4132808" cy="212527"/>
          </a:xfrm>
          <a:prstGeom prst="roundRect">
            <a:avLst>
              <a:gd name="adj" fmla="val 179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519017" y="2189559"/>
            <a:ext cx="400840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ContextAssembler</a:t>
            </a: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all layers with budget ratio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281041" y="4470053"/>
            <a:ext cx="4405759" cy="489347"/>
          </a:xfrm>
          <a:prstGeom prst="roundRect">
            <a:avLst>
              <a:gd name="adj" fmla="val 103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382542" y="4546253"/>
            <a:ext cx="4286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382542" y="4679603"/>
            <a:ext cx="4286813" cy="111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0"/>
              </a:lnSpc>
              <a:buNone/>
            </a:pPr>
            <a:r>
              <a:rPr lang="en-US" sz="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runs.jsonl, costs.jsonl, learned.md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4382542" y="4816525"/>
            <a:ext cx="428681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auto-extracted, Karpathy P4 Ratchet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457200" y="5010150"/>
            <a:ext cx="92403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Autonomous Agent Architecture</a:t>
            </a:r>
            <a:endParaRPr lang="en-US" sz="400" dirty="0"/>
          </a:p>
        </p:txBody>
      </p:sp>
      <p:sp>
        <p:nvSpPr>
          <p:cNvPr id="53" name="Text 51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26</a:t>
            </a:r>
            <a:endParaRPr lang="en-US" sz="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Model-Switching Compression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Opus(1M) ➔ GLM-5(80K) 전환에도 대화 연속성을 유지합니다. 3-Phase 압축 + 동적 가드.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8539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Compression Pipeline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57200" y="736253"/>
            <a:ext cx="1497509" cy="380702"/>
          </a:xfrm>
          <a:prstGeom prst="roundRect">
            <a:avLst>
              <a:gd name="adj" fmla="val 100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745778"/>
            <a:ext cx="149750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3400" y="818704"/>
            <a:ext cx="137201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Summarize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533400" y="910679"/>
            <a:ext cx="13720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&gt; 5% threshold</a:t>
            </a:r>
            <a:endParaRPr lang="en-US" sz="350" dirty="0"/>
          </a:p>
        </p:txBody>
      </p:sp>
      <p:sp>
        <p:nvSpPr>
          <p:cNvPr id="11" name="Text 9"/>
          <p:cNvSpPr/>
          <p:nvPr/>
        </p:nvSpPr>
        <p:spPr>
          <a:xfrm>
            <a:off x="533400" y="958304"/>
            <a:ext cx="13720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[summarized] tag</a:t>
            </a:r>
            <a:endParaRPr lang="en-US" sz="350" dirty="0"/>
          </a:p>
        </p:txBody>
      </p:sp>
      <p:sp>
        <p:nvSpPr>
          <p:cNvPr id="12" name="Text 10"/>
          <p:cNvSpPr/>
          <p:nvPr/>
        </p:nvSpPr>
        <p:spPr>
          <a:xfrm>
            <a:off x="533400" y="1005929"/>
            <a:ext cx="13720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 preserved in log</a:t>
            </a:r>
            <a:endParaRPr lang="en-US" sz="350" dirty="0"/>
          </a:p>
        </p:txBody>
      </p:sp>
      <p:sp>
        <p:nvSpPr>
          <p:cNvPr id="13" name="Text 11"/>
          <p:cNvSpPr/>
          <p:nvPr/>
        </p:nvSpPr>
        <p:spPr>
          <a:xfrm>
            <a:off x="1992809" y="893266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2087761" y="736253"/>
            <a:ext cx="1497657" cy="380702"/>
          </a:xfrm>
          <a:prstGeom prst="roundRect">
            <a:avLst>
              <a:gd name="adj" fmla="val 100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87761" y="745778"/>
            <a:ext cx="1497657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163961" y="818704"/>
            <a:ext cx="13721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Prune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163961" y="910679"/>
            <a:ext cx="13721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target: 95% ➔ 70%</a:t>
            </a:r>
            <a:endParaRPr lang="en-US" sz="350" dirty="0"/>
          </a:p>
        </p:txBody>
      </p:sp>
      <p:sp>
        <p:nvSpPr>
          <p:cNvPr id="18" name="Text 16"/>
          <p:cNvSpPr/>
          <p:nvPr/>
        </p:nvSpPr>
        <p:spPr>
          <a:xfrm>
            <a:off x="2163961" y="958304"/>
            <a:ext cx="13721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messages first</a:t>
            </a:r>
            <a:endParaRPr lang="en-US" sz="350" dirty="0"/>
          </a:p>
        </p:txBody>
      </p:sp>
      <p:sp>
        <p:nvSpPr>
          <p:cNvPr id="19" name="Text 17"/>
          <p:cNvSpPr/>
          <p:nvPr/>
        </p:nvSpPr>
        <p:spPr>
          <a:xfrm>
            <a:off x="2163961" y="1005929"/>
            <a:ext cx="13721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protected</a:t>
            </a:r>
            <a:endParaRPr lang="en-US" sz="350" dirty="0"/>
          </a:p>
        </p:txBody>
      </p:sp>
      <p:sp>
        <p:nvSpPr>
          <p:cNvPr id="20" name="Text 18"/>
          <p:cNvSpPr/>
          <p:nvPr/>
        </p:nvSpPr>
        <p:spPr>
          <a:xfrm>
            <a:off x="3623518" y="893266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3718471" y="736253"/>
            <a:ext cx="1497509" cy="380702"/>
          </a:xfrm>
          <a:prstGeom prst="roundRect">
            <a:avLst>
              <a:gd name="adj" fmla="val 1000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718471" y="745778"/>
            <a:ext cx="1497509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94671" y="818704"/>
            <a:ext cx="137201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Log + Switch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794671" y="910679"/>
            <a:ext cx="13720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ratio logged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3794671" y="958304"/>
            <a:ext cx="13720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switch if needed</a:t>
            </a:r>
            <a:endParaRPr lang="en-US" sz="350" dirty="0"/>
          </a:p>
        </p:txBody>
      </p:sp>
      <p:sp>
        <p:nvSpPr>
          <p:cNvPr id="26" name="Text 24"/>
          <p:cNvSpPr/>
          <p:nvPr/>
        </p:nvSpPr>
        <p:spPr>
          <a:xfrm>
            <a:off x="3794671" y="1005929"/>
            <a:ext cx="13720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continuity verified</a:t>
            </a:r>
            <a:endParaRPr lang="en-US" sz="350" dirty="0"/>
          </a:p>
        </p:txBody>
      </p:sp>
      <p:sp>
        <p:nvSpPr>
          <p:cNvPr id="27" name="Text 25"/>
          <p:cNvSpPr/>
          <p:nvPr/>
        </p:nvSpPr>
        <p:spPr>
          <a:xfrm>
            <a:off x="457200" y="1193006"/>
            <a:ext cx="48539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Triggers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57200" y="1310432"/>
            <a:ext cx="1560761" cy="247650"/>
          </a:xfrm>
          <a:prstGeom prst="roundRect">
            <a:avLst>
              <a:gd name="adj" fmla="val 1538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2925" y="1358057"/>
            <a:ext cx="141709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</a:t>
            </a:r>
            <a:endParaRPr lang="en-US" sz="400" dirty="0"/>
          </a:p>
        </p:txBody>
      </p:sp>
      <p:sp>
        <p:nvSpPr>
          <p:cNvPr id="30" name="Text 28"/>
          <p:cNvSpPr/>
          <p:nvPr/>
        </p:nvSpPr>
        <p:spPr>
          <a:xfrm>
            <a:off x="542925" y="1415207"/>
            <a:ext cx="141709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P1+P2</a:t>
            </a:r>
            <a:endParaRPr lang="en-US" sz="300" dirty="0"/>
          </a:p>
        </p:txBody>
      </p:sp>
      <p:sp>
        <p:nvSpPr>
          <p:cNvPr id="31" name="Text 29"/>
          <p:cNvSpPr/>
          <p:nvPr/>
        </p:nvSpPr>
        <p:spPr>
          <a:xfrm>
            <a:off x="542925" y="1462832"/>
            <a:ext cx="141709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hook</a:t>
            </a:r>
            <a:endParaRPr lang="en-US" sz="300" dirty="0"/>
          </a:p>
        </p:txBody>
      </p:sp>
      <p:sp>
        <p:nvSpPr>
          <p:cNvPr id="32" name="Text 30"/>
          <p:cNvSpPr/>
          <p:nvPr/>
        </p:nvSpPr>
        <p:spPr>
          <a:xfrm>
            <a:off x="2056061" y="1310432"/>
            <a:ext cx="1560909" cy="247650"/>
          </a:xfrm>
          <a:prstGeom prst="roundRect">
            <a:avLst>
              <a:gd name="adj" fmla="val 15385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141786" y="1358057"/>
            <a:ext cx="14172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CRITICAL</a:t>
            </a:r>
            <a:endParaRPr lang="en-US" sz="400" dirty="0"/>
          </a:p>
        </p:txBody>
      </p:sp>
      <p:sp>
        <p:nvSpPr>
          <p:cNvPr id="34" name="Text 32"/>
          <p:cNvSpPr/>
          <p:nvPr/>
        </p:nvSpPr>
        <p:spPr>
          <a:xfrm>
            <a:off x="2141786" y="1415207"/>
            <a:ext cx="14172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full pipeline</a:t>
            </a:r>
            <a:endParaRPr lang="en-US" sz="300" dirty="0"/>
          </a:p>
        </p:txBody>
      </p:sp>
      <p:sp>
        <p:nvSpPr>
          <p:cNvPr id="35" name="Text 33"/>
          <p:cNvSpPr/>
          <p:nvPr/>
        </p:nvSpPr>
        <p:spPr>
          <a:xfrm>
            <a:off x="2141786" y="1462832"/>
            <a:ext cx="14172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CONTEXT_CRITICAL hook</a:t>
            </a:r>
            <a:endParaRPr lang="en-US" sz="300" dirty="0"/>
          </a:p>
        </p:txBody>
      </p:sp>
      <p:sp>
        <p:nvSpPr>
          <p:cNvPr id="36" name="Text 34"/>
          <p:cNvSpPr/>
          <p:nvPr/>
        </p:nvSpPr>
        <p:spPr>
          <a:xfrm>
            <a:off x="3655070" y="1310432"/>
            <a:ext cx="1560909" cy="247650"/>
          </a:xfrm>
          <a:prstGeom prst="roundRect">
            <a:avLst>
              <a:gd name="adj" fmla="val 15385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740795" y="1358057"/>
            <a:ext cx="14172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MODEL_SWITCH</a:t>
            </a:r>
            <a:endParaRPr lang="en-US" sz="400" dirty="0"/>
          </a:p>
        </p:txBody>
      </p:sp>
      <p:sp>
        <p:nvSpPr>
          <p:cNvPr id="38" name="Text 36"/>
          <p:cNvSpPr/>
          <p:nvPr/>
        </p:nvSpPr>
        <p:spPr>
          <a:xfrm>
            <a:off x="3740795" y="1415207"/>
            <a:ext cx="14172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update_model() call</a:t>
            </a:r>
            <a:endParaRPr lang="en-US" sz="300" dirty="0"/>
          </a:p>
        </p:txBody>
      </p:sp>
      <p:sp>
        <p:nvSpPr>
          <p:cNvPr id="39" name="Text 37"/>
          <p:cNvSpPr/>
          <p:nvPr/>
        </p:nvSpPr>
        <p:spPr>
          <a:xfrm>
            <a:off x="3740795" y="1462832"/>
            <a:ext cx="14172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max_chars recalculated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5292179" y="618827"/>
            <a:ext cx="3394621" cy="4340572"/>
          </a:xfrm>
          <a:prstGeom prst="roundRect">
            <a:avLst>
              <a:gd name="adj" fmla="val 14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03205" y="704552"/>
            <a:ext cx="32360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Windows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5403205" y="821978"/>
            <a:ext cx="19127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</a:t>
            </a:r>
            <a:endParaRPr lang="en-US" sz="350" dirty="0"/>
          </a:p>
        </p:txBody>
      </p:sp>
      <p:sp>
        <p:nvSpPr>
          <p:cNvPr id="43" name="Text 41"/>
          <p:cNvSpPr/>
          <p:nvPr/>
        </p:nvSpPr>
        <p:spPr>
          <a:xfrm>
            <a:off x="8370987" y="821978"/>
            <a:ext cx="20888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tokens</a:t>
            </a:r>
            <a:endParaRPr lang="en-US" sz="350" dirty="0"/>
          </a:p>
        </p:txBody>
      </p:sp>
      <p:sp>
        <p:nvSpPr>
          <p:cNvPr id="44" name="Text 42"/>
          <p:cNvSpPr/>
          <p:nvPr/>
        </p:nvSpPr>
        <p:spPr>
          <a:xfrm>
            <a:off x="5403205" y="882253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03205" y="882253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03205" y="996553"/>
            <a:ext cx="2290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350" dirty="0"/>
          </a:p>
        </p:txBody>
      </p:sp>
      <p:sp>
        <p:nvSpPr>
          <p:cNvPr id="47" name="Text 45"/>
          <p:cNvSpPr/>
          <p:nvPr/>
        </p:nvSpPr>
        <p:spPr>
          <a:xfrm>
            <a:off x="8370987" y="996553"/>
            <a:ext cx="20888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tokens</a:t>
            </a:r>
            <a:endParaRPr lang="en-US" sz="350" dirty="0"/>
          </a:p>
        </p:txBody>
      </p:sp>
      <p:sp>
        <p:nvSpPr>
          <p:cNvPr id="48" name="Text 46"/>
          <p:cNvSpPr/>
          <p:nvPr/>
        </p:nvSpPr>
        <p:spPr>
          <a:xfrm>
            <a:off x="5403205" y="1056829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403205" y="1056829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03205" y="1171129"/>
            <a:ext cx="1686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350" dirty="0"/>
          </a:p>
        </p:txBody>
      </p:sp>
      <p:sp>
        <p:nvSpPr>
          <p:cNvPr id="51" name="Text 49"/>
          <p:cNvSpPr/>
          <p:nvPr/>
        </p:nvSpPr>
        <p:spPr>
          <a:xfrm>
            <a:off x="8370987" y="1171129"/>
            <a:ext cx="20888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tokens</a:t>
            </a:r>
            <a:endParaRPr lang="en-US" sz="350" dirty="0"/>
          </a:p>
        </p:txBody>
      </p:sp>
      <p:sp>
        <p:nvSpPr>
          <p:cNvPr id="52" name="Text 50"/>
          <p:cNvSpPr/>
          <p:nvPr/>
        </p:nvSpPr>
        <p:spPr>
          <a:xfrm>
            <a:off x="5403205" y="1231404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03205" y="1231404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403205" y="1345704"/>
            <a:ext cx="14087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350" dirty="0"/>
          </a:p>
        </p:txBody>
      </p:sp>
      <p:sp>
        <p:nvSpPr>
          <p:cNvPr id="55" name="Text 53"/>
          <p:cNvSpPr/>
          <p:nvPr/>
        </p:nvSpPr>
        <p:spPr>
          <a:xfrm>
            <a:off x="8190756" y="1345704"/>
            <a:ext cx="39271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(hardcut 80K)</a:t>
            </a:r>
            <a:endParaRPr lang="en-US" sz="350" dirty="0"/>
          </a:p>
        </p:txBody>
      </p:sp>
      <p:sp>
        <p:nvSpPr>
          <p:cNvPr id="56" name="Text 54"/>
          <p:cNvSpPr/>
          <p:nvPr/>
        </p:nvSpPr>
        <p:spPr>
          <a:xfrm>
            <a:off x="5403205" y="1405979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03205" y="1405979"/>
            <a:ext cx="253752" cy="76200"/>
          </a:xfrm>
          <a:prstGeom prst="roundRect">
            <a:avLst>
              <a:gd name="adj" fmla="val 3333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03205" y="1520279"/>
            <a:ext cx="19886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</a:t>
            </a:r>
            <a:endParaRPr lang="en-US" sz="350" dirty="0"/>
          </a:p>
        </p:txBody>
      </p:sp>
      <p:sp>
        <p:nvSpPr>
          <p:cNvPr id="59" name="Text 57"/>
          <p:cNvSpPr/>
          <p:nvPr/>
        </p:nvSpPr>
        <p:spPr>
          <a:xfrm>
            <a:off x="8328868" y="1520279"/>
            <a:ext cx="25184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tokens</a:t>
            </a:r>
            <a:endParaRPr lang="en-US" sz="350" dirty="0"/>
          </a:p>
        </p:txBody>
      </p:sp>
      <p:sp>
        <p:nvSpPr>
          <p:cNvPr id="60" name="Text 58"/>
          <p:cNvSpPr/>
          <p:nvPr/>
        </p:nvSpPr>
        <p:spPr>
          <a:xfrm>
            <a:off x="5403205" y="1580555"/>
            <a:ext cx="3172569" cy="76200"/>
          </a:xfrm>
          <a:prstGeom prst="roundRect">
            <a:avLst>
              <a:gd name="adj" fmla="val 3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403205" y="1580555"/>
            <a:ext cx="634454" cy="76200"/>
          </a:xfrm>
          <a:prstGeom prst="roundRect">
            <a:avLst>
              <a:gd name="adj" fmla="val 33333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403205" y="1707505"/>
            <a:ext cx="3172569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453955" y="1745605"/>
            <a:ext cx="313249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max_chars Guard</a:t>
            </a:r>
            <a:endParaRPr lang="en-US" sz="300" dirty="0"/>
          </a:p>
        </p:txBody>
      </p:sp>
      <p:sp>
        <p:nvSpPr>
          <p:cNvPr id="64" name="Text 62"/>
          <p:cNvSpPr/>
          <p:nvPr/>
        </p:nvSpPr>
        <p:spPr>
          <a:xfrm>
            <a:off x="5453955" y="1793230"/>
            <a:ext cx="313249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model ➔ tool_result 5% = 4,000 tokens</a:t>
            </a:r>
            <a:endParaRPr lang="en-US" sz="300" dirty="0"/>
          </a:p>
        </p:txBody>
      </p:sp>
      <p:sp>
        <p:nvSpPr>
          <p:cNvPr id="65" name="Text 63"/>
          <p:cNvSpPr/>
          <p:nvPr/>
        </p:nvSpPr>
        <p:spPr>
          <a:xfrm>
            <a:off x="457200" y="5010150"/>
            <a:ext cx="210021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CONTEXT_WARNING(80%) + CONTEXT_CRITICAL(95%) hook events drive compression</a:t>
            </a:r>
            <a:endParaRPr lang="en-US" sz="400" dirty="0"/>
          </a:p>
        </p:txBody>
      </p:sp>
      <p:sp>
        <p:nvSpPr>
          <p:cNvPr id="66" name="Text 6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26</a:t>
            </a:r>
            <a:endParaRPr lang="en-US" sz="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Parallel Delegation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역량을 완전히 상속하면서도 메모리는 격리합니다. Queue ➔ DAG ➔ IsolatedRunner.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8539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Pipeline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57200" y="736253"/>
            <a:ext cx="343495" cy="180975"/>
          </a:xfrm>
          <a:prstGeom prst="roundRect">
            <a:avLst>
              <a:gd name="adj" fmla="val 21053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0126" y="783878"/>
            <a:ext cx="20159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350" dirty="0"/>
          </a:p>
        </p:txBody>
      </p:sp>
      <p:sp>
        <p:nvSpPr>
          <p:cNvPr id="9" name="Text 7"/>
          <p:cNvSpPr/>
          <p:nvPr/>
        </p:nvSpPr>
        <p:spPr>
          <a:xfrm>
            <a:off x="530126" y="831503"/>
            <a:ext cx="201597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delegate_task</a:t>
            </a:r>
            <a:endParaRPr lang="en-US" sz="250" dirty="0"/>
          </a:p>
        </p:txBody>
      </p:sp>
      <p:sp>
        <p:nvSpPr>
          <p:cNvPr id="10" name="Text 8"/>
          <p:cNvSpPr/>
          <p:nvPr/>
        </p:nvSpPr>
        <p:spPr>
          <a:xfrm>
            <a:off x="825996" y="79816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11" name="Text 9"/>
          <p:cNvSpPr/>
          <p:nvPr/>
        </p:nvSpPr>
        <p:spPr>
          <a:xfrm>
            <a:off x="896689" y="736253"/>
            <a:ext cx="436811" cy="180975"/>
          </a:xfrm>
          <a:prstGeom prst="roundRect">
            <a:avLst>
              <a:gd name="adj" fmla="val 21053"/>
            </a:avLst>
          </a:prstGeom>
          <a:solidFill>
            <a:srgbClr val="C084FC">
              <a:alpha val="12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9615" y="783878"/>
            <a:ext cx="29677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SubAgentMgr</a:t>
            </a:r>
            <a:endParaRPr lang="en-US" sz="350" dirty="0"/>
          </a:p>
        </p:txBody>
      </p:sp>
      <p:sp>
        <p:nvSpPr>
          <p:cNvPr id="13" name="Text 11"/>
          <p:cNvSpPr/>
          <p:nvPr/>
        </p:nvSpPr>
        <p:spPr>
          <a:xfrm>
            <a:off x="969615" y="831503"/>
            <a:ext cx="29677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queue</a:t>
            </a:r>
            <a:endParaRPr lang="en-US" sz="250" dirty="0"/>
          </a:p>
        </p:txBody>
      </p:sp>
      <p:sp>
        <p:nvSpPr>
          <p:cNvPr id="14" name="Text 12"/>
          <p:cNvSpPr/>
          <p:nvPr/>
        </p:nvSpPr>
        <p:spPr>
          <a:xfrm>
            <a:off x="1358801" y="79816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15" name="Text 13"/>
          <p:cNvSpPr/>
          <p:nvPr/>
        </p:nvSpPr>
        <p:spPr>
          <a:xfrm>
            <a:off x="1429494" y="736253"/>
            <a:ext cx="338138" cy="180975"/>
          </a:xfrm>
          <a:prstGeom prst="roundRect">
            <a:avLst>
              <a:gd name="adj" fmla="val 2105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02420" y="783878"/>
            <a:ext cx="19613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350" dirty="0"/>
          </a:p>
        </p:txBody>
      </p:sp>
      <p:sp>
        <p:nvSpPr>
          <p:cNvPr id="17" name="Text 15"/>
          <p:cNvSpPr/>
          <p:nvPr/>
        </p:nvSpPr>
        <p:spPr>
          <a:xfrm>
            <a:off x="1502420" y="831503"/>
            <a:ext cx="196132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 dedup</a:t>
            </a:r>
            <a:endParaRPr lang="en-US" sz="250" dirty="0"/>
          </a:p>
        </p:txBody>
      </p:sp>
      <p:sp>
        <p:nvSpPr>
          <p:cNvPr id="18" name="Text 16"/>
          <p:cNvSpPr/>
          <p:nvPr/>
        </p:nvSpPr>
        <p:spPr>
          <a:xfrm>
            <a:off x="1792932" y="79816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19" name="Text 17"/>
          <p:cNvSpPr/>
          <p:nvPr/>
        </p:nvSpPr>
        <p:spPr>
          <a:xfrm>
            <a:off x="1863626" y="736253"/>
            <a:ext cx="374452" cy="180975"/>
          </a:xfrm>
          <a:prstGeom prst="roundRect">
            <a:avLst>
              <a:gd name="adj" fmla="val 2105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36552" y="783878"/>
            <a:ext cx="23317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TaskGraph</a:t>
            </a:r>
            <a:endParaRPr lang="en-US" sz="350" dirty="0"/>
          </a:p>
        </p:txBody>
      </p:sp>
      <p:sp>
        <p:nvSpPr>
          <p:cNvPr id="21" name="Text 19"/>
          <p:cNvSpPr/>
          <p:nvPr/>
        </p:nvSpPr>
        <p:spPr>
          <a:xfrm>
            <a:off x="1936552" y="831503"/>
            <a:ext cx="233172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resolve</a:t>
            </a:r>
            <a:endParaRPr lang="en-US" sz="250" dirty="0"/>
          </a:p>
        </p:txBody>
      </p:sp>
      <p:sp>
        <p:nvSpPr>
          <p:cNvPr id="22" name="Text 20"/>
          <p:cNvSpPr/>
          <p:nvPr/>
        </p:nvSpPr>
        <p:spPr>
          <a:xfrm>
            <a:off x="2263378" y="79816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23" name="Text 21"/>
          <p:cNvSpPr/>
          <p:nvPr/>
        </p:nvSpPr>
        <p:spPr>
          <a:xfrm>
            <a:off x="2334071" y="736253"/>
            <a:ext cx="330994" cy="180975"/>
          </a:xfrm>
          <a:prstGeom prst="roundRect">
            <a:avLst>
              <a:gd name="adj" fmla="val 2105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06997" y="783878"/>
            <a:ext cx="1888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2406997" y="831503"/>
            <a:ext cx="188845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exec</a:t>
            </a:r>
            <a:endParaRPr lang="en-US" sz="250" dirty="0"/>
          </a:p>
        </p:txBody>
      </p:sp>
      <p:sp>
        <p:nvSpPr>
          <p:cNvPr id="26" name="Text 24"/>
          <p:cNvSpPr/>
          <p:nvPr/>
        </p:nvSpPr>
        <p:spPr>
          <a:xfrm>
            <a:off x="2690366" y="79816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27" name="Text 25"/>
          <p:cNvSpPr/>
          <p:nvPr/>
        </p:nvSpPr>
        <p:spPr>
          <a:xfrm>
            <a:off x="2761059" y="736253"/>
            <a:ext cx="343346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833985" y="783878"/>
            <a:ext cx="2014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350" dirty="0"/>
          </a:p>
        </p:txBody>
      </p:sp>
      <p:sp>
        <p:nvSpPr>
          <p:cNvPr id="29" name="Text 27"/>
          <p:cNvSpPr/>
          <p:nvPr/>
        </p:nvSpPr>
        <p:spPr>
          <a:xfrm>
            <a:off x="2833985" y="831503"/>
            <a:ext cx="201445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only</a:t>
            </a:r>
            <a:endParaRPr lang="en-US" sz="250" dirty="0"/>
          </a:p>
        </p:txBody>
      </p:sp>
      <p:sp>
        <p:nvSpPr>
          <p:cNvPr id="30" name="Text 28"/>
          <p:cNvSpPr/>
          <p:nvPr/>
        </p:nvSpPr>
        <p:spPr>
          <a:xfrm>
            <a:off x="457200" y="993279"/>
            <a:ext cx="48539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Isolation Model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457200" y="1110704"/>
            <a:ext cx="1560761" cy="279202"/>
          </a:xfrm>
          <a:prstGeom prst="roundRect">
            <a:avLst>
              <a:gd name="adj" fmla="val 13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725" y="1110704"/>
            <a:ext cx="0" cy="279202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52450" y="1174105"/>
            <a:ext cx="141709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Inherited</a:t>
            </a:r>
            <a:endParaRPr lang="en-US" sz="400" dirty="0"/>
          </a:p>
        </p:txBody>
      </p:sp>
      <p:sp>
        <p:nvSpPr>
          <p:cNvPr id="34" name="Text 32"/>
          <p:cNvSpPr/>
          <p:nvPr/>
        </p:nvSpPr>
        <p:spPr>
          <a:xfrm>
            <a:off x="552450" y="1231255"/>
            <a:ext cx="14170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snapshot (Organization + Project memory) shared read-only at spawn time.</a:t>
            </a:r>
            <a:endParaRPr lang="en-US" sz="350" dirty="0"/>
          </a:p>
        </p:txBody>
      </p:sp>
      <p:sp>
        <p:nvSpPr>
          <p:cNvPr id="35" name="Text 33"/>
          <p:cNvSpPr/>
          <p:nvPr/>
        </p:nvSpPr>
        <p:spPr>
          <a:xfrm>
            <a:off x="2056061" y="1110704"/>
            <a:ext cx="1560909" cy="279202"/>
          </a:xfrm>
          <a:prstGeom prst="roundRect">
            <a:avLst>
              <a:gd name="adj" fmla="val 13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065586" y="1110704"/>
            <a:ext cx="0" cy="279202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151311" y="1174105"/>
            <a:ext cx="14172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Scoped</a:t>
            </a:r>
            <a:endParaRPr lang="en-US" sz="400" dirty="0"/>
          </a:p>
        </p:txBody>
      </p:sp>
      <p:sp>
        <p:nvSpPr>
          <p:cNvPr id="38" name="Text 36"/>
          <p:cNvSpPr/>
          <p:nvPr/>
        </p:nvSpPr>
        <p:spPr>
          <a:xfrm>
            <a:off x="2151311" y="1231255"/>
            <a:ext cx="14172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task_id scoped buffer. No cross-agent write contamination. Merge to parent on completion.</a:t>
            </a:r>
            <a:endParaRPr lang="en-US" sz="350" dirty="0"/>
          </a:p>
        </p:txBody>
      </p:sp>
      <p:sp>
        <p:nvSpPr>
          <p:cNvPr id="39" name="Text 37"/>
          <p:cNvSpPr/>
          <p:nvPr/>
        </p:nvSpPr>
        <p:spPr>
          <a:xfrm>
            <a:off x="3655070" y="1110704"/>
            <a:ext cx="1560909" cy="279202"/>
          </a:xfrm>
          <a:prstGeom prst="roundRect">
            <a:avLst>
              <a:gd name="adj" fmla="val 13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664595" y="1110704"/>
            <a:ext cx="0" cy="279202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750320" y="1174105"/>
            <a:ext cx="14172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Fail: Discard</a:t>
            </a:r>
            <a:endParaRPr lang="en-US" sz="400" dirty="0"/>
          </a:p>
        </p:txBody>
      </p:sp>
      <p:sp>
        <p:nvSpPr>
          <p:cNvPr id="42" name="Text 40"/>
          <p:cNvSpPr/>
          <p:nvPr/>
        </p:nvSpPr>
        <p:spPr>
          <a:xfrm>
            <a:off x="3750320" y="1231255"/>
            <a:ext cx="14172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SUBAGENT_FAILED hook fires. Write buffer discarded. Parent notified with error summary.</a:t>
            </a:r>
            <a:endParaRPr lang="en-US" sz="350" dirty="0"/>
          </a:p>
        </p:txBody>
      </p:sp>
      <p:sp>
        <p:nvSpPr>
          <p:cNvPr id="43" name="Text 41"/>
          <p:cNvSpPr/>
          <p:nvPr/>
        </p:nvSpPr>
        <p:spPr>
          <a:xfrm>
            <a:off x="457200" y="1440656"/>
            <a:ext cx="4758779" cy="225326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42925" y="1500932"/>
            <a:ext cx="4679076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Capability Inheritance</a:t>
            </a:r>
            <a:endParaRPr lang="en-US" sz="400" dirty="0"/>
          </a:p>
        </p:txBody>
      </p:sp>
      <p:sp>
        <p:nvSpPr>
          <p:cNvPr id="45" name="Text 43"/>
          <p:cNvSpPr/>
          <p:nvPr/>
        </p:nvSpPr>
        <p:spPr>
          <a:xfrm>
            <a:off x="542925" y="1558082"/>
            <a:ext cx="467907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 + 44 MCP + 20 skills + memory access. Not a sandbox — a full agent with isolation boundaries.</a:t>
            </a:r>
            <a:endParaRPr lang="en-US" sz="350" dirty="0"/>
          </a:p>
        </p:txBody>
      </p:sp>
      <p:sp>
        <p:nvSpPr>
          <p:cNvPr id="46" name="Text 44"/>
          <p:cNvSpPr/>
          <p:nvPr/>
        </p:nvSpPr>
        <p:spPr>
          <a:xfrm>
            <a:off x="5292179" y="618827"/>
            <a:ext cx="3394621" cy="4340572"/>
          </a:xfrm>
          <a:prstGeom prst="roundRect">
            <a:avLst>
              <a:gd name="adj" fmla="val 14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03205" y="704552"/>
            <a:ext cx="323602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5403205" y="899666"/>
            <a:ext cx="317256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403205" y="821978"/>
            <a:ext cx="2140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</a:t>
            </a:r>
            <a:endParaRPr lang="en-US" sz="350" dirty="0"/>
          </a:p>
        </p:txBody>
      </p:sp>
      <p:sp>
        <p:nvSpPr>
          <p:cNvPr id="50" name="Text 48"/>
          <p:cNvSpPr/>
          <p:nvPr/>
        </p:nvSpPr>
        <p:spPr>
          <a:xfrm>
            <a:off x="8551069" y="821978"/>
            <a:ext cx="2520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50" dirty="0"/>
          </a:p>
        </p:txBody>
      </p:sp>
      <p:sp>
        <p:nvSpPr>
          <p:cNvPr id="51" name="Shape 49"/>
          <p:cNvSpPr/>
          <p:nvPr/>
        </p:nvSpPr>
        <p:spPr>
          <a:xfrm>
            <a:off x="5403205" y="1020217"/>
            <a:ext cx="317256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403205" y="942529"/>
            <a:ext cx="22406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</a:t>
            </a:r>
            <a:endParaRPr lang="en-US" sz="350" dirty="0"/>
          </a:p>
        </p:txBody>
      </p:sp>
      <p:sp>
        <p:nvSpPr>
          <p:cNvPr id="53" name="Text 51"/>
          <p:cNvSpPr/>
          <p:nvPr/>
        </p:nvSpPr>
        <p:spPr>
          <a:xfrm>
            <a:off x="8551069" y="942529"/>
            <a:ext cx="2520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50" dirty="0"/>
          </a:p>
        </p:txBody>
      </p:sp>
      <p:sp>
        <p:nvSpPr>
          <p:cNvPr id="54" name="Shape 52"/>
          <p:cNvSpPr/>
          <p:nvPr/>
        </p:nvSpPr>
        <p:spPr>
          <a:xfrm>
            <a:off x="5403205" y="1140768"/>
            <a:ext cx="317256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403205" y="1063079"/>
            <a:ext cx="19628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max_total</a:t>
            </a:r>
            <a:endParaRPr lang="en-US" sz="350" dirty="0"/>
          </a:p>
        </p:txBody>
      </p:sp>
      <p:sp>
        <p:nvSpPr>
          <p:cNvPr id="56" name="Text 54"/>
          <p:cNvSpPr/>
          <p:nvPr/>
        </p:nvSpPr>
        <p:spPr>
          <a:xfrm>
            <a:off x="8526363" y="1063079"/>
            <a:ext cx="503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50" dirty="0"/>
          </a:p>
        </p:txBody>
      </p:sp>
      <p:sp>
        <p:nvSpPr>
          <p:cNvPr id="57" name="Shape 55"/>
          <p:cNvSpPr/>
          <p:nvPr/>
        </p:nvSpPr>
        <p:spPr>
          <a:xfrm>
            <a:off x="5403205" y="1261318"/>
            <a:ext cx="317256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403205" y="1183630"/>
            <a:ext cx="1486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350" dirty="0"/>
          </a:p>
        </p:txBody>
      </p:sp>
      <p:sp>
        <p:nvSpPr>
          <p:cNvPr id="59" name="Text 57"/>
          <p:cNvSpPr/>
          <p:nvPr/>
        </p:nvSpPr>
        <p:spPr>
          <a:xfrm>
            <a:off x="8476952" y="1183630"/>
            <a:ext cx="10079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120s</a:t>
            </a:r>
            <a:endParaRPr lang="en-US" sz="350" dirty="0"/>
          </a:p>
        </p:txBody>
      </p:sp>
      <p:sp>
        <p:nvSpPr>
          <p:cNvPr id="60" name="Shape 58"/>
          <p:cNvSpPr/>
          <p:nvPr/>
        </p:nvSpPr>
        <p:spPr>
          <a:xfrm>
            <a:off x="5403205" y="1381869"/>
            <a:ext cx="317256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403205" y="1304181"/>
            <a:ext cx="25184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token_guard</a:t>
            </a:r>
            <a:endParaRPr lang="en-US" sz="350" dirty="0"/>
          </a:p>
        </p:txBody>
      </p:sp>
      <p:sp>
        <p:nvSpPr>
          <p:cNvPr id="62" name="Text 60"/>
          <p:cNvSpPr/>
          <p:nvPr/>
        </p:nvSpPr>
        <p:spPr>
          <a:xfrm>
            <a:off x="8378279" y="1304181"/>
            <a:ext cx="2014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50" dirty="0"/>
          </a:p>
        </p:txBody>
      </p:sp>
      <p:sp>
        <p:nvSpPr>
          <p:cNvPr id="63" name="Text 61"/>
          <p:cNvSpPr/>
          <p:nvPr/>
        </p:nvSpPr>
        <p:spPr>
          <a:xfrm>
            <a:off x="5403205" y="1437382"/>
            <a:ext cx="323602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Tiers</a:t>
            </a:r>
            <a:endParaRPr lang="en-US" sz="400" dirty="0"/>
          </a:p>
        </p:txBody>
      </p:sp>
      <p:sp>
        <p:nvSpPr>
          <p:cNvPr id="64" name="Text 62"/>
          <p:cNvSpPr/>
          <p:nvPr/>
        </p:nvSpPr>
        <p:spPr>
          <a:xfrm>
            <a:off x="5403205" y="1519833"/>
            <a:ext cx="177701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453955" y="1532483"/>
            <a:ext cx="777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300" dirty="0"/>
          </a:p>
        </p:txBody>
      </p:sp>
      <p:sp>
        <p:nvSpPr>
          <p:cNvPr id="66" name="Text 64"/>
          <p:cNvSpPr/>
          <p:nvPr/>
        </p:nvSpPr>
        <p:spPr>
          <a:xfrm>
            <a:off x="5619006" y="1532483"/>
            <a:ext cx="2290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</a:t>
            </a:r>
            <a:endParaRPr lang="en-US" sz="300" dirty="0"/>
          </a:p>
        </p:txBody>
      </p:sp>
      <p:sp>
        <p:nvSpPr>
          <p:cNvPr id="67" name="Text 65"/>
          <p:cNvSpPr/>
          <p:nvPr/>
        </p:nvSpPr>
        <p:spPr>
          <a:xfrm>
            <a:off x="5403205" y="1618059"/>
            <a:ext cx="188268" cy="72926"/>
          </a:xfrm>
          <a:prstGeom prst="roundRect">
            <a:avLst>
              <a:gd name="adj" fmla="val 34830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453955" y="1630710"/>
            <a:ext cx="8850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WRT</a:t>
            </a:r>
            <a:endParaRPr lang="en-US" sz="300" dirty="0"/>
          </a:p>
        </p:txBody>
      </p:sp>
      <p:sp>
        <p:nvSpPr>
          <p:cNvPr id="69" name="Text 67"/>
          <p:cNvSpPr/>
          <p:nvPr/>
        </p:nvSpPr>
        <p:spPr>
          <a:xfrm>
            <a:off x="5629573" y="1630710"/>
            <a:ext cx="30907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to parent</a:t>
            </a:r>
            <a:endParaRPr lang="en-US" sz="300" dirty="0"/>
          </a:p>
        </p:txBody>
      </p:sp>
      <p:sp>
        <p:nvSpPr>
          <p:cNvPr id="70" name="Text 68"/>
          <p:cNvSpPr/>
          <p:nvPr/>
        </p:nvSpPr>
        <p:spPr>
          <a:xfrm>
            <a:off x="5403205" y="1716286"/>
            <a:ext cx="186184" cy="72926"/>
          </a:xfrm>
          <a:prstGeom prst="roundRect">
            <a:avLst>
              <a:gd name="adj" fmla="val 3483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453955" y="1728936"/>
            <a:ext cx="8637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DNG</a:t>
            </a:r>
            <a:endParaRPr lang="en-US" sz="300" dirty="0"/>
          </a:p>
        </p:txBody>
      </p:sp>
      <p:sp>
        <p:nvSpPr>
          <p:cNvPr id="72" name="Text 70"/>
          <p:cNvSpPr/>
          <p:nvPr/>
        </p:nvSpPr>
        <p:spPr>
          <a:xfrm>
            <a:off x="5627489" y="1728936"/>
            <a:ext cx="23620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required</a:t>
            </a:r>
            <a:endParaRPr lang="en-US" sz="300" dirty="0"/>
          </a:p>
        </p:txBody>
      </p:sp>
      <p:sp>
        <p:nvSpPr>
          <p:cNvPr id="73" name="Text 71"/>
          <p:cNvSpPr/>
          <p:nvPr/>
        </p:nvSpPr>
        <p:spPr>
          <a:xfrm>
            <a:off x="457200" y="5010150"/>
            <a:ext cx="213923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SUBAGENT_STARTED/COMPLETED/FAILED hook events provide full lifecycle observability</a:t>
            </a:r>
            <a:endParaRPr lang="en-US" sz="400" dirty="0"/>
          </a:p>
        </p:txBody>
      </p:sp>
      <p:sp>
        <p:nvSpPr>
          <p:cNvPr id="74" name="Text 72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26</a:t>
            </a:r>
            <a:endParaRPr lang="en-US" sz="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579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+ MCP + Skills: Unified Assembly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3소스 병합 ➔ 단일 도구 목록. Deferred Loading으로 85% 컨텍스트 절감.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1605260" cy="507802"/>
          </a:xfrm>
          <a:prstGeom prst="roundRect">
            <a:avLst>
              <a:gd name="adj" fmla="val 75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628352"/>
            <a:ext cx="160526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18871" y="701278"/>
            <a:ext cx="148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8871" y="910828"/>
            <a:ext cx="148191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518871" y="967978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handlers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518871" y="1015603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categories</a:t>
            </a:r>
            <a:endParaRPr lang="en-US" sz="300" dirty="0"/>
          </a:p>
        </p:txBody>
      </p:sp>
      <p:sp>
        <p:nvSpPr>
          <p:cNvPr id="12" name="Text 10"/>
          <p:cNvSpPr/>
          <p:nvPr/>
        </p:nvSpPr>
        <p:spPr>
          <a:xfrm>
            <a:off x="2100560" y="618827"/>
            <a:ext cx="1605260" cy="507802"/>
          </a:xfrm>
          <a:prstGeom prst="roundRect">
            <a:avLst>
              <a:gd name="adj" fmla="val 75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100560" y="628352"/>
            <a:ext cx="160526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162232" y="701278"/>
            <a:ext cx="148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62232" y="910828"/>
            <a:ext cx="148191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400" dirty="0"/>
          </a:p>
        </p:txBody>
      </p:sp>
      <p:sp>
        <p:nvSpPr>
          <p:cNvPr id="16" name="Text 14"/>
          <p:cNvSpPr/>
          <p:nvPr/>
        </p:nvSpPr>
        <p:spPr>
          <a:xfrm>
            <a:off x="2162232" y="967978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servers</a:t>
            </a:r>
            <a:endParaRPr lang="en-US" sz="300" dirty="0"/>
          </a:p>
        </p:txBody>
      </p:sp>
      <p:sp>
        <p:nvSpPr>
          <p:cNvPr id="17" name="Text 15"/>
          <p:cNvSpPr/>
          <p:nvPr/>
        </p:nvSpPr>
        <p:spPr>
          <a:xfrm>
            <a:off x="2162232" y="1015603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 managed</a:t>
            </a:r>
            <a:endParaRPr lang="en-US" sz="300" dirty="0"/>
          </a:p>
        </p:txBody>
      </p:sp>
      <p:sp>
        <p:nvSpPr>
          <p:cNvPr id="18" name="Text 16"/>
          <p:cNvSpPr/>
          <p:nvPr/>
        </p:nvSpPr>
        <p:spPr>
          <a:xfrm>
            <a:off x="3743920" y="618827"/>
            <a:ext cx="1605260" cy="507802"/>
          </a:xfrm>
          <a:prstGeom prst="roundRect">
            <a:avLst>
              <a:gd name="adj" fmla="val 75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743920" y="628352"/>
            <a:ext cx="1605260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805592" y="701278"/>
            <a:ext cx="14819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05592" y="910828"/>
            <a:ext cx="148191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</a:t>
            </a:r>
            <a:endParaRPr lang="en-US" sz="400" dirty="0"/>
          </a:p>
        </p:txBody>
      </p:sp>
      <p:sp>
        <p:nvSpPr>
          <p:cNvPr id="22" name="Text 20"/>
          <p:cNvSpPr/>
          <p:nvPr/>
        </p:nvSpPr>
        <p:spPr>
          <a:xfrm>
            <a:off x="3805592" y="967978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matching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3805592" y="1015603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inject</a:t>
            </a:r>
            <a:endParaRPr lang="en-US" sz="300" dirty="0"/>
          </a:p>
        </p:txBody>
      </p:sp>
      <p:sp>
        <p:nvSpPr>
          <p:cNvPr id="24" name="Text 22"/>
          <p:cNvSpPr/>
          <p:nvPr/>
        </p:nvSpPr>
        <p:spPr>
          <a:xfrm>
            <a:off x="457200" y="1177379"/>
            <a:ext cx="4891980" cy="437852"/>
          </a:xfrm>
          <a:prstGeom prst="roundRect">
            <a:avLst>
              <a:gd name="adj" fmla="val 87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8226" y="1253430"/>
            <a:ext cx="1229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Loading: 85% Context Savings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911477" y="1250305"/>
            <a:ext cx="326678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62227" y="1262955"/>
            <a:ext cx="22968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</a:t>
            </a:r>
            <a:endParaRPr lang="en-US" sz="300" dirty="0"/>
          </a:p>
        </p:txBody>
      </p:sp>
      <p:sp>
        <p:nvSpPr>
          <p:cNvPr id="28" name="Text 26"/>
          <p:cNvSpPr/>
          <p:nvPr/>
        </p:nvSpPr>
        <p:spPr>
          <a:xfrm>
            <a:off x="568226" y="1361331"/>
            <a:ext cx="74627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Always-loaded (6)</a:t>
            </a:r>
            <a:endParaRPr lang="en-US" sz="350" dirty="0"/>
          </a:p>
        </p:txBody>
      </p:sp>
      <p:sp>
        <p:nvSpPr>
          <p:cNvPr id="29" name="Text 27"/>
          <p:cNvSpPr/>
          <p:nvPr/>
        </p:nvSpPr>
        <p:spPr>
          <a:xfrm>
            <a:off x="568226" y="1408956"/>
            <a:ext cx="746272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list_ips, search_ips, analyze_ip</a:t>
            </a:r>
            <a:endParaRPr lang="en-US" sz="300" dirty="0"/>
          </a:p>
        </p:txBody>
      </p:sp>
      <p:sp>
        <p:nvSpPr>
          <p:cNvPr id="30" name="Text 28"/>
          <p:cNvSpPr/>
          <p:nvPr/>
        </p:nvSpPr>
        <p:spPr>
          <a:xfrm>
            <a:off x="568226" y="1447056"/>
            <a:ext cx="746272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memory_search, show_help</a:t>
            </a:r>
            <a:endParaRPr lang="en-US" sz="300" dirty="0"/>
          </a:p>
        </p:txBody>
      </p:sp>
      <p:sp>
        <p:nvSpPr>
          <p:cNvPr id="31" name="Text 29"/>
          <p:cNvSpPr/>
          <p:nvPr/>
        </p:nvSpPr>
        <p:spPr>
          <a:xfrm>
            <a:off x="568226" y="1485156"/>
            <a:ext cx="746272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general_web_search</a:t>
            </a:r>
            <a:endParaRPr lang="en-US" sz="300" dirty="0"/>
          </a:p>
        </p:txBody>
      </p:sp>
      <p:sp>
        <p:nvSpPr>
          <p:cNvPr id="32" name="Text 30"/>
          <p:cNvSpPr/>
          <p:nvPr/>
        </p:nvSpPr>
        <p:spPr>
          <a:xfrm>
            <a:off x="1350615" y="1361331"/>
            <a:ext cx="9525" cy="18097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10891" y="1361331"/>
            <a:ext cx="62968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(41 + MCP)</a:t>
            </a:r>
            <a:endParaRPr lang="en-US" sz="350" dirty="0"/>
          </a:p>
        </p:txBody>
      </p:sp>
      <p:sp>
        <p:nvSpPr>
          <p:cNvPr id="34" name="Text 32"/>
          <p:cNvSpPr/>
          <p:nvPr/>
        </p:nvSpPr>
        <p:spPr>
          <a:xfrm>
            <a:off x="1410891" y="1408956"/>
            <a:ext cx="62968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Name-only in system prompt</a:t>
            </a:r>
            <a:endParaRPr lang="en-US" sz="300" dirty="0"/>
          </a:p>
        </p:txBody>
      </p:sp>
      <p:sp>
        <p:nvSpPr>
          <p:cNvPr id="35" name="Text 33"/>
          <p:cNvSpPr/>
          <p:nvPr/>
        </p:nvSpPr>
        <p:spPr>
          <a:xfrm>
            <a:off x="1410891" y="1456581"/>
            <a:ext cx="62968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schema on demand via</a:t>
            </a:r>
            <a:endParaRPr lang="en-US" sz="300" dirty="0"/>
          </a:p>
        </p:txBody>
      </p:sp>
      <p:sp>
        <p:nvSpPr>
          <p:cNvPr id="36" name="Text 34"/>
          <p:cNvSpPr/>
          <p:nvPr/>
        </p:nvSpPr>
        <p:spPr>
          <a:xfrm>
            <a:off x="1410891" y="1504206"/>
            <a:ext cx="629686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ToolSearchTool (position 0)</a:t>
            </a:r>
            <a:endParaRPr lang="en-US" sz="300" dirty="0"/>
          </a:p>
        </p:txBody>
      </p:sp>
      <p:sp>
        <p:nvSpPr>
          <p:cNvPr id="37" name="Text 35"/>
          <p:cNvSpPr/>
          <p:nvPr/>
        </p:nvSpPr>
        <p:spPr>
          <a:xfrm>
            <a:off x="457200" y="1665982"/>
            <a:ext cx="4891980" cy="336054"/>
          </a:xfrm>
          <a:prstGeom prst="roundRect">
            <a:avLst>
              <a:gd name="adj" fmla="val 11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8226" y="1738908"/>
            <a:ext cx="476332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2-Hop Retrieval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68226" y="1830884"/>
            <a:ext cx="453182" cy="98227"/>
          </a:xfrm>
          <a:prstGeom prst="roundRect">
            <a:avLst>
              <a:gd name="adj" fmla="val 2585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8976" y="1856184"/>
            <a:ext cx="35871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sees name only</a:t>
            </a:r>
            <a:endParaRPr lang="en-US" sz="300" dirty="0"/>
          </a:p>
        </p:txBody>
      </p:sp>
      <p:sp>
        <p:nvSpPr>
          <p:cNvPr id="41" name="Text 39"/>
          <p:cNvSpPr/>
          <p:nvPr/>
        </p:nvSpPr>
        <p:spPr>
          <a:xfrm>
            <a:off x="1059507" y="1851422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42" name="Text 40"/>
          <p:cNvSpPr/>
          <p:nvPr/>
        </p:nvSpPr>
        <p:spPr>
          <a:xfrm>
            <a:off x="1143000" y="1830884"/>
            <a:ext cx="362099" cy="98227"/>
          </a:xfrm>
          <a:prstGeom prst="roundRect">
            <a:avLst>
              <a:gd name="adj" fmla="val 2585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93750" y="1856184"/>
            <a:ext cx="26581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ToolSearchTool</a:t>
            </a:r>
            <a:endParaRPr lang="en-US" sz="300" dirty="0"/>
          </a:p>
        </p:txBody>
      </p:sp>
      <p:sp>
        <p:nvSpPr>
          <p:cNvPr id="44" name="Text 42"/>
          <p:cNvSpPr/>
          <p:nvPr/>
        </p:nvSpPr>
        <p:spPr>
          <a:xfrm>
            <a:off x="1543199" y="1851422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45" name="Text 43"/>
          <p:cNvSpPr/>
          <p:nvPr/>
        </p:nvSpPr>
        <p:spPr>
          <a:xfrm>
            <a:off x="1626691" y="1830884"/>
            <a:ext cx="459432" cy="98227"/>
          </a:xfrm>
          <a:prstGeom prst="roundRect">
            <a:avLst>
              <a:gd name="adj" fmla="val 2585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677442" y="1856184"/>
            <a:ext cx="36509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schema returned</a:t>
            </a:r>
            <a:endParaRPr lang="en-US" sz="300" dirty="0"/>
          </a:p>
        </p:txBody>
      </p:sp>
      <p:sp>
        <p:nvSpPr>
          <p:cNvPr id="47" name="Text 45"/>
          <p:cNvSpPr/>
          <p:nvPr/>
        </p:nvSpPr>
        <p:spPr>
          <a:xfrm>
            <a:off x="2124224" y="1851422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48" name="Text 46"/>
          <p:cNvSpPr/>
          <p:nvPr/>
        </p:nvSpPr>
        <p:spPr>
          <a:xfrm>
            <a:off x="2207716" y="1830884"/>
            <a:ext cx="268784" cy="98227"/>
          </a:xfrm>
          <a:prstGeom prst="roundRect">
            <a:avLst>
              <a:gd name="adj" fmla="val 2585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258467" y="1856184"/>
            <a:ext cx="1706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300" dirty="0"/>
          </a:p>
        </p:txBody>
      </p:sp>
      <p:sp>
        <p:nvSpPr>
          <p:cNvPr id="50" name="Text 48"/>
          <p:cNvSpPr/>
          <p:nvPr/>
        </p:nvSpPr>
        <p:spPr>
          <a:xfrm>
            <a:off x="5425380" y="618827"/>
            <a:ext cx="3261420" cy="3540770"/>
          </a:xfrm>
          <a:prstGeom prst="roundRect">
            <a:avLst>
              <a:gd name="adj" fmla="val 155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36406" y="704552"/>
            <a:ext cx="31001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Tool Categories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5536406" y="809327"/>
            <a:ext cx="227261" cy="72926"/>
          </a:xfrm>
          <a:prstGeom prst="roundRect">
            <a:avLst>
              <a:gd name="adj" fmla="val 34830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574506" y="821978"/>
            <a:ext cx="15408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(7)</a:t>
            </a:r>
            <a:endParaRPr lang="en-US" sz="300" dirty="0"/>
          </a:p>
        </p:txBody>
      </p:sp>
      <p:sp>
        <p:nvSpPr>
          <p:cNvPr id="54" name="Text 52"/>
          <p:cNvSpPr/>
          <p:nvPr/>
        </p:nvSpPr>
        <p:spPr>
          <a:xfrm>
            <a:off x="5788968" y="809327"/>
            <a:ext cx="271760" cy="72926"/>
          </a:xfrm>
          <a:prstGeom prst="roundRect">
            <a:avLst>
              <a:gd name="adj" fmla="val 34830"/>
            </a:avLst>
          </a:prstGeom>
          <a:solidFill>
            <a:srgbClr val="818C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27068" y="821978"/>
            <a:ext cx="19947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(5)</a:t>
            </a:r>
            <a:endParaRPr lang="en-US" sz="300" dirty="0"/>
          </a:p>
        </p:txBody>
      </p:sp>
      <p:sp>
        <p:nvSpPr>
          <p:cNvPr id="56" name="Text 54"/>
          <p:cNvSpPr/>
          <p:nvPr/>
        </p:nvSpPr>
        <p:spPr>
          <a:xfrm>
            <a:off x="6086029" y="809327"/>
            <a:ext cx="317004" cy="72926"/>
          </a:xfrm>
          <a:prstGeom prst="roundRect">
            <a:avLst>
              <a:gd name="adj" fmla="val 34830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24129" y="821978"/>
            <a:ext cx="24562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(4)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6428333" y="809327"/>
            <a:ext cx="303461" cy="72926"/>
          </a:xfrm>
          <a:prstGeom prst="roundRect">
            <a:avLst>
              <a:gd name="adj" fmla="val 34830"/>
            </a:avLst>
          </a:prstGeom>
          <a:solidFill>
            <a:srgbClr val="8B5CF6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466433" y="821978"/>
            <a:ext cx="23180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(9)</a:t>
            </a:r>
            <a:endParaRPr lang="en-US" sz="300" dirty="0"/>
          </a:p>
        </p:txBody>
      </p:sp>
      <p:sp>
        <p:nvSpPr>
          <p:cNvPr id="60" name="Text 58"/>
          <p:cNvSpPr/>
          <p:nvPr/>
        </p:nvSpPr>
        <p:spPr>
          <a:xfrm>
            <a:off x="6757095" y="809327"/>
            <a:ext cx="289322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795195" y="821978"/>
            <a:ext cx="21738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(4)</a:t>
            </a:r>
            <a:endParaRPr lang="en-US" sz="300" dirty="0"/>
          </a:p>
        </p:txBody>
      </p:sp>
      <p:sp>
        <p:nvSpPr>
          <p:cNvPr id="62" name="Text 60"/>
          <p:cNvSpPr/>
          <p:nvPr/>
        </p:nvSpPr>
        <p:spPr>
          <a:xfrm>
            <a:off x="7071717" y="809327"/>
            <a:ext cx="290066" cy="72926"/>
          </a:xfrm>
          <a:prstGeom prst="roundRect">
            <a:avLst>
              <a:gd name="adj" fmla="val 34830"/>
            </a:avLst>
          </a:prstGeom>
          <a:solidFill>
            <a:srgbClr val="F97316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109817" y="821978"/>
            <a:ext cx="21814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(5)</a:t>
            </a:r>
            <a:endParaRPr lang="en-US" sz="300" dirty="0"/>
          </a:p>
        </p:txBody>
      </p:sp>
      <p:sp>
        <p:nvSpPr>
          <p:cNvPr id="64" name="Text 62"/>
          <p:cNvSpPr/>
          <p:nvPr/>
        </p:nvSpPr>
        <p:spPr>
          <a:xfrm>
            <a:off x="7387084" y="809327"/>
            <a:ext cx="237232" cy="72926"/>
          </a:xfrm>
          <a:prstGeom prst="roundRect">
            <a:avLst>
              <a:gd name="adj" fmla="val 34830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425184" y="821978"/>
            <a:ext cx="16425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(3)</a:t>
            </a:r>
            <a:endParaRPr lang="en-US" sz="300" dirty="0"/>
          </a:p>
        </p:txBody>
      </p:sp>
      <p:sp>
        <p:nvSpPr>
          <p:cNvPr id="66" name="Text 64"/>
          <p:cNvSpPr/>
          <p:nvPr/>
        </p:nvSpPr>
        <p:spPr>
          <a:xfrm>
            <a:off x="7649617" y="809327"/>
            <a:ext cx="220266" cy="72926"/>
          </a:xfrm>
          <a:prstGeom prst="roundRect">
            <a:avLst>
              <a:gd name="adj" fmla="val 34830"/>
            </a:avLst>
          </a:prstGeom>
          <a:solidFill>
            <a:srgbClr val="60A5FA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687717" y="821978"/>
            <a:ext cx="14694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(4)</a:t>
            </a:r>
            <a:endParaRPr lang="en-US" sz="300" dirty="0"/>
          </a:p>
        </p:txBody>
      </p:sp>
      <p:sp>
        <p:nvSpPr>
          <p:cNvPr id="68" name="Text 66"/>
          <p:cNvSpPr/>
          <p:nvPr/>
        </p:nvSpPr>
        <p:spPr>
          <a:xfrm>
            <a:off x="7895183" y="809327"/>
            <a:ext cx="264021" cy="72926"/>
          </a:xfrm>
          <a:prstGeom prst="roundRect">
            <a:avLst>
              <a:gd name="adj" fmla="val 34830"/>
            </a:avLst>
          </a:prstGeom>
          <a:solidFill>
            <a:srgbClr val="F472B6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7933283" y="821978"/>
            <a:ext cx="19157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(3)</a:t>
            </a:r>
            <a:endParaRPr lang="en-US" sz="300" dirty="0"/>
          </a:p>
        </p:txBody>
      </p:sp>
      <p:sp>
        <p:nvSpPr>
          <p:cNvPr id="70" name="Text 68"/>
          <p:cNvSpPr/>
          <p:nvPr/>
        </p:nvSpPr>
        <p:spPr>
          <a:xfrm>
            <a:off x="8184505" y="809327"/>
            <a:ext cx="234255" cy="72926"/>
          </a:xfrm>
          <a:prstGeom prst="roundRect">
            <a:avLst>
              <a:gd name="adj" fmla="val 34830"/>
            </a:avLst>
          </a:prstGeom>
          <a:solidFill>
            <a:srgbClr val="06B6D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222605" y="821978"/>
            <a:ext cx="1612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(3)</a:t>
            </a:r>
            <a:endParaRPr lang="en-US" sz="300" dirty="0"/>
          </a:p>
        </p:txBody>
      </p:sp>
      <p:sp>
        <p:nvSpPr>
          <p:cNvPr id="72" name="Text 70"/>
          <p:cNvSpPr/>
          <p:nvPr/>
        </p:nvSpPr>
        <p:spPr>
          <a:xfrm>
            <a:off x="5536406" y="920353"/>
            <a:ext cx="31001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ErrorRecovery(Stage 2) uses same category for auto-alternative tool selection.</a:t>
            </a:r>
            <a:endParaRPr lang="en-US" sz="300" dirty="0"/>
          </a:p>
        </p:txBody>
      </p:sp>
      <p:sp>
        <p:nvSpPr>
          <p:cNvPr id="73" name="Text 71"/>
          <p:cNvSpPr/>
          <p:nvPr/>
        </p:nvSpPr>
        <p:spPr>
          <a:xfrm>
            <a:off x="5425380" y="4210348"/>
            <a:ext cx="3261420" cy="358676"/>
          </a:xfrm>
          <a:prstGeom prst="roundRect">
            <a:avLst>
              <a:gd name="adj" fmla="val 1416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36406" y="4296073"/>
            <a:ext cx="31001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5536406" y="4388048"/>
            <a:ext cx="31001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install_mcp_server ➔ refresh_tools()</a:t>
            </a:r>
            <a:endParaRPr lang="en-US" sz="350" dirty="0"/>
          </a:p>
        </p:txBody>
      </p:sp>
      <p:sp>
        <p:nvSpPr>
          <p:cNvPr id="76" name="Text 74"/>
          <p:cNvSpPr/>
          <p:nvPr/>
        </p:nvSpPr>
        <p:spPr>
          <a:xfrm>
            <a:off x="5536406" y="4435673"/>
            <a:ext cx="31001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 without restart. MCPServerManager singleton manages lifecycle.</a:t>
            </a:r>
            <a:endParaRPr lang="en-US" sz="350" dirty="0"/>
          </a:p>
        </p:txBody>
      </p:sp>
      <p:sp>
        <p:nvSpPr>
          <p:cNvPr id="77" name="Text 75"/>
          <p:cNvSpPr/>
          <p:nvPr/>
        </p:nvSpPr>
        <p:spPr>
          <a:xfrm>
            <a:off x="5425380" y="4619774"/>
            <a:ext cx="3261420" cy="339626"/>
          </a:xfrm>
          <a:prstGeom prst="roundRect">
            <a:avLst>
              <a:gd name="adj" fmla="val 1495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536406" y="4705499"/>
            <a:ext cx="31001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Tier (3)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5536406" y="4797475"/>
            <a:ext cx="76200" cy="7620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637907" y="4811762"/>
            <a:ext cx="22026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(local)</a:t>
            </a:r>
            <a:endParaRPr lang="en-US" sz="300" dirty="0"/>
          </a:p>
        </p:txBody>
      </p:sp>
      <p:sp>
        <p:nvSpPr>
          <p:cNvPr id="81" name="Text 79"/>
          <p:cNvSpPr/>
          <p:nvPr/>
        </p:nvSpPr>
        <p:spPr>
          <a:xfrm>
            <a:off x="5904607" y="4797475"/>
            <a:ext cx="76200" cy="76200"/>
          </a:xfrm>
          <a:prstGeom prst="roundRect">
            <a:avLst>
              <a:gd name="adj" fmla="val 16667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006108" y="4811762"/>
            <a:ext cx="18793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(API)</a:t>
            </a:r>
            <a:endParaRPr lang="en-US" sz="300" dirty="0"/>
          </a:p>
        </p:txBody>
      </p:sp>
      <p:sp>
        <p:nvSpPr>
          <p:cNvPr id="83" name="Text 81"/>
          <p:cNvSpPr/>
          <p:nvPr/>
        </p:nvSpPr>
        <p:spPr>
          <a:xfrm>
            <a:off x="6241107" y="4797475"/>
            <a:ext cx="76200" cy="762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342608" y="4811762"/>
            <a:ext cx="20949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(LLM)</a:t>
            </a:r>
            <a:endParaRPr lang="en-US" sz="300" dirty="0"/>
          </a:p>
        </p:txBody>
      </p:sp>
      <p:sp>
        <p:nvSpPr>
          <p:cNvPr id="85" name="Text 83"/>
          <p:cNvSpPr/>
          <p:nvPr/>
        </p:nvSpPr>
        <p:spPr>
          <a:xfrm>
            <a:off x="457200" y="5010150"/>
            <a:ext cx="161110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+ 44 MCP = 91 tools available, 6 always-loaded, 85 deferred</a:t>
            </a:r>
            <a:endParaRPr lang="en-US" sz="400" dirty="0"/>
          </a:p>
        </p:txBody>
      </p:sp>
      <p:sp>
        <p:nvSpPr>
          <p:cNvPr id="86" name="Text 8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26</a:t>
            </a:r>
            <a:endParaRPr lang="en-US" sz="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78376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INFRASTRUCTURE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Serve Mode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Slack/Discord/Telegram 인바운드 ➔ ChannelBinding 라우팅 ➔ 세션 격리. Headless daemon 모드.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Gateway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57200" y="723602"/>
            <a:ext cx="4076700" cy="733127"/>
          </a:xfrm>
          <a:prstGeom prst="roundRect">
            <a:avLst>
              <a:gd name="adj" fmla="val 51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" y="796528"/>
            <a:ext cx="194667" cy="72926"/>
          </a:xfrm>
          <a:prstGeom prst="roundRect">
            <a:avLst>
              <a:gd name="adj" fmla="val 3483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809179"/>
            <a:ext cx="9503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300" dirty="0"/>
          </a:p>
        </p:txBody>
      </p:sp>
      <p:sp>
        <p:nvSpPr>
          <p:cNvPr id="10" name="Text 8"/>
          <p:cNvSpPr/>
          <p:nvPr/>
        </p:nvSpPr>
        <p:spPr>
          <a:xfrm>
            <a:off x="762893" y="796528"/>
            <a:ext cx="230684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3643" y="809179"/>
            <a:ext cx="13176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300" dirty="0"/>
          </a:p>
        </p:txBody>
      </p:sp>
      <p:sp>
        <p:nvSpPr>
          <p:cNvPr id="12" name="Text 10"/>
          <p:cNvSpPr/>
          <p:nvPr/>
        </p:nvSpPr>
        <p:spPr>
          <a:xfrm>
            <a:off x="1018877" y="796528"/>
            <a:ext cx="258217" cy="72926"/>
          </a:xfrm>
          <a:prstGeom prst="roundRect">
            <a:avLst>
              <a:gd name="adj" fmla="val 34830"/>
            </a:avLst>
          </a:prstGeom>
          <a:solidFill>
            <a:srgbClr val="60A5FA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69628" y="809179"/>
            <a:ext cx="15985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300" dirty="0"/>
          </a:p>
        </p:txBody>
      </p:sp>
      <p:sp>
        <p:nvSpPr>
          <p:cNvPr id="14" name="Text 12"/>
          <p:cNvSpPr/>
          <p:nvPr/>
        </p:nvSpPr>
        <p:spPr>
          <a:xfrm>
            <a:off x="503873" y="907554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400" dirty="0"/>
          </a:p>
        </p:txBody>
      </p:sp>
      <p:sp>
        <p:nvSpPr>
          <p:cNvPr id="15" name="Text 13"/>
          <p:cNvSpPr/>
          <p:nvPr/>
        </p:nvSpPr>
        <p:spPr>
          <a:xfrm>
            <a:off x="542925" y="964704"/>
            <a:ext cx="3905250" cy="180975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5638" y="1002804"/>
            <a:ext cx="38798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400" dirty="0"/>
          </a:p>
        </p:txBody>
      </p:sp>
      <p:sp>
        <p:nvSpPr>
          <p:cNvPr id="17" name="Text 15"/>
          <p:cNvSpPr/>
          <p:nvPr/>
        </p:nvSpPr>
        <p:spPr>
          <a:xfrm>
            <a:off x="555638" y="1059954"/>
            <a:ext cx="38798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channel_id ➔ session_key mapping</a:t>
            </a:r>
            <a:endParaRPr lang="en-US" sz="300" dirty="0"/>
          </a:p>
        </p:txBody>
      </p:sp>
      <p:sp>
        <p:nvSpPr>
          <p:cNvPr id="18" name="Text 16"/>
          <p:cNvSpPr/>
          <p:nvPr/>
        </p:nvSpPr>
        <p:spPr>
          <a:xfrm>
            <a:off x="503873" y="1145679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400" dirty="0"/>
          </a:p>
        </p:txBody>
      </p:sp>
      <p:sp>
        <p:nvSpPr>
          <p:cNvPr id="19" name="Text 17"/>
          <p:cNvSpPr/>
          <p:nvPr/>
        </p:nvSpPr>
        <p:spPr>
          <a:xfrm>
            <a:off x="542925" y="1202829"/>
            <a:ext cx="3905250" cy="180975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5638" y="1240929"/>
            <a:ext cx="38798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 Isolation</a:t>
            </a:r>
            <a:endParaRPr lang="en-US" sz="400" dirty="0"/>
          </a:p>
        </p:txBody>
      </p:sp>
      <p:sp>
        <p:nvSpPr>
          <p:cNvPr id="21" name="Text 19"/>
          <p:cNvSpPr/>
          <p:nvPr/>
        </p:nvSpPr>
        <p:spPr>
          <a:xfrm>
            <a:off x="555638" y="1298079"/>
            <a:ext cx="38798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channel = isolated session + memory scope</a:t>
            </a:r>
            <a:endParaRPr lang="en-US" sz="300" dirty="0"/>
          </a:p>
        </p:txBody>
      </p:sp>
      <p:sp>
        <p:nvSpPr>
          <p:cNvPr id="22" name="Text 20"/>
          <p:cNvSpPr/>
          <p:nvPr/>
        </p:nvSpPr>
        <p:spPr>
          <a:xfrm>
            <a:off x="457200" y="1494830"/>
            <a:ext cx="4076700" cy="225326"/>
          </a:xfrm>
          <a:prstGeom prst="roundRect">
            <a:avLst>
              <a:gd name="adj" fmla="val 169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2925" y="1555105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Prevention</a:t>
            </a:r>
            <a:endParaRPr lang="en-US" sz="400" dirty="0"/>
          </a:p>
        </p:txBody>
      </p:sp>
      <p:sp>
        <p:nvSpPr>
          <p:cNvPr id="24" name="Text 22"/>
          <p:cNvSpPr/>
          <p:nvPr/>
        </p:nvSpPr>
        <p:spPr>
          <a:xfrm>
            <a:off x="542925" y="1612255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message ➔ self-origin check ➔ drop. Prevents infinite reply loops between bots.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457200" y="1758255"/>
            <a:ext cx="4076700" cy="272951"/>
          </a:xfrm>
          <a:prstGeom prst="roundRect">
            <a:avLst>
              <a:gd name="adj" fmla="val 1395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2925" y="1818531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Integration</a:t>
            </a:r>
            <a:endParaRPr lang="en-US" sz="400" dirty="0"/>
          </a:p>
        </p:txBody>
      </p:sp>
      <p:sp>
        <p:nvSpPr>
          <p:cNvPr id="27" name="Text 25"/>
          <p:cNvSpPr/>
          <p:nvPr/>
        </p:nvSpPr>
        <p:spPr>
          <a:xfrm>
            <a:off x="542925" y="1875681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GATEWAY_MESSAGE_RECEIVED ➔ processing</a:t>
            </a:r>
            <a:endParaRPr lang="en-US" sz="350" dirty="0"/>
          </a:p>
        </p:txBody>
      </p:sp>
      <p:sp>
        <p:nvSpPr>
          <p:cNvPr id="28" name="Text 26"/>
          <p:cNvSpPr/>
          <p:nvPr/>
        </p:nvSpPr>
        <p:spPr>
          <a:xfrm>
            <a:off x="542925" y="1923306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GATEWAY_RESPONSE_SENT ➔ logged</a:t>
            </a:r>
            <a:endParaRPr lang="en-US" sz="350" dirty="0"/>
          </a:p>
        </p:txBody>
      </p:sp>
      <p:sp>
        <p:nvSpPr>
          <p:cNvPr id="29" name="Text 27"/>
          <p:cNvSpPr/>
          <p:nvPr/>
        </p:nvSpPr>
        <p:spPr>
          <a:xfrm>
            <a:off x="4610100" y="618827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 (Headless Daemon)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610100" y="723602"/>
            <a:ext cx="4076700" cy="371177"/>
          </a:xfrm>
          <a:prstGeom prst="roundRect">
            <a:avLst>
              <a:gd name="adj" fmla="val 102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95825" y="796528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geode serve --port 8080</a:t>
            </a:r>
            <a:endParaRPr lang="en-US" sz="400" dirty="0"/>
          </a:p>
        </p:txBody>
      </p:sp>
      <p:sp>
        <p:nvSpPr>
          <p:cNvPr id="32" name="Text 30"/>
          <p:cNvSpPr/>
          <p:nvPr/>
        </p:nvSpPr>
        <p:spPr>
          <a:xfrm>
            <a:off x="4695825" y="878979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stdin/stdout. Background process.</a:t>
            </a:r>
            <a:endParaRPr lang="en-US" sz="350" dirty="0"/>
          </a:p>
        </p:txBody>
      </p:sp>
      <p:sp>
        <p:nvSpPr>
          <p:cNvPr id="33" name="Text 31"/>
          <p:cNvSpPr/>
          <p:nvPr/>
        </p:nvSpPr>
        <p:spPr>
          <a:xfrm>
            <a:off x="4695825" y="926604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bindings auto-connect.</a:t>
            </a:r>
            <a:endParaRPr lang="en-US" sz="350" dirty="0"/>
          </a:p>
        </p:txBody>
      </p:sp>
      <p:sp>
        <p:nvSpPr>
          <p:cNvPr id="34" name="Text 32"/>
          <p:cNvSpPr/>
          <p:nvPr/>
        </p:nvSpPr>
        <p:spPr>
          <a:xfrm>
            <a:off x="4695825" y="974229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TriggerManager active.</a:t>
            </a:r>
            <a:endParaRPr lang="en-US" sz="350" dirty="0"/>
          </a:p>
        </p:txBody>
      </p:sp>
      <p:sp>
        <p:nvSpPr>
          <p:cNvPr id="35" name="Text 33"/>
          <p:cNvSpPr/>
          <p:nvPr/>
        </p:nvSpPr>
        <p:spPr>
          <a:xfrm>
            <a:off x="4610100" y="1132880"/>
            <a:ext cx="4076700" cy="3826520"/>
          </a:xfrm>
          <a:prstGeom prst="roundRect">
            <a:avLst>
              <a:gd name="adj" fmla="val 9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95825" y="1205805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vs REPL</a:t>
            </a:r>
            <a:endParaRPr lang="en-US" sz="400" dirty="0"/>
          </a:p>
        </p:txBody>
      </p:sp>
      <p:sp>
        <p:nvSpPr>
          <p:cNvPr id="37" name="Text 35"/>
          <p:cNvSpPr/>
          <p:nvPr/>
        </p:nvSpPr>
        <p:spPr>
          <a:xfrm>
            <a:off x="5330726" y="1301055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350" dirty="0"/>
          </a:p>
        </p:txBody>
      </p:sp>
      <p:sp>
        <p:nvSpPr>
          <p:cNvPr id="38" name="Text 36"/>
          <p:cNvSpPr/>
          <p:nvPr/>
        </p:nvSpPr>
        <p:spPr>
          <a:xfrm>
            <a:off x="5838676" y="1301055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</a:t>
            </a:r>
            <a:endParaRPr lang="en-US" sz="350" dirty="0"/>
          </a:p>
        </p:txBody>
      </p:sp>
      <p:sp>
        <p:nvSpPr>
          <p:cNvPr id="39" name="Shape 37"/>
          <p:cNvSpPr/>
          <p:nvPr/>
        </p:nvSpPr>
        <p:spPr>
          <a:xfrm>
            <a:off x="4695825" y="1378744"/>
            <a:ext cx="3905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695825" y="1396157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300" dirty="0"/>
          </a:p>
        </p:txBody>
      </p:sp>
      <p:sp>
        <p:nvSpPr>
          <p:cNvPr id="41" name="Text 39"/>
          <p:cNvSpPr/>
          <p:nvPr/>
        </p:nvSpPr>
        <p:spPr>
          <a:xfrm>
            <a:off x="5330726" y="1396157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only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5838676" y="1396157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stdin + Gateway</a:t>
            </a:r>
            <a:endParaRPr lang="en-US" sz="300" dirty="0"/>
          </a:p>
        </p:txBody>
      </p:sp>
      <p:sp>
        <p:nvSpPr>
          <p:cNvPr id="43" name="Shape 41"/>
          <p:cNvSpPr/>
          <p:nvPr/>
        </p:nvSpPr>
        <p:spPr>
          <a:xfrm>
            <a:off x="4695825" y="1473845"/>
            <a:ext cx="3905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695825" y="1491258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300" dirty="0"/>
          </a:p>
        </p:txBody>
      </p:sp>
      <p:sp>
        <p:nvSpPr>
          <p:cNvPr id="45" name="Text 43"/>
          <p:cNvSpPr/>
          <p:nvPr/>
        </p:nvSpPr>
        <p:spPr>
          <a:xfrm>
            <a:off x="5330726" y="1491258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Log</a:t>
            </a:r>
            <a:endParaRPr lang="en-US" sz="300" dirty="0"/>
          </a:p>
        </p:txBody>
      </p:sp>
      <p:sp>
        <p:nvSpPr>
          <p:cNvPr id="46" name="Text 44"/>
          <p:cNvSpPr/>
          <p:nvPr/>
        </p:nvSpPr>
        <p:spPr>
          <a:xfrm>
            <a:off x="5838676" y="1491258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TUI + Gateway</a:t>
            </a:r>
            <a:endParaRPr lang="en-US" sz="300" dirty="0"/>
          </a:p>
        </p:txBody>
      </p:sp>
      <p:sp>
        <p:nvSpPr>
          <p:cNvPr id="47" name="Shape 45"/>
          <p:cNvSpPr/>
          <p:nvPr/>
        </p:nvSpPr>
        <p:spPr>
          <a:xfrm>
            <a:off x="4695825" y="1568946"/>
            <a:ext cx="3905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695825" y="1586359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300" dirty="0"/>
          </a:p>
        </p:txBody>
      </p:sp>
      <p:sp>
        <p:nvSpPr>
          <p:cNvPr id="49" name="Text 47"/>
          <p:cNvSpPr/>
          <p:nvPr/>
        </p:nvSpPr>
        <p:spPr>
          <a:xfrm>
            <a:off x="5330726" y="1586359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300" dirty="0"/>
          </a:p>
        </p:txBody>
      </p:sp>
      <p:sp>
        <p:nvSpPr>
          <p:cNvPr id="50" name="Text 48"/>
          <p:cNvSpPr/>
          <p:nvPr/>
        </p:nvSpPr>
        <p:spPr>
          <a:xfrm>
            <a:off x="5838676" y="1586359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300" dirty="0"/>
          </a:p>
        </p:txBody>
      </p:sp>
      <p:sp>
        <p:nvSpPr>
          <p:cNvPr id="51" name="Shape 49"/>
          <p:cNvSpPr/>
          <p:nvPr/>
        </p:nvSpPr>
        <p:spPr>
          <a:xfrm>
            <a:off x="4695825" y="1664047"/>
            <a:ext cx="3905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695825" y="1681460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300" dirty="0"/>
          </a:p>
        </p:txBody>
      </p:sp>
      <p:sp>
        <p:nvSpPr>
          <p:cNvPr id="53" name="Text 51"/>
          <p:cNvSpPr/>
          <p:nvPr/>
        </p:nvSpPr>
        <p:spPr>
          <a:xfrm>
            <a:off x="5330726" y="1681460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(daemon)</a:t>
            </a:r>
            <a:endParaRPr lang="en-US" sz="300" dirty="0"/>
          </a:p>
        </p:txBody>
      </p:sp>
      <p:sp>
        <p:nvSpPr>
          <p:cNvPr id="54" name="Text 52"/>
          <p:cNvSpPr/>
          <p:nvPr/>
        </p:nvSpPr>
        <p:spPr>
          <a:xfrm>
            <a:off x="5838676" y="1681460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(foreground)</a:t>
            </a:r>
            <a:endParaRPr lang="en-US" sz="300" dirty="0"/>
          </a:p>
        </p:txBody>
      </p:sp>
      <p:sp>
        <p:nvSpPr>
          <p:cNvPr id="55" name="Shape 53"/>
          <p:cNvSpPr/>
          <p:nvPr/>
        </p:nvSpPr>
        <p:spPr>
          <a:xfrm>
            <a:off x="4695825" y="1759148"/>
            <a:ext cx="3905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695825" y="1776561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endParaRPr lang="en-US" sz="300" dirty="0"/>
          </a:p>
        </p:txBody>
      </p:sp>
      <p:sp>
        <p:nvSpPr>
          <p:cNvPr id="57" name="Text 55"/>
          <p:cNvSpPr/>
          <p:nvPr/>
        </p:nvSpPr>
        <p:spPr>
          <a:xfrm>
            <a:off x="5330726" y="1776561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session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5838676" y="1776561"/>
            <a:ext cx="518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session</a:t>
            </a:r>
            <a:endParaRPr lang="en-US" sz="300" dirty="0"/>
          </a:p>
        </p:txBody>
      </p:sp>
      <p:sp>
        <p:nvSpPr>
          <p:cNvPr id="59" name="Text 57"/>
          <p:cNvSpPr/>
          <p:nvPr/>
        </p:nvSpPr>
        <p:spPr>
          <a:xfrm>
            <a:off x="457200" y="5010150"/>
            <a:ext cx="134726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bindings configured in config.toml, hot-reloadable</a:t>
            </a:r>
            <a:endParaRPr lang="en-US" sz="400" dirty="0"/>
          </a:p>
        </p:txBody>
      </p:sp>
      <p:sp>
        <p:nvSpPr>
          <p:cNvPr id="60" name="Text 58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26</a:t>
            </a:r>
            <a:endParaRPr lang="en-US" sz="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4422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SAFETY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Envelope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 + PolicyChain 6-Layer 도구 접근 + Secret Redaction 8패턴.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Execution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57200" y="723602"/>
            <a:ext cx="4076700" cy="215801"/>
          </a:xfrm>
          <a:prstGeom prst="roundRect">
            <a:avLst>
              <a:gd name="adj" fmla="val 17655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" y="783878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Blocked (9)</a:t>
            </a:r>
            <a:endParaRPr lang="en-US" sz="400" dirty="0"/>
          </a:p>
        </p:txBody>
      </p:sp>
      <p:sp>
        <p:nvSpPr>
          <p:cNvPr id="9" name="Text 7"/>
          <p:cNvSpPr/>
          <p:nvPr/>
        </p:nvSpPr>
        <p:spPr>
          <a:xfrm>
            <a:off x="542925" y="841028"/>
            <a:ext cx="3983355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-rf, chmod 777, curl | sh, etc.</a:t>
            </a:r>
            <a:endParaRPr lang="en-US" sz="300" dirty="0"/>
          </a:p>
        </p:txBody>
      </p:sp>
      <p:sp>
        <p:nvSpPr>
          <p:cNvPr id="10" name="Text 8"/>
          <p:cNvSpPr/>
          <p:nvPr/>
        </p:nvSpPr>
        <p:spPr>
          <a:xfrm>
            <a:off x="457200" y="977503"/>
            <a:ext cx="4076700" cy="215801"/>
          </a:xfrm>
          <a:prstGeom prst="roundRect">
            <a:avLst>
              <a:gd name="adj" fmla="val 17655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925" y="1037779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Safe (27)</a:t>
            </a:r>
            <a:endParaRPr lang="en-US" sz="400" dirty="0"/>
          </a:p>
        </p:txBody>
      </p:sp>
      <p:sp>
        <p:nvSpPr>
          <p:cNvPr id="12" name="Text 10"/>
          <p:cNvSpPr/>
          <p:nvPr/>
        </p:nvSpPr>
        <p:spPr>
          <a:xfrm>
            <a:off x="542925" y="1094929"/>
            <a:ext cx="3983355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ls, cat, grep, git status, etc.</a:t>
            </a:r>
            <a:endParaRPr lang="en-US" sz="300" dirty="0"/>
          </a:p>
        </p:txBody>
      </p:sp>
      <p:sp>
        <p:nvSpPr>
          <p:cNvPr id="13" name="Text 11"/>
          <p:cNvSpPr/>
          <p:nvPr/>
        </p:nvSpPr>
        <p:spPr>
          <a:xfrm>
            <a:off x="457200" y="1231404"/>
            <a:ext cx="4076700" cy="225326"/>
          </a:xfrm>
          <a:prstGeom prst="roundRect">
            <a:avLst>
              <a:gd name="adj" fmla="val 16909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925" y="1291679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HITL</a:t>
            </a:r>
            <a:endParaRPr lang="en-US" sz="400" dirty="0"/>
          </a:p>
        </p:txBody>
      </p:sp>
      <p:sp>
        <p:nvSpPr>
          <p:cNvPr id="15" name="Text 13"/>
          <p:cNvSpPr/>
          <p:nvPr/>
        </p:nvSpPr>
        <p:spPr>
          <a:xfrm>
            <a:off x="542925" y="1348829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commands require user approval. Timeout fallback = deny.</a:t>
            </a:r>
            <a:endParaRPr lang="en-US" sz="300" dirty="0"/>
          </a:p>
        </p:txBody>
      </p:sp>
      <p:sp>
        <p:nvSpPr>
          <p:cNvPr id="16" name="Text 14"/>
          <p:cNvSpPr/>
          <p:nvPr/>
        </p:nvSpPr>
        <p:spPr>
          <a:xfrm>
            <a:off x="457200" y="1520130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(8 Patterns)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457200" y="1624905"/>
            <a:ext cx="4076700" cy="250627"/>
          </a:xfrm>
          <a:prstGeom prst="roundRect">
            <a:avLst>
              <a:gd name="adj" fmla="val 152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1675656"/>
            <a:ext cx="4002786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API_KEY, SECRET, TOKEN, PASSWORD</a:t>
            </a:r>
            <a:endParaRPr lang="en-US" sz="300" dirty="0"/>
          </a:p>
        </p:txBody>
      </p:sp>
      <p:sp>
        <p:nvSpPr>
          <p:cNvPr id="19" name="Text 17"/>
          <p:cNvSpPr/>
          <p:nvPr/>
        </p:nvSpPr>
        <p:spPr>
          <a:xfrm>
            <a:off x="533400" y="1713756"/>
            <a:ext cx="4002786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BEARER, AWS_ACCESS, PRIVATE_KEY, JWT</a:t>
            </a:r>
            <a:endParaRPr lang="en-US" sz="300" dirty="0"/>
          </a:p>
        </p:txBody>
      </p:sp>
      <p:sp>
        <p:nvSpPr>
          <p:cNvPr id="20" name="Text 18"/>
          <p:cNvSpPr/>
          <p:nvPr/>
        </p:nvSpPr>
        <p:spPr>
          <a:xfrm>
            <a:off x="533400" y="1777157"/>
            <a:ext cx="400278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[REDACTED] before LLM sees output</a:t>
            </a:r>
            <a:endParaRPr lang="en-US" sz="300" dirty="0"/>
          </a:p>
        </p:txBody>
      </p:sp>
      <p:sp>
        <p:nvSpPr>
          <p:cNvPr id="21" name="Text 19"/>
          <p:cNvSpPr/>
          <p:nvPr/>
        </p:nvSpPr>
        <p:spPr>
          <a:xfrm>
            <a:off x="4610100" y="618827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Access Control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4610100" y="723602"/>
            <a:ext cx="4076700" cy="123825"/>
          </a:xfrm>
          <a:prstGeom prst="roundRect">
            <a:avLst>
              <a:gd name="adj" fmla="val 2051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19625" y="723602"/>
            <a:ext cx="0" cy="123825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05350" y="761702"/>
            <a:ext cx="34991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Global Default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8225135" y="761702"/>
            <a:ext cx="39317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all native tools</a:t>
            </a:r>
            <a:endParaRPr lang="en-US" sz="300" dirty="0"/>
          </a:p>
        </p:txBody>
      </p:sp>
      <p:sp>
        <p:nvSpPr>
          <p:cNvPr id="26" name="Text 24"/>
          <p:cNvSpPr/>
          <p:nvPr/>
        </p:nvSpPr>
        <p:spPr>
          <a:xfrm>
            <a:off x="4610100" y="872728"/>
            <a:ext cx="4076700" cy="123825"/>
          </a:xfrm>
          <a:prstGeom prst="roundRect">
            <a:avLst>
              <a:gd name="adj" fmla="val 2051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19625" y="872728"/>
            <a:ext cx="0" cy="123825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05350" y="910828"/>
            <a:ext cx="38011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Category Policy</a:t>
            </a:r>
            <a:endParaRPr lang="en-US" sz="350" dirty="0"/>
          </a:p>
        </p:txBody>
      </p:sp>
      <p:sp>
        <p:nvSpPr>
          <p:cNvPr id="29" name="Text 27"/>
          <p:cNvSpPr/>
          <p:nvPr/>
        </p:nvSpPr>
        <p:spPr>
          <a:xfrm>
            <a:off x="8009186" y="910828"/>
            <a:ext cx="61344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BASH=restricted, WEB=rate-limited</a:t>
            </a:r>
            <a:endParaRPr lang="en-US" sz="300" dirty="0"/>
          </a:p>
        </p:txBody>
      </p:sp>
      <p:sp>
        <p:nvSpPr>
          <p:cNvPr id="30" name="Text 28"/>
          <p:cNvSpPr/>
          <p:nvPr/>
        </p:nvSpPr>
        <p:spPr>
          <a:xfrm>
            <a:off x="4610100" y="1021854"/>
            <a:ext cx="4076700" cy="123825"/>
          </a:xfrm>
          <a:prstGeom prst="roundRect">
            <a:avLst>
              <a:gd name="adj" fmla="val 2051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19625" y="1021854"/>
            <a:ext cx="0" cy="123825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05350" y="1059954"/>
            <a:ext cx="4548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Tool-Level Override</a:t>
            </a:r>
            <a:endParaRPr lang="en-US" sz="350" dirty="0"/>
          </a:p>
        </p:txBody>
      </p:sp>
      <p:sp>
        <p:nvSpPr>
          <p:cNvPr id="33" name="Text 31"/>
          <p:cNvSpPr/>
          <p:nvPr/>
        </p:nvSpPr>
        <p:spPr>
          <a:xfrm>
            <a:off x="8250585" y="1059954"/>
            <a:ext cx="3672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Per-tool custom rules</a:t>
            </a:r>
            <a:endParaRPr lang="en-US" sz="300" dirty="0"/>
          </a:p>
        </p:txBody>
      </p:sp>
      <p:sp>
        <p:nvSpPr>
          <p:cNvPr id="34" name="Text 32"/>
          <p:cNvSpPr/>
          <p:nvPr/>
        </p:nvSpPr>
        <p:spPr>
          <a:xfrm>
            <a:off x="4610100" y="1170980"/>
            <a:ext cx="4076700" cy="123825"/>
          </a:xfrm>
          <a:prstGeom prst="roundRect">
            <a:avLst>
              <a:gd name="adj" fmla="val 2051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19625" y="1170980"/>
            <a:ext cx="0" cy="123825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05350" y="1209080"/>
            <a:ext cx="39271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Session Context</a:t>
            </a:r>
            <a:endParaRPr lang="en-US" sz="350" dirty="0"/>
          </a:p>
        </p:txBody>
      </p:sp>
      <p:sp>
        <p:nvSpPr>
          <p:cNvPr id="37" name="Text 35"/>
          <p:cNvSpPr/>
          <p:nvPr/>
        </p:nvSpPr>
        <p:spPr>
          <a:xfrm>
            <a:off x="8161586" y="1209080"/>
            <a:ext cx="45799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per-session rules</a:t>
            </a:r>
            <a:endParaRPr lang="en-US" sz="300" dirty="0"/>
          </a:p>
        </p:txBody>
      </p:sp>
      <p:sp>
        <p:nvSpPr>
          <p:cNvPr id="38" name="Text 36"/>
          <p:cNvSpPr/>
          <p:nvPr/>
        </p:nvSpPr>
        <p:spPr>
          <a:xfrm>
            <a:off x="4610100" y="1320105"/>
            <a:ext cx="4076700" cy="123825"/>
          </a:xfrm>
          <a:prstGeom prst="roundRect">
            <a:avLst>
              <a:gd name="adj" fmla="val 2051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19625" y="1320105"/>
            <a:ext cx="0" cy="123825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705350" y="1358205"/>
            <a:ext cx="40289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SubAgent Scope</a:t>
            </a:r>
            <a:endParaRPr lang="en-US" sz="350" dirty="0"/>
          </a:p>
        </p:txBody>
      </p:sp>
      <p:sp>
        <p:nvSpPr>
          <p:cNvPr id="41" name="Text 39"/>
          <p:cNvSpPr/>
          <p:nvPr/>
        </p:nvSpPr>
        <p:spPr>
          <a:xfrm>
            <a:off x="8189119" y="1358205"/>
            <a:ext cx="42991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with restrictions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4610100" y="1469231"/>
            <a:ext cx="4076700" cy="123825"/>
          </a:xfrm>
          <a:prstGeom prst="roundRect">
            <a:avLst>
              <a:gd name="adj" fmla="val 2051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19625" y="1469231"/>
            <a:ext cx="0" cy="123825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705350" y="1507331"/>
            <a:ext cx="38087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HITL Escalation</a:t>
            </a:r>
            <a:endParaRPr lang="en-US" sz="350" dirty="0"/>
          </a:p>
        </p:txBody>
      </p:sp>
      <p:sp>
        <p:nvSpPr>
          <p:cNvPr id="45" name="Text 43"/>
          <p:cNvSpPr/>
          <p:nvPr/>
        </p:nvSpPr>
        <p:spPr>
          <a:xfrm>
            <a:off x="8210252" y="1507331"/>
            <a:ext cx="408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gate</a:t>
            </a:r>
            <a:endParaRPr lang="en-US" sz="300" dirty="0"/>
          </a:p>
        </p:txBody>
      </p:sp>
      <p:sp>
        <p:nvSpPr>
          <p:cNvPr id="46" name="Text 44"/>
          <p:cNvSpPr/>
          <p:nvPr/>
        </p:nvSpPr>
        <p:spPr>
          <a:xfrm>
            <a:off x="4610100" y="4683472"/>
            <a:ext cx="4076700" cy="275927"/>
          </a:xfrm>
          <a:prstGeom prst="roundRect">
            <a:avLst>
              <a:gd name="adj" fmla="val 13808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95825" y="4743748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5-Tier Classification</a:t>
            </a:r>
            <a:endParaRPr lang="en-US" sz="400" dirty="0"/>
          </a:p>
        </p:txBody>
      </p:sp>
      <p:sp>
        <p:nvSpPr>
          <p:cNvPr id="48" name="Text 46"/>
          <p:cNvSpPr/>
          <p:nvPr/>
        </p:nvSpPr>
        <p:spPr>
          <a:xfrm>
            <a:off x="4695825" y="4826198"/>
            <a:ext cx="181421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33925" y="4838849"/>
            <a:ext cx="10732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300" dirty="0"/>
          </a:p>
        </p:txBody>
      </p:sp>
      <p:sp>
        <p:nvSpPr>
          <p:cNvPr id="50" name="Text 48"/>
          <p:cNvSpPr/>
          <p:nvPr/>
        </p:nvSpPr>
        <p:spPr>
          <a:xfrm>
            <a:off x="4902547" y="4826198"/>
            <a:ext cx="215950" cy="72926"/>
          </a:xfrm>
          <a:prstGeom prst="roundRect">
            <a:avLst>
              <a:gd name="adj" fmla="val 3483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40647" y="4838849"/>
            <a:ext cx="1425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300" dirty="0"/>
          </a:p>
        </p:txBody>
      </p:sp>
      <p:sp>
        <p:nvSpPr>
          <p:cNvPr id="52" name="Text 50"/>
          <p:cNvSpPr/>
          <p:nvPr/>
        </p:nvSpPr>
        <p:spPr>
          <a:xfrm>
            <a:off x="5143798" y="4826198"/>
            <a:ext cx="254050" cy="72926"/>
          </a:xfrm>
          <a:prstGeom prst="roundRect">
            <a:avLst>
              <a:gd name="adj" fmla="val 34830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181898" y="4838849"/>
            <a:ext cx="1814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300" dirty="0"/>
          </a:p>
        </p:txBody>
      </p:sp>
      <p:sp>
        <p:nvSpPr>
          <p:cNvPr id="54" name="Text 52"/>
          <p:cNvSpPr/>
          <p:nvPr/>
        </p:nvSpPr>
        <p:spPr>
          <a:xfrm>
            <a:off x="5423148" y="4826198"/>
            <a:ext cx="260449" cy="72926"/>
          </a:xfrm>
          <a:prstGeom prst="roundRect">
            <a:avLst>
              <a:gd name="adj" fmla="val 34830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61248" y="4838849"/>
            <a:ext cx="18793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300" dirty="0"/>
          </a:p>
        </p:txBody>
      </p:sp>
      <p:sp>
        <p:nvSpPr>
          <p:cNvPr id="56" name="Text 54"/>
          <p:cNvSpPr/>
          <p:nvPr/>
        </p:nvSpPr>
        <p:spPr>
          <a:xfrm>
            <a:off x="5708898" y="4826198"/>
            <a:ext cx="182166" cy="72926"/>
          </a:xfrm>
          <a:prstGeom prst="roundRect">
            <a:avLst>
              <a:gd name="adj" fmla="val 3483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746998" y="4838849"/>
            <a:ext cx="10808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457200" y="5010150"/>
            <a:ext cx="1790536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depth: every tool call passes through PolicyChain before execution</a:t>
            </a:r>
            <a:endParaRPr lang="en-US" sz="400" dirty="0"/>
          </a:p>
        </p:txBody>
      </p:sp>
      <p:sp>
        <p:nvSpPr>
          <p:cNvPr id="59" name="Text 57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26</a:t>
            </a:r>
            <a:endParaRPr lang="en-US" sz="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61708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AUTOMATION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+ 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 4-Type + CUSUM Drift Detection + 5-Layer Verification + RLHF 피드백 루프.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 (4 Types)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57200" y="723602"/>
            <a:ext cx="1000125" cy="200025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733127"/>
            <a:ext cx="1000125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8964" y="780752"/>
            <a:ext cx="91659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498964" y="837902"/>
            <a:ext cx="91659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invoke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1482626" y="723602"/>
            <a:ext cx="1000274" cy="200025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482626" y="733127"/>
            <a:ext cx="1000274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524388" y="780752"/>
            <a:ext cx="9167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400" dirty="0"/>
          </a:p>
        </p:txBody>
      </p:sp>
      <p:sp>
        <p:nvSpPr>
          <p:cNvPr id="14" name="Text 12"/>
          <p:cNvSpPr/>
          <p:nvPr/>
        </p:nvSpPr>
        <p:spPr>
          <a:xfrm>
            <a:off x="1524388" y="837902"/>
            <a:ext cx="9167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expression</a:t>
            </a:r>
            <a:endParaRPr lang="en-US" sz="300" dirty="0"/>
          </a:p>
        </p:txBody>
      </p:sp>
      <p:sp>
        <p:nvSpPr>
          <p:cNvPr id="15" name="Text 13"/>
          <p:cNvSpPr/>
          <p:nvPr/>
        </p:nvSpPr>
        <p:spPr>
          <a:xfrm>
            <a:off x="2508200" y="723602"/>
            <a:ext cx="1000125" cy="200025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08200" y="733127"/>
            <a:ext cx="1000125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549965" y="780752"/>
            <a:ext cx="91659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400" dirty="0"/>
          </a:p>
        </p:txBody>
      </p:sp>
      <p:sp>
        <p:nvSpPr>
          <p:cNvPr id="18" name="Text 16"/>
          <p:cNvSpPr/>
          <p:nvPr/>
        </p:nvSpPr>
        <p:spPr>
          <a:xfrm>
            <a:off x="2549965" y="837902"/>
            <a:ext cx="91659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Hook-driven</a:t>
            </a:r>
            <a:endParaRPr lang="en-US" sz="300" dirty="0"/>
          </a:p>
        </p:txBody>
      </p:sp>
      <p:sp>
        <p:nvSpPr>
          <p:cNvPr id="19" name="Text 17"/>
          <p:cNvSpPr/>
          <p:nvPr/>
        </p:nvSpPr>
        <p:spPr>
          <a:xfrm>
            <a:off x="3533626" y="723602"/>
            <a:ext cx="1000274" cy="200025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33626" y="733127"/>
            <a:ext cx="1000274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575389" y="780752"/>
            <a:ext cx="91674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400" dirty="0"/>
          </a:p>
        </p:txBody>
      </p:sp>
      <p:sp>
        <p:nvSpPr>
          <p:cNvPr id="22" name="Text 20"/>
          <p:cNvSpPr/>
          <p:nvPr/>
        </p:nvSpPr>
        <p:spPr>
          <a:xfrm>
            <a:off x="3575389" y="837902"/>
            <a:ext cx="91674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endpoint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457200" y="987028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Drift Detection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0" y="1091803"/>
            <a:ext cx="4076700" cy="450354"/>
          </a:xfrm>
          <a:prstGeom prst="roundRect">
            <a:avLst>
              <a:gd name="adj" fmla="val 84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2925" y="1164729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Sum monitors prediction accuracy over time:</a:t>
            </a:r>
            <a:endParaRPr lang="en-US" sz="350" dirty="0"/>
          </a:p>
        </p:txBody>
      </p:sp>
      <p:sp>
        <p:nvSpPr>
          <p:cNvPr id="26" name="Text 24"/>
          <p:cNvSpPr/>
          <p:nvPr/>
        </p:nvSpPr>
        <p:spPr>
          <a:xfrm>
            <a:off x="542925" y="1250454"/>
            <a:ext cx="269974" cy="145852"/>
          </a:xfrm>
          <a:prstGeom prst="roundRect">
            <a:avLst>
              <a:gd name="adj" fmla="val 17415"/>
            </a:avLst>
          </a:prstGeom>
          <a:solidFill>
            <a:srgbClr val="34D399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3675" y="1275755"/>
            <a:ext cx="17184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300" dirty="0"/>
          </a:p>
        </p:txBody>
      </p:sp>
      <p:sp>
        <p:nvSpPr>
          <p:cNvPr id="28" name="Text 26"/>
          <p:cNvSpPr/>
          <p:nvPr/>
        </p:nvSpPr>
        <p:spPr>
          <a:xfrm>
            <a:off x="593675" y="1323380"/>
            <a:ext cx="17184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S(n) &lt; 2.5</a:t>
            </a:r>
            <a:endParaRPr lang="en-US" sz="300" dirty="0"/>
          </a:p>
        </p:txBody>
      </p:sp>
      <p:sp>
        <p:nvSpPr>
          <p:cNvPr id="29" name="Text 27"/>
          <p:cNvSpPr/>
          <p:nvPr/>
        </p:nvSpPr>
        <p:spPr>
          <a:xfrm>
            <a:off x="850999" y="1250454"/>
            <a:ext cx="285750" cy="145852"/>
          </a:xfrm>
          <a:prstGeom prst="roundRect">
            <a:avLst>
              <a:gd name="adj" fmla="val 17415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01750" y="1275755"/>
            <a:ext cx="18793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300" dirty="0"/>
          </a:p>
        </p:txBody>
      </p:sp>
      <p:sp>
        <p:nvSpPr>
          <p:cNvPr id="31" name="Text 29"/>
          <p:cNvSpPr/>
          <p:nvPr/>
        </p:nvSpPr>
        <p:spPr>
          <a:xfrm>
            <a:off x="901750" y="1323380"/>
            <a:ext cx="18793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2.5 - 4.0</a:t>
            </a:r>
            <a:endParaRPr lang="en-US" sz="300" dirty="0"/>
          </a:p>
        </p:txBody>
      </p:sp>
      <p:sp>
        <p:nvSpPr>
          <p:cNvPr id="32" name="Text 30"/>
          <p:cNvSpPr/>
          <p:nvPr/>
        </p:nvSpPr>
        <p:spPr>
          <a:xfrm>
            <a:off x="1174849" y="1250454"/>
            <a:ext cx="279350" cy="145852"/>
          </a:xfrm>
          <a:prstGeom prst="roundRect">
            <a:avLst>
              <a:gd name="adj" fmla="val 17415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25600" y="1275755"/>
            <a:ext cx="1814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300" dirty="0"/>
          </a:p>
        </p:txBody>
      </p:sp>
      <p:sp>
        <p:nvSpPr>
          <p:cNvPr id="34" name="Text 32"/>
          <p:cNvSpPr/>
          <p:nvPr/>
        </p:nvSpPr>
        <p:spPr>
          <a:xfrm>
            <a:off x="1225600" y="1323380"/>
            <a:ext cx="18140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S(n) &gt; 4.0</a:t>
            </a:r>
            <a:endParaRPr lang="en-US" sz="300" dirty="0"/>
          </a:p>
        </p:txBody>
      </p:sp>
      <p:sp>
        <p:nvSpPr>
          <p:cNvPr id="35" name="Text 33"/>
          <p:cNvSpPr/>
          <p:nvPr/>
        </p:nvSpPr>
        <p:spPr>
          <a:xfrm>
            <a:off x="542925" y="1421606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DRIFT_DETECTED hook ➔ auto-snapshot + TriggerManager</a:t>
            </a:r>
            <a:endParaRPr lang="en-US" sz="300" dirty="0"/>
          </a:p>
        </p:txBody>
      </p:sp>
      <p:sp>
        <p:nvSpPr>
          <p:cNvPr id="36" name="Text 34"/>
          <p:cNvSpPr/>
          <p:nvPr/>
        </p:nvSpPr>
        <p:spPr>
          <a:xfrm>
            <a:off x="457200" y="1605558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5-Phase RLHF Loop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7200" y="1710333"/>
            <a:ext cx="220117" cy="98227"/>
          </a:xfrm>
          <a:prstGeom prst="roundRect">
            <a:avLst>
              <a:gd name="adj" fmla="val 25859"/>
            </a:avLst>
          </a:prstGeom>
          <a:solidFill>
            <a:srgbClr val="C084FC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7950" y="1735634"/>
            <a:ext cx="1209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300" dirty="0"/>
          </a:p>
        </p:txBody>
      </p:sp>
      <p:sp>
        <p:nvSpPr>
          <p:cNvPr id="39" name="Text 37"/>
          <p:cNvSpPr/>
          <p:nvPr/>
        </p:nvSpPr>
        <p:spPr>
          <a:xfrm>
            <a:off x="702618" y="1735634"/>
            <a:ext cx="347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762000" y="1710333"/>
            <a:ext cx="420291" cy="98227"/>
          </a:xfrm>
          <a:prstGeom prst="roundRect">
            <a:avLst>
              <a:gd name="adj" fmla="val 25859"/>
            </a:avLst>
          </a:prstGeom>
          <a:solidFill>
            <a:srgbClr val="C084FC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12750" y="1735634"/>
            <a:ext cx="32516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T+30/90/180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1207591" y="1735634"/>
            <a:ext cx="347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300" dirty="0"/>
          </a:p>
        </p:txBody>
      </p:sp>
      <p:sp>
        <p:nvSpPr>
          <p:cNvPr id="43" name="Text 41"/>
          <p:cNvSpPr/>
          <p:nvPr/>
        </p:nvSpPr>
        <p:spPr>
          <a:xfrm>
            <a:off x="1266974" y="1710333"/>
            <a:ext cx="258217" cy="98227"/>
          </a:xfrm>
          <a:prstGeom prst="roundRect">
            <a:avLst>
              <a:gd name="adj" fmla="val 25859"/>
            </a:avLst>
          </a:prstGeom>
          <a:solidFill>
            <a:srgbClr val="C084FC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17724" y="1735634"/>
            <a:ext cx="15985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300" dirty="0"/>
          </a:p>
        </p:txBody>
      </p:sp>
      <p:sp>
        <p:nvSpPr>
          <p:cNvPr id="45" name="Text 43"/>
          <p:cNvSpPr/>
          <p:nvPr/>
        </p:nvSpPr>
        <p:spPr>
          <a:xfrm>
            <a:off x="1550491" y="1735634"/>
            <a:ext cx="347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300" dirty="0"/>
          </a:p>
        </p:txBody>
      </p:sp>
      <p:sp>
        <p:nvSpPr>
          <p:cNvPr id="46" name="Text 44"/>
          <p:cNvSpPr/>
          <p:nvPr/>
        </p:nvSpPr>
        <p:spPr>
          <a:xfrm>
            <a:off x="1609874" y="1710333"/>
            <a:ext cx="239167" cy="98227"/>
          </a:xfrm>
          <a:prstGeom prst="roundRect">
            <a:avLst>
              <a:gd name="adj" fmla="val 25859"/>
            </a:avLst>
          </a:prstGeom>
          <a:solidFill>
            <a:srgbClr val="C084FC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60624" y="1735634"/>
            <a:ext cx="14041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300" dirty="0"/>
          </a:p>
        </p:txBody>
      </p:sp>
      <p:sp>
        <p:nvSpPr>
          <p:cNvPr id="48" name="Text 46"/>
          <p:cNvSpPr/>
          <p:nvPr/>
        </p:nvSpPr>
        <p:spPr>
          <a:xfrm>
            <a:off x="1874341" y="1735634"/>
            <a:ext cx="3476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300" dirty="0"/>
          </a:p>
        </p:txBody>
      </p:sp>
      <p:sp>
        <p:nvSpPr>
          <p:cNvPr id="49" name="Text 47"/>
          <p:cNvSpPr/>
          <p:nvPr/>
        </p:nvSpPr>
        <p:spPr>
          <a:xfrm>
            <a:off x="1933724" y="1710333"/>
            <a:ext cx="209550" cy="98227"/>
          </a:xfrm>
          <a:prstGeom prst="roundRect">
            <a:avLst>
              <a:gd name="adj" fmla="val 25859"/>
            </a:avLst>
          </a:prstGeom>
          <a:solidFill>
            <a:srgbClr val="C084FC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984474" y="1735634"/>
            <a:ext cx="11021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RLAIF</a:t>
            </a:r>
            <a:endParaRPr lang="en-US" sz="300" dirty="0"/>
          </a:p>
        </p:txBody>
      </p:sp>
      <p:sp>
        <p:nvSpPr>
          <p:cNvPr id="51" name="Text 49"/>
          <p:cNvSpPr/>
          <p:nvPr/>
        </p:nvSpPr>
        <p:spPr>
          <a:xfrm>
            <a:off x="4610100" y="618827"/>
            <a:ext cx="41582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Stack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4610100" y="723602"/>
            <a:ext cx="4076700" cy="206276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619625" y="723602"/>
            <a:ext cx="0" cy="20627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705350" y="774353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Guardrails (4)</a:t>
            </a:r>
            <a:endParaRPr lang="en-US" sz="400" dirty="0"/>
          </a:p>
        </p:txBody>
      </p:sp>
      <p:sp>
        <p:nvSpPr>
          <p:cNvPr id="55" name="Text 53"/>
          <p:cNvSpPr/>
          <p:nvPr/>
        </p:nvSpPr>
        <p:spPr>
          <a:xfrm>
            <a:off x="4705350" y="831503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(G1), Range (G2), Ground (G3), Consistency (G4)</a:t>
            </a:r>
            <a:endParaRPr lang="en-US" sz="300" dirty="0"/>
          </a:p>
        </p:txBody>
      </p:sp>
      <p:sp>
        <p:nvSpPr>
          <p:cNvPr id="56" name="Text 54"/>
          <p:cNvSpPr/>
          <p:nvPr/>
        </p:nvSpPr>
        <p:spPr>
          <a:xfrm>
            <a:off x="4610100" y="967978"/>
            <a:ext cx="4076700" cy="206276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4619625" y="967978"/>
            <a:ext cx="0" cy="20627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705350" y="1018729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BiasBuster (6)</a:t>
            </a:r>
            <a:endParaRPr lang="en-US" sz="400" dirty="0"/>
          </a:p>
        </p:txBody>
      </p:sp>
      <p:sp>
        <p:nvSpPr>
          <p:cNvPr id="59" name="Text 57"/>
          <p:cNvSpPr/>
          <p:nvPr/>
        </p:nvSpPr>
        <p:spPr>
          <a:xfrm>
            <a:off x="4705350" y="1075879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Confirmation, Recency, Anchoring, Licensing, Sycophancy, Framing</a:t>
            </a:r>
            <a:endParaRPr lang="en-US" sz="300" dirty="0"/>
          </a:p>
        </p:txBody>
      </p:sp>
      <p:sp>
        <p:nvSpPr>
          <p:cNvPr id="60" name="Text 58"/>
          <p:cNvSpPr/>
          <p:nvPr/>
        </p:nvSpPr>
        <p:spPr>
          <a:xfrm>
            <a:off x="4610100" y="1212354"/>
            <a:ext cx="4076700" cy="206276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619625" y="1212354"/>
            <a:ext cx="0" cy="206276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4705350" y="1263104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Cross-LLM Validation</a:t>
            </a:r>
            <a:endParaRPr lang="en-US" sz="400" dirty="0"/>
          </a:p>
        </p:txBody>
      </p:sp>
      <p:sp>
        <p:nvSpPr>
          <p:cNvPr id="63" name="Text 61"/>
          <p:cNvSpPr/>
          <p:nvPr/>
        </p:nvSpPr>
        <p:spPr>
          <a:xfrm>
            <a:off x="4705350" y="1320254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consensus check: Claude + GPT + GLM</a:t>
            </a:r>
            <a:endParaRPr lang="en-US" sz="300" dirty="0"/>
          </a:p>
        </p:txBody>
      </p:sp>
      <p:sp>
        <p:nvSpPr>
          <p:cNvPr id="64" name="Text 62"/>
          <p:cNvSpPr/>
          <p:nvPr/>
        </p:nvSpPr>
        <p:spPr>
          <a:xfrm>
            <a:off x="4610100" y="1456730"/>
            <a:ext cx="4076700" cy="206276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619625" y="1456730"/>
            <a:ext cx="0" cy="206276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4705350" y="1507480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Confidence Gate</a:t>
            </a:r>
            <a:endParaRPr lang="en-US" sz="400" dirty="0"/>
          </a:p>
        </p:txBody>
      </p:sp>
      <p:sp>
        <p:nvSpPr>
          <p:cNvPr id="67" name="Text 65"/>
          <p:cNvSpPr/>
          <p:nvPr/>
        </p:nvSpPr>
        <p:spPr>
          <a:xfrm>
            <a:off x="4705350" y="1564630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&gt;= 0.7 threshold. Below ➔ "LOW CONFIDENCE" flag.</a:t>
            </a:r>
            <a:endParaRPr lang="en-US" sz="300" dirty="0"/>
          </a:p>
        </p:txBody>
      </p:sp>
      <p:sp>
        <p:nvSpPr>
          <p:cNvPr id="68" name="Text 66"/>
          <p:cNvSpPr/>
          <p:nvPr/>
        </p:nvSpPr>
        <p:spPr>
          <a:xfrm>
            <a:off x="4610100" y="1701105"/>
            <a:ext cx="4076700" cy="206276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619625" y="1701105"/>
            <a:ext cx="0" cy="206276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4705350" y="1751856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Rights Awareness</a:t>
            </a:r>
            <a:endParaRPr lang="en-US" sz="400" dirty="0"/>
          </a:p>
        </p:txBody>
      </p:sp>
      <p:sp>
        <p:nvSpPr>
          <p:cNvPr id="71" name="Text 69"/>
          <p:cNvSpPr/>
          <p:nvPr/>
        </p:nvSpPr>
        <p:spPr>
          <a:xfrm>
            <a:off x="4705350" y="1809006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+ ethical scoring filters. Sensitive content flagged.</a:t>
            </a:r>
            <a:endParaRPr lang="en-US" sz="300" dirty="0"/>
          </a:p>
        </p:txBody>
      </p:sp>
      <p:sp>
        <p:nvSpPr>
          <p:cNvPr id="72" name="Text 70"/>
          <p:cNvSpPr/>
          <p:nvPr/>
        </p:nvSpPr>
        <p:spPr>
          <a:xfrm>
            <a:off x="4610100" y="4734074"/>
            <a:ext cx="4076700" cy="225326"/>
          </a:xfrm>
          <a:prstGeom prst="roundRect">
            <a:avLst>
              <a:gd name="adj" fmla="val 16909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695825" y="4794349"/>
            <a:ext cx="39833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VERIFICATION_PASS / FAIL</a:t>
            </a:r>
            <a:endParaRPr lang="en-US" sz="400" dirty="0"/>
          </a:p>
        </p:txBody>
      </p:sp>
      <p:sp>
        <p:nvSpPr>
          <p:cNvPr id="74" name="Text 72"/>
          <p:cNvSpPr/>
          <p:nvPr/>
        </p:nvSpPr>
        <p:spPr>
          <a:xfrm>
            <a:off x="4695825" y="4851499"/>
            <a:ext cx="39833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 fired at V1+V2 stage. Decision tree classifies failure as timing_mismatch, conversion_failure, undermarketed, monetization_misfit, niche_gem, or discovery_failure.</a:t>
            </a:r>
            <a:endParaRPr lang="en-US" sz="300" dirty="0"/>
          </a:p>
        </p:txBody>
      </p:sp>
      <p:sp>
        <p:nvSpPr>
          <p:cNvPr id="75" name="Text 73"/>
          <p:cNvSpPr/>
          <p:nvPr/>
        </p:nvSpPr>
        <p:spPr>
          <a:xfrm>
            <a:off x="457200" y="5010150"/>
            <a:ext cx="226963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targets: Spearman p &gt;= 0.50, Kendall t &gt;= 0.45, Precision@10 &gt;= 0.6, Krippendorff's a &gt;= 0.80</a:t>
            </a:r>
            <a:endParaRPr lang="en-US" sz="400" dirty="0"/>
          </a:p>
        </p:txBody>
      </p:sp>
      <p:sp>
        <p:nvSpPr>
          <p:cNvPr id="76" name="Text 7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26</a:t>
            </a:r>
            <a:endParaRPr lang="en-US" sz="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4493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 +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9-Node StateGraph. 4 Analyst ⟧ 3 Evaluator ⟧ Scoring ⟧ Verification ⟧ Synthesis.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28352"/>
            <a:ext cx="49898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Pipeline (LangGraph StateGraph)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57200" y="752177"/>
            <a:ext cx="288875" cy="142875"/>
          </a:xfrm>
          <a:prstGeom prst="roundRect">
            <a:avLst>
              <a:gd name="adj" fmla="val 26667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696" y="799802"/>
            <a:ext cx="14588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350" dirty="0"/>
          </a:p>
        </p:txBody>
      </p:sp>
      <p:sp>
        <p:nvSpPr>
          <p:cNvPr id="9" name="Text 7"/>
          <p:cNvSpPr/>
          <p:nvPr/>
        </p:nvSpPr>
        <p:spPr>
          <a:xfrm>
            <a:off x="771376" y="795040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842070" y="752177"/>
            <a:ext cx="303758" cy="142875"/>
          </a:xfrm>
          <a:prstGeom prst="roundRect">
            <a:avLst>
              <a:gd name="adj" fmla="val 26667"/>
            </a:avLst>
          </a:prstGeom>
          <a:solidFill>
            <a:srgbClr val="60A5FA">
              <a:alpha val="12000"/>
            </a:srgbClr>
          </a:solidFill>
          <a:ln w="9525">
            <a:solidFill>
              <a:srgbClr val="60A5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3416" y="799802"/>
            <a:ext cx="16106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350" dirty="0"/>
          </a:p>
        </p:txBody>
      </p:sp>
      <p:sp>
        <p:nvSpPr>
          <p:cNvPr id="12" name="Text 10"/>
          <p:cNvSpPr/>
          <p:nvPr/>
        </p:nvSpPr>
        <p:spPr>
          <a:xfrm>
            <a:off x="1171129" y="795040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13" name="Text 11"/>
          <p:cNvSpPr/>
          <p:nvPr/>
        </p:nvSpPr>
        <p:spPr>
          <a:xfrm>
            <a:off x="1241822" y="733127"/>
            <a:ext cx="367903" cy="180975"/>
          </a:xfrm>
          <a:prstGeom prst="roundRect">
            <a:avLst>
              <a:gd name="adj" fmla="val 2105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12527" y="780752"/>
            <a:ext cx="22649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x4</a:t>
            </a:r>
            <a:endParaRPr lang="en-US" sz="350" dirty="0"/>
          </a:p>
        </p:txBody>
      </p:sp>
      <p:sp>
        <p:nvSpPr>
          <p:cNvPr id="15" name="Text 13"/>
          <p:cNvSpPr/>
          <p:nvPr/>
        </p:nvSpPr>
        <p:spPr>
          <a:xfrm>
            <a:off x="1312527" y="828377"/>
            <a:ext cx="226493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API</a:t>
            </a:r>
            <a:endParaRPr lang="en-US" sz="250" dirty="0"/>
          </a:p>
        </p:txBody>
      </p:sp>
      <p:sp>
        <p:nvSpPr>
          <p:cNvPr id="16" name="Text 14"/>
          <p:cNvSpPr/>
          <p:nvPr/>
        </p:nvSpPr>
        <p:spPr>
          <a:xfrm>
            <a:off x="1635026" y="795040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17" name="Text 15"/>
          <p:cNvSpPr/>
          <p:nvPr/>
        </p:nvSpPr>
        <p:spPr>
          <a:xfrm>
            <a:off x="1705719" y="733127"/>
            <a:ext cx="409873" cy="180975"/>
          </a:xfrm>
          <a:prstGeom prst="roundRect">
            <a:avLst>
              <a:gd name="adj" fmla="val 21053"/>
            </a:avLst>
          </a:prstGeom>
          <a:solidFill>
            <a:srgbClr val="C084FC">
              <a:alpha val="12000"/>
            </a:srgbClr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76005" y="780752"/>
            <a:ext cx="26930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x3</a:t>
            </a:r>
            <a:endParaRPr lang="en-US" sz="350" dirty="0"/>
          </a:p>
        </p:txBody>
      </p:sp>
      <p:sp>
        <p:nvSpPr>
          <p:cNvPr id="19" name="Text 17"/>
          <p:cNvSpPr/>
          <p:nvPr/>
        </p:nvSpPr>
        <p:spPr>
          <a:xfrm>
            <a:off x="1776005" y="828377"/>
            <a:ext cx="269302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ctx</a:t>
            </a:r>
            <a:endParaRPr lang="en-US" sz="250" dirty="0"/>
          </a:p>
        </p:txBody>
      </p:sp>
      <p:sp>
        <p:nvSpPr>
          <p:cNvPr id="20" name="Text 18"/>
          <p:cNvSpPr/>
          <p:nvPr/>
        </p:nvSpPr>
        <p:spPr>
          <a:xfrm>
            <a:off x="965150" y="101411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21" name="Text 19"/>
          <p:cNvSpPr/>
          <p:nvPr/>
        </p:nvSpPr>
        <p:spPr>
          <a:xfrm>
            <a:off x="1035844" y="952202"/>
            <a:ext cx="398859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6239" y="999827"/>
            <a:ext cx="2580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350" dirty="0"/>
          </a:p>
        </p:txBody>
      </p:sp>
      <p:sp>
        <p:nvSpPr>
          <p:cNvPr id="23" name="Text 21"/>
          <p:cNvSpPr/>
          <p:nvPr/>
        </p:nvSpPr>
        <p:spPr>
          <a:xfrm>
            <a:off x="1106239" y="1047452"/>
            <a:ext cx="258068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PSM + HG_Score</a:t>
            </a:r>
            <a:endParaRPr lang="en-US" sz="250" dirty="0"/>
          </a:p>
        </p:txBody>
      </p:sp>
      <p:sp>
        <p:nvSpPr>
          <p:cNvPr id="24" name="Text 22"/>
          <p:cNvSpPr/>
          <p:nvPr/>
        </p:nvSpPr>
        <p:spPr>
          <a:xfrm>
            <a:off x="1460004" y="101411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25" name="Text 23"/>
          <p:cNvSpPr/>
          <p:nvPr/>
        </p:nvSpPr>
        <p:spPr>
          <a:xfrm>
            <a:off x="1530697" y="952202"/>
            <a:ext cx="266849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02413" y="999827"/>
            <a:ext cx="1234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350" dirty="0"/>
          </a:p>
        </p:txBody>
      </p:sp>
      <p:sp>
        <p:nvSpPr>
          <p:cNvPr id="27" name="Text 25"/>
          <p:cNvSpPr/>
          <p:nvPr/>
        </p:nvSpPr>
        <p:spPr>
          <a:xfrm>
            <a:off x="1602413" y="1047452"/>
            <a:ext cx="123417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</a:t>
            </a:r>
            <a:endParaRPr lang="en-US" sz="250" dirty="0"/>
          </a:p>
        </p:txBody>
      </p:sp>
      <p:sp>
        <p:nvSpPr>
          <p:cNvPr id="28" name="Text 26"/>
          <p:cNvSpPr/>
          <p:nvPr/>
        </p:nvSpPr>
        <p:spPr>
          <a:xfrm>
            <a:off x="1822847" y="1014115"/>
            <a:ext cx="46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400" dirty="0"/>
          </a:p>
        </p:txBody>
      </p:sp>
      <p:sp>
        <p:nvSpPr>
          <p:cNvPr id="29" name="Text 27"/>
          <p:cNvSpPr/>
          <p:nvPr/>
        </p:nvSpPr>
        <p:spPr>
          <a:xfrm>
            <a:off x="1893540" y="952202"/>
            <a:ext cx="395139" cy="180975"/>
          </a:xfrm>
          <a:prstGeom prst="roundRect">
            <a:avLst>
              <a:gd name="adj" fmla="val 2105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63973" y="999827"/>
            <a:ext cx="2542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Synthesizer</a:t>
            </a:r>
            <a:endParaRPr lang="en-US" sz="350" dirty="0"/>
          </a:p>
        </p:txBody>
      </p:sp>
      <p:sp>
        <p:nvSpPr>
          <p:cNvPr id="31" name="Text 29"/>
          <p:cNvSpPr/>
          <p:nvPr/>
        </p:nvSpPr>
        <p:spPr>
          <a:xfrm>
            <a:off x="1963973" y="1047452"/>
            <a:ext cx="254273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</a:t>
            </a:r>
            <a:endParaRPr lang="en-US" sz="250" dirty="0"/>
          </a:p>
        </p:txBody>
      </p:sp>
      <p:sp>
        <p:nvSpPr>
          <p:cNvPr id="32" name="Text 30"/>
          <p:cNvSpPr/>
          <p:nvPr/>
        </p:nvSpPr>
        <p:spPr>
          <a:xfrm>
            <a:off x="457200" y="1196578"/>
            <a:ext cx="1605260" cy="244376"/>
          </a:xfrm>
          <a:prstGeom prst="roundRect">
            <a:avLst>
              <a:gd name="adj" fmla="val 15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3400" y="1247329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Analysts (Send API)</a:t>
            </a:r>
            <a:endParaRPr lang="en-US" sz="350" dirty="0"/>
          </a:p>
        </p:txBody>
      </p:sp>
      <p:sp>
        <p:nvSpPr>
          <p:cNvPr id="34" name="Text 32"/>
          <p:cNvSpPr/>
          <p:nvPr/>
        </p:nvSpPr>
        <p:spPr>
          <a:xfrm>
            <a:off x="533400" y="1294954"/>
            <a:ext cx="14819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Parallel. 각 Analyst는 Signal만 볼 수 있고 다른 Analyst 결과를 볼 수 없습니다 (Clean Context).</a:t>
            </a:r>
            <a:endParaRPr lang="en-US" sz="300" dirty="0"/>
          </a:p>
        </p:txBody>
      </p:sp>
      <p:sp>
        <p:nvSpPr>
          <p:cNvPr id="35" name="Text 33"/>
          <p:cNvSpPr/>
          <p:nvPr/>
        </p:nvSpPr>
        <p:spPr>
          <a:xfrm>
            <a:off x="2100560" y="1196578"/>
            <a:ext cx="1605260" cy="244376"/>
          </a:xfrm>
          <a:prstGeom prst="roundRect">
            <a:avLst>
              <a:gd name="adj" fmla="val 15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176760" y="1247329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Evaluators (Clean Context)</a:t>
            </a:r>
            <a:endParaRPr lang="en-US" sz="350" dirty="0"/>
          </a:p>
        </p:txBody>
      </p:sp>
      <p:sp>
        <p:nvSpPr>
          <p:cNvPr id="37" name="Text 35"/>
          <p:cNvSpPr/>
          <p:nvPr/>
        </p:nvSpPr>
        <p:spPr>
          <a:xfrm>
            <a:off x="2176760" y="1294954"/>
            <a:ext cx="14819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Quality(8-axis), Hidden(3-axis), Recovery. Analyst 결과 없이 독립 평가하여 Anchoring Bias 차단.</a:t>
            </a:r>
            <a:endParaRPr lang="en-US" sz="300" dirty="0"/>
          </a:p>
        </p:txBody>
      </p:sp>
      <p:sp>
        <p:nvSpPr>
          <p:cNvPr id="38" name="Text 36"/>
          <p:cNvSpPr/>
          <p:nvPr/>
        </p:nvSpPr>
        <p:spPr>
          <a:xfrm>
            <a:off x="3743920" y="1196578"/>
            <a:ext cx="1605260" cy="244376"/>
          </a:xfrm>
          <a:prstGeom prst="roundRect">
            <a:avLst>
              <a:gd name="adj" fmla="val 15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20120" y="1247329"/>
            <a:ext cx="14819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PSM + HG_Score</a:t>
            </a:r>
            <a:endParaRPr lang="en-US" sz="350" dirty="0"/>
          </a:p>
        </p:txBody>
      </p:sp>
      <p:sp>
        <p:nvSpPr>
          <p:cNvPr id="40" name="Text 38"/>
          <p:cNvSpPr/>
          <p:nvPr/>
        </p:nvSpPr>
        <p:spPr>
          <a:xfrm>
            <a:off x="3820120" y="1294954"/>
            <a:ext cx="14819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= 0.25*HG + 0.20*Quality + 0.18*Recovery + 0.12*Growth + 0.20*Community + 0.05*Dev</a:t>
            </a:r>
            <a:endParaRPr lang="en-US" sz="300" dirty="0"/>
          </a:p>
        </p:txBody>
      </p:sp>
      <p:sp>
        <p:nvSpPr>
          <p:cNvPr id="41" name="Text 39"/>
          <p:cNvSpPr/>
          <p:nvPr/>
        </p:nvSpPr>
        <p:spPr>
          <a:xfrm>
            <a:off x="5425380" y="628352"/>
            <a:ext cx="332664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Results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5425380" y="733127"/>
            <a:ext cx="3261420" cy="298252"/>
          </a:xfrm>
          <a:prstGeom prst="roundRect">
            <a:avLst>
              <a:gd name="adj" fmla="val 127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10257" y="810816"/>
            <a:ext cx="86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46688" y="806053"/>
            <a:ext cx="44873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5646688" y="863203"/>
            <a:ext cx="44873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 / 100</a:t>
            </a:r>
            <a:endParaRPr lang="en-US" sz="350" dirty="0"/>
          </a:p>
        </p:txBody>
      </p:sp>
      <p:sp>
        <p:nvSpPr>
          <p:cNvPr id="46" name="Text 44"/>
          <p:cNvSpPr/>
          <p:nvPr/>
        </p:nvSpPr>
        <p:spPr>
          <a:xfrm>
            <a:off x="5646688" y="910828"/>
            <a:ext cx="44873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Undervalued IP confirmed</a:t>
            </a:r>
            <a:endParaRPr lang="en-US" sz="300" dirty="0"/>
          </a:p>
        </p:txBody>
      </p:sp>
      <p:sp>
        <p:nvSpPr>
          <p:cNvPr id="47" name="Text 45"/>
          <p:cNvSpPr/>
          <p:nvPr/>
        </p:nvSpPr>
        <p:spPr>
          <a:xfrm>
            <a:off x="5425380" y="1069479"/>
            <a:ext cx="3261420" cy="298252"/>
          </a:xfrm>
          <a:prstGeom prst="roundRect">
            <a:avLst>
              <a:gd name="adj" fmla="val 127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10187" y="1147167"/>
            <a:ext cx="93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53683" y="1142405"/>
            <a:ext cx="42429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5653683" y="1199555"/>
            <a:ext cx="42429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 / 100</a:t>
            </a:r>
            <a:endParaRPr lang="en-US" sz="350" dirty="0"/>
          </a:p>
        </p:txBody>
      </p:sp>
      <p:sp>
        <p:nvSpPr>
          <p:cNvPr id="51" name="Text 49"/>
          <p:cNvSpPr/>
          <p:nvPr/>
        </p:nvSpPr>
        <p:spPr>
          <a:xfrm>
            <a:off x="5653683" y="1247180"/>
            <a:ext cx="42429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Medium-high potential</a:t>
            </a:r>
            <a:endParaRPr lang="en-US" sz="300" dirty="0"/>
          </a:p>
        </p:txBody>
      </p:sp>
      <p:sp>
        <p:nvSpPr>
          <p:cNvPr id="52" name="Text 50"/>
          <p:cNvSpPr/>
          <p:nvPr/>
        </p:nvSpPr>
        <p:spPr>
          <a:xfrm>
            <a:off x="5425380" y="1405830"/>
            <a:ext cx="3261420" cy="298252"/>
          </a:xfrm>
          <a:prstGeom prst="roundRect">
            <a:avLst>
              <a:gd name="adj" fmla="val 127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510187" y="1483519"/>
            <a:ext cx="93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53683" y="1478756"/>
            <a:ext cx="49564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450" dirty="0"/>
          </a:p>
        </p:txBody>
      </p:sp>
      <p:sp>
        <p:nvSpPr>
          <p:cNvPr id="55" name="Text 53"/>
          <p:cNvSpPr/>
          <p:nvPr/>
        </p:nvSpPr>
        <p:spPr>
          <a:xfrm>
            <a:off x="5653683" y="1535906"/>
            <a:ext cx="4956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 / 100</a:t>
            </a:r>
            <a:endParaRPr lang="en-US" sz="350" dirty="0"/>
          </a:p>
        </p:txBody>
      </p:sp>
      <p:sp>
        <p:nvSpPr>
          <p:cNvPr id="56" name="Text 54"/>
          <p:cNvSpPr/>
          <p:nvPr/>
        </p:nvSpPr>
        <p:spPr>
          <a:xfrm>
            <a:off x="5653683" y="1583531"/>
            <a:ext cx="4956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Saturated market</a:t>
            </a:r>
            <a:endParaRPr lang="en-US" sz="300" dirty="0"/>
          </a:p>
        </p:txBody>
      </p:sp>
      <p:sp>
        <p:nvSpPr>
          <p:cNvPr id="57" name="Text 55"/>
          <p:cNvSpPr/>
          <p:nvPr/>
        </p:nvSpPr>
        <p:spPr>
          <a:xfrm>
            <a:off x="5425380" y="4673798"/>
            <a:ext cx="3261420" cy="285601"/>
          </a:xfrm>
          <a:prstGeom prst="roundRect">
            <a:avLst>
              <a:gd name="adj" fmla="val 13340"/>
            </a:avLst>
          </a:prstGeom>
          <a:solidFill>
            <a:srgbClr val="060B14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511105" y="473407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E870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587157" y="473407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663208" y="473407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511105" y="4822924"/>
            <a:ext cx="3151769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geode analyze "Berserk"</a:t>
            </a:r>
            <a:endParaRPr lang="en-US" sz="300" dirty="0"/>
          </a:p>
        </p:txBody>
      </p:sp>
      <p:sp>
        <p:nvSpPr>
          <p:cNvPr id="62" name="Text 60"/>
          <p:cNvSpPr/>
          <p:nvPr/>
        </p:nvSpPr>
        <p:spPr>
          <a:xfrm>
            <a:off x="5511105" y="4861024"/>
            <a:ext cx="3151769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Tier: S (81.2) | Conf: 0.89 | Bias: 0/6</a:t>
            </a:r>
            <a:endParaRPr lang="en-US" sz="300" dirty="0"/>
          </a:p>
        </p:txBody>
      </p:sp>
      <p:sp>
        <p:nvSpPr>
          <p:cNvPr id="63" name="Text 61"/>
          <p:cNvSpPr/>
          <p:nvPr/>
        </p:nvSpPr>
        <p:spPr>
          <a:xfrm>
            <a:off x="457200" y="5010150"/>
            <a:ext cx="175304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axes, 6 cause-classification outcomes, confidence &gt;= 0.7 threshold</a:t>
            </a:r>
            <a:endParaRPr lang="en-US" sz="400" dirty="0"/>
          </a:p>
        </p:txBody>
      </p:sp>
      <p:sp>
        <p:nvSpPr>
          <p:cNvPr id="64" name="Text 62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26</a:t>
            </a:r>
            <a:endParaRPr lang="en-US" sz="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4493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➔ REODE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하나로 도메인을 교체합니다. 에이전트 코어 수정 0줄로 피봇.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3657600" cy="4048571"/>
          </a:xfrm>
          <a:prstGeom prst="roundRect">
            <a:avLst>
              <a:gd name="adj" fmla="val 1389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704552"/>
            <a:ext cx="381595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717203"/>
            <a:ext cx="23377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987921" y="721965"/>
            <a:ext cx="42991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Valuation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568226" y="83462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8976" y="87272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350" dirty="0"/>
          </a:p>
        </p:txBody>
      </p:sp>
      <p:sp>
        <p:nvSpPr>
          <p:cNvPr id="12" name="Text 10"/>
          <p:cNvSpPr/>
          <p:nvPr/>
        </p:nvSpPr>
        <p:spPr>
          <a:xfrm>
            <a:off x="618976" y="92035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GameIPDomain (LangGraph 9-node)</a:t>
            </a:r>
            <a:endParaRPr lang="en-US" sz="300" dirty="0"/>
          </a:p>
        </p:txBody>
      </p:sp>
      <p:sp>
        <p:nvSpPr>
          <p:cNvPr id="13" name="Text 11"/>
          <p:cNvSpPr/>
          <p:nvPr/>
        </p:nvSpPr>
        <p:spPr>
          <a:xfrm>
            <a:off x="568226" y="104417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108227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350" dirty="0"/>
          </a:p>
        </p:txBody>
      </p:sp>
      <p:sp>
        <p:nvSpPr>
          <p:cNvPr id="15" name="Text 13"/>
          <p:cNvSpPr/>
          <p:nvPr/>
        </p:nvSpPr>
        <p:spPr>
          <a:xfrm>
            <a:off x="618976" y="112990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Undervalued game IPs with revival potential</a:t>
            </a:r>
            <a:endParaRPr lang="en-US" sz="300" dirty="0"/>
          </a:p>
        </p:txBody>
      </p:sp>
      <p:sp>
        <p:nvSpPr>
          <p:cNvPr id="16" name="Text 14"/>
          <p:cNvSpPr/>
          <p:nvPr/>
        </p:nvSpPr>
        <p:spPr>
          <a:xfrm>
            <a:off x="568226" y="125372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976" y="129182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350" dirty="0"/>
          </a:p>
        </p:txBody>
      </p:sp>
      <p:sp>
        <p:nvSpPr>
          <p:cNvPr id="18" name="Text 16"/>
          <p:cNvSpPr/>
          <p:nvPr/>
        </p:nvSpPr>
        <p:spPr>
          <a:xfrm>
            <a:off x="618976" y="133945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➔ 4 Analyst ➔ 3 Evaluator ➔ PSM Scoring</a:t>
            </a:r>
            <a:endParaRPr lang="en-US" sz="300" dirty="0"/>
          </a:p>
        </p:txBody>
      </p:sp>
      <p:sp>
        <p:nvSpPr>
          <p:cNvPr id="19" name="Text 17"/>
          <p:cNvSpPr/>
          <p:nvPr/>
        </p:nvSpPr>
        <p:spPr>
          <a:xfrm>
            <a:off x="568226" y="146327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976" y="150137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</a:t>
            </a:r>
            <a:endParaRPr lang="en-US" sz="350" dirty="0"/>
          </a:p>
        </p:txBody>
      </p:sp>
      <p:sp>
        <p:nvSpPr>
          <p:cNvPr id="21" name="Text 19"/>
          <p:cNvSpPr/>
          <p:nvPr/>
        </p:nvSpPr>
        <p:spPr>
          <a:xfrm>
            <a:off x="618976" y="154900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axes (Quality 8 + Hidden 3 + Recovery 3)</a:t>
            </a:r>
            <a:endParaRPr lang="en-US" sz="300" dirty="0"/>
          </a:p>
        </p:txBody>
      </p:sp>
      <p:sp>
        <p:nvSpPr>
          <p:cNvPr id="22" name="Text 20"/>
          <p:cNvSpPr/>
          <p:nvPr/>
        </p:nvSpPr>
        <p:spPr>
          <a:xfrm>
            <a:off x="568226" y="167282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171092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350" dirty="0"/>
          </a:p>
        </p:txBody>
      </p:sp>
      <p:sp>
        <p:nvSpPr>
          <p:cNvPr id="24" name="Text 22"/>
          <p:cNvSpPr/>
          <p:nvPr/>
        </p:nvSpPr>
        <p:spPr>
          <a:xfrm>
            <a:off x="618976" y="175855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S/A/B/C/D tier + 0-100 score + cause tree</a:t>
            </a:r>
            <a:endParaRPr lang="en-US" sz="300" dirty="0"/>
          </a:p>
        </p:txBody>
      </p:sp>
      <p:sp>
        <p:nvSpPr>
          <p:cNvPr id="25" name="Text 23"/>
          <p:cNvSpPr/>
          <p:nvPr/>
        </p:nvSpPr>
        <p:spPr>
          <a:xfrm>
            <a:off x="4367808" y="2336750"/>
            <a:ext cx="408384" cy="514350"/>
          </a:xfrm>
          <a:prstGeom prst="roundRect">
            <a:avLst>
              <a:gd name="adj" fmla="val 12439"/>
            </a:avLst>
          </a:prstGeom>
          <a:solidFill>
            <a:srgbClr val="06B6D4">
              <a:alpha val="12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25205" y="2422475"/>
            <a:ext cx="29359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</a:t>
            </a:r>
            <a:endParaRPr lang="en-US" sz="400" dirty="0"/>
          </a:p>
        </p:txBody>
      </p:sp>
      <p:sp>
        <p:nvSpPr>
          <p:cNvPr id="27" name="Text 25"/>
          <p:cNvSpPr/>
          <p:nvPr/>
        </p:nvSpPr>
        <p:spPr>
          <a:xfrm>
            <a:off x="4425205" y="2479625"/>
            <a:ext cx="29359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300" dirty="0"/>
          </a:p>
        </p:txBody>
      </p:sp>
      <p:sp>
        <p:nvSpPr>
          <p:cNvPr id="28" name="Text 26"/>
          <p:cNvSpPr/>
          <p:nvPr/>
        </p:nvSpPr>
        <p:spPr>
          <a:xfrm>
            <a:off x="4428083" y="2565350"/>
            <a:ext cx="287834" cy="9525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25205" y="2612975"/>
            <a:ext cx="293590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analyze()</a:t>
            </a:r>
            <a:endParaRPr lang="en-US" sz="300" dirty="0"/>
          </a:p>
        </p:txBody>
      </p:sp>
      <p:sp>
        <p:nvSpPr>
          <p:cNvPr id="30" name="Text 28"/>
          <p:cNvSpPr/>
          <p:nvPr/>
        </p:nvSpPr>
        <p:spPr>
          <a:xfrm>
            <a:off x="4425205" y="2651075"/>
            <a:ext cx="293590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list_items()</a:t>
            </a:r>
            <a:endParaRPr lang="en-US" sz="300" dirty="0"/>
          </a:p>
        </p:txBody>
      </p:sp>
      <p:sp>
        <p:nvSpPr>
          <p:cNvPr id="31" name="Text 29"/>
          <p:cNvSpPr/>
          <p:nvPr/>
        </p:nvSpPr>
        <p:spPr>
          <a:xfrm>
            <a:off x="4425205" y="2689175"/>
            <a:ext cx="293590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search()</a:t>
            </a:r>
            <a:endParaRPr lang="en-US" sz="300" dirty="0"/>
          </a:p>
        </p:txBody>
      </p:sp>
      <p:sp>
        <p:nvSpPr>
          <p:cNvPr id="32" name="Text 30"/>
          <p:cNvSpPr/>
          <p:nvPr/>
        </p:nvSpPr>
        <p:spPr>
          <a:xfrm>
            <a:off x="4425205" y="2727275"/>
            <a:ext cx="293590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get_tools()</a:t>
            </a:r>
            <a:endParaRPr lang="en-US" sz="300" dirty="0"/>
          </a:p>
        </p:txBody>
      </p:sp>
      <p:sp>
        <p:nvSpPr>
          <p:cNvPr id="33" name="Text 31"/>
          <p:cNvSpPr/>
          <p:nvPr/>
        </p:nvSpPr>
        <p:spPr>
          <a:xfrm>
            <a:off x="4449949" y="2901851"/>
            <a:ext cx="24410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</a:t>
            </a:r>
            <a:endParaRPr lang="en-US" sz="300" dirty="0"/>
          </a:p>
        </p:txBody>
      </p:sp>
      <p:sp>
        <p:nvSpPr>
          <p:cNvPr id="34" name="Text 32"/>
          <p:cNvSpPr/>
          <p:nvPr/>
        </p:nvSpPr>
        <p:spPr>
          <a:xfrm>
            <a:off x="5029200" y="618827"/>
            <a:ext cx="3657600" cy="4048571"/>
          </a:xfrm>
          <a:prstGeom prst="roundRect">
            <a:avLst>
              <a:gd name="adj" fmla="val 1389"/>
            </a:avLst>
          </a:prstGeom>
          <a:solidFill>
            <a:srgbClr val="161B22"/>
          </a:solidFill>
          <a:ln w="9525">
            <a:solidFill>
              <a:srgbClr val="C084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40226" y="704552"/>
            <a:ext cx="378023" cy="91976"/>
          </a:xfrm>
          <a:prstGeom prst="roundRect">
            <a:avLst>
              <a:gd name="adj" fmla="val 27616"/>
            </a:avLst>
          </a:prstGeom>
          <a:solidFill>
            <a:srgbClr val="C084FC">
              <a:alpha val="1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16426" y="717203"/>
            <a:ext cx="23013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5556349" y="721965"/>
            <a:ext cx="51826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Java Migration</a:t>
            </a:r>
            <a:endParaRPr lang="en-US" sz="400" dirty="0"/>
          </a:p>
        </p:txBody>
      </p:sp>
      <p:sp>
        <p:nvSpPr>
          <p:cNvPr id="38" name="Text 36"/>
          <p:cNvSpPr/>
          <p:nvPr/>
        </p:nvSpPr>
        <p:spPr>
          <a:xfrm>
            <a:off x="5140226" y="83462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90976" y="87272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350" dirty="0"/>
          </a:p>
        </p:txBody>
      </p:sp>
      <p:sp>
        <p:nvSpPr>
          <p:cNvPr id="40" name="Text 38"/>
          <p:cNvSpPr/>
          <p:nvPr/>
        </p:nvSpPr>
        <p:spPr>
          <a:xfrm>
            <a:off x="5190976" y="92035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LegacyJavaDomain (codebase analysis)</a:t>
            </a:r>
            <a:endParaRPr lang="en-US" sz="300" dirty="0"/>
          </a:p>
        </p:txBody>
      </p:sp>
      <p:sp>
        <p:nvSpPr>
          <p:cNvPr id="41" name="Text 39"/>
          <p:cNvSpPr/>
          <p:nvPr/>
        </p:nvSpPr>
        <p:spPr>
          <a:xfrm>
            <a:off x="5140226" y="104417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90976" y="108227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350" dirty="0"/>
          </a:p>
        </p:txBody>
      </p:sp>
      <p:sp>
        <p:nvSpPr>
          <p:cNvPr id="43" name="Text 41"/>
          <p:cNvSpPr/>
          <p:nvPr/>
        </p:nvSpPr>
        <p:spPr>
          <a:xfrm>
            <a:off x="5190976" y="112990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8-11 codebases requiring modernization</a:t>
            </a:r>
            <a:endParaRPr lang="en-US" sz="300" dirty="0"/>
          </a:p>
        </p:txBody>
      </p:sp>
      <p:sp>
        <p:nvSpPr>
          <p:cNvPr id="44" name="Text 42"/>
          <p:cNvSpPr/>
          <p:nvPr/>
        </p:nvSpPr>
        <p:spPr>
          <a:xfrm>
            <a:off x="5140226" y="125372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90976" y="129182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350" dirty="0"/>
          </a:p>
        </p:txBody>
      </p:sp>
      <p:sp>
        <p:nvSpPr>
          <p:cNvPr id="46" name="Text 44"/>
          <p:cNvSpPr/>
          <p:nvPr/>
        </p:nvSpPr>
        <p:spPr>
          <a:xfrm>
            <a:off x="5190976" y="133945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➔ Dependency Graph ➔ Risk Scoring ➔ Migration Plan</a:t>
            </a:r>
            <a:endParaRPr lang="en-US" sz="300" dirty="0"/>
          </a:p>
        </p:txBody>
      </p:sp>
      <p:sp>
        <p:nvSpPr>
          <p:cNvPr id="47" name="Text 45"/>
          <p:cNvSpPr/>
          <p:nvPr/>
        </p:nvSpPr>
        <p:spPr>
          <a:xfrm>
            <a:off x="5140226" y="146327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190976" y="150137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</a:t>
            </a:r>
            <a:endParaRPr lang="en-US" sz="350" dirty="0"/>
          </a:p>
        </p:txBody>
      </p:sp>
      <p:sp>
        <p:nvSpPr>
          <p:cNvPr id="49" name="Text 47"/>
          <p:cNvSpPr/>
          <p:nvPr/>
        </p:nvSpPr>
        <p:spPr>
          <a:xfrm>
            <a:off x="5190976" y="154900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axes + migration complexity</a:t>
            </a:r>
            <a:endParaRPr lang="en-US" sz="300" dirty="0"/>
          </a:p>
        </p:txBody>
      </p:sp>
      <p:sp>
        <p:nvSpPr>
          <p:cNvPr id="50" name="Text 48"/>
          <p:cNvSpPr/>
          <p:nvPr/>
        </p:nvSpPr>
        <p:spPr>
          <a:xfrm>
            <a:off x="5140226" y="1672828"/>
            <a:ext cx="3435548" cy="1714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190976" y="1710928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350" dirty="0"/>
          </a:p>
        </p:txBody>
      </p:sp>
      <p:sp>
        <p:nvSpPr>
          <p:cNvPr id="52" name="Text 50"/>
          <p:cNvSpPr/>
          <p:nvPr/>
        </p:nvSpPr>
        <p:spPr>
          <a:xfrm>
            <a:off x="5190976" y="1758553"/>
            <a:ext cx="3400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roadmap + risk matrix + effort estimate</a:t>
            </a:r>
            <a:endParaRPr lang="en-US" sz="300" dirty="0"/>
          </a:p>
        </p:txBody>
      </p:sp>
      <p:sp>
        <p:nvSpPr>
          <p:cNvPr id="53" name="Text 51"/>
          <p:cNvSpPr/>
          <p:nvPr/>
        </p:nvSpPr>
        <p:spPr>
          <a:xfrm>
            <a:off x="457200" y="4737199"/>
            <a:ext cx="7706618" cy="15240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3380" y="4784824"/>
            <a:ext cx="763425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Agent Core: L0-L4 unchanged. 202 modules, 47 tools, 37 hooks, 44 MCP.</a:t>
            </a:r>
            <a:endParaRPr lang="en-US" sz="400" dirty="0"/>
          </a:p>
        </p:txBody>
      </p:sp>
      <p:sp>
        <p:nvSpPr>
          <p:cNvPr id="55" name="Text 53"/>
          <p:cNvSpPr/>
          <p:nvPr/>
        </p:nvSpPr>
        <p:spPr>
          <a:xfrm>
            <a:off x="8214568" y="4718149"/>
            <a:ext cx="472232" cy="190500"/>
          </a:xfrm>
          <a:prstGeom prst="roundRect">
            <a:avLst>
              <a:gd name="adj" fmla="val 1333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290768" y="4756249"/>
            <a:ext cx="3262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290768" y="4822924"/>
            <a:ext cx="3262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lines changed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457200" y="5010150"/>
            <a:ext cx="120320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DomainPort: the interface that makes pivot cost zero</a:t>
            </a:r>
            <a:endParaRPr lang="en-US" sz="400" dirty="0"/>
          </a:p>
        </p:txBody>
      </p:sp>
      <p:sp>
        <p:nvSpPr>
          <p:cNvPr id="59" name="Text 57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26</a:t>
            </a:r>
            <a:endParaRPr lang="en-US" sz="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4350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➔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제약은 관측 가능한 결과로 이어집니다. 제약 없는 자유는 엔트로피를 높일 뿐입니다.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925" y="691753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542925" y="774204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작업 금지</a:t>
            </a:r>
            <a:endParaRPr lang="en-US" sz="400" dirty="0"/>
          </a:p>
        </p:txBody>
      </p:sp>
      <p:sp>
        <p:nvSpPr>
          <p:cNvPr id="9" name="Text 7"/>
          <p:cNvSpPr/>
          <p:nvPr/>
        </p:nvSpPr>
        <p:spPr>
          <a:xfrm>
            <a:off x="542925" y="840879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 강제</a:t>
            </a:r>
            <a:endParaRPr lang="en-US" sz="350" dirty="0"/>
          </a:p>
        </p:txBody>
      </p:sp>
      <p:sp>
        <p:nvSpPr>
          <p:cNvPr id="10" name="Text 8"/>
          <p:cNvSpPr/>
          <p:nvPr/>
        </p:nvSpPr>
        <p:spPr>
          <a:xfrm>
            <a:off x="4526607" y="732979"/>
            <a:ext cx="92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55493" y="618827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1218" y="691753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4741218" y="774204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 PR, merge conflict 0</a:t>
            </a:r>
            <a:endParaRPr lang="en-US" sz="400" dirty="0"/>
          </a:p>
        </p:txBody>
      </p:sp>
      <p:sp>
        <p:nvSpPr>
          <p:cNvPr id="14" name="Text 12"/>
          <p:cNvSpPr/>
          <p:nvPr/>
        </p:nvSpPr>
        <p:spPr>
          <a:xfrm>
            <a:off x="4741218" y="831354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개발이 안전하게 가능</a:t>
            </a:r>
            <a:endParaRPr lang="en-US" sz="350" dirty="0"/>
          </a:p>
        </p:txBody>
      </p:sp>
      <p:sp>
        <p:nvSpPr>
          <p:cNvPr id="15" name="Text 13"/>
          <p:cNvSpPr/>
          <p:nvPr/>
        </p:nvSpPr>
        <p:spPr>
          <a:xfrm>
            <a:off x="457200" y="1012180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925" y="1085106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542925" y="1167557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실패 상태 머지 금지</a:t>
            </a:r>
            <a:endParaRPr lang="en-US" sz="400" dirty="0"/>
          </a:p>
        </p:txBody>
      </p:sp>
      <p:sp>
        <p:nvSpPr>
          <p:cNvPr id="18" name="Text 16"/>
          <p:cNvSpPr/>
          <p:nvPr/>
        </p:nvSpPr>
        <p:spPr>
          <a:xfrm>
            <a:off x="542925" y="1234232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5-Job Ratchet</a:t>
            </a:r>
            <a:endParaRPr lang="en-US" sz="350" dirty="0"/>
          </a:p>
        </p:txBody>
      </p:sp>
      <p:sp>
        <p:nvSpPr>
          <p:cNvPr id="19" name="Text 17"/>
          <p:cNvSpPr/>
          <p:nvPr/>
        </p:nvSpPr>
        <p:spPr>
          <a:xfrm>
            <a:off x="4526607" y="1126331"/>
            <a:ext cx="92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55493" y="1012180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1218" y="1085106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4741218" y="1167557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3,219+ tests, regression 0</a:t>
            </a:r>
            <a:endParaRPr lang="en-US" sz="400" dirty="0"/>
          </a:p>
        </p:txBody>
      </p:sp>
      <p:sp>
        <p:nvSpPr>
          <p:cNvPr id="23" name="Text 21"/>
          <p:cNvSpPr/>
          <p:nvPr/>
        </p:nvSpPr>
        <p:spPr>
          <a:xfrm>
            <a:off x="4741218" y="1224707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수는 단조 증가만 허용</a:t>
            </a:r>
            <a:endParaRPr lang="en-US" sz="350" dirty="0"/>
          </a:p>
        </p:txBody>
      </p:sp>
      <p:sp>
        <p:nvSpPr>
          <p:cNvPr id="24" name="Text 22"/>
          <p:cNvSpPr/>
          <p:nvPr/>
        </p:nvSpPr>
        <p:spPr>
          <a:xfrm>
            <a:off x="457200" y="1405533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2925" y="1478459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542925" y="1560909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Q5 미통과 패턴 구현 금지</a:t>
            </a:r>
            <a:endParaRPr lang="en-US" sz="400" dirty="0"/>
          </a:p>
        </p:txBody>
      </p:sp>
      <p:sp>
        <p:nvSpPr>
          <p:cNvPr id="27" name="Text 25"/>
          <p:cNvSpPr/>
          <p:nvPr/>
        </p:nvSpPr>
        <p:spPr>
          <a:xfrm>
            <a:off x="542925" y="1627584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합의 필요</a:t>
            </a:r>
            <a:endParaRPr lang="en-US" sz="350" dirty="0"/>
          </a:p>
        </p:txBody>
      </p:sp>
      <p:sp>
        <p:nvSpPr>
          <p:cNvPr id="28" name="Text 26"/>
          <p:cNvSpPr/>
          <p:nvPr/>
        </p:nvSpPr>
        <p:spPr>
          <a:xfrm>
            <a:off x="4526607" y="1519684"/>
            <a:ext cx="92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55493" y="1405533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41218" y="1478459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450" dirty="0"/>
          </a:p>
        </p:txBody>
      </p:sp>
      <p:sp>
        <p:nvSpPr>
          <p:cNvPr id="31" name="Text 29"/>
          <p:cNvSpPr/>
          <p:nvPr/>
        </p:nvSpPr>
        <p:spPr>
          <a:xfrm>
            <a:off x="4741218" y="1560909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GAP resolved, 0 tech-debt backlog</a:t>
            </a:r>
            <a:endParaRPr lang="en-US" sz="400" dirty="0"/>
          </a:p>
        </p:txBody>
      </p:sp>
      <p:sp>
        <p:nvSpPr>
          <p:cNvPr id="32" name="Text 30"/>
          <p:cNvSpPr/>
          <p:nvPr/>
        </p:nvSpPr>
        <p:spPr>
          <a:xfrm>
            <a:off x="4741218" y="1618059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패턴만 코드에 존재</a:t>
            </a:r>
            <a:endParaRPr lang="en-US" sz="350" dirty="0"/>
          </a:p>
        </p:txBody>
      </p:sp>
      <p:sp>
        <p:nvSpPr>
          <p:cNvPr id="33" name="Text 31"/>
          <p:cNvSpPr/>
          <p:nvPr/>
        </p:nvSpPr>
        <p:spPr>
          <a:xfrm>
            <a:off x="457200" y="1798886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2925" y="1871811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542925" y="1954262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400" dirty="0"/>
          </a:p>
        </p:txBody>
      </p:sp>
      <p:sp>
        <p:nvSpPr>
          <p:cNvPr id="36" name="Text 34"/>
          <p:cNvSpPr/>
          <p:nvPr/>
        </p:nvSpPr>
        <p:spPr>
          <a:xfrm>
            <a:off x="542925" y="2020937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+ 4-Persona</a:t>
            </a:r>
            <a:endParaRPr lang="en-US" sz="350" dirty="0"/>
          </a:p>
        </p:txBody>
      </p:sp>
      <p:sp>
        <p:nvSpPr>
          <p:cNvPr id="37" name="Text 35"/>
          <p:cNvSpPr/>
          <p:nvPr/>
        </p:nvSpPr>
        <p:spPr>
          <a:xfrm>
            <a:off x="4526607" y="1913037"/>
            <a:ext cx="92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55493" y="1798886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41218" y="1871811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450" dirty="0"/>
          </a:p>
        </p:txBody>
      </p:sp>
      <p:sp>
        <p:nvSpPr>
          <p:cNvPr id="40" name="Text 38"/>
          <p:cNvSpPr/>
          <p:nvPr/>
        </p:nvSpPr>
        <p:spPr>
          <a:xfrm>
            <a:off x="4741218" y="1954262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2일 209커밋 7릴리스</a:t>
            </a:r>
            <a:endParaRPr lang="en-US" sz="400" dirty="0"/>
          </a:p>
        </p:txBody>
      </p:sp>
      <p:sp>
        <p:nvSpPr>
          <p:cNvPr id="41" name="Text 39"/>
          <p:cNvSpPr/>
          <p:nvPr/>
        </p:nvSpPr>
        <p:spPr>
          <a:xfrm>
            <a:off x="4741218" y="2020937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후 폭발적 속도</a:t>
            </a:r>
            <a:endParaRPr lang="en-US" sz="350" dirty="0"/>
          </a:p>
        </p:txBody>
      </p:sp>
      <p:sp>
        <p:nvSpPr>
          <p:cNvPr id="42" name="Text 40"/>
          <p:cNvSpPr/>
          <p:nvPr/>
        </p:nvSpPr>
        <p:spPr>
          <a:xfrm>
            <a:off x="457200" y="2192238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2925" y="2265164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450" dirty="0"/>
          </a:p>
        </p:txBody>
      </p:sp>
      <p:sp>
        <p:nvSpPr>
          <p:cNvPr id="44" name="Text 42"/>
          <p:cNvSpPr/>
          <p:nvPr/>
        </p:nvSpPr>
        <p:spPr>
          <a:xfrm>
            <a:off x="542925" y="2347615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Domain이 L0-L3에 의존 금지</a:t>
            </a:r>
            <a:endParaRPr lang="en-US" sz="400" dirty="0"/>
          </a:p>
        </p:txBody>
      </p:sp>
      <p:sp>
        <p:nvSpPr>
          <p:cNvPr id="45" name="Text 43"/>
          <p:cNvSpPr/>
          <p:nvPr/>
        </p:nvSpPr>
        <p:spPr>
          <a:xfrm>
            <a:off x="542925" y="2414290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dependency discipline</a:t>
            </a:r>
            <a:endParaRPr lang="en-US" sz="350" dirty="0"/>
          </a:p>
        </p:txBody>
      </p:sp>
      <p:sp>
        <p:nvSpPr>
          <p:cNvPr id="46" name="Text 44"/>
          <p:cNvSpPr/>
          <p:nvPr/>
        </p:nvSpPr>
        <p:spPr>
          <a:xfrm>
            <a:off x="4526607" y="2306389"/>
            <a:ext cx="92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55493" y="2192238"/>
            <a:ext cx="4031307" cy="342602"/>
          </a:xfrm>
          <a:prstGeom prst="roundRect">
            <a:avLst>
              <a:gd name="adj" fmla="val 1112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41218" y="2265164"/>
            <a:ext cx="393705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450" dirty="0"/>
          </a:p>
        </p:txBody>
      </p:sp>
      <p:sp>
        <p:nvSpPr>
          <p:cNvPr id="49" name="Text 47"/>
          <p:cNvSpPr/>
          <p:nvPr/>
        </p:nvSpPr>
        <p:spPr>
          <a:xfrm>
            <a:off x="4741218" y="2347615"/>
            <a:ext cx="39370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➔ REODE 피봇, 코어 수정 0줄</a:t>
            </a:r>
            <a:endParaRPr lang="en-US" sz="400" dirty="0"/>
          </a:p>
        </p:txBody>
      </p:sp>
      <p:sp>
        <p:nvSpPr>
          <p:cNvPr id="50" name="Text 48"/>
          <p:cNvSpPr/>
          <p:nvPr/>
        </p:nvSpPr>
        <p:spPr>
          <a:xfrm>
            <a:off x="4741218" y="2414290"/>
            <a:ext cx="393705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아키텍처가 피봇을 가능하게 함</a:t>
            </a:r>
            <a:endParaRPr lang="en-US" sz="350" dirty="0"/>
          </a:p>
        </p:txBody>
      </p:sp>
      <p:sp>
        <p:nvSpPr>
          <p:cNvPr id="51" name="Text 49"/>
          <p:cNvSpPr/>
          <p:nvPr/>
        </p:nvSpPr>
        <p:spPr>
          <a:xfrm>
            <a:off x="457200" y="5010150"/>
            <a:ext cx="121732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CANNOT produced a measurable outcome.</a:t>
            </a:r>
            <a:endParaRPr lang="en-US" sz="400" dirty="0"/>
          </a:p>
        </p:txBody>
      </p:sp>
      <p:sp>
        <p:nvSpPr>
          <p:cNvPr id="52" name="Text 50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26</a:t>
            </a:r>
            <a:endParaRPr lang="en-US" sz="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4350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Decisions (21)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1402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결정은 대안을 의식적으로 포기합니다. 포기한 이유가 엔지니어링 판단의 본질입니다.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18827"/>
            <a:ext cx="2692301" cy="107752"/>
          </a:xfrm>
          <a:prstGeom prst="roundRect">
            <a:avLst>
              <a:gd name="adj" fmla="val 23573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644128"/>
            <a:ext cx="259069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(7)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457200" y="764530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802630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vs Flat</a:t>
            </a:r>
            <a:endParaRPr lang="en-US" sz="350" dirty="0"/>
          </a:p>
        </p:txBody>
      </p:sp>
      <p:sp>
        <p:nvSpPr>
          <p:cNvPr id="10" name="Text 8"/>
          <p:cNvSpPr/>
          <p:nvPr/>
        </p:nvSpPr>
        <p:spPr>
          <a:xfrm>
            <a:off x="507950" y="850255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discipline enables domain pivot</a:t>
            </a:r>
            <a:endParaRPr lang="en-US" sz="300" dirty="0"/>
          </a:p>
        </p:txBody>
      </p:sp>
      <p:sp>
        <p:nvSpPr>
          <p:cNvPr id="11" name="Text 9"/>
          <p:cNvSpPr/>
          <p:nvPr/>
        </p:nvSpPr>
        <p:spPr>
          <a:xfrm>
            <a:off x="457200" y="961281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999381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cross-cut vs L3 embedded</a:t>
            </a:r>
            <a:endParaRPr lang="en-US" sz="350" dirty="0"/>
          </a:p>
        </p:txBody>
      </p:sp>
      <p:sp>
        <p:nvSpPr>
          <p:cNvPr id="13" name="Text 11"/>
          <p:cNvSpPr/>
          <p:nvPr/>
        </p:nvSpPr>
        <p:spPr>
          <a:xfrm>
            <a:off x="507950" y="1047006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violation resolved at v0.30</a:t>
            </a:r>
            <a:endParaRPr lang="en-US" sz="300" dirty="0"/>
          </a:p>
        </p:txBody>
      </p:sp>
      <p:sp>
        <p:nvSpPr>
          <p:cNvPr id="14" name="Text 12"/>
          <p:cNvSpPr/>
          <p:nvPr/>
        </p:nvSpPr>
        <p:spPr>
          <a:xfrm>
            <a:off x="457200" y="1158032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50" y="1196132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co-locate vs ports/</a:t>
            </a:r>
            <a:endParaRPr lang="en-US" sz="350" dirty="0"/>
          </a:p>
        </p:txBody>
      </p:sp>
      <p:sp>
        <p:nvSpPr>
          <p:cNvPr id="16" name="Text 14"/>
          <p:cNvSpPr/>
          <p:nvPr/>
        </p:nvSpPr>
        <p:spPr>
          <a:xfrm>
            <a:off x="507950" y="1243757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infra/ports; put Protocol next to consumer</a:t>
            </a:r>
            <a:endParaRPr lang="en-US" sz="300" dirty="0"/>
          </a:p>
        </p:txBody>
      </p:sp>
      <p:sp>
        <p:nvSpPr>
          <p:cNvPr id="17" name="Text 15"/>
          <p:cNvSpPr/>
          <p:nvPr/>
        </p:nvSpPr>
        <p:spPr>
          <a:xfrm>
            <a:off x="457200" y="1354782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950" y="1392882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runtime.py split vs monolith</a:t>
            </a:r>
            <a:endParaRPr lang="en-US" sz="350" dirty="0"/>
          </a:p>
        </p:txBody>
      </p:sp>
      <p:sp>
        <p:nvSpPr>
          <p:cNvPr id="19" name="Text 17"/>
          <p:cNvSpPr/>
          <p:nvPr/>
        </p:nvSpPr>
        <p:spPr>
          <a:xfrm>
            <a:off x="507950" y="1440507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1476L ➔ 517L main + 4 modules</a:t>
            </a:r>
            <a:endParaRPr lang="en-US" sz="300" dirty="0"/>
          </a:p>
        </p:txBody>
      </p:sp>
      <p:sp>
        <p:nvSpPr>
          <p:cNvPr id="20" name="Text 18"/>
          <p:cNvSpPr/>
          <p:nvPr/>
        </p:nvSpPr>
        <p:spPr>
          <a:xfrm>
            <a:off x="457200" y="1551533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1589633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vs hardwire</a:t>
            </a:r>
            <a:endParaRPr lang="en-US" sz="350" dirty="0"/>
          </a:p>
        </p:txBody>
      </p:sp>
      <p:sp>
        <p:nvSpPr>
          <p:cNvPr id="22" name="Text 20"/>
          <p:cNvSpPr/>
          <p:nvPr/>
        </p:nvSpPr>
        <p:spPr>
          <a:xfrm>
            <a:off x="507950" y="1637258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Zero-cost domain pivot</a:t>
            </a:r>
            <a:endParaRPr lang="en-US" sz="300" dirty="0"/>
          </a:p>
        </p:txBody>
      </p:sp>
      <p:sp>
        <p:nvSpPr>
          <p:cNvPr id="23" name="Text 21"/>
          <p:cNvSpPr/>
          <p:nvPr/>
        </p:nvSpPr>
        <p:spPr>
          <a:xfrm>
            <a:off x="457200" y="1748284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950" y="1786384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vs custom DAG</a:t>
            </a:r>
            <a:endParaRPr lang="en-US" sz="350" dirty="0"/>
          </a:p>
        </p:txBody>
      </p:sp>
      <p:sp>
        <p:nvSpPr>
          <p:cNvPr id="25" name="Text 23"/>
          <p:cNvSpPr/>
          <p:nvPr/>
        </p:nvSpPr>
        <p:spPr>
          <a:xfrm>
            <a:off x="507950" y="1834009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ecosystem, Send API for parallel</a:t>
            </a:r>
            <a:endParaRPr lang="en-US" sz="300" dirty="0"/>
          </a:p>
        </p:txBody>
      </p:sp>
      <p:sp>
        <p:nvSpPr>
          <p:cNvPr id="26" name="Text 24"/>
          <p:cNvSpPr/>
          <p:nvPr/>
        </p:nvSpPr>
        <p:spPr>
          <a:xfrm>
            <a:off x="457200" y="1945035"/>
            <a:ext cx="2692301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7950" y="1983135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 vs registry</a:t>
            </a:r>
            <a:endParaRPr lang="en-US" sz="350" dirty="0"/>
          </a:p>
        </p:txBody>
      </p:sp>
      <p:sp>
        <p:nvSpPr>
          <p:cNvPr id="28" name="Text 26"/>
          <p:cNvSpPr/>
          <p:nvPr/>
        </p:nvSpPr>
        <p:spPr>
          <a:xfrm>
            <a:off x="507950" y="2030760"/>
            <a:ext cx="2642616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registry; config.toml direct</a:t>
            </a:r>
            <a:endParaRPr lang="en-US" sz="300" dirty="0"/>
          </a:p>
        </p:txBody>
      </p:sp>
      <p:sp>
        <p:nvSpPr>
          <p:cNvPr id="29" name="Text 27"/>
          <p:cNvSpPr/>
          <p:nvPr/>
        </p:nvSpPr>
        <p:spPr>
          <a:xfrm>
            <a:off x="3225701" y="618827"/>
            <a:ext cx="2692450" cy="107752"/>
          </a:xfrm>
          <a:prstGeom prst="roundRect">
            <a:avLst>
              <a:gd name="adj" fmla="val 23573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01901" y="644128"/>
            <a:ext cx="259085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System (7)</a:t>
            </a:r>
            <a:endParaRPr lang="en-US" sz="400" dirty="0"/>
          </a:p>
        </p:txBody>
      </p:sp>
      <p:sp>
        <p:nvSpPr>
          <p:cNvPr id="31" name="Text 29"/>
          <p:cNvSpPr/>
          <p:nvPr/>
        </p:nvSpPr>
        <p:spPr>
          <a:xfrm>
            <a:off x="3225701" y="764530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276451" y="802630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vs eager tool loading</a:t>
            </a:r>
            <a:endParaRPr lang="en-US" sz="350" dirty="0"/>
          </a:p>
        </p:txBody>
      </p:sp>
      <p:sp>
        <p:nvSpPr>
          <p:cNvPr id="33" name="Text 31"/>
          <p:cNvSpPr/>
          <p:nvPr/>
        </p:nvSpPr>
        <p:spPr>
          <a:xfrm>
            <a:off x="3276451" y="850255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context savings</a:t>
            </a:r>
            <a:endParaRPr lang="en-US" sz="300" dirty="0"/>
          </a:p>
        </p:txBody>
      </p:sp>
      <p:sp>
        <p:nvSpPr>
          <p:cNvPr id="34" name="Text 32"/>
          <p:cNvSpPr/>
          <p:nvPr/>
        </p:nvSpPr>
        <p:spPr>
          <a:xfrm>
            <a:off x="3225701" y="961281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276451" y="999381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inherit vs sandbox</a:t>
            </a:r>
            <a:endParaRPr lang="en-US" sz="350" dirty="0"/>
          </a:p>
        </p:txBody>
      </p:sp>
      <p:sp>
        <p:nvSpPr>
          <p:cNvPr id="36" name="Text 34"/>
          <p:cNvSpPr/>
          <p:nvPr/>
        </p:nvSpPr>
        <p:spPr>
          <a:xfrm>
            <a:off x="3276451" y="1047006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capability, memory isolation</a:t>
            </a:r>
            <a:endParaRPr lang="en-US" sz="300" dirty="0"/>
          </a:p>
        </p:txBody>
      </p:sp>
      <p:sp>
        <p:nvSpPr>
          <p:cNvPr id="37" name="Text 35"/>
          <p:cNvSpPr/>
          <p:nvPr/>
        </p:nvSpPr>
        <p:spPr>
          <a:xfrm>
            <a:off x="3225701" y="1158032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276451" y="1196132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Queue(time) x DAG(structure)</a:t>
            </a:r>
            <a:endParaRPr lang="en-US" sz="350" dirty="0"/>
          </a:p>
        </p:txBody>
      </p:sp>
      <p:sp>
        <p:nvSpPr>
          <p:cNvPr id="39" name="Text 37"/>
          <p:cNvSpPr/>
          <p:nvPr/>
        </p:nvSpPr>
        <p:spPr>
          <a:xfrm>
            <a:off x="3276451" y="1243757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concerns, not merged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3225701" y="1354782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276451" y="1392882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vs token limit</a:t>
            </a:r>
            <a:endParaRPr lang="en-US" sz="350" dirty="0"/>
          </a:p>
        </p:txBody>
      </p:sp>
      <p:sp>
        <p:nvSpPr>
          <p:cNvPr id="42" name="Text 40"/>
          <p:cNvSpPr/>
          <p:nvPr/>
        </p:nvSpPr>
        <p:spPr>
          <a:xfrm>
            <a:off x="3276451" y="1440507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removed; 80%/95% compression instead</a:t>
            </a:r>
            <a:endParaRPr lang="en-US" sz="300" dirty="0"/>
          </a:p>
        </p:txBody>
      </p:sp>
      <p:sp>
        <p:nvSpPr>
          <p:cNvPr id="43" name="Text 41"/>
          <p:cNvSpPr/>
          <p:nvPr/>
        </p:nvSpPr>
        <p:spPr>
          <a:xfrm>
            <a:off x="3225701" y="1551533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276451" y="1589633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vs single LLM</a:t>
            </a:r>
            <a:endParaRPr lang="en-US" sz="350" dirty="0"/>
          </a:p>
        </p:txBody>
      </p:sp>
      <p:sp>
        <p:nvSpPr>
          <p:cNvPr id="45" name="Text 43"/>
          <p:cNvSpPr/>
          <p:nvPr/>
        </p:nvSpPr>
        <p:spPr>
          <a:xfrm>
            <a:off x="3276451" y="1637258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+ cross-validation</a:t>
            </a:r>
            <a:endParaRPr lang="en-US" sz="300" dirty="0"/>
          </a:p>
        </p:txBody>
      </p:sp>
      <p:sp>
        <p:nvSpPr>
          <p:cNvPr id="46" name="Text 44"/>
          <p:cNvSpPr/>
          <p:nvPr/>
        </p:nvSpPr>
        <p:spPr>
          <a:xfrm>
            <a:off x="3225701" y="1748284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276451" y="1786384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API vs Chat Completions</a:t>
            </a:r>
            <a:endParaRPr lang="en-US" sz="350" dirty="0"/>
          </a:p>
        </p:txBody>
      </p:sp>
      <p:sp>
        <p:nvSpPr>
          <p:cNvPr id="48" name="Text 46"/>
          <p:cNvSpPr/>
          <p:nvPr/>
        </p:nvSpPr>
        <p:spPr>
          <a:xfrm>
            <a:off x="3276451" y="1834009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native tool_use support</a:t>
            </a:r>
            <a:endParaRPr lang="en-US" sz="300" dirty="0"/>
          </a:p>
        </p:txBody>
      </p:sp>
      <p:sp>
        <p:nvSpPr>
          <p:cNvPr id="49" name="Text 47"/>
          <p:cNvSpPr/>
          <p:nvPr/>
        </p:nvSpPr>
        <p:spPr>
          <a:xfrm>
            <a:off x="3225701" y="1945035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276451" y="1983135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web search vs Brave MCP</a:t>
            </a:r>
            <a:endParaRPr lang="en-US" sz="350" dirty="0"/>
          </a:p>
        </p:txBody>
      </p:sp>
      <p:sp>
        <p:nvSpPr>
          <p:cNvPr id="51" name="Text 49"/>
          <p:cNvSpPr/>
          <p:nvPr/>
        </p:nvSpPr>
        <p:spPr>
          <a:xfrm>
            <a:off x="3276451" y="2030760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fallback, MCP removed</a:t>
            </a:r>
            <a:endParaRPr lang="en-US" sz="300" dirty="0"/>
          </a:p>
        </p:txBody>
      </p:sp>
      <p:sp>
        <p:nvSpPr>
          <p:cNvPr id="52" name="Text 50"/>
          <p:cNvSpPr/>
          <p:nvPr/>
        </p:nvSpPr>
        <p:spPr>
          <a:xfrm>
            <a:off x="5994350" y="618827"/>
            <a:ext cx="2692450" cy="107752"/>
          </a:xfrm>
          <a:prstGeom prst="roundRect">
            <a:avLst>
              <a:gd name="adj" fmla="val 23573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070550" y="644128"/>
            <a:ext cx="259085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/ Verification (7)</a:t>
            </a:r>
            <a:endParaRPr lang="en-US" sz="400" dirty="0"/>
          </a:p>
        </p:txBody>
      </p:sp>
      <p:sp>
        <p:nvSpPr>
          <p:cNvPr id="54" name="Text 52"/>
          <p:cNvSpPr/>
          <p:nvPr/>
        </p:nvSpPr>
        <p:spPr>
          <a:xfrm>
            <a:off x="5994350" y="764530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45101" y="802630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vs shared state</a:t>
            </a:r>
            <a:endParaRPr lang="en-US" sz="350" dirty="0"/>
          </a:p>
        </p:txBody>
      </p:sp>
      <p:sp>
        <p:nvSpPr>
          <p:cNvPr id="56" name="Text 54"/>
          <p:cNvSpPr/>
          <p:nvPr/>
        </p:nvSpPr>
        <p:spPr>
          <a:xfrm>
            <a:off x="6045101" y="850255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anchoring bias in evaluators</a:t>
            </a:r>
            <a:endParaRPr lang="en-US" sz="300" dirty="0"/>
          </a:p>
        </p:txBody>
      </p:sp>
      <p:sp>
        <p:nvSpPr>
          <p:cNvPr id="57" name="Text 55"/>
          <p:cNvSpPr/>
          <p:nvPr/>
        </p:nvSpPr>
        <p:spPr>
          <a:xfrm>
            <a:off x="5994350" y="961281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045101" y="999381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6-type vs ad-hoc</a:t>
            </a:r>
            <a:endParaRPr lang="en-US" sz="350" dirty="0"/>
          </a:p>
        </p:txBody>
      </p:sp>
      <p:sp>
        <p:nvSpPr>
          <p:cNvPr id="59" name="Text 57"/>
          <p:cNvSpPr/>
          <p:nvPr/>
        </p:nvSpPr>
        <p:spPr>
          <a:xfrm>
            <a:off x="6045101" y="1047006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bias detection</a:t>
            </a:r>
            <a:endParaRPr lang="en-US" sz="300" dirty="0"/>
          </a:p>
        </p:txBody>
      </p:sp>
      <p:sp>
        <p:nvSpPr>
          <p:cNvPr id="60" name="Text 58"/>
          <p:cNvSpPr/>
          <p:nvPr/>
        </p:nvSpPr>
        <p:spPr>
          <a:xfrm>
            <a:off x="5994350" y="1158032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045101" y="1196132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vs simple threshold</a:t>
            </a:r>
            <a:endParaRPr lang="en-US" sz="350" dirty="0"/>
          </a:p>
        </p:txBody>
      </p:sp>
      <p:sp>
        <p:nvSpPr>
          <p:cNvPr id="62" name="Text 60"/>
          <p:cNvSpPr/>
          <p:nvPr/>
        </p:nvSpPr>
        <p:spPr>
          <a:xfrm>
            <a:off x="6045101" y="1243757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drift detection, not point checks</a:t>
            </a:r>
            <a:endParaRPr lang="en-US" sz="300" dirty="0"/>
          </a:p>
        </p:txBody>
      </p:sp>
      <p:sp>
        <p:nvSpPr>
          <p:cNvPr id="63" name="Text 61"/>
          <p:cNvSpPr/>
          <p:nvPr/>
        </p:nvSpPr>
        <p:spPr>
          <a:xfrm>
            <a:off x="5994350" y="1354782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045101" y="1392882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vs always output</a:t>
            </a:r>
            <a:endParaRPr lang="en-US" sz="350" dirty="0"/>
          </a:p>
        </p:txBody>
      </p:sp>
      <p:sp>
        <p:nvSpPr>
          <p:cNvPr id="65" name="Text 63"/>
          <p:cNvSpPr/>
          <p:nvPr/>
        </p:nvSpPr>
        <p:spPr>
          <a:xfrm>
            <a:off x="6045101" y="1440507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 &gt;= 0.7 threshold</a:t>
            </a:r>
            <a:endParaRPr lang="en-US" sz="300" dirty="0"/>
          </a:p>
        </p:txBody>
      </p:sp>
      <p:sp>
        <p:nvSpPr>
          <p:cNvPr id="66" name="Text 64"/>
          <p:cNvSpPr/>
          <p:nvPr/>
        </p:nvSpPr>
        <p:spPr>
          <a:xfrm>
            <a:off x="5994350" y="1551533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045101" y="1589633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pairwise vs absolute scoring</a:t>
            </a:r>
            <a:endParaRPr lang="en-US" sz="350" dirty="0"/>
          </a:p>
        </p:txBody>
      </p:sp>
      <p:sp>
        <p:nvSpPr>
          <p:cNvPr id="68" name="Text 66"/>
          <p:cNvSpPr/>
          <p:nvPr/>
        </p:nvSpPr>
        <p:spPr>
          <a:xfrm>
            <a:off x="6045101" y="1637258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ranking for RLHF</a:t>
            </a:r>
            <a:endParaRPr lang="en-US" sz="300" dirty="0"/>
          </a:p>
        </p:txBody>
      </p:sp>
      <p:sp>
        <p:nvSpPr>
          <p:cNvPr id="69" name="Text 67"/>
          <p:cNvSpPr/>
          <p:nvPr/>
        </p:nvSpPr>
        <p:spPr>
          <a:xfrm>
            <a:off x="5994350" y="1748284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045101" y="1786384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PSM causal vs correlation</a:t>
            </a:r>
            <a:endParaRPr lang="en-US" sz="350" dirty="0"/>
          </a:p>
        </p:txBody>
      </p:sp>
      <p:sp>
        <p:nvSpPr>
          <p:cNvPr id="71" name="Text 69"/>
          <p:cNvSpPr/>
          <p:nvPr/>
        </p:nvSpPr>
        <p:spPr>
          <a:xfrm>
            <a:off x="6045101" y="1834009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inference, not just similarity</a:t>
            </a:r>
            <a:endParaRPr lang="en-US" sz="300" dirty="0"/>
          </a:p>
        </p:txBody>
      </p:sp>
      <p:sp>
        <p:nvSpPr>
          <p:cNvPr id="72" name="Text 70"/>
          <p:cNvSpPr/>
          <p:nvPr/>
        </p:nvSpPr>
        <p:spPr>
          <a:xfrm>
            <a:off x="5994350" y="1945035"/>
            <a:ext cx="2692450" cy="171450"/>
          </a:xfrm>
          <a:prstGeom prst="roundRect">
            <a:avLst>
              <a:gd name="adj" fmla="val 1481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045101" y="1983135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vs flat</a:t>
            </a:r>
            <a:endParaRPr lang="en-US" sz="350" dirty="0"/>
          </a:p>
        </p:txBody>
      </p:sp>
      <p:sp>
        <p:nvSpPr>
          <p:cNvPr id="74" name="Text 72"/>
          <p:cNvSpPr/>
          <p:nvPr/>
        </p:nvSpPr>
        <p:spPr>
          <a:xfrm>
            <a:off x="6045101" y="2030760"/>
            <a:ext cx="264276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persistence, budget allocation</a:t>
            </a:r>
            <a:endParaRPr lang="en-US" sz="300" dirty="0"/>
          </a:p>
        </p:txBody>
      </p:sp>
      <p:sp>
        <p:nvSpPr>
          <p:cNvPr id="75" name="Text 73"/>
          <p:cNvSpPr/>
          <p:nvPr/>
        </p:nvSpPr>
        <p:spPr>
          <a:xfrm>
            <a:off x="457200" y="5010150"/>
            <a:ext cx="187569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conscious trade-offs, each with documented rationale in ADR or CHANGELOG</a:t>
            </a:r>
            <a:endParaRPr lang="en-US" sz="400" dirty="0"/>
          </a:p>
        </p:txBody>
      </p:sp>
      <p:sp>
        <p:nvSpPr>
          <p:cNvPr id="76" name="Text 7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26</a:t>
            </a:r>
            <a:endParaRPr lang="en-US" sz="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33199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v0.30.0 — By the Numbers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77602"/>
            <a:ext cx="2019300" cy="622102"/>
          </a:xfrm>
          <a:prstGeom prst="roundRect">
            <a:avLst>
              <a:gd name="adj" fmla="val 81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0253" y="688628"/>
            <a:ext cx="18331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0253" y="983903"/>
            <a:ext cx="183319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550253" y="1041053"/>
            <a:ext cx="183319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300" dirty="0"/>
          </a:p>
        </p:txBody>
      </p:sp>
      <p:sp>
        <p:nvSpPr>
          <p:cNvPr id="9" name="Text 7"/>
          <p:cNvSpPr/>
          <p:nvPr/>
        </p:nvSpPr>
        <p:spPr>
          <a:xfrm>
            <a:off x="2527250" y="577602"/>
            <a:ext cx="2019449" cy="622102"/>
          </a:xfrm>
          <a:prstGeom prst="roundRect">
            <a:avLst>
              <a:gd name="adj" fmla="val 81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20302" y="688628"/>
            <a:ext cx="18333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3,219+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20302" y="983903"/>
            <a:ext cx="183334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400" dirty="0"/>
          </a:p>
        </p:txBody>
      </p:sp>
      <p:sp>
        <p:nvSpPr>
          <p:cNvPr id="12" name="Text 10"/>
          <p:cNvSpPr/>
          <p:nvPr/>
        </p:nvSpPr>
        <p:spPr>
          <a:xfrm>
            <a:off x="2620302" y="1041053"/>
            <a:ext cx="18333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Regressions</a:t>
            </a:r>
            <a:endParaRPr lang="en-US" sz="300" dirty="0"/>
          </a:p>
        </p:txBody>
      </p:sp>
      <p:sp>
        <p:nvSpPr>
          <p:cNvPr id="13" name="Text 11"/>
          <p:cNvSpPr/>
          <p:nvPr/>
        </p:nvSpPr>
        <p:spPr>
          <a:xfrm>
            <a:off x="4597450" y="577602"/>
            <a:ext cx="2019300" cy="622102"/>
          </a:xfrm>
          <a:prstGeom prst="roundRect">
            <a:avLst>
              <a:gd name="adj" fmla="val 81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90503" y="688628"/>
            <a:ext cx="18331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0503" y="983903"/>
            <a:ext cx="183319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400" dirty="0"/>
          </a:p>
        </p:txBody>
      </p:sp>
      <p:sp>
        <p:nvSpPr>
          <p:cNvPr id="16" name="Text 14"/>
          <p:cNvSpPr/>
          <p:nvPr/>
        </p:nvSpPr>
        <p:spPr>
          <a:xfrm>
            <a:off x="4690503" y="1041053"/>
            <a:ext cx="183319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</a:t>
            </a:r>
            <a:endParaRPr lang="en-US" sz="300" dirty="0"/>
          </a:p>
        </p:txBody>
      </p:sp>
      <p:sp>
        <p:nvSpPr>
          <p:cNvPr id="17" name="Text 15"/>
          <p:cNvSpPr/>
          <p:nvPr/>
        </p:nvSpPr>
        <p:spPr>
          <a:xfrm>
            <a:off x="6667500" y="577602"/>
            <a:ext cx="2019300" cy="622102"/>
          </a:xfrm>
          <a:prstGeom prst="roundRect">
            <a:avLst>
              <a:gd name="adj" fmla="val 81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60553" y="688628"/>
            <a:ext cx="18331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0553" y="983903"/>
            <a:ext cx="183319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400" dirty="0"/>
          </a:p>
        </p:txBody>
      </p:sp>
      <p:sp>
        <p:nvSpPr>
          <p:cNvPr id="20" name="Text 18"/>
          <p:cNvSpPr/>
          <p:nvPr/>
        </p:nvSpPr>
        <p:spPr>
          <a:xfrm>
            <a:off x="6760553" y="1041053"/>
            <a:ext cx="183319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days</a:t>
            </a:r>
            <a:endParaRPr lang="en-US" sz="300" dirty="0"/>
          </a:p>
        </p:txBody>
      </p:sp>
      <p:sp>
        <p:nvSpPr>
          <p:cNvPr id="21" name="Text 19"/>
          <p:cNvSpPr/>
          <p:nvPr/>
        </p:nvSpPr>
        <p:spPr>
          <a:xfrm>
            <a:off x="457200" y="1275904"/>
            <a:ext cx="1329184" cy="364927"/>
          </a:xfrm>
          <a:prstGeom prst="roundRect">
            <a:avLst>
              <a:gd name="adj" fmla="val 104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8292" y="1348829"/>
            <a:ext cx="1206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8292" y="1520279"/>
            <a:ext cx="12069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350" dirty="0"/>
          </a:p>
        </p:txBody>
      </p:sp>
      <p:sp>
        <p:nvSpPr>
          <p:cNvPr id="24" name="Text 22"/>
          <p:cNvSpPr/>
          <p:nvPr/>
        </p:nvSpPr>
        <p:spPr>
          <a:xfrm>
            <a:off x="1837134" y="1275904"/>
            <a:ext cx="1329333" cy="364927"/>
          </a:xfrm>
          <a:prstGeom prst="roundRect">
            <a:avLst>
              <a:gd name="adj" fmla="val 104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898225" y="1348829"/>
            <a:ext cx="1207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98225" y="1520279"/>
            <a:ext cx="120715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350" dirty="0"/>
          </a:p>
        </p:txBody>
      </p:sp>
      <p:sp>
        <p:nvSpPr>
          <p:cNvPr id="27" name="Text 25"/>
          <p:cNvSpPr/>
          <p:nvPr/>
        </p:nvSpPr>
        <p:spPr>
          <a:xfrm>
            <a:off x="3217218" y="1275904"/>
            <a:ext cx="1329333" cy="364927"/>
          </a:xfrm>
          <a:prstGeom prst="roundRect">
            <a:avLst>
              <a:gd name="adj" fmla="val 104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78309" y="1348829"/>
            <a:ext cx="1207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8309" y="1520279"/>
            <a:ext cx="120715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</a:t>
            </a:r>
            <a:endParaRPr lang="en-US" sz="350" dirty="0"/>
          </a:p>
        </p:txBody>
      </p:sp>
      <p:sp>
        <p:nvSpPr>
          <p:cNvPr id="30" name="Text 28"/>
          <p:cNvSpPr/>
          <p:nvPr/>
        </p:nvSpPr>
        <p:spPr>
          <a:xfrm>
            <a:off x="4597301" y="1275904"/>
            <a:ext cx="1329333" cy="364927"/>
          </a:xfrm>
          <a:prstGeom prst="roundRect">
            <a:avLst>
              <a:gd name="adj" fmla="val 104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58392" y="1348829"/>
            <a:ext cx="1207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58392" y="1520279"/>
            <a:ext cx="120715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350" dirty="0"/>
          </a:p>
        </p:txBody>
      </p:sp>
      <p:sp>
        <p:nvSpPr>
          <p:cNvPr id="33" name="Text 31"/>
          <p:cNvSpPr/>
          <p:nvPr/>
        </p:nvSpPr>
        <p:spPr>
          <a:xfrm>
            <a:off x="5977384" y="1275904"/>
            <a:ext cx="1329333" cy="364927"/>
          </a:xfrm>
          <a:prstGeom prst="roundRect">
            <a:avLst>
              <a:gd name="adj" fmla="val 104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38475" y="1348829"/>
            <a:ext cx="1207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8475" y="1520279"/>
            <a:ext cx="120715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</a:t>
            </a:r>
            <a:endParaRPr lang="en-US" sz="350" dirty="0"/>
          </a:p>
        </p:txBody>
      </p:sp>
      <p:sp>
        <p:nvSpPr>
          <p:cNvPr id="36" name="Text 34"/>
          <p:cNvSpPr/>
          <p:nvPr/>
        </p:nvSpPr>
        <p:spPr>
          <a:xfrm>
            <a:off x="7357467" y="1275904"/>
            <a:ext cx="1329333" cy="364927"/>
          </a:xfrm>
          <a:prstGeom prst="roundRect">
            <a:avLst>
              <a:gd name="adj" fmla="val 104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418558" y="1348829"/>
            <a:ext cx="1207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18558" y="1520279"/>
            <a:ext cx="120715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Skills</a:t>
            </a:r>
            <a:endParaRPr lang="en-US" sz="350" dirty="0"/>
          </a:p>
        </p:txBody>
      </p:sp>
      <p:sp>
        <p:nvSpPr>
          <p:cNvPr id="39" name="Text 37"/>
          <p:cNvSpPr/>
          <p:nvPr/>
        </p:nvSpPr>
        <p:spPr>
          <a:xfrm>
            <a:off x="457200" y="1717030"/>
            <a:ext cx="8229600" cy="387102"/>
          </a:xfrm>
          <a:prstGeom prst="roundRect">
            <a:avLst>
              <a:gd name="adj" fmla="val 131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8226" y="1802755"/>
            <a:ext cx="816769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568226" y="1920180"/>
            <a:ext cx="389334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4426" y="1945481"/>
            <a:ext cx="24167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350" dirty="0"/>
          </a:p>
        </p:txBody>
      </p:sp>
      <p:sp>
        <p:nvSpPr>
          <p:cNvPr id="43" name="Text 41"/>
          <p:cNvSpPr/>
          <p:nvPr/>
        </p:nvSpPr>
        <p:spPr>
          <a:xfrm>
            <a:off x="995660" y="1920180"/>
            <a:ext cx="374600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71860" y="1945481"/>
            <a:ext cx="22664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350" dirty="0"/>
          </a:p>
        </p:txBody>
      </p:sp>
      <p:sp>
        <p:nvSpPr>
          <p:cNvPr id="45" name="Text 43"/>
          <p:cNvSpPr/>
          <p:nvPr/>
        </p:nvSpPr>
        <p:spPr>
          <a:xfrm>
            <a:off x="1408361" y="1920180"/>
            <a:ext cx="381893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484561" y="1945481"/>
            <a:ext cx="23408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350" dirty="0"/>
          </a:p>
        </p:txBody>
      </p:sp>
      <p:sp>
        <p:nvSpPr>
          <p:cNvPr id="47" name="Text 45"/>
          <p:cNvSpPr/>
          <p:nvPr/>
        </p:nvSpPr>
        <p:spPr>
          <a:xfrm>
            <a:off x="1828354" y="1920180"/>
            <a:ext cx="344835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904554" y="1945481"/>
            <a:ext cx="19628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Typer CLI</a:t>
            </a:r>
            <a:endParaRPr lang="en-US" sz="350" dirty="0"/>
          </a:p>
        </p:txBody>
      </p:sp>
      <p:sp>
        <p:nvSpPr>
          <p:cNvPr id="49" name="Text 47"/>
          <p:cNvSpPr/>
          <p:nvPr/>
        </p:nvSpPr>
        <p:spPr>
          <a:xfrm>
            <a:off x="2211288" y="1920180"/>
            <a:ext cx="324296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287488" y="1945481"/>
            <a:ext cx="17533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TUI</a:t>
            </a:r>
            <a:endParaRPr lang="en-US" sz="350" dirty="0"/>
          </a:p>
        </p:txBody>
      </p:sp>
      <p:sp>
        <p:nvSpPr>
          <p:cNvPr id="51" name="Text 49"/>
          <p:cNvSpPr/>
          <p:nvPr/>
        </p:nvSpPr>
        <p:spPr>
          <a:xfrm>
            <a:off x="2573685" y="1920180"/>
            <a:ext cx="485626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649885" y="1945481"/>
            <a:ext cx="33989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350" dirty="0"/>
          </a:p>
        </p:txBody>
      </p:sp>
      <p:sp>
        <p:nvSpPr>
          <p:cNvPr id="53" name="Text 51"/>
          <p:cNvSpPr/>
          <p:nvPr/>
        </p:nvSpPr>
        <p:spPr>
          <a:xfrm>
            <a:off x="3097411" y="1920180"/>
            <a:ext cx="480566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173611" y="1945481"/>
            <a:ext cx="33472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GPT-5.4</a:t>
            </a:r>
            <a:endParaRPr lang="en-US" sz="350" dirty="0"/>
          </a:p>
        </p:txBody>
      </p:sp>
      <p:sp>
        <p:nvSpPr>
          <p:cNvPr id="55" name="Text 53"/>
          <p:cNvSpPr/>
          <p:nvPr/>
        </p:nvSpPr>
        <p:spPr>
          <a:xfrm>
            <a:off x="3616077" y="1920180"/>
            <a:ext cx="453479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692277" y="1945481"/>
            <a:ext cx="30710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GLM-5</a:t>
            </a:r>
            <a:endParaRPr lang="en-US" sz="350" dirty="0"/>
          </a:p>
        </p:txBody>
      </p:sp>
      <p:sp>
        <p:nvSpPr>
          <p:cNvPr id="57" name="Text 55"/>
          <p:cNvSpPr/>
          <p:nvPr/>
        </p:nvSpPr>
        <p:spPr>
          <a:xfrm>
            <a:off x="4107656" y="1920180"/>
            <a:ext cx="425500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183856" y="1945481"/>
            <a:ext cx="27856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350" dirty="0"/>
          </a:p>
        </p:txBody>
      </p:sp>
      <p:sp>
        <p:nvSpPr>
          <p:cNvPr id="59" name="Text 57"/>
          <p:cNvSpPr/>
          <p:nvPr/>
        </p:nvSpPr>
        <p:spPr>
          <a:xfrm>
            <a:off x="4571256" y="1920180"/>
            <a:ext cx="541437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647456" y="1945481"/>
            <a:ext cx="396817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mypy + ruff</a:t>
            </a:r>
            <a:endParaRPr lang="en-US" sz="350" dirty="0"/>
          </a:p>
        </p:txBody>
      </p:sp>
      <p:sp>
        <p:nvSpPr>
          <p:cNvPr id="61" name="Text 59"/>
          <p:cNvSpPr/>
          <p:nvPr/>
        </p:nvSpPr>
        <p:spPr>
          <a:xfrm>
            <a:off x="5150793" y="1920180"/>
            <a:ext cx="567035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226993" y="1945481"/>
            <a:ext cx="42292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package manager</a:t>
            </a:r>
            <a:endParaRPr lang="en-US" sz="350" dirty="0"/>
          </a:p>
        </p:txBody>
      </p:sp>
      <p:sp>
        <p:nvSpPr>
          <p:cNvPr id="63" name="Text 61"/>
          <p:cNvSpPr/>
          <p:nvPr/>
        </p:nvSpPr>
        <p:spPr>
          <a:xfrm>
            <a:off x="5755928" y="1920180"/>
            <a:ext cx="502741" cy="98227"/>
          </a:xfrm>
          <a:prstGeom prst="roundRect">
            <a:avLst>
              <a:gd name="adj" fmla="val 258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832128" y="1945481"/>
            <a:ext cx="35734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</a:t>
            </a:r>
            <a:endParaRPr lang="en-US" sz="350" dirty="0"/>
          </a:p>
        </p:txBody>
      </p:sp>
      <p:sp>
        <p:nvSpPr>
          <p:cNvPr id="65" name="Text 63"/>
          <p:cNvSpPr/>
          <p:nvPr/>
        </p:nvSpPr>
        <p:spPr>
          <a:xfrm>
            <a:off x="457200" y="5010150"/>
            <a:ext cx="163114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Claude Code. Scaffold-verified, CI-ratcheted, Hook-observed.</a:t>
            </a:r>
            <a:endParaRPr lang="en-US" sz="400" dirty="0"/>
          </a:p>
        </p:txBody>
      </p:sp>
      <p:sp>
        <p:nvSpPr>
          <p:cNvPr id="66" name="Text 64"/>
          <p:cNvSpPr/>
          <p:nvPr/>
        </p:nvSpPr>
        <p:spPr>
          <a:xfrm>
            <a:off x="8550920" y="5010150"/>
            <a:ext cx="13859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26</a:t>
            </a:r>
            <a:endParaRPr lang="en-US" sz="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774924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is a discipline.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62000" y="2035225"/>
            <a:ext cx="77724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시대의 소프트웨어 엔지니어링은 "무엇을 만들 것인가"뿐 아니라 "어떻게 만들게 할 것인가"입니다.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762000" y="2324100"/>
            <a:ext cx="362248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9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73026" y="2371725"/>
            <a:ext cx="1430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1162348" y="2366963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1295400" y="2324100"/>
            <a:ext cx="326529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9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406426" y="2371725"/>
            <a:ext cx="10656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400" dirty="0"/>
          </a:p>
        </p:txBody>
      </p:sp>
      <p:sp>
        <p:nvSpPr>
          <p:cNvPr id="10" name="Text 7"/>
          <p:cNvSpPr/>
          <p:nvPr/>
        </p:nvSpPr>
        <p:spPr>
          <a:xfrm>
            <a:off x="1660029" y="2366963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1793081" y="2324100"/>
            <a:ext cx="453330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9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904107" y="2371725"/>
            <a:ext cx="23590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2284512" y="2366963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2417564" y="2324100"/>
            <a:ext cx="478929" cy="152400"/>
          </a:xfrm>
          <a:prstGeom prst="roundRect">
            <a:avLst>
              <a:gd name="adj" fmla="val 25000"/>
            </a:avLst>
          </a:prstGeom>
          <a:solidFill>
            <a:srgbClr val="F97316">
              <a:alpha val="19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528590" y="2371725"/>
            <a:ext cx="26201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HOOKS</a:t>
            </a:r>
            <a:endParaRPr lang="en-US" sz="400" dirty="0"/>
          </a:p>
        </p:txBody>
      </p:sp>
      <p:sp>
        <p:nvSpPr>
          <p:cNvPr id="16" name="Text 13"/>
          <p:cNvSpPr/>
          <p:nvPr/>
        </p:nvSpPr>
        <p:spPr>
          <a:xfrm>
            <a:off x="2934593" y="2366963"/>
            <a:ext cx="579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3067645" y="2324100"/>
            <a:ext cx="679103" cy="152400"/>
          </a:xfrm>
          <a:prstGeom prst="roundRect">
            <a:avLst>
              <a:gd name="adj" fmla="val 25000"/>
            </a:avLst>
          </a:prstGeom>
          <a:solidFill>
            <a:srgbClr val="F5C542">
              <a:alpha val="19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78671" y="2371725"/>
            <a:ext cx="46619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</a:t>
            </a:r>
            <a:endParaRPr lang="en-US" sz="400" dirty="0"/>
          </a:p>
        </p:txBody>
      </p:sp>
      <p:sp>
        <p:nvSpPr>
          <p:cNvPr id="19" name="Text 16"/>
          <p:cNvSpPr/>
          <p:nvPr/>
        </p:nvSpPr>
        <p:spPr>
          <a:xfrm>
            <a:off x="762000" y="2679650"/>
            <a:ext cx="2489150" cy="311051"/>
          </a:xfrm>
          <a:prstGeom prst="roundRect">
            <a:avLst>
              <a:gd name="adj" fmla="val 163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98475" y="2765375"/>
            <a:ext cx="22605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Design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898475" y="2857351"/>
            <a:ext cx="22605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어떻게 작동하는지 이해하고, 제약으로 품질을 보증하는 워크플로우를 설계합니다.</a:t>
            </a:r>
            <a:endParaRPr lang="en-US" sz="350" dirty="0"/>
          </a:p>
        </p:txBody>
      </p:sp>
      <p:sp>
        <p:nvSpPr>
          <p:cNvPr id="22" name="Text 19"/>
          <p:cNvSpPr/>
          <p:nvPr/>
        </p:nvSpPr>
        <p:spPr>
          <a:xfrm>
            <a:off x="3327350" y="2679650"/>
            <a:ext cx="2489299" cy="311051"/>
          </a:xfrm>
          <a:prstGeom prst="roundRect">
            <a:avLst>
              <a:gd name="adj" fmla="val 163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463826" y="2765375"/>
            <a:ext cx="22606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3463826" y="2857351"/>
            <a:ext cx="226067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디커플링, Hook cross-cutting, DomainPort 플러그인으로 확장 가능한 시스템을 구축합니다.</a:t>
            </a:r>
            <a:endParaRPr lang="en-US" sz="350" dirty="0"/>
          </a:p>
        </p:txBody>
      </p:sp>
      <p:sp>
        <p:nvSpPr>
          <p:cNvPr id="25" name="Text 22"/>
          <p:cNvSpPr/>
          <p:nvPr/>
        </p:nvSpPr>
        <p:spPr>
          <a:xfrm>
            <a:off x="5892850" y="2679650"/>
            <a:ext cx="2489150" cy="311051"/>
          </a:xfrm>
          <a:prstGeom prst="roundRect">
            <a:avLst>
              <a:gd name="adj" fmla="val 163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029325" y="2765375"/>
            <a:ext cx="22605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Reasoning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6029325" y="2857351"/>
            <a:ext cx="226052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PSM 인과 추론, LLM-as-Judge, CUSUM 드리프트 감지로 도메인 전문 에이전트를 만듭니다.</a:t>
            </a:r>
            <a:endParaRPr lang="en-US" sz="350" dirty="0"/>
          </a:p>
        </p:txBody>
      </p:sp>
      <p:sp>
        <p:nvSpPr>
          <p:cNvPr id="28" name="Text 25"/>
          <p:cNvSpPr/>
          <p:nvPr/>
        </p:nvSpPr>
        <p:spPr>
          <a:xfrm>
            <a:off x="762000" y="3155752"/>
            <a:ext cx="10096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github.com/mangowhoiscloud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1828056" y="3143101"/>
            <a:ext cx="9525" cy="1015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913781" y="3160514"/>
            <a:ext cx="87849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mangowhoiscloud@gmail.com</a:t>
            </a:r>
            <a:endParaRPr lang="en-US" sz="500" dirty="0"/>
          </a:p>
        </p:txBody>
      </p:sp>
      <p:pic>
        <p:nvPicPr>
          <p:cNvPr id="31" name="Image 1" descr="/Users/mango/workspace/portfolio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254550"/>
            <a:ext cx="762000" cy="7620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62000" y="5057775"/>
            <a:ext cx="777240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v0.30.0 — Autonomous Execution Harness</a:t>
            </a:r>
            <a:endParaRPr lang="en-US" sz="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4019</Words>
  <Application>Microsoft Macintosh PowerPoint</Application>
  <PresentationFormat>화면 슬라이드 쇼(16:9)</PresentationFormat>
  <Paragraphs>1000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mng polar</cp:lastModifiedBy>
  <cp:revision>2</cp:revision>
  <dcterms:created xsi:type="dcterms:W3CDTF">2026-03-27T12:21:34Z</dcterms:created>
  <dcterms:modified xsi:type="dcterms:W3CDTF">2026-03-27T17:30:31Z</dcterms:modified>
</cp:coreProperties>
</file>