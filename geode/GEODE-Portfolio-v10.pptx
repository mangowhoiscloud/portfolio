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66" d="100"/>
          <a:sy n="166" d="100"/>
        </p:scale>
        <p:origin x="136" y="2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29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01" y="1151037"/>
            <a:ext cx="553938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47576" y="1211312"/>
            <a:ext cx="2866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353889" y="1151037"/>
            <a:ext cx="1417290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490365" y="1211312"/>
            <a:ext cx="11672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Daemon + Thin IPC Client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860030" y="1151037"/>
            <a:ext cx="954732" cy="206276"/>
          </a:xfrm>
          <a:prstGeom prst="roundRect">
            <a:avLst>
              <a:gd name="adj" fmla="val 24627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996505" y="1211312"/>
            <a:ext cx="6954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38-day build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11101" y="1509713"/>
            <a:ext cx="78762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1101" y="1890713"/>
            <a:ext cx="78762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{ observe → learn → act }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11101" y="2122438"/>
            <a:ext cx="5334000" cy="622250"/>
          </a:xfrm>
          <a:prstGeom prst="roundRect">
            <a:avLst>
              <a:gd name="adj" fmla="val 81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11101" y="2127200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6040338" y="2122438"/>
            <a:ext cx="0" cy="62225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11101" y="2739926"/>
            <a:ext cx="533400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34913" y="2122438"/>
            <a:ext cx="0" cy="622250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911126" y="2246263"/>
            <a:ext cx="5071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발산합니다.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11126" y="2468463"/>
            <a:ext cx="5071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1101" y="2947839"/>
            <a:ext cx="895648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80211" y="3071664"/>
            <a:ext cx="55742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80211" y="3351014"/>
            <a:ext cx="557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708249" y="2947839"/>
            <a:ext cx="984647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876470" y="3071664"/>
            <a:ext cx="6482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876470" y="3351014"/>
            <a:ext cx="6482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2794397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963829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2963829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759398" y="2947839"/>
            <a:ext cx="863501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28830" y="3071664"/>
            <a:ext cx="5246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928830" y="3351014"/>
            <a:ext cx="5246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724400" y="2947839"/>
            <a:ext cx="1252686" cy="612725"/>
          </a:xfrm>
          <a:prstGeom prst="roundRect">
            <a:avLst>
              <a:gd name="adj" fmla="val 8291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889940" y="3071664"/>
            <a:ext cx="9216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4889940" y="3351014"/>
            <a:ext cx="9216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11101" y="3687514"/>
            <a:ext cx="78762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days (Feb 21 ~ Mar 30)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tools +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 events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·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IPC events</a:t>
            </a:r>
            <a:endParaRPr lang="en-US" sz="600" dirty="0"/>
          </a:p>
        </p:txBody>
      </p:sp>
      <p:pic>
        <p:nvPicPr>
          <p:cNvPr id="34" name="Image 1" descr="/Users/mango/workspace/portfolio/geode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140" y="1481903"/>
            <a:ext cx="2044663" cy="204466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1101" y="5000625"/>
            <a:ext cx="12516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Portfolio v10. Harness Engineering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8238827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29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 — 4-Axis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LLM을 신뢰 가능한 시스템으로 수렴시키는 4개 제어 축. 루프가 데이터를 생산하고, 관측이 포착하고, 검증이 확인하고, 컨텍스트가 다음 반복을 제어합니다.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1981200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088827"/>
            <a:ext cx="1094106" cy="154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0626" y="1231702"/>
            <a:ext cx="6375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Control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062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주입 설계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20626" y="1739503"/>
            <a:ext cx="148343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6-Phase: template → override → skill → memory → bootstrap 순서로 동적 조립. LLM이 보는 것이 곧 결과.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3675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015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prompt caching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015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 동일 프롬프트 공유 → 입력 비용 </a:t>
            </a: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절감. 200 turns sliding window.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39901" y="863501"/>
            <a:ext cx="1981349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7637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3327" y="1088827"/>
            <a:ext cx="535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03327" y="1231702"/>
            <a:ext cx="535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Loop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676376" y="1482477"/>
            <a:ext cx="1708398" cy="796230"/>
          </a:xfrm>
          <a:prstGeom prst="roundRect">
            <a:avLst>
              <a:gd name="adj" fmla="val 670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80332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803327" y="1739503"/>
            <a:ext cx="1483587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while(tool_use), 최대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라운드. 자연 종료·수렴 감지(동일 에러 4회)·강제 텍스트 등 5가지 경로로 종료.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676376" y="2316807"/>
            <a:ext cx="1708398" cy="817215"/>
          </a:xfrm>
          <a:prstGeom prst="roundRect">
            <a:avLst>
              <a:gd name="adj" fmla="val 6216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812852" y="2415183"/>
            <a:ext cx="14641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tools × time_budget 자율 실행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12852" y="2662833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등급. TIER 0-1 병렬, TIER 2 비용 일괄 승인, TIER 3-4 HITL 순차. 3-Provider Failover.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22750" y="863501"/>
            <a:ext cx="1981200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226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86176" y="1088827"/>
            <a:ext cx="3802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1231702"/>
            <a:ext cx="3802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759226" y="1482477"/>
            <a:ext cx="1708249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86176" y="1583978"/>
            <a:ext cx="14834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비결정론 → 신뢰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86176" y="1739503"/>
            <a:ext cx="1581299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3-Layer → GEODE 5-Layer로 진화: 69.4 →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정확도. 단일 LLM 평가의 Confirmation Bias 제거.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59226" y="2450009"/>
            <a:ext cx="1708249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95701" y="2548384"/>
            <a:ext cx="14640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5-Layer + Cross-LLM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5701" y="2691259"/>
            <a:ext cx="146400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→ BiasBuster(6종) → Claude×GPT 교차검증(α≥0.67) → Confidence Gate(0.7).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05451" y="863501"/>
            <a:ext cx="1981349" cy="2578893"/>
          </a:xfrm>
          <a:prstGeom prst="roundRect">
            <a:avLst>
              <a:gd name="adj" fmla="val 3846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841927" y="99997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68877" y="1088827"/>
            <a:ext cx="4493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8877" y="1231702"/>
            <a:ext cx="449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841927" y="1482477"/>
            <a:ext cx="1708398" cy="891332"/>
          </a:xfrm>
          <a:prstGeom prst="roundRect">
            <a:avLst>
              <a:gd name="adj" fmla="val 569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968877" y="1583978"/>
            <a:ext cx="14835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작동 증명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68877" y="1739503"/>
            <a:ext cx="1483587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42-Event Hook Observer가 파이프라인 전 생명주기를 포착. LEARNING.md에 자동 축적. 루프가 작동함을 증명해야 신뢰 가능.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41927" y="2450009"/>
            <a:ext cx="1708398" cy="712440"/>
          </a:xfrm>
          <a:prstGeom prst="roundRect">
            <a:avLst>
              <a:gd name="adj" fmla="val 7130"/>
            </a:avLst>
          </a:prstGeom>
          <a:solidFill>
            <a:srgbClr val="161B22">
              <a:alpha val="50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978402" y="2548384"/>
            <a:ext cx="14641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 / OTEL / CUSUM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978402" y="2691259"/>
            <a:ext cx="146415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18개 모델 가격 레지스트리. 컨텍스트 80% 경고, 95% 위험 시 adaptive pruning 발동.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57200" y="3690407"/>
            <a:ext cx="8229600" cy="323552"/>
          </a:xfrm>
          <a:prstGeom prst="roundRect">
            <a:avLst>
              <a:gd name="adj" fmla="val 15701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93675" y="3763333"/>
            <a:ext cx="38100" cy="177701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2526" y="3804558"/>
            <a:ext cx="4935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293316" y="3809321"/>
            <a:ext cx="10914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CANNOT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490341" y="3809321"/>
            <a:ext cx="2894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2901107" y="3809321"/>
            <a:ext cx="5791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595836" y="3809321"/>
            <a:ext cx="3371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-Gate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053334" y="3809321"/>
            <a:ext cx="26808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443115" y="3809321"/>
            <a:ext cx="3139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7418220" y="3809321"/>
            <a:ext cx="114872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4축을 제어하는 메타 레이어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39587" y="3826924"/>
            <a:ext cx="215877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축이 순환하며 LLM의 발산을 수렴으로 제어합니다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29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4187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META, DEV, RUNTIME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6987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세 루프의 공유 기본 단위. RUNTIME이 DEV를 먹이고, DEV가 META를 먹입니다.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9140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12490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Evolution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593675" y="1210866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711077" y="949077"/>
            <a:ext cx="1818084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2103" y="1034802"/>
            <a:ext cx="16279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22103" y="1155353"/>
            <a:ext cx="1627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결과 · DRIFT_DETECTED · 세션 회고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57991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72049" y="949077"/>
            <a:ext cx="1818233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83075" y="1034802"/>
            <a:ext cx="16281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883075" y="1155353"/>
            <a:ext cx="16281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· anti-pattern 식별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641032" y="1080790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33170" y="949077"/>
            <a:ext cx="2137321" cy="377726"/>
          </a:xfrm>
          <a:prstGeom prst="roundRect">
            <a:avLst>
              <a:gd name="adj" fmla="val 13449"/>
            </a:avLst>
          </a:prstGeom>
          <a:solidFill>
            <a:srgbClr val="818CF8">
              <a:alpha val="7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44195" y="1034802"/>
            <a:ext cx="1953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Scaffold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44195" y="1155353"/>
            <a:ext cx="19535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규칙 추가 · 스킬 42개 · CI 래칫 ≥2900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071991" y="1044327"/>
            <a:ext cx="478334" cy="187226"/>
          </a:xfrm>
          <a:prstGeom prst="roundRect">
            <a:avLst>
              <a:gd name="adj" fmla="val 20350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60841" y="1095077"/>
            <a:ext cx="306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597074" y="1726517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98575" y="1747056"/>
            <a:ext cx="4131469" cy="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· TURN_COMPLETE → LEARNING.md 업데이트 → CLAUDE.md CANNOT 규칙 추가 · 스킬 생성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444698" y="2059559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81173" y="2200649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1173" y="233399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per-PR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1173" y="243237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1698575" y="2170585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809601" y="2256310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809601" y="2376861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5Q · GAP Audit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121372" y="230229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13509" y="2170585"/>
            <a:ext cx="1372195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24535" y="2256310"/>
            <a:ext cx="11731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24535" y="2376861"/>
            <a:ext cx="1173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branch · ruff+mypy+pytest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736455" y="230229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28592" y="2170585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39618" y="2256310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39618" y="2376861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 리뷰 · CI 5/5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351389" y="2302298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543526" y="2170585"/>
            <a:ext cx="1372046" cy="377726"/>
          </a:xfrm>
          <a:prstGeom prst="roundRect">
            <a:avLst>
              <a:gd name="adj" fmla="val 13449"/>
            </a:avLst>
          </a:prstGeom>
          <a:solidFill>
            <a:srgbClr val="4ECDC4">
              <a:alpha val="7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654552" y="2256310"/>
            <a:ext cx="11729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654552" y="2376861"/>
            <a:ext cx="1172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PR→main · progress.md 업데이트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8017073" y="2265835"/>
            <a:ext cx="520750" cy="187226"/>
          </a:xfrm>
          <a:prstGeom prst="roundRect">
            <a:avLst>
              <a:gd name="adj" fmla="val 20350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105923" y="2316586"/>
            <a:ext cx="3499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597656" y="2919488"/>
            <a:ext cx="25301" cy="12695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99157" y="2940026"/>
            <a:ext cx="40800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→ GEODE.md + MEMORY.md + LEARNING.md 로드 · VERIFICATION_FAIL → 새 DEV PR 트리거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3244825"/>
            <a:ext cx="8229600" cy="599777"/>
          </a:xfrm>
          <a:prstGeom prst="roundRect">
            <a:avLst>
              <a:gd name="adj" fmla="val 10587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93675" y="3385914"/>
            <a:ext cx="10362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3675" y="3519264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while(tool_use)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93675" y="3617639"/>
            <a:ext cx="10362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711077" y="3355851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822103" y="3441576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822103" y="3562126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입력 · SESSION_START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3121372" y="348756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13509" y="3355851"/>
            <a:ext cx="1473250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3424535" y="3441576"/>
            <a:ext cx="12762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Select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424535" y="3562126"/>
            <a:ext cx="12762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+ 44 MCP · 4-경로 디스패치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4837509" y="348756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29646" y="3355851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5140672" y="3441576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140672" y="3562126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· conf ≥0.7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439942" y="3487563"/>
            <a:ext cx="144214" cy="114300"/>
          </a:xfrm>
          <a:prstGeom prst="rect">
            <a:avLst/>
          </a:prstGeom>
          <a:noFill/>
          <a:ln/>
        </p:spPr>
        <p:txBody>
          <a:bodyPr wrap="square" lIns="25400" tIns="0" rIns="2540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632079" y="3355851"/>
            <a:ext cx="135954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743105" y="3441576"/>
            <a:ext cx="11602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743105" y="3562126"/>
            <a:ext cx="11602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Hook 이벤트 · 메모리 저장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93125" y="3451101"/>
            <a:ext cx="457200" cy="187226"/>
          </a:xfrm>
          <a:prstGeom prst="roundRect">
            <a:avLst>
              <a:gd name="adj" fmla="val 20350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181975" y="3501851"/>
            <a:ext cx="2850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spawns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457200" y="4978450"/>
            <a:ext cx="17490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워크플로우가 시스템을 만듭니다. 시스템이 워크플로우를 증명합니다.</a:t>
            </a:r>
            <a:endParaRPr lang="en-US" sz="500" dirty="0"/>
          </a:p>
        </p:txBody>
      </p:sp>
      <p:sp>
        <p:nvSpPr>
          <p:cNvPr id="70" name="Text 68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29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668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ISOMORPHISM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82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Builds Harness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4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SCAFFOLD(빌더)와 GEODE(결과물)는 동일한 아키텍처를 공유합니다. 각 컴포넌트는 1:1 구조적 거울을 갖습니다.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12603"/>
            <a:ext cx="3683050" cy="2908608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49077"/>
            <a:ext cx="866477" cy="209550"/>
          </a:xfrm>
          <a:prstGeom prst="roundRect">
            <a:avLst>
              <a:gd name="adj" fmla="val 18182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0151" y="996702"/>
            <a:ext cx="6053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36353" y="1010989"/>
            <a:ext cx="1078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GEODE를 빌드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93675" y="1260128"/>
            <a:ext cx="3410099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03200" y="1260128"/>
            <a:ext cx="0" cy="387251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14226" y="1336328"/>
            <a:ext cx="32518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425줄, 17 CANNOT 규칙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4226" y="1485454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도메인: Git · Planning · Quality · Docs · PR · 개발자 에이전트 SOT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93675" y="171077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3200" y="171077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14226" y="178697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Scaffold Skills (.claude/skills/)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4226" y="192658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geode-gitflow · kent-beck-review · karpathy-patterns · verification-team + 17개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151906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03200" y="2151906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14226" y="2228106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4226" y="2367707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Lint(ruff) · Type(mypy) · Test(pytest ≥2900) · Security(bandit) · Gate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2593032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3200" y="2593032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4226" y="2669232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CANNOT/CAN (17 hard rules + 5 freedoms)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4226" y="2808833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제약 — LLM이 읽고 내면화. CI에서 강제 가능한 hard rule만 포함.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93675" y="3034159"/>
            <a:ext cx="3410099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03200" y="3034159"/>
            <a:ext cx="0" cy="377726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14226" y="3110359"/>
            <a:ext cx="32518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 Review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4226" y="3249960"/>
            <a:ext cx="3251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Beck(설계) · Karpathy(제약) · Steinberger(운영) · Cherny(격리) · GAP Detective(누락·괴리)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74696" y="2070348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71051" y="2156073"/>
            <a:ext cx="201748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476518" y="2333923"/>
            <a:ext cx="1906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559201" y="2463998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57526" y="2755999"/>
            <a:ext cx="628799" cy="374452"/>
          </a:xfrm>
          <a:prstGeom prst="roundRect">
            <a:avLst>
              <a:gd name="adj" fmla="val 13566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38678" y="28289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338678" y="2943225"/>
            <a:ext cx="4664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(tool_use)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559201" y="3193852"/>
            <a:ext cx="25301" cy="2286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67560" y="3485852"/>
            <a:ext cx="20873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4447827" y="3552527"/>
            <a:ext cx="24804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Primitive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5003602" y="812603"/>
            <a:ext cx="3683198" cy="2908608"/>
          </a:xfrm>
          <a:prstGeom prst="roundRect">
            <a:avLst>
              <a:gd name="adj" fmla="val 172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140077" y="949077"/>
            <a:ext cx="665113" cy="209550"/>
          </a:xfrm>
          <a:prstGeom prst="roundRect">
            <a:avLst>
              <a:gd name="adj" fmla="val 18182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276552" y="996702"/>
            <a:ext cx="40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881390" y="1010989"/>
            <a:ext cx="933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runtime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140077" y="1260128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149602" y="1260128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260628" y="1336328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GEODE.md — 71줄, 4 CANNOT 규칙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60628" y="1485454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SESSION_START 시 core/memory/organization.py를 통해 로드 · 런타임 에이전트 정체성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140077" y="1710779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49602" y="1710779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260628" y="1786979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Skills (.geode/skills/)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60628" y="1926580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분석가 템플릿: discovery · game-mechanics · growth-potential · player-experience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140077" y="2151906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5149602" y="2151906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5260628" y="2228106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Verification (core/verification/)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60628" y="2367707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 · BiasBuster · Cross-LLM(α≥0.67) · Confidence Gate 0.7 · Rights Risk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140077" y="2593032"/>
            <a:ext cx="3410248" cy="377726"/>
          </a:xfrm>
          <a:prstGeom prst="roundRect">
            <a:avLst>
              <a:gd name="adj" fmla="val 1008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149602" y="2593032"/>
            <a:ext cx="0" cy="377726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260628" y="2669232"/>
            <a:ext cx="3251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6-Layer (core/tools/policy.py)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60628" y="2808833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· Org · Mode · Agent(STANDARD/WRITE/DANGEROUS) · Node-scope · Sub-agent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5140077" y="3034159"/>
            <a:ext cx="34102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149602" y="3034159"/>
            <a:ext cx="0" cy="387251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260628" y="3110359"/>
            <a:ext cx="325196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— 6 유형 편향 제거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60628" y="3259485"/>
            <a:ext cx="32519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· recency · anchoring · position · verbosity · self-enhancement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04062" y="3515299"/>
            <a:ext cx="1864581" cy="714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하네스를 빌드하는 하네스는 자신의 구조를 공유합니다.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29</a:t>
            </a:r>
            <a:endParaRPr lang="en-US" sz="500" dirty="0"/>
          </a:p>
        </p:txBody>
      </p:sp>
      <p:sp>
        <p:nvSpPr>
          <p:cNvPr id="83" name="Text 9">
            <a:extLst>
              <a:ext uri="{FF2B5EF4-FFF2-40B4-BE49-F238E27FC236}">
                <a16:creationId xmlns:a16="http://schemas.microsoft.com/office/drawing/2014/main" id="{032517A4-D02F-F4A6-4E33-2461302B38E9}"/>
              </a:ext>
            </a:extLst>
          </p:cNvPr>
          <p:cNvSpPr/>
          <p:nvPr/>
        </p:nvSpPr>
        <p:spPr>
          <a:xfrm>
            <a:off x="457200" y="3787504"/>
            <a:ext cx="3683049" cy="79735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C67DA62E-B031-BCC1-5F3C-6523210CE0F8}"/>
              </a:ext>
            </a:extLst>
          </p:cNvPr>
          <p:cNvSpPr/>
          <p:nvPr/>
        </p:nvSpPr>
        <p:spPr>
          <a:xfrm>
            <a:off x="481012" y="3787504"/>
            <a:ext cx="0" cy="79735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11">
            <a:extLst>
              <a:ext uri="{FF2B5EF4-FFF2-40B4-BE49-F238E27FC236}">
                <a16:creationId xmlns:a16="http://schemas.microsoft.com/office/drawing/2014/main" id="{2D7C1B93-028C-D5CD-D702-6F0508DF3EA6}"/>
              </a:ext>
            </a:extLst>
          </p:cNvPr>
          <p:cNvSpPr/>
          <p:nvPr/>
        </p:nvSpPr>
        <p:spPr>
          <a:xfrm>
            <a:off x="593675" y="3895421"/>
            <a:ext cx="38247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대칭이 깨졌을 </a:t>
            </a:r>
            <a:r>
              <a:rPr lang="en-US" sz="700" b="1" dirty="0" err="1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때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b="1" dirty="0" err="1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</a:t>
            </a:r>
            <a:r>
              <a:rPr lang="ko-KR" alt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했던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장애</a:t>
            </a:r>
            <a:endParaRPr lang="en-US" sz="700" dirty="0"/>
          </a:p>
        </p:txBody>
      </p:sp>
      <p:sp>
        <p:nvSpPr>
          <p:cNvPr id="86" name="Text 12">
            <a:extLst>
              <a:ext uri="{FF2B5EF4-FFF2-40B4-BE49-F238E27FC236}">
                <a16:creationId xmlns:a16="http://schemas.microsoft.com/office/drawing/2014/main" id="{77B655B3-4E15-50F9-1FBD-A9539DDB5061}"/>
              </a:ext>
            </a:extLst>
          </p:cNvPr>
          <p:cNvSpPr/>
          <p:nvPr/>
        </p:nvSpPr>
        <p:spPr>
          <a:xfrm>
            <a:off x="584150" y="4096189"/>
            <a:ext cx="382471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v0.34: serve와 REPL이 각각 bootstrap. HookSystem 2개, Scheduler 2개 생성.</a:t>
            </a:r>
            <a:endParaRPr lang="en-US" sz="700" dirty="0"/>
          </a:p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jobs.json 경합(C3), ContextVar 미전파(C1), announce 중복 발행(H2).</a:t>
            </a:r>
            <a:endParaRPr lang="en-US" sz="7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18EF36FA-BEE6-C6CA-82D3-BBB84FAA49C9}"/>
              </a:ext>
            </a:extLst>
          </p:cNvPr>
          <p:cNvGrpSpPr/>
          <p:nvPr/>
        </p:nvGrpSpPr>
        <p:grpSpPr>
          <a:xfrm>
            <a:off x="5003601" y="3809851"/>
            <a:ext cx="4975079" cy="797359"/>
            <a:chOff x="5776369" y="3199359"/>
            <a:chExt cx="3990340" cy="800844"/>
          </a:xfrm>
        </p:grpSpPr>
        <p:sp>
          <p:nvSpPr>
            <p:cNvPr id="88" name="Text 13">
              <a:extLst>
                <a:ext uri="{FF2B5EF4-FFF2-40B4-BE49-F238E27FC236}">
                  <a16:creationId xmlns:a16="http://schemas.microsoft.com/office/drawing/2014/main" id="{11C55D98-D1A7-8BD2-BF92-FC2264A8F904}"/>
                </a:ext>
              </a:extLst>
            </p:cNvPr>
            <p:cNvSpPr/>
            <p:nvPr/>
          </p:nvSpPr>
          <p:spPr>
            <a:xfrm>
              <a:off x="5776369" y="3199359"/>
              <a:ext cx="2964275" cy="800844"/>
            </a:xfrm>
            <a:prstGeom prst="roundRect">
              <a:avLst>
                <a:gd name="adj" fmla="val 6343"/>
              </a:avLst>
            </a:prstGeom>
            <a:solidFill>
              <a:srgbClr val="161B22"/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9" name="Text 14">
              <a:extLst>
                <a:ext uri="{FF2B5EF4-FFF2-40B4-BE49-F238E27FC236}">
                  <a16:creationId xmlns:a16="http://schemas.microsoft.com/office/drawing/2014/main" id="{1D8C281A-C975-79B1-94C9-4BCFD2A20D8C}"/>
                </a:ext>
              </a:extLst>
            </p:cNvPr>
            <p:cNvSpPr/>
            <p:nvPr/>
          </p:nvSpPr>
          <p:spPr>
            <a:xfrm>
              <a:off x="5912843" y="3297735"/>
              <a:ext cx="385386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대칭 복원 = GeodeRuntime single owner</a:t>
              </a:r>
              <a:endParaRPr lang="en-US" sz="700" dirty="0"/>
            </a:p>
          </p:txBody>
        </p:sp>
        <p:sp>
          <p:nvSpPr>
            <p:cNvPr id="90" name="Text 15">
              <a:extLst>
                <a:ext uri="{FF2B5EF4-FFF2-40B4-BE49-F238E27FC236}">
                  <a16:creationId xmlns:a16="http://schemas.microsoft.com/office/drawing/2014/main" id="{2F211408-3E1A-50CA-A474-65C9DF1FC967}"/>
                </a:ext>
              </a:extLst>
            </p:cNvPr>
            <p:cNvSpPr/>
            <p:nvPr/>
          </p:nvSpPr>
          <p:spPr>
            <a:xfrm>
              <a:off x="5912843" y="3416199"/>
              <a:ext cx="3853866" cy="2485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80"/>
                </a:lnSpc>
                <a:spcBef>
                  <a:spcPts val="300"/>
                </a:spcBef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SCAFFOLD(CLAUDE.md 규칙)와 RUNTIME(GeodeRuntime 소유) </a:t>
              </a:r>
            </a:p>
            <a:p>
              <a:pPr marL="0" indent="0" algn="l">
                <a:lnSpc>
                  <a:spcPts val="980"/>
                </a:lnSpc>
                <a:spcBef>
                  <a:spcPts val="300"/>
                </a:spcBef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1:1 </a:t>
              </a:r>
              <a:r>
                <a:rPr lang="en-US" sz="700" dirty="0" err="1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대응.규칙이</a:t>
              </a: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추가되면 자동으로 런타임에 반영되는 구조.</a:t>
              </a:r>
              <a:endParaRPr lang="en-US" sz="700" dirty="0"/>
            </a:p>
          </p:txBody>
        </p:sp>
        <p:sp>
          <p:nvSpPr>
            <p:cNvPr id="91" name="Text 16">
              <a:extLst>
                <a:ext uri="{FF2B5EF4-FFF2-40B4-BE49-F238E27FC236}">
                  <a16:creationId xmlns:a16="http://schemas.microsoft.com/office/drawing/2014/main" id="{F3AAA73F-DFBB-ECC2-9E78-DCC63F2C87F6}"/>
                </a:ext>
              </a:extLst>
            </p:cNvPr>
            <p:cNvSpPr/>
            <p:nvPr/>
          </p:nvSpPr>
          <p:spPr>
            <a:xfrm>
              <a:off x="5912843" y="3739903"/>
              <a:ext cx="660797" cy="161925"/>
            </a:xfrm>
            <a:prstGeom prst="roundRect">
              <a:avLst>
                <a:gd name="adj" fmla="val 23529"/>
              </a:avLst>
            </a:prstGeom>
            <a:solidFill>
              <a:srgbClr val="0D1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2" name="Text 17">
              <a:extLst>
                <a:ext uri="{FF2B5EF4-FFF2-40B4-BE49-F238E27FC236}">
                  <a16:creationId xmlns:a16="http://schemas.microsoft.com/office/drawing/2014/main" id="{D9C7DC67-24EB-58FB-72FB-3AC0A7ADD5CE}"/>
                </a:ext>
              </a:extLst>
            </p:cNvPr>
            <p:cNvSpPr/>
            <p:nvPr/>
          </p:nvSpPr>
          <p:spPr>
            <a:xfrm>
              <a:off x="5989042" y="3778003"/>
              <a:ext cx="577830" cy="10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Bootstrap 2→1</a:t>
              </a:r>
              <a:endParaRPr lang="en-US" sz="600" dirty="0"/>
            </a:p>
          </p:txBody>
        </p:sp>
        <p:sp>
          <p:nvSpPr>
            <p:cNvPr id="93" name="Text 18">
              <a:extLst>
                <a:ext uri="{FF2B5EF4-FFF2-40B4-BE49-F238E27FC236}">
                  <a16:creationId xmlns:a16="http://schemas.microsoft.com/office/drawing/2014/main" id="{9139223B-B241-4E72-794E-35CB9244428D}"/>
                </a:ext>
              </a:extLst>
            </p:cNvPr>
            <p:cNvSpPr/>
            <p:nvPr/>
          </p:nvSpPr>
          <p:spPr>
            <a:xfrm>
              <a:off x="6649840" y="3739903"/>
              <a:ext cx="766465" cy="161925"/>
            </a:xfrm>
            <a:prstGeom prst="roundRect">
              <a:avLst>
                <a:gd name="adj" fmla="val 23529"/>
              </a:avLst>
            </a:prstGeom>
            <a:solidFill>
              <a:srgbClr val="0D1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4" name="Text 19">
              <a:extLst>
                <a:ext uri="{FF2B5EF4-FFF2-40B4-BE49-F238E27FC236}">
                  <a16:creationId xmlns:a16="http://schemas.microsoft.com/office/drawing/2014/main" id="{D99A9FD5-A157-5F05-6337-DE25B336CBAD}"/>
                </a:ext>
              </a:extLst>
            </p:cNvPr>
            <p:cNvSpPr/>
            <p:nvPr/>
          </p:nvSpPr>
          <p:spPr>
            <a:xfrm>
              <a:off x="6726039" y="3778003"/>
              <a:ext cx="690265" cy="791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HookSystem 2→1</a:t>
              </a:r>
              <a:endParaRPr lang="en-US" sz="600" dirty="0"/>
            </a:p>
          </p:txBody>
        </p:sp>
        <p:sp>
          <p:nvSpPr>
            <p:cNvPr id="95" name="Text 20">
              <a:extLst>
                <a:ext uri="{FF2B5EF4-FFF2-40B4-BE49-F238E27FC236}">
                  <a16:creationId xmlns:a16="http://schemas.microsoft.com/office/drawing/2014/main" id="{337575B9-201B-FFA3-AF50-0FB72BDA561B}"/>
                </a:ext>
              </a:extLst>
            </p:cNvPr>
            <p:cNvSpPr/>
            <p:nvPr/>
          </p:nvSpPr>
          <p:spPr>
            <a:xfrm>
              <a:off x="7492505" y="3739903"/>
              <a:ext cx="686693" cy="161925"/>
            </a:xfrm>
            <a:prstGeom prst="roundRect">
              <a:avLst>
                <a:gd name="adj" fmla="val 23529"/>
              </a:avLst>
            </a:prstGeom>
            <a:solidFill>
              <a:srgbClr val="0D1117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6" name="Text 21">
              <a:extLst>
                <a:ext uri="{FF2B5EF4-FFF2-40B4-BE49-F238E27FC236}">
                  <a16:creationId xmlns:a16="http://schemas.microsoft.com/office/drawing/2014/main" id="{0C3F4CBA-F246-4924-6EDF-BDEDA6CC1F63}"/>
                </a:ext>
              </a:extLst>
            </p:cNvPr>
            <p:cNvSpPr/>
            <p:nvPr/>
          </p:nvSpPr>
          <p:spPr>
            <a:xfrm>
              <a:off x="7568705" y="3778004"/>
              <a:ext cx="610493" cy="791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C1+C3+H2 해소</a:t>
              </a:r>
              <a:endParaRPr lang="en-US" sz="6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93650"/>
            <a:ext cx="26814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/ CAN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199" y="669875"/>
            <a:ext cx="3327009" cy="8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품질을 담보합니다. 486 PRs, 0 hotfix bypasses, 0 regressions.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277695" y="533549"/>
            <a:ext cx="1409105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4171" y="606475"/>
            <a:ext cx="1158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strictness → 0 regressions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838051"/>
            <a:ext cx="5259288" cy="234851"/>
          </a:xfrm>
          <a:prstGeom prst="roundRect">
            <a:avLst>
              <a:gd name="adj" fmla="val 21631"/>
            </a:avLst>
          </a:prstGeom>
          <a:solidFill>
            <a:srgbClr val="EF4444">
              <a:alpha val="7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898327"/>
            <a:ext cx="50860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— 17 Hard Rules (CLAUDE.md)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23652"/>
            <a:ext cx="2604195" cy="920800"/>
          </a:xfrm>
          <a:prstGeom prst="roundRect">
            <a:avLst>
              <a:gd name="adj" fmla="val 551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6725" y="1123652"/>
            <a:ext cx="0" cy="92080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03200" y="1212503"/>
            <a:ext cx="23778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/ 격리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5600" y="1387078"/>
            <a:ext cx="2178844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 세션 worktree 삭제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 미동기화 상태 브랜치 생성 금지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2095202"/>
            <a:ext cx="2604195" cy="739527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6725" y="2095202"/>
            <a:ext cx="0" cy="73952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3200" y="2184053"/>
            <a:ext cx="2377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5600" y="2349103"/>
            <a:ext cx="2178844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수치에 자리표시자(XXXX)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테스트(-m live) 무단 실행 금지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112145" y="1123652"/>
            <a:ext cx="2604343" cy="911275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21670" y="1123652"/>
            <a:ext cx="0" cy="911275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258145" y="1212503"/>
            <a:ext cx="23780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/ PR 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10545" y="1377553"/>
            <a:ext cx="2178993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커밋에서 CHANGELOG 누락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4곳 불일치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가드레일 미통과 PR 머지 금지</a:t>
            </a:r>
            <a:endParaRPr lang="en-US" sz="700" dirty="0"/>
          </a:p>
          <a:p>
            <a:pPr marL="342900" indent="-342900" algn="l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근거 없이 PR 금지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12145" y="2085677"/>
            <a:ext cx="2604343" cy="689819"/>
          </a:xfrm>
          <a:prstGeom prst="roundRect">
            <a:avLst>
              <a:gd name="adj" fmla="val 195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dirty="0"/>
              <a:t>           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121670" y="2085677"/>
            <a:ext cx="0" cy="689819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258145" y="2174528"/>
            <a:ext cx="2378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58145" y="2349103"/>
            <a:ext cx="2378020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CANNOT에 없는 것은 자유롭게 할 수 있습니다. 17개 경계가 에이전트의 과잉 구현 충동을 구조적으로 제거합니다.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17989" y="838051"/>
            <a:ext cx="2868811" cy="234851"/>
          </a:xfrm>
          <a:prstGeom prst="roundRect">
            <a:avLst>
              <a:gd name="adj" fmla="val 21631"/>
            </a:avLst>
          </a:prstGeom>
          <a:solidFill>
            <a:srgbClr val="34D399">
              <a:alpha val="7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54464" y="898327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— 5 Unconstrained Freedoms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17989" y="1123652"/>
            <a:ext cx="2868811" cy="932259"/>
          </a:xfrm>
          <a:prstGeom prst="roundRect">
            <a:avLst>
              <a:gd name="adj" fmla="val 544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827514" y="1123652"/>
            <a:ext cx="0" cy="932259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16389" y="1212503"/>
            <a:ext cx="2443460" cy="75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버그/문서 수정 — Plan 없이 바로 구현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플랜 외 개선 발견 — 현재 완료 후 다음 이터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선별 실행 — 최종만 전체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메시지 언어 — 한글/영어 자유</a:t>
            </a:r>
            <a:endParaRPr lang="en-US" sz="700" dirty="0"/>
          </a:p>
          <a:p>
            <a:pPr marL="342900" indent="-342900" algn="l">
              <a:lnSpc>
                <a:spcPts val="119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선택 — 더 빠른 도구 선택 가능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817989" y="2106663"/>
            <a:ext cx="2868811" cy="980928"/>
          </a:xfrm>
          <a:prstGeom prst="roundRect">
            <a:avLst>
              <a:gd name="adj" fmla="val 1809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54464" y="2151909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Result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50848" y="2367709"/>
            <a:ext cx="43218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50848" y="2647060"/>
            <a:ext cx="43218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merged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7077167" y="2367709"/>
            <a:ext cx="44600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77167" y="2647060"/>
            <a:ext cx="4460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 bypasses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8018407" y="2367709"/>
            <a:ext cx="33457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018407" y="2647060"/>
            <a:ext cx="33457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regressions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928506" y="2815236"/>
            <a:ext cx="26477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PR은 5-job CI를 통과해야만 merge 가능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29</a:t>
            </a:r>
            <a:endParaRPr lang="en-US" sz="500" dirty="0"/>
          </a:p>
        </p:txBody>
      </p:sp>
      <p:sp>
        <p:nvSpPr>
          <p:cNvPr id="77" name="Text 27">
            <a:extLst>
              <a:ext uri="{FF2B5EF4-FFF2-40B4-BE49-F238E27FC236}">
                <a16:creationId xmlns:a16="http://schemas.microsoft.com/office/drawing/2014/main" id="{BE2C791A-976D-0407-CDC7-457CA122A2A5}"/>
              </a:ext>
            </a:extLst>
          </p:cNvPr>
          <p:cNvSpPr/>
          <p:nvPr/>
        </p:nvSpPr>
        <p:spPr>
          <a:xfrm>
            <a:off x="453319" y="2950220"/>
            <a:ext cx="5259287" cy="980777"/>
          </a:xfrm>
          <a:prstGeom prst="roundRect">
            <a:avLst>
              <a:gd name="adj" fmla="val 518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6F25E730-FE60-23D2-7E74-FB437F9FE408}"/>
              </a:ext>
            </a:extLst>
          </p:cNvPr>
          <p:cNvSpPr/>
          <p:nvPr/>
        </p:nvSpPr>
        <p:spPr>
          <a:xfrm>
            <a:off x="589794" y="3048596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Rule이 차단한 결함 클래스</a:t>
            </a:r>
            <a:endParaRPr lang="en-US" sz="700" dirty="0"/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4D74E5CB-4DE7-5C07-402C-18B59D35101F}"/>
              </a:ext>
            </a:extLst>
          </p:cNvPr>
          <p:cNvSpPr/>
          <p:nvPr/>
        </p:nvSpPr>
        <p:spPr>
          <a:xfrm>
            <a:off x="589794" y="3332560"/>
            <a:ext cx="3778448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30">
            <a:extLst>
              <a:ext uri="{FF2B5EF4-FFF2-40B4-BE49-F238E27FC236}">
                <a16:creationId xmlns:a16="http://schemas.microsoft.com/office/drawing/2014/main" id="{7AABF757-F55F-1B3D-1823-D91C290D2075}"/>
              </a:ext>
            </a:extLst>
          </p:cNvPr>
          <p:cNvSpPr/>
          <p:nvPr/>
        </p:nvSpPr>
        <p:spPr>
          <a:xfrm>
            <a:off x="589794" y="3216772"/>
            <a:ext cx="526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Category</a:t>
            </a:r>
            <a:endParaRPr lang="en-US" sz="600" dirty="0"/>
          </a:p>
        </p:txBody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F921F0FD-E5DE-D415-2850-EF0707CE2B5B}"/>
              </a:ext>
            </a:extLst>
          </p:cNvPr>
          <p:cNvSpPr/>
          <p:nvPr/>
        </p:nvSpPr>
        <p:spPr>
          <a:xfrm>
            <a:off x="5238384" y="3187705"/>
            <a:ext cx="5269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결함</a:t>
            </a:r>
            <a:endParaRPr lang="en-US" sz="600" dirty="0"/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24AFEBFE-86D5-F89B-AB44-0B72C3E0A1C2}"/>
              </a:ext>
            </a:extLst>
          </p:cNvPr>
          <p:cNvSpPr/>
          <p:nvPr/>
        </p:nvSpPr>
        <p:spPr>
          <a:xfrm>
            <a:off x="589794" y="3375422"/>
            <a:ext cx="4060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(6 rules)</a:t>
            </a:r>
            <a:endParaRPr lang="en-US" sz="600" dirty="0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8E555CD7-135A-3EE9-7F31-5AD66405C353}"/>
              </a:ext>
            </a:extLst>
          </p:cNvPr>
          <p:cNvSpPr/>
          <p:nvPr/>
        </p:nvSpPr>
        <p:spPr>
          <a:xfrm>
            <a:off x="4240858" y="3328684"/>
            <a:ext cx="1348680" cy="104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force-push, 미검증 머지, 히스토리 손상</a:t>
            </a:r>
            <a:endParaRPr lang="en-US" sz="600" dirty="0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7CA738CF-927C-12AA-B0C7-33A4135E093A}"/>
              </a:ext>
            </a:extLst>
          </p:cNvPr>
          <p:cNvSpPr/>
          <p:nvPr/>
        </p:nvSpPr>
        <p:spPr>
          <a:xfrm>
            <a:off x="589794" y="3499247"/>
            <a:ext cx="5486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(4 rules)</a:t>
            </a:r>
            <a:endParaRPr lang="en-US" sz="600" dirty="0"/>
          </a:p>
        </p:txBody>
      </p:sp>
      <p:sp>
        <p:nvSpPr>
          <p:cNvPr id="85" name="Text 35">
            <a:extLst>
              <a:ext uri="{FF2B5EF4-FFF2-40B4-BE49-F238E27FC236}">
                <a16:creationId xmlns:a16="http://schemas.microsoft.com/office/drawing/2014/main" id="{4CBDE0D0-0006-1A44-FB61-0C6A003076E9}"/>
              </a:ext>
            </a:extLst>
          </p:cNvPr>
          <p:cNvSpPr/>
          <p:nvPr/>
        </p:nvSpPr>
        <p:spPr>
          <a:xfrm>
            <a:off x="4171241" y="3468645"/>
            <a:ext cx="1541365" cy="85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안전 위반, 테스트 래칫 하락, lint 우회</a:t>
            </a:r>
            <a:endParaRPr lang="en-US" sz="600" dirty="0"/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A19014F8-3799-9FAA-61A0-37BE0397DFAA}"/>
              </a:ext>
            </a:extLst>
          </p:cNvPr>
          <p:cNvSpPr/>
          <p:nvPr/>
        </p:nvSpPr>
        <p:spPr>
          <a:xfrm>
            <a:off x="589794" y="3623072"/>
            <a:ext cx="6132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Docs/PR (6 rules)</a:t>
            </a:r>
            <a:endParaRPr lang="en-US" sz="600" dirty="0"/>
          </a:p>
        </p:txBody>
      </p:sp>
      <p:sp>
        <p:nvSpPr>
          <p:cNvPr id="87" name="Text 37">
            <a:extLst>
              <a:ext uri="{FF2B5EF4-FFF2-40B4-BE49-F238E27FC236}">
                <a16:creationId xmlns:a16="http://schemas.microsoft.com/office/drawing/2014/main" id="{110036FE-CACC-5ED6-E68A-BB01D4E56A7B}"/>
              </a:ext>
            </a:extLst>
          </p:cNvPr>
          <p:cNvSpPr/>
          <p:nvPr/>
        </p:nvSpPr>
        <p:spPr>
          <a:xfrm>
            <a:off x="3813306" y="3599914"/>
            <a:ext cx="18228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드리프트, CHANGELOG 누락, PR 템플릿 이탈</a:t>
            </a:r>
            <a:endParaRPr lang="en-US" sz="600" dirty="0"/>
          </a:p>
        </p:txBody>
      </p:sp>
      <p:sp>
        <p:nvSpPr>
          <p:cNvPr id="88" name="Text 38">
            <a:extLst>
              <a:ext uri="{FF2B5EF4-FFF2-40B4-BE49-F238E27FC236}">
                <a16:creationId xmlns:a16="http://schemas.microsoft.com/office/drawing/2014/main" id="{14CFB235-1E50-164B-63CD-A0618EB68C18}"/>
              </a:ext>
            </a:extLst>
          </p:cNvPr>
          <p:cNvSpPr/>
          <p:nvPr/>
        </p:nvSpPr>
        <p:spPr>
          <a:xfrm>
            <a:off x="589794" y="3746897"/>
            <a:ext cx="5097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(1 rule)</a:t>
            </a:r>
            <a:endParaRPr lang="en-US" sz="600" dirty="0"/>
          </a:p>
        </p:txBody>
      </p:sp>
      <p:sp>
        <p:nvSpPr>
          <p:cNvPr id="89" name="Text 39">
            <a:extLst>
              <a:ext uri="{FF2B5EF4-FFF2-40B4-BE49-F238E27FC236}">
                <a16:creationId xmlns:a16="http://schemas.microsoft.com/office/drawing/2014/main" id="{55CBFE69-3959-E067-D502-283C841F0070}"/>
              </a:ext>
            </a:extLst>
          </p:cNvPr>
          <p:cNvSpPr/>
          <p:nvPr/>
        </p:nvSpPr>
        <p:spPr>
          <a:xfrm>
            <a:off x="4683248" y="3743280"/>
            <a:ext cx="11442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순환 의존, 레이어 위반</a:t>
            </a:r>
            <a:endParaRPr lang="en-US" sz="600" dirty="0"/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51F4E8C3-8D72-C86B-F1A8-4852E7833D0B}"/>
              </a:ext>
            </a:extLst>
          </p:cNvPr>
          <p:cNvSpPr/>
          <p:nvPr/>
        </p:nvSpPr>
        <p:spPr>
          <a:xfrm>
            <a:off x="453319" y="3971032"/>
            <a:ext cx="5311979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Shape 41">
            <a:extLst>
              <a:ext uri="{FF2B5EF4-FFF2-40B4-BE49-F238E27FC236}">
                <a16:creationId xmlns:a16="http://schemas.microsoft.com/office/drawing/2014/main" id="{4F48F5DE-56C4-148F-8566-E593AB019E9D}"/>
              </a:ext>
            </a:extLst>
          </p:cNvPr>
          <p:cNvSpPr/>
          <p:nvPr/>
        </p:nvSpPr>
        <p:spPr>
          <a:xfrm>
            <a:off x="477131" y="3971032"/>
            <a:ext cx="0" cy="586978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F6DF23D5-57FC-09B4-3F95-AF880040568E}"/>
              </a:ext>
            </a:extLst>
          </p:cNvPr>
          <p:cNvSpPr/>
          <p:nvPr/>
        </p:nvSpPr>
        <p:spPr>
          <a:xfrm>
            <a:off x="627894" y="4059883"/>
            <a:ext cx="50149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결과</a:t>
            </a:r>
            <a:endParaRPr lang="en-US" sz="700" dirty="0"/>
          </a:p>
        </p:txBody>
      </p:sp>
      <p:sp>
        <p:nvSpPr>
          <p:cNvPr id="93" name="Text 43">
            <a:extLst>
              <a:ext uri="{FF2B5EF4-FFF2-40B4-BE49-F238E27FC236}">
                <a16:creationId xmlns:a16="http://schemas.microsoft.com/office/drawing/2014/main" id="{EA6E389E-234E-32F2-4A7F-1A9C644D4565}"/>
              </a:ext>
            </a:extLst>
          </p:cNvPr>
          <p:cNvSpPr/>
          <p:nvPr/>
        </p:nvSpPr>
        <p:spPr>
          <a:xfrm>
            <a:off x="627894" y="4202758"/>
            <a:ext cx="501496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 PR 중 CANNOT 위반으로 CI 거부된 비율: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거부 후 수정 재제출 100%. hotfix bypass 0건. 이 12%가 없었다면 C1-C4급 결함이 main에 유입되었을 것입니다.</a:t>
            </a:r>
            <a:endParaRPr lang="en-US" sz="700" dirty="0"/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2CEC3964-09F5-2DA9-052D-55754A905448}"/>
              </a:ext>
            </a:extLst>
          </p:cNvPr>
          <p:cNvSpPr/>
          <p:nvPr/>
        </p:nvSpPr>
        <p:spPr>
          <a:xfrm>
            <a:off x="5805291" y="3170785"/>
            <a:ext cx="2868811" cy="912463"/>
          </a:xfrm>
          <a:prstGeom prst="roundRect">
            <a:avLst>
              <a:gd name="adj" fmla="val 54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45">
            <a:extLst>
              <a:ext uri="{FF2B5EF4-FFF2-40B4-BE49-F238E27FC236}">
                <a16:creationId xmlns:a16="http://schemas.microsoft.com/office/drawing/2014/main" id="{2DDE399A-C5A5-B368-D584-A41D76D57C04}"/>
              </a:ext>
            </a:extLst>
          </p:cNvPr>
          <p:cNvSpPr/>
          <p:nvPr/>
        </p:nvSpPr>
        <p:spPr>
          <a:xfrm>
            <a:off x="5903701" y="3251232"/>
            <a:ext cx="4157092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많이 발동한 3개 룰</a:t>
            </a:r>
            <a:endParaRPr lang="en-US" sz="700" dirty="0"/>
          </a:p>
        </p:txBody>
      </p:sp>
      <p:sp>
        <p:nvSpPr>
          <p:cNvPr id="96" name="Text 46">
            <a:extLst>
              <a:ext uri="{FF2B5EF4-FFF2-40B4-BE49-F238E27FC236}">
                <a16:creationId xmlns:a16="http://schemas.microsoft.com/office/drawing/2014/main" id="{FAA243FF-8022-986D-A8C9-B4C3A67809FC}"/>
              </a:ext>
            </a:extLst>
          </p:cNvPr>
          <p:cNvSpPr/>
          <p:nvPr/>
        </p:nvSpPr>
        <p:spPr>
          <a:xfrm>
            <a:off x="5906699" y="3383460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91A69A05-F668-3EF9-6CFF-875C7C0771F2}"/>
              </a:ext>
            </a:extLst>
          </p:cNvPr>
          <p:cNvSpPr/>
          <p:nvPr/>
        </p:nvSpPr>
        <p:spPr>
          <a:xfrm>
            <a:off x="6039266" y="3422427"/>
            <a:ext cx="1172232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래칫 ≥2,900 (Quality)</a:t>
            </a:r>
            <a:endParaRPr lang="en-US" sz="700" dirty="0"/>
          </a:p>
        </p:txBody>
      </p:sp>
      <p:sp>
        <p:nvSpPr>
          <p:cNvPr id="98" name="Text 48">
            <a:extLst>
              <a:ext uri="{FF2B5EF4-FFF2-40B4-BE49-F238E27FC236}">
                <a16:creationId xmlns:a16="http://schemas.microsoft.com/office/drawing/2014/main" id="{9A95D48D-9746-A0AA-B743-934E971AB08B}"/>
              </a:ext>
            </a:extLst>
          </p:cNvPr>
          <p:cNvSpPr/>
          <p:nvPr/>
        </p:nvSpPr>
        <p:spPr>
          <a:xfrm>
            <a:off x="5911388" y="358832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9" name="Text 49">
            <a:extLst>
              <a:ext uri="{FF2B5EF4-FFF2-40B4-BE49-F238E27FC236}">
                <a16:creationId xmlns:a16="http://schemas.microsoft.com/office/drawing/2014/main" id="{BD19C6BC-B4D0-A34C-AB98-FDBAD00911CD}"/>
              </a:ext>
            </a:extLst>
          </p:cNvPr>
          <p:cNvSpPr/>
          <p:nvPr/>
        </p:nvSpPr>
        <p:spPr>
          <a:xfrm>
            <a:off x="6039265" y="3631977"/>
            <a:ext cx="1507413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ruff + mypy strict 통과 필수 (Quality)</a:t>
            </a:r>
            <a:endParaRPr lang="en-US" sz="700" dirty="0"/>
          </a:p>
        </p:txBody>
      </p:sp>
      <p:sp>
        <p:nvSpPr>
          <p:cNvPr id="100" name="Text 50">
            <a:extLst>
              <a:ext uri="{FF2B5EF4-FFF2-40B4-BE49-F238E27FC236}">
                <a16:creationId xmlns:a16="http://schemas.microsoft.com/office/drawing/2014/main" id="{B46E4E48-4902-4A94-E59C-91E92B972E22}"/>
              </a:ext>
            </a:extLst>
          </p:cNvPr>
          <p:cNvSpPr/>
          <p:nvPr/>
        </p:nvSpPr>
        <p:spPr>
          <a:xfrm>
            <a:off x="5911388" y="3797871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1" name="Text 51">
            <a:extLst>
              <a:ext uri="{FF2B5EF4-FFF2-40B4-BE49-F238E27FC236}">
                <a16:creationId xmlns:a16="http://schemas.microsoft.com/office/drawing/2014/main" id="{6621CBB2-DE5F-F8F1-3204-83795E62E894}"/>
              </a:ext>
            </a:extLst>
          </p:cNvPr>
          <p:cNvSpPr/>
          <p:nvPr/>
        </p:nvSpPr>
        <p:spPr>
          <a:xfrm>
            <a:off x="6039266" y="3841527"/>
            <a:ext cx="1383787" cy="90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동기화 (Docs/PR)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Engineering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486 PRs, 0 regressions — GAP Audit + Socratic Gate가 과잉 구현을 소스에서 차단합니다.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73026"/>
            <a:ext cx="870347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0262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0262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829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08522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508522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551584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1584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42961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559844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559844" y="873026"/>
            <a:ext cx="870347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602906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2906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480941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11166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11166" y="873026"/>
            <a:ext cx="870347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4228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4228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32263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662488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62488" y="873026"/>
            <a:ext cx="870347" cy="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705549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5549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Verify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83585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713809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713809" y="873026"/>
            <a:ext cx="870347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756871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56871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Docs-Sync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34907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765131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765131" y="873026"/>
            <a:ext cx="870347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808193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08193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CI Gate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686229" y="1020663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816453" y="863501"/>
            <a:ext cx="870347" cy="409575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7816453" y="873026"/>
            <a:ext cx="870347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7859515" y="958751"/>
            <a:ext cx="7842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59515" y="1101626"/>
            <a:ext cx="7842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1349276"/>
            <a:ext cx="4659511" cy="1401655"/>
          </a:xfrm>
          <a:prstGeom prst="roundRect">
            <a:avLst>
              <a:gd name="adj" fmla="val 141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9125" y="1485751"/>
            <a:ext cx="44223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5-Question Gate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125" y="1663452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07975" y="1688753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016943" y="1663452"/>
            <a:ext cx="292502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코드에 이미 있는가? grep/Explore 실측 — 있으면 제거.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9125" y="1872704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7975" y="1898005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16943" y="1872704"/>
            <a:ext cx="31282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이걸 안 하면 무엇이 깨지는가? 실제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장애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r>
              <a:rPr lang="en-US" altLang="ko-KR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없으면 제거.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9125" y="2081957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07975" y="2107257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016943" y="2081957"/>
            <a:ext cx="23701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효과를 어떻게 측정하는가? 측정 불가 시 보류.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19125" y="2291209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07975" y="2316510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016943" y="2291209"/>
            <a:ext cx="20326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구현은? 최소 변경만 채택.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9125" y="2500461"/>
            <a:ext cx="296317" cy="145852"/>
          </a:xfrm>
          <a:prstGeom prst="roundRect">
            <a:avLst>
              <a:gd name="adj" fmla="val 34830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7975" y="2525762"/>
            <a:ext cx="12098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16943" y="2500461"/>
            <a:ext cx="2413248" cy="71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프론티어 3종 이상에서 동일 패턴인가? 1종만이면 재검증.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218212" y="1349276"/>
            <a:ext cx="3468588" cy="1401648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380137" y="1485751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80137" y="1676251"/>
            <a:ext cx="3144738" cy="68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380137" y="1679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570488" y="1676251"/>
            <a:ext cx="132586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ruff check + import ratchet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380137" y="1825377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70488" y="1822252"/>
            <a:ext cx="15291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typecheck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mypy + prompt integrity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380137" y="1976140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5570488" y="1968252"/>
            <a:ext cx="17216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pytest count &gt;= </a:t>
            </a: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(현재 3,249+)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380137" y="2126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34D399">
              <a:alpha val="25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5570488" y="2123777"/>
            <a:ext cx="10480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bandit -r core/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380137" y="2272903"/>
            <a:ext cx="88850" cy="88850"/>
          </a:xfrm>
          <a:prstGeom prst="roundRect">
            <a:avLst>
              <a:gd name="adj" fmla="val 28588"/>
            </a:avLst>
          </a:prstGeom>
          <a:solidFill>
            <a:srgbClr val="818CF8">
              <a:alpha val="25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570488" y="2269778"/>
            <a:ext cx="1168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4/4 all pass to merge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211020" y="2847811"/>
            <a:ext cx="3468588" cy="691902"/>
          </a:xfrm>
          <a:prstGeom prst="roundRect">
            <a:avLst>
              <a:gd name="adj" fmla="val 73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5372945" y="2984287"/>
            <a:ext cx="32076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Recovery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372945" y="3161987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E2E fail → Step 3 (Implement)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372945" y="3307988"/>
            <a:ext cx="32076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CI fail → Step 3 (Implement)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457200" y="5000625"/>
            <a:ext cx="30916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 blocks duplicate work — Socratic Gate blocks unnecessary work — CI Ratchet blocks regression</a:t>
            </a:r>
            <a:endParaRPr lang="en-US" sz="500" dirty="0"/>
          </a:p>
        </p:txBody>
      </p:sp>
      <p:sp>
        <p:nvSpPr>
          <p:cNvPr id="80" name="Text 78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29</a:t>
            </a:r>
            <a:endParaRPr lang="en-US" sz="500" dirty="0"/>
          </a:p>
        </p:txBody>
      </p:sp>
      <p:sp>
        <p:nvSpPr>
          <p:cNvPr id="81" name="Text 9">
            <a:extLst>
              <a:ext uri="{FF2B5EF4-FFF2-40B4-BE49-F238E27FC236}">
                <a16:creationId xmlns:a16="http://schemas.microsoft.com/office/drawing/2014/main" id="{93D939AD-58E7-7CCA-9DCF-2A8E3606BF5B}"/>
              </a:ext>
            </a:extLst>
          </p:cNvPr>
          <p:cNvSpPr/>
          <p:nvPr/>
        </p:nvSpPr>
        <p:spPr>
          <a:xfrm>
            <a:off x="454194" y="2812851"/>
            <a:ext cx="4657795" cy="453777"/>
          </a:xfrm>
          <a:prstGeom prst="roundRect">
            <a:avLst>
              <a:gd name="adj" fmla="val 111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7E538113-33E2-1438-EA8D-415A964632FE}"/>
              </a:ext>
            </a:extLst>
          </p:cNvPr>
          <p:cNvSpPr/>
          <p:nvPr/>
        </p:nvSpPr>
        <p:spPr>
          <a:xfrm>
            <a:off x="478007" y="2812851"/>
            <a:ext cx="0" cy="45377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01F04477-4DCF-3F95-3B13-EF41B91B4B60}"/>
              </a:ext>
            </a:extLst>
          </p:cNvPr>
          <p:cNvSpPr/>
          <p:nvPr/>
        </p:nvSpPr>
        <p:spPr>
          <a:xfrm>
            <a:off x="628770" y="2901702"/>
            <a:ext cx="43973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"파이프라인 전체 async 전환" 제안</a:t>
            </a:r>
            <a:endParaRPr lang="en-US" sz="700" dirty="0"/>
          </a:p>
        </p:txBody>
      </p:sp>
      <p:sp>
        <p:nvSpPr>
          <p:cNvPr id="84" name="Text 12">
            <a:extLst>
              <a:ext uri="{FF2B5EF4-FFF2-40B4-BE49-F238E27FC236}">
                <a16:creationId xmlns:a16="http://schemas.microsoft.com/office/drawing/2014/main" id="{7857873F-3A57-866B-9FD9-E38910B6EA17}"/>
              </a:ext>
            </a:extLst>
          </p:cNvPr>
          <p:cNvSpPr/>
          <p:nvPr/>
        </p:nvSpPr>
        <p:spPr>
          <a:xfrm>
            <a:off x="628770" y="3044577"/>
            <a:ext cx="439734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ADR-009로 async 전환이 제안되었습니다. Socratic 5Q가 이를 평가했습니다.</a:t>
            </a:r>
            <a:endParaRPr lang="en-US" sz="700" dirty="0"/>
          </a:p>
        </p:txBody>
      </p:sp>
      <p:sp>
        <p:nvSpPr>
          <p:cNvPr id="85" name="Text 13">
            <a:extLst>
              <a:ext uri="{FF2B5EF4-FFF2-40B4-BE49-F238E27FC236}">
                <a16:creationId xmlns:a16="http://schemas.microsoft.com/office/drawing/2014/main" id="{C245C76B-6177-A4F1-A68B-007A5F33E6F7}"/>
              </a:ext>
            </a:extLst>
          </p:cNvPr>
          <p:cNvSpPr/>
          <p:nvPr/>
        </p:nvSpPr>
        <p:spPr>
          <a:xfrm>
            <a:off x="454194" y="3330029"/>
            <a:ext cx="4657795" cy="1130945"/>
          </a:xfrm>
          <a:prstGeom prst="roundRect">
            <a:avLst>
              <a:gd name="adj" fmla="val 160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14">
            <a:extLst>
              <a:ext uri="{FF2B5EF4-FFF2-40B4-BE49-F238E27FC236}">
                <a16:creationId xmlns:a16="http://schemas.microsoft.com/office/drawing/2014/main" id="{55040BFE-8252-547C-2D16-26C7571E42F3}"/>
              </a:ext>
            </a:extLst>
          </p:cNvPr>
          <p:cNvSpPr/>
          <p:nvPr/>
        </p:nvSpPr>
        <p:spPr>
          <a:xfrm>
            <a:off x="590669" y="3428404"/>
            <a:ext cx="44308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5Q 평가 결과</a:t>
            </a:r>
            <a:endParaRPr lang="en-US" sz="700" dirty="0"/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9C791878-19F8-4365-CCBB-FC2B953C111F}"/>
              </a:ext>
            </a:extLst>
          </p:cNvPr>
          <p:cNvSpPr/>
          <p:nvPr/>
        </p:nvSpPr>
        <p:spPr>
          <a:xfrm>
            <a:off x="590670" y="3583930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700" dirty="0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5D66012E-7D4D-1586-A603-625001267EB5}"/>
              </a:ext>
            </a:extLst>
          </p:cNvPr>
          <p:cNvSpPr/>
          <p:nvPr/>
        </p:nvSpPr>
        <p:spPr>
          <a:xfrm>
            <a:off x="785485" y="3583930"/>
            <a:ext cx="3131536" cy="93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"이미 있나?" LangGraph는 동기. while(tool_use)도 동기. </a:t>
            </a: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구조와 충돌.</a:t>
            </a:r>
            <a:endParaRPr lang="en-US" sz="600" dirty="0"/>
          </a:p>
        </p:txBody>
      </p:sp>
      <p:sp>
        <p:nvSpPr>
          <p:cNvPr id="89" name="Text 17">
            <a:extLst>
              <a:ext uri="{FF2B5EF4-FFF2-40B4-BE49-F238E27FC236}">
                <a16:creationId xmlns:a16="http://schemas.microsoft.com/office/drawing/2014/main" id="{46E1C07B-C632-3309-F2B7-2777BD891DE1}"/>
              </a:ext>
            </a:extLst>
          </p:cNvPr>
          <p:cNvSpPr/>
          <p:nvPr/>
        </p:nvSpPr>
        <p:spPr>
          <a:xfrm>
            <a:off x="590670" y="3729930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700" dirty="0"/>
          </a:p>
        </p:txBody>
      </p:sp>
      <p:sp>
        <p:nvSpPr>
          <p:cNvPr id="90" name="Text 18">
            <a:extLst>
              <a:ext uri="{FF2B5EF4-FFF2-40B4-BE49-F238E27FC236}">
                <a16:creationId xmlns:a16="http://schemas.microsoft.com/office/drawing/2014/main" id="{338C69A9-1A22-3208-1DA9-5E03763263D7}"/>
              </a:ext>
            </a:extLst>
          </p:cNvPr>
          <p:cNvSpPr/>
          <p:nvPr/>
        </p:nvSpPr>
        <p:spPr>
          <a:xfrm>
            <a:off x="785486" y="3729930"/>
            <a:ext cx="2705624" cy="82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 하면 뭐가 깨지나?" 현재 파이프라인 정상 동작. 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깨지지 않음.</a:t>
            </a:r>
            <a:endParaRPr lang="en-US" sz="600" dirty="0"/>
          </a:p>
        </p:txBody>
      </p:sp>
      <p:sp>
        <p:nvSpPr>
          <p:cNvPr id="91" name="Text 19">
            <a:extLst>
              <a:ext uri="{FF2B5EF4-FFF2-40B4-BE49-F238E27FC236}">
                <a16:creationId xmlns:a16="http://schemas.microsoft.com/office/drawing/2014/main" id="{9536E6C0-B619-A47E-E977-B00636054C8A}"/>
              </a:ext>
            </a:extLst>
          </p:cNvPr>
          <p:cNvSpPr/>
          <p:nvPr/>
        </p:nvSpPr>
        <p:spPr>
          <a:xfrm>
            <a:off x="590670" y="3875931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700" dirty="0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9C0458EE-FADD-609D-952A-5F22A1C83C02}"/>
              </a:ext>
            </a:extLst>
          </p:cNvPr>
          <p:cNvSpPr/>
          <p:nvPr/>
        </p:nvSpPr>
        <p:spPr>
          <a:xfrm>
            <a:off x="785485" y="3889998"/>
            <a:ext cx="3260927" cy="82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"측정할 수 있나?" 3.9x 성능 목표. 하지만 LLM I/O가 병목이지 파이프라인이 아님.</a:t>
            </a:r>
            <a:endParaRPr lang="en-US" sz="600" dirty="0"/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6F94D589-5901-135E-5ED6-3432DDF7DFC1}"/>
              </a:ext>
            </a:extLst>
          </p:cNvPr>
          <p:cNvSpPr/>
          <p:nvPr/>
        </p:nvSpPr>
        <p:spPr>
          <a:xfrm>
            <a:off x="590670" y="4021931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700" dirty="0"/>
          </a:p>
        </p:txBody>
      </p:sp>
      <p:sp>
        <p:nvSpPr>
          <p:cNvPr id="94" name="Text 22">
            <a:extLst>
              <a:ext uri="{FF2B5EF4-FFF2-40B4-BE49-F238E27FC236}">
                <a16:creationId xmlns:a16="http://schemas.microsoft.com/office/drawing/2014/main" id="{B63786BE-C094-4B85-E6F1-C286BCD93332}"/>
              </a:ext>
            </a:extLst>
          </p:cNvPr>
          <p:cNvSpPr/>
          <p:nvPr/>
        </p:nvSpPr>
        <p:spPr>
          <a:xfrm>
            <a:off x="785486" y="4045376"/>
            <a:ext cx="2907538" cy="94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"되돌릴 수 있나?" async 전환은 전체 코드베이스 영향. </a:t>
            </a: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되돌리기 어려움.</a:t>
            </a:r>
            <a:endParaRPr lang="en-US" sz="600" dirty="0"/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2EBFC4B0-A38E-C76F-3CF7-1368345EF06F}"/>
              </a:ext>
            </a:extLst>
          </p:cNvPr>
          <p:cNvSpPr/>
          <p:nvPr/>
        </p:nvSpPr>
        <p:spPr>
          <a:xfrm>
            <a:off x="590670" y="4167931"/>
            <a:ext cx="1391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700" dirty="0"/>
          </a:p>
        </p:txBody>
      </p:sp>
      <p:sp>
        <p:nvSpPr>
          <p:cNvPr id="96" name="Text 24">
            <a:extLst>
              <a:ext uri="{FF2B5EF4-FFF2-40B4-BE49-F238E27FC236}">
                <a16:creationId xmlns:a16="http://schemas.microsoft.com/office/drawing/2014/main" id="{7017B597-F2E8-5DD6-EB2F-C1836BF53E3E}"/>
              </a:ext>
            </a:extLst>
          </p:cNvPr>
          <p:cNvSpPr/>
          <p:nvPr/>
        </p:nvSpPr>
        <p:spPr>
          <a:xfrm>
            <a:off x="785485" y="4191376"/>
            <a:ext cx="27485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"더 단순한 방법?" prompt caching으로 90% 비용 절감 이미 달성.</a:t>
            </a:r>
            <a:endParaRPr lang="en-US" sz="600" dirty="0"/>
          </a:p>
        </p:txBody>
      </p:sp>
      <p:sp>
        <p:nvSpPr>
          <p:cNvPr id="97" name="Text 25">
            <a:extLst>
              <a:ext uri="{FF2B5EF4-FFF2-40B4-BE49-F238E27FC236}">
                <a16:creationId xmlns:a16="http://schemas.microsoft.com/office/drawing/2014/main" id="{7BD727A5-2389-4394-BC28-97B958D8A5F8}"/>
              </a:ext>
            </a:extLst>
          </p:cNvPr>
          <p:cNvSpPr/>
          <p:nvPr/>
        </p:nvSpPr>
        <p:spPr>
          <a:xfrm>
            <a:off x="454194" y="4571655"/>
            <a:ext cx="4657795" cy="250627"/>
          </a:xfrm>
          <a:prstGeom prst="roundRect">
            <a:avLst>
              <a:gd name="adj" fmla="val 20269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D829037B-2FFD-11F0-457E-DFBEAD3122B5}"/>
              </a:ext>
            </a:extLst>
          </p:cNvPr>
          <p:cNvSpPr/>
          <p:nvPr/>
        </p:nvSpPr>
        <p:spPr>
          <a:xfrm>
            <a:off x="590669" y="4644580"/>
            <a:ext cx="44308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결정: 보류 (Roadmap). 추정 절약: ~40시간 엔지니어링 + 전환 리스크 회피.</a:t>
            </a:r>
            <a:endParaRPr lang="en-US" sz="700" dirty="0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C9CD2EB0-9807-7AA7-6597-DA564A99C2AB}"/>
              </a:ext>
            </a:extLst>
          </p:cNvPr>
          <p:cNvGrpSpPr/>
          <p:nvPr/>
        </p:nvGrpSpPr>
        <p:grpSpPr>
          <a:xfrm>
            <a:off x="5211021" y="3594550"/>
            <a:ext cx="3432718" cy="866424"/>
            <a:chOff x="457200" y="923627"/>
            <a:chExt cx="4051250" cy="1278582"/>
          </a:xfrm>
        </p:grpSpPr>
        <p:sp>
          <p:nvSpPr>
            <p:cNvPr id="121" name="Text 5">
              <a:extLst>
                <a:ext uri="{FF2B5EF4-FFF2-40B4-BE49-F238E27FC236}">
                  <a16:creationId xmlns:a16="http://schemas.microsoft.com/office/drawing/2014/main" id="{307692F1-E31C-B708-192C-47D2EF74C651}"/>
                </a:ext>
              </a:extLst>
            </p:cNvPr>
            <p:cNvSpPr/>
            <p:nvPr/>
          </p:nvSpPr>
          <p:spPr>
            <a:xfrm>
              <a:off x="457200" y="923627"/>
              <a:ext cx="4051250" cy="1278582"/>
            </a:xfrm>
            <a:prstGeom prst="roundRect">
              <a:avLst>
                <a:gd name="adj" fmla="val 3973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2" name="Text 6">
              <a:extLst>
                <a:ext uri="{FF2B5EF4-FFF2-40B4-BE49-F238E27FC236}">
                  <a16:creationId xmlns:a16="http://schemas.microsoft.com/office/drawing/2014/main" id="{38FC929F-C072-E67B-97D9-CF76916ECC6A}"/>
                </a:ext>
              </a:extLst>
            </p:cNvPr>
            <p:cNvSpPr/>
            <p:nvPr/>
          </p:nvSpPr>
          <p:spPr>
            <a:xfrm>
              <a:off x="593674" y="985267"/>
              <a:ext cx="3853866" cy="104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Job별 실패 빈도 (550+ PR 기준)</a:t>
              </a:r>
              <a:endParaRPr lang="en-US" sz="700" dirty="0"/>
            </a:p>
          </p:txBody>
        </p:sp>
        <p:sp>
          <p:nvSpPr>
            <p:cNvPr id="123" name="Text 7">
              <a:extLst>
                <a:ext uri="{FF2B5EF4-FFF2-40B4-BE49-F238E27FC236}">
                  <a16:creationId xmlns:a16="http://schemas.microsoft.com/office/drawing/2014/main" id="{862F9CF3-592F-09A5-6CC6-68C9C2D6D31F}"/>
                </a:ext>
              </a:extLst>
            </p:cNvPr>
            <p:cNvSpPr/>
            <p:nvPr/>
          </p:nvSpPr>
          <p:spPr>
            <a:xfrm>
              <a:off x="593675" y="1218605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ruff format</a:t>
              </a:r>
              <a:endParaRPr lang="en-US" sz="700" dirty="0"/>
            </a:p>
          </p:txBody>
        </p:sp>
        <p:sp>
          <p:nvSpPr>
            <p:cNvPr id="124" name="Text 8">
              <a:extLst>
                <a:ext uri="{FF2B5EF4-FFF2-40B4-BE49-F238E27FC236}">
                  <a16:creationId xmlns:a16="http://schemas.microsoft.com/office/drawing/2014/main" id="{488A4A60-0E6C-266E-F282-39BEA9A3FB53}"/>
                </a:ext>
              </a:extLst>
            </p:cNvPr>
            <p:cNvSpPr/>
            <p:nvPr/>
          </p:nvSpPr>
          <p:spPr>
            <a:xfrm>
              <a:off x="1558826" y="1202829"/>
              <a:ext cx="2286000" cy="126950"/>
            </a:xfrm>
            <a:prstGeom prst="roundRect">
              <a:avLst>
                <a:gd name="adj" fmla="val 20008"/>
              </a:avLst>
            </a:prstGeom>
            <a:solidFill>
              <a:srgbClr val="EF4444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5" name="Text 9">
              <a:extLst>
                <a:ext uri="{FF2B5EF4-FFF2-40B4-BE49-F238E27FC236}">
                  <a16:creationId xmlns:a16="http://schemas.microsoft.com/office/drawing/2014/main" id="{3794CED9-AAE4-A686-EBDA-501816A12573}"/>
                </a:ext>
              </a:extLst>
            </p:cNvPr>
            <p:cNvSpPr/>
            <p:nvPr/>
          </p:nvSpPr>
          <p:spPr>
            <a:xfrm>
              <a:off x="3921026" y="1223367"/>
              <a:ext cx="352583" cy="11972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~38%</a:t>
              </a:r>
              <a:endParaRPr lang="en-US" sz="600" dirty="0"/>
            </a:p>
          </p:txBody>
        </p:sp>
        <p:sp>
          <p:nvSpPr>
            <p:cNvPr id="126" name="Text 10">
              <a:extLst>
                <a:ext uri="{FF2B5EF4-FFF2-40B4-BE49-F238E27FC236}">
                  <a16:creationId xmlns:a16="http://schemas.microsoft.com/office/drawing/2014/main" id="{4A269B17-0277-D4FE-078F-F56EEE06BD36}"/>
                </a:ext>
              </a:extLst>
            </p:cNvPr>
            <p:cNvSpPr/>
            <p:nvPr/>
          </p:nvSpPr>
          <p:spPr>
            <a:xfrm>
              <a:off x="593675" y="1408956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mypy strict</a:t>
              </a:r>
              <a:endParaRPr lang="en-US" sz="700" dirty="0"/>
            </a:p>
          </p:txBody>
        </p:sp>
        <p:sp>
          <p:nvSpPr>
            <p:cNvPr id="127" name="Text 11">
              <a:extLst>
                <a:ext uri="{FF2B5EF4-FFF2-40B4-BE49-F238E27FC236}">
                  <a16:creationId xmlns:a16="http://schemas.microsoft.com/office/drawing/2014/main" id="{5552252F-5BED-7EDE-04C6-099064DD0A56}"/>
                </a:ext>
              </a:extLst>
            </p:cNvPr>
            <p:cNvSpPr/>
            <p:nvPr/>
          </p:nvSpPr>
          <p:spPr>
            <a:xfrm>
              <a:off x="1558826" y="1393180"/>
              <a:ext cx="1524000" cy="126950"/>
            </a:xfrm>
            <a:prstGeom prst="roundRect">
              <a:avLst>
                <a:gd name="adj" fmla="val 20008"/>
              </a:avLst>
            </a:prstGeom>
            <a:solidFill>
              <a:srgbClr val="F97316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28" name="Text 12">
              <a:extLst>
                <a:ext uri="{FF2B5EF4-FFF2-40B4-BE49-F238E27FC236}">
                  <a16:creationId xmlns:a16="http://schemas.microsoft.com/office/drawing/2014/main" id="{03613D33-65CB-F14C-8DBA-EB4E58426CB2}"/>
                </a:ext>
              </a:extLst>
            </p:cNvPr>
            <p:cNvSpPr/>
            <p:nvPr/>
          </p:nvSpPr>
          <p:spPr>
            <a:xfrm>
              <a:off x="3159026" y="1413719"/>
              <a:ext cx="373071" cy="708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~25%</a:t>
              </a:r>
              <a:endParaRPr lang="en-US" sz="600" dirty="0"/>
            </a:p>
          </p:txBody>
        </p:sp>
        <p:sp>
          <p:nvSpPr>
            <p:cNvPr id="129" name="Text 13">
              <a:extLst>
                <a:ext uri="{FF2B5EF4-FFF2-40B4-BE49-F238E27FC236}">
                  <a16:creationId xmlns:a16="http://schemas.microsoft.com/office/drawing/2014/main" id="{39EF53C1-909C-8304-3C58-2279DF94D797}"/>
                </a:ext>
              </a:extLst>
            </p:cNvPr>
            <p:cNvSpPr/>
            <p:nvPr/>
          </p:nvSpPr>
          <p:spPr>
            <a:xfrm>
              <a:off x="593675" y="1599307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pytest ≥2900</a:t>
              </a:r>
              <a:endParaRPr lang="en-US" sz="700" dirty="0"/>
            </a:p>
          </p:txBody>
        </p:sp>
        <p:sp>
          <p:nvSpPr>
            <p:cNvPr id="130" name="Text 14">
              <a:extLst>
                <a:ext uri="{FF2B5EF4-FFF2-40B4-BE49-F238E27FC236}">
                  <a16:creationId xmlns:a16="http://schemas.microsoft.com/office/drawing/2014/main" id="{3C380B5C-586A-2AA5-B15B-57BADD42EC12}"/>
                </a:ext>
              </a:extLst>
            </p:cNvPr>
            <p:cNvSpPr/>
            <p:nvPr/>
          </p:nvSpPr>
          <p:spPr>
            <a:xfrm>
              <a:off x="1558826" y="1583531"/>
              <a:ext cx="634901" cy="126950"/>
            </a:xfrm>
            <a:prstGeom prst="roundRect">
              <a:avLst>
                <a:gd name="adj" fmla="val 20008"/>
              </a:avLst>
            </a:prstGeom>
            <a:solidFill>
              <a:srgbClr val="F5C542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1" name="Text 15">
              <a:extLst>
                <a:ext uri="{FF2B5EF4-FFF2-40B4-BE49-F238E27FC236}">
                  <a16:creationId xmlns:a16="http://schemas.microsoft.com/office/drawing/2014/main" id="{7A238360-C3A4-6F49-5459-F0DC8E344F7E}"/>
                </a:ext>
              </a:extLst>
            </p:cNvPr>
            <p:cNvSpPr/>
            <p:nvPr/>
          </p:nvSpPr>
          <p:spPr>
            <a:xfrm>
              <a:off x="2269927" y="1604070"/>
              <a:ext cx="525500" cy="1202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~10%</a:t>
              </a:r>
              <a:endParaRPr lang="en-US" sz="600" dirty="0"/>
            </a:p>
          </p:txBody>
        </p:sp>
        <p:sp>
          <p:nvSpPr>
            <p:cNvPr id="132" name="Text 16">
              <a:extLst>
                <a:ext uri="{FF2B5EF4-FFF2-40B4-BE49-F238E27FC236}">
                  <a16:creationId xmlns:a16="http://schemas.microsoft.com/office/drawing/2014/main" id="{AC4425D1-890C-08D8-240C-67F0A530D055}"/>
                </a:ext>
              </a:extLst>
            </p:cNvPr>
            <p:cNvSpPr/>
            <p:nvPr/>
          </p:nvSpPr>
          <p:spPr>
            <a:xfrm>
              <a:off x="593675" y="1789658"/>
              <a:ext cx="90672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bandit security</a:t>
              </a:r>
              <a:endParaRPr lang="en-US" sz="700" dirty="0"/>
            </a:p>
          </p:txBody>
        </p:sp>
        <p:sp>
          <p:nvSpPr>
            <p:cNvPr id="133" name="Text 17">
              <a:extLst>
                <a:ext uri="{FF2B5EF4-FFF2-40B4-BE49-F238E27FC236}">
                  <a16:creationId xmlns:a16="http://schemas.microsoft.com/office/drawing/2014/main" id="{5BE04EC6-2E61-DFFE-513D-90943D36EDBC}"/>
                </a:ext>
              </a:extLst>
            </p:cNvPr>
            <p:cNvSpPr/>
            <p:nvPr/>
          </p:nvSpPr>
          <p:spPr>
            <a:xfrm>
              <a:off x="1558826" y="1773882"/>
              <a:ext cx="317450" cy="126950"/>
            </a:xfrm>
            <a:prstGeom prst="roundRect">
              <a:avLst>
                <a:gd name="adj" fmla="val 20008"/>
              </a:avLst>
            </a:prstGeom>
            <a:solidFill>
              <a:srgbClr val="818CF8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4" name="Text 18">
              <a:extLst>
                <a:ext uri="{FF2B5EF4-FFF2-40B4-BE49-F238E27FC236}">
                  <a16:creationId xmlns:a16="http://schemas.microsoft.com/office/drawing/2014/main" id="{64858E94-0B29-0321-53C4-716C241FF41F}"/>
                </a:ext>
              </a:extLst>
            </p:cNvPr>
            <p:cNvSpPr/>
            <p:nvPr/>
          </p:nvSpPr>
          <p:spPr>
            <a:xfrm>
              <a:off x="1952476" y="1794420"/>
              <a:ext cx="389686" cy="177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~5%</a:t>
              </a:r>
              <a:endParaRPr lang="en-US" sz="600" dirty="0"/>
            </a:p>
          </p:txBody>
        </p:sp>
        <p:sp>
          <p:nvSpPr>
            <p:cNvPr id="135" name="Text 19">
              <a:extLst>
                <a:ext uri="{FF2B5EF4-FFF2-40B4-BE49-F238E27FC236}">
                  <a16:creationId xmlns:a16="http://schemas.microsoft.com/office/drawing/2014/main" id="{5F09ABA1-C4C4-06F7-9282-298D00661AD7}"/>
                </a:ext>
              </a:extLst>
            </p:cNvPr>
            <p:cNvSpPr/>
            <p:nvPr/>
          </p:nvSpPr>
          <p:spPr>
            <a:xfrm>
              <a:off x="593675" y="1975247"/>
              <a:ext cx="906729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gate (종합)</a:t>
              </a:r>
              <a:endParaRPr lang="en-US" sz="700" dirty="0"/>
            </a:p>
          </p:txBody>
        </p:sp>
        <p:sp>
          <p:nvSpPr>
            <p:cNvPr id="136" name="Text 20">
              <a:extLst>
                <a:ext uri="{FF2B5EF4-FFF2-40B4-BE49-F238E27FC236}">
                  <a16:creationId xmlns:a16="http://schemas.microsoft.com/office/drawing/2014/main" id="{076FD939-8200-33E3-C6CB-62A0BB382783}"/>
                </a:ext>
              </a:extLst>
            </p:cNvPr>
            <p:cNvSpPr/>
            <p:nvPr/>
          </p:nvSpPr>
          <p:spPr>
            <a:xfrm>
              <a:off x="1558826" y="1964234"/>
              <a:ext cx="126950" cy="126950"/>
            </a:xfrm>
            <a:prstGeom prst="roundRect">
              <a:avLst>
                <a:gd name="adj" fmla="val 20008"/>
              </a:avLst>
            </a:prstGeom>
            <a:solidFill>
              <a:srgbClr val="34D399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7" name="Text 21">
              <a:extLst>
                <a:ext uri="{FF2B5EF4-FFF2-40B4-BE49-F238E27FC236}">
                  <a16:creationId xmlns:a16="http://schemas.microsoft.com/office/drawing/2014/main" id="{80297FEE-7195-4D47-AD1F-26103DEFBA5C}"/>
                </a:ext>
              </a:extLst>
            </p:cNvPr>
            <p:cNvSpPr/>
            <p:nvPr/>
          </p:nvSpPr>
          <p:spPr>
            <a:xfrm>
              <a:off x="1761975" y="1984773"/>
              <a:ext cx="924121" cy="725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~2%</a:t>
              </a:r>
              <a:endParaRPr lang="en-US" sz="600" dirty="0"/>
            </a:p>
          </p:txBody>
        </p:sp>
      </p:grpSp>
      <p:sp>
        <p:nvSpPr>
          <p:cNvPr id="143" name="Text 25">
            <a:extLst>
              <a:ext uri="{FF2B5EF4-FFF2-40B4-BE49-F238E27FC236}">
                <a16:creationId xmlns:a16="http://schemas.microsoft.com/office/drawing/2014/main" id="{788B6D1E-CBFB-AFF8-4C4D-462099BCC6EB}"/>
              </a:ext>
            </a:extLst>
          </p:cNvPr>
          <p:cNvSpPr/>
          <p:nvPr/>
        </p:nvSpPr>
        <p:spPr>
          <a:xfrm>
            <a:off x="5211021" y="4597081"/>
            <a:ext cx="3475780" cy="280235"/>
          </a:xfrm>
          <a:prstGeom prst="roundRect">
            <a:avLst>
              <a:gd name="adj" fmla="val 183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 </a:t>
            </a:r>
            <a:r>
              <a:rPr lang="ko-KR" altLang="en-US" dirty="0" err="1"/>
              <a:t>ㅌㅌㅌㅌㅌㅌ</a:t>
            </a:r>
            <a:endParaRPr lang="en-US" dirty="0"/>
          </a:p>
        </p:txBody>
      </p:sp>
      <p:sp>
        <p:nvSpPr>
          <p:cNvPr id="144" name="Text 26">
            <a:extLst>
              <a:ext uri="{FF2B5EF4-FFF2-40B4-BE49-F238E27FC236}">
                <a16:creationId xmlns:a16="http://schemas.microsoft.com/office/drawing/2014/main" id="{571F5A77-9AD8-00D1-6E51-0583715580A9}"/>
              </a:ext>
            </a:extLst>
          </p:cNvPr>
          <p:cNvSpPr/>
          <p:nvPr/>
        </p:nvSpPr>
        <p:spPr>
          <a:xfrm>
            <a:off x="5327615" y="4682806"/>
            <a:ext cx="3465711" cy="106296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래칫</a:t>
            </a: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추이: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2,900 → 3,377. 테스트 수는 단조 증가만 허용합니다. 감소하는 </a:t>
            </a:r>
            <a:r>
              <a:rPr lang="en-US" sz="6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PR은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머지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600" dirty="0" err="1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+ 5-Persona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 이상 프론티어에서 수렴한 패턴만 채택하고, 5인 페르소나가 단일 리뷰어가 놓치는 것을 병렬로 검수합니다.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36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Autonomous Loop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P1→CANNOT 규칙. P4→CI ratchet. P6→컨텍스트 압축. P10→최소 구현.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5336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701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1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 / PSPDFKit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6701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Session Key. Lane Queue 동시성. Atomic write for .env 보안.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4657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4657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 / Anthropic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6575" y="1304627"/>
            <a:ext cx="1761845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AgenticLoop. HITL 3-tier SAFE/WRITE/DANGEROUS. Sliding-window context.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686550" y="863501"/>
            <a:ext cx="2000250" cy="951756"/>
          </a:xfrm>
          <a:prstGeom prst="roundRect">
            <a:avLst>
              <a:gd name="adj" fmla="val 533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23025" y="974527"/>
            <a:ext cx="17618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23025" y="1145977"/>
            <a:ext cx="17618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23025" y="1304627"/>
            <a:ext cx="176184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 + .owner 소유권. Bash resource limits. Secret redaction.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1891457"/>
            <a:ext cx="1595140" cy="846969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1900982"/>
            <a:ext cx="159514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 flipH="1">
            <a:off x="2041701" y="1891457"/>
            <a:ext cx="5875" cy="846967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2738426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 flipH="1">
            <a:off x="461813" y="1891457"/>
            <a:ext cx="149" cy="846967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822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822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6822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단순한 구현인가? 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불필요한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추상화</a:t>
            </a:r>
            <a:r>
              <a:rPr lang="ko-KR" alt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인가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paths 테스트됐는가?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115741" y="1891457"/>
            <a:ext cx="1595289" cy="846969"/>
          </a:xfrm>
          <a:prstGeom prst="roundRect">
            <a:avLst>
              <a:gd name="adj" fmla="val 31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2115741" y="1900982"/>
            <a:ext cx="1595289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3706267" y="1891457"/>
            <a:ext cx="4150" cy="84696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115741" y="2738423"/>
            <a:ext cx="159528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flipH="1">
            <a:off x="2120499" y="1891458"/>
            <a:ext cx="3" cy="846966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226766" y="1999357"/>
            <a:ext cx="140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26766" y="2113657"/>
            <a:ext cx="14007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2226766" y="2240607"/>
            <a:ext cx="140070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guard? Ratchet? </a:t>
            </a:r>
          </a:p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윈도우 소비량은?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74430" y="1891457"/>
            <a:ext cx="1595140" cy="846969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774430" y="1900982"/>
            <a:ext cx="159514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364806" y="1891457"/>
            <a:ext cx="612" cy="84696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774430" y="2751879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 flipH="1">
            <a:off x="3778580" y="1891457"/>
            <a:ext cx="613" cy="84696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88545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8545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388545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write? 크래시 시 상태 파일 무결성 보장?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432971" y="1891457"/>
            <a:ext cx="1595289" cy="846969"/>
          </a:xfrm>
          <a:prstGeom prst="roundRect">
            <a:avLst>
              <a:gd name="adj" fmla="val 318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432971" y="1900982"/>
            <a:ext cx="1595289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 flipH="1">
            <a:off x="6989547" y="1891457"/>
            <a:ext cx="33950" cy="846955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5432971" y="2738420"/>
            <a:ext cx="1595289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437733" y="1891457"/>
            <a:ext cx="27462" cy="84695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543996" y="1999357"/>
            <a:ext cx="14007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543996" y="2113657"/>
            <a:ext cx="140070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5543996" y="2240607"/>
            <a:ext cx="140070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definitions?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HITL classification?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정합성?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091660" y="1891457"/>
            <a:ext cx="1595140" cy="846969"/>
          </a:xfrm>
          <a:prstGeom prst="roundRect">
            <a:avLst>
              <a:gd name="adj" fmla="val 318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7091660" y="1900982"/>
            <a:ext cx="159514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8682037" y="1891458"/>
            <a:ext cx="19159" cy="84696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7095541" y="2738420"/>
            <a:ext cx="159514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7096422" y="1891458"/>
            <a:ext cx="4151" cy="84696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7202686" y="1999357"/>
            <a:ext cx="140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02686" y="2113657"/>
            <a:ext cx="14005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누락·기망·괴리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7202686" y="2240607"/>
            <a:ext cx="140055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계획과 구현이 일치하는가? </a:t>
            </a:r>
          </a:p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누락된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경로? 문서와 코드의 괴리?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57200" y="5000625"/>
            <a:ext cx="33579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scaffold skills encode patterns once, reused across all PRs — research time must not exceed implementation time</a:t>
            </a:r>
            <a:endParaRPr lang="en-US" sz="500" dirty="0"/>
          </a:p>
        </p:txBody>
      </p:sp>
      <p:sp>
        <p:nvSpPr>
          <p:cNvPr id="63" name="Text 61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29</a:t>
            </a:r>
            <a:endParaRPr lang="en-US" sz="5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5BE66E13-A463-84C0-0DB2-5D7B57F3F267}"/>
              </a:ext>
            </a:extLst>
          </p:cNvPr>
          <p:cNvSpPr/>
          <p:nvPr/>
        </p:nvSpPr>
        <p:spPr>
          <a:xfrm>
            <a:off x="4660850" y="2836618"/>
            <a:ext cx="4051399" cy="1849487"/>
          </a:xfrm>
          <a:prstGeom prst="roundRect">
            <a:avLst>
              <a:gd name="adj" fmla="val 274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87A558A1-2B4B-0A97-B190-676547433C5F}"/>
              </a:ext>
            </a:extLst>
          </p:cNvPr>
          <p:cNvSpPr/>
          <p:nvPr/>
        </p:nvSpPr>
        <p:spPr>
          <a:xfrm>
            <a:off x="4797325" y="2934994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GEODE 채택 매핑</a:t>
            </a:r>
            <a:endParaRPr lang="en-US" sz="70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7FE8DD78-4108-EB82-ECEC-4113B7FA3DC0}"/>
              </a:ext>
            </a:extLst>
          </p:cNvPr>
          <p:cNvSpPr/>
          <p:nvPr/>
        </p:nvSpPr>
        <p:spPr>
          <a:xfrm>
            <a:off x="4797325" y="3103170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D00EBF9F-BBCD-CF29-1FAD-5025BC3A1782}"/>
              </a:ext>
            </a:extLst>
          </p:cNvPr>
          <p:cNvSpPr/>
          <p:nvPr/>
        </p:nvSpPr>
        <p:spPr>
          <a:xfrm>
            <a:off x="4898826" y="3166570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(OpenClaw)</a:t>
            </a:r>
            <a:endParaRPr lang="en-US" sz="700" dirty="0"/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A7A70244-B9A5-F0AF-A5DC-10FD15DE0397}"/>
              </a:ext>
            </a:extLst>
          </p:cNvPr>
          <p:cNvSpPr/>
          <p:nvPr/>
        </p:nvSpPr>
        <p:spPr>
          <a:xfrm>
            <a:off x="4898826" y="3287121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 per-key pattern, depth=1 재귀 금지, SOUL/Project memory 2-tier</a:t>
            </a:r>
            <a:endParaRPr lang="en-US" sz="600" dirty="0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DE310D30-D032-86F5-DE2A-1AA490767694}"/>
              </a:ext>
            </a:extLst>
          </p:cNvPr>
          <p:cNvSpPr/>
          <p:nvPr/>
        </p:nvSpPr>
        <p:spPr>
          <a:xfrm>
            <a:off x="4797325" y="3486997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35">
            <a:extLst>
              <a:ext uri="{FF2B5EF4-FFF2-40B4-BE49-F238E27FC236}">
                <a16:creationId xmlns:a16="http://schemas.microsoft.com/office/drawing/2014/main" id="{0BE9E30B-F914-2E68-BAB5-82758D05A7FA}"/>
              </a:ext>
            </a:extLst>
          </p:cNvPr>
          <p:cNvSpPr/>
          <p:nvPr/>
        </p:nvSpPr>
        <p:spPr>
          <a:xfrm>
            <a:off x="4898826" y="3550398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(OpenAI)</a:t>
            </a:r>
            <a:endParaRPr lang="en-US" sz="700" dirty="0"/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C86DD28C-6624-BC0F-1B4A-3B1EE87520F8}"/>
              </a:ext>
            </a:extLst>
          </p:cNvPr>
          <p:cNvSpPr/>
          <p:nvPr/>
        </p:nvSpPr>
        <p:spPr>
          <a:xfrm>
            <a:off x="4898826" y="3670949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전략, time_budget_s(max_rounds deprecated), thin client IPC</a:t>
            </a:r>
            <a:endParaRPr lang="en-US" sz="600" dirty="0"/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01A8AAED-6233-4AEE-4682-0FC79D34C117}"/>
              </a:ext>
            </a:extLst>
          </p:cNvPr>
          <p:cNvSpPr/>
          <p:nvPr/>
        </p:nvSpPr>
        <p:spPr>
          <a:xfrm>
            <a:off x="4797325" y="3870825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38">
            <a:extLst>
              <a:ext uri="{FF2B5EF4-FFF2-40B4-BE49-F238E27FC236}">
                <a16:creationId xmlns:a16="http://schemas.microsoft.com/office/drawing/2014/main" id="{D4835033-9A4D-B0BC-7C0A-B6414F8D1EBC}"/>
              </a:ext>
            </a:extLst>
          </p:cNvPr>
          <p:cNvSpPr/>
          <p:nvPr/>
        </p:nvSpPr>
        <p:spPr>
          <a:xfrm>
            <a:off x="4898826" y="3934226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700" dirty="0"/>
          </a:p>
        </p:txBody>
      </p:sp>
      <p:sp>
        <p:nvSpPr>
          <p:cNvPr id="74" name="Text 39">
            <a:extLst>
              <a:ext uri="{FF2B5EF4-FFF2-40B4-BE49-F238E27FC236}">
                <a16:creationId xmlns:a16="http://schemas.microsoft.com/office/drawing/2014/main" id="{C3E00DED-FE52-DC4B-518E-A2BC0074E6E9}"/>
              </a:ext>
            </a:extLst>
          </p:cNvPr>
          <p:cNvSpPr/>
          <p:nvPr/>
        </p:nvSpPr>
        <p:spPr>
          <a:xfrm>
            <a:off x="4898826" y="4054777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동기 루프, convergence detection (동일 에러 반복 감지)</a:t>
            </a:r>
            <a:endParaRPr lang="en-US" sz="60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B10A67A2-8586-6161-AB34-B3C173EDA865}"/>
              </a:ext>
            </a:extLst>
          </p:cNvPr>
          <p:cNvSpPr/>
          <p:nvPr/>
        </p:nvSpPr>
        <p:spPr>
          <a:xfrm>
            <a:off x="4797325" y="4254653"/>
            <a:ext cx="3778448" cy="333077"/>
          </a:xfrm>
          <a:prstGeom prst="roundRect">
            <a:avLst>
              <a:gd name="adj" fmla="val 152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41">
            <a:extLst>
              <a:ext uri="{FF2B5EF4-FFF2-40B4-BE49-F238E27FC236}">
                <a16:creationId xmlns:a16="http://schemas.microsoft.com/office/drawing/2014/main" id="{C4DA4BB8-2DD1-63EB-FE31-CB78B9BC0BFE}"/>
              </a:ext>
            </a:extLst>
          </p:cNvPr>
          <p:cNvSpPr/>
          <p:nvPr/>
        </p:nvSpPr>
        <p:spPr>
          <a:xfrm>
            <a:off x="4898826" y="4318054"/>
            <a:ext cx="36469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LLM Patterns</a:t>
            </a:r>
            <a:endParaRPr lang="en-US" sz="700" dirty="0"/>
          </a:p>
        </p:txBody>
      </p:sp>
      <p:sp>
        <p:nvSpPr>
          <p:cNvPr id="77" name="Text 42">
            <a:extLst>
              <a:ext uri="{FF2B5EF4-FFF2-40B4-BE49-F238E27FC236}">
                <a16:creationId xmlns:a16="http://schemas.microsoft.com/office/drawing/2014/main" id="{E8B434D5-7B99-F756-BF63-3095A7499294}"/>
              </a:ext>
            </a:extLst>
          </p:cNvPr>
          <p:cNvSpPr/>
          <p:nvPr/>
        </p:nvSpPr>
        <p:spPr>
          <a:xfrm>
            <a:off x="4898826" y="4438604"/>
            <a:ext cx="36469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4-char/token 보수 추정, P7 SOUL identity, P8 minimal context window</a:t>
            </a:r>
            <a:endParaRPr lang="en-US" sz="600" dirty="0"/>
          </a:p>
        </p:txBody>
      </p:sp>
      <p:sp>
        <p:nvSpPr>
          <p:cNvPr id="78" name="Text 43">
            <a:extLst>
              <a:ext uri="{FF2B5EF4-FFF2-40B4-BE49-F238E27FC236}">
                <a16:creationId xmlns:a16="http://schemas.microsoft.com/office/drawing/2014/main" id="{2294A1B3-FD91-E461-38EC-884FF7190E21}"/>
              </a:ext>
            </a:extLst>
          </p:cNvPr>
          <p:cNvSpPr/>
          <p:nvPr/>
        </p:nvSpPr>
        <p:spPr>
          <a:xfrm>
            <a:off x="482501" y="2861784"/>
            <a:ext cx="4051399" cy="850404"/>
          </a:xfrm>
          <a:prstGeom prst="roundRect">
            <a:avLst>
              <a:gd name="adj" fmla="val 597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9" name="Shape 44">
            <a:extLst>
              <a:ext uri="{FF2B5EF4-FFF2-40B4-BE49-F238E27FC236}">
                <a16:creationId xmlns:a16="http://schemas.microsoft.com/office/drawing/2014/main" id="{34004624-A6C3-0F1B-929F-AE4330F4C536}"/>
              </a:ext>
            </a:extLst>
          </p:cNvPr>
          <p:cNvSpPr/>
          <p:nvPr/>
        </p:nvSpPr>
        <p:spPr>
          <a:xfrm>
            <a:off x="506313" y="2861784"/>
            <a:ext cx="0" cy="850404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45">
            <a:extLst>
              <a:ext uri="{FF2B5EF4-FFF2-40B4-BE49-F238E27FC236}">
                <a16:creationId xmlns:a16="http://schemas.microsoft.com/office/drawing/2014/main" id="{729144C3-1975-C325-DC44-50F83FB0533B}"/>
              </a:ext>
            </a:extLst>
          </p:cNvPr>
          <p:cNvSpPr/>
          <p:nvPr/>
        </p:nvSpPr>
        <p:spPr>
          <a:xfrm>
            <a:off x="657076" y="2950635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5-Persona가 잡은 결함 (v0.35-v0.38)</a:t>
            </a:r>
            <a:endParaRPr lang="en-US" sz="700" dirty="0"/>
          </a:p>
        </p:txBody>
      </p:sp>
      <p:sp>
        <p:nvSpPr>
          <p:cNvPr id="81" name="Text 46">
            <a:extLst>
              <a:ext uri="{FF2B5EF4-FFF2-40B4-BE49-F238E27FC236}">
                <a16:creationId xmlns:a16="http://schemas.microsoft.com/office/drawing/2014/main" id="{9F0967B8-F09D-8C64-D5F3-5889DF848CE7}"/>
              </a:ext>
            </a:extLst>
          </p:cNvPr>
          <p:cNvSpPr/>
          <p:nvPr/>
        </p:nvSpPr>
        <p:spPr>
          <a:xfrm>
            <a:off x="657076" y="3093510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Beck: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CoalescingQueue dead code (Simple Design Rule 4)</a:t>
            </a:r>
            <a:endParaRPr lang="en-US" sz="600" dirty="0"/>
          </a:p>
        </p:txBody>
      </p:sp>
      <p:sp>
        <p:nvSpPr>
          <p:cNvPr id="82" name="Text 47">
            <a:extLst>
              <a:ext uri="{FF2B5EF4-FFF2-40B4-BE49-F238E27FC236}">
                <a16:creationId xmlns:a16="http://schemas.microsoft.com/office/drawing/2014/main" id="{F041EC4E-47FE-9B4A-B223-705181C32C58}"/>
              </a:ext>
            </a:extLst>
          </p:cNvPr>
          <p:cNvSpPr/>
          <p:nvPr/>
        </p:nvSpPr>
        <p:spPr>
          <a:xfrm>
            <a:off x="657076" y="3204535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Karpathy: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6L→4L 레이어 과잉 (정보 이론 관점)</a:t>
            </a:r>
            <a:endParaRPr lang="en-US" sz="600" dirty="0"/>
          </a:p>
        </p:txBody>
      </p:sp>
      <p:sp>
        <p:nvSpPr>
          <p:cNvPr id="83" name="Text 48">
            <a:extLst>
              <a:ext uri="{FF2B5EF4-FFF2-40B4-BE49-F238E27FC236}">
                <a16:creationId xmlns:a16="http://schemas.microsoft.com/office/drawing/2014/main" id="{2C959E19-DD4B-3CC8-6D30-45437D160F3F}"/>
              </a:ext>
            </a:extLst>
          </p:cNvPr>
          <p:cNvSpPr/>
          <p:nvPr/>
        </p:nvSpPr>
        <p:spPr>
          <a:xfrm>
            <a:off x="657076" y="3315561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Steinberger: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TOCTOU race in serve auto-start (운영 관점)</a:t>
            </a:r>
            <a:endParaRPr lang="en-US" sz="600" dirty="0"/>
          </a:p>
        </p:txBody>
      </p:sp>
      <p:sp>
        <p:nvSpPr>
          <p:cNvPr id="84" name="Text 49">
            <a:extLst>
              <a:ext uri="{FF2B5EF4-FFF2-40B4-BE49-F238E27FC236}">
                <a16:creationId xmlns:a16="http://schemas.microsoft.com/office/drawing/2014/main" id="{BF083DF3-DC1F-8305-033C-4D9E9980ED22}"/>
              </a:ext>
            </a:extLst>
          </p:cNvPr>
          <p:cNvSpPr/>
          <p:nvPr/>
        </p:nvSpPr>
        <p:spPr>
          <a:xfrm>
            <a:off x="657076" y="3426587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Cherny: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SessionLane boundary leak 가능성 (격리 관점)</a:t>
            </a:r>
            <a:endParaRPr lang="en-US" sz="600" dirty="0"/>
          </a:p>
        </p:txBody>
      </p:sp>
      <p:sp>
        <p:nvSpPr>
          <p:cNvPr id="85" name="Text 50">
            <a:extLst>
              <a:ext uri="{FF2B5EF4-FFF2-40B4-BE49-F238E27FC236}">
                <a16:creationId xmlns:a16="http://schemas.microsoft.com/office/drawing/2014/main" id="{097BD89C-4C45-CF26-4CCA-D896F7F4E793}"/>
              </a:ext>
            </a:extLst>
          </p:cNvPr>
          <p:cNvSpPr/>
          <p:nvPr/>
        </p:nvSpPr>
        <p:spPr>
          <a:xfrm>
            <a:off x="657076" y="3537613"/>
            <a:ext cx="38248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Detective: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Prompt/Gateway 2개 카테고리 hook 미등록 발견</a:t>
            </a:r>
            <a:endParaRPr lang="en-US" sz="600" dirty="0"/>
          </a:p>
        </p:txBody>
      </p:sp>
      <p:sp>
        <p:nvSpPr>
          <p:cNvPr id="91" name="Text 29">
            <a:extLst>
              <a:ext uri="{FF2B5EF4-FFF2-40B4-BE49-F238E27FC236}">
                <a16:creationId xmlns:a16="http://schemas.microsoft.com/office/drawing/2014/main" id="{2829861E-C551-5256-1441-64877386EBA5}"/>
              </a:ext>
            </a:extLst>
          </p:cNvPr>
          <p:cNvSpPr/>
          <p:nvPr/>
        </p:nvSpPr>
        <p:spPr>
          <a:xfrm>
            <a:off x="483204" y="3775471"/>
            <a:ext cx="4051399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30">
            <a:extLst>
              <a:ext uri="{FF2B5EF4-FFF2-40B4-BE49-F238E27FC236}">
                <a16:creationId xmlns:a16="http://schemas.microsoft.com/office/drawing/2014/main" id="{7B435AA5-68A5-C214-4374-8B037E0C79A5}"/>
              </a:ext>
            </a:extLst>
          </p:cNvPr>
          <p:cNvSpPr/>
          <p:nvPr/>
        </p:nvSpPr>
        <p:spPr>
          <a:xfrm>
            <a:off x="507016" y="3775471"/>
            <a:ext cx="0" cy="444103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31">
            <a:extLst>
              <a:ext uri="{FF2B5EF4-FFF2-40B4-BE49-F238E27FC236}">
                <a16:creationId xmlns:a16="http://schemas.microsoft.com/office/drawing/2014/main" id="{56463DA6-465D-F1D4-939B-C2FF4622F039}"/>
              </a:ext>
            </a:extLst>
          </p:cNvPr>
          <p:cNvSpPr/>
          <p:nvPr/>
        </p:nvSpPr>
        <p:spPr>
          <a:xfrm>
            <a:off x="657779" y="3864322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원칙: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"프론티어에서 쓰니까"는 채택 근거가 아닙니다. 3개 이상의 독립 소스가 수렴하고, GEODE 맥락에서 문제를 해결하는 경우에만 채택합니다.</a:t>
            </a:r>
            <a:endParaRPr lang="en-US" sz="700" dirty="0"/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172633E8-1841-8352-BC59-01646AA6D9E0}"/>
              </a:ext>
            </a:extLst>
          </p:cNvPr>
          <p:cNvSpPr/>
          <p:nvPr/>
        </p:nvSpPr>
        <p:spPr>
          <a:xfrm>
            <a:off x="454802" y="4322861"/>
            <a:ext cx="4051399" cy="276225"/>
          </a:xfrm>
          <a:prstGeom prst="roundRect">
            <a:avLst>
              <a:gd name="adj" fmla="val 183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50F55C9E-FFBC-3665-AA67-020CFECD4373}"/>
              </a:ext>
            </a:extLst>
          </p:cNvPr>
          <p:cNvSpPr/>
          <p:nvPr/>
        </p:nvSpPr>
        <p:spPr>
          <a:xfrm>
            <a:off x="591277" y="4408586"/>
            <a:ext cx="3854017" cy="10477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기각률 43%.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채택한 것보다 버린 것이 시스템의 단순함을 만들었습니다.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789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HE-0: SCAFFOLDING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Iteration Velocity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38일+, 1,300+ 커밋, 44 releases — 엔지니어링 시스템이 완성될수록 속도는 복리로 증가했습니다.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31639" y="4096048"/>
            <a:ext cx="2017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56348"/>
            <a:ext cx="746671" cy="355550"/>
          </a:xfrm>
          <a:prstGeom prst="roundRect">
            <a:avLst>
              <a:gd name="adj" fmla="val 10716"/>
            </a:avLst>
          </a:prstGeom>
          <a:solidFill>
            <a:srgbClr val="818CF8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10010" y="3867448"/>
            <a:ext cx="292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071" y="4127748"/>
            <a:ext cx="746820" cy="584150"/>
          </a:xfrm>
          <a:prstGeom prst="roundRect">
            <a:avLst>
              <a:gd name="adj" fmla="val 6522"/>
            </a:avLst>
          </a:prstGeom>
          <a:solidFill>
            <a:srgbClr val="818CF8">
              <a:alpha val="3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8118" y="356264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090" y="3822948"/>
            <a:ext cx="746671" cy="888950"/>
          </a:xfrm>
          <a:prstGeom prst="roundRect">
            <a:avLst>
              <a:gd name="adj" fmla="val 5103"/>
            </a:avLst>
          </a:prstGeom>
          <a:solidFill>
            <a:srgbClr val="818CF8">
              <a:alpha val="4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50989" y="30927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5961" y="3353098"/>
            <a:ext cx="746820" cy="1358801"/>
          </a:xfrm>
          <a:prstGeom prst="roundRect">
            <a:avLst>
              <a:gd name="adj" fmla="val 510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74009" y="3207097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8980" y="3467398"/>
            <a:ext cx="746820" cy="1244501"/>
          </a:xfrm>
          <a:prstGeom prst="roundRect">
            <a:avLst>
              <a:gd name="adj" fmla="val 5102"/>
            </a:avLst>
          </a:prstGeom>
          <a:solidFill>
            <a:srgbClr val="818CF8">
              <a:alpha val="5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028" y="2546598"/>
            <a:ext cx="302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806898"/>
            <a:ext cx="746820" cy="1905000"/>
          </a:xfrm>
          <a:prstGeom prst="roundRect">
            <a:avLst>
              <a:gd name="adj" fmla="val 5102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33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9733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127260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27260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095624" y="4800749"/>
            <a:ext cx="76160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095624" y="4895999"/>
            <a:ext cx="7616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918493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918493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374151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151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4564532" y="4800749"/>
            <a:ext cx="7617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64532" y="4895999"/>
            <a:ext cx="76175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Maturation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795297" y="2320759"/>
            <a:ext cx="3241030" cy="1315156"/>
          </a:xfrm>
          <a:prstGeom prst="roundRect">
            <a:avLst>
              <a:gd name="adj" fmla="val 1567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1772" y="2431784"/>
            <a:ext cx="30274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Identity Pivot — 2일, 6 releases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31772" y="2606359"/>
            <a:ext cx="302744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v0.13.0: "Undervalued IP" → 범용 에이전트. DomainPort Protocol로 도메인 분리.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31772" y="2910861"/>
            <a:ext cx="302744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v0.15.0: Token Guard 철폐 — 하드 캡 대신 압축. max_turns 20→200.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31772" y="3094813"/>
            <a:ext cx="2968079" cy="2286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033273" y="3166250"/>
            <a:ext cx="6114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4/day → 67/day =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696154" y="3132913"/>
            <a:ext cx="38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5013424"/>
            <a:ext cx="243479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1,300+ commits · 550+ merged PRs · 44 releases · 0 hotfix bypasses · 0 regressions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92728" y="50134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29</a:t>
            </a:r>
            <a:endParaRPr lang="en-US" sz="5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3BC7B24-7F9B-6BD7-B061-FC46DB011F01}"/>
              </a:ext>
            </a:extLst>
          </p:cNvPr>
          <p:cNvGrpSpPr/>
          <p:nvPr/>
        </p:nvGrpSpPr>
        <p:grpSpPr>
          <a:xfrm>
            <a:off x="5063500" y="200138"/>
            <a:ext cx="4051250" cy="1963934"/>
            <a:chOff x="457200" y="831652"/>
            <a:chExt cx="4051250" cy="1963934"/>
          </a:xfrm>
        </p:grpSpPr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1BFE4F89-C829-36A3-E32F-1912FDC9F6CB}"/>
                </a:ext>
              </a:extLst>
            </p:cNvPr>
            <p:cNvSpPr/>
            <p:nvPr/>
          </p:nvSpPr>
          <p:spPr>
            <a:xfrm>
              <a:off x="457200" y="831652"/>
              <a:ext cx="4051250" cy="660202"/>
            </a:xfrm>
            <a:prstGeom prst="roundRect">
              <a:avLst>
                <a:gd name="adj" fmla="val 7695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0" name="Shape 5">
              <a:extLst>
                <a:ext uri="{FF2B5EF4-FFF2-40B4-BE49-F238E27FC236}">
                  <a16:creationId xmlns:a16="http://schemas.microsoft.com/office/drawing/2014/main" id="{DC6C93DE-B1F3-E6BE-BABB-88C1CB8506D6}"/>
                </a:ext>
              </a:extLst>
            </p:cNvPr>
            <p:cNvSpPr/>
            <p:nvPr/>
          </p:nvSpPr>
          <p:spPr>
            <a:xfrm>
              <a:off x="481012" y="831652"/>
              <a:ext cx="0" cy="660202"/>
            </a:xfrm>
            <a:prstGeom prst="line">
              <a:avLst/>
            </a:prstGeom>
            <a:noFill/>
            <a:ln w="47625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9FEDBB93-FF29-4D31-2068-1B67C1D1D76E}"/>
                </a:ext>
              </a:extLst>
            </p:cNvPr>
            <p:cNvSpPr/>
            <p:nvPr/>
          </p:nvSpPr>
          <p:spPr>
            <a:xfrm>
              <a:off x="657225" y="933152"/>
              <a:ext cx="3772802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복리의 원리:</a:t>
              </a:r>
              <a:r>
                <a:rPr lang="en-US" sz="8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Phase N에서 만든 도구가 Phase N+1의 생산성을 높입니다. CANNOT 규칙이 실수를 차단하고, Skills가 반복 작업을 자동화하고, CI가 품질을 보장합니다. 이 3가지가 겹치면서 속도가 가속됩니다.</a:t>
              </a:r>
              <a:endParaRPr lang="en-US" sz="800" dirty="0"/>
            </a:p>
          </p:txBody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B05F8784-8FEF-84C5-AFCD-B153F2A7BA96}"/>
                </a:ext>
              </a:extLst>
            </p:cNvPr>
            <p:cNvSpPr/>
            <p:nvPr/>
          </p:nvSpPr>
          <p:spPr>
            <a:xfrm>
              <a:off x="457200" y="1555255"/>
              <a:ext cx="4051250" cy="1240331"/>
            </a:xfrm>
            <a:prstGeom prst="roundRect">
              <a:avLst>
                <a:gd name="adj" fmla="val 1506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E470E7C4-AC88-FB51-9F29-FB4BFA02EC27}"/>
                </a:ext>
              </a:extLst>
            </p:cNvPr>
            <p:cNvSpPr/>
            <p:nvPr/>
          </p:nvSpPr>
          <p:spPr>
            <a:xfrm>
              <a:off x="593675" y="1666280"/>
              <a:ext cx="3853866" cy="123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Phase별 누적 도구</a:t>
              </a:r>
              <a:endParaRPr lang="en-US" sz="800" dirty="0"/>
            </a:p>
          </p:txBody>
        </p: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2E650571-F648-5A06-3AC9-0758DD22B263}"/>
                </a:ext>
              </a:extLst>
            </p:cNvPr>
            <p:cNvSpPr/>
            <p:nvPr/>
          </p:nvSpPr>
          <p:spPr>
            <a:xfrm>
              <a:off x="593675" y="1853505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8B949E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5" name="Text 10">
              <a:extLst>
                <a:ext uri="{FF2B5EF4-FFF2-40B4-BE49-F238E27FC236}">
                  <a16:creationId xmlns:a16="http://schemas.microsoft.com/office/drawing/2014/main" id="{22651437-9F6E-8289-2B97-FBE4349E19DC}"/>
                </a:ext>
              </a:extLst>
            </p:cNvPr>
            <p:cNvSpPr/>
            <p:nvPr/>
          </p:nvSpPr>
          <p:spPr>
            <a:xfrm>
              <a:off x="666320" y="1878806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Ph.0</a:t>
              </a:r>
              <a:endParaRPr lang="en-US" sz="600" dirty="0"/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594AA87D-6A80-0D0C-073A-C4482A822A56}"/>
                </a:ext>
              </a:extLst>
            </p:cNvPr>
            <p:cNvSpPr/>
            <p:nvPr/>
          </p:nvSpPr>
          <p:spPr>
            <a:xfrm>
              <a:off x="1177826" y="1869281"/>
              <a:ext cx="1819898" cy="457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기반 셋업. 도구 없음. 수작업 100%.</a:t>
              </a:r>
              <a:endParaRPr lang="en-US" sz="700" dirty="0"/>
            </a:p>
          </p:txBody>
        </p:sp>
        <p:sp>
          <p:nvSpPr>
            <p:cNvPr id="47" name="Text 12">
              <a:extLst>
                <a:ext uri="{FF2B5EF4-FFF2-40B4-BE49-F238E27FC236}">
                  <a16:creationId xmlns:a16="http://schemas.microsoft.com/office/drawing/2014/main" id="{AB6D5EE2-70C9-0AC8-4B51-0079B4F7C28D}"/>
                </a:ext>
              </a:extLst>
            </p:cNvPr>
            <p:cNvSpPr/>
            <p:nvPr/>
          </p:nvSpPr>
          <p:spPr>
            <a:xfrm>
              <a:off x="593675" y="2040582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C54F5C87-1F91-9D90-DD16-AAC19C490958}"/>
                </a:ext>
              </a:extLst>
            </p:cNvPr>
            <p:cNvSpPr/>
            <p:nvPr/>
          </p:nvSpPr>
          <p:spPr>
            <a:xfrm>
              <a:off x="666320" y="2065883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Ph.1-2</a:t>
              </a:r>
              <a:endParaRPr lang="en-US" sz="600" dirty="0"/>
            </a:p>
          </p:txBody>
        </p:sp>
        <p:sp>
          <p:nvSpPr>
            <p:cNvPr id="49" name="Text 14">
              <a:extLst>
                <a:ext uri="{FF2B5EF4-FFF2-40B4-BE49-F238E27FC236}">
                  <a16:creationId xmlns:a16="http://schemas.microsoft.com/office/drawing/2014/main" id="{024AA8F0-844D-4C4B-48EC-1D8B3AED14BC}"/>
                </a:ext>
              </a:extLst>
            </p:cNvPr>
            <p:cNvSpPr/>
            <p:nvPr/>
          </p:nvSpPr>
          <p:spPr>
            <a:xfrm>
              <a:off x="1177825" y="2056358"/>
              <a:ext cx="2564615" cy="75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CANNOT 규칙 5개 + CI 3-Job. 기본 품질 가드레일 확보.</a:t>
              </a:r>
              <a:endParaRPr lang="en-US" sz="700" dirty="0"/>
            </a:p>
          </p:txBody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9C81A93-26B2-D6F1-F31F-BA87C2B0C1CF}"/>
                </a:ext>
              </a:extLst>
            </p:cNvPr>
            <p:cNvSpPr/>
            <p:nvPr/>
          </p:nvSpPr>
          <p:spPr>
            <a:xfrm>
              <a:off x="593675" y="2227659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F59E0B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352479BC-8007-0D57-5051-D1996CEF4220}"/>
                </a:ext>
              </a:extLst>
            </p:cNvPr>
            <p:cNvSpPr/>
            <p:nvPr/>
          </p:nvSpPr>
          <p:spPr>
            <a:xfrm>
              <a:off x="666320" y="2252960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Ph.3</a:t>
              </a:r>
              <a:endParaRPr lang="en-US" sz="600" dirty="0"/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F780FD18-4375-6323-56B6-AB9BA9B55FBB}"/>
                </a:ext>
              </a:extLst>
            </p:cNvPr>
            <p:cNvSpPr/>
            <p:nvPr/>
          </p:nvSpPr>
          <p:spPr>
            <a:xfrm>
              <a:off x="1177826" y="2243435"/>
              <a:ext cx="2357830" cy="155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DomainPort 분리 + Skills 9개 + 5-Persona. </a:t>
              </a:r>
              <a:r>
                <a:rPr lang="en-US" sz="7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16.7x 폭발.</a:t>
              </a:r>
              <a:endParaRPr lang="en-US" sz="700" dirty="0"/>
            </a:p>
          </p:txBody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314EC1A5-EDB0-AF05-D42C-C4C6F6043094}"/>
                </a:ext>
              </a:extLst>
            </p:cNvPr>
            <p:cNvSpPr/>
            <p:nvPr/>
          </p:nvSpPr>
          <p:spPr>
            <a:xfrm>
              <a:off x="593675" y="2414736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042DCC2A-E1E0-2DFB-C348-88D399A0C481}"/>
                </a:ext>
              </a:extLst>
            </p:cNvPr>
            <p:cNvSpPr/>
            <p:nvPr/>
          </p:nvSpPr>
          <p:spPr>
            <a:xfrm>
              <a:off x="666320" y="2440037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Ph.4</a:t>
              </a:r>
              <a:endParaRPr lang="en-US" sz="600" dirty="0"/>
            </a:p>
          </p:txBody>
        </p:sp>
        <p:sp>
          <p:nvSpPr>
            <p:cNvPr id="55" name="Text 20">
              <a:extLst>
                <a:ext uri="{FF2B5EF4-FFF2-40B4-BE49-F238E27FC236}">
                  <a16:creationId xmlns:a16="http://schemas.microsoft.com/office/drawing/2014/main" id="{BDFAAC3A-F9CC-F7D3-42E6-EB6B684784EC}"/>
                </a:ext>
              </a:extLst>
            </p:cNvPr>
            <p:cNvSpPr/>
            <p:nvPr/>
          </p:nvSpPr>
          <p:spPr>
            <a:xfrm>
              <a:off x="1177826" y="2430512"/>
              <a:ext cx="2564614" cy="897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SharedServices + time_budget + 42 Skills. 자동화 비율 상승.</a:t>
              </a:r>
              <a:endParaRPr lang="en-US" sz="700" dirty="0"/>
            </a:p>
          </p:txBody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0CC8AA1A-1EF5-AD10-139F-0F5D3325B7BB}"/>
                </a:ext>
              </a:extLst>
            </p:cNvPr>
            <p:cNvSpPr/>
            <p:nvPr/>
          </p:nvSpPr>
          <p:spPr>
            <a:xfrm>
              <a:off x="593675" y="2601813"/>
              <a:ext cx="507950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1B37ABD0-315B-5A95-71A3-47CA6518C3E5}"/>
                </a:ext>
              </a:extLst>
            </p:cNvPr>
            <p:cNvSpPr/>
            <p:nvPr/>
          </p:nvSpPr>
          <p:spPr>
            <a:xfrm>
              <a:off x="666320" y="2627114"/>
              <a:ext cx="362661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6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Ph.5</a:t>
              </a:r>
              <a:endParaRPr lang="en-US" sz="600" dirty="0"/>
            </a:p>
          </p:txBody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3631AFB9-6E49-1393-DA98-06B7DECCE3AF}"/>
                </a:ext>
              </a:extLst>
            </p:cNvPr>
            <p:cNvSpPr/>
            <p:nvPr/>
          </p:nvSpPr>
          <p:spPr>
            <a:xfrm>
              <a:off x="1177825" y="2617589"/>
              <a:ext cx="2564613" cy="836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Thin-only + SessionLane. </a:t>
              </a: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코드 삭제가 속도를 높임.</a:t>
              </a:r>
              <a:endParaRPr lang="en-US" sz="700" dirty="0"/>
            </a:p>
          </p:txBody>
        </p:sp>
      </p:grpSp>
      <p:sp>
        <p:nvSpPr>
          <p:cNvPr id="61" name="Text 24">
            <a:extLst>
              <a:ext uri="{FF2B5EF4-FFF2-40B4-BE49-F238E27FC236}">
                <a16:creationId xmlns:a16="http://schemas.microsoft.com/office/drawing/2014/main" id="{BC5F0B21-9E34-9F95-18DE-A66224BE897D}"/>
              </a:ext>
            </a:extLst>
          </p:cNvPr>
          <p:cNvSpPr/>
          <p:nvPr/>
        </p:nvSpPr>
        <p:spPr>
          <a:xfrm>
            <a:off x="5795297" y="3691128"/>
            <a:ext cx="3241030" cy="1101477"/>
          </a:xfrm>
          <a:prstGeom prst="roundRect">
            <a:avLst>
              <a:gd name="adj" fmla="val 461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25">
            <a:extLst>
              <a:ext uri="{FF2B5EF4-FFF2-40B4-BE49-F238E27FC236}">
                <a16:creationId xmlns:a16="http://schemas.microsoft.com/office/drawing/2014/main" id="{18875CCC-F64E-E317-75BD-417C7025828A}"/>
              </a:ext>
            </a:extLst>
          </p:cNvPr>
          <p:cNvSpPr/>
          <p:nvPr/>
        </p:nvSpPr>
        <p:spPr>
          <a:xfrm>
            <a:off x="5795297" y="3710178"/>
            <a:ext cx="3241030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84036FC1-C7C8-02CD-FCD7-F184A002907E}"/>
              </a:ext>
            </a:extLst>
          </p:cNvPr>
          <p:cNvSpPr/>
          <p:nvPr/>
        </p:nvSpPr>
        <p:spPr>
          <a:xfrm>
            <a:off x="9031565" y="3691128"/>
            <a:ext cx="0" cy="1101477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8B47D49C-C2A6-70DF-87C2-C075F7ABC315}"/>
              </a:ext>
            </a:extLst>
          </p:cNvPr>
          <p:cNvSpPr/>
          <p:nvPr/>
        </p:nvSpPr>
        <p:spPr>
          <a:xfrm>
            <a:off x="5795297" y="4787842"/>
            <a:ext cx="324103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28">
            <a:extLst>
              <a:ext uri="{FF2B5EF4-FFF2-40B4-BE49-F238E27FC236}">
                <a16:creationId xmlns:a16="http://schemas.microsoft.com/office/drawing/2014/main" id="{0320C544-5E1F-CA43-7174-FDEF77330880}"/>
              </a:ext>
            </a:extLst>
          </p:cNvPr>
          <p:cNvSpPr/>
          <p:nvPr/>
        </p:nvSpPr>
        <p:spPr>
          <a:xfrm>
            <a:off x="4989690" y="3691128"/>
            <a:ext cx="0" cy="1101477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792507AE-AFBB-E8F7-F781-15294429AFF0}"/>
              </a:ext>
            </a:extLst>
          </p:cNvPr>
          <p:cNvSpPr/>
          <p:nvPr/>
        </p:nvSpPr>
        <p:spPr>
          <a:xfrm>
            <a:off x="5892291" y="3830728"/>
            <a:ext cx="308312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(v0.36-0.38) 상세</a:t>
            </a:r>
            <a:endParaRPr lang="en-US" sz="800" dirty="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CF4A871D-8DB6-9B09-5780-C4641838EDD8}"/>
              </a:ext>
            </a:extLst>
          </p:cNvPr>
          <p:cNvSpPr/>
          <p:nvPr/>
        </p:nvSpPr>
        <p:spPr>
          <a:xfrm>
            <a:off x="5890068" y="4019517"/>
            <a:ext cx="413237" cy="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수</a:t>
            </a:r>
            <a:endParaRPr lang="en-US" sz="700" dirty="0"/>
          </a:p>
        </p:txBody>
      </p:sp>
      <p:sp>
        <p:nvSpPr>
          <p:cNvPr id="68" name="Text 31">
            <a:extLst>
              <a:ext uri="{FF2B5EF4-FFF2-40B4-BE49-F238E27FC236}">
                <a16:creationId xmlns:a16="http://schemas.microsoft.com/office/drawing/2014/main" id="{7C7A40FA-9436-DE25-C0B9-C70332D3CC5F}"/>
              </a:ext>
            </a:extLst>
          </p:cNvPr>
          <p:cNvSpPr/>
          <p:nvPr/>
        </p:nvSpPr>
        <p:spPr>
          <a:xfrm>
            <a:off x="8047080" y="4005305"/>
            <a:ext cx="867890" cy="9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PRs (#528-558)</a:t>
            </a:r>
            <a:endParaRPr lang="en-US" sz="7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A539EB6F-6F38-30E6-4FAD-932FC36295FF}"/>
              </a:ext>
            </a:extLst>
          </p:cNvPr>
          <p:cNvSpPr/>
          <p:nvPr/>
        </p:nvSpPr>
        <p:spPr>
          <a:xfrm>
            <a:off x="5876869" y="4162392"/>
            <a:ext cx="360445" cy="6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</a:t>
            </a:r>
            <a:endParaRPr lang="en-US" sz="700" dirty="0"/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4AD573D5-19D4-4AB4-3B05-C8D4DB26B4CF}"/>
              </a:ext>
            </a:extLst>
          </p:cNvPr>
          <p:cNvSpPr/>
          <p:nvPr/>
        </p:nvSpPr>
        <p:spPr>
          <a:xfrm>
            <a:off x="8688939" y="4166137"/>
            <a:ext cx="410138" cy="12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67+</a:t>
            </a:r>
            <a:endParaRPr lang="en-US" sz="700" dirty="0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3E8ABED1-BBA9-7D80-739B-8197120967D7}"/>
              </a:ext>
            </a:extLst>
          </p:cNvPr>
          <p:cNvSpPr/>
          <p:nvPr/>
        </p:nvSpPr>
        <p:spPr>
          <a:xfrm>
            <a:off x="5868789" y="4297285"/>
            <a:ext cx="511273" cy="79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삭제 라인</a:t>
            </a:r>
            <a:endParaRPr lang="en-US" sz="700" dirty="0"/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BB8B8603-81CB-A282-2BB6-F6DFC312B8D5}"/>
              </a:ext>
            </a:extLst>
          </p:cNvPr>
          <p:cNvSpPr/>
          <p:nvPr/>
        </p:nvSpPr>
        <p:spPr>
          <a:xfrm>
            <a:off x="8615787" y="4299933"/>
            <a:ext cx="411719" cy="81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-835+</a:t>
            </a:r>
            <a:endParaRPr lang="en-US" sz="700" dirty="0"/>
          </a:p>
        </p:txBody>
      </p:sp>
      <p:sp>
        <p:nvSpPr>
          <p:cNvPr id="73" name="Text 36">
            <a:extLst>
              <a:ext uri="{FF2B5EF4-FFF2-40B4-BE49-F238E27FC236}">
                <a16:creationId xmlns:a16="http://schemas.microsoft.com/office/drawing/2014/main" id="{3BB95091-0E17-FE13-C379-B30B33C67B7E}"/>
              </a:ext>
            </a:extLst>
          </p:cNvPr>
          <p:cNvSpPr/>
          <p:nvPr/>
        </p:nvSpPr>
        <p:spPr>
          <a:xfrm>
            <a:off x="5868966" y="4431973"/>
            <a:ext cx="699796" cy="79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라인</a:t>
            </a:r>
            <a:endParaRPr lang="en-US" sz="700" dirty="0"/>
          </a:p>
        </p:txBody>
      </p:sp>
      <p:sp>
        <p:nvSpPr>
          <p:cNvPr id="74" name="Text 37">
            <a:extLst>
              <a:ext uri="{FF2B5EF4-FFF2-40B4-BE49-F238E27FC236}">
                <a16:creationId xmlns:a16="http://schemas.microsoft.com/office/drawing/2014/main" id="{865726FE-5EEA-5FC2-4DE5-3DA7FEA393AF}"/>
              </a:ext>
            </a:extLst>
          </p:cNvPr>
          <p:cNvSpPr/>
          <p:nvPr/>
        </p:nvSpPr>
        <p:spPr>
          <a:xfrm>
            <a:off x="8581324" y="4433745"/>
            <a:ext cx="412608" cy="87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+3,276</a:t>
            </a:r>
            <a:endParaRPr lang="en-US" sz="700" dirty="0"/>
          </a:p>
        </p:txBody>
      </p:sp>
      <p:sp>
        <p:nvSpPr>
          <p:cNvPr id="75" name="Text 38">
            <a:extLst>
              <a:ext uri="{FF2B5EF4-FFF2-40B4-BE49-F238E27FC236}">
                <a16:creationId xmlns:a16="http://schemas.microsoft.com/office/drawing/2014/main" id="{98408A51-5390-405F-D322-C96DC8C05EB3}"/>
              </a:ext>
            </a:extLst>
          </p:cNvPr>
          <p:cNvSpPr/>
          <p:nvPr/>
        </p:nvSpPr>
        <p:spPr>
          <a:xfrm>
            <a:off x="5864830" y="4577716"/>
            <a:ext cx="699799" cy="6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해소</a:t>
            </a:r>
            <a:endParaRPr lang="en-US" sz="700" dirty="0"/>
          </a:p>
        </p:txBody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74E89EE5-7EFF-6A32-1EAC-BB437BD23DA4}"/>
              </a:ext>
            </a:extLst>
          </p:cNvPr>
          <p:cNvSpPr/>
          <p:nvPr/>
        </p:nvSpPr>
        <p:spPr>
          <a:xfrm>
            <a:off x="8458413" y="4567023"/>
            <a:ext cx="517007" cy="100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11건 → 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6-Layer(L0-L5)에서 4-Layer로 단순화했습니다. 인위적 경계를 제거하고, Domain을 레이어가 아닌 직교축으로 분리합니다.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435650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1848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6-Layer의 Infra/Gateway(L1)와 Tools/MCP(L4) 경계가 실제 의존성과 불일치했습니다. </a:t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Runtime과 Agent로 통합하여 레이어 간 호출 경로를 줄였습니다.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34703"/>
            <a:ext cx="5435650" cy="434876"/>
          </a:xfrm>
          <a:prstGeom prst="roundRect">
            <a:avLst>
              <a:gd name="adj" fmla="val 1168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439466"/>
            <a:ext cx="54356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888087" y="1434703"/>
            <a:ext cx="0" cy="434876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864816"/>
            <a:ext cx="54356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81012" y="1434703"/>
            <a:ext cx="0" cy="434876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1775" y="1533079"/>
            <a:ext cx="16583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1775" y="1666429"/>
            <a:ext cx="16583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선택, Reasoning, 3-Provider Failover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09704" y="1599754"/>
            <a:ext cx="7616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 adapters/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1932980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1937742"/>
            <a:ext cx="54356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888087" y="1932980"/>
            <a:ext cx="0" cy="425351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353568"/>
            <a:ext cx="54356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1012" y="1932980"/>
            <a:ext cx="0" cy="42535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1775" y="2031355"/>
            <a:ext cx="2216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Runtime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1775" y="2164705"/>
            <a:ext cx="22165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Sessions, Memory(5-Tier), Context, Config, MCP, Skills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36443" y="2093268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gateway/ memory/ mcp/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421731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2426494"/>
            <a:ext cx="54356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888087" y="2421731"/>
            <a:ext cx="0" cy="425351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57200" y="2842320"/>
            <a:ext cx="54356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81012" y="2421731"/>
            <a:ext cx="0" cy="425351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1775" y="2520107"/>
            <a:ext cx="2265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Harness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1775" y="2653457"/>
            <a:ext cx="226598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ToolExecutor, PolicyChain, IsolatedRunner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36443" y="2582019"/>
            <a:ext cx="1142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orchestration/ tools/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" y="2910483"/>
            <a:ext cx="5435650" cy="425351"/>
          </a:xfrm>
          <a:prstGeom prst="roundRect">
            <a:avLst>
              <a:gd name="adj" fmla="val 1194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57200" y="2915245"/>
            <a:ext cx="543565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888087" y="2910483"/>
            <a:ext cx="0" cy="425351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3331071"/>
            <a:ext cx="5435650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81012" y="2910483"/>
            <a:ext cx="0" cy="425351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1775" y="3008858"/>
            <a:ext cx="1917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0: 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1775" y="3142208"/>
            <a:ext cx="19172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Turn-by-turn, SubAgent(depth=1)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169694" y="3070771"/>
            <a:ext cx="59841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 cli/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019800" y="863501"/>
            <a:ext cx="2667000" cy="905917"/>
          </a:xfrm>
          <a:prstGeom prst="roundRect">
            <a:avLst>
              <a:gd name="adj" fmla="val 5608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156275" y="974527"/>
            <a:ext cx="2441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= 직교축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56275" y="1149102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Domain은 Layer 1(Harness)에서 DomainPort Protocol로 주입됩니다. 레이어가 아닌 독립 축이므로 교체해도 스택에 영향이 없습니다.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156275" y="1572667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domains/port.py: 12 methods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6019800" y="1845618"/>
            <a:ext cx="2667000" cy="781645"/>
          </a:xfrm>
          <a:prstGeom prst="roundRect">
            <a:avLst>
              <a:gd name="adj" fmla="val 649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156275" y="1956643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System. Cross-cutting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56275" y="2121694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(5 모듈)는 L0-L3 전 레이어에서 import 가능한 횡단 관심사입니다.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156275" y="2420987"/>
            <a:ext cx="24419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events, 15 categories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19800" y="2703463"/>
            <a:ext cx="2667000" cy="1179909"/>
          </a:xfrm>
          <a:prstGeom prst="roundRect">
            <a:avLst>
              <a:gd name="adj" fmla="val 228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156275" y="2814489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56275" y="3004989"/>
            <a:ext cx="2721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001893" y="3004989"/>
            <a:ext cx="5594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(L0-L5)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156275" y="3150989"/>
            <a:ext cx="3426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115300" y="3150989"/>
            <a:ext cx="4437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56275" y="3296989"/>
            <a:ext cx="3880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011120" y="3296989"/>
            <a:ext cx="6756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70줄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156275" y="3452515"/>
            <a:ext cx="483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967067" y="3452515"/>
            <a:ext cx="5949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156275" y="3623965"/>
            <a:ext cx="2394049" cy="212527"/>
          </a:xfrm>
          <a:prstGeom prst="roundRect">
            <a:avLst>
              <a:gd name="adj" fmla="val 179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257776" y="3687366"/>
            <a:ext cx="22348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줄었지만 더 강해졌습니다. 테스트는 오히려 증가.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91100"/>
            <a:ext cx="26032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6-Layer→4-Layer. Domain은 직교축. GeodeRuntime.create() 70줄 unified bootstrap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29</a:t>
            </a:r>
            <a:endParaRPr lang="en-US" sz="5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3BEB66C6-141F-8B90-3577-3DBE4A69D7D8}"/>
              </a:ext>
            </a:extLst>
          </p:cNvPr>
          <p:cNvSpPr/>
          <p:nvPr/>
        </p:nvSpPr>
        <p:spPr>
          <a:xfrm>
            <a:off x="457200" y="3446767"/>
            <a:ext cx="5435648" cy="761702"/>
          </a:xfrm>
          <a:prstGeom prst="roundRect">
            <a:avLst>
              <a:gd name="adj" fmla="val 6669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C7D458C2-8407-0C79-E220-321AAF1C7BBC}"/>
              </a:ext>
            </a:extLst>
          </p:cNvPr>
          <p:cNvSpPr/>
          <p:nvPr/>
        </p:nvSpPr>
        <p:spPr>
          <a:xfrm>
            <a:off x="593675" y="3557792"/>
            <a:ext cx="5170826" cy="1238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방향 규칙</a:t>
            </a:r>
            <a:endParaRPr lang="en-US" sz="800" dirty="0"/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F06FADAC-507B-8BC2-A83F-2692C930A934}"/>
              </a:ext>
            </a:extLst>
          </p:cNvPr>
          <p:cNvSpPr/>
          <p:nvPr/>
        </p:nvSpPr>
        <p:spPr>
          <a:xfrm>
            <a:off x="593675" y="3745018"/>
            <a:ext cx="778147" cy="171450"/>
          </a:xfrm>
          <a:prstGeom prst="roundRect">
            <a:avLst>
              <a:gd name="adj" fmla="val 22222"/>
            </a:avLst>
          </a:prstGeom>
          <a:solidFill>
            <a:srgbClr val="34D399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AFB2BA54-FABA-DEAF-272D-6C0D361D18D1}"/>
              </a:ext>
            </a:extLst>
          </p:cNvPr>
          <p:cNvSpPr/>
          <p:nvPr/>
        </p:nvSpPr>
        <p:spPr>
          <a:xfrm>
            <a:off x="695176" y="3783118"/>
            <a:ext cx="515901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Agent</a:t>
            </a:r>
            <a:endParaRPr lang="en-US" sz="700" dirty="0"/>
          </a:p>
        </p:txBody>
      </p:sp>
      <p:sp>
        <p:nvSpPr>
          <p:cNvPr id="67" name="Text 34">
            <a:extLst>
              <a:ext uri="{FF2B5EF4-FFF2-40B4-BE49-F238E27FC236}">
                <a16:creationId xmlns:a16="http://schemas.microsoft.com/office/drawing/2014/main" id="{4516DD37-49B9-4A2A-860D-F62EE780133E}"/>
              </a:ext>
            </a:extLst>
          </p:cNvPr>
          <p:cNvSpPr/>
          <p:nvPr/>
        </p:nvSpPr>
        <p:spPr>
          <a:xfrm>
            <a:off x="1249858" y="3773593"/>
            <a:ext cx="139109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123E2FAB-52C8-E7EC-71AF-DCE9728E77F6}"/>
              </a:ext>
            </a:extLst>
          </p:cNvPr>
          <p:cNvSpPr/>
          <p:nvPr/>
        </p:nvSpPr>
        <p:spPr>
          <a:xfrm>
            <a:off x="1427708" y="3745018"/>
            <a:ext cx="915326" cy="171450"/>
          </a:xfrm>
          <a:prstGeom prst="roundRect">
            <a:avLst>
              <a:gd name="adj" fmla="val 22222"/>
            </a:avLst>
          </a:prstGeom>
          <a:solidFill>
            <a:srgbClr val="F5C542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9" name="Text 36">
            <a:extLst>
              <a:ext uri="{FF2B5EF4-FFF2-40B4-BE49-F238E27FC236}">
                <a16:creationId xmlns:a16="http://schemas.microsoft.com/office/drawing/2014/main" id="{F04F97EE-A9F3-2858-7F01-F10582FB3E07}"/>
              </a:ext>
            </a:extLst>
          </p:cNvPr>
          <p:cNvSpPr/>
          <p:nvPr/>
        </p:nvSpPr>
        <p:spPr>
          <a:xfrm>
            <a:off x="1529209" y="3783118"/>
            <a:ext cx="655824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Harness</a:t>
            </a:r>
            <a:endParaRPr lang="en-US" sz="700" dirty="0"/>
          </a:p>
        </p:txBody>
      </p:sp>
      <p:sp>
        <p:nvSpPr>
          <p:cNvPr id="70" name="Text 37">
            <a:extLst>
              <a:ext uri="{FF2B5EF4-FFF2-40B4-BE49-F238E27FC236}">
                <a16:creationId xmlns:a16="http://schemas.microsoft.com/office/drawing/2014/main" id="{40CEE624-0FF0-D788-D37A-6148CDD112C5}"/>
              </a:ext>
            </a:extLst>
          </p:cNvPr>
          <p:cNvSpPr/>
          <p:nvPr/>
        </p:nvSpPr>
        <p:spPr>
          <a:xfrm>
            <a:off x="2186136" y="3773593"/>
            <a:ext cx="139109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71" name="Text 38">
            <a:extLst>
              <a:ext uri="{FF2B5EF4-FFF2-40B4-BE49-F238E27FC236}">
                <a16:creationId xmlns:a16="http://schemas.microsoft.com/office/drawing/2014/main" id="{8ACA9FCA-4884-731E-ACCB-F40C92F9BB7D}"/>
              </a:ext>
            </a:extLst>
          </p:cNvPr>
          <p:cNvSpPr/>
          <p:nvPr/>
        </p:nvSpPr>
        <p:spPr>
          <a:xfrm>
            <a:off x="2363986" y="3745018"/>
            <a:ext cx="921716" cy="171450"/>
          </a:xfrm>
          <a:prstGeom prst="roundRect">
            <a:avLst>
              <a:gd name="adj" fmla="val 22222"/>
            </a:avLst>
          </a:prstGeom>
          <a:solidFill>
            <a:srgbClr val="4ECDC4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2" name="Text 39">
            <a:extLst>
              <a:ext uri="{FF2B5EF4-FFF2-40B4-BE49-F238E27FC236}">
                <a16:creationId xmlns:a16="http://schemas.microsoft.com/office/drawing/2014/main" id="{CAF73AFB-F927-AA49-941E-5F9F4BDA5E03}"/>
              </a:ext>
            </a:extLst>
          </p:cNvPr>
          <p:cNvSpPr/>
          <p:nvPr/>
        </p:nvSpPr>
        <p:spPr>
          <a:xfrm>
            <a:off x="2465487" y="3783118"/>
            <a:ext cx="662342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Runtime</a:t>
            </a:r>
            <a:endParaRPr lang="en-US" sz="700" dirty="0"/>
          </a:p>
        </p:txBody>
      </p:sp>
      <p:sp>
        <p:nvSpPr>
          <p:cNvPr id="73" name="Text 40">
            <a:extLst>
              <a:ext uri="{FF2B5EF4-FFF2-40B4-BE49-F238E27FC236}">
                <a16:creationId xmlns:a16="http://schemas.microsoft.com/office/drawing/2014/main" id="{A21F278A-42FB-D15A-BF9D-25EF7F946AAE}"/>
              </a:ext>
            </a:extLst>
          </p:cNvPr>
          <p:cNvSpPr/>
          <p:nvPr/>
        </p:nvSpPr>
        <p:spPr>
          <a:xfrm>
            <a:off x="3127176" y="3773593"/>
            <a:ext cx="139109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74" name="Text 41">
            <a:extLst>
              <a:ext uri="{FF2B5EF4-FFF2-40B4-BE49-F238E27FC236}">
                <a16:creationId xmlns:a16="http://schemas.microsoft.com/office/drawing/2014/main" id="{75341A33-6D4D-055F-9D6D-EB378A395A5B}"/>
              </a:ext>
            </a:extLst>
          </p:cNvPr>
          <p:cNvSpPr/>
          <p:nvPr/>
        </p:nvSpPr>
        <p:spPr>
          <a:xfrm>
            <a:off x="3305026" y="3745018"/>
            <a:ext cx="789130" cy="171450"/>
          </a:xfrm>
          <a:prstGeom prst="roundRect">
            <a:avLst>
              <a:gd name="adj" fmla="val 22222"/>
            </a:avLst>
          </a:prstGeom>
          <a:solidFill>
            <a:srgbClr val="818CF8">
              <a:alpha val="12000"/>
            </a:srgbClr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310B7791-0C1D-FCC0-43B3-0AD3E98D2235}"/>
              </a:ext>
            </a:extLst>
          </p:cNvPr>
          <p:cNvSpPr/>
          <p:nvPr/>
        </p:nvSpPr>
        <p:spPr>
          <a:xfrm>
            <a:off x="3406527" y="3783118"/>
            <a:ext cx="527104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Model</a:t>
            </a:r>
            <a:endParaRPr lang="en-US" sz="700" dirty="0"/>
          </a:p>
        </p:txBody>
      </p:sp>
      <p:sp>
        <p:nvSpPr>
          <p:cNvPr id="76" name="Text 43">
            <a:extLst>
              <a:ext uri="{FF2B5EF4-FFF2-40B4-BE49-F238E27FC236}">
                <a16:creationId xmlns:a16="http://schemas.microsoft.com/office/drawing/2014/main" id="{F4FDA189-BE9C-7DF6-E235-11734B8F6CD3}"/>
              </a:ext>
            </a:extLst>
          </p:cNvPr>
          <p:cNvSpPr/>
          <p:nvPr/>
        </p:nvSpPr>
        <p:spPr>
          <a:xfrm>
            <a:off x="593675" y="3992668"/>
            <a:ext cx="5170826" cy="10477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상위→하위 단방향. 역방향 import 금지. Hook System만 예외(cross-cutting).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Architecture: Unified Daemon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2개의 fat process에서 1 daemon + 1 thin client로. REPL Stuck과 리소스 불일치를 구조적으로 해소했습니다.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710952"/>
          </a:xfrm>
          <a:prstGeom prst="roundRect">
            <a:avLst>
              <a:gd name="adj" fmla="val 714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71095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05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1: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REPL에서 스케줄러를 호출하면 스케줄러가 REPL의 리소스와 UI를 침범하여 REPL이 멈췄습니다.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16815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2: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CLI, Slack, Scheduler가 각각 다른 리소스 인스턴스를 사용. HookSystem 2개, Scheduler 2개, ContextVar 미전파.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650653"/>
            <a:ext cx="5308699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1761679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2 Fat Processes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3675" y="1926729"/>
            <a:ext cx="2479774" cy="326827"/>
          </a:xfrm>
          <a:prstGeom prst="roundRect">
            <a:avLst>
              <a:gd name="adj" fmla="val 15543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701" y="1999655"/>
            <a:ext cx="2302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(REPL)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04701" y="2094905"/>
            <a:ext cx="23028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HookSystem(1), MCP(1), Skills(1), Scheduler(1)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149650" y="1926729"/>
            <a:ext cx="2479774" cy="326827"/>
          </a:xfrm>
          <a:prstGeom prst="roundRect">
            <a:avLst>
              <a:gd name="adj" fmla="val 15543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60675" y="1999655"/>
            <a:ext cx="2302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60675" y="2094905"/>
            <a:ext cx="23028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HookSystem(2), MCP(2), Skills(2), Scheduler(2)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93675" y="2304306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경로 2개, 상태 불일치, jobs.json 경합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57200" y="2577257"/>
            <a:ext cx="5308699" cy="850404"/>
          </a:xfrm>
          <a:prstGeom prst="roundRect">
            <a:avLst>
              <a:gd name="adj" fmla="val 59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3675" y="2688282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1 Daemon + 1 Thin Client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3675" y="2853333"/>
            <a:ext cx="3232398" cy="326827"/>
          </a:xfrm>
          <a:prstGeom prst="roundRect">
            <a:avLst>
              <a:gd name="adj" fmla="val 15543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4701" y="2926259"/>
            <a:ext cx="30705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 (Unified Daemon)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4701" y="3021509"/>
            <a:ext cx="30705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HookSystem(1), MCP(1), Skills(1), Scheduler(1), SessionStore(1)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902273" y="2853333"/>
            <a:ext cx="1727150" cy="326827"/>
          </a:xfrm>
          <a:prstGeom prst="roundRect">
            <a:avLst>
              <a:gd name="adj" fmla="val 15543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13299" y="2926259"/>
            <a:ext cx="15352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(Thin CLI)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13299" y="3021509"/>
            <a:ext cx="15352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via Unix socket. 상태 없음.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93675" y="323091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경로 1개, 모든 상태 GeodeRuntime 소유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892850" y="863501"/>
            <a:ext cx="2793950" cy="1361777"/>
          </a:xfrm>
          <a:prstGeom prst="roundRect">
            <a:avLst>
              <a:gd name="adj" fmla="val 3730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29325" y="974527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GeodeRuntime (Single Owner)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29325" y="115222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30826" y="119032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→ 42 events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029325" y="1352252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30826" y="1390352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SchedulerService → 60s tick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29325" y="155227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30826" y="159037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→ create_session(mode)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029325" y="1752302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30826" y="1790402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 → SessionLane + global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029325" y="1952327"/>
            <a:ext cx="2521000" cy="161925"/>
          </a:xfrm>
          <a:prstGeom prst="roundRect">
            <a:avLst>
              <a:gd name="adj" fmla="val 235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30826" y="1990427"/>
            <a:ext cx="23643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→ 6-layer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92850" y="2301478"/>
            <a:ext cx="2793950" cy="761702"/>
          </a:xfrm>
          <a:prstGeom prst="roundRect">
            <a:avLst>
              <a:gd name="adj" fmla="val 66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2412504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Channels (create_session)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2590205"/>
            <a:ext cx="3827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(IPC)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929860" y="2594967"/>
            <a:ext cx="6328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socket, hitl=0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029325" y="2723555"/>
            <a:ext cx="10580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(Slack/Discord)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133011" y="2728317"/>
            <a:ext cx="4256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Poller, hitl=0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029325" y="2856905"/>
            <a:ext cx="4384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895927" y="2861667"/>
            <a:ext cx="6674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tick, time=300s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892850" y="3139380"/>
            <a:ext cx="2793950" cy="664667"/>
          </a:xfrm>
          <a:prstGeom prst="roundRect">
            <a:avLst>
              <a:gd name="adj" fmla="val 284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916662" y="3139380"/>
            <a:ext cx="0" cy="664667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067425" y="3240881"/>
            <a:ext cx="25422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67425" y="3405932"/>
            <a:ext cx="25422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레이턴시(~ms)를 수용합니다. LLM 호출(~s) 대비 무시 가능한 비용입니다. 대신 상태 일관성을 보장합니다.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91100"/>
            <a:ext cx="326941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standalone REPL 제거(~487 lines). geode serve = unified daemon. geode CLI = thin IPC client (auto-start)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29</a:t>
            </a:r>
            <a:endParaRPr lang="en-US" sz="5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A32CE30C-95A4-C83C-2370-E6D34E3726A7}"/>
              </a:ext>
            </a:extLst>
          </p:cNvPr>
          <p:cNvSpPr/>
          <p:nvPr/>
        </p:nvSpPr>
        <p:spPr>
          <a:xfrm>
            <a:off x="443931" y="3478325"/>
            <a:ext cx="5368070" cy="1440507"/>
          </a:xfrm>
          <a:prstGeom prst="roundRect">
            <a:avLst>
              <a:gd name="adj" fmla="val 352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4D37F64-4C16-24DA-D9E3-395BB61F18FB}"/>
              </a:ext>
            </a:extLst>
          </p:cNvPr>
          <p:cNvSpPr/>
          <p:nvPr/>
        </p:nvSpPr>
        <p:spPr>
          <a:xfrm>
            <a:off x="580406" y="3589350"/>
            <a:ext cx="5106540" cy="11430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Wire Protocol (NDJSON)</a:t>
            </a:r>
            <a:endParaRPr lang="en-US" sz="800" dirty="0"/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906FF68C-5578-5D5B-352B-873DEBE5D8F2}"/>
              </a:ext>
            </a:extLst>
          </p:cNvPr>
          <p:cNvSpPr/>
          <p:nvPr/>
        </p:nvSpPr>
        <p:spPr>
          <a:xfrm>
            <a:off x="580406" y="3767051"/>
            <a:ext cx="5006412" cy="495002"/>
          </a:xfrm>
          <a:prstGeom prst="roundRect">
            <a:avLst>
              <a:gd name="adj" fmla="val 10263"/>
            </a:avLst>
          </a:prstGeom>
          <a:solidFill>
            <a:srgbClr val="0D1117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73261356-8A4F-2CEE-6834-6A2FA65CF806}"/>
              </a:ext>
            </a:extLst>
          </p:cNvPr>
          <p:cNvSpPr/>
          <p:nvPr/>
        </p:nvSpPr>
        <p:spPr>
          <a:xfrm>
            <a:off x="681907" y="3830452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→ Server</a:t>
            </a:r>
            <a:endParaRPr lang="en-US" sz="600" dirty="0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7E69FC8D-80B0-FF9C-3A0C-E53383CF5422}"/>
              </a:ext>
            </a:extLst>
          </p:cNvPr>
          <p:cNvSpPr/>
          <p:nvPr/>
        </p:nvSpPr>
        <p:spPr>
          <a:xfrm>
            <a:off x="681907" y="3941478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{"type":"prompt","text":"analyze Berserk"}</a:t>
            </a:r>
            <a:endParaRPr lang="en-US" sz="600" dirty="0"/>
          </a:p>
        </p:txBody>
      </p:sp>
      <p:sp>
        <p:nvSpPr>
          <p:cNvPr id="59" name="Text 30">
            <a:extLst>
              <a:ext uri="{FF2B5EF4-FFF2-40B4-BE49-F238E27FC236}">
                <a16:creationId xmlns:a16="http://schemas.microsoft.com/office/drawing/2014/main" id="{D05DB68D-AF81-E0CF-A7F3-5A923059C806}"/>
              </a:ext>
            </a:extLst>
          </p:cNvPr>
          <p:cNvSpPr/>
          <p:nvPr/>
        </p:nvSpPr>
        <p:spPr>
          <a:xfrm>
            <a:off x="681907" y="4027203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{"type":"command","cmd":"/model","args":"sonnet"}</a:t>
            </a:r>
            <a:endParaRPr lang="en-US" sz="600" dirty="0"/>
          </a:p>
        </p:txBody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EE16B39D-1C6F-5EED-F071-1C3D1A1AC826}"/>
              </a:ext>
            </a:extLst>
          </p:cNvPr>
          <p:cNvSpPr/>
          <p:nvPr/>
        </p:nvSpPr>
        <p:spPr>
          <a:xfrm>
            <a:off x="681907" y="4112928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{"type":"resume","session_id":"..."}</a:t>
            </a:r>
            <a:endParaRPr lang="en-US" sz="600" dirty="0"/>
          </a:p>
        </p:txBody>
      </p:sp>
      <p:sp>
        <p:nvSpPr>
          <p:cNvPr id="61" name="Text 32">
            <a:extLst>
              <a:ext uri="{FF2B5EF4-FFF2-40B4-BE49-F238E27FC236}">
                <a16:creationId xmlns:a16="http://schemas.microsoft.com/office/drawing/2014/main" id="{78A3EA7E-1DA7-C1C0-A207-2F4C24EF0858}"/>
              </a:ext>
            </a:extLst>
          </p:cNvPr>
          <p:cNvSpPr/>
          <p:nvPr/>
        </p:nvSpPr>
        <p:spPr>
          <a:xfrm>
            <a:off x="580406" y="4312804"/>
            <a:ext cx="5006412" cy="495002"/>
          </a:xfrm>
          <a:prstGeom prst="roundRect">
            <a:avLst>
              <a:gd name="adj" fmla="val 10263"/>
            </a:avLst>
          </a:prstGeom>
          <a:solidFill>
            <a:srgbClr val="0D1117"/>
          </a:solidFill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2" name="Text 33">
            <a:extLst>
              <a:ext uri="{FF2B5EF4-FFF2-40B4-BE49-F238E27FC236}">
                <a16:creationId xmlns:a16="http://schemas.microsoft.com/office/drawing/2014/main" id="{0782E37B-F51C-EDB9-84C7-476754B84244}"/>
              </a:ext>
            </a:extLst>
          </p:cNvPr>
          <p:cNvSpPr/>
          <p:nvPr/>
        </p:nvSpPr>
        <p:spPr>
          <a:xfrm>
            <a:off x="681907" y="4376205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→ Client (30 event types)</a:t>
            </a:r>
            <a:endParaRPr lang="en-US" sz="600" dirty="0"/>
          </a:p>
        </p:txBody>
      </p:sp>
      <p:sp>
        <p:nvSpPr>
          <p:cNvPr id="63" name="Text 34">
            <a:extLst>
              <a:ext uri="{FF2B5EF4-FFF2-40B4-BE49-F238E27FC236}">
                <a16:creationId xmlns:a16="http://schemas.microsoft.com/office/drawing/2014/main" id="{FF223854-E35B-6F40-6048-4658EA2D6786}"/>
              </a:ext>
            </a:extLst>
          </p:cNvPr>
          <p:cNvSpPr/>
          <p:nvPr/>
        </p:nvSpPr>
        <p:spPr>
          <a:xfrm>
            <a:off x="681907" y="4487230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{"type":"thinking","content":"..."}</a:t>
            </a:r>
            <a:endParaRPr lang="en-US" sz="600" dirty="0"/>
          </a:p>
        </p:txBody>
      </p:sp>
      <p:sp>
        <p:nvSpPr>
          <p:cNvPr id="64" name="Text 35">
            <a:extLst>
              <a:ext uri="{FF2B5EF4-FFF2-40B4-BE49-F238E27FC236}">
                <a16:creationId xmlns:a16="http://schemas.microsoft.com/office/drawing/2014/main" id="{153793DE-34E8-DA71-6B53-B0A5980FDD51}"/>
              </a:ext>
            </a:extLst>
          </p:cNvPr>
          <p:cNvSpPr/>
          <p:nvPr/>
        </p:nvSpPr>
        <p:spPr>
          <a:xfrm>
            <a:off x="681907" y="4572955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{"type":"tool_start","name":"analyze_ip"}</a:t>
            </a:r>
            <a:endParaRPr lang="en-US" sz="600" dirty="0"/>
          </a:p>
        </p:txBody>
      </p:sp>
      <p:sp>
        <p:nvSpPr>
          <p:cNvPr id="65" name="Text 36">
            <a:extLst>
              <a:ext uri="{FF2B5EF4-FFF2-40B4-BE49-F238E27FC236}">
                <a16:creationId xmlns:a16="http://schemas.microsoft.com/office/drawing/2014/main" id="{DDC9B53F-43AE-CD53-43EE-1566A3A66E3A}"/>
              </a:ext>
            </a:extLst>
          </p:cNvPr>
          <p:cNvSpPr/>
          <p:nvPr/>
        </p:nvSpPr>
        <p:spPr>
          <a:xfrm>
            <a:off x="681907" y="4658680"/>
            <a:ext cx="483218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{"type":"result","text":"...","rounds":3}</a:t>
            </a:r>
            <a:endParaRPr lang="en-US" sz="600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5DCF666-1357-902F-F37E-853A2F59F799}"/>
              </a:ext>
            </a:extLst>
          </p:cNvPr>
          <p:cNvGrpSpPr/>
          <p:nvPr/>
        </p:nvGrpSpPr>
        <p:grpSpPr>
          <a:xfrm>
            <a:off x="5892850" y="3880247"/>
            <a:ext cx="4595848" cy="995065"/>
            <a:chOff x="4635402" y="2335560"/>
            <a:chExt cx="3990491" cy="930027"/>
          </a:xfrm>
        </p:grpSpPr>
        <p:sp>
          <p:nvSpPr>
            <p:cNvPr id="76" name="Text 37">
              <a:extLst>
                <a:ext uri="{FF2B5EF4-FFF2-40B4-BE49-F238E27FC236}">
                  <a16:creationId xmlns:a16="http://schemas.microsoft.com/office/drawing/2014/main" id="{D724B633-9D1D-485E-7427-F0B82C3D812F}"/>
                </a:ext>
              </a:extLst>
            </p:cNvPr>
            <p:cNvSpPr/>
            <p:nvPr/>
          </p:nvSpPr>
          <p:spPr>
            <a:xfrm>
              <a:off x="4635402" y="2335560"/>
              <a:ext cx="2445622" cy="930027"/>
            </a:xfrm>
            <a:prstGeom prst="roundRect">
              <a:avLst>
                <a:gd name="adj" fmla="val 5462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7" name="Text 38">
              <a:extLst>
                <a:ext uri="{FF2B5EF4-FFF2-40B4-BE49-F238E27FC236}">
                  <a16:creationId xmlns:a16="http://schemas.microsoft.com/office/drawing/2014/main" id="{6383D98A-8F2E-D9DA-8A16-D588283F1AB7}"/>
                </a:ext>
              </a:extLst>
            </p:cNvPr>
            <p:cNvSpPr/>
            <p:nvPr/>
          </p:nvSpPr>
          <p:spPr>
            <a:xfrm>
              <a:off x="4771876" y="2446586"/>
              <a:ext cx="3854017" cy="1238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8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보안 + 에러 처리</a:t>
              </a:r>
              <a:endParaRPr lang="en-US" sz="800" dirty="0"/>
            </a:p>
          </p:txBody>
        </p:sp>
        <p:sp>
          <p:nvSpPr>
            <p:cNvPr id="78" name="Text 39">
              <a:extLst>
                <a:ext uri="{FF2B5EF4-FFF2-40B4-BE49-F238E27FC236}">
                  <a16:creationId xmlns:a16="http://schemas.microsoft.com/office/drawing/2014/main" id="{979CDAE4-A7FB-F9A9-30C7-1D78DFBE4DE2}"/>
                </a:ext>
              </a:extLst>
            </p:cNvPr>
            <p:cNvSpPr/>
            <p:nvPr/>
          </p:nvSpPr>
          <p:spPr>
            <a:xfrm>
              <a:off x="4771876" y="262116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chmod 0o600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소켓 파일 소유자만 접근 가능</a:t>
              </a:r>
              <a:endParaRPr lang="en-US" sz="700" dirty="0"/>
            </a:p>
          </p:txBody>
        </p:sp>
        <p:sp>
          <p:nvSpPr>
            <p:cNvPr id="79" name="Text 40">
              <a:extLst>
                <a:ext uri="{FF2B5EF4-FFF2-40B4-BE49-F238E27FC236}">
                  <a16:creationId xmlns:a16="http://schemas.microsoft.com/office/drawing/2014/main" id="{5795FC27-FEE3-9189-0D0D-01955412EC5E}"/>
                </a:ext>
              </a:extLst>
            </p:cNvPr>
            <p:cNvSpPr/>
            <p:nvPr/>
          </p:nvSpPr>
          <p:spPr>
            <a:xfrm>
              <a:off x="4771876" y="2764036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listen(1)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serial processing. 동시 연결 1개만 허용</a:t>
              </a:r>
              <a:endParaRPr lang="en-US" sz="700" dirty="0"/>
            </a:p>
          </p:txBody>
        </p:sp>
        <p:sp>
          <p:nvSpPr>
            <p:cNvPr id="80" name="Text 41">
              <a:extLst>
                <a:ext uri="{FF2B5EF4-FFF2-40B4-BE49-F238E27FC236}">
                  <a16:creationId xmlns:a16="http://schemas.microsoft.com/office/drawing/2014/main" id="{E55AFB75-1F4E-1F79-9566-1673319ED7C9}"/>
                </a:ext>
              </a:extLst>
            </p:cNvPr>
            <p:cNvSpPr/>
            <p:nvPr/>
          </p:nvSpPr>
          <p:spPr>
            <a:xfrm>
              <a:off x="4771876" y="290691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4ECD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BrokenPipe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클라이언트 종료 시 세션 정리</a:t>
              </a:r>
              <a:endParaRPr lang="en-US" sz="700" dirty="0"/>
            </a:p>
          </p:txBody>
        </p:sp>
        <p:sp>
          <p:nvSpPr>
            <p:cNvPr id="81" name="Text 42">
              <a:extLst>
                <a:ext uri="{FF2B5EF4-FFF2-40B4-BE49-F238E27FC236}">
                  <a16:creationId xmlns:a16="http://schemas.microsoft.com/office/drawing/2014/main" id="{CD38FF24-91ED-944F-C1CB-47784E1D1E33}"/>
                </a:ext>
              </a:extLst>
            </p:cNvPr>
            <p:cNvSpPr/>
            <p:nvPr/>
          </p:nvSpPr>
          <p:spPr>
            <a:xfrm>
              <a:off x="4771876" y="3049786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stale socket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서버 비정상 종료 시 소켓 파일 자동 정리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Event Protocol: "아무것도 안 나와요"에서 30 Events까지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전환 후 25개 slash 커맨드가 깨졌습니다. Raw Stream에서 Structured Events로 전환하여 client-side rendering을 구현했습니다.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원인: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console.print() 출력이 serve 프로세스의 stdout(/dev/null)으로 갔습니다. thin client에는 아무것도 전달되지 않았습니다. ContextVar가 스레드 간 전파되지 않는 것도 발견했습니다.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34703"/>
            <a:ext cx="5308699" cy="996553"/>
          </a:xfrm>
          <a:prstGeom prst="roundRect">
            <a:avLst>
              <a:gd name="adj" fmla="val 50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545729"/>
            <a:ext cx="51364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 진화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732955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0857" y="1771055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304776" y="1766292"/>
            <a:ext cx="1949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Console Stream. serve stdout passthrough.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945630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0857" y="1983730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v0.37.1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304776" y="1974205"/>
            <a:ext cx="2102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Structured Events. capture_output() + IPC 임베딩.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158305"/>
            <a:ext cx="634901" cy="161925"/>
          </a:xfrm>
          <a:prstGeom prst="roundRect">
            <a:avLst>
              <a:gd name="adj" fmla="val 2352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0857" y="2196405"/>
            <a:ext cx="44053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v0.37.2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304776" y="2191643"/>
            <a:ext cx="23733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Events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EventRenderer client-side. Pipeline milestones.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494657"/>
            <a:ext cx="5308699" cy="635645"/>
          </a:xfrm>
          <a:prstGeom prst="roundRect">
            <a:avLst>
              <a:gd name="adj" fmla="val 799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675" y="2605683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Structured Events vs Raw Stream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3675" y="2770733"/>
            <a:ext cx="51364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stream은 단순하지만 spinner, 병렬 tool 추적이 불가능했습니다.</a:t>
            </a:r>
            <a:endParaRPr lang="en-US" sz="700" dirty="0"/>
          </a:p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Structured Events는 client가 자유롭게 렌더링하고 server는 상태만 관리합니다.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3193703"/>
            <a:ext cx="5308699" cy="336203"/>
          </a:xfrm>
          <a:prstGeom prst="roundRect">
            <a:avLst>
              <a:gd name="adj" fmla="val 1511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81012" y="3193703"/>
            <a:ext cx="0" cy="336203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7225" y="3295204"/>
            <a:ext cx="5055400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25개 커맨드 복원. 13개 zombie job 정리. 10 PR 머지. 3,422 테스트 유지.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2850" y="863501"/>
            <a:ext cx="2793950" cy="1708249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29325" y="974527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IPC EVENT TYPES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29325" y="1293316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29325" y="1177528"/>
            <a:ext cx="6264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lifecycle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7885509" y="1177528"/>
            <a:ext cx="6781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stream, result, error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6029325" y="1477268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029325" y="1361480"/>
            <a:ext cx="5786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interaction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698879" y="1361480"/>
            <a:ext cx="868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thinking, model_switched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029325" y="1661220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029325" y="1545431"/>
            <a:ext cx="5427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execution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7753945" y="1545431"/>
            <a:ext cx="8123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tool_start/end, approval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029325" y="1845171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029325" y="1729383"/>
            <a:ext cx="439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Termination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360146" y="1729383"/>
            <a:ext cx="1213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escalation, cost, time, convergence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029325" y="2029123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029325" y="1913334"/>
            <a:ext cx="3110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71147" y="1913334"/>
            <a:ext cx="13047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goal_decomp, backpressure, diversity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029325" y="2213074"/>
            <a:ext cx="25210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029325" y="2097286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7385596" y="2097286"/>
            <a:ext cx="11880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gather, analysis, eval, score, verify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6029325" y="2281238"/>
            <a:ext cx="2762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559129" y="2281238"/>
            <a:ext cx="1011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result, feedback, skip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892850" y="2750238"/>
            <a:ext cx="2793950" cy="772120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029325" y="2861264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Protocol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29325" y="3026314"/>
            <a:ext cx="257142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domain socket (~/.geode/cli.sock). Line-delimited JSON (NDJSON). chmod 0o600.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029325" y="3325607"/>
            <a:ext cx="25714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listen(1) serial processing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57200" y="4991100"/>
            <a:ext cx="29964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v0.37.0-v0.38.0: 12→30 structured IPC events. EventRenderer client-side rendering. Session 49 UX 부활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7491" y="4991100"/>
            <a:ext cx="19309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29</a:t>
            </a:r>
            <a:endParaRPr lang="en-US" sz="500" dirty="0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D23AD0F5-BD42-9CF2-7583-F075F985CFF2}"/>
              </a:ext>
            </a:extLst>
          </p:cNvPr>
          <p:cNvSpPr/>
          <p:nvPr/>
        </p:nvSpPr>
        <p:spPr>
          <a:xfrm>
            <a:off x="453412" y="3681041"/>
            <a:ext cx="5308693" cy="878681"/>
          </a:xfrm>
          <a:prstGeom prst="roundRect">
            <a:avLst>
              <a:gd name="adj" fmla="val 57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Shape 39">
            <a:extLst>
              <a:ext uri="{FF2B5EF4-FFF2-40B4-BE49-F238E27FC236}">
                <a16:creationId xmlns:a16="http://schemas.microsoft.com/office/drawing/2014/main" id="{924E0D16-8AD0-6024-D28C-F787462B7628}"/>
              </a:ext>
            </a:extLst>
          </p:cNvPr>
          <p:cNvSpPr/>
          <p:nvPr/>
        </p:nvSpPr>
        <p:spPr>
          <a:xfrm>
            <a:off x="477226" y="3681041"/>
            <a:ext cx="0" cy="87868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0">
            <a:extLst>
              <a:ext uri="{FF2B5EF4-FFF2-40B4-BE49-F238E27FC236}">
                <a16:creationId xmlns:a16="http://schemas.microsoft.com/office/drawing/2014/main" id="{7316425C-0D6D-949C-FA43-DA5BD70682BE}"/>
              </a:ext>
            </a:extLst>
          </p:cNvPr>
          <p:cNvSpPr/>
          <p:nvPr/>
        </p:nvSpPr>
        <p:spPr>
          <a:xfrm>
            <a:off x="627988" y="3782541"/>
            <a:ext cx="24127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발견: ContextVar 스레드 미전파</a:t>
            </a:r>
            <a:endParaRPr lang="en-US" sz="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ECA9CF29-2DF8-B302-7727-6C082A689BBE}"/>
              </a:ext>
            </a:extLst>
          </p:cNvPr>
          <p:cNvSpPr/>
          <p:nvPr/>
        </p:nvSpPr>
        <p:spPr>
          <a:xfrm>
            <a:off x="627987" y="3925416"/>
            <a:ext cx="4958295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ContextVar는 asyncio Task에는 자동 전파되지만 threading.Thread에는 전파되지 </a:t>
            </a: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않습니다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CLIPoller가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daemon thread에서 실행되면서 AgenticLoop의 ContextVar를 읽지 못했습니다.</a:t>
            </a:r>
            <a:endParaRPr lang="en-US" sz="700" dirty="0"/>
          </a:p>
        </p:txBody>
      </p:sp>
      <p:sp>
        <p:nvSpPr>
          <p:cNvPr id="58" name="Text 42">
            <a:extLst>
              <a:ext uri="{FF2B5EF4-FFF2-40B4-BE49-F238E27FC236}">
                <a16:creationId xmlns:a16="http://schemas.microsoft.com/office/drawing/2014/main" id="{96F3675D-3395-2B5C-396E-8C54922C9129}"/>
              </a:ext>
            </a:extLst>
          </p:cNvPr>
          <p:cNvSpPr/>
          <p:nvPr/>
        </p:nvSpPr>
        <p:spPr>
          <a:xfrm>
            <a:off x="5971919" y="3676897"/>
            <a:ext cx="2694825" cy="832838"/>
          </a:xfrm>
          <a:prstGeom prst="roundRect">
            <a:avLst>
              <a:gd name="adj" fmla="val 6886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3">
            <a:extLst>
              <a:ext uri="{FF2B5EF4-FFF2-40B4-BE49-F238E27FC236}">
                <a16:creationId xmlns:a16="http://schemas.microsoft.com/office/drawing/2014/main" id="{8086D72D-0AA4-9BCD-0C68-4D25B9455436}"/>
              </a:ext>
            </a:extLst>
          </p:cNvPr>
          <p:cNvSpPr/>
          <p:nvPr/>
        </p:nvSpPr>
        <p:spPr>
          <a:xfrm>
            <a:off x="6108395" y="3787922"/>
            <a:ext cx="24419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copy_context()</a:t>
            </a:r>
            <a:endParaRPr lang="en-US" sz="700" dirty="0"/>
          </a:p>
        </p:txBody>
      </p:sp>
      <p:sp>
        <p:nvSpPr>
          <p:cNvPr id="60" name="Text 44">
            <a:extLst>
              <a:ext uri="{FF2B5EF4-FFF2-40B4-BE49-F238E27FC236}">
                <a16:creationId xmlns:a16="http://schemas.microsoft.com/office/drawing/2014/main" id="{4EE56BE9-B3F7-09EE-F475-7693A863CEFA}"/>
              </a:ext>
            </a:extLst>
          </p:cNvPr>
          <p:cNvSpPr/>
          <p:nvPr/>
        </p:nvSpPr>
        <p:spPr>
          <a:xfrm>
            <a:off x="6108395" y="3976901"/>
            <a:ext cx="244193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 생성 시 copy_context().run()으로 부모 컨텍스트를 명시적으로 복사합니다. 이 패턴은 SharedServices 전체에 적용되었습니다.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— while(tool_use)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tool_use를 반환하는 한 time_budget 내에서 루프를 계속하고, 5가지 경로로 종료합니다. max_rounds는 deprecated fallback입니다.</a:t>
            </a:r>
            <a:endParaRPr lang="en-US" sz="700" dirty="0"/>
          </a:p>
        </p:txBody>
      </p:sp>
      <p:pic>
        <p:nvPicPr>
          <p:cNvPr id="6" name="Image 0" descr="/Users/mango/workspace/portfolio/geode/slides/assets/v028-diagram-agentic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87177"/>
            <a:ext cx="5829094" cy="2706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1449" y="850702"/>
            <a:ext cx="2729941" cy="1312962"/>
          </a:xfrm>
          <a:prstGeom prst="roundRect">
            <a:avLst>
              <a:gd name="adj" fmla="val 38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83375" y="987177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83375" y="1187202"/>
            <a:ext cx="364034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359575" y="1212503"/>
            <a:ext cx="21586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6748909" y="1187202"/>
            <a:ext cx="1520448" cy="10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end_turn 반환 — 자연 완료.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283375" y="1367879"/>
            <a:ext cx="346323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59575" y="1393180"/>
            <a:ext cx="19780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6731198" y="1367879"/>
            <a:ext cx="1761530" cy="8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잔여 2라운드에서 텍스트 강제 추출.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283375" y="1548557"/>
            <a:ext cx="543818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359575" y="1573857"/>
            <a:ext cx="39924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6928693" y="1548558"/>
            <a:ext cx="1475210" cy="7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4회 반복 → 조기 종료.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83375" y="1729234"/>
            <a:ext cx="427434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359575" y="1754535"/>
            <a:ext cx="2805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6812310" y="1729234"/>
            <a:ext cx="1874490" cy="8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→ Cross-Provider Fallback.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283375" y="1909911"/>
            <a:ext cx="441573" cy="117277"/>
          </a:xfrm>
          <a:prstGeom prst="roundRect">
            <a:avLst>
              <a:gd name="adj" fmla="val 32487"/>
            </a:avLst>
          </a:prstGeom>
          <a:solidFill>
            <a:srgbClr val="8B949E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359575" y="1935212"/>
            <a:ext cx="294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500" dirty="0"/>
          </a:p>
        </p:txBody>
      </p:sp>
      <p:sp>
        <p:nvSpPr>
          <p:cNvPr id="23" name="Text 20"/>
          <p:cNvSpPr/>
          <p:nvPr/>
        </p:nvSpPr>
        <p:spPr>
          <a:xfrm>
            <a:off x="6826448" y="1909912"/>
            <a:ext cx="1442909" cy="6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Ctrl+C 인터럽트 또는 billing 에러.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21450" y="2239863"/>
            <a:ext cx="2729942" cy="1043880"/>
          </a:xfrm>
          <a:prstGeom prst="roundRect">
            <a:avLst>
              <a:gd name="adj" fmla="val 486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83375" y="2376339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관리 3단계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83375" y="2576364"/>
            <a:ext cx="434578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59575" y="2601664"/>
            <a:ext cx="28782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turns</a:t>
            </a:r>
            <a:endParaRPr lang="en-US" sz="500" dirty="0"/>
          </a:p>
        </p:txBody>
      </p:sp>
      <p:sp>
        <p:nvSpPr>
          <p:cNvPr id="28" name="Text 25"/>
          <p:cNvSpPr/>
          <p:nvPr/>
        </p:nvSpPr>
        <p:spPr>
          <a:xfrm>
            <a:off x="6819454" y="2576364"/>
            <a:ext cx="1867346" cy="20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— 최초 메시지 보존, 중간 제거.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283375" y="2849314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F59E0B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359575" y="2874615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664374" y="2849314"/>
            <a:ext cx="1739529" cy="88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80% → compact 압축 발동.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283375" y="3029992"/>
            <a:ext cx="279499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3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59575" y="3055293"/>
            <a:ext cx="12964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6664375" y="3029992"/>
            <a:ext cx="1739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→ emergency prune 자동 발동.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57200" y="4991100"/>
            <a:ext cx="346768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v0.35.0: time_budget_s가 유일한 실행 제약. max_rounds=50은 deprecated fallback. WRAP_UP_HEADROOM=2</a:t>
            </a:r>
            <a:endParaRPr lang="en-US" sz="500" dirty="0"/>
          </a:p>
        </p:txBody>
      </p:sp>
      <p:sp>
        <p:nvSpPr>
          <p:cNvPr id="36" name="Text 33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29</a:t>
            </a:r>
            <a:endParaRPr lang="en-US" sz="5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8C528F6D-CDB9-F831-21E3-96A1B41394B4}"/>
              </a:ext>
            </a:extLst>
          </p:cNvPr>
          <p:cNvSpPr/>
          <p:nvPr/>
        </p:nvSpPr>
        <p:spPr>
          <a:xfrm>
            <a:off x="4903068" y="3363112"/>
            <a:ext cx="4051250" cy="1043880"/>
          </a:xfrm>
          <a:prstGeom prst="roundRect">
            <a:avLst>
              <a:gd name="adj" fmla="val 498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04630274-A1E1-0647-D2B6-CCCCC4F23278}"/>
              </a:ext>
            </a:extLst>
          </p:cNvPr>
          <p:cNvSpPr/>
          <p:nvPr/>
        </p:nvSpPr>
        <p:spPr>
          <a:xfrm>
            <a:off x="5039543" y="3461488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SessionMode별 실행 예산</a:t>
            </a:r>
            <a:endParaRPr lang="en-US" sz="70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095CF177-B17A-A837-C3F1-051A129F3B08}"/>
              </a:ext>
            </a:extLst>
          </p:cNvPr>
          <p:cNvSpPr/>
          <p:nvPr/>
        </p:nvSpPr>
        <p:spPr>
          <a:xfrm>
            <a:off x="5039543" y="3745452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82D36765-8153-0FBA-C43B-BAFD097CB015}"/>
              </a:ext>
            </a:extLst>
          </p:cNvPr>
          <p:cNvSpPr/>
          <p:nvPr/>
        </p:nvSpPr>
        <p:spPr>
          <a:xfrm>
            <a:off x="5039543" y="3629664"/>
            <a:ext cx="24290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6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CA71BEA8-96B1-4D24-D459-AA1665C74950}"/>
              </a:ext>
            </a:extLst>
          </p:cNvPr>
          <p:cNvSpPr/>
          <p:nvPr/>
        </p:nvSpPr>
        <p:spPr>
          <a:xfrm>
            <a:off x="7414593" y="3629664"/>
            <a:ext cx="6475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time_budget</a:t>
            </a:r>
            <a:endParaRPr lang="en-US" sz="60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71E5DDB0-A84C-C663-7833-0C32FA48C28D}"/>
              </a:ext>
            </a:extLst>
          </p:cNvPr>
          <p:cNvSpPr/>
          <p:nvPr/>
        </p:nvSpPr>
        <p:spPr>
          <a:xfrm>
            <a:off x="8052033" y="3629664"/>
            <a:ext cx="3886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</a:t>
            </a:r>
            <a:endParaRPr lang="en-US" sz="6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9D8413BB-E69A-BF61-F7EB-7E11709D851F}"/>
              </a:ext>
            </a:extLst>
          </p:cNvPr>
          <p:cNvSpPr/>
          <p:nvPr/>
        </p:nvSpPr>
        <p:spPr>
          <a:xfrm>
            <a:off x="8433033" y="3629664"/>
            <a:ext cx="3886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</a:t>
            </a:r>
            <a:endParaRPr lang="en-US" sz="6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C3A743CE-CCB3-F6F3-281D-45E4F2EB8C23}"/>
              </a:ext>
            </a:extLst>
          </p:cNvPr>
          <p:cNvSpPr/>
          <p:nvPr/>
        </p:nvSpPr>
        <p:spPr>
          <a:xfrm>
            <a:off x="5039543" y="378831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</a:t>
            </a:r>
            <a:endParaRPr lang="en-US" sz="7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C93B044F-4C47-E328-D092-CE037FBFA778}"/>
              </a:ext>
            </a:extLst>
          </p:cNvPr>
          <p:cNvSpPr/>
          <p:nvPr/>
        </p:nvSpPr>
        <p:spPr>
          <a:xfrm>
            <a:off x="7414593" y="378831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700" dirty="0"/>
          </a:p>
        </p:txBody>
      </p:sp>
      <p:sp>
        <p:nvSpPr>
          <p:cNvPr id="46" name="Text 18">
            <a:extLst>
              <a:ext uri="{FF2B5EF4-FFF2-40B4-BE49-F238E27FC236}">
                <a16:creationId xmlns:a16="http://schemas.microsoft.com/office/drawing/2014/main" id="{A7D78B9F-1F1A-C3FC-E615-A7E2CC14B875}"/>
              </a:ext>
            </a:extLst>
          </p:cNvPr>
          <p:cNvSpPr/>
          <p:nvPr/>
        </p:nvSpPr>
        <p:spPr>
          <a:xfrm>
            <a:off x="8052033" y="37883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F4800E88-AE18-90C2-B5B5-C1DC7ED83601}"/>
              </a:ext>
            </a:extLst>
          </p:cNvPr>
          <p:cNvSpPr/>
          <p:nvPr/>
        </p:nvSpPr>
        <p:spPr>
          <a:xfrm>
            <a:off x="8433033" y="37883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700" dirty="0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EB3C076A-3561-BE5F-436D-3ACF867E143C}"/>
              </a:ext>
            </a:extLst>
          </p:cNvPr>
          <p:cNvSpPr/>
          <p:nvPr/>
        </p:nvSpPr>
        <p:spPr>
          <a:xfrm>
            <a:off x="5039543" y="392166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 (thin CLI)</a:t>
            </a:r>
            <a:endParaRPr lang="en-US" sz="700" dirty="0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18415608-98C5-E1A2-F4C0-D8D57FCDFCFB}"/>
              </a:ext>
            </a:extLst>
          </p:cNvPr>
          <p:cNvSpPr/>
          <p:nvPr/>
        </p:nvSpPr>
        <p:spPr>
          <a:xfrm>
            <a:off x="7414593" y="392166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7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B8942991-4E0D-8E65-7DE3-851DEFC5A662}"/>
              </a:ext>
            </a:extLst>
          </p:cNvPr>
          <p:cNvSpPr/>
          <p:nvPr/>
        </p:nvSpPr>
        <p:spPr>
          <a:xfrm>
            <a:off x="8052033" y="39216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574B4825-E598-8441-FF65-87B5250CCC53}"/>
              </a:ext>
            </a:extLst>
          </p:cNvPr>
          <p:cNvSpPr/>
          <p:nvPr/>
        </p:nvSpPr>
        <p:spPr>
          <a:xfrm>
            <a:off x="8433033" y="39216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7321D864-3080-A1F4-52B5-C17DA46F21EB}"/>
              </a:ext>
            </a:extLst>
          </p:cNvPr>
          <p:cNvSpPr/>
          <p:nvPr/>
        </p:nvSpPr>
        <p:spPr>
          <a:xfrm>
            <a:off x="5039543" y="405501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 (Slack)</a:t>
            </a:r>
            <a:endParaRPr lang="en-US" sz="7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D506869-252C-BA71-A734-3103CEDC2629}"/>
              </a:ext>
            </a:extLst>
          </p:cNvPr>
          <p:cNvSpPr/>
          <p:nvPr/>
        </p:nvSpPr>
        <p:spPr>
          <a:xfrm>
            <a:off x="7414593" y="405501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120s</a:t>
            </a:r>
            <a:endParaRPr lang="en-US" sz="700" dirty="0"/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0F975A2F-C345-A03D-A62B-A6CB758CA4FD}"/>
              </a:ext>
            </a:extLst>
          </p:cNvPr>
          <p:cNvSpPr/>
          <p:nvPr/>
        </p:nvSpPr>
        <p:spPr>
          <a:xfrm>
            <a:off x="8052033" y="40550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7E80BF00-34EF-3254-39CB-5E8C96F6764E}"/>
              </a:ext>
            </a:extLst>
          </p:cNvPr>
          <p:cNvSpPr/>
          <p:nvPr/>
        </p:nvSpPr>
        <p:spPr>
          <a:xfrm>
            <a:off x="8433033" y="405501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88D03172-5559-0FE0-A2D1-CFA6686918B4}"/>
              </a:ext>
            </a:extLst>
          </p:cNvPr>
          <p:cNvSpPr/>
          <p:nvPr/>
        </p:nvSpPr>
        <p:spPr>
          <a:xfrm>
            <a:off x="5039543" y="4188364"/>
            <a:ext cx="2429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700" dirty="0"/>
          </a:p>
        </p:txBody>
      </p:sp>
      <p:sp>
        <p:nvSpPr>
          <p:cNvPr id="57" name="Text 29">
            <a:extLst>
              <a:ext uri="{FF2B5EF4-FFF2-40B4-BE49-F238E27FC236}">
                <a16:creationId xmlns:a16="http://schemas.microsoft.com/office/drawing/2014/main" id="{BB30DB98-FFAE-3912-9B72-4CD2B7AE0E1A}"/>
              </a:ext>
            </a:extLst>
          </p:cNvPr>
          <p:cNvSpPr/>
          <p:nvPr/>
        </p:nvSpPr>
        <p:spPr>
          <a:xfrm>
            <a:off x="7414593" y="4188364"/>
            <a:ext cx="647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300s</a:t>
            </a:r>
            <a:endParaRPr lang="en-US" sz="700" dirty="0"/>
          </a:p>
        </p:txBody>
      </p:sp>
      <p:sp>
        <p:nvSpPr>
          <p:cNvPr id="58" name="Text 30">
            <a:extLst>
              <a:ext uri="{FF2B5EF4-FFF2-40B4-BE49-F238E27FC236}">
                <a16:creationId xmlns:a16="http://schemas.microsoft.com/office/drawing/2014/main" id="{2D86A62D-074E-FA1F-101D-46F39E68392F}"/>
              </a:ext>
            </a:extLst>
          </p:cNvPr>
          <p:cNvSpPr/>
          <p:nvPr/>
        </p:nvSpPr>
        <p:spPr>
          <a:xfrm>
            <a:off x="8052033" y="41883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00" dirty="0"/>
          </a:p>
        </p:txBody>
      </p:sp>
      <p:sp>
        <p:nvSpPr>
          <p:cNvPr id="59" name="Text 31">
            <a:extLst>
              <a:ext uri="{FF2B5EF4-FFF2-40B4-BE49-F238E27FC236}">
                <a16:creationId xmlns:a16="http://schemas.microsoft.com/office/drawing/2014/main" id="{23754566-F14E-8468-947E-E7AD1F7946C4}"/>
              </a:ext>
            </a:extLst>
          </p:cNvPr>
          <p:cNvSpPr/>
          <p:nvPr/>
        </p:nvSpPr>
        <p:spPr>
          <a:xfrm>
            <a:off x="8433033" y="4188364"/>
            <a:ext cx="3886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60" name="Text 32">
            <a:extLst>
              <a:ext uri="{FF2B5EF4-FFF2-40B4-BE49-F238E27FC236}">
                <a16:creationId xmlns:a16="http://schemas.microsoft.com/office/drawing/2014/main" id="{973B1804-F44E-B5EB-C4B8-B428985ABBF9}"/>
              </a:ext>
            </a:extLst>
          </p:cNvPr>
          <p:cNvSpPr/>
          <p:nvPr/>
        </p:nvSpPr>
        <p:spPr>
          <a:xfrm>
            <a:off x="480977" y="3320324"/>
            <a:ext cx="4361182" cy="1128973"/>
          </a:xfrm>
          <a:prstGeom prst="roundRect">
            <a:avLst>
              <a:gd name="adj" fmla="val 422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8CE278AD-A068-CD26-6C74-692D7E0456D7}"/>
              </a:ext>
            </a:extLst>
          </p:cNvPr>
          <p:cNvSpPr/>
          <p:nvPr/>
        </p:nvSpPr>
        <p:spPr>
          <a:xfrm>
            <a:off x="617452" y="3418701"/>
            <a:ext cx="4148698" cy="9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종료 경로 분포 (추정)</a:t>
            </a:r>
            <a:endParaRPr lang="en-US" sz="700" dirty="0"/>
          </a:p>
        </p:txBody>
      </p:sp>
      <p:sp>
        <p:nvSpPr>
          <p:cNvPr id="62" name="Text 34">
            <a:extLst>
              <a:ext uri="{FF2B5EF4-FFF2-40B4-BE49-F238E27FC236}">
                <a16:creationId xmlns:a16="http://schemas.microsoft.com/office/drawing/2014/main" id="{94CE6C2C-1B20-3F2A-0351-B4D24506489A}"/>
              </a:ext>
            </a:extLst>
          </p:cNvPr>
          <p:cNvSpPr/>
          <p:nvPr/>
        </p:nvSpPr>
        <p:spPr>
          <a:xfrm>
            <a:off x="617452" y="3586876"/>
            <a:ext cx="2734211" cy="115367"/>
          </a:xfrm>
          <a:prstGeom prst="roundRect">
            <a:avLst>
              <a:gd name="adj" fmla="val 20008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35">
            <a:extLst>
              <a:ext uri="{FF2B5EF4-FFF2-40B4-BE49-F238E27FC236}">
                <a16:creationId xmlns:a16="http://schemas.microsoft.com/office/drawing/2014/main" id="{D527E9F0-68FB-962F-B54A-3323852B4814}"/>
              </a:ext>
            </a:extLst>
          </p:cNvPr>
          <p:cNvSpPr/>
          <p:nvPr/>
        </p:nvSpPr>
        <p:spPr>
          <a:xfrm>
            <a:off x="3520355" y="3598946"/>
            <a:ext cx="955506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(end_turn)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~70%</a:t>
            </a:r>
            <a:endParaRPr lang="en-US" sz="600" dirty="0"/>
          </a:p>
        </p:txBody>
      </p:sp>
      <p:sp>
        <p:nvSpPr>
          <p:cNvPr id="64" name="Text 36">
            <a:extLst>
              <a:ext uri="{FF2B5EF4-FFF2-40B4-BE49-F238E27FC236}">
                <a16:creationId xmlns:a16="http://schemas.microsoft.com/office/drawing/2014/main" id="{837395FB-413C-E4B8-8427-821B02B05603}"/>
              </a:ext>
            </a:extLst>
          </p:cNvPr>
          <p:cNvSpPr/>
          <p:nvPr/>
        </p:nvSpPr>
        <p:spPr>
          <a:xfrm>
            <a:off x="617451" y="3764576"/>
            <a:ext cx="820295" cy="115367"/>
          </a:xfrm>
          <a:prstGeom prst="roundRect">
            <a:avLst>
              <a:gd name="adj" fmla="val 20008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7A25C9D1-D010-5D10-CA1C-5490E9BBCCC0}"/>
              </a:ext>
            </a:extLst>
          </p:cNvPr>
          <p:cNvSpPr/>
          <p:nvPr/>
        </p:nvSpPr>
        <p:spPr>
          <a:xfrm>
            <a:off x="1455652" y="3785116"/>
            <a:ext cx="853206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(budget)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~15%</a:t>
            </a:r>
            <a:endParaRPr lang="en-US" sz="600" dirty="0"/>
          </a:p>
        </p:txBody>
      </p:sp>
      <p:sp>
        <p:nvSpPr>
          <p:cNvPr id="66" name="Text 38">
            <a:extLst>
              <a:ext uri="{FF2B5EF4-FFF2-40B4-BE49-F238E27FC236}">
                <a16:creationId xmlns:a16="http://schemas.microsoft.com/office/drawing/2014/main" id="{451EA30B-2D03-7AC9-1041-446BACD191DC}"/>
              </a:ext>
            </a:extLst>
          </p:cNvPr>
          <p:cNvSpPr/>
          <p:nvPr/>
        </p:nvSpPr>
        <p:spPr>
          <a:xfrm>
            <a:off x="617452" y="3942277"/>
            <a:ext cx="410148" cy="115367"/>
          </a:xfrm>
          <a:prstGeom prst="roundRect">
            <a:avLst>
              <a:gd name="adj" fmla="val 20008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05193A1A-57CD-DCF8-4900-6337EABB09E1}"/>
              </a:ext>
            </a:extLst>
          </p:cNvPr>
          <p:cNvSpPr/>
          <p:nvPr/>
        </p:nvSpPr>
        <p:spPr>
          <a:xfrm>
            <a:off x="1074652" y="3962816"/>
            <a:ext cx="709398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~8%</a:t>
            </a:r>
            <a:endParaRPr lang="en-US" sz="600" dirty="0"/>
          </a:p>
        </p:txBody>
      </p:sp>
      <p:sp>
        <p:nvSpPr>
          <p:cNvPr id="68" name="Text 40">
            <a:extLst>
              <a:ext uri="{FF2B5EF4-FFF2-40B4-BE49-F238E27FC236}">
                <a16:creationId xmlns:a16="http://schemas.microsoft.com/office/drawing/2014/main" id="{5FB9437E-111C-2946-4D68-DD42F756DEA7}"/>
              </a:ext>
            </a:extLst>
          </p:cNvPr>
          <p:cNvSpPr/>
          <p:nvPr/>
        </p:nvSpPr>
        <p:spPr>
          <a:xfrm>
            <a:off x="617452" y="4119978"/>
            <a:ext cx="205074" cy="115367"/>
          </a:xfrm>
          <a:prstGeom prst="roundRect">
            <a:avLst>
              <a:gd name="adj" fmla="val 2000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41">
            <a:extLst>
              <a:ext uri="{FF2B5EF4-FFF2-40B4-BE49-F238E27FC236}">
                <a16:creationId xmlns:a16="http://schemas.microsoft.com/office/drawing/2014/main" id="{1742D87B-C272-1D98-06E7-381CF52380AF}"/>
              </a:ext>
            </a:extLst>
          </p:cNvPr>
          <p:cNvSpPr/>
          <p:nvPr/>
        </p:nvSpPr>
        <p:spPr>
          <a:xfrm>
            <a:off x="884151" y="4140517"/>
            <a:ext cx="555949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llm_error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~5%</a:t>
            </a:r>
            <a:endParaRPr lang="en-US" sz="600" dirty="0"/>
          </a:p>
        </p:txBody>
      </p:sp>
      <p:sp>
        <p:nvSpPr>
          <p:cNvPr id="70" name="Text 42">
            <a:extLst>
              <a:ext uri="{FF2B5EF4-FFF2-40B4-BE49-F238E27FC236}">
                <a16:creationId xmlns:a16="http://schemas.microsoft.com/office/drawing/2014/main" id="{72B72F1B-B438-92F8-302A-D16110C3BD90}"/>
              </a:ext>
            </a:extLst>
          </p:cNvPr>
          <p:cNvSpPr/>
          <p:nvPr/>
        </p:nvSpPr>
        <p:spPr>
          <a:xfrm>
            <a:off x="617452" y="4297679"/>
            <a:ext cx="82030" cy="115367"/>
          </a:xfrm>
          <a:prstGeom prst="roundRect">
            <a:avLst>
              <a:gd name="adj" fmla="val 33333"/>
            </a:avLst>
          </a:prstGeom>
          <a:solidFill>
            <a:srgbClr val="8B949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43">
            <a:extLst>
              <a:ext uri="{FF2B5EF4-FFF2-40B4-BE49-F238E27FC236}">
                <a16:creationId xmlns:a16="http://schemas.microsoft.com/office/drawing/2014/main" id="{1C508F20-6C6A-7305-0992-3765B9FD27D1}"/>
              </a:ext>
            </a:extLst>
          </p:cNvPr>
          <p:cNvSpPr/>
          <p:nvPr/>
        </p:nvSpPr>
        <p:spPr>
          <a:xfrm>
            <a:off x="769852" y="4318218"/>
            <a:ext cx="574578" cy="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~2%</a:t>
            </a:r>
            <a:endParaRPr lang="en-US" sz="600" dirty="0"/>
          </a:p>
        </p:txBody>
      </p:sp>
      <p:sp>
        <p:nvSpPr>
          <p:cNvPr id="72" name="Text 44">
            <a:extLst>
              <a:ext uri="{FF2B5EF4-FFF2-40B4-BE49-F238E27FC236}">
                <a16:creationId xmlns:a16="http://schemas.microsoft.com/office/drawing/2014/main" id="{A41F5D75-67A1-AF57-7A9F-F286CA905499}"/>
              </a:ext>
            </a:extLst>
          </p:cNvPr>
          <p:cNvSpPr/>
          <p:nvPr/>
        </p:nvSpPr>
        <p:spPr>
          <a:xfrm>
            <a:off x="4903068" y="4460125"/>
            <a:ext cx="4051250" cy="400943"/>
          </a:xfrm>
          <a:prstGeom prst="roundRect">
            <a:avLst>
              <a:gd name="adj" fmla="val 126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45">
            <a:extLst>
              <a:ext uri="{FF2B5EF4-FFF2-40B4-BE49-F238E27FC236}">
                <a16:creationId xmlns:a16="http://schemas.microsoft.com/office/drawing/2014/main" id="{1EBA0443-091C-7ED7-14F1-8A6F07D7B008}"/>
              </a:ext>
            </a:extLst>
          </p:cNvPr>
          <p:cNvSpPr/>
          <p:nvPr/>
        </p:nvSpPr>
        <p:spPr>
          <a:xfrm>
            <a:off x="4926880" y="4460125"/>
            <a:ext cx="0" cy="400943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46">
            <a:extLst>
              <a:ext uri="{FF2B5EF4-FFF2-40B4-BE49-F238E27FC236}">
                <a16:creationId xmlns:a16="http://schemas.microsoft.com/office/drawing/2014/main" id="{9D4313DF-EA04-22D5-770F-9FED2DB89263}"/>
              </a:ext>
            </a:extLst>
          </p:cNvPr>
          <p:cNvSpPr/>
          <p:nvPr/>
        </p:nvSpPr>
        <p:spPr>
          <a:xfrm>
            <a:off x="5077643" y="4536325"/>
            <a:ext cx="382471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 err="1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의미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natural 종료 = LLM이 작업 완료를 스스로 판단합니다. forced 15%는 DAEMON/SCHEDULER의 시간 예산 제한에 의한 것이지, 시스템 실패가 아닙니다.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단일 진입점 → 4경로 분기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ToolExecutor가 LLM tool_use를 받아 도구 유형과 안전 등급으로 라우팅합니다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308550" cy="568077"/>
          </a:xfrm>
          <a:prstGeom prst="roundRect">
            <a:avLst>
              <a:gd name="adj" fmla="val 89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68077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6427"/>
            <a:ext cx="5055248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tool_use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블록을 반환하면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ToolCallProcessor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도구 수를 먼저 판단합니다. 단일 도구는 바로 실행, 2개 이상이면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안전 등급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분류 후 Tier에 따라 병렬 또는 순차 실행합니다.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79054"/>
            <a:ext cx="5308550" cy="2141340"/>
          </a:xfrm>
          <a:prstGeom prst="roundRect">
            <a:avLst>
              <a:gd name="adj" fmla="val 147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15529"/>
            <a:ext cx="50843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DECISION TREE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50380"/>
            <a:ext cx="4984700" cy="361950"/>
          </a:xfrm>
          <a:prstGeom prst="roundRect">
            <a:avLst>
              <a:gd name="adj" fmla="val 14035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8483" y="1936105"/>
            <a:ext cx="48059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ToolExecutor.execute()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483" y="2050405"/>
            <a:ext cx="480598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— 모든 도구 디스패치</a:t>
            </a:r>
            <a:endParaRPr lang="en-US" sz="500" dirty="0"/>
          </a:p>
        </p:txBody>
      </p:sp>
      <p:sp>
        <p:nvSpPr>
          <p:cNvPr id="14" name="Text 12"/>
          <p:cNvSpPr/>
          <p:nvPr/>
        </p:nvSpPr>
        <p:spPr>
          <a:xfrm>
            <a:off x="619125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0481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20481" y="2507456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run_bash?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720481" y="2574131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safety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884313" y="2313831"/>
            <a:ext cx="1189137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85668" y="2412206"/>
            <a:ext cx="9864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85668" y="2539261"/>
            <a:ext cx="9864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핸들러?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1985668" y="2639315"/>
            <a:ext cx="98642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native tools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3149650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51006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251006" y="2523358"/>
            <a:ext cx="98627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서버?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3251006" y="2607509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catalog</a:t>
            </a:r>
            <a:endParaRPr lang="en-US" sz="500" dirty="0"/>
          </a:p>
        </p:txBody>
      </p:sp>
      <p:sp>
        <p:nvSpPr>
          <p:cNvPr id="26" name="Text 24"/>
          <p:cNvSpPr/>
          <p:nvPr/>
        </p:nvSpPr>
        <p:spPr>
          <a:xfrm>
            <a:off x="4414838" y="2313831"/>
            <a:ext cx="1188988" cy="434876"/>
          </a:xfrm>
          <a:prstGeom prst="roundRect">
            <a:avLst>
              <a:gd name="adj" fmla="val 11681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16194" y="2412206"/>
            <a:ext cx="9862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16194" y="2523358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analyze_ip?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516194" y="2597984"/>
            <a:ext cx="98627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13-task graph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569278" y="2850207"/>
            <a:ext cx="50843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2개 이상 tool_use 시 — 5-Tier 안전 등급 분류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19125" y="3056483"/>
            <a:ext cx="946100" cy="409575"/>
          </a:xfrm>
          <a:prstGeom prst="roundRect">
            <a:avLst>
              <a:gd name="adj" fmla="val 124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4048" y="3142208"/>
            <a:ext cx="8162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4048" y="3237458"/>
            <a:ext cx="8162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684048" y="3304133"/>
            <a:ext cx="8162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병렬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16286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6935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6935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16935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26382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7031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7031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27031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승인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364792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F97316">
              <a:alpha val="12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1284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1284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371284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</a:t>
            </a:r>
            <a:endParaRPr lang="en-US" sz="500" dirty="0"/>
          </a:p>
        </p:txBody>
      </p:sp>
      <p:sp>
        <p:nvSpPr>
          <p:cNvPr id="47" name="Text 45"/>
          <p:cNvSpPr/>
          <p:nvPr/>
        </p:nvSpPr>
        <p:spPr>
          <a:xfrm>
            <a:off x="4657576" y="3056483"/>
            <a:ext cx="946249" cy="409575"/>
          </a:xfrm>
          <a:prstGeom prst="roundRect">
            <a:avLst>
              <a:gd name="adj" fmla="val 124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22498" y="3142208"/>
            <a:ext cx="81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722498" y="3237458"/>
            <a:ext cx="8164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500" dirty="0"/>
          </a:p>
        </p:txBody>
      </p:sp>
      <p:sp>
        <p:nvSpPr>
          <p:cNvPr id="50" name="Text 48"/>
          <p:cNvSpPr/>
          <p:nvPr/>
        </p:nvSpPr>
        <p:spPr>
          <a:xfrm>
            <a:off x="4722498" y="3304133"/>
            <a:ext cx="816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HITL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5892701" y="809476"/>
            <a:ext cx="2794099" cy="1637407"/>
          </a:xfrm>
          <a:prstGeom prst="roundRect">
            <a:avLst>
              <a:gd name="adj" fmla="val 31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054626" y="945952"/>
            <a:ext cx="2519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Recovery Chain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054626" y="1180802"/>
            <a:ext cx="251965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2회 실패 시 자동 복구 체인 실행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6054626" y="1333202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75988" y="1383953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Retry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968877" y="1379190"/>
            <a:ext cx="1387944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 재시도 (1s backoff)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54626" y="1593354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75988" y="1644104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Alt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968877" y="1639342"/>
            <a:ext cx="1096332" cy="109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카테고리 대체 도구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054626" y="1853505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175988" y="1904256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Fallback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968877" y="1899493"/>
            <a:ext cx="1096332" cy="77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저렴한 도구로 강등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054626" y="2113657"/>
            <a:ext cx="812750" cy="196751"/>
          </a:xfrm>
          <a:prstGeom prst="roundRect">
            <a:avLst>
              <a:gd name="adj" fmla="val 2581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175988" y="2164407"/>
            <a:ext cx="570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Escalate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968876" y="2159646"/>
            <a:ext cx="138794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사용자에게 에스컬레이션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892701" y="2548384"/>
            <a:ext cx="2794099" cy="1072010"/>
          </a:xfrm>
          <a:prstGeom prst="roundRect">
            <a:avLst>
              <a:gd name="adj" fmla="val 213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5916513" y="2548384"/>
            <a:ext cx="0" cy="1072010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6092726" y="2675334"/>
            <a:ext cx="24905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092726" y="2884884"/>
            <a:ext cx="2490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0-1은 </a:t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완전 병렬 실행하여 응답 속도를 극대화하고, Tier 3-4는 순차+개별승인으로 안전성을 보장합니다.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092726" y="3418284"/>
            <a:ext cx="24905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MAX_CONSECUTIVE_FAILURES = 2 · max_recovery = 3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457200" y="4987975"/>
            <a:ext cx="293499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(1179L) + policy.py (431L) + error_recovery.py (461L) · 47 native tools · 12 categories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29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하드코딩 콜백 → 40-Event Bus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v0.35.1에서 6개 orphan 정리. 15카테고리 40이벤트로 전 계층(L0-L5)을 횡단하는 관측 신경계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876800" cy="688032"/>
          </a:xfrm>
          <a:prstGeom prst="roundRect">
            <a:avLst>
              <a:gd name="adj" fmla="val 73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688032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10977"/>
            <a:ext cx="461486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DAG 노드 상태·검증 결과·드리프트를 실시간 추적하려면 하드코딩 콜백으로는 확장이 불가능했습니다. 프론티어 하네스를 리서치하고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카테고리 45개 이벤트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7225" y="1271736"/>
            <a:ext cx="46148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패턴: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하나의 이벤트가 L1(관측)과 L2(반응)를 동시에 지나가는 것이 리플 패턴입니다.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48260"/>
            <a:ext cx="4876800" cy="997445"/>
          </a:xfrm>
          <a:prstGeom prst="roundRect">
            <a:avLst>
              <a:gd name="adj" fmla="val 149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125" y="1659285"/>
            <a:ext cx="46440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EVENT CATEGORIES (40 total)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125" y="183073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4850" y="187836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04850" y="196408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1120973" y="1830735"/>
            <a:ext cx="3619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6698" y="1878360"/>
            <a:ext cx="19431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206698" y="1964085"/>
            <a:ext cx="19431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1521023" y="1830735"/>
            <a:ext cx="484882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06748" y="187836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606748" y="1964085"/>
            <a:ext cx="3197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21" name="Text 19"/>
          <p:cNvSpPr/>
          <p:nvPr/>
        </p:nvSpPr>
        <p:spPr>
          <a:xfrm>
            <a:off x="2044005" y="1830735"/>
            <a:ext cx="5822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29730" y="1878360"/>
            <a:ext cx="41898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129730" y="1964085"/>
            <a:ext cx="41898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664321" y="1830735"/>
            <a:ext cx="59471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750046" y="1878360"/>
            <a:ext cx="4317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750046" y="1964085"/>
            <a:ext cx="43173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3297138" y="183073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82863" y="187836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3382863" y="196408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798987" y="1830735"/>
            <a:ext cx="438150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84712" y="1878360"/>
            <a:ext cx="2720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884712" y="1964085"/>
            <a:ext cx="27203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4275237" y="1830735"/>
            <a:ext cx="5313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60962" y="1878360"/>
            <a:ext cx="36706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360962" y="1964085"/>
            <a:ext cx="36706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619125" y="2116485"/>
            <a:ext cx="66972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4850" y="2164110"/>
            <a:ext cx="5082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ToolRecovery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704850" y="2249835"/>
            <a:ext cx="50824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1326952" y="2116485"/>
            <a:ext cx="484882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412677" y="2164110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412677" y="2249835"/>
            <a:ext cx="3197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1849934" y="2116485"/>
            <a:ext cx="335161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935659" y="2164110"/>
            <a:ext cx="16698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1935659" y="2249835"/>
            <a:ext cx="1669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2223195" y="2116485"/>
            <a:ext cx="455116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308920" y="2164110"/>
            <a:ext cx="28934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308920" y="2249835"/>
            <a:ext cx="28934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2716411" y="2116485"/>
            <a:ext cx="463748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802136" y="2164110"/>
            <a:ext cx="298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2802136" y="2249835"/>
            <a:ext cx="29814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3218259" y="2116485"/>
            <a:ext cx="391567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303984" y="2164110"/>
            <a:ext cx="2245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3303984" y="2249835"/>
            <a:ext cx="22451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3647926" y="2116485"/>
            <a:ext cx="489049" cy="247650"/>
          </a:xfrm>
          <a:prstGeom prst="roundRect">
            <a:avLst>
              <a:gd name="adj" fmla="val 15385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733651" y="2164110"/>
            <a:ext cx="3239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3733651" y="2249835"/>
            <a:ext cx="32395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00" dirty="0"/>
          </a:p>
        </p:txBody>
      </p:sp>
      <p:sp>
        <p:nvSpPr>
          <p:cNvPr id="57" name="Text 55"/>
          <p:cNvSpPr/>
          <p:nvPr/>
        </p:nvSpPr>
        <p:spPr>
          <a:xfrm>
            <a:off x="5460950" y="809476"/>
            <a:ext cx="3225850" cy="1936700"/>
          </a:xfrm>
          <a:prstGeom prst="roundRect">
            <a:avLst>
              <a:gd name="adj" fmla="val 157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22875" y="920502"/>
            <a:ext cx="29600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22875" y="1091952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F97316">
              <a:alpha val="8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733901" y="115222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 — 백로그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733901" y="1257002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622875" y="1460153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733901" y="1520428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 — 현재 프론티어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733901" y="1625203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22875" y="1837879"/>
            <a:ext cx="2902000" cy="339626"/>
          </a:xfrm>
          <a:prstGeom prst="roundRect">
            <a:avLst>
              <a:gd name="adj" fmla="val 1495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33901" y="1898154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 — 자동 반응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33901" y="2002929"/>
            <a:ext cx="273354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622875" y="2215604"/>
            <a:ext cx="2902000" cy="330101"/>
          </a:xfrm>
          <a:prstGeom prst="roundRect">
            <a:avLst>
              <a:gd name="adj" fmla="val 15389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733901" y="2275880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 — 기록만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733901" y="2380655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42 events → runs.jsonl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460950" y="2850951"/>
            <a:ext cx="3225850" cy="635645"/>
          </a:xfrm>
          <a:prstGeom prst="roundRect">
            <a:avLst>
              <a:gd name="adj" fmla="val 79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5484763" y="2850951"/>
            <a:ext cx="0" cy="635645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5660975" y="2952451"/>
            <a:ext cx="2930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660975" y="3136552"/>
            <a:ext cx="293089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기반 핸들러 순서 보장 (P30→P50→P85).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457200" y="4991100"/>
            <a:ext cx="323040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v0.35.1: 46→40→42 events (v0.38 +2 resilience). core/hooks/ cross-cutting. REPL/serve/scheduler 전 모드 wiring</a:t>
            </a:r>
            <a:endParaRPr lang="en-US" sz="500" dirty="0"/>
          </a:p>
        </p:txBody>
      </p:sp>
      <p:sp>
        <p:nvSpPr>
          <p:cNvPr id="76" name="Text 74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29</a:t>
            </a:r>
            <a:endParaRPr lang="en-US" sz="500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57BAD0C9-A66C-D1CC-84AC-4FC63473D000}"/>
              </a:ext>
            </a:extLst>
          </p:cNvPr>
          <p:cNvGrpSpPr/>
          <p:nvPr/>
        </p:nvGrpSpPr>
        <p:grpSpPr>
          <a:xfrm>
            <a:off x="450022" y="2545705"/>
            <a:ext cx="8236778" cy="2263825"/>
            <a:chOff x="415094" y="2631579"/>
            <a:chExt cx="6707996" cy="2263825"/>
          </a:xfrm>
        </p:grpSpPr>
        <p:sp>
          <p:nvSpPr>
            <p:cNvPr id="77" name="Shape 47">
              <a:extLst>
                <a:ext uri="{FF2B5EF4-FFF2-40B4-BE49-F238E27FC236}">
                  <a16:creationId xmlns:a16="http://schemas.microsoft.com/office/drawing/2014/main" id="{ED92B52F-132A-4D78-F1B0-B19E9D01BE20}"/>
                </a:ext>
              </a:extLst>
            </p:cNvPr>
            <p:cNvSpPr/>
            <p:nvPr/>
          </p:nvSpPr>
          <p:spPr>
            <a:xfrm>
              <a:off x="415094" y="2631579"/>
              <a:ext cx="4051399" cy="0"/>
            </a:xfrm>
            <a:prstGeom prst="line">
              <a:avLst/>
            </a:prstGeom>
            <a:noFill/>
            <a:ln w="9525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 49">
              <a:extLst>
                <a:ext uri="{FF2B5EF4-FFF2-40B4-BE49-F238E27FC236}">
                  <a16:creationId xmlns:a16="http://schemas.microsoft.com/office/drawing/2014/main" id="{4ADE5A5D-8F3F-4AC1-E53B-05FC9240C259}"/>
                </a:ext>
              </a:extLst>
            </p:cNvPr>
            <p:cNvSpPr/>
            <p:nvPr/>
          </p:nvSpPr>
          <p:spPr>
            <a:xfrm>
              <a:off x="415094" y="2699742"/>
              <a:ext cx="4051399" cy="786854"/>
            </a:xfrm>
            <a:prstGeom prst="roundRect">
              <a:avLst>
                <a:gd name="adj" fmla="val 6456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9" name="Text 50">
              <a:extLst>
                <a:ext uri="{FF2B5EF4-FFF2-40B4-BE49-F238E27FC236}">
                  <a16:creationId xmlns:a16="http://schemas.microsoft.com/office/drawing/2014/main" id="{572F2E89-B115-938D-6FA2-2B0E86147D8B}"/>
                </a:ext>
              </a:extLst>
            </p:cNvPr>
            <p:cNvSpPr/>
            <p:nvPr/>
          </p:nvSpPr>
          <p:spPr>
            <a:xfrm>
              <a:off x="551569" y="2798118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High-frequency (매 파이프라인 발화)</a:t>
              </a:r>
              <a:endParaRPr lang="en-US" sz="700" dirty="0"/>
            </a:p>
          </p:txBody>
        </p:sp>
        <p:sp>
          <p:nvSpPr>
            <p:cNvPr id="80" name="Text 51">
              <a:extLst>
                <a:ext uri="{FF2B5EF4-FFF2-40B4-BE49-F238E27FC236}">
                  <a16:creationId xmlns:a16="http://schemas.microsoft.com/office/drawing/2014/main" id="{1B8FCE7F-C59A-C4A6-D5A7-1DF0E2AC75BB}"/>
                </a:ext>
              </a:extLst>
            </p:cNvPr>
            <p:cNvSpPr/>
            <p:nvPr/>
          </p:nvSpPr>
          <p:spPr>
            <a:xfrm>
              <a:off x="551569" y="2953643"/>
              <a:ext cx="846088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1" name="Text 52">
              <a:extLst>
                <a:ext uri="{FF2B5EF4-FFF2-40B4-BE49-F238E27FC236}">
                  <a16:creationId xmlns:a16="http://schemas.microsoft.com/office/drawing/2014/main" id="{7AD22955-8C7E-4850-C643-F0E3A7622470}"/>
                </a:ext>
              </a:extLst>
            </p:cNvPr>
            <p:cNvSpPr/>
            <p:nvPr/>
          </p:nvSpPr>
          <p:spPr>
            <a:xfrm>
              <a:off x="637294" y="2988469"/>
              <a:ext cx="68813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PIPELINE_START/END</a:t>
              </a:r>
              <a:endParaRPr lang="en-US" sz="500" dirty="0"/>
            </a:p>
          </p:txBody>
        </p:sp>
        <p:sp>
          <p:nvSpPr>
            <p:cNvPr id="82" name="Text 53">
              <a:extLst>
                <a:ext uri="{FF2B5EF4-FFF2-40B4-BE49-F238E27FC236}">
                  <a16:creationId xmlns:a16="http://schemas.microsoft.com/office/drawing/2014/main" id="{086231CB-09BC-04BF-7B1B-842F971715B0}"/>
                </a:ext>
              </a:extLst>
            </p:cNvPr>
            <p:cNvSpPr/>
            <p:nvPr/>
          </p:nvSpPr>
          <p:spPr>
            <a:xfrm>
              <a:off x="1435757" y="2953643"/>
              <a:ext cx="763637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3" name="Text 54">
              <a:extLst>
                <a:ext uri="{FF2B5EF4-FFF2-40B4-BE49-F238E27FC236}">
                  <a16:creationId xmlns:a16="http://schemas.microsoft.com/office/drawing/2014/main" id="{A0871913-62DC-E01C-B28A-DF7DB929AE06}"/>
                </a:ext>
              </a:extLst>
            </p:cNvPr>
            <p:cNvSpPr/>
            <p:nvPr/>
          </p:nvSpPr>
          <p:spPr>
            <a:xfrm>
              <a:off x="1521482" y="2988469"/>
              <a:ext cx="60403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NODE_ENTER/EXIT</a:t>
              </a:r>
              <a:endParaRPr lang="en-US" sz="500" dirty="0"/>
            </a:p>
          </p:txBody>
        </p:sp>
        <p:sp>
          <p:nvSpPr>
            <p:cNvPr id="84" name="Text 55">
              <a:extLst>
                <a:ext uri="{FF2B5EF4-FFF2-40B4-BE49-F238E27FC236}">
                  <a16:creationId xmlns:a16="http://schemas.microsoft.com/office/drawing/2014/main" id="{858CA98D-DC6D-968D-F294-CF587D764440}"/>
                </a:ext>
              </a:extLst>
            </p:cNvPr>
            <p:cNvSpPr/>
            <p:nvPr/>
          </p:nvSpPr>
          <p:spPr>
            <a:xfrm>
              <a:off x="2237494" y="2953643"/>
              <a:ext cx="877788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5" name="Text 56">
              <a:extLst>
                <a:ext uri="{FF2B5EF4-FFF2-40B4-BE49-F238E27FC236}">
                  <a16:creationId xmlns:a16="http://schemas.microsoft.com/office/drawing/2014/main" id="{C36E1ADD-3127-0B87-E11B-D36D9D0A0040}"/>
                </a:ext>
              </a:extLst>
            </p:cNvPr>
            <p:cNvSpPr/>
            <p:nvPr/>
          </p:nvSpPr>
          <p:spPr>
            <a:xfrm>
              <a:off x="2323219" y="2988469"/>
              <a:ext cx="720465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LLM_CALL_START/END</a:t>
              </a:r>
              <a:endParaRPr lang="en-US" sz="500" dirty="0"/>
            </a:p>
          </p:txBody>
        </p:sp>
        <p:sp>
          <p:nvSpPr>
            <p:cNvPr id="86" name="Text 57">
              <a:extLst>
                <a:ext uri="{FF2B5EF4-FFF2-40B4-BE49-F238E27FC236}">
                  <a16:creationId xmlns:a16="http://schemas.microsoft.com/office/drawing/2014/main" id="{CDCEFDBC-28BD-72D3-0486-E09820496A36}"/>
                </a:ext>
              </a:extLst>
            </p:cNvPr>
            <p:cNvSpPr/>
            <p:nvPr/>
          </p:nvSpPr>
          <p:spPr>
            <a:xfrm>
              <a:off x="3153382" y="2953643"/>
              <a:ext cx="731937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7" name="Text 58">
              <a:extLst>
                <a:ext uri="{FF2B5EF4-FFF2-40B4-BE49-F238E27FC236}">
                  <a16:creationId xmlns:a16="http://schemas.microsoft.com/office/drawing/2014/main" id="{2E4D7C82-C7D6-D16F-BF88-A4040EDFFE93}"/>
                </a:ext>
              </a:extLst>
            </p:cNvPr>
            <p:cNvSpPr/>
            <p:nvPr/>
          </p:nvSpPr>
          <p:spPr>
            <a:xfrm>
              <a:off x="3239107" y="2988469"/>
              <a:ext cx="571696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TURN_COMPLETE</a:t>
              </a:r>
              <a:endParaRPr lang="en-US" sz="500" dirty="0"/>
            </a:p>
          </p:txBody>
        </p:sp>
        <p:sp>
          <p:nvSpPr>
            <p:cNvPr id="88" name="Text 59">
              <a:extLst>
                <a:ext uri="{FF2B5EF4-FFF2-40B4-BE49-F238E27FC236}">
                  <a16:creationId xmlns:a16="http://schemas.microsoft.com/office/drawing/2014/main" id="{1FCE7518-905A-9DCC-B449-081075734FF7}"/>
                </a:ext>
              </a:extLst>
            </p:cNvPr>
            <p:cNvSpPr/>
            <p:nvPr/>
          </p:nvSpPr>
          <p:spPr>
            <a:xfrm>
              <a:off x="551569" y="3128070"/>
              <a:ext cx="842516" cy="136327"/>
            </a:xfrm>
            <a:prstGeom prst="roundRect">
              <a:avLst>
                <a:gd name="adj" fmla="val 27948"/>
              </a:avLst>
            </a:prstGeom>
            <a:solidFill>
              <a:srgbClr val="34D399">
                <a:alpha val="8000"/>
              </a:srgbClr>
            </a:solidFill>
            <a:ln w="9525">
              <a:solidFill>
                <a:srgbClr val="34D39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9" name="Text 60">
              <a:extLst>
                <a:ext uri="{FF2B5EF4-FFF2-40B4-BE49-F238E27FC236}">
                  <a16:creationId xmlns:a16="http://schemas.microsoft.com/office/drawing/2014/main" id="{C7011505-7AEE-42B6-C986-E87AE8D3A24E}"/>
                </a:ext>
              </a:extLst>
            </p:cNvPr>
            <p:cNvSpPr/>
            <p:nvPr/>
          </p:nvSpPr>
          <p:spPr>
            <a:xfrm>
              <a:off x="637294" y="3162895"/>
              <a:ext cx="684487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SESSION_START/END</a:t>
              </a:r>
              <a:endParaRPr lang="en-US" sz="500" dirty="0"/>
            </a:p>
          </p:txBody>
        </p:sp>
        <p:sp>
          <p:nvSpPr>
            <p:cNvPr id="90" name="Text 61">
              <a:extLst>
                <a:ext uri="{FF2B5EF4-FFF2-40B4-BE49-F238E27FC236}">
                  <a16:creationId xmlns:a16="http://schemas.microsoft.com/office/drawing/2014/main" id="{55E01C3E-5C4A-0033-AF4D-51A261127275}"/>
                </a:ext>
              </a:extLst>
            </p:cNvPr>
            <p:cNvSpPr/>
            <p:nvPr/>
          </p:nvSpPr>
          <p:spPr>
            <a:xfrm>
              <a:off x="551569" y="3302496"/>
              <a:ext cx="3854017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RunLog에 전수 기록. 관측의 기반이 됩니다.</a:t>
              </a:r>
              <a:endParaRPr lang="en-US" sz="600" dirty="0"/>
            </a:p>
          </p:txBody>
        </p:sp>
        <p:sp>
          <p:nvSpPr>
            <p:cNvPr id="91" name="Text 62">
              <a:extLst>
                <a:ext uri="{FF2B5EF4-FFF2-40B4-BE49-F238E27FC236}">
                  <a16:creationId xmlns:a16="http://schemas.microsoft.com/office/drawing/2014/main" id="{5549DE37-08FD-D146-C57E-5B98DEE5F8B6}"/>
                </a:ext>
              </a:extLst>
            </p:cNvPr>
            <p:cNvSpPr/>
            <p:nvPr/>
          </p:nvSpPr>
          <p:spPr>
            <a:xfrm>
              <a:off x="415094" y="3549997"/>
              <a:ext cx="4051399" cy="612428"/>
            </a:xfrm>
            <a:prstGeom prst="roundRect">
              <a:avLst>
                <a:gd name="adj" fmla="val 8295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2" name="Text 63">
              <a:extLst>
                <a:ext uri="{FF2B5EF4-FFF2-40B4-BE49-F238E27FC236}">
                  <a16:creationId xmlns:a16="http://schemas.microsoft.com/office/drawing/2014/main" id="{EBDDD8DC-F2EE-C52B-7DB5-CE6DB6992069}"/>
                </a:ext>
              </a:extLst>
            </p:cNvPr>
            <p:cNvSpPr/>
            <p:nvPr/>
          </p:nvSpPr>
          <p:spPr>
            <a:xfrm>
              <a:off x="551569" y="3648373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Medium-frequency (조건부 발화)</a:t>
              </a:r>
              <a:endParaRPr lang="en-US" sz="700" dirty="0"/>
            </a:p>
          </p:txBody>
        </p:sp>
        <p:sp>
          <p:nvSpPr>
            <p:cNvPr id="93" name="Text 64">
              <a:extLst>
                <a:ext uri="{FF2B5EF4-FFF2-40B4-BE49-F238E27FC236}">
                  <a16:creationId xmlns:a16="http://schemas.microsoft.com/office/drawing/2014/main" id="{62F6754D-6337-4C97-3734-B5ED66E5B528}"/>
                </a:ext>
              </a:extLst>
            </p:cNvPr>
            <p:cNvSpPr/>
            <p:nvPr/>
          </p:nvSpPr>
          <p:spPr>
            <a:xfrm>
              <a:off x="551569" y="3803898"/>
              <a:ext cx="958751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4" name="Text 65">
              <a:extLst>
                <a:ext uri="{FF2B5EF4-FFF2-40B4-BE49-F238E27FC236}">
                  <a16:creationId xmlns:a16="http://schemas.microsoft.com/office/drawing/2014/main" id="{B42EA7E3-D482-7341-CC59-C0537FCC0174}"/>
                </a:ext>
              </a:extLst>
            </p:cNvPr>
            <p:cNvSpPr/>
            <p:nvPr/>
          </p:nvSpPr>
          <p:spPr>
            <a:xfrm>
              <a:off x="637294" y="3838724"/>
              <a:ext cx="803047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VERIFICATION_PASS/FAIL</a:t>
              </a:r>
              <a:endParaRPr lang="en-US" sz="500" dirty="0"/>
            </a:p>
          </p:txBody>
        </p:sp>
        <p:sp>
          <p:nvSpPr>
            <p:cNvPr id="95" name="Text 66">
              <a:extLst>
                <a:ext uri="{FF2B5EF4-FFF2-40B4-BE49-F238E27FC236}">
                  <a16:creationId xmlns:a16="http://schemas.microsoft.com/office/drawing/2014/main" id="{6C4BBDBB-D53F-3302-6AE7-BE1DBBB99F26}"/>
                </a:ext>
              </a:extLst>
            </p:cNvPr>
            <p:cNvSpPr/>
            <p:nvPr/>
          </p:nvSpPr>
          <p:spPr>
            <a:xfrm>
              <a:off x="1548420" y="3803898"/>
              <a:ext cx="851892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6" name="Text 67">
              <a:extLst>
                <a:ext uri="{FF2B5EF4-FFF2-40B4-BE49-F238E27FC236}">
                  <a16:creationId xmlns:a16="http://schemas.microsoft.com/office/drawing/2014/main" id="{8D722CEF-F187-E97F-B70C-C9BEBBA58979}"/>
                </a:ext>
              </a:extLst>
            </p:cNvPr>
            <p:cNvSpPr/>
            <p:nvPr/>
          </p:nvSpPr>
          <p:spPr>
            <a:xfrm>
              <a:off x="1634145" y="3838724"/>
              <a:ext cx="69405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SCORING_COMPLETE</a:t>
              </a:r>
              <a:endParaRPr lang="en-US" sz="500" dirty="0"/>
            </a:p>
          </p:txBody>
        </p:sp>
        <p:sp>
          <p:nvSpPr>
            <p:cNvPr id="97" name="Text 68">
              <a:extLst>
                <a:ext uri="{FF2B5EF4-FFF2-40B4-BE49-F238E27FC236}">
                  <a16:creationId xmlns:a16="http://schemas.microsoft.com/office/drawing/2014/main" id="{EF4E3DDD-CF84-D509-A8CA-FD566B547074}"/>
                </a:ext>
              </a:extLst>
            </p:cNvPr>
            <p:cNvSpPr/>
            <p:nvPr/>
          </p:nvSpPr>
          <p:spPr>
            <a:xfrm>
              <a:off x="2438412" y="3803898"/>
              <a:ext cx="775692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8" name="Text 69">
              <a:extLst>
                <a:ext uri="{FF2B5EF4-FFF2-40B4-BE49-F238E27FC236}">
                  <a16:creationId xmlns:a16="http://schemas.microsoft.com/office/drawing/2014/main" id="{B8EFF9CE-5DC4-EBC3-EE8C-D2A0F45D8D33}"/>
                </a:ext>
              </a:extLst>
            </p:cNvPr>
            <p:cNvSpPr/>
            <p:nvPr/>
          </p:nvSpPr>
          <p:spPr>
            <a:xfrm>
              <a:off x="2524137" y="3838724"/>
              <a:ext cx="616327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TOOL_APPROVAL_*</a:t>
              </a:r>
              <a:endParaRPr lang="en-US" sz="500" dirty="0"/>
            </a:p>
          </p:txBody>
        </p:sp>
        <p:sp>
          <p:nvSpPr>
            <p:cNvPr id="99" name="Text 70">
              <a:extLst>
                <a:ext uri="{FF2B5EF4-FFF2-40B4-BE49-F238E27FC236}">
                  <a16:creationId xmlns:a16="http://schemas.microsoft.com/office/drawing/2014/main" id="{70B05FBC-28D8-8C84-C82D-48C5297E9B7C}"/>
                </a:ext>
              </a:extLst>
            </p:cNvPr>
            <p:cNvSpPr/>
            <p:nvPr/>
          </p:nvSpPr>
          <p:spPr>
            <a:xfrm>
              <a:off x="3252204" y="3803898"/>
              <a:ext cx="798909" cy="136327"/>
            </a:xfrm>
            <a:prstGeom prst="roundRect">
              <a:avLst>
                <a:gd name="adj" fmla="val 27948"/>
              </a:avLst>
            </a:prstGeom>
            <a:solidFill>
              <a:srgbClr val="F5C542">
                <a:alpha val="8000"/>
              </a:srgbClr>
            </a:solidFill>
            <a:ln w="9525">
              <a:solidFill>
                <a:srgbClr val="F5C542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0" name="Text 71">
              <a:extLst>
                <a:ext uri="{FF2B5EF4-FFF2-40B4-BE49-F238E27FC236}">
                  <a16:creationId xmlns:a16="http://schemas.microsoft.com/office/drawing/2014/main" id="{0DD35E11-4A5D-8E2F-0B05-34A766AE0A8C}"/>
                </a:ext>
              </a:extLst>
            </p:cNvPr>
            <p:cNvSpPr/>
            <p:nvPr/>
          </p:nvSpPr>
          <p:spPr>
            <a:xfrm>
              <a:off x="3337929" y="3838724"/>
              <a:ext cx="640009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CONTEXT_CRITICAL</a:t>
              </a:r>
              <a:endParaRPr lang="en-US" sz="500" dirty="0"/>
            </a:p>
          </p:txBody>
        </p:sp>
        <p:sp>
          <p:nvSpPr>
            <p:cNvPr id="101" name="Text 72">
              <a:extLst>
                <a:ext uri="{FF2B5EF4-FFF2-40B4-BE49-F238E27FC236}">
                  <a16:creationId xmlns:a16="http://schemas.microsoft.com/office/drawing/2014/main" id="{49AF674A-0265-97AF-0C36-08CCA067695A}"/>
                </a:ext>
              </a:extLst>
            </p:cNvPr>
            <p:cNvSpPr/>
            <p:nvPr/>
          </p:nvSpPr>
          <p:spPr>
            <a:xfrm>
              <a:off x="551569" y="4006459"/>
              <a:ext cx="3854017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분석/검증 세션에서만 발화. L2 React 자동 반응 트리거.</a:t>
              </a:r>
              <a:endParaRPr lang="en-US" sz="600" dirty="0"/>
            </a:p>
          </p:txBody>
        </p:sp>
        <p:sp>
          <p:nvSpPr>
            <p:cNvPr id="102" name="Text 73">
              <a:extLst>
                <a:ext uri="{FF2B5EF4-FFF2-40B4-BE49-F238E27FC236}">
                  <a16:creationId xmlns:a16="http://schemas.microsoft.com/office/drawing/2014/main" id="{B784FC2B-D2FE-D3D5-69CB-793D4F01CA55}"/>
                </a:ext>
              </a:extLst>
            </p:cNvPr>
            <p:cNvSpPr/>
            <p:nvPr/>
          </p:nvSpPr>
          <p:spPr>
            <a:xfrm>
              <a:off x="415094" y="4225826"/>
              <a:ext cx="6529352" cy="669578"/>
            </a:xfrm>
            <a:prstGeom prst="roundRect">
              <a:avLst>
                <a:gd name="adj" fmla="val 6456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3" name="Text 74">
              <a:extLst>
                <a:ext uri="{FF2B5EF4-FFF2-40B4-BE49-F238E27FC236}">
                  <a16:creationId xmlns:a16="http://schemas.microsoft.com/office/drawing/2014/main" id="{AD08A95B-7087-4A61-BCBA-58F263C976CA}"/>
                </a:ext>
              </a:extLst>
            </p:cNvPr>
            <p:cNvSpPr/>
            <p:nvPr/>
          </p:nvSpPr>
          <p:spPr>
            <a:xfrm>
              <a:off x="551569" y="4324201"/>
              <a:ext cx="3854017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400"/>
                </a:spcAft>
                <a:buNone/>
              </a:pPr>
              <a:r>
                <a:rPr lang="en-US" sz="700" b="1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Rare but critical (장애 시에만 발화)</a:t>
              </a:r>
              <a:endParaRPr lang="en-US" sz="700" dirty="0"/>
            </a:p>
          </p:txBody>
        </p:sp>
        <p:sp>
          <p:nvSpPr>
            <p:cNvPr id="104" name="Text 75">
              <a:extLst>
                <a:ext uri="{FF2B5EF4-FFF2-40B4-BE49-F238E27FC236}">
                  <a16:creationId xmlns:a16="http://schemas.microsoft.com/office/drawing/2014/main" id="{C8D8246F-1650-D0EA-E408-3A4880F01A18}"/>
                </a:ext>
              </a:extLst>
            </p:cNvPr>
            <p:cNvSpPr/>
            <p:nvPr/>
          </p:nvSpPr>
          <p:spPr>
            <a:xfrm>
              <a:off x="551569" y="4479727"/>
              <a:ext cx="721519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5" name="Text 76">
              <a:extLst>
                <a:ext uri="{FF2B5EF4-FFF2-40B4-BE49-F238E27FC236}">
                  <a16:creationId xmlns:a16="http://schemas.microsoft.com/office/drawing/2014/main" id="{D585BBAD-98F2-9C82-5CCE-3170F75F5755}"/>
                </a:ext>
              </a:extLst>
            </p:cNvPr>
            <p:cNvSpPr/>
            <p:nvPr/>
          </p:nvSpPr>
          <p:spPr>
            <a:xfrm>
              <a:off x="637294" y="4514553"/>
              <a:ext cx="561070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PIPELINE_ERROR</a:t>
              </a:r>
              <a:endParaRPr lang="en-US" sz="500" dirty="0"/>
            </a:p>
          </p:txBody>
        </p:sp>
        <p:sp>
          <p:nvSpPr>
            <p:cNvPr id="106" name="Text 77">
              <a:extLst>
                <a:ext uri="{FF2B5EF4-FFF2-40B4-BE49-F238E27FC236}">
                  <a16:creationId xmlns:a16="http://schemas.microsoft.com/office/drawing/2014/main" id="{37637A0E-3F92-6639-5A02-C7D0B03F0EC0}"/>
                </a:ext>
              </a:extLst>
            </p:cNvPr>
            <p:cNvSpPr/>
            <p:nvPr/>
          </p:nvSpPr>
          <p:spPr>
            <a:xfrm>
              <a:off x="1311188" y="4479727"/>
              <a:ext cx="777776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7" name="Text 78">
              <a:extLst>
                <a:ext uri="{FF2B5EF4-FFF2-40B4-BE49-F238E27FC236}">
                  <a16:creationId xmlns:a16="http://schemas.microsoft.com/office/drawing/2014/main" id="{F073A866-B8AD-2504-7516-56318408DAB2}"/>
                </a:ext>
              </a:extLst>
            </p:cNvPr>
            <p:cNvSpPr/>
            <p:nvPr/>
          </p:nvSpPr>
          <p:spPr>
            <a:xfrm>
              <a:off x="1396913" y="4514553"/>
              <a:ext cx="618452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PIPELINE_TIMEOUT</a:t>
              </a:r>
              <a:endParaRPr lang="en-US" sz="500" dirty="0"/>
            </a:p>
          </p:txBody>
        </p:sp>
        <p:sp>
          <p:nvSpPr>
            <p:cNvPr id="108" name="Text 79">
              <a:extLst>
                <a:ext uri="{FF2B5EF4-FFF2-40B4-BE49-F238E27FC236}">
                  <a16:creationId xmlns:a16="http://schemas.microsoft.com/office/drawing/2014/main" id="{10FE352F-02FA-6196-E2A3-E806712DC1D5}"/>
                </a:ext>
              </a:extLst>
            </p:cNvPr>
            <p:cNvSpPr/>
            <p:nvPr/>
          </p:nvSpPr>
          <p:spPr>
            <a:xfrm>
              <a:off x="2127064" y="4479727"/>
              <a:ext cx="1119932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09" name="Text 80">
              <a:extLst>
                <a:ext uri="{FF2B5EF4-FFF2-40B4-BE49-F238E27FC236}">
                  <a16:creationId xmlns:a16="http://schemas.microsoft.com/office/drawing/2014/main" id="{56326DDB-A51E-E12C-5857-9D3E0B1594B9}"/>
                </a:ext>
              </a:extLst>
            </p:cNvPr>
            <p:cNvSpPr/>
            <p:nvPr/>
          </p:nvSpPr>
          <p:spPr>
            <a:xfrm>
              <a:off x="2212789" y="4514553"/>
              <a:ext cx="96745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FALLBACK_CROSS_PROVIDER</a:t>
              </a:r>
              <a:endParaRPr lang="en-US" sz="500" dirty="0"/>
            </a:p>
          </p:txBody>
        </p:sp>
        <p:sp>
          <p:nvSpPr>
            <p:cNvPr id="110" name="Text 81">
              <a:extLst>
                <a:ext uri="{FF2B5EF4-FFF2-40B4-BE49-F238E27FC236}">
                  <a16:creationId xmlns:a16="http://schemas.microsoft.com/office/drawing/2014/main" id="{5FA57384-E2CA-C7CB-4D47-9487B7772E56}"/>
                </a:ext>
              </a:extLst>
            </p:cNvPr>
            <p:cNvSpPr/>
            <p:nvPr/>
          </p:nvSpPr>
          <p:spPr>
            <a:xfrm>
              <a:off x="3285095" y="4479727"/>
              <a:ext cx="793254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1" name="Text 82">
              <a:extLst>
                <a:ext uri="{FF2B5EF4-FFF2-40B4-BE49-F238E27FC236}">
                  <a16:creationId xmlns:a16="http://schemas.microsoft.com/office/drawing/2014/main" id="{D0139AAA-17EC-AB92-82F3-C4573236D8B8}"/>
                </a:ext>
              </a:extLst>
            </p:cNvPr>
            <p:cNvSpPr/>
            <p:nvPr/>
          </p:nvSpPr>
          <p:spPr>
            <a:xfrm>
              <a:off x="3370820" y="4514553"/>
              <a:ext cx="634240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TOOL_RECOVERY_*</a:t>
              </a:r>
              <a:endParaRPr lang="en-US" sz="500" dirty="0"/>
            </a:p>
          </p:txBody>
        </p:sp>
        <p:sp>
          <p:nvSpPr>
            <p:cNvPr id="112" name="Text 83">
              <a:extLst>
                <a:ext uri="{FF2B5EF4-FFF2-40B4-BE49-F238E27FC236}">
                  <a16:creationId xmlns:a16="http://schemas.microsoft.com/office/drawing/2014/main" id="{D19D1ED4-5ED1-1EFB-678A-EB8112A6ED0C}"/>
                </a:ext>
              </a:extLst>
            </p:cNvPr>
            <p:cNvSpPr/>
            <p:nvPr/>
          </p:nvSpPr>
          <p:spPr>
            <a:xfrm>
              <a:off x="4122159" y="4470797"/>
              <a:ext cx="774353" cy="136327"/>
            </a:xfrm>
            <a:prstGeom prst="roundRect">
              <a:avLst>
                <a:gd name="adj" fmla="val 27948"/>
              </a:avLst>
            </a:prstGeom>
            <a:solidFill>
              <a:srgbClr val="EF4444">
                <a:alpha val="8000"/>
              </a:srgbClr>
            </a:solidFill>
            <a:ln w="9525">
              <a:solidFill>
                <a:srgbClr val="EF4444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3" name="Text 84">
              <a:extLst>
                <a:ext uri="{FF2B5EF4-FFF2-40B4-BE49-F238E27FC236}">
                  <a16:creationId xmlns:a16="http://schemas.microsoft.com/office/drawing/2014/main" id="{5A1CD4BC-9A75-EADD-264B-31AA3026D203}"/>
                </a:ext>
              </a:extLst>
            </p:cNvPr>
            <p:cNvSpPr/>
            <p:nvPr/>
          </p:nvSpPr>
          <p:spPr>
            <a:xfrm>
              <a:off x="4207884" y="4505623"/>
              <a:ext cx="614961" cy="6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500" dirty="0">
                  <a:solidFill>
                    <a:srgbClr val="EF44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SUBAGENT_FAILED</a:t>
              </a:r>
              <a:endParaRPr lang="en-US" sz="500" dirty="0"/>
            </a:p>
          </p:txBody>
        </p:sp>
        <p:sp>
          <p:nvSpPr>
            <p:cNvPr id="114" name="Text 85">
              <a:extLst>
                <a:ext uri="{FF2B5EF4-FFF2-40B4-BE49-F238E27FC236}">
                  <a16:creationId xmlns:a16="http://schemas.microsoft.com/office/drawing/2014/main" id="{512A3D57-AE56-6568-21B4-6F467D8D9E81}"/>
                </a:ext>
              </a:extLst>
            </p:cNvPr>
            <p:cNvSpPr/>
            <p:nvPr/>
          </p:nvSpPr>
          <p:spPr>
            <a:xfrm>
              <a:off x="552811" y="4738241"/>
              <a:ext cx="3854017" cy="857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발화 빈도가 낮지만 삭제하면 장애 시 원인 추적이 불가능해집니다.</a:t>
              </a:r>
              <a:endParaRPr lang="en-US" sz="600" dirty="0"/>
            </a:p>
          </p:txBody>
        </p:sp>
        <p:sp>
          <p:nvSpPr>
            <p:cNvPr id="115" name="Text 86">
              <a:extLst>
                <a:ext uri="{FF2B5EF4-FFF2-40B4-BE49-F238E27FC236}">
                  <a16:creationId xmlns:a16="http://schemas.microsoft.com/office/drawing/2014/main" id="{51E6324A-C219-1F0D-E8D0-2646F0D15078}"/>
                </a:ext>
              </a:extLst>
            </p:cNvPr>
            <p:cNvSpPr/>
            <p:nvPr/>
          </p:nvSpPr>
          <p:spPr>
            <a:xfrm>
              <a:off x="4554887" y="3640784"/>
              <a:ext cx="2568203" cy="494556"/>
            </a:xfrm>
            <a:prstGeom prst="roundRect">
              <a:avLst>
                <a:gd name="adj" fmla="val 12670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16" name="Shape 87">
              <a:extLst>
                <a:ext uri="{FF2B5EF4-FFF2-40B4-BE49-F238E27FC236}">
                  <a16:creationId xmlns:a16="http://schemas.microsoft.com/office/drawing/2014/main" id="{10F9D75F-C3A5-B923-B3AB-016F7E525B58}"/>
                </a:ext>
              </a:extLst>
            </p:cNvPr>
            <p:cNvSpPr/>
            <p:nvPr/>
          </p:nvSpPr>
          <p:spPr>
            <a:xfrm flipH="1">
              <a:off x="4531421" y="3650555"/>
              <a:ext cx="1" cy="463368"/>
            </a:xfrm>
            <a:prstGeom prst="line">
              <a:avLst/>
            </a:prstGeom>
            <a:noFill/>
            <a:ln w="47625">
              <a:solidFill>
                <a:srgbClr val="F9731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7" name="Text 88">
              <a:extLst>
                <a:ext uri="{FF2B5EF4-FFF2-40B4-BE49-F238E27FC236}">
                  <a16:creationId xmlns:a16="http://schemas.microsoft.com/office/drawing/2014/main" id="{6A91BC8A-5FB1-D4C6-80C7-C3D47C5DE698}"/>
                </a:ext>
              </a:extLst>
            </p:cNvPr>
            <p:cNvSpPr/>
            <p:nvPr/>
          </p:nvSpPr>
          <p:spPr>
            <a:xfrm>
              <a:off x="4644182" y="3716983"/>
              <a:ext cx="2424606" cy="3065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980"/>
                </a:lnSpc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왜 42개 전부 필요한가: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v0.35.1에서 발화 0인 6개를 삭제했습니다. 남은 42개는 모두 1회 이상 실제 발화 이력이 있거나 장애 시 필수 관측 경로입니다.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46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SessionLane + Queue Simplification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 필요해?" 3중 게이트에서 2 Components로. 복잡함을 제거하자 동시성 결함도 함께 사라졌습니다.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4356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74527"/>
            <a:ext cx="5265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5 Sequential Gates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39577"/>
            <a:ext cx="777329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9400" y="1187202"/>
            <a:ext cx="6179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421755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548705" y="1139577"/>
            <a:ext cx="612130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34430" y="1187202"/>
            <a:ext cx="4494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211586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338536" y="1139577"/>
            <a:ext cx="561231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24261" y="1187202"/>
            <a:ext cx="3975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GlobalLane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950518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077468" y="1139577"/>
            <a:ext cx="684163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63193" y="1187202"/>
            <a:ext cx="5229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SchedulerLane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812381" y="1187202"/>
            <a:ext cx="777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939332" y="1139577"/>
            <a:ext cx="565398" cy="180975"/>
          </a:xfrm>
          <a:prstGeom prst="roundRect">
            <a:avLst>
              <a:gd name="adj" fmla="val 21053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025057" y="1187202"/>
            <a:ext cx="4018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93675" y="1371302"/>
            <a:ext cx="52659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callback=no-op, dedup rate=0%. "프론티어에서 가져왔으니까"는 근거가 아닙니다.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57200" y="1631454"/>
            <a:ext cx="5435650" cy="764828"/>
          </a:xfrm>
          <a:prstGeom prst="roundRect">
            <a:avLst>
              <a:gd name="adj" fmla="val 664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3675" y="1742480"/>
            <a:ext cx="526595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 Components (OpenClaw Pattern)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3675" y="1907530"/>
            <a:ext cx="2530525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4701" y="1993255"/>
            <a:ext cx="23546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04701" y="2113806"/>
            <a:ext cx="23546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per-key Semaphore(1). 같은 세션 키 = 직렬화. 다른 키 = 병렬.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225701" y="1907530"/>
            <a:ext cx="2530673" cy="377726"/>
          </a:xfrm>
          <a:prstGeom prst="roundRect">
            <a:avLst>
              <a:gd name="adj" fmla="val 13449"/>
            </a:avLst>
          </a:prstGeom>
          <a:solidFill>
            <a:srgbClr val="34D399">
              <a:alpha val="6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36727" y="1993255"/>
            <a:ext cx="23547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Lane("global", max=8)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36727" y="2113806"/>
            <a:ext cx="235479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세션 동시 실행 상한. Thundering herd 방지.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57200" y="2459682"/>
            <a:ext cx="54356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81012" y="2459682"/>
            <a:ext cx="0" cy="469404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7225" y="2561183"/>
            <a:ext cx="518488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CoalescingQueue(148줄) 삭제, 4 hardcoded lane 제거. C3(scheduler race), H2(announce double-publish) 동시성 결함이 구조적으로 해소되었습니다.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019800" y="863501"/>
            <a:ext cx="2667000" cy="891927"/>
          </a:xfrm>
          <a:prstGeom prst="roundRect">
            <a:avLst>
              <a:gd name="adj" fmla="val 56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56275" y="974527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 Safety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56275" y="1139577"/>
            <a:ext cx="4485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084790" y="1139577"/>
            <a:ext cx="6020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(재귀 금지)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56275" y="1282452"/>
            <a:ext cx="891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500765" y="1282452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56275" y="1415802"/>
            <a:ext cx="3930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timeout_s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401943" y="1415802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56275" y="1549152"/>
            <a:ext cx="3377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71197" y="1549152"/>
            <a:ext cx="8967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/ Subprocess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19800" y="1818829"/>
            <a:ext cx="2667000" cy="635645"/>
          </a:xfrm>
          <a:prstGeom prst="roundRect">
            <a:avLst>
              <a:gd name="adj" fmla="val 799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156275" y="1929854"/>
            <a:ext cx="24419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 Isolation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56275" y="2094905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WorkerRequest/Result JSON 프로토콜. 크래시가 부모에 전파되지 않습니다. env whitelist 10개만 전달.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19800" y="2517874"/>
            <a:ext cx="2667000" cy="806053"/>
          </a:xfrm>
          <a:prstGeom prst="roundRect">
            <a:avLst>
              <a:gd name="adj" fmla="val 210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56275" y="2628900"/>
            <a:ext cx="24419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주입 제거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56275" y="2803475"/>
            <a:ext cx="244193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delegate(announce=False). 동기 모드에서 announce가 LLM 응답을 오염시키는 문제를 2파일 4줄로 해결했습니다.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56275" y="3102769"/>
            <a:ext cx="24419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sub_agent.py:275 depth guard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99541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CoalescingQueue 삭제, SessionLane(per-key) + Lane("global",8). C3+H2 해소. depth=1 재귀 금지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29</a:t>
            </a:r>
            <a:endParaRPr lang="en-US" sz="500" dirty="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70F082DD-F81A-189F-8B66-BFABF9BFF12F}"/>
              </a:ext>
            </a:extLst>
          </p:cNvPr>
          <p:cNvSpPr/>
          <p:nvPr/>
        </p:nvSpPr>
        <p:spPr>
          <a:xfrm>
            <a:off x="398635" y="2992186"/>
            <a:ext cx="5532565" cy="1353145"/>
          </a:xfrm>
          <a:prstGeom prst="roundRect">
            <a:avLst>
              <a:gd name="adj" fmla="val 37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83A585A9-23E1-11DE-B8E5-216468C401CB}"/>
              </a:ext>
            </a:extLst>
          </p:cNvPr>
          <p:cNvSpPr/>
          <p:nvPr/>
        </p:nvSpPr>
        <p:spPr>
          <a:xfrm>
            <a:off x="535110" y="3103212"/>
            <a:ext cx="526300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동기 루프 타이밍</a:t>
            </a:r>
            <a:endParaRPr lang="en-US" sz="700" dirty="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926EFD53-C9CD-8581-D266-A8C2B51CBAC0}"/>
              </a:ext>
            </a:extLst>
          </p:cNvPr>
          <p:cNvSpPr/>
          <p:nvPr/>
        </p:nvSpPr>
        <p:spPr>
          <a:xfrm>
            <a:off x="535110" y="3271388"/>
            <a:ext cx="1213989" cy="161925"/>
          </a:xfrm>
          <a:prstGeom prst="roundRect">
            <a:avLst>
              <a:gd name="adj" fmla="val 23529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507C5E07-DA52-0093-45E9-F4F86CCEB21C}"/>
              </a:ext>
            </a:extLst>
          </p:cNvPr>
          <p:cNvSpPr/>
          <p:nvPr/>
        </p:nvSpPr>
        <p:spPr>
          <a:xfrm>
            <a:off x="603946" y="3309488"/>
            <a:ext cx="1025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</a:t>
            </a:r>
            <a:endParaRPr lang="en-US" sz="600" dirty="0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0FEBF996-FD09-F981-6537-5312F5B75627}"/>
              </a:ext>
            </a:extLst>
          </p:cNvPr>
          <p:cNvSpPr/>
          <p:nvPr/>
        </p:nvSpPr>
        <p:spPr>
          <a:xfrm>
            <a:off x="1804439" y="3315218"/>
            <a:ext cx="3540956" cy="101501"/>
          </a:xfrm>
          <a:prstGeom prst="roundRect">
            <a:avLst>
              <a:gd name="adj" fmla="val 25024"/>
            </a:avLst>
          </a:prstGeom>
          <a:solidFill>
            <a:srgbClr val="4ECDC4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DF3A695C-371F-BEDF-963F-890FB8A22AD4}"/>
              </a:ext>
            </a:extLst>
          </p:cNvPr>
          <p:cNvSpPr/>
          <p:nvPr/>
        </p:nvSpPr>
        <p:spPr>
          <a:xfrm>
            <a:off x="5400735" y="3315887"/>
            <a:ext cx="27157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2-30s</a:t>
            </a:r>
            <a:endParaRPr lang="en-US" sz="6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CB868C29-9E9C-F055-1561-60E4B333468F}"/>
              </a:ext>
            </a:extLst>
          </p:cNvPr>
          <p:cNvSpPr/>
          <p:nvPr/>
        </p:nvSpPr>
        <p:spPr>
          <a:xfrm>
            <a:off x="535110" y="3509513"/>
            <a:ext cx="1213989" cy="161925"/>
          </a:xfrm>
          <a:prstGeom prst="roundRect">
            <a:avLst>
              <a:gd name="adj" fmla="val 23529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47F3C06D-588A-56FB-4DA6-787D70355303}"/>
              </a:ext>
            </a:extLst>
          </p:cNvPr>
          <p:cNvSpPr/>
          <p:nvPr/>
        </p:nvSpPr>
        <p:spPr>
          <a:xfrm>
            <a:off x="603946" y="3547613"/>
            <a:ext cx="1025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exec</a:t>
            </a:r>
            <a:endParaRPr lang="en-US" sz="600" dirty="0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A481E37C-CE04-AE9A-1216-DD948647C7E9}"/>
              </a:ext>
            </a:extLst>
          </p:cNvPr>
          <p:cNvSpPr/>
          <p:nvPr/>
        </p:nvSpPr>
        <p:spPr>
          <a:xfrm>
            <a:off x="1814745" y="3539725"/>
            <a:ext cx="3454170" cy="101501"/>
          </a:xfrm>
          <a:prstGeom prst="roundRect">
            <a:avLst>
              <a:gd name="adj" fmla="val 25024"/>
            </a:avLst>
          </a:prstGeom>
          <a:solidFill>
            <a:srgbClr val="F5C542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54F223E1-E78F-B070-3BBC-115710BEA677}"/>
              </a:ext>
            </a:extLst>
          </p:cNvPr>
          <p:cNvSpPr/>
          <p:nvPr/>
        </p:nvSpPr>
        <p:spPr>
          <a:xfrm>
            <a:off x="5400735" y="3555501"/>
            <a:ext cx="3601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0.1-60s</a:t>
            </a:r>
            <a:endParaRPr lang="en-US" sz="600" dirty="0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599CCD58-7F22-40A2-9D1D-9D776DB1BB44}"/>
              </a:ext>
            </a:extLst>
          </p:cNvPr>
          <p:cNvSpPr/>
          <p:nvPr/>
        </p:nvSpPr>
        <p:spPr>
          <a:xfrm>
            <a:off x="535110" y="3747638"/>
            <a:ext cx="1213989" cy="161925"/>
          </a:xfrm>
          <a:prstGeom prst="roundRect">
            <a:avLst>
              <a:gd name="adj" fmla="val 23529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37CDB914-5651-5CCD-4FEC-C66886D0B461}"/>
              </a:ext>
            </a:extLst>
          </p:cNvPr>
          <p:cNvSpPr/>
          <p:nvPr/>
        </p:nvSpPr>
        <p:spPr>
          <a:xfrm>
            <a:off x="603946" y="3785738"/>
            <a:ext cx="10259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window</a:t>
            </a:r>
            <a:endParaRPr lang="en-US" sz="60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8EBE0D0D-6E1D-601A-5676-52EF3035627C}"/>
              </a:ext>
            </a:extLst>
          </p:cNvPr>
          <p:cNvSpPr/>
          <p:nvPr/>
        </p:nvSpPr>
        <p:spPr>
          <a:xfrm>
            <a:off x="1835959" y="3777850"/>
            <a:ext cx="52031" cy="101501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18">
            <a:extLst>
              <a:ext uri="{FF2B5EF4-FFF2-40B4-BE49-F238E27FC236}">
                <a16:creationId xmlns:a16="http://schemas.microsoft.com/office/drawing/2014/main" id="{8677A7F8-767E-7DB8-A800-458DC099631E}"/>
              </a:ext>
            </a:extLst>
          </p:cNvPr>
          <p:cNvSpPr/>
          <p:nvPr/>
        </p:nvSpPr>
        <p:spPr>
          <a:xfrm>
            <a:off x="1937978" y="3785737"/>
            <a:ext cx="2657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0.25s</a:t>
            </a:r>
            <a:endParaRPr lang="en-US" sz="600" dirty="0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4D4A17B6-477D-446B-E6CC-970ADAD9C44B}"/>
              </a:ext>
            </a:extLst>
          </p:cNvPr>
          <p:cNvSpPr/>
          <p:nvPr/>
        </p:nvSpPr>
        <p:spPr>
          <a:xfrm>
            <a:off x="535110" y="3985763"/>
            <a:ext cx="526300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루프에서 같은 키로 재제출하려면 LLM call(2s+) + tool exec(0.1s+) = 최소 2.1초가 필요합니다. 250ms 윈도우 안에 재제출이 도착하는 것은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구조적으로 불가능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</a:t>
            </a:r>
            <a:endParaRPr lang="en-US" sz="700" dirty="0"/>
          </a:p>
        </p:txBody>
      </p:sp>
      <p:sp>
        <p:nvSpPr>
          <p:cNvPr id="68" name="Text 20">
            <a:extLst>
              <a:ext uri="{FF2B5EF4-FFF2-40B4-BE49-F238E27FC236}">
                <a16:creationId xmlns:a16="http://schemas.microsoft.com/office/drawing/2014/main" id="{E782C2B3-D982-A09F-EE22-A56474C4DA3F}"/>
              </a:ext>
            </a:extLst>
          </p:cNvPr>
          <p:cNvSpPr/>
          <p:nvPr/>
        </p:nvSpPr>
        <p:spPr>
          <a:xfrm>
            <a:off x="398635" y="4408732"/>
            <a:ext cx="5532565" cy="569119"/>
          </a:xfrm>
          <a:prstGeom prst="roundRect">
            <a:avLst>
              <a:gd name="adj" fmla="val 892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21">
            <a:extLst>
              <a:ext uri="{FF2B5EF4-FFF2-40B4-BE49-F238E27FC236}">
                <a16:creationId xmlns:a16="http://schemas.microsoft.com/office/drawing/2014/main" id="{49CE4082-2477-4A91-B993-AB226D58E081}"/>
              </a:ext>
            </a:extLst>
          </p:cNvPr>
          <p:cNvSpPr/>
          <p:nvPr/>
        </p:nvSpPr>
        <p:spPr>
          <a:xfrm>
            <a:off x="422448" y="4408732"/>
            <a:ext cx="0" cy="569119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CECA5B9E-E258-6547-A1B5-321EBC785299}"/>
              </a:ext>
            </a:extLst>
          </p:cNvPr>
          <p:cNvSpPr/>
          <p:nvPr/>
        </p:nvSpPr>
        <p:spPr>
          <a:xfrm>
            <a:off x="573211" y="4497583"/>
            <a:ext cx="522320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검증</a:t>
            </a:r>
            <a:endParaRPr lang="en-US" sz="700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4AB94DE2-2D7B-5EA9-ECE9-C8883722F513}"/>
              </a:ext>
            </a:extLst>
          </p:cNvPr>
          <p:cNvSpPr/>
          <p:nvPr/>
        </p:nvSpPr>
        <p:spPr>
          <a:xfrm>
            <a:off x="573211" y="4640458"/>
            <a:ext cx="522320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CoalescingQueue의 dedup 콜백이 실제로 발화한 횟수: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0회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전체 세션 이력에서 한 번도 dedup이 작동한 적이 없습니다. callback 자체도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_k, _d: None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(no-op).</a:t>
            </a:r>
            <a:endParaRPr lang="en-US" sz="700" dirty="0"/>
          </a:p>
        </p:txBody>
      </p:sp>
      <p:sp>
        <p:nvSpPr>
          <p:cNvPr id="94" name="Text 26">
            <a:extLst>
              <a:ext uri="{FF2B5EF4-FFF2-40B4-BE49-F238E27FC236}">
                <a16:creationId xmlns:a16="http://schemas.microsoft.com/office/drawing/2014/main" id="{24F03BFA-9B4B-47D6-606C-763AD84E9B82}"/>
              </a:ext>
            </a:extLst>
          </p:cNvPr>
          <p:cNvSpPr/>
          <p:nvPr/>
        </p:nvSpPr>
        <p:spPr>
          <a:xfrm>
            <a:off x="6020659" y="3431223"/>
            <a:ext cx="2724706" cy="1199084"/>
          </a:xfrm>
          <a:prstGeom prst="roundRect">
            <a:avLst>
              <a:gd name="adj" fmla="val 52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5" name="Text 27">
            <a:extLst>
              <a:ext uri="{FF2B5EF4-FFF2-40B4-BE49-F238E27FC236}">
                <a16:creationId xmlns:a16="http://schemas.microsoft.com/office/drawing/2014/main" id="{E50B6A02-017E-0248-9BD5-6A37D6B32A7F}"/>
              </a:ext>
            </a:extLst>
          </p:cNvPr>
          <p:cNvSpPr/>
          <p:nvPr/>
        </p:nvSpPr>
        <p:spPr>
          <a:xfrm>
            <a:off x="6102177" y="3653047"/>
            <a:ext cx="2667000" cy="143339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Scheduler jobs.json 경합</a:t>
            </a:r>
            <a:endParaRPr lang="en-US" sz="700" dirty="0"/>
          </a:p>
        </p:txBody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617FBD98-5B4B-4E2F-F44F-76C65310CFCD}"/>
              </a:ext>
            </a:extLst>
          </p:cNvPr>
          <p:cNvSpPr/>
          <p:nvPr/>
        </p:nvSpPr>
        <p:spPr>
          <a:xfrm>
            <a:off x="6113961" y="3815497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read(jobs.json) → job_list = [A, B]</a:t>
            </a:r>
            <a:endParaRPr lang="en-US" sz="600" dirty="0"/>
          </a:p>
        </p:txBody>
      </p:sp>
      <p:sp>
        <p:nvSpPr>
          <p:cNvPr id="97" name="Text 29">
            <a:extLst>
              <a:ext uri="{FF2B5EF4-FFF2-40B4-BE49-F238E27FC236}">
                <a16:creationId xmlns:a16="http://schemas.microsoft.com/office/drawing/2014/main" id="{A4FC67F2-4716-8268-B05D-753A10E23629}"/>
              </a:ext>
            </a:extLst>
          </p:cNvPr>
          <p:cNvSpPr/>
          <p:nvPr/>
        </p:nvSpPr>
        <p:spPr>
          <a:xfrm>
            <a:off x="6113961" y="3939322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read(jobs.json) → job_list = [A, B]</a:t>
            </a:r>
            <a:endParaRPr lang="en-US" sz="600" dirty="0"/>
          </a:p>
        </p:txBody>
      </p:sp>
      <p:sp>
        <p:nvSpPr>
          <p:cNvPr id="98" name="Text 30">
            <a:extLst>
              <a:ext uri="{FF2B5EF4-FFF2-40B4-BE49-F238E27FC236}">
                <a16:creationId xmlns:a16="http://schemas.microsoft.com/office/drawing/2014/main" id="{5D6742FE-E310-A478-ED3D-48DFE2EDA100}"/>
              </a:ext>
            </a:extLst>
          </p:cNvPr>
          <p:cNvSpPr/>
          <p:nvPr/>
        </p:nvSpPr>
        <p:spPr>
          <a:xfrm>
            <a:off x="6113961" y="4063147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T1: write([A, B, C])  # C 추가</a:t>
            </a:r>
            <a:endParaRPr lang="en-US" sz="600" dirty="0"/>
          </a:p>
        </p:txBody>
      </p:sp>
      <p:sp>
        <p:nvSpPr>
          <p:cNvPr id="99" name="Text 31">
            <a:extLst>
              <a:ext uri="{FF2B5EF4-FFF2-40B4-BE49-F238E27FC236}">
                <a16:creationId xmlns:a16="http://schemas.microsoft.com/office/drawing/2014/main" id="{A6A22F91-AEF6-7E5A-BC0F-32356D270023}"/>
              </a:ext>
            </a:extLst>
          </p:cNvPr>
          <p:cNvSpPr/>
          <p:nvPr/>
        </p:nvSpPr>
        <p:spPr>
          <a:xfrm>
            <a:off x="6113961" y="4186972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T2: write([A, B, D])  # C 유실!</a:t>
            </a:r>
            <a:endParaRPr lang="en-US" sz="600" dirty="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0481D2B7-92E3-ED14-A4FA-79A05605297A}"/>
              </a:ext>
            </a:extLst>
          </p:cNvPr>
          <p:cNvSpPr/>
          <p:nvPr/>
        </p:nvSpPr>
        <p:spPr>
          <a:xfrm>
            <a:off x="6113961" y="4323447"/>
            <a:ext cx="2667000" cy="11727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fcntl.flock(LOCK_EX). 파일 수준 배타 잠금.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단일 Provider 의존 → 3-Provider Chain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Limit·장애 시 파이프라인 전체 중단 방지 — CircuitBreaker 3-state + Exponential Backoff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5181600" cy="558701"/>
          </a:xfrm>
          <a:prstGeom prst="roundRect">
            <a:avLst>
              <a:gd name="adj" fmla="val 909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558701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6427"/>
            <a:ext cx="49257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의존하면 Rate Limit이나 장애 시 파이프라인 전체가 중단됩니다. Anthropic·OpenAI·ZhipuAI를 </a:t>
            </a: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추상화하고, Provider별 독립 </a:t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배치했습니다.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69678"/>
            <a:ext cx="5181600" cy="2012156"/>
          </a:xfrm>
          <a:prstGeom prst="roundRect">
            <a:avLst>
              <a:gd name="adj" fmla="val 252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606153"/>
            <a:ext cx="49549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CHAIN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1845766"/>
            <a:ext cx="1398984" cy="584002"/>
          </a:xfrm>
          <a:prstGeom prst="roundRect">
            <a:avLst>
              <a:gd name="adj" fmla="val 8699"/>
            </a:avLst>
          </a:prstGeom>
          <a:solidFill>
            <a:srgbClr val="818CF8">
              <a:alpha val="12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600" y="1956792"/>
            <a:ext cx="1148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5600" y="2090142"/>
            <a:ext cx="11485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claude-opus-4-6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55600" y="2185392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claude-sonnet-4-6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755600" y="2252067"/>
            <a:ext cx="114855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claude-haiku-3-5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092531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17" name="Text 15"/>
          <p:cNvSpPr/>
          <p:nvPr/>
        </p:nvSpPr>
        <p:spPr>
          <a:xfrm>
            <a:off x="2092531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48359" y="1845766"/>
            <a:ext cx="1399133" cy="584002"/>
          </a:xfrm>
          <a:prstGeom prst="roundRect">
            <a:avLst>
              <a:gd name="adj" fmla="val 8699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84834" y="1956792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84834" y="2090142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4834" y="2185392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gpt-5.3</a:t>
            </a:r>
            <a:endParaRPr lang="en-US" sz="500" dirty="0"/>
          </a:p>
        </p:txBody>
      </p:sp>
      <p:sp>
        <p:nvSpPr>
          <p:cNvPr id="22" name="Text 20"/>
          <p:cNvSpPr/>
          <p:nvPr/>
        </p:nvSpPr>
        <p:spPr>
          <a:xfrm>
            <a:off x="2484834" y="2252067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gpt-4o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821914" y="1999655"/>
            <a:ext cx="1814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3821914" y="2066330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77742" y="1841004"/>
            <a:ext cx="1399133" cy="593527"/>
          </a:xfrm>
          <a:prstGeom prst="roundRect">
            <a:avLst>
              <a:gd name="adj" fmla="val 8559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14217" y="1952030"/>
            <a:ext cx="11487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14217" y="2085380"/>
            <a:ext cx="11487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14217" y="2180630"/>
            <a:ext cx="11487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4214217" y="2256830"/>
            <a:ext cx="114870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619125" y="2536031"/>
            <a:ext cx="4857750" cy="809327"/>
          </a:xfrm>
          <a:prstGeom prst="roundRect">
            <a:avLst>
              <a:gd name="adj" fmla="val 6277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5600" y="2647057"/>
            <a:ext cx="46764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CircuitBreaker 상태 머신 (Provider별 독립)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55600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56390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6390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500" dirty="0"/>
          </a:p>
        </p:txBody>
      </p:sp>
      <p:sp>
        <p:nvSpPr>
          <p:cNvPr id="35" name="Text 33"/>
          <p:cNvSpPr/>
          <p:nvPr/>
        </p:nvSpPr>
        <p:spPr>
          <a:xfrm>
            <a:off x="2074042" y="2921645"/>
            <a:ext cx="351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연속 5회 실패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074042" y="2997845"/>
            <a:ext cx="351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98675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599465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99465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차단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3818587" y="2921645"/>
            <a:ext cx="20190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60초 후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818587" y="2997845"/>
            <a:ext cx="2019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94708" y="2828032"/>
            <a:ext cx="1245691" cy="406301"/>
          </a:xfrm>
          <a:prstGeom prst="roundRect">
            <a:avLst>
              <a:gd name="adj" fmla="val 12503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195498" y="2926407"/>
            <a:ext cx="10441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195498" y="3059757"/>
            <a:ext cx="1044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765750" y="809476"/>
            <a:ext cx="2921050" cy="1371005"/>
          </a:xfrm>
          <a:prstGeom prst="roundRect">
            <a:avLst>
              <a:gd name="adj" fmla="val 370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927675" y="945952"/>
            <a:ext cx="26491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에러 분류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927675" y="1190327"/>
            <a:ext cx="1260425" cy="853678"/>
          </a:xfrm>
          <a:prstGeom prst="roundRect">
            <a:avLst>
              <a:gd name="adj" fmla="val 5951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64151" y="1301353"/>
            <a:ext cx="10072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Retryable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41852" y="1479054"/>
            <a:ext cx="80977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RateLimit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64151" y="1828205"/>
            <a:ext cx="100722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Exp. Backoff ±25% Jitter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7264301" y="1190327"/>
            <a:ext cx="1260574" cy="853678"/>
          </a:xfrm>
          <a:prstGeom prst="roundRect">
            <a:avLst>
              <a:gd name="adj" fmla="val 5951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400776" y="1301353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Non-retryable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78477" y="1479054"/>
            <a:ext cx="80992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잔액 부족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오류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초과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400776" y="1856780"/>
            <a:ext cx="10073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다음 Provider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5765750" y="2281982"/>
            <a:ext cx="2921050" cy="1199852"/>
          </a:xfrm>
          <a:prstGeom prst="roundRect">
            <a:avLst>
              <a:gd name="adj" fmla="val 19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5789563" y="2281982"/>
            <a:ext cx="0" cy="1199852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965775" y="2408932"/>
            <a:ext cx="26199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결정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65775" y="2628007"/>
            <a:ext cx="26199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메모리가 모델에 종속되지 않습니다.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4-Tier 메모리는 Provider와 분리되어 Failover 시에도 세션 학습 내용이 그대로 유지됩니다.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65775" y="3161407"/>
            <a:ext cx="261999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00"/>
              </a:lnSpc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추상화로 새 Provider 추가 시 어댑터 1개만 구현. Thundering Herd 방지를 위해 ±25% Jitter 적용.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87975"/>
            <a:ext cx="35998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llm_client.py · circuit_breaker.py · Port/Adapter pattern — 3 providers, 9 models in chain · thread-safe Lock per CircuitBreaker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29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80826"/>
            <a:ext cx="12607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 AGENT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Memory: 압축 전략 x 5-Tier 자동 학습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종료 시 인사이트 휘발 방지. PIPELINE_END → MEMORY.md 자동 축적 루프. User Profile tier 신설.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09476"/>
            <a:ext cx="4368701" cy="711101"/>
          </a:xfrm>
          <a:prstGeom prst="roundRect">
            <a:avLst>
              <a:gd name="adj" fmla="val 714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09476"/>
            <a:ext cx="0" cy="71110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36427"/>
            <a:ext cx="40966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서브에이전트는 부모와 독립된 200K 컨텍스트 윈도우를 갖습니다. 임계값 초과 시 3-Phase 압축이 자동 발동합니다. </a:t>
            </a: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Anthropic은 server-side, OpenAI/GLM은 client-side LLM 요약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사용합니다.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22078"/>
            <a:ext cx="4368701" cy="2211587"/>
          </a:xfrm>
          <a:prstGeom prst="roundRect">
            <a:avLst>
              <a:gd name="adj" fmla="val 15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125" y="1758553"/>
            <a:ext cx="4125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압축 3-PHASE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9125" y="2002929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F5C542">
              <a:alpha val="12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2212" y="2075855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WARNING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36527" y="2002929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SUMMARIZE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6527" y="2117229"/>
            <a:ext cx="29859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&gt;5% window → [summarized: N tokens]</a:t>
            </a:r>
            <a:endParaRPr lang="en-US" sz="500" dirty="0"/>
          </a:p>
        </p:txBody>
      </p:sp>
      <p:sp>
        <p:nvSpPr>
          <p:cNvPr id="15" name="Text 13"/>
          <p:cNvSpPr/>
          <p:nvPr/>
        </p:nvSpPr>
        <p:spPr>
          <a:xfrm>
            <a:off x="619125" y="2345531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2212" y="2418457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CRITICAL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36527" y="2345531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ADAPTIVE PRUNE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36527" y="2459831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최신→과거 순 70% 예산 내 유지, first+last 2 보존</a:t>
            </a:r>
            <a:endParaRPr lang="en-US" sz="500" dirty="0"/>
          </a:p>
        </p:txBody>
      </p:sp>
      <p:sp>
        <p:nvSpPr>
          <p:cNvPr id="19" name="Text 17"/>
          <p:cNvSpPr/>
          <p:nvPr/>
        </p:nvSpPr>
        <p:spPr>
          <a:xfrm>
            <a:off x="619125" y="2688134"/>
            <a:ext cx="1015901" cy="241102"/>
          </a:xfrm>
          <a:prstGeom prst="roundRect">
            <a:avLst>
              <a:gd name="adj" fmla="val 21070"/>
            </a:avLst>
          </a:prstGeom>
          <a:solidFill>
            <a:srgbClr val="EF4444">
              <a:alpha val="6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12" y="2761059"/>
            <a:ext cx="8097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736527" y="2688134"/>
            <a:ext cx="29859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EMERGENCY PRUNE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736527" y="2802434"/>
            <a:ext cx="298599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prune_oldest_messages(keep_recent=10) 최후 수단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619125" y="3030736"/>
            <a:ext cx="4044851" cy="253901"/>
          </a:xfrm>
          <a:prstGeom prst="roundRect">
            <a:avLst>
              <a:gd name="adj" fmla="val 200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6075" y="3119586"/>
            <a:ext cx="38667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P6 패턴: 4 chars/token 보수적 추정 → 안전 마진 확보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4952851" y="809476"/>
            <a:ext cx="3733949" cy="2211586"/>
          </a:xfrm>
          <a:prstGeom prst="roundRect">
            <a:avLst>
              <a:gd name="adj" fmla="val 22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89327" y="920502"/>
            <a:ext cx="3530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MEMORY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9327" y="1130052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00352" y="1202978"/>
            <a:ext cx="673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(Tier 4)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00352" y="1298228"/>
            <a:ext cx="6734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기반, 현재 작업 맥락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8279309" y="123631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9327" y="1498104"/>
            <a:ext cx="3460998" cy="307777"/>
          </a:xfrm>
          <a:prstGeom prst="roundRect">
            <a:avLst>
              <a:gd name="adj" fmla="val 16505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00352" y="1571030"/>
            <a:ext cx="13055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(Tier 3)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200352" y="1666280"/>
            <a:ext cx="130552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.geode/memory/PROJECT.md, max 200 lines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279309" y="1599605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9327" y="1856631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200352" y="1929557"/>
            <a:ext cx="8798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(Tier 2)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00352" y="2024807"/>
            <a:ext cx="87986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루브릭, fixtures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279309" y="1962894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089327" y="2224683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200352" y="2297609"/>
            <a:ext cx="118711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Profile (Tier 1) — NEW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00352" y="2392859"/>
            <a:ext cx="11871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~/.geode/profiles/, 학습 이력</a:t>
            </a:r>
            <a:endParaRPr lang="en-US" sz="500" dirty="0"/>
          </a:p>
        </p:txBody>
      </p:sp>
      <p:sp>
        <p:nvSpPr>
          <p:cNvPr id="42" name="Text 40"/>
          <p:cNvSpPr/>
          <p:nvPr/>
        </p:nvSpPr>
        <p:spPr>
          <a:xfrm>
            <a:off x="8279309" y="2330946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89327" y="2592735"/>
            <a:ext cx="3460998" cy="317302"/>
          </a:xfrm>
          <a:prstGeom prst="roundRect">
            <a:avLst>
              <a:gd name="adj" fmla="val 16010"/>
            </a:avLst>
          </a:prstGeom>
          <a:solidFill>
            <a:srgbClr val="E2E8F0">
              <a:alpha val="6000"/>
            </a:srgbClr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200352" y="2665661"/>
            <a:ext cx="120548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 (Tier 0) — GEODE.md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200352" y="2760911"/>
            <a:ext cx="12054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정체성, Karpathy P7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279309" y="2698998"/>
            <a:ext cx="1631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52851" y="3097262"/>
            <a:ext cx="3733949" cy="715269"/>
          </a:xfrm>
          <a:prstGeom prst="roundRect">
            <a:avLst>
              <a:gd name="adj" fmla="val 279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976664" y="3097262"/>
            <a:ext cx="0" cy="715269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127427" y="3198763"/>
            <a:ext cx="3501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자동 학습 루프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27427" y="3373338"/>
            <a:ext cx="350107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세션 종료 시 Hook P85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memory_write_back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인사이트를 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PROJECT.md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자동 축적합니다. 최대 50개 인사이트 (oldest-drop rotation).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78450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v0.38.0: 4-Tier→5-Tier (User Profile 추가). Anthropic=server-side, OpenAI/GLM=client-side compaction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29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6-Phase 동적 조립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 → 변경 추적 불가 + 캐시 히트율 하락. SHA-256 해시와 ephemeral 캐시로 해결.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92516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72877"/>
            <a:ext cx="0" cy="6631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87177"/>
            <a:ext cx="46641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— 수동 편집의 두 가지 실패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7225" y="1155353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변경 추적 불가: 어느 버전이 어떤 결과를 냈는지 재현 불가.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288554"/>
            <a:ext cx="466419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캐시 히트율 하락: 작은 수정 한 줄이 전체 해시를 바꿔 캐시 미스 유발.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637556"/>
            <a:ext cx="4925169" cy="873026"/>
          </a:xfrm>
          <a:prstGeom prst="roundRect">
            <a:avLst>
              <a:gd name="adj" fmla="val 581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9125" y="1761381"/>
            <a:ext cx="4693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6-Phase 조립 파이프라인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9125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3624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03624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정의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1282750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12974" y="1986707"/>
            <a:ext cx="613023" cy="400050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97471" y="2062907"/>
            <a:ext cx="44402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497471" y="2158157"/>
            <a:ext cx="4440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노드별 오버라이드</a:t>
            </a:r>
            <a:endParaRPr lang="en-US" sz="500" dirty="0"/>
          </a:p>
        </p:txBody>
      </p:sp>
      <p:sp>
        <p:nvSpPr>
          <p:cNvPr id="20" name="Text 18"/>
          <p:cNvSpPr/>
          <p:nvPr/>
        </p:nvSpPr>
        <p:spPr>
          <a:xfrm>
            <a:off x="2076748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06972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291471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291471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매칭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2870597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000821" y="2029569"/>
            <a:ext cx="612874" cy="314325"/>
          </a:xfrm>
          <a:prstGeom prst="roundRect">
            <a:avLst>
              <a:gd name="adj" fmla="val 1616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085320" y="2105769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085320" y="2201019"/>
            <a:ext cx="44387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500" dirty="0"/>
          </a:p>
        </p:txBody>
      </p:sp>
      <p:sp>
        <p:nvSpPr>
          <p:cNvPr id="28" name="Text 26"/>
          <p:cNvSpPr/>
          <p:nvPr/>
        </p:nvSpPr>
        <p:spPr>
          <a:xfrm>
            <a:off x="3664446" y="2139107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94671" y="2024807"/>
            <a:ext cx="612874" cy="323850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79169" y="2101007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879169" y="2196257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접두사</a:t>
            </a:r>
            <a:endParaRPr lang="en-US" sz="500" dirty="0"/>
          </a:p>
        </p:txBody>
      </p:sp>
      <p:sp>
        <p:nvSpPr>
          <p:cNvPr id="32" name="Text 30"/>
          <p:cNvSpPr/>
          <p:nvPr/>
        </p:nvSpPr>
        <p:spPr>
          <a:xfrm>
            <a:off x="619125" y="3605998"/>
            <a:ext cx="810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49350" y="3482173"/>
            <a:ext cx="631924" cy="342900"/>
          </a:xfrm>
          <a:prstGeom prst="roundRect">
            <a:avLst>
              <a:gd name="adj" fmla="val 148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43374" y="3567898"/>
            <a:ext cx="4438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43374" y="3663148"/>
            <a:ext cx="44387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 추적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457200" y="2612082"/>
            <a:ext cx="4925169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125" y="2735907"/>
            <a:ext cx="46933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조립 복잡도 vs 캐시 안정성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9125" y="2891433"/>
            <a:ext cx="469334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Phase가 독립 청크로 분리되어 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변경된 Phase만 해시가 달라집니다.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cache_control 범위가 명확해져 캐시 히트율이 보존됩니다.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09320" y="125454"/>
            <a:ext cx="3177480" cy="1114276"/>
          </a:xfrm>
          <a:prstGeom prst="roundRect">
            <a:avLst>
              <a:gd name="adj" fmla="val 455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509320" y="144504"/>
            <a:ext cx="317748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632993" y="315954"/>
            <a:ext cx="29301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cache_control: ephemeral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32993" y="487404"/>
            <a:ext cx="29301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632993" y="855605"/>
            <a:ext cx="29301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2회차부터 입력 비용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32993" y="1011130"/>
            <a:ext cx="293013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7개 노드가 동일 시스템 프롬프트 공유 시 적용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509320" y="1341231"/>
            <a:ext cx="3177480" cy="1299567"/>
          </a:xfrm>
          <a:prstGeom prst="roundRect">
            <a:avLst>
              <a:gd name="adj" fmla="val 181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671245" y="1477706"/>
            <a:ext cx="29107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변경 추적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671245" y="1703032"/>
            <a:ext cx="2853630" cy="763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71245" y="1703032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조립 완료 시 전체 프롬프트를 SHA-256 해싱하여 버전 고정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1575153" y="3492444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해시 = 동일 프롬프트 → 캐시 히트 보장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575153" y="3705566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변경 시 HookSystem 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PROMPT_CHANGED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이벤트 발행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671245" y="2342398"/>
            <a:ext cx="291070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Skills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전체가 이 파이프라인을 통해 주입됨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65799"/>
            <a:ext cx="349727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→ override → skill → memory → bootstrap → SHA-256 · 7 노드 공유 · cache_control: ephemeral · 2회차 비용 10%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29</a:t>
            </a:r>
            <a:endParaRPr lang="en-US" sz="500" dirty="0"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D052002-2EFA-BA1D-088E-258B2CC44198}"/>
              </a:ext>
            </a:extLst>
          </p:cNvPr>
          <p:cNvGrpSpPr/>
          <p:nvPr/>
        </p:nvGrpSpPr>
        <p:grpSpPr>
          <a:xfrm>
            <a:off x="466408" y="4062335"/>
            <a:ext cx="4925169" cy="472427"/>
            <a:chOff x="466409" y="4062335"/>
            <a:chExt cx="4051250" cy="444103"/>
          </a:xfrm>
        </p:grpSpPr>
        <p:sp>
          <p:nvSpPr>
            <p:cNvPr id="54" name="Text 9">
              <a:extLst>
                <a:ext uri="{FF2B5EF4-FFF2-40B4-BE49-F238E27FC236}">
                  <a16:creationId xmlns:a16="http://schemas.microsoft.com/office/drawing/2014/main" id="{FA0F14E8-47D9-4197-E27A-26B51862B999}"/>
                </a:ext>
              </a:extLst>
            </p:cNvPr>
            <p:cNvSpPr/>
            <p:nvPr/>
          </p:nvSpPr>
          <p:spPr>
            <a:xfrm>
              <a:off x="466409" y="4062335"/>
              <a:ext cx="4051250" cy="444103"/>
            </a:xfrm>
            <a:prstGeom prst="roundRect">
              <a:avLst>
                <a:gd name="adj" fmla="val 11439"/>
              </a:avLst>
            </a:prstGeom>
            <a:solidFill>
              <a:srgbClr val="1E293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9C9B787A-BD56-1540-EAB9-98ABC2A5FA5A}"/>
                </a:ext>
              </a:extLst>
            </p:cNvPr>
            <p:cNvSpPr/>
            <p:nvPr/>
          </p:nvSpPr>
          <p:spPr>
            <a:xfrm>
              <a:off x="490221" y="4062335"/>
              <a:ext cx="0" cy="444103"/>
            </a:xfrm>
            <a:prstGeom prst="line">
              <a:avLst/>
            </a:prstGeom>
            <a:noFill/>
            <a:ln w="47625">
              <a:solidFill>
                <a:srgbClr val="818CF8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11">
              <a:extLst>
                <a:ext uri="{FF2B5EF4-FFF2-40B4-BE49-F238E27FC236}">
                  <a16:creationId xmlns:a16="http://schemas.microsoft.com/office/drawing/2014/main" id="{CCAD4F6F-9BA2-E6DD-DEC1-6671D51E8809}"/>
                </a:ext>
              </a:extLst>
            </p:cNvPr>
            <p:cNvSpPr/>
            <p:nvPr/>
          </p:nvSpPr>
          <p:spPr>
            <a:xfrm>
              <a:off x="640984" y="4151186"/>
              <a:ext cx="3824719" cy="2664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050"/>
                </a:lnSpc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문제:</a:t>
              </a: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skill을 memory보다 먼저 주입하면 스킬의 context:fork가 오래된 메모리를 참조합니다. memory를 template보다 먼저 주입하면 메모리가 시스템 프롬프트를 오버라이드합니다.</a:t>
              </a:r>
              <a:endParaRPr lang="en-US" sz="700" dirty="0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2FDB562-E8E0-20FE-DEB4-EB277450D4BF}"/>
              </a:ext>
            </a:extLst>
          </p:cNvPr>
          <p:cNvGrpSpPr/>
          <p:nvPr/>
        </p:nvGrpSpPr>
        <p:grpSpPr>
          <a:xfrm>
            <a:off x="5474091" y="2775529"/>
            <a:ext cx="3280265" cy="1961669"/>
            <a:chOff x="4530697" y="2468759"/>
            <a:chExt cx="4051249" cy="2344640"/>
          </a:xfrm>
        </p:grpSpPr>
        <p:sp>
          <p:nvSpPr>
            <p:cNvPr id="57" name="Text 12">
              <a:extLst>
                <a:ext uri="{FF2B5EF4-FFF2-40B4-BE49-F238E27FC236}">
                  <a16:creationId xmlns:a16="http://schemas.microsoft.com/office/drawing/2014/main" id="{3B790CC0-272D-DB36-B688-A6AA90D87E88}"/>
                </a:ext>
              </a:extLst>
            </p:cNvPr>
            <p:cNvSpPr/>
            <p:nvPr/>
          </p:nvSpPr>
          <p:spPr>
            <a:xfrm>
              <a:off x="4530697" y="2468759"/>
              <a:ext cx="4051249" cy="2344640"/>
            </a:xfrm>
            <a:prstGeom prst="roundRect">
              <a:avLst>
                <a:gd name="adj" fmla="val 1453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58" name="Text 13">
              <a:extLst>
                <a:ext uri="{FF2B5EF4-FFF2-40B4-BE49-F238E27FC236}">
                  <a16:creationId xmlns:a16="http://schemas.microsoft.com/office/drawing/2014/main" id="{378A5440-4D16-ED27-588B-AF75027924FA}"/>
                </a:ext>
              </a:extLst>
            </p:cNvPr>
            <p:cNvSpPr/>
            <p:nvPr/>
          </p:nvSpPr>
          <p:spPr>
            <a:xfrm>
              <a:off x="4667173" y="2567135"/>
              <a:ext cx="3853866" cy="104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500"/>
                </a:spcAft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6-Phase 순서 근거</a:t>
              </a:r>
              <a:endParaRPr lang="en-US" sz="700" dirty="0"/>
            </a:p>
          </p:txBody>
        </p:sp>
        <p:sp>
          <p:nvSpPr>
            <p:cNvPr id="59" name="Text 14">
              <a:extLst>
                <a:ext uri="{FF2B5EF4-FFF2-40B4-BE49-F238E27FC236}">
                  <a16:creationId xmlns:a16="http://schemas.microsoft.com/office/drawing/2014/main" id="{5DB5E205-4313-CEA0-13EE-338E6AAE0968}"/>
                </a:ext>
              </a:extLst>
            </p:cNvPr>
            <p:cNvSpPr/>
            <p:nvPr/>
          </p:nvSpPr>
          <p:spPr>
            <a:xfrm>
              <a:off x="4667173" y="2735310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0" name="Text 15">
              <a:extLst>
                <a:ext uri="{FF2B5EF4-FFF2-40B4-BE49-F238E27FC236}">
                  <a16:creationId xmlns:a16="http://schemas.microsoft.com/office/drawing/2014/main" id="{8A73F351-5EC1-62A1-AE33-2DCAA79D0269}"/>
                </a:ext>
              </a:extLst>
            </p:cNvPr>
            <p:cNvSpPr/>
            <p:nvPr/>
          </p:nvSpPr>
          <p:spPr>
            <a:xfrm>
              <a:off x="4742104" y="2760611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61" name="Text 16">
              <a:extLst>
                <a:ext uri="{FF2B5EF4-FFF2-40B4-BE49-F238E27FC236}">
                  <a16:creationId xmlns:a16="http://schemas.microsoft.com/office/drawing/2014/main" id="{6EF8C26C-1732-DAFF-7A3A-D59B5514FD24}"/>
                </a:ext>
              </a:extLst>
            </p:cNvPr>
            <p:cNvSpPr/>
            <p:nvPr/>
          </p:nvSpPr>
          <p:spPr>
            <a:xfrm>
              <a:off x="5022723" y="2706800"/>
              <a:ext cx="1382941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template</a:t>
              </a:r>
              <a:endParaRPr lang="en-US" sz="700" dirty="0"/>
            </a:p>
          </p:txBody>
        </p:sp>
        <p:sp>
          <p:nvSpPr>
            <p:cNvPr id="62" name="Text 17">
              <a:extLst>
                <a:ext uri="{FF2B5EF4-FFF2-40B4-BE49-F238E27FC236}">
                  <a16:creationId xmlns:a16="http://schemas.microsoft.com/office/drawing/2014/main" id="{E6857404-1552-DE0F-3E6A-71F4C39378B1}"/>
                </a:ext>
              </a:extLst>
            </p:cNvPr>
            <p:cNvSpPr/>
            <p:nvPr/>
          </p:nvSpPr>
          <p:spPr>
            <a:xfrm>
              <a:off x="5022723" y="2830560"/>
              <a:ext cx="1914270" cy="969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시스템 정체성. 다른 모든 것의 기반이 됩니다.</a:t>
              </a:r>
              <a:endParaRPr lang="en-US" sz="600" dirty="0"/>
            </a:p>
          </p:txBody>
        </p:sp>
        <p:sp>
          <p:nvSpPr>
            <p:cNvPr id="63" name="Text 18">
              <a:extLst>
                <a:ext uri="{FF2B5EF4-FFF2-40B4-BE49-F238E27FC236}">
                  <a16:creationId xmlns:a16="http://schemas.microsoft.com/office/drawing/2014/main" id="{4F4D4495-08D8-C6F6-9491-2D080C8FF0FE}"/>
                </a:ext>
              </a:extLst>
            </p:cNvPr>
            <p:cNvSpPr/>
            <p:nvPr/>
          </p:nvSpPr>
          <p:spPr>
            <a:xfrm>
              <a:off x="4667173" y="2990890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4" name="Text 19">
              <a:extLst>
                <a:ext uri="{FF2B5EF4-FFF2-40B4-BE49-F238E27FC236}">
                  <a16:creationId xmlns:a16="http://schemas.microsoft.com/office/drawing/2014/main" id="{1F81A604-9E6B-C156-F291-01114F189E56}"/>
                </a:ext>
              </a:extLst>
            </p:cNvPr>
            <p:cNvSpPr/>
            <p:nvPr/>
          </p:nvSpPr>
          <p:spPr>
            <a:xfrm>
              <a:off x="4742104" y="3016191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65" name="Text 20">
              <a:extLst>
                <a:ext uri="{FF2B5EF4-FFF2-40B4-BE49-F238E27FC236}">
                  <a16:creationId xmlns:a16="http://schemas.microsoft.com/office/drawing/2014/main" id="{FA845970-47CF-DEE8-D4B8-85276DD2769E}"/>
                </a:ext>
              </a:extLst>
            </p:cNvPr>
            <p:cNvSpPr/>
            <p:nvPr/>
          </p:nvSpPr>
          <p:spPr>
            <a:xfrm>
              <a:off x="5022723" y="2971884"/>
              <a:ext cx="1613837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override</a:t>
              </a:r>
              <a:endParaRPr lang="en-US" sz="700" dirty="0"/>
            </a:p>
          </p:txBody>
        </p:sp>
        <p:sp>
          <p:nvSpPr>
            <p:cNvPr id="66" name="Text 21">
              <a:extLst>
                <a:ext uri="{FF2B5EF4-FFF2-40B4-BE49-F238E27FC236}">
                  <a16:creationId xmlns:a16="http://schemas.microsoft.com/office/drawing/2014/main" id="{A9B5E2CF-7004-590C-1D71-5C499711DC34}"/>
                </a:ext>
              </a:extLst>
            </p:cNvPr>
            <p:cNvSpPr/>
            <p:nvPr/>
          </p:nvSpPr>
          <p:spPr>
            <a:xfrm>
              <a:off x="5022723" y="3109992"/>
              <a:ext cx="2528143" cy="1089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도메인별 설정. template 위에 얹어야 우선순위 명확.</a:t>
              </a:r>
              <a:endParaRPr lang="en-US" sz="600" dirty="0"/>
            </a:p>
          </p:txBody>
        </p:sp>
        <p:sp>
          <p:nvSpPr>
            <p:cNvPr id="67" name="Text 22">
              <a:extLst>
                <a:ext uri="{FF2B5EF4-FFF2-40B4-BE49-F238E27FC236}">
                  <a16:creationId xmlns:a16="http://schemas.microsoft.com/office/drawing/2014/main" id="{B574E377-BF90-228F-7E29-B9866E331D60}"/>
                </a:ext>
              </a:extLst>
            </p:cNvPr>
            <p:cNvSpPr/>
            <p:nvPr/>
          </p:nvSpPr>
          <p:spPr>
            <a:xfrm>
              <a:off x="4667173" y="3286224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68" name="Text 23">
              <a:extLst>
                <a:ext uri="{FF2B5EF4-FFF2-40B4-BE49-F238E27FC236}">
                  <a16:creationId xmlns:a16="http://schemas.microsoft.com/office/drawing/2014/main" id="{CE8C7498-FF8F-B79A-C6B2-22951E212372}"/>
                </a:ext>
              </a:extLst>
            </p:cNvPr>
            <p:cNvSpPr/>
            <p:nvPr/>
          </p:nvSpPr>
          <p:spPr>
            <a:xfrm>
              <a:off x="4742104" y="3311525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700" dirty="0"/>
            </a:p>
          </p:txBody>
        </p:sp>
        <p:sp>
          <p:nvSpPr>
            <p:cNvPr id="69" name="Text 24">
              <a:extLst>
                <a:ext uri="{FF2B5EF4-FFF2-40B4-BE49-F238E27FC236}">
                  <a16:creationId xmlns:a16="http://schemas.microsoft.com/office/drawing/2014/main" id="{BCBAC36D-ADF9-BC6A-128C-8D0CAD766AC2}"/>
                </a:ext>
              </a:extLst>
            </p:cNvPr>
            <p:cNvSpPr/>
            <p:nvPr/>
          </p:nvSpPr>
          <p:spPr>
            <a:xfrm>
              <a:off x="5022724" y="3286224"/>
              <a:ext cx="229543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skill</a:t>
              </a:r>
              <a:endParaRPr lang="en-US" sz="700" dirty="0"/>
            </a:p>
          </p:txBody>
        </p:sp>
        <p:sp>
          <p:nvSpPr>
            <p:cNvPr id="70" name="Text 25">
              <a:extLst>
                <a:ext uri="{FF2B5EF4-FFF2-40B4-BE49-F238E27FC236}">
                  <a16:creationId xmlns:a16="http://schemas.microsoft.com/office/drawing/2014/main" id="{1104E32B-C64D-0CD5-966E-10CC70AFF02E}"/>
                </a:ext>
              </a:extLst>
            </p:cNvPr>
            <p:cNvSpPr/>
            <p:nvPr/>
          </p:nvSpPr>
          <p:spPr>
            <a:xfrm>
              <a:off x="5022723" y="3409982"/>
              <a:ext cx="3274659" cy="806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런타임 스킬 42개. 3-tier lazy loading. override 후에야 scope 결정 가능.</a:t>
              </a:r>
              <a:endParaRPr lang="en-US" sz="600" dirty="0"/>
            </a:p>
          </p:txBody>
        </p:sp>
        <p:sp>
          <p:nvSpPr>
            <p:cNvPr id="71" name="Text 26">
              <a:extLst>
                <a:ext uri="{FF2B5EF4-FFF2-40B4-BE49-F238E27FC236}">
                  <a16:creationId xmlns:a16="http://schemas.microsoft.com/office/drawing/2014/main" id="{2A7C84FF-3209-25B6-28CD-CA2C350FF941}"/>
                </a:ext>
              </a:extLst>
            </p:cNvPr>
            <p:cNvSpPr/>
            <p:nvPr/>
          </p:nvSpPr>
          <p:spPr>
            <a:xfrm>
              <a:off x="4675124" y="3525903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2" name="Text 27">
              <a:extLst>
                <a:ext uri="{FF2B5EF4-FFF2-40B4-BE49-F238E27FC236}">
                  <a16:creationId xmlns:a16="http://schemas.microsoft.com/office/drawing/2014/main" id="{91D7CA1D-C249-B8CD-5A58-56296CAF20E2}"/>
                </a:ext>
              </a:extLst>
            </p:cNvPr>
            <p:cNvSpPr/>
            <p:nvPr/>
          </p:nvSpPr>
          <p:spPr>
            <a:xfrm>
              <a:off x="4742104" y="3535298"/>
              <a:ext cx="183822" cy="1607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700" dirty="0"/>
            </a:p>
          </p:txBody>
        </p:sp>
        <p:sp>
          <p:nvSpPr>
            <p:cNvPr id="73" name="Text 28">
              <a:extLst>
                <a:ext uri="{FF2B5EF4-FFF2-40B4-BE49-F238E27FC236}">
                  <a16:creationId xmlns:a16="http://schemas.microsoft.com/office/drawing/2014/main" id="{4AFA288D-B924-5BFE-0231-5C7C76D26729}"/>
                </a:ext>
              </a:extLst>
            </p:cNvPr>
            <p:cNvSpPr/>
            <p:nvPr/>
          </p:nvSpPr>
          <p:spPr>
            <a:xfrm>
              <a:off x="5022724" y="3533852"/>
              <a:ext cx="1734217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memory</a:t>
              </a:r>
              <a:endParaRPr lang="en-US" sz="700" dirty="0"/>
            </a:p>
          </p:txBody>
        </p:sp>
        <p:sp>
          <p:nvSpPr>
            <p:cNvPr id="74" name="Text 29">
              <a:extLst>
                <a:ext uri="{FF2B5EF4-FFF2-40B4-BE49-F238E27FC236}">
                  <a16:creationId xmlns:a16="http://schemas.microsoft.com/office/drawing/2014/main" id="{BBD33D6E-346B-3F63-C38E-58310936C27D}"/>
                </a:ext>
              </a:extLst>
            </p:cNvPr>
            <p:cNvSpPr/>
            <p:nvPr/>
          </p:nvSpPr>
          <p:spPr>
            <a:xfrm>
              <a:off x="5022724" y="3668858"/>
              <a:ext cx="2461884" cy="1446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5-Tier 메모리. skill 이후여야 스킬이 최신 메모리를 참조.</a:t>
              </a:r>
              <a:endParaRPr lang="en-US" sz="600" dirty="0"/>
            </a:p>
          </p:txBody>
        </p:sp>
        <p:sp>
          <p:nvSpPr>
            <p:cNvPr id="75" name="Text 30">
              <a:extLst>
                <a:ext uri="{FF2B5EF4-FFF2-40B4-BE49-F238E27FC236}">
                  <a16:creationId xmlns:a16="http://schemas.microsoft.com/office/drawing/2014/main" id="{48D4F5F2-95C1-E73A-D43C-1232F3BDF7FA}"/>
                </a:ext>
              </a:extLst>
            </p:cNvPr>
            <p:cNvSpPr/>
            <p:nvPr/>
          </p:nvSpPr>
          <p:spPr>
            <a:xfrm>
              <a:off x="4667173" y="3813286"/>
              <a:ext cx="341962" cy="173188"/>
            </a:xfrm>
            <a:prstGeom prst="roundRect">
              <a:avLst>
                <a:gd name="adj" fmla="val 26122"/>
              </a:avLst>
            </a:prstGeom>
            <a:solidFill>
              <a:srgbClr val="818CF8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76" name="Text 31">
              <a:extLst>
                <a:ext uri="{FF2B5EF4-FFF2-40B4-BE49-F238E27FC236}">
                  <a16:creationId xmlns:a16="http://schemas.microsoft.com/office/drawing/2014/main" id="{5956FC41-42AF-28DB-C7B9-2E442455FFCE}"/>
                </a:ext>
              </a:extLst>
            </p:cNvPr>
            <p:cNvSpPr/>
            <p:nvPr/>
          </p:nvSpPr>
          <p:spPr>
            <a:xfrm>
              <a:off x="4742104" y="3838587"/>
              <a:ext cx="158512" cy="113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818CF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</a:t>
              </a:r>
              <a:endParaRPr lang="en-US" sz="700" dirty="0"/>
            </a:p>
          </p:txBody>
        </p:sp>
        <p:sp>
          <p:nvSpPr>
            <p:cNvPr id="77" name="Text 32">
              <a:extLst>
                <a:ext uri="{FF2B5EF4-FFF2-40B4-BE49-F238E27FC236}">
                  <a16:creationId xmlns:a16="http://schemas.microsoft.com/office/drawing/2014/main" id="{055B5662-A7B9-AEA9-C5D7-C6005E1A5ED7}"/>
                </a:ext>
              </a:extLst>
            </p:cNvPr>
            <p:cNvSpPr/>
            <p:nvPr/>
          </p:nvSpPr>
          <p:spPr>
            <a:xfrm>
              <a:off x="5022724" y="3813286"/>
              <a:ext cx="2127929" cy="1131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bootstrap</a:t>
              </a:r>
              <a:endParaRPr lang="en-US" sz="700" dirty="0"/>
            </a:p>
          </p:txBody>
        </p:sp>
        <p:sp>
          <p:nvSpPr>
            <p:cNvPr id="78" name="Text 33">
              <a:extLst>
                <a:ext uri="{FF2B5EF4-FFF2-40B4-BE49-F238E27FC236}">
                  <a16:creationId xmlns:a16="http://schemas.microsoft.com/office/drawing/2014/main" id="{D42247D9-EF07-EFAB-7C44-1D12A1AA9C9B}"/>
                </a:ext>
              </a:extLst>
            </p:cNvPr>
            <p:cNvSpPr/>
            <p:nvPr/>
          </p:nvSpPr>
          <p:spPr>
            <a:xfrm>
              <a:off x="5063272" y="3986779"/>
              <a:ext cx="2635975" cy="642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런타임 상태 주입. 모든 정적 설정 완료 후 동적 상태 합류.</a:t>
              </a:r>
              <a:endParaRPr lang="en-US" sz="600" dirty="0"/>
            </a:p>
          </p:txBody>
        </p:sp>
        <p:sp>
          <p:nvSpPr>
            <p:cNvPr id="79" name="Text 34">
              <a:extLst>
                <a:ext uri="{FF2B5EF4-FFF2-40B4-BE49-F238E27FC236}">
                  <a16:creationId xmlns:a16="http://schemas.microsoft.com/office/drawing/2014/main" id="{38F80771-D74A-AB09-D8D7-544F4F5F5B6B}"/>
                </a:ext>
              </a:extLst>
            </p:cNvPr>
            <p:cNvSpPr/>
            <p:nvPr/>
          </p:nvSpPr>
          <p:spPr>
            <a:xfrm>
              <a:off x="4667173" y="4234569"/>
              <a:ext cx="279350" cy="145852"/>
            </a:xfrm>
            <a:prstGeom prst="roundRect">
              <a:avLst>
                <a:gd name="adj" fmla="val 26122"/>
              </a:avLst>
            </a:prstGeom>
            <a:solidFill>
              <a:srgbClr val="34D399">
                <a:alpha val="12000"/>
              </a:srgb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80" name="Text 35">
              <a:extLst>
                <a:ext uri="{FF2B5EF4-FFF2-40B4-BE49-F238E27FC236}">
                  <a16:creationId xmlns:a16="http://schemas.microsoft.com/office/drawing/2014/main" id="{0270E5AA-7F43-14B8-7940-71A30EC9D275}"/>
                </a:ext>
              </a:extLst>
            </p:cNvPr>
            <p:cNvSpPr/>
            <p:nvPr/>
          </p:nvSpPr>
          <p:spPr>
            <a:xfrm>
              <a:off x="4742104" y="4237516"/>
              <a:ext cx="129489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6</a:t>
              </a:r>
              <a:endParaRPr lang="en-US" sz="700" dirty="0"/>
            </a:p>
          </p:txBody>
        </p:sp>
        <p:sp>
          <p:nvSpPr>
            <p:cNvPr id="81" name="Text 36">
              <a:extLst>
                <a:ext uri="{FF2B5EF4-FFF2-40B4-BE49-F238E27FC236}">
                  <a16:creationId xmlns:a16="http://schemas.microsoft.com/office/drawing/2014/main" id="{27C37235-E31E-BCA8-5251-1E7A0E526C24}"/>
                </a:ext>
              </a:extLst>
            </p:cNvPr>
            <p:cNvSpPr/>
            <p:nvPr/>
          </p:nvSpPr>
          <p:spPr>
            <a:xfrm>
              <a:off x="5022724" y="4223394"/>
              <a:ext cx="1803895" cy="952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700" b="1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SHA-256 assemble</a:t>
              </a:r>
              <a:endParaRPr lang="en-US" sz="700" dirty="0"/>
            </a:p>
          </p:txBody>
        </p:sp>
        <p:sp>
          <p:nvSpPr>
            <p:cNvPr id="82" name="Text 37">
              <a:extLst>
                <a:ext uri="{FF2B5EF4-FFF2-40B4-BE49-F238E27FC236}">
                  <a16:creationId xmlns:a16="http://schemas.microsoft.com/office/drawing/2014/main" id="{101CCD70-2BD7-31D6-8053-7A5DAE4DBDD0}"/>
                </a:ext>
              </a:extLst>
            </p:cNvPr>
            <p:cNvSpPr/>
            <p:nvPr/>
          </p:nvSpPr>
          <p:spPr>
            <a:xfrm>
              <a:off x="5022724" y="4385710"/>
              <a:ext cx="2717079" cy="2090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6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최종 해시. 변경 부분만 해시가 달라져 cache hit rate 보존.</a:t>
              </a:r>
              <a:endParaRPr lang="en-US" sz="600" dirty="0"/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1BF174C4-8BD9-5671-7ACD-C23C89E3C3A5}"/>
              </a:ext>
            </a:extLst>
          </p:cNvPr>
          <p:cNvSpPr txBox="1"/>
          <p:nvPr/>
        </p:nvSpPr>
        <p:spPr>
          <a:xfrm>
            <a:off x="4882101" y="40471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854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HE-1: AUTONOMOUS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단순화 + TokenTracker 자체 관측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951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병목 제거로 LLM 도구 탐색을 열고, 자체 비용 트레이싱으로 루프 비용을 제어합니다.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72877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</a:t>
            </a:r>
            <a:r>
              <a:rPr lang="en-US" sz="900" b="1" dirty="0" err="1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단순화</a:t>
            </a:r>
            <a:r>
              <a:rPr lang="en-US" altLang="ko-KR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TO-BE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17253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1A1010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241078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3-Layer 병목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9125" y="1441103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9125" y="1441103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(257줄)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LLM 탐색을 가로막는 중앙 레지스트리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19125" y="1609279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— Registry에 종속, 독립 검색 불가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777454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stub 9개 — 중복 래퍼, 유지 관리 부담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107555"/>
            <a:ext cx="4051250" cy="888802"/>
          </a:xfrm>
          <a:prstGeom prst="roundRect">
            <a:avLst>
              <a:gd name="adj" fmla="val 5716"/>
            </a:avLst>
          </a:prstGeom>
          <a:solidFill>
            <a:srgbClr val="0D1E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9125" y="2231380"/>
            <a:ext cx="38019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TO-BE: 2-Layer 직관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9125" y="2431405"/>
            <a:ext cx="3727400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125" y="2431405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Catalog 검색 전용으로 축소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9581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 [mcp.servers]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설정 통합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2767757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 auto-discovery · Proxy stub 9개 제거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097857"/>
            <a:ext cx="4051250" cy="669578"/>
          </a:xfrm>
          <a:prstGeom prst="roundRect">
            <a:avLst>
              <a:gd name="adj" fmla="val 75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9125" y="3221682"/>
            <a:ext cx="3801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제어 vs 탐색 자유도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9125" y="3377208"/>
            <a:ext cx="380194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Registry는 도구 목록을 완전 통제하지만 LLM의 런타임 탐색을 막습니다. Catalog로 전환하면 </a:t>
            </a: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44개 서버를 동적 관리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하면서도 HITL 4-Tier 권한 모델로 실행 경계를 유지합니다.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635401" y="872877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 err="1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</a:t>
            </a:r>
            <a:r>
              <a:rPr lang="en-US" altLang="ko-KR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자체 비용 트레이싱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35401" y="1117253"/>
            <a:ext cx="4051399" cy="663178"/>
          </a:xfrm>
          <a:prstGeom prst="roundRect">
            <a:avLst>
              <a:gd name="adj" fmla="val 76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59213" y="1117253"/>
            <a:ext cx="0" cy="66317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35426" y="1231553"/>
            <a:ext cx="37729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만들었나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835426" y="1399729"/>
            <a:ext cx="3772954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루프는 LLM 턴이 많습니다. LangSmith만으로는 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비용 내역과 캐시 히트율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추적하기 어려웠습니다.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89475" y="1894732"/>
            <a:ext cx="4051399" cy="873026"/>
          </a:xfrm>
          <a:prstGeom prst="roundRect">
            <a:avLst>
              <a:gd name="adj" fmla="val 2266"/>
            </a:avLst>
          </a:prstGeom>
          <a:solidFill>
            <a:srgbClr val="060B14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51400" y="2018556"/>
            <a:ext cx="3802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1400" y="2231232"/>
            <a:ext cx="3727549" cy="44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1400" y="2231232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세션/일간/월간 비용 + 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 실시간 표시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751400" y="2399407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경고 →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위험 시 adaptive pruning 자동 발동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751400" y="2567583"/>
            <a:ext cx="38021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ProjectJournal: 프로젝트별 실행 이력 + 누적 비용 추적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57200" y="4965799"/>
            <a:ext cx="4051250" cy="8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MCPRegistry(257줄) 삭제 · Catalog 검색 전용 · config.toml 통합 · TokenTracker ContextVar · 18 모델 가격 레지스트리 · /cost CLI</a:t>
            </a:r>
            <a:endParaRPr lang="en-US" sz="500" dirty="0"/>
          </a:p>
        </p:txBody>
      </p:sp>
      <p:sp>
        <p:nvSpPr>
          <p:cNvPr id="72" name="Text 40">
            <a:extLst>
              <a:ext uri="{FF2B5EF4-FFF2-40B4-BE49-F238E27FC236}">
                <a16:creationId xmlns:a16="http://schemas.microsoft.com/office/drawing/2014/main" id="{08C1551D-C6E1-A0A8-1757-ECEE52342A0C}"/>
              </a:ext>
            </a:extLst>
          </p:cNvPr>
          <p:cNvSpPr/>
          <p:nvPr/>
        </p:nvSpPr>
        <p:spPr>
          <a:xfrm>
            <a:off x="4589475" y="2831158"/>
            <a:ext cx="4051399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41">
            <a:extLst>
              <a:ext uri="{FF2B5EF4-FFF2-40B4-BE49-F238E27FC236}">
                <a16:creationId xmlns:a16="http://schemas.microsoft.com/office/drawing/2014/main" id="{DC3CA77A-57A8-1C94-F080-5AEA2883F5F2}"/>
              </a:ext>
            </a:extLst>
          </p:cNvPr>
          <p:cNvSpPr/>
          <p:nvPr/>
        </p:nvSpPr>
        <p:spPr>
          <a:xfrm>
            <a:off x="4613287" y="2831158"/>
            <a:ext cx="0" cy="586978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42">
            <a:extLst>
              <a:ext uri="{FF2B5EF4-FFF2-40B4-BE49-F238E27FC236}">
                <a16:creationId xmlns:a16="http://schemas.microsoft.com/office/drawing/2014/main" id="{F07F6F64-C75E-AA03-0E8E-24C8F79CCEE3}"/>
              </a:ext>
            </a:extLst>
          </p:cNvPr>
          <p:cNvSpPr/>
          <p:nvPr/>
        </p:nvSpPr>
        <p:spPr>
          <a:xfrm>
            <a:off x="4764050" y="2920009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AS-IS: 비용 사각지대</a:t>
            </a:r>
            <a:endParaRPr lang="en-US" sz="700" dirty="0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EF2D64C8-72D4-BC0E-F494-11B08E861C36}"/>
              </a:ext>
            </a:extLst>
          </p:cNvPr>
          <p:cNvSpPr/>
          <p:nvPr/>
        </p:nvSpPr>
        <p:spPr>
          <a:xfrm>
            <a:off x="4764050" y="3062884"/>
            <a:ext cx="382487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v0.34까지 3-provider failover 시 어느 모델에 얼마가 소비되는지 추적 불가. 비용이 예상의 3x를 초과해도 인지하지 못했습니다.</a:t>
            </a:r>
            <a:endParaRPr lang="en-US" sz="700" dirty="0"/>
          </a:p>
        </p:txBody>
      </p:sp>
      <p:sp>
        <p:nvSpPr>
          <p:cNvPr id="76" name="Text 44">
            <a:extLst>
              <a:ext uri="{FF2B5EF4-FFF2-40B4-BE49-F238E27FC236}">
                <a16:creationId xmlns:a16="http://schemas.microsoft.com/office/drawing/2014/main" id="{DA0BF133-5437-7AED-2AB0-21D1290192AE}"/>
              </a:ext>
            </a:extLst>
          </p:cNvPr>
          <p:cNvSpPr/>
          <p:nvPr/>
        </p:nvSpPr>
        <p:spPr>
          <a:xfrm>
            <a:off x="4589475" y="3481537"/>
            <a:ext cx="4051399" cy="847576"/>
          </a:xfrm>
          <a:prstGeom prst="roundRect">
            <a:avLst>
              <a:gd name="adj" fmla="val 599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8C2B1D75-2D15-C04E-5BDB-7481ABC5080F}"/>
              </a:ext>
            </a:extLst>
          </p:cNvPr>
          <p:cNvSpPr/>
          <p:nvPr/>
        </p:nvSpPr>
        <p:spPr>
          <a:xfrm>
            <a:off x="4725950" y="3579913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아키텍처</a:t>
            </a:r>
            <a:endParaRPr lang="en-US" sz="700" dirty="0"/>
          </a:p>
        </p:txBody>
      </p:sp>
      <p:sp>
        <p:nvSpPr>
          <p:cNvPr id="78" name="Text 46">
            <a:extLst>
              <a:ext uri="{FF2B5EF4-FFF2-40B4-BE49-F238E27FC236}">
                <a16:creationId xmlns:a16="http://schemas.microsoft.com/office/drawing/2014/main" id="{6B78FE9A-5F4F-F7B8-25C1-62AD81EAE51D}"/>
              </a:ext>
            </a:extLst>
          </p:cNvPr>
          <p:cNvSpPr/>
          <p:nvPr/>
        </p:nvSpPr>
        <p:spPr>
          <a:xfrm>
            <a:off x="4725950" y="3735438"/>
            <a:ext cx="9219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18-model price registry</a:t>
            </a:r>
            <a:endParaRPr lang="en-US" sz="700" dirty="0"/>
          </a:p>
        </p:txBody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0A54CDE4-46DF-EEA9-54B9-A62550294418}"/>
              </a:ext>
            </a:extLst>
          </p:cNvPr>
          <p:cNvSpPr/>
          <p:nvPr/>
        </p:nvSpPr>
        <p:spPr>
          <a:xfrm>
            <a:off x="7488815" y="3735438"/>
            <a:ext cx="1031101" cy="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input/output/cache 단가</a:t>
            </a:r>
            <a:endParaRPr lang="en-US" sz="600" dirty="0"/>
          </a:p>
        </p:txBody>
      </p:sp>
      <p:sp>
        <p:nvSpPr>
          <p:cNvPr id="80" name="Text 48">
            <a:extLst>
              <a:ext uri="{FF2B5EF4-FFF2-40B4-BE49-F238E27FC236}">
                <a16:creationId xmlns:a16="http://schemas.microsoft.com/office/drawing/2014/main" id="{342559F5-266F-B5FF-F1DC-B964045FF6DA}"/>
              </a:ext>
            </a:extLst>
          </p:cNvPr>
          <p:cNvSpPr/>
          <p:nvPr/>
        </p:nvSpPr>
        <p:spPr>
          <a:xfrm>
            <a:off x="4725950" y="3868788"/>
            <a:ext cx="12309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LLM_CALL_START/END hook</a:t>
            </a:r>
            <a:endParaRPr lang="en-US" sz="700" dirty="0"/>
          </a:p>
        </p:txBody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61CD73E6-0F85-7B23-A639-19310877515A}"/>
              </a:ext>
            </a:extLst>
          </p:cNvPr>
          <p:cNvSpPr/>
          <p:nvPr/>
        </p:nvSpPr>
        <p:spPr>
          <a:xfrm>
            <a:off x="7488815" y="3868788"/>
            <a:ext cx="1028020" cy="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per-call 실시간 집계</a:t>
            </a:r>
            <a:endParaRPr lang="en-US" sz="600" dirty="0"/>
          </a:p>
        </p:txBody>
      </p:sp>
      <p:sp>
        <p:nvSpPr>
          <p:cNvPr id="82" name="Text 50">
            <a:extLst>
              <a:ext uri="{FF2B5EF4-FFF2-40B4-BE49-F238E27FC236}">
                <a16:creationId xmlns:a16="http://schemas.microsoft.com/office/drawing/2014/main" id="{F0C2F7E1-F0C3-0A28-06FD-7063F062A3DB}"/>
              </a:ext>
            </a:extLst>
          </p:cNvPr>
          <p:cNvSpPr/>
          <p:nvPr/>
        </p:nvSpPr>
        <p:spPr>
          <a:xfrm>
            <a:off x="4725950" y="4002138"/>
            <a:ext cx="7808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command</a:t>
            </a:r>
            <a:endParaRPr lang="en-US" sz="700" dirty="0"/>
          </a:p>
        </p:txBody>
      </p:sp>
      <p:sp>
        <p:nvSpPr>
          <p:cNvPr id="83" name="Text 51">
            <a:extLst>
              <a:ext uri="{FF2B5EF4-FFF2-40B4-BE49-F238E27FC236}">
                <a16:creationId xmlns:a16="http://schemas.microsoft.com/office/drawing/2014/main" id="{2A9DF2C5-0AE9-569C-78FE-C0A6491C69DE}"/>
              </a:ext>
            </a:extLst>
          </p:cNvPr>
          <p:cNvSpPr/>
          <p:nvPr/>
        </p:nvSpPr>
        <p:spPr>
          <a:xfrm>
            <a:off x="7488815" y="4002138"/>
            <a:ext cx="1029142" cy="77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누적, 모델별 분해</a:t>
            </a:r>
            <a:endParaRPr lang="en-US" sz="600" dirty="0"/>
          </a:p>
        </p:txBody>
      </p:sp>
      <p:sp>
        <p:nvSpPr>
          <p:cNvPr id="84" name="Text 52">
            <a:extLst>
              <a:ext uri="{FF2B5EF4-FFF2-40B4-BE49-F238E27FC236}">
                <a16:creationId xmlns:a16="http://schemas.microsoft.com/office/drawing/2014/main" id="{13F3FEDC-001A-CAC8-3DCA-FE4E6098AC05}"/>
              </a:ext>
            </a:extLst>
          </p:cNvPr>
          <p:cNvSpPr/>
          <p:nvPr/>
        </p:nvSpPr>
        <p:spPr>
          <a:xfrm>
            <a:off x="4725950" y="4135488"/>
            <a:ext cx="8970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cost_budget_s (v0.38)</a:t>
            </a:r>
            <a:endParaRPr lang="en-US" sz="700" dirty="0"/>
          </a:p>
        </p:txBody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861D9587-6A7B-620F-3FC5-B96452274073}"/>
              </a:ext>
            </a:extLst>
          </p:cNvPr>
          <p:cNvSpPr/>
          <p:nvPr/>
        </p:nvSpPr>
        <p:spPr>
          <a:xfrm>
            <a:off x="7488815" y="4135488"/>
            <a:ext cx="103444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+ hard termination</a:t>
            </a:r>
            <a:endParaRPr lang="en-US" sz="600" dirty="0"/>
          </a:p>
        </p:txBody>
      </p:sp>
      <p:sp>
        <p:nvSpPr>
          <p:cNvPr id="86" name="Text 54">
            <a:extLst>
              <a:ext uri="{FF2B5EF4-FFF2-40B4-BE49-F238E27FC236}">
                <a16:creationId xmlns:a16="http://schemas.microsoft.com/office/drawing/2014/main" id="{28156EB6-FE39-39CB-21FA-09FAD2C9D596}"/>
              </a:ext>
            </a:extLst>
          </p:cNvPr>
          <p:cNvSpPr/>
          <p:nvPr/>
        </p:nvSpPr>
        <p:spPr>
          <a:xfrm>
            <a:off x="465442" y="3845198"/>
            <a:ext cx="4051399" cy="885676"/>
          </a:xfrm>
          <a:prstGeom prst="roundRect">
            <a:avLst>
              <a:gd name="adj" fmla="val 5736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7" name="Text 55">
            <a:extLst>
              <a:ext uri="{FF2B5EF4-FFF2-40B4-BE49-F238E27FC236}">
                <a16:creationId xmlns:a16="http://schemas.microsoft.com/office/drawing/2014/main" id="{CCA06AAA-CE51-FE44-F7AC-C58FB4D5D0C9}"/>
              </a:ext>
            </a:extLst>
          </p:cNvPr>
          <p:cNvSpPr/>
          <p:nvPr/>
        </p:nvSpPr>
        <p:spPr>
          <a:xfrm>
            <a:off x="601917" y="3943574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실측: REODE 마이그레이션 비용 추적</a:t>
            </a:r>
            <a:endParaRPr lang="en-US" sz="700" dirty="0"/>
          </a:p>
        </p:txBody>
      </p:sp>
      <p:sp>
        <p:nvSpPr>
          <p:cNvPr id="88" name="Text 56">
            <a:extLst>
              <a:ext uri="{FF2B5EF4-FFF2-40B4-BE49-F238E27FC236}">
                <a16:creationId xmlns:a16="http://schemas.microsoft.com/office/drawing/2014/main" id="{2F32371C-C033-DEB0-0C44-4EBE69F8F82C}"/>
              </a:ext>
            </a:extLst>
          </p:cNvPr>
          <p:cNvSpPr/>
          <p:nvPr/>
        </p:nvSpPr>
        <p:spPr>
          <a:xfrm>
            <a:off x="601917" y="4099099"/>
            <a:ext cx="436894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비용</a:t>
            </a:r>
            <a:endParaRPr lang="en-US" sz="700" dirty="0"/>
          </a:p>
        </p:txBody>
      </p:sp>
      <p:sp>
        <p:nvSpPr>
          <p:cNvPr id="89" name="Text 57">
            <a:extLst>
              <a:ext uri="{FF2B5EF4-FFF2-40B4-BE49-F238E27FC236}">
                <a16:creationId xmlns:a16="http://schemas.microsoft.com/office/drawing/2014/main" id="{94E01CFA-B714-6913-6627-463B590894E8}"/>
              </a:ext>
            </a:extLst>
          </p:cNvPr>
          <p:cNvSpPr/>
          <p:nvPr/>
        </p:nvSpPr>
        <p:spPr>
          <a:xfrm>
            <a:off x="4130632" y="4099099"/>
            <a:ext cx="2547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~$388</a:t>
            </a:r>
            <a:endParaRPr lang="en-US" sz="700" dirty="0"/>
          </a:p>
        </p:txBody>
      </p:sp>
      <p:sp>
        <p:nvSpPr>
          <p:cNvPr id="90" name="Text 58">
            <a:extLst>
              <a:ext uri="{FF2B5EF4-FFF2-40B4-BE49-F238E27FC236}">
                <a16:creationId xmlns:a16="http://schemas.microsoft.com/office/drawing/2014/main" id="{FD847DFB-5605-8D4A-7C7B-8645970E5448}"/>
              </a:ext>
            </a:extLst>
          </p:cNvPr>
          <p:cNvSpPr/>
          <p:nvPr/>
        </p:nvSpPr>
        <p:spPr>
          <a:xfrm>
            <a:off x="601917" y="4241974"/>
            <a:ext cx="436894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수</a:t>
            </a:r>
            <a:endParaRPr lang="en-US" sz="700" dirty="0"/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BC3B73D5-BEB3-6992-0385-3F80DF51C720}"/>
              </a:ext>
            </a:extLst>
          </p:cNvPr>
          <p:cNvSpPr/>
          <p:nvPr/>
        </p:nvSpPr>
        <p:spPr>
          <a:xfrm>
            <a:off x="3910962" y="4241974"/>
            <a:ext cx="478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sessions</a:t>
            </a:r>
            <a:endParaRPr lang="en-US" sz="700" dirty="0"/>
          </a:p>
        </p:txBody>
      </p:sp>
      <p:sp>
        <p:nvSpPr>
          <p:cNvPr id="92" name="Text 60">
            <a:extLst>
              <a:ext uri="{FF2B5EF4-FFF2-40B4-BE49-F238E27FC236}">
                <a16:creationId xmlns:a16="http://schemas.microsoft.com/office/drawing/2014/main" id="{070326E3-B408-84DD-91C4-D1CD6DA6D4DA}"/>
              </a:ext>
            </a:extLst>
          </p:cNvPr>
          <p:cNvSpPr/>
          <p:nvPr/>
        </p:nvSpPr>
        <p:spPr>
          <a:xfrm>
            <a:off x="601916" y="4384849"/>
            <a:ext cx="701213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93" name="Text 61">
            <a:extLst>
              <a:ext uri="{FF2B5EF4-FFF2-40B4-BE49-F238E27FC236}">
                <a16:creationId xmlns:a16="http://schemas.microsoft.com/office/drawing/2014/main" id="{EA65366C-4F36-4267-8D0E-2B13FA15A2C9}"/>
              </a:ext>
            </a:extLst>
          </p:cNvPr>
          <p:cNvSpPr/>
          <p:nvPr/>
        </p:nvSpPr>
        <p:spPr>
          <a:xfrm>
            <a:off x="3861551" y="4384849"/>
            <a:ext cx="5291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 rounds</a:t>
            </a:r>
            <a:endParaRPr lang="en-US" sz="700" dirty="0"/>
          </a:p>
        </p:txBody>
      </p:sp>
      <p:sp>
        <p:nvSpPr>
          <p:cNvPr id="94" name="Text 62">
            <a:extLst>
              <a:ext uri="{FF2B5EF4-FFF2-40B4-BE49-F238E27FC236}">
                <a16:creationId xmlns:a16="http://schemas.microsoft.com/office/drawing/2014/main" id="{8A98902A-191C-5E7A-8471-60E9719F954C}"/>
              </a:ext>
            </a:extLst>
          </p:cNvPr>
          <p:cNvSpPr/>
          <p:nvPr/>
        </p:nvSpPr>
        <p:spPr>
          <a:xfrm>
            <a:off x="601916" y="4527724"/>
            <a:ext cx="1200379" cy="95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단가</a:t>
            </a:r>
            <a:endParaRPr lang="en-US" sz="700" dirty="0"/>
          </a:p>
        </p:txBody>
      </p:sp>
      <p:sp>
        <p:nvSpPr>
          <p:cNvPr id="95" name="Text 63">
            <a:extLst>
              <a:ext uri="{FF2B5EF4-FFF2-40B4-BE49-F238E27FC236}">
                <a16:creationId xmlns:a16="http://schemas.microsoft.com/office/drawing/2014/main" id="{97B4E1BA-481D-28BC-1929-7EE8F86AFE8C}"/>
              </a:ext>
            </a:extLst>
          </p:cNvPr>
          <p:cNvSpPr/>
          <p:nvPr/>
        </p:nvSpPr>
        <p:spPr>
          <a:xfrm>
            <a:off x="3853961" y="4527724"/>
            <a:ext cx="5369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~$0.34/round</a:t>
            </a:r>
            <a:endParaRPr lang="en-US" sz="700" dirty="0"/>
          </a:p>
        </p:txBody>
      </p:sp>
      <p:sp>
        <p:nvSpPr>
          <p:cNvPr id="96" name="Text 64">
            <a:extLst>
              <a:ext uri="{FF2B5EF4-FFF2-40B4-BE49-F238E27FC236}">
                <a16:creationId xmlns:a16="http://schemas.microsoft.com/office/drawing/2014/main" id="{246CFF89-B001-83C1-9CEB-BC4F9BCFFE54}"/>
              </a:ext>
            </a:extLst>
          </p:cNvPr>
          <p:cNvSpPr/>
          <p:nvPr/>
        </p:nvSpPr>
        <p:spPr>
          <a:xfrm>
            <a:off x="4572000" y="4392514"/>
            <a:ext cx="4051399" cy="400943"/>
          </a:xfrm>
          <a:prstGeom prst="roundRect">
            <a:avLst>
              <a:gd name="adj" fmla="val 126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Shape 65">
            <a:extLst>
              <a:ext uri="{FF2B5EF4-FFF2-40B4-BE49-F238E27FC236}">
                <a16:creationId xmlns:a16="http://schemas.microsoft.com/office/drawing/2014/main" id="{4E6FE3C1-3193-C4E3-46A8-42F20AE985A5}"/>
              </a:ext>
            </a:extLst>
          </p:cNvPr>
          <p:cNvSpPr/>
          <p:nvPr/>
        </p:nvSpPr>
        <p:spPr>
          <a:xfrm>
            <a:off x="4595812" y="4392514"/>
            <a:ext cx="0" cy="400943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66">
            <a:extLst>
              <a:ext uri="{FF2B5EF4-FFF2-40B4-BE49-F238E27FC236}">
                <a16:creationId xmlns:a16="http://schemas.microsoft.com/office/drawing/2014/main" id="{D5294979-8E4F-96C4-7FCE-60A610518128}"/>
              </a:ext>
            </a:extLst>
          </p:cNvPr>
          <p:cNvSpPr/>
          <p:nvPr/>
        </p:nvSpPr>
        <p:spPr>
          <a:xfrm>
            <a:off x="4746575" y="4455170"/>
            <a:ext cx="382487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v0.38 cost_budget_s로 80% 도달 시 proactive 경고. 예산 초과 전에 모델을 저비용으로 자동 전환합니다 (llm_max_fallback_cost_ratio).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편향을 병렬 전문가 4명 + 교차 검증 + PSM으로 극복합니다.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ipeline-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4926"/>
            <a:ext cx="5715000" cy="26542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577977"/>
            <a:ext cx="5715000" cy="748754"/>
          </a:xfrm>
          <a:prstGeom prst="roundRect">
            <a:avLst>
              <a:gd name="adj" fmla="val 678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19125" y="3689003"/>
            <a:ext cx="3190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 (adapter.py:91-98)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19125" y="3835003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968204"/>
            <a:ext cx="319063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9125" y="4139505"/>
            <a:ext cx="31906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3924895" y="3689003"/>
            <a:ext cx="21270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924895" y="3844528"/>
            <a:ext cx="2127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 80 · A ≥ 60 · B ≥ 40 · C &lt; 40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24895" y="3990529"/>
            <a:ext cx="212708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축 코드 결정 트리 (LLM 아님)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457200" y="4415582"/>
            <a:ext cx="5715000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19125" y="4526607"/>
            <a:ext cx="54989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 — Clean Context: 앵커링 편향 차단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9125" y="4682133"/>
            <a:ext cx="549897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"Analyst A의 S급 평가가 Analyst B를 편향시킵니다." 각 분석가에게 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전달 — 다른 분석가 점수 완전 차단. 7개 병렬 LLM 호출에서 독립 평가 보장.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299150" y="834926"/>
            <a:ext cx="243540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 — Golden Set 검증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99150" y="1034951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32578" y="1145977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432578" y="1400026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867376" y="1182439"/>
            <a:ext cx="1312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867376" y="1296739"/>
            <a:ext cx="13128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867376" y="1391989"/>
            <a:ext cx="131280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 → marketing_boost</a:t>
            </a:r>
            <a:endParaRPr lang="en-US" sz="500" dirty="0"/>
          </a:p>
        </p:txBody>
      </p:sp>
      <p:sp>
        <p:nvSpPr>
          <p:cNvPr id="25" name="Text 22"/>
          <p:cNvSpPr/>
          <p:nvPr/>
        </p:nvSpPr>
        <p:spPr>
          <a:xfrm>
            <a:off x="6299150" y="1682502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32578" y="1793528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32578" y="2047577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867376" y="1829991"/>
            <a:ext cx="13666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867376" y="1944291"/>
            <a:ext cx="13666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67376" y="2039541"/>
            <a:ext cx="1366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 → community_activation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6299150" y="2330053"/>
            <a:ext cx="23876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432578" y="2441079"/>
            <a:ext cx="31089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32578" y="2695129"/>
            <a:ext cx="3108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67376" y="2477542"/>
            <a:ext cx="1359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the Shell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867376" y="2591842"/>
            <a:ext cx="1359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867376" y="2687092"/>
            <a:ext cx="135956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 → platform_expansion</a:t>
            </a:r>
            <a:endParaRPr lang="en-US" sz="500" dirty="0"/>
          </a:p>
        </p:txBody>
      </p:sp>
      <p:sp>
        <p:nvSpPr>
          <p:cNvPr id="37" name="Text 34"/>
          <p:cNvSpPr/>
          <p:nvPr/>
        </p:nvSpPr>
        <p:spPr>
          <a:xfrm>
            <a:off x="6299150" y="2977604"/>
            <a:ext cx="2387650" cy="1921520"/>
          </a:xfrm>
          <a:prstGeom prst="roundRect">
            <a:avLst>
              <a:gd name="adj" fmla="val 264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435626" y="3088630"/>
            <a:ext cx="21569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(N4)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435626" y="3275856"/>
            <a:ext cx="2114699" cy="552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35626" y="3275856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— 스키마·범위·근거·일관성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6435626" y="3431381"/>
            <a:ext cx="215699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 — 6종 편향 탐지 (arXiv:2403.00811)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435626" y="3586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 — Claude×GPT α≥0.67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435626" y="3732907"/>
            <a:ext cx="21569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457200" y="4975324"/>
            <a:ext cx="32399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loopback ≥0.7 · max 5 iterations</a:t>
            </a:r>
            <a:endParaRPr lang="en-US" sz="500" dirty="0"/>
          </a:p>
        </p:txBody>
      </p:sp>
      <p:sp>
        <p:nvSpPr>
          <p:cNvPr id="45" name="Text 42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29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097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이식성: GEODE → REODE 실증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 0줄로 피봇. DomainPort Protocol이 도메인을 코어에서 분리합니다.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834926"/>
            <a:ext cx="2848421" cy="1336179"/>
          </a:xfrm>
          <a:prstGeom prst="roundRect">
            <a:avLst>
              <a:gd name="adj" fmla="val 380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53976"/>
            <a:ext cx="2848421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09600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9600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09600" y="1377702"/>
            <a:ext cx="2543621" cy="66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모듈 · 3,344 테스트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09600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 + 44 MCP · 25 Skills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9600" y="1742629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릴리스 무회귀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9600" y="1929854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272605"/>
            <a:ext cx="2848421" cy="2616994"/>
          </a:xfrm>
          <a:prstGeom prst="roundRect">
            <a:avLst>
              <a:gd name="adj" fmla="val 194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9125" y="2409081"/>
            <a:ext cx="25750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(15 메서드, 6 카테고리)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19125" y="2590056"/>
            <a:ext cx="2524571" cy="24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125" y="2590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(3) · Analyst Config (2) · Evaluator Config (3)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9125" y="2736056"/>
            <a:ext cx="25750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(4) · Classification (5) · Fixtures (2)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9125" y="2932807"/>
            <a:ext cx="2524571" cy="387251"/>
          </a:xfrm>
          <a:prstGeom prst="roundRect">
            <a:avLst>
              <a:gd name="adj" fmla="val 13118"/>
            </a:avLst>
          </a:prstGeom>
          <a:solidFill>
            <a:srgbClr val="060B1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6075" y="3021657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6075" y="3126432"/>
            <a:ext cx="231608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19125" y="3396258"/>
            <a:ext cx="2575063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@runtime_checkable Protocol — 상속 없이 15개 메서드 구현하면 즉시 호환. Pipeline 노드는 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get_domain_or_none()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조회 후 fallback.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32572" y="1438573"/>
            <a:ext cx="2278856" cy="1504504"/>
          </a:xfrm>
          <a:prstGeom prst="roundRect">
            <a:avLst>
              <a:gd name="adj" fmla="val 5065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84662" y="1610023"/>
            <a:ext cx="19746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84662" y="1825823"/>
            <a:ext cx="197467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04022" y="2060525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4152" y="2136725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714152" y="2231975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500" dirty="0"/>
          </a:p>
        </p:txBody>
      </p:sp>
      <p:sp>
        <p:nvSpPr>
          <p:cNvPr id="30" name="Text 28"/>
          <p:cNvSpPr/>
          <p:nvPr/>
        </p:nvSpPr>
        <p:spPr>
          <a:xfrm>
            <a:off x="3604022" y="2447776"/>
            <a:ext cx="1935956" cy="323850"/>
          </a:xfrm>
          <a:prstGeom prst="roundRect">
            <a:avLst>
              <a:gd name="adj" fmla="val 15686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14152" y="2523976"/>
            <a:ext cx="171569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14152" y="2619226"/>
            <a:ext cx="171569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500" dirty="0"/>
          </a:p>
        </p:txBody>
      </p:sp>
      <p:sp>
        <p:nvSpPr>
          <p:cNvPr id="33" name="Text 31"/>
          <p:cNvSpPr/>
          <p:nvPr/>
        </p:nvSpPr>
        <p:spPr>
          <a:xfrm>
            <a:off x="3432572" y="3044577"/>
            <a:ext cx="2278856" cy="758726"/>
          </a:xfrm>
          <a:prstGeom prst="roundRect">
            <a:avLst>
              <a:gd name="adj" fmla="val 6695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74947" y="3181052"/>
            <a:ext cx="199410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74947" y="3485852"/>
            <a:ext cx="1994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574947" y="3590627"/>
            <a:ext cx="1994106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· core/verification/ 무변경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4543276" y="3904804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79131" y="4076254"/>
            <a:ext cx="785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스왑으로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전환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838379" y="834926"/>
            <a:ext cx="2848421" cy="1148953"/>
          </a:xfrm>
          <a:prstGeom prst="roundRect">
            <a:avLst>
              <a:gd name="adj" fmla="val 442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838379" y="853976"/>
            <a:ext cx="2848421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90779" y="999976"/>
            <a:ext cx="25944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90779" y="1184077"/>
            <a:ext cx="259449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990779" y="1377702"/>
            <a:ext cx="2543621" cy="479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90779" y="1377702"/>
            <a:ext cx="2594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90779" y="1564928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Pipelines (Migration · Porting · Refactoring)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90779" y="1742629"/>
            <a:ext cx="25944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838379" y="2085380"/>
            <a:ext cx="2848421" cy="2804220"/>
          </a:xfrm>
          <a:prstGeom prst="roundRect">
            <a:avLst>
              <a:gd name="adj" fmla="val 1812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00304" y="2221855"/>
            <a:ext cx="25750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수치 — Java 마이그레이션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88315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5988315" y="2751981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314076" y="2447181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7314076" y="2751981"/>
            <a:ext cx="12227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88315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5988315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7314076" y="2958257"/>
            <a:ext cx="1222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1,133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314076" y="3263057"/>
            <a:ext cx="12227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라운드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000304" y="3469332"/>
            <a:ext cx="2524571" cy="434876"/>
          </a:xfrm>
          <a:prstGeom prst="roundRect">
            <a:avLst>
              <a:gd name="adj" fmla="val 11681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6114263" y="3567708"/>
            <a:ext cx="22966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14263" y="3729633"/>
            <a:ext cx="22966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457200" y="4965799"/>
            <a:ext cx="374122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15 메서드 · ContextVar DI · core/graph.py 0줄 수정 · REODE: 241 소스 103K LoC · 33 세션 1,133 라운드 · 83/83 빌드 패스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8492728" y="4965799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29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42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/ Security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Gateway: Swiss Cheese 방어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+ Secret Redaction 8패턴 + ChannelBinding 세션 격리로 자율 실행 경계를 제어합니다.</a:t>
            </a:r>
            <a:endParaRPr lang="en-US" sz="500" dirty="0"/>
          </a:p>
        </p:txBody>
      </p:sp>
      <p:pic>
        <p:nvPicPr>
          <p:cNvPr id="6" name="Image 0" descr="/Users/mango/workspace/portfolio/geode/slides/assets/v028-diagram-polic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4926"/>
            <a:ext cx="4572000" cy="20045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928342"/>
            <a:ext cx="4579739" cy="1237952"/>
          </a:xfrm>
          <a:prstGeom prst="roundRect">
            <a:avLst>
              <a:gd name="adj" fmla="val 41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993850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19125" y="3039368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— 9 차단 패턴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19125" y="3207544"/>
            <a:ext cx="1243013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125" y="32075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 · sudo · &gt;/etc/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19125" y="345519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curl|sh · wget|sh · mkfs.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19125" y="3702844"/>
            <a:ext cx="12678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if→/dev/ · chmod 777 /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19125" y="39504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 bomb :(){:|:&amp;}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500289" y="3039368"/>
            <a:ext cx="0" cy="1015901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125563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 — Resource Limits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2125563" y="3198019"/>
            <a:ext cx="12430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125563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30s 하드 캡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125563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파일 크기 50MB 상한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2125563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프로세스 64개 상한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125563" y="3626644"/>
            <a:ext cx="126787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preexec_fn setrlimit 적용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3632002" y="3039368"/>
            <a:ext cx="12678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 — HITL 4-Tier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3632002" y="3198019"/>
            <a:ext cx="12430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32002" y="319801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— 30 prefix 자동 승인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632002" y="334089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— 개별 승인 필요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632002" y="3483769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— 비용 일괄 승인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632002" y="3626644"/>
            <a:ext cx="12678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— 순차 승인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57200" y="4255145"/>
            <a:ext cx="4579739" cy="643979"/>
          </a:xfrm>
          <a:prstGeom prst="roundRect">
            <a:avLst>
              <a:gd name="adj" fmla="val 7888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19125" y="4366171"/>
            <a:ext cx="434100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— safe-first 허용 시 파이프 주입 통과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19125" y="4521696"/>
            <a:ext cx="434100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file.txt | bash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는 </a:t>
            </a: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prefix로 SAFE 분류 → 파이프 주입이 통과됩니다. Layer 1의 curl/wget 차단이 원격 코드 실행을 방어합니다.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163889" y="834926"/>
            <a:ext cx="3522911" cy="1177677"/>
          </a:xfrm>
          <a:prstGeom prst="roundRect">
            <a:avLst>
              <a:gd name="adj" fmla="val 431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187702" y="834926"/>
            <a:ext cx="0" cy="117767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5363914" y="961876"/>
            <a:ext cx="32338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 — 8 패턴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63914" y="1161901"/>
            <a:ext cx="3170486" cy="57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363914" y="1161901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sk-ant-...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API key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363914" y="131742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sk-proj-... / sk-...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363914" y="1472952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ghp_... / gho_...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PAT/OAuth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363914" y="1628477"/>
            <a:ext cx="323389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xoxb-... / xoxp-... </a:t>
            </a: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Slack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363914" y="1809452"/>
            <a:ext cx="32338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BashTool.to_tool_result() 경계에서 적용 — LLM 컨텍스트 진입 전 차단</a:t>
            </a:r>
            <a:endParaRPr lang="en-US" sz="500" dirty="0"/>
          </a:p>
        </p:txBody>
      </p:sp>
      <p:sp>
        <p:nvSpPr>
          <p:cNvPr id="40" name="Text 37"/>
          <p:cNvSpPr/>
          <p:nvPr/>
        </p:nvSpPr>
        <p:spPr>
          <a:xfrm>
            <a:off x="5163889" y="2101453"/>
            <a:ext cx="3522911" cy="1726109"/>
          </a:xfrm>
          <a:prstGeom prst="roundRect">
            <a:avLst>
              <a:gd name="adj" fmla="val 29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325814" y="2237929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— 채널 세션 격리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25814" y="2450604"/>
            <a:ext cx="3199061" cy="1240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325814" y="2450604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325814" y="2603004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· Discord · Telegram 3채널, 정적 바인딩 규칙으로 결정론적 라우팅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5325814" y="2803475"/>
            <a:ext cx="3263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격리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5325814" y="2965400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gateway:{channel}:{id}[:{sender}][:{thread}]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325814" y="3089672"/>
            <a:ext cx="3263042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스레드별 독립 컨텍스트 — 동시 대화 격리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325814" y="3290143"/>
            <a:ext cx="32630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325814" y="3442543"/>
            <a:ext cx="326304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hitl_level=0 완전 자율 · quiet=True · echo 2중 방어 (bot_message subtype + _last_ts)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5163889" y="3916412"/>
            <a:ext cx="3522911" cy="643979"/>
          </a:xfrm>
          <a:prstGeom prst="roundRect">
            <a:avLst>
              <a:gd name="adj" fmla="val 788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5325814" y="4027438"/>
            <a:ext cx="32630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설계 원칙 — AND-logic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5325814" y="4182963"/>
            <a:ext cx="326304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도구는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정책을 통과해야 실행됩니다. Org 정책(priority=5)이 최우선. 6개 레이어 중 하나라도 거부하면 차단. Swiss Cheese: 단일 실패를 다음 레이어가 차단합니다.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5163889" y="4649242"/>
            <a:ext cx="3522911" cy="634454"/>
          </a:xfrm>
          <a:prstGeom prst="roundRect">
            <a:avLst>
              <a:gd name="adj" fmla="val 8007"/>
            </a:avLst>
          </a:prstGeom>
          <a:solidFill>
            <a:srgbClr val="1A0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1"/>
          <p:cNvSpPr/>
          <p:nvPr/>
        </p:nvSpPr>
        <p:spPr>
          <a:xfrm>
            <a:off x="5163889" y="465400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8682038" y="4649242"/>
            <a:ext cx="0" cy="634454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5163889" y="5278934"/>
            <a:ext cx="3522911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5187702" y="4649242"/>
            <a:ext cx="0" cy="63445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5363914" y="4760268"/>
            <a:ext cx="322418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5363914" y="4906268"/>
            <a:ext cx="322418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GEODE는 두 가지 신뢰 모델을 병행합니다. 자율 에이전트는 실행 전 입력을 차단(</a:t>
            </a: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)하고, 분석 파이프라인은 실행 후 출력을 검증(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)합니다.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457200" y="4975324"/>
            <a:ext cx="4166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blocked patterns · CPU/FSIZE/NPROC limits · 8 secret patterns · 6-layer PolicyChain AND-logic · ChannelBinding 3 pollers · geode serve hitl=0</a:t>
            </a:r>
            <a:endParaRPr lang="en-US" sz="500" dirty="0"/>
          </a:p>
        </p:txBody>
      </p:sp>
      <p:sp>
        <p:nvSpPr>
          <p:cNvPr id="61" name="Text 58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29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919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 필요해?" Kent Beck Simple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강력한 리팩토링 질문. 복잡함을 제거하자 모듈은 줄고, 테스트는 늘고, 결함은 사라졌습니다.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507802"/>
          </a:xfrm>
          <a:prstGeom prst="roundRect">
            <a:avLst>
              <a:gd name="adj" fmla="val 1000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863501"/>
            <a:ext cx="0" cy="507802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965002"/>
            <a:ext cx="505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Beck의 Simple Design 4 Rules를 GEODE에 적용했습니다. "프론티어에서 가져왔으니까"는 코드를 유지하는 근거가 아닙니다.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없는 코드는 삭제합니다.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422053"/>
            <a:ext cx="5308699" cy="1468635"/>
          </a:xfrm>
          <a:prstGeom prst="roundRect">
            <a:avLst>
              <a:gd name="adj" fmla="val 14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533079"/>
            <a:ext cx="51364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Simplification Journey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3675" y="1710779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5812" y="1736080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228576" y="1726556"/>
            <a:ext cx="27619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orphan hook event 제거. 46→40. 실제 발화 0인 이벤트 정리.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897856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5812" y="1923157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228576" y="1913632"/>
            <a:ext cx="22210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경로 통합. GeodeRuntime.create() 243→70줄.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3675" y="2084933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5812" y="2110234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228576" y="2100709"/>
            <a:ext cx="2855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삭제(148줄). callback=no-op, dedup=0%. Dead code.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93675" y="2272010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5812" y="2297311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228576" y="2287787"/>
            <a:ext cx="28557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REPL 제거(~487줄). Thin-only IPC로 통합.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3675" y="2459087"/>
            <a:ext cx="55870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812" y="2484388"/>
            <a:ext cx="4144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v0.37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28576" y="2474863"/>
            <a:ext cx="31230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hardcoded lanes → SessionLane 2 components. 3중 게이트 단순화.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892850" y="863501"/>
            <a:ext cx="2793950" cy="1485305"/>
          </a:xfrm>
          <a:prstGeom prst="roundRect">
            <a:avLst>
              <a:gd name="adj" fmla="val 342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54775" y="999976"/>
            <a:ext cx="25195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4775" y="1209526"/>
            <a:ext cx="3108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53710" y="1209526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54775" y="1387227"/>
            <a:ext cx="3915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27789" y="1387227"/>
            <a:ext cx="5070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54775" y="1564928"/>
            <a:ext cx="2418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58423" y="1564928"/>
            <a:ext cx="6797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3,344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54775" y="1742629"/>
            <a:ext cx="8693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gates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53710" y="1742629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54775" y="1920329"/>
            <a:ext cx="725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paths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253710" y="1920329"/>
            <a:ext cx="2765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54775" y="2098030"/>
            <a:ext cx="7714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 resolved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78341" y="2098030"/>
            <a:ext cx="8634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(C1-C4, H1-H8)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92850" y="2425005"/>
            <a:ext cx="2793950" cy="1274798"/>
          </a:xfrm>
          <a:prstGeom prst="roundRect">
            <a:avLst>
              <a:gd name="adj" fmla="val 20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916662" y="2425005"/>
            <a:ext cx="0" cy="1274798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092875" y="2551956"/>
            <a:ext cx="24903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Kent Beck 4 Rules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92875" y="2736056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테스트를 통과합니다.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092875" y="2920008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의도를 드러냅니다.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92875" y="3103959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중복이 없습니다.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092875" y="3287911"/>
            <a:ext cx="249035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요소를 최소화합니다.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092875" y="3497312"/>
            <a:ext cx="24903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단순화는 엔지니어링 성숙의 가장 높은 형태입니다.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91100"/>
            <a:ext cx="23189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v0.35→v0.38: 835+ lines 삭제, 11 defects 해소. 모듈 -10, 테스트 +33. 0 regressions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29</a:t>
            </a:r>
            <a:endParaRPr lang="en-US" sz="500" dirty="0"/>
          </a:p>
        </p:txBody>
      </p:sp>
      <p:sp>
        <p:nvSpPr>
          <p:cNvPr id="50" name="Text 54">
            <a:extLst>
              <a:ext uri="{FF2B5EF4-FFF2-40B4-BE49-F238E27FC236}">
                <a16:creationId xmlns:a16="http://schemas.microsoft.com/office/drawing/2014/main" id="{BB8C0B37-0FE3-0C72-9EB9-4995C85B9F2E}"/>
              </a:ext>
            </a:extLst>
          </p:cNvPr>
          <p:cNvSpPr/>
          <p:nvPr/>
        </p:nvSpPr>
        <p:spPr>
          <a:xfrm>
            <a:off x="457200" y="3025824"/>
            <a:ext cx="5332081" cy="419993"/>
          </a:xfrm>
          <a:prstGeom prst="roundRect">
            <a:avLst>
              <a:gd name="adj" fmla="val 1209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58328A74-5FB2-D035-E609-6874EB8C4335}"/>
              </a:ext>
            </a:extLst>
          </p:cNvPr>
          <p:cNvSpPr/>
          <p:nvPr/>
        </p:nvSpPr>
        <p:spPr>
          <a:xfrm>
            <a:off x="593675" y="3111549"/>
            <a:ext cx="5072305" cy="248543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원칙: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"harm이 없으니 남겨두자"는 유지 근거가 아닙니다. 코드는 존재하는 것만으로 인지 부하, 의존성, 테스트 유지 비용을 발생시킵니다.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1919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3-Phase Evolution + Sync Loop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통합(v0.36) → 경화(v0.36) → IPC(v0.37). 그리고 왜 프론티어 에이전트는 동기 루프를 선택하는가.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63501"/>
            <a:ext cx="5308699" cy="772120"/>
          </a:xfrm>
          <a:prstGeom prst="roundRect">
            <a:avLst>
              <a:gd name="adj" fmla="val 657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82551"/>
            <a:ext cx="53086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761137" y="863501"/>
            <a:ext cx="0" cy="77212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30859"/>
            <a:ext cx="53086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963" y="863501"/>
            <a:ext cx="0" cy="77212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3675" y="990451"/>
            <a:ext cx="868412" cy="136327"/>
          </a:xfrm>
          <a:prstGeom prst="roundRect">
            <a:avLst>
              <a:gd name="adj" fmla="val 27948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9875" y="1015752"/>
            <a:ext cx="730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v0.36 #530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538288" y="1006227"/>
            <a:ext cx="61010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통합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3675" y="1164878"/>
            <a:ext cx="513646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serve가 bootstrap_geode() + GeodeRuntime.create()를 이중 호출. HookSystem 2~3개 생성. build_shared_services(hook_system=boot.hook_system)으로 통합.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3675" y="1451521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C1, C2, H1, H4, H5 해소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1699022"/>
            <a:ext cx="5308699" cy="647849"/>
          </a:xfrm>
          <a:prstGeom prst="roundRect">
            <a:avLst>
              <a:gd name="adj" fmla="val 78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718072"/>
            <a:ext cx="5308699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761137" y="1699022"/>
            <a:ext cx="0" cy="64784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342108"/>
            <a:ext cx="530869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1963" y="1699022"/>
            <a:ext cx="0" cy="647849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3675" y="1825972"/>
            <a:ext cx="868412" cy="136327"/>
          </a:xfrm>
          <a:prstGeom prst="roundRect">
            <a:avLst>
              <a:gd name="adj" fmla="val 27948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9875" y="1851273"/>
            <a:ext cx="7303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v0.36 #531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1538288" y="1841748"/>
            <a:ext cx="6202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경화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3675" y="2000399"/>
            <a:ext cx="51364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jobs.json 경합 → fcntl.flock. 비동기 핸드오프 → Lane.try_acquire()/manual_release(). DANGEROUS 도구 차단.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3675" y="216277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C3, H2, M2 해소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57200" y="2410271"/>
            <a:ext cx="5308699" cy="647849"/>
          </a:xfrm>
          <a:prstGeom prst="roundRect">
            <a:avLst>
              <a:gd name="adj" fmla="val 784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2429321"/>
            <a:ext cx="5308699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761137" y="2410271"/>
            <a:ext cx="0" cy="64784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3053358"/>
            <a:ext cx="53086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1963" y="2410271"/>
            <a:ext cx="0" cy="647849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93675" y="2537222"/>
            <a:ext cx="1020961" cy="136327"/>
          </a:xfrm>
          <a:prstGeom prst="roundRect">
            <a:avLst>
              <a:gd name="adj" fmla="val 27948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9875" y="2562523"/>
            <a:ext cx="8859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v0.37 #531-539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690836" y="2557760"/>
            <a:ext cx="6799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CLIChannel IPC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93675" y="2711648"/>
            <a:ext cx="5136463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REPL을 SharedServices 채널로 편입. Unix socket + thin client. serve 자동 기동. REPL Stuck 원천 해소.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93675" y="2874020"/>
            <a:ext cx="51364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11개 구조적 결함 전수 해소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892850" y="863501"/>
            <a:ext cx="2793950" cy="1031081"/>
          </a:xfrm>
          <a:prstGeom prst="roundRect">
            <a:avLst>
              <a:gd name="adj" fmla="val 4927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29325" y="974527"/>
            <a:ext cx="25714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동기 루프인가?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29325" y="1161752"/>
            <a:ext cx="257142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Devin, autoresearch 모두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루프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사용합니다. 각 tool_call의 결과가 다음 LLM 호출의 입력이 됩니다. 인과적 의존 체인이므로 구조적으로 병렬화가 불가능합니다.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29325" y="1612106"/>
            <a:ext cx="25714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async ≠ Architecture async. OpenAI의 성능은 prompt caching이지 병렬화가 아닙니다.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92850" y="1970782"/>
            <a:ext cx="2793950" cy="915442"/>
          </a:xfrm>
          <a:prstGeom prst="roundRect">
            <a:avLst>
              <a:gd name="adj" fmla="val 55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29325" y="2081808"/>
            <a:ext cx="257142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 Gateway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29325" y="2246858"/>
            <a:ext cx="257142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팩토리. create_session(mode)가 (ToolExecutor, AgenticLoop) 쌍을 반환합니다. 모든 채널이 동일한 singleton을 공유합니다.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029325" y="2670423"/>
            <a:ext cx="25714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7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GeodeRuntime.create() = 70줄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92850" y="2962425"/>
            <a:ext cx="2793950" cy="891034"/>
          </a:xfrm>
          <a:prstGeom prst="roundRect">
            <a:avLst>
              <a:gd name="adj" fmla="val 258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5916661" y="2962424"/>
            <a:ext cx="13501" cy="891035"/>
          </a:xfrm>
          <a:prstGeom prst="line">
            <a:avLst/>
          </a:prstGeom>
          <a:noFill/>
          <a:ln w="476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092875" y="3063925"/>
            <a:ext cx="24903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092875" y="3238500"/>
            <a:ext cx="24903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PRs (#528-531) + 6 PRs (#533-539)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92875" y="3371850"/>
            <a:ext cx="24903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structural defects → 0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092875" y="3505200"/>
            <a:ext cx="24903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2 → 1 경로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092875" y="3648075"/>
            <a:ext cx="249035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HookSystem 2~3 → 1 인스턴스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7200" y="4991100"/>
            <a:ext cx="273521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v0.36-v0.38: 3-Phase Gateway Runtime. 동기 루프 = 인과적 의존 체인. SharedServices 단일 팩토리</a:t>
            </a:r>
            <a:endParaRPr lang="en-US" sz="500" dirty="0"/>
          </a:p>
        </p:txBody>
      </p:sp>
      <p:sp>
        <p:nvSpPr>
          <p:cNvPr id="52" name="Text 5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29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139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5-Layer: Swiss Cheese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평가의 69.4% 정확도를 99.8%로. 각 레이어는 다른 레이어가 놓치는 실패 모드를 잡습니다.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850702"/>
            <a:ext cx="1664643" cy="771376"/>
          </a:xfrm>
          <a:prstGeom prst="roundRect">
            <a:avLst>
              <a:gd name="adj" fmla="val 6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869752"/>
            <a:ext cx="1664643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117080" y="850702"/>
            <a:ext cx="0" cy="77137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617315"/>
            <a:ext cx="1664643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963" y="850702"/>
            <a:ext cx="0" cy="771376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8226" y="965002"/>
            <a:ext cx="14714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8226" y="1117402"/>
            <a:ext cx="1471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구조가 맞는가?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568226" y="1228427"/>
            <a:ext cx="1471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스키마 + axis 커버리지 + tier 매핑.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68226" y="1364903"/>
            <a:ext cx="1442591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426" y="1403003"/>
            <a:ext cx="131599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 gate ~$0.01/call</a:t>
            </a:r>
            <a:endParaRPr lang="en-US" sz="500" dirty="0"/>
          </a:p>
        </p:txBody>
      </p:sp>
      <p:sp>
        <p:nvSpPr>
          <p:cNvPr id="16" name="Text 14"/>
          <p:cNvSpPr/>
          <p:nvPr/>
        </p:nvSpPr>
        <p:spPr>
          <a:xfrm>
            <a:off x="2185243" y="11648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5743" y="850702"/>
            <a:ext cx="1953220" cy="771376"/>
          </a:xfrm>
          <a:prstGeom prst="roundRect">
            <a:avLst>
              <a:gd name="adj" fmla="val 6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375743" y="869752"/>
            <a:ext cx="195322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324201" y="850702"/>
            <a:ext cx="0" cy="771376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375743" y="1617315"/>
            <a:ext cx="195322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380506" y="850702"/>
            <a:ext cx="0" cy="771376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486769" y="965002"/>
            <a:ext cx="17657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Confidence Gate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486769" y="1117402"/>
            <a:ext cx="17657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확신할 수 있는가?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86769" y="1228427"/>
            <a:ext cx="17657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≥0.7 통과. 미달 시 cortex 루프백.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486769" y="1364903"/>
            <a:ext cx="1731169" cy="171450"/>
          </a:xfrm>
          <a:prstGeom prst="roundRect">
            <a:avLst>
              <a:gd name="adj" fmla="val 22222"/>
            </a:avLst>
          </a:prstGeom>
          <a:solidFill>
            <a:srgbClr val="4ECDC4">
              <a:alpha val="6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72494" y="1412528"/>
            <a:ext cx="159091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max 5 iterations (자가 치유)</a:t>
            </a:r>
            <a:endParaRPr lang="en-US" sz="500" dirty="0"/>
          </a:p>
        </p:txBody>
      </p:sp>
      <p:sp>
        <p:nvSpPr>
          <p:cNvPr id="27" name="Text 25"/>
          <p:cNvSpPr/>
          <p:nvPr/>
        </p:nvSpPr>
        <p:spPr>
          <a:xfrm>
            <a:off x="4392364" y="1164878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82864" y="850702"/>
            <a:ext cx="2097435" cy="771376"/>
          </a:xfrm>
          <a:prstGeom prst="roundRect">
            <a:avLst>
              <a:gd name="adj" fmla="val 658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82864" y="869752"/>
            <a:ext cx="2097435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675537" y="850702"/>
            <a:ext cx="0" cy="771376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582864" y="1617315"/>
            <a:ext cx="2097435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87627" y="850702"/>
            <a:ext cx="0" cy="771376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693890" y="965002"/>
            <a:ext cx="1912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BiasBuster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93890" y="1117402"/>
            <a:ext cx="19128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편향은 없는가?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4693890" y="1241227"/>
            <a:ext cx="478631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4641" y="1253877"/>
            <a:ext cx="38467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5210621" y="1241227"/>
            <a:ext cx="369540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61372" y="1253877"/>
            <a:ext cx="2734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5618262" y="1241227"/>
            <a:ext cx="301377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669012" y="1253877"/>
            <a:ext cx="20387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5957739" y="1241227"/>
            <a:ext cx="423565" cy="91976"/>
          </a:xfrm>
          <a:prstGeom prst="roundRect">
            <a:avLst>
              <a:gd name="adj" fmla="val 27616"/>
            </a:avLst>
          </a:prstGeom>
          <a:solidFill>
            <a:srgbClr val="F5C542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008489" y="1253877"/>
            <a:ext cx="32850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4693890" y="1371302"/>
            <a:ext cx="191289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확증, 최신, 앵커링, 위치, 장황, 자기강화 6종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457200" y="1685479"/>
            <a:ext cx="2984599" cy="765125"/>
          </a:xfrm>
          <a:prstGeom prst="roundRect">
            <a:avLst>
              <a:gd name="adj" fmla="val 663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457200" y="1704529"/>
            <a:ext cx="29845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437037" y="1685479"/>
            <a:ext cx="0" cy="76512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457200" y="2445841"/>
            <a:ext cx="29845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61963" y="1685479"/>
            <a:ext cx="0" cy="76512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68226" y="1799779"/>
            <a:ext cx="281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Cross-LLM Consensus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8226" y="1952179"/>
            <a:ext cx="2817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모델도 동의하는가?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568226" y="2088654"/>
            <a:ext cx="439489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3951" y="2136279"/>
            <a:ext cx="27340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1058466" y="2126754"/>
            <a:ext cx="388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1147316" y="2088654"/>
            <a:ext cx="386655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233041" y="2136279"/>
            <a:ext cx="21951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1584722" y="2126754"/>
            <a:ext cx="3886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1673572" y="2088654"/>
            <a:ext cx="390079" cy="161925"/>
          </a:xfrm>
          <a:prstGeom prst="roundRect">
            <a:avLst>
              <a:gd name="adj" fmla="val 23529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759297" y="2136279"/>
            <a:ext cx="223001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500" dirty="0"/>
          </a:p>
        </p:txBody>
      </p:sp>
      <p:sp>
        <p:nvSpPr>
          <p:cNvPr id="59" name="Text 57"/>
          <p:cNvSpPr/>
          <p:nvPr/>
        </p:nvSpPr>
        <p:spPr>
          <a:xfrm>
            <a:off x="568226" y="2288679"/>
            <a:ext cx="281779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Krippendorff α ≥ 0.67. 합의 실패 시 Anthropic 우선.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3505200" y="1996529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695700" y="1685479"/>
            <a:ext cx="2984599" cy="765125"/>
          </a:xfrm>
          <a:prstGeom prst="roundRect">
            <a:avLst>
              <a:gd name="adj" fmla="val 6639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3695700" y="1704529"/>
            <a:ext cx="298459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6675537" y="1685479"/>
            <a:ext cx="0" cy="765125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3695700" y="2445841"/>
            <a:ext cx="29845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3700463" y="1685479"/>
            <a:ext cx="0" cy="765125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3806726" y="1799779"/>
            <a:ext cx="2817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Calibration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806726" y="1952179"/>
            <a:ext cx="2817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정답과 맞는가?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3806726" y="2076004"/>
            <a:ext cx="28177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Set(전문가 라벨) 대비 비교. per-axis ±0.5 (1-5 스케일).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3806726" y="2212479"/>
            <a:ext cx="2762548" cy="152400"/>
          </a:xfrm>
          <a:prstGeom prst="roundRect">
            <a:avLst>
              <a:gd name="adj" fmla="val 2500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882926" y="2250579"/>
            <a:ext cx="266235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통과 기준 80% (가장 엄격)</a:t>
            </a:r>
            <a:endParaRPr lang="en-US" sz="500" dirty="0"/>
          </a:p>
        </p:txBody>
      </p:sp>
      <p:sp>
        <p:nvSpPr>
          <p:cNvPr id="71" name="Text 69"/>
          <p:cNvSpPr/>
          <p:nvPr/>
        </p:nvSpPr>
        <p:spPr>
          <a:xfrm>
            <a:off x="457200" y="2514005"/>
            <a:ext cx="6223099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Shape 70"/>
          <p:cNvSpPr/>
          <p:nvPr/>
        </p:nvSpPr>
        <p:spPr>
          <a:xfrm>
            <a:off x="481012" y="2514005"/>
            <a:ext cx="0" cy="444103"/>
          </a:xfrm>
          <a:prstGeom prst="line">
            <a:avLst/>
          </a:prstGeom>
          <a:noFill/>
          <a:ln w="476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657225" y="2602855"/>
            <a:ext cx="59880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L1은 형식 오류를 잡지만 편향은 못 봅니다. L3은 편향을 잡지만 모델 간 불일치는 못 봅니다. L5는 정답 대비 오차를 잡지만 구조 오류는 못 봅니다. 5개 레이어의 구멍이 동시에 정렬될 확률이 핵심입니다.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781800" y="850702"/>
            <a:ext cx="1905000" cy="987326"/>
          </a:xfrm>
          <a:prstGeom prst="roundRect">
            <a:avLst>
              <a:gd name="adj" fmla="val 5145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901955" y="987177"/>
            <a:ext cx="16646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901955" y="1130052"/>
            <a:ext cx="1664690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69.4%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6901955" y="1333202"/>
            <a:ext cx="16646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901955" y="1447502"/>
            <a:ext cx="166469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99.8%</a:t>
            </a:r>
            <a:endParaRPr lang="en-US" sz="2000" dirty="0"/>
          </a:p>
        </p:txBody>
      </p:sp>
      <p:sp>
        <p:nvSpPr>
          <p:cNvPr id="79" name="Text 77"/>
          <p:cNvSpPr/>
          <p:nvPr/>
        </p:nvSpPr>
        <p:spPr>
          <a:xfrm>
            <a:off x="6781800" y="1914227"/>
            <a:ext cx="1905000" cy="3013472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918275" y="2025253"/>
            <a:ext cx="16646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레이어가 잡는 것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6918275" y="2198191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7045226" y="2193429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 오류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6918275" y="2334667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82"/>
          <p:cNvSpPr/>
          <p:nvPr/>
        </p:nvSpPr>
        <p:spPr>
          <a:xfrm>
            <a:off x="7045226" y="2329904"/>
            <a:ext cx="35780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저신뢰 결과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6918275" y="2471142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7045226" y="2466380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인지 편향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6918275" y="260761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045226" y="2602855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간 불일치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6918275" y="2744093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7045226" y="2739330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대비 오차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457200" y="4991100"/>
            <a:ext cx="243054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실패 모드 AND-chain. L1 구조 → L2 자가치유 → L3 탈편향 → L4 교차검증 → L5 실증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8492728" y="499110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29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139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(1/2)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아키텍처 + 파이프라인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[채택] vs [기각]. 왜 이 선택인가를 1줄로 정당화합니다.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(Model/Runtime/Harness/Agent)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6-Layer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인위적 L1/L4 경계 제거. 호출 경로 단축. Domain은 직교축으로 분리.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 IPC (Unix socket)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Fat REPL + serve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66280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일관성 보장. IPC ~ms latency는 LLM ~s 대비 무시 가능.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894731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67657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Unix socket + NDJSON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gRPC / HTTP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75557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로컬 전용, 의존성 0, chmod 0o600 보안. listen(1) serial processing 단순.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04008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76934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동기 while(tool_use) 루프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asyncio 이벤트 루프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49435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인과적 의존 체인(각 tool_result가 다음 LLM 입력). I/O async ≠ Architecture async.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+ 도메인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Plan-and-Execute DAG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ReAct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570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결정론적 실행 순서 + 병렬 노드. 재귀 추론 루프 없이 구조화된 다단계 가능.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85454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5837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(analyses: [])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전체 공유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75805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앵커링 편향 구조적 차단. 단일 설계 결정이 평가 품질에 가장 큰 영향.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0425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7718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+ ContextVar DI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ABC 상속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0946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구조적 타이핑. 상속 결합 없음. 스레드 안전 교체 가능. REODE 실증: 0 core changes.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23058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6427" y="239598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 ≥0.7 루프백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패스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746427" y="2513409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개입 없는 자가 치유. MAX=5로 무한루프 차단.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492728" y="508038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29</a:t>
            </a:r>
            <a:endParaRPr lang="en-US" sz="5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5247D915-B30F-7954-9F63-B2E7D816579D}"/>
              </a:ext>
            </a:extLst>
          </p:cNvPr>
          <p:cNvSpPr/>
          <p:nvPr/>
        </p:nvSpPr>
        <p:spPr>
          <a:xfrm>
            <a:off x="422759" y="2934121"/>
            <a:ext cx="40512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19BF859-1BB9-D9ED-C978-C9369B0351FC}"/>
              </a:ext>
            </a:extLst>
          </p:cNvPr>
          <p:cNvSpPr/>
          <p:nvPr/>
        </p:nvSpPr>
        <p:spPr>
          <a:xfrm>
            <a:off x="422759" y="2767434"/>
            <a:ext cx="413227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기각된 아키텍처 대안</a:t>
            </a:r>
            <a:endParaRPr lang="en-US" sz="8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71CBBBE1-AA8E-627B-2486-B81EA901DEE5}"/>
              </a:ext>
            </a:extLst>
          </p:cNvPr>
          <p:cNvSpPr/>
          <p:nvPr/>
        </p:nvSpPr>
        <p:spPr>
          <a:xfrm>
            <a:off x="422759" y="2989634"/>
            <a:ext cx="4051250" cy="711994"/>
          </a:xfrm>
          <a:prstGeom prst="roundRect">
            <a:avLst>
              <a:gd name="adj" fmla="val 713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9294EB45-647E-5173-867B-79952637C4B9}"/>
              </a:ext>
            </a:extLst>
          </p:cNvPr>
          <p:cNvSpPr/>
          <p:nvPr/>
        </p:nvSpPr>
        <p:spPr>
          <a:xfrm>
            <a:off x="559234" y="3088009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/ HTTP 서버</a:t>
            </a:r>
            <a:endParaRPr lang="en-US" sz="700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900ACA38-6F5F-17AA-8256-C0C8589BD87B}"/>
              </a:ext>
            </a:extLst>
          </p:cNvPr>
          <p:cNvSpPr/>
          <p:nvPr/>
        </p:nvSpPr>
        <p:spPr>
          <a:xfrm>
            <a:off x="559234" y="3230884"/>
            <a:ext cx="385386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로컬 전용 통신에 protobuf 컴파일, HTTP 서버 의존성 추가는 과잉입니다. grpcio(~40MB)는 ARM64에서 빌드 시간 3분 이상. Unix socket은 의존성 0, readline()만으로 디코딩 가능합니다.</a:t>
            </a:r>
            <a:endParaRPr lang="en-US" sz="7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828DFEC2-7535-A6A8-036D-3986503BFE83}"/>
              </a:ext>
            </a:extLst>
          </p:cNvPr>
          <p:cNvSpPr/>
          <p:nvPr/>
        </p:nvSpPr>
        <p:spPr>
          <a:xfrm>
            <a:off x="559234" y="3517527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의존성 0 vs grpcio 40MB. 선택은 명확합니다.</a:t>
            </a:r>
            <a:endParaRPr lang="en-US" sz="6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BFD93B74-CD9A-1F51-5B74-E057DAA14CA5}"/>
              </a:ext>
            </a:extLst>
          </p:cNvPr>
          <p:cNvSpPr/>
          <p:nvPr/>
        </p:nvSpPr>
        <p:spPr>
          <a:xfrm>
            <a:off x="422759" y="3752378"/>
            <a:ext cx="4051250" cy="836265"/>
          </a:xfrm>
          <a:prstGeom prst="roundRect">
            <a:avLst>
              <a:gd name="adj" fmla="val 6075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0FC306F1-C202-D043-8BC7-C8ECA7F57CEE}"/>
              </a:ext>
            </a:extLst>
          </p:cNvPr>
          <p:cNvSpPr/>
          <p:nvPr/>
        </p:nvSpPr>
        <p:spPr>
          <a:xfrm>
            <a:off x="559234" y="3850753"/>
            <a:ext cx="3853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 이벤트 루프</a:t>
            </a:r>
            <a:endParaRPr lang="en-US" sz="7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46568C17-4867-070F-3D78-69A07756B0BE}"/>
              </a:ext>
            </a:extLst>
          </p:cNvPr>
          <p:cNvSpPr/>
          <p:nvPr/>
        </p:nvSpPr>
        <p:spPr>
          <a:xfrm>
            <a:off x="559234" y="3993628"/>
            <a:ext cx="385386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LangGraph StateGraph는 동기 API입니다. async wrapper를 씌우면 run_in_executor 호출이 모든 노드에 필요합니다. I/O async와 Architecture async를 혼동하면 안 됩니다. 인과적 의존 체인에서 async는 복잡도만 추가합니다.</a:t>
            </a:r>
            <a:endParaRPr lang="en-US" sz="7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1BB03663-EDE4-C9FC-5F31-A3C469DC62B3}"/>
              </a:ext>
            </a:extLst>
          </p:cNvPr>
          <p:cNvSpPr/>
          <p:nvPr/>
        </p:nvSpPr>
        <p:spPr>
          <a:xfrm>
            <a:off x="559234" y="4404543"/>
            <a:ext cx="38538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Devin, autoresearch 모두 동기 루프를 선택한 이유와 동일합니다.</a:t>
            </a:r>
            <a:endParaRPr lang="en-US" sz="6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9CCADC0C-D312-7303-8D48-93A8F1861487}"/>
              </a:ext>
            </a:extLst>
          </p:cNvPr>
          <p:cNvSpPr/>
          <p:nvPr/>
        </p:nvSpPr>
        <p:spPr>
          <a:xfrm>
            <a:off x="4600960" y="2934121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5EA59B24-B96A-C2D3-233F-0328802700C6}"/>
              </a:ext>
            </a:extLst>
          </p:cNvPr>
          <p:cNvSpPr/>
          <p:nvPr/>
        </p:nvSpPr>
        <p:spPr>
          <a:xfrm>
            <a:off x="4589475" y="3017314"/>
            <a:ext cx="4051399" cy="712440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392A0A69-6EB7-AAA8-F072-CC268D526E03}"/>
              </a:ext>
            </a:extLst>
          </p:cNvPr>
          <p:cNvSpPr/>
          <p:nvPr/>
        </p:nvSpPr>
        <p:spPr>
          <a:xfrm>
            <a:off x="4725950" y="3115689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컨텍스트 공유 (analyses: full)</a:t>
            </a:r>
            <a:endParaRPr lang="en-US" sz="700" dirty="0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10E60AA8-3382-66FC-B7D7-DA27B3E8A592}"/>
              </a:ext>
            </a:extLst>
          </p:cNvPr>
          <p:cNvSpPr/>
          <p:nvPr/>
        </p:nvSpPr>
        <p:spPr>
          <a:xfrm>
            <a:off x="4725950" y="3258564"/>
            <a:ext cx="3854017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평가자가 이전 분석 결과를 보면 앵커링 편향이 발생합니다. Clean Context(analyses: [])로 각 평가자에게 빈 상태를 주면 독립적 판단이 보장됩니다. 이 단일 결정이 평가 품질에 가장 큰 영향을 미쳤습니다.</a:t>
            </a:r>
            <a:endParaRPr lang="en-US" sz="7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D01AB991-7330-86A5-E8B4-8DC488976BE4}"/>
              </a:ext>
            </a:extLst>
          </p:cNvPr>
          <p:cNvSpPr/>
          <p:nvPr/>
        </p:nvSpPr>
        <p:spPr>
          <a:xfrm>
            <a:off x="4589475" y="3767854"/>
            <a:ext cx="4051399" cy="820789"/>
          </a:xfrm>
          <a:prstGeom prst="roundRect">
            <a:avLst>
              <a:gd name="adj" fmla="val 863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A6AC40E6-D708-2F52-22D3-E6D75BC38356}"/>
              </a:ext>
            </a:extLst>
          </p:cNvPr>
          <p:cNvSpPr/>
          <p:nvPr/>
        </p:nvSpPr>
        <p:spPr>
          <a:xfrm>
            <a:off x="4734091" y="3859505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의도 라우팅</a:t>
            </a:r>
            <a:endParaRPr lang="en-US" sz="70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3FD6E8FD-1934-33A3-78D9-AF8A1CBD6454}"/>
              </a:ext>
            </a:extLst>
          </p:cNvPr>
          <p:cNvSpPr/>
          <p:nvPr/>
        </p:nvSpPr>
        <p:spPr>
          <a:xfrm>
            <a:off x="4725949" y="4032235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 이유: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라우팅 자체에 LLM 호출 비용 + 레이턴시 + 불확실성이 추가됩니다. 정적 바인딩은 결정론적, 제로 레이턴시, 감사 가능합니다. 4개 프론티어 에이전트 중 0개가 LLM 라우팅을 사용합니다.</a:t>
            </a:r>
            <a:endParaRPr lang="en-US" sz="700" dirty="0"/>
          </a:p>
        </p:txBody>
      </p:sp>
      <p:sp>
        <p:nvSpPr>
          <p:cNvPr id="60" name="Text 17">
            <a:extLst>
              <a:ext uri="{FF2B5EF4-FFF2-40B4-BE49-F238E27FC236}">
                <a16:creationId xmlns:a16="http://schemas.microsoft.com/office/drawing/2014/main" id="{95D5B38D-7513-F40B-17BD-2545A7F89EE1}"/>
              </a:ext>
            </a:extLst>
          </p:cNvPr>
          <p:cNvSpPr/>
          <p:nvPr/>
        </p:nvSpPr>
        <p:spPr>
          <a:xfrm>
            <a:off x="4600960" y="2794593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기각된 파이프라인 대안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139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 (2/2)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실행 + 보안 + 인프라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8252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동시성 단순화부터 이식성 증명까지. 24가지 설계 결정 완료.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457200" y="1020663"/>
            <a:ext cx="40512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834926"/>
            <a:ext cx="4132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+ 동시성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114910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SessionLane per-key Sem(1)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4 hardcoded lanes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68226" y="125700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key 직렬, 다른 key 병렬. C3 scheduler race, H2 announce race 구조적 해소.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485454"/>
            <a:ext cx="4051250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8226" y="155837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 삭제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유지 (no harm)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8226" y="1675805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callback=no-op, dedup=0. 동기 루프 구조에서 250ms 재제출 자체가 불가능. Dead code 삭제.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904256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68226" y="1977182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Events (30 types)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Raw Console Stream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68226" y="2085082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렌더링 = spinner, 병렬 tool 추적 가능. Server는 상태만 관리.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00" y="2313533"/>
            <a:ext cx="4051250" cy="358527"/>
          </a:xfrm>
          <a:prstGeom prst="roundRect">
            <a:avLst>
              <a:gd name="adj" fmla="val 2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8226" y="2386459"/>
            <a:ext cx="3905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time_budget_s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max_rounds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8226" y="2494359"/>
            <a:ext cx="390578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기반 = 모드별 예산 차등 가능. DAEMON 120s, SCHEDULER 300s, IPC unlimited.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635401" y="1020663"/>
            <a:ext cx="4051399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35401" y="834926"/>
            <a:ext cx="41324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+ 인프라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1076176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6427" y="114910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AND 6-layer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OR 허용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46427" y="126652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정책 통과 필수. Org(priority=5)이 하위 규칙 오버라이드.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5401" y="1494979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46427" y="1567904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단일 종합 검사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46427" y="1685330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실패 모드 AND-chain. 69.4%→99.8%. BiasBuster + Cross-LLM + Calibration.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35401" y="1913781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6427" y="1986707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사이드 점수 계산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LLM composite_score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746427" y="2104132"/>
            <a:ext cx="39059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(axes_sum-8)/32x100 투명 계산. LLM 수치는 비교 참고만.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635401" y="2332583"/>
            <a:ext cx="4051399" cy="368052"/>
          </a:xfrm>
          <a:prstGeom prst="roundRect">
            <a:avLst>
              <a:gd name="adj" fmla="val 20704"/>
            </a:avLst>
          </a:prstGeom>
          <a:solidFill>
            <a:srgbClr val="34D399">
              <a:alpha val="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35401" y="2337346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8682038" y="2332583"/>
            <a:ext cx="0" cy="368052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35401" y="2695873"/>
            <a:ext cx="40513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54451" y="2332583"/>
            <a:ext cx="0" cy="36805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75002" y="2405509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이식성 증명: GEODE → REODE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775002" y="2522934"/>
            <a:ext cx="38767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4-Layer 코어. 도메인 플러그인만 교체. core 변경 0줄. 83/83 빌드 통과.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57200" y="4991100"/>
            <a:ext cx="246409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4 + 보안/인프라 4 = 총 24가지 설계 결정. 모든 채택 근거는 코드 경로와 측정 결과로 검증됨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29</a:t>
            </a:r>
            <a:endParaRPr lang="en-US" sz="5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2D4C7285-FC0A-D2DA-1A00-7640415D6579}"/>
              </a:ext>
            </a:extLst>
          </p:cNvPr>
          <p:cNvSpPr/>
          <p:nvPr/>
        </p:nvSpPr>
        <p:spPr>
          <a:xfrm>
            <a:off x="457200" y="2773465"/>
            <a:ext cx="4051250" cy="1740098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92BEF34E-589C-4AEB-6060-D9BC4B71BA02}"/>
              </a:ext>
            </a:extLst>
          </p:cNvPr>
          <p:cNvSpPr/>
          <p:nvPr/>
        </p:nvSpPr>
        <p:spPr>
          <a:xfrm>
            <a:off x="593675" y="2871840"/>
            <a:ext cx="3853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Resilience 14항목</a:t>
            </a:r>
            <a:endParaRPr lang="en-US" sz="8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C25F5A95-E399-0B30-E6B9-997F05DCF94F}"/>
              </a:ext>
            </a:extLst>
          </p:cNvPr>
          <p:cNvSpPr/>
          <p:nvPr/>
        </p:nvSpPr>
        <p:spPr>
          <a:xfrm>
            <a:off x="593675" y="305906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(3)</a:t>
            </a:r>
            <a:endParaRPr lang="en-US" sz="6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4074A606-1515-09F6-63FD-4B12769E23E9}"/>
              </a:ext>
            </a:extLst>
          </p:cNvPr>
          <p:cNvSpPr/>
          <p:nvPr/>
        </p:nvSpPr>
        <p:spPr>
          <a:xfrm>
            <a:off x="593675" y="318289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Backoff jitter</a:t>
            </a:r>
            <a:endParaRPr lang="en-US" sz="6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DA15B60C-E936-3C4F-B887-3316046BDA07}"/>
              </a:ext>
            </a:extLst>
          </p:cNvPr>
          <p:cNvSpPr/>
          <p:nvPr/>
        </p:nvSpPr>
        <p:spPr>
          <a:xfrm>
            <a:off x="593675" y="330671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C1b: Cross-provider failover</a:t>
            </a:r>
            <a:endParaRPr lang="en-US" sz="6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4C4C4D91-1E10-BFCE-C17C-F89327FD5602}"/>
              </a:ext>
            </a:extLst>
          </p:cNvPr>
          <p:cNvSpPr/>
          <p:nvPr/>
        </p:nvSpPr>
        <p:spPr>
          <a:xfrm>
            <a:off x="593675" y="343054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Fallback cost ratio</a:t>
            </a:r>
            <a:endParaRPr lang="en-US" sz="6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0961893C-94E8-A18D-0833-C5DBC08BE155}"/>
              </a:ext>
            </a:extLst>
          </p:cNvPr>
          <p:cNvSpPr/>
          <p:nvPr/>
        </p:nvSpPr>
        <p:spPr>
          <a:xfrm>
            <a:off x="593675" y="360511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(3)</a:t>
            </a:r>
            <a:endParaRPr lang="en-US" sz="600" dirty="0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C4A5008-913C-590D-55DE-CE71E9F775EB}"/>
              </a:ext>
            </a:extLst>
          </p:cNvPr>
          <p:cNvSpPr/>
          <p:nvPr/>
        </p:nvSpPr>
        <p:spPr>
          <a:xfrm>
            <a:off x="593675" y="372894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A2: 80% proactive warning</a:t>
            </a:r>
            <a:endParaRPr lang="en-US" sz="600" dirty="0"/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961866BE-9E45-0670-38BF-1043352FC48B}"/>
              </a:ext>
            </a:extLst>
          </p:cNvPr>
          <p:cNvSpPr/>
          <p:nvPr/>
        </p:nvSpPr>
        <p:spPr>
          <a:xfrm>
            <a:off x="593675" y="3852766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A3: Checkpoint resume</a:t>
            </a:r>
            <a:endParaRPr lang="en-US" sz="6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B57D0BDE-B5EF-8F2A-A303-288630DD8C0F}"/>
              </a:ext>
            </a:extLst>
          </p:cNvPr>
          <p:cNvSpPr/>
          <p:nvPr/>
        </p:nvSpPr>
        <p:spPr>
          <a:xfrm>
            <a:off x="593675" y="3976591"/>
            <a:ext cx="1887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B2: Error propagation</a:t>
            </a:r>
            <a:endParaRPr lang="en-US" sz="6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28780C52-B7B0-C46C-0A9E-E5497F8948BC}"/>
              </a:ext>
            </a:extLst>
          </p:cNvPr>
          <p:cNvSpPr/>
          <p:nvPr/>
        </p:nvSpPr>
        <p:spPr>
          <a:xfrm>
            <a:off x="2520851" y="305906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(5)</a:t>
            </a:r>
            <a:endParaRPr lang="en-US" sz="600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E83A85F8-91F1-DD09-8F83-C6E2D5110C91}"/>
              </a:ext>
            </a:extLst>
          </p:cNvPr>
          <p:cNvSpPr/>
          <p:nvPr/>
        </p:nvSpPr>
        <p:spPr>
          <a:xfrm>
            <a:off x="2520851" y="318289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B1: Degraded fallback</a:t>
            </a:r>
            <a:endParaRPr lang="en-US" sz="6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7A748CC6-B263-3C2D-4118-0F0A2BE3084D}"/>
              </a:ext>
            </a:extLst>
          </p:cNvPr>
          <p:cNvSpPr/>
          <p:nvPr/>
        </p:nvSpPr>
        <p:spPr>
          <a:xfrm>
            <a:off x="2520851" y="330671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B3: Pipeline timeout 600s</a:t>
            </a:r>
            <a:endParaRPr lang="en-US" sz="6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FD257949-BF9F-5F7D-6B9C-9825C141F482}"/>
              </a:ext>
            </a:extLst>
          </p:cNvPr>
          <p:cNvSpPr/>
          <p:nvPr/>
        </p:nvSpPr>
        <p:spPr>
          <a:xfrm>
            <a:off x="2520851" y="343054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B4: Degraded scoring penalty</a:t>
            </a:r>
            <a:endParaRPr lang="en-US" sz="600" dirty="0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F9A0DA20-472E-E550-17FC-701D773F03D9}"/>
              </a:ext>
            </a:extLst>
          </p:cNvPr>
          <p:cNvSpPr/>
          <p:nvPr/>
        </p:nvSpPr>
        <p:spPr>
          <a:xfrm>
            <a:off x="2520851" y="355436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B5: Verification enrichment</a:t>
            </a:r>
            <a:endParaRPr lang="en-US" sz="6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58DE1240-5668-8465-69D4-5AFBA466E416}"/>
              </a:ext>
            </a:extLst>
          </p:cNvPr>
          <p:cNvSpPr/>
          <p:nvPr/>
        </p:nvSpPr>
        <p:spPr>
          <a:xfrm>
            <a:off x="2520851" y="367819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B6: Evaluator partial retry</a:t>
            </a:r>
            <a:endParaRPr lang="en-US" sz="600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83E2FD2-0132-3D7E-C0DC-CC0DF68EA2EC}"/>
              </a:ext>
            </a:extLst>
          </p:cNvPr>
          <p:cNvSpPr/>
          <p:nvPr/>
        </p:nvSpPr>
        <p:spPr>
          <a:xfrm>
            <a:off x="2520851" y="385276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(3)</a:t>
            </a:r>
            <a:endParaRPr lang="en-US" sz="6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E9162E38-9875-81C6-E1CB-69DFFEC674BA}"/>
              </a:ext>
            </a:extLst>
          </p:cNvPr>
          <p:cNvSpPr/>
          <p:nvPr/>
        </p:nvSpPr>
        <p:spPr>
          <a:xfrm>
            <a:off x="2520851" y="397659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B7: History trimming(10)</a:t>
            </a:r>
            <a:endParaRPr lang="en-US" sz="600" dirty="0"/>
          </a:p>
        </p:txBody>
      </p:sp>
      <p:sp>
        <p:nvSpPr>
          <p:cNvPr id="58" name="Text 22">
            <a:extLst>
              <a:ext uri="{FF2B5EF4-FFF2-40B4-BE49-F238E27FC236}">
                <a16:creationId xmlns:a16="http://schemas.microsoft.com/office/drawing/2014/main" id="{261CF4EE-E6F5-F827-64AD-0723075577A9}"/>
              </a:ext>
            </a:extLst>
          </p:cNvPr>
          <p:cNvSpPr/>
          <p:nvPr/>
        </p:nvSpPr>
        <p:spPr>
          <a:xfrm>
            <a:off x="2520851" y="4100416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B8: Gather retryable</a:t>
            </a:r>
            <a:endParaRPr lang="en-US" sz="60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95E3FEC9-811C-B7F9-6E84-E2F10740EE03}"/>
              </a:ext>
            </a:extLst>
          </p:cNvPr>
          <p:cNvSpPr/>
          <p:nvPr/>
        </p:nvSpPr>
        <p:spPr>
          <a:xfrm>
            <a:off x="2520851" y="4224241"/>
            <a:ext cx="18881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context recovery</a:t>
            </a:r>
            <a:endParaRPr lang="en-US" sz="600" dirty="0"/>
          </a:p>
        </p:txBody>
      </p:sp>
      <p:sp>
        <p:nvSpPr>
          <p:cNvPr id="60" name="Text 39">
            <a:extLst>
              <a:ext uri="{FF2B5EF4-FFF2-40B4-BE49-F238E27FC236}">
                <a16:creationId xmlns:a16="http://schemas.microsoft.com/office/drawing/2014/main" id="{AC9AE974-7717-FC6B-994B-691CF22BD62E}"/>
              </a:ext>
            </a:extLst>
          </p:cNvPr>
          <p:cNvSpPr/>
          <p:nvPr/>
        </p:nvSpPr>
        <p:spPr>
          <a:xfrm>
            <a:off x="4654451" y="2806154"/>
            <a:ext cx="4051399" cy="720179"/>
          </a:xfrm>
          <a:prstGeom prst="roundRect">
            <a:avLst>
              <a:gd name="adj" fmla="val 70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40">
            <a:extLst>
              <a:ext uri="{FF2B5EF4-FFF2-40B4-BE49-F238E27FC236}">
                <a16:creationId xmlns:a16="http://schemas.microsoft.com/office/drawing/2014/main" id="{F56FF5DF-D50B-6011-D33F-00974B39C1C0}"/>
              </a:ext>
            </a:extLst>
          </p:cNvPr>
          <p:cNvSpPr/>
          <p:nvPr/>
        </p:nvSpPr>
        <p:spPr>
          <a:xfrm>
            <a:off x="4678263" y="2806154"/>
            <a:ext cx="0" cy="720179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1">
            <a:extLst>
              <a:ext uri="{FF2B5EF4-FFF2-40B4-BE49-F238E27FC236}">
                <a16:creationId xmlns:a16="http://schemas.microsoft.com/office/drawing/2014/main" id="{B97262C2-01E8-19F2-5DC0-88948BA30AFA}"/>
              </a:ext>
            </a:extLst>
          </p:cNvPr>
          <p:cNvSpPr/>
          <p:nvPr/>
        </p:nvSpPr>
        <p:spPr>
          <a:xfrm>
            <a:off x="4829026" y="2895004"/>
            <a:ext cx="38248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 Fallback 트레이드오프</a:t>
            </a:r>
            <a:endParaRPr lang="en-US" sz="700" dirty="0"/>
          </a:p>
        </p:txBody>
      </p:sp>
      <p:sp>
        <p:nvSpPr>
          <p:cNvPr id="63" name="Text 42">
            <a:extLst>
              <a:ext uri="{FF2B5EF4-FFF2-40B4-BE49-F238E27FC236}">
                <a16:creationId xmlns:a16="http://schemas.microsoft.com/office/drawing/2014/main" id="{10F6252D-A1B8-73B5-8AA8-89565114DBA5}"/>
              </a:ext>
            </a:extLst>
          </p:cNvPr>
          <p:cNvSpPr/>
          <p:nvPr/>
        </p:nvSpPr>
        <p:spPr>
          <a:xfrm>
            <a:off x="4829026" y="3037879"/>
            <a:ext cx="3824871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재시도 소진 시 크래시 대신 </a:t>
            </a: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is_degraded=True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반환합니다. 결과의 신뢰도는 낮지만 파이프라인이 중단되지 않습니다. 점수에는 비례적 신뢰도 감소(penalty)가 적용되어 degraded 소스의 영향력이 줄어듭니다.</a:t>
            </a:r>
            <a:endParaRPr lang="en-US" sz="700" dirty="0"/>
          </a:p>
        </p:txBody>
      </p:sp>
      <p:sp>
        <p:nvSpPr>
          <p:cNvPr id="64" name="Text 43">
            <a:extLst>
              <a:ext uri="{FF2B5EF4-FFF2-40B4-BE49-F238E27FC236}">
                <a16:creationId xmlns:a16="http://schemas.microsoft.com/office/drawing/2014/main" id="{7856D484-143E-47BD-681A-1834F28DD66D}"/>
              </a:ext>
            </a:extLst>
          </p:cNvPr>
          <p:cNvSpPr/>
          <p:nvPr/>
        </p:nvSpPr>
        <p:spPr>
          <a:xfrm>
            <a:off x="4654451" y="3589734"/>
            <a:ext cx="4051399" cy="578644"/>
          </a:xfrm>
          <a:prstGeom prst="roundRect">
            <a:avLst>
              <a:gd name="adj" fmla="val 877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44">
            <a:extLst>
              <a:ext uri="{FF2B5EF4-FFF2-40B4-BE49-F238E27FC236}">
                <a16:creationId xmlns:a16="http://schemas.microsoft.com/office/drawing/2014/main" id="{E40C9BBE-05C7-953F-4FFA-DB5E17776615}"/>
              </a:ext>
            </a:extLst>
          </p:cNvPr>
          <p:cNvSpPr/>
          <p:nvPr/>
        </p:nvSpPr>
        <p:spPr>
          <a:xfrm>
            <a:off x="4790926" y="3688110"/>
            <a:ext cx="38540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 Context Recovery</a:t>
            </a:r>
            <a:endParaRPr lang="en-US" sz="700" dirty="0"/>
          </a:p>
        </p:txBody>
      </p:sp>
      <p:sp>
        <p:nvSpPr>
          <p:cNvPr id="66" name="Text 45">
            <a:extLst>
              <a:ext uri="{FF2B5EF4-FFF2-40B4-BE49-F238E27FC236}">
                <a16:creationId xmlns:a16="http://schemas.microsoft.com/office/drawing/2014/main" id="{FF3C4AA7-CA92-7B08-71BC-2005E3AE5630}"/>
              </a:ext>
            </a:extLst>
          </p:cNvPr>
          <p:cNvSpPr/>
          <p:nvPr/>
        </p:nvSpPr>
        <p:spPr>
          <a:xfrm>
            <a:off x="4790926" y="3821460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exhaustion 시 기존: 루프 중단. v0.38: summarize(keep_recent 절반) 후 루프를 계속합니다. 정보 손실 대신 작업 완료를 우선합니다.</a:t>
            </a:r>
            <a:endParaRPr lang="en-US" sz="700" dirty="0"/>
          </a:p>
        </p:txBody>
      </p:sp>
      <p:sp>
        <p:nvSpPr>
          <p:cNvPr id="67" name="Text 46">
            <a:extLst>
              <a:ext uri="{FF2B5EF4-FFF2-40B4-BE49-F238E27FC236}">
                <a16:creationId xmlns:a16="http://schemas.microsoft.com/office/drawing/2014/main" id="{96B042F4-4222-86B6-85CA-72CFFAB740B4}"/>
              </a:ext>
            </a:extLst>
          </p:cNvPr>
          <p:cNvSpPr/>
          <p:nvPr/>
        </p:nvSpPr>
        <p:spPr>
          <a:xfrm>
            <a:off x="4654451" y="4231779"/>
            <a:ext cx="4051399" cy="38100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47">
            <a:extLst>
              <a:ext uri="{FF2B5EF4-FFF2-40B4-BE49-F238E27FC236}">
                <a16:creationId xmlns:a16="http://schemas.microsoft.com/office/drawing/2014/main" id="{2A733E72-4E50-7F5D-9EDA-64EC635B2D08}"/>
              </a:ext>
            </a:extLst>
          </p:cNvPr>
          <p:cNvSpPr/>
          <p:nvPr/>
        </p:nvSpPr>
        <p:spPr>
          <a:xfrm>
            <a:off x="4790926" y="4317504"/>
            <a:ext cx="38540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+2:</a:t>
            </a: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FALLBACK_CROSS_PROVIDER, PIPELINE_TIMEOUT. 42 events 관측 체계로 resilience 경로도 추적합니다.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2860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4575"/>
            <a:ext cx="2364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SUMMARY. GEODE v0.38.0 + REODE v0.21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630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Engineering. 전체 지표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시스템을 수렴시키는 4개 축의 실증 결과 (GEODE + REODE 합산)</a:t>
            </a:r>
            <a:endParaRPr lang="en-US" sz="500" dirty="0"/>
          </a:p>
        </p:txBody>
      </p:sp>
      <p:sp>
        <p:nvSpPr>
          <p:cNvPr id="6" name="Text 4"/>
          <p:cNvSpPr/>
          <p:nvPr/>
        </p:nvSpPr>
        <p:spPr>
          <a:xfrm>
            <a:off x="45720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818CF8">
              <a:alpha val="8000"/>
            </a:srgbClr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727" y="844302"/>
            <a:ext cx="16206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9727" y="949077"/>
            <a:ext cx="16206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6-Phase, SHA-256 캐시 90%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527250" y="784027"/>
            <a:ext cx="2019449" cy="311051"/>
          </a:xfrm>
          <a:prstGeom prst="roundRect">
            <a:avLst>
              <a:gd name="adj" fmla="val 24498"/>
            </a:avLst>
          </a:prstGeom>
          <a:solidFill>
            <a:srgbClr val="4ECDC4">
              <a:alpha val="8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3827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39777" y="844302"/>
            <a:ext cx="13480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39777" y="949077"/>
            <a:ext cx="13480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while(tool_use), 47 tools x time_budget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59745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F5C542">
              <a:alpha val="8000"/>
            </a:srgbClr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08475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09976" y="844302"/>
            <a:ext cx="12658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809976" y="949077"/>
            <a:ext cx="12658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 5-Layer, 69.4→99.8%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6667500" y="784027"/>
            <a:ext cx="2019300" cy="311051"/>
          </a:xfrm>
          <a:prstGeom prst="roundRect">
            <a:avLst>
              <a:gd name="adj" fmla="val 24498"/>
            </a:avLst>
          </a:prstGeom>
          <a:solidFill>
            <a:srgbClr val="34D399">
              <a:alpha val="8000"/>
            </a:srgbClr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78526" y="850702"/>
            <a:ext cx="38100" cy="177701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80027" y="844302"/>
            <a:ext cx="10995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80027" y="949077"/>
            <a:ext cx="10995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42-Event Hook + 30 IPC Events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57200" y="1302990"/>
            <a:ext cx="489972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1145828"/>
            <a:ext cx="49977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v0.38.0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1358503"/>
            <a:ext cx="1186755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58579" y="1418779"/>
            <a:ext cx="9839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8579" y="1698129"/>
            <a:ext cx="9839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694706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796083" y="141877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96083" y="169812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32361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033738" y="1418779"/>
            <a:ext cx="98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3,377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033738" y="167267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170015" y="1358503"/>
            <a:ext cx="1186904" cy="495151"/>
          </a:xfrm>
          <a:prstGeom prst="roundRect">
            <a:avLst>
              <a:gd name="adj" fmla="val 1538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271392" y="1418779"/>
            <a:ext cx="98415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271392" y="1698129"/>
            <a:ext cx="9841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1904405"/>
            <a:ext cx="2424410" cy="558552"/>
          </a:xfrm>
          <a:prstGeom prst="roundRect">
            <a:avLst>
              <a:gd name="adj" fmla="val 136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68226" y="1977330"/>
            <a:ext cx="22464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+ 도구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8226" y="209475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StateGraph DAG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8226" y="219000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Tools, 44 MCP, 42 Skills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8226" y="2285256"/>
            <a:ext cx="22464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Daemon + 3 channels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32361" y="1904405"/>
            <a:ext cx="2424559" cy="558552"/>
          </a:xfrm>
          <a:prstGeom prst="roundRect">
            <a:avLst>
              <a:gd name="adj" fmla="val 1364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043386" y="1977330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+ 검증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043386" y="2094756"/>
            <a:ext cx="22465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Bash 차단, 8 Secret 탐지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043386" y="2199531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PolicyChain, 4-Tier HITL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43386" y="2294781"/>
            <a:ext cx="22465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5-Layer, Calibration 80/100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420320" y="1312515"/>
            <a:ext cx="3266480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420320" y="1145828"/>
            <a:ext cx="33318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v0.21. 이식성 증명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20320" y="1368028"/>
            <a:ext cx="1607790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517489" y="1428304"/>
            <a:ext cx="14134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517489" y="1682204"/>
            <a:ext cx="14134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078861" y="1368028"/>
            <a:ext cx="1607939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76028" y="1428304"/>
            <a:ext cx="141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3,274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76028" y="1682204"/>
            <a:ext cx="14136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420320" y="1888480"/>
            <a:ext cx="3266480" cy="491728"/>
          </a:xfrm>
          <a:prstGeom prst="roundRect">
            <a:avLst>
              <a:gd name="adj" fmla="val 1549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531346" y="1961406"/>
            <a:ext cx="3105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 LoC migration, 83/83 pass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531346" y="2081957"/>
            <a:ext cx="31053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sessions / 1,133 rounds / 5h 48m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531346" y="2202507"/>
            <a:ext cx="31053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코드 변경 0줄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420320" y="2430960"/>
            <a:ext cx="3266480" cy="659451"/>
          </a:xfrm>
          <a:prstGeom prst="roundRect">
            <a:avLst>
              <a:gd name="adj" fmla="val 206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5444133" y="2430960"/>
            <a:ext cx="0" cy="659451"/>
          </a:xfrm>
          <a:prstGeom prst="line">
            <a:avLst/>
          </a:prstGeom>
          <a:noFill/>
          <a:ln w="476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5594896" y="2541984"/>
            <a:ext cx="3014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시스템은 제어 없이 발산합니다.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94896" y="2745135"/>
            <a:ext cx="301453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루프와 가치로 수렴시키는 하네스를 만들었습니다. 그리고 그 하네스 자체를 단순화했습니다.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57200" y="5000625"/>
            <a:ext cx="243130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GEODE(192) + REODE(209) = 401 modules, 6,651 tests. 44 releases, 0 regressions</a:t>
            </a:r>
            <a:endParaRPr lang="en-US" sz="500" dirty="0"/>
          </a:p>
        </p:txBody>
      </p:sp>
      <p:sp>
        <p:nvSpPr>
          <p:cNvPr id="66" name="Text 64"/>
          <p:cNvSpPr/>
          <p:nvPr/>
        </p:nvSpPr>
        <p:spPr>
          <a:xfrm>
            <a:off x="8492728" y="500062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29</a:t>
            </a:r>
            <a:endParaRPr lang="en-US" sz="500" dirty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B9084061-61DB-0362-15A4-747E2630132A}"/>
              </a:ext>
            </a:extLst>
          </p:cNvPr>
          <p:cNvSpPr/>
          <p:nvPr/>
        </p:nvSpPr>
        <p:spPr>
          <a:xfrm>
            <a:off x="457199" y="2629943"/>
            <a:ext cx="4832737" cy="1545431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AFD8E1D5-6BD8-BA35-F21E-A264238132BD}"/>
              </a:ext>
            </a:extLst>
          </p:cNvPr>
          <p:cNvSpPr/>
          <p:nvPr/>
        </p:nvSpPr>
        <p:spPr>
          <a:xfrm>
            <a:off x="593675" y="2740968"/>
            <a:ext cx="4597278" cy="1238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 비교</a:t>
            </a:r>
            <a:endParaRPr lang="en-US" sz="800" dirty="0"/>
          </a:p>
        </p:txBody>
      </p:sp>
      <p:sp>
        <p:nvSpPr>
          <p:cNvPr id="69" name="Shape 5">
            <a:extLst>
              <a:ext uri="{FF2B5EF4-FFF2-40B4-BE49-F238E27FC236}">
                <a16:creationId xmlns:a16="http://schemas.microsoft.com/office/drawing/2014/main" id="{E467196D-633B-10D6-BD81-0D48B7407E4E}"/>
              </a:ext>
            </a:extLst>
          </p:cNvPr>
          <p:cNvSpPr/>
          <p:nvPr/>
        </p:nvSpPr>
        <p:spPr>
          <a:xfrm>
            <a:off x="593674" y="3056782"/>
            <a:ext cx="450713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278DDA42-BFA8-7666-3ADC-026728385A05}"/>
              </a:ext>
            </a:extLst>
          </p:cNvPr>
          <p:cNvSpPr/>
          <p:nvPr/>
        </p:nvSpPr>
        <p:spPr>
          <a:xfrm>
            <a:off x="593675" y="2940993"/>
            <a:ext cx="1532365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60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1D07B287-168F-7708-568E-853A6EACCFE7}"/>
              </a:ext>
            </a:extLst>
          </p:cNvPr>
          <p:cNvSpPr/>
          <p:nvPr/>
        </p:nvSpPr>
        <p:spPr>
          <a:xfrm>
            <a:off x="1853059" y="2940993"/>
            <a:ext cx="1532546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60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5666572A-80B4-E0E9-4430-4F90152C409C}"/>
              </a:ext>
            </a:extLst>
          </p:cNvPr>
          <p:cNvSpPr/>
          <p:nvPr/>
        </p:nvSpPr>
        <p:spPr>
          <a:xfrm>
            <a:off x="3112591" y="2940993"/>
            <a:ext cx="1532365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60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DF0913A9-E082-716A-547E-4A56DBCDA056}"/>
              </a:ext>
            </a:extLst>
          </p:cNvPr>
          <p:cNvSpPr/>
          <p:nvPr/>
        </p:nvSpPr>
        <p:spPr>
          <a:xfrm>
            <a:off x="593675" y="30996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E499A2BF-1DA0-02CB-3298-F452A328013E}"/>
              </a:ext>
            </a:extLst>
          </p:cNvPr>
          <p:cNvSpPr/>
          <p:nvPr/>
        </p:nvSpPr>
        <p:spPr>
          <a:xfrm>
            <a:off x="1853059" y="30996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3.12+</a:t>
            </a:r>
            <a:endParaRPr lang="en-US" sz="60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B5A5DFAF-A3CD-3994-9F0E-A784FDB8647F}"/>
              </a:ext>
            </a:extLst>
          </p:cNvPr>
          <p:cNvSpPr/>
          <p:nvPr/>
        </p:nvSpPr>
        <p:spPr>
          <a:xfrm>
            <a:off x="3112591" y="30996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22</a:t>
            </a:r>
            <a:endParaRPr lang="en-US" sz="6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521249C7-EAB3-C81F-3E0E-6379FF602439}"/>
              </a:ext>
            </a:extLst>
          </p:cNvPr>
          <p:cNvSpPr/>
          <p:nvPr/>
        </p:nvSpPr>
        <p:spPr>
          <a:xfrm>
            <a:off x="593675" y="32329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700" dirty="0"/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0565A957-3D11-DE18-4CEA-AD046D1AEF5B}"/>
              </a:ext>
            </a:extLst>
          </p:cNvPr>
          <p:cNvSpPr/>
          <p:nvPr/>
        </p:nvSpPr>
        <p:spPr>
          <a:xfrm>
            <a:off x="1853059" y="323299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+ FastAPI</a:t>
            </a:r>
            <a:endParaRPr lang="en-US" sz="600" dirty="0"/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795A3DBD-338E-0BE7-4B0A-C882E6C33EE7}"/>
              </a:ext>
            </a:extLst>
          </p:cNvPr>
          <p:cNvSpPr/>
          <p:nvPr/>
        </p:nvSpPr>
        <p:spPr>
          <a:xfrm>
            <a:off x="3112591" y="32329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6.1 + Spring Boot 3</a:t>
            </a:r>
            <a:endParaRPr lang="en-US" sz="600" dirty="0"/>
          </a:p>
        </p:txBody>
      </p:sp>
      <p:sp>
        <p:nvSpPr>
          <p:cNvPr id="79" name="Text 15">
            <a:extLst>
              <a:ext uri="{FF2B5EF4-FFF2-40B4-BE49-F238E27FC236}">
                <a16:creationId xmlns:a16="http://schemas.microsoft.com/office/drawing/2014/main" id="{81A96E68-7E85-B25E-6A50-0D865579C3A6}"/>
              </a:ext>
            </a:extLst>
          </p:cNvPr>
          <p:cNvSpPr/>
          <p:nvPr/>
        </p:nvSpPr>
        <p:spPr>
          <a:xfrm>
            <a:off x="593675" y="33663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SDK</a:t>
            </a:r>
            <a:endParaRPr lang="en-US" sz="700" dirty="0"/>
          </a:p>
        </p:txBody>
      </p:sp>
      <p:sp>
        <p:nvSpPr>
          <p:cNvPr id="80" name="Text 16">
            <a:extLst>
              <a:ext uri="{FF2B5EF4-FFF2-40B4-BE49-F238E27FC236}">
                <a16:creationId xmlns:a16="http://schemas.microsoft.com/office/drawing/2014/main" id="{E3655094-B4C9-52A6-0946-BDE47AABEF67}"/>
              </a:ext>
            </a:extLst>
          </p:cNvPr>
          <p:cNvSpPr/>
          <p:nvPr/>
        </p:nvSpPr>
        <p:spPr>
          <a:xfrm>
            <a:off x="1853059" y="33663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SDK</a:t>
            </a:r>
            <a:endParaRPr lang="en-US" sz="600" dirty="0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0D745BEF-34D6-1739-95FC-01DC27F2764E}"/>
              </a:ext>
            </a:extLst>
          </p:cNvPr>
          <p:cNvSpPr/>
          <p:nvPr/>
        </p:nvSpPr>
        <p:spPr>
          <a:xfrm>
            <a:off x="3112591" y="33663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Java SDK</a:t>
            </a:r>
            <a:endParaRPr lang="en-US" sz="600" dirty="0"/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D5303172-92CB-BF9A-2FC9-D9A67C93816C}"/>
              </a:ext>
            </a:extLst>
          </p:cNvPr>
          <p:cNvSpPr/>
          <p:nvPr/>
        </p:nvSpPr>
        <p:spPr>
          <a:xfrm>
            <a:off x="593675" y="34996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00" dirty="0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3D248FE1-5592-F273-63CE-E457A4B4913B}"/>
              </a:ext>
            </a:extLst>
          </p:cNvPr>
          <p:cNvSpPr/>
          <p:nvPr/>
        </p:nvSpPr>
        <p:spPr>
          <a:xfrm>
            <a:off x="1853059" y="349969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Redis</a:t>
            </a:r>
            <a:endParaRPr lang="en-US" sz="600" dirty="0"/>
          </a:p>
        </p:txBody>
      </p:sp>
      <p:sp>
        <p:nvSpPr>
          <p:cNvPr id="84" name="Text 20">
            <a:extLst>
              <a:ext uri="{FF2B5EF4-FFF2-40B4-BE49-F238E27FC236}">
                <a16:creationId xmlns:a16="http://schemas.microsoft.com/office/drawing/2014/main" id="{A4239C6D-929C-1070-94E0-054DEB5FE4B9}"/>
              </a:ext>
            </a:extLst>
          </p:cNvPr>
          <p:cNvSpPr/>
          <p:nvPr/>
        </p:nvSpPr>
        <p:spPr>
          <a:xfrm>
            <a:off x="3112591" y="34996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Redis</a:t>
            </a:r>
            <a:endParaRPr lang="en-US" sz="600" dirty="0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2790BFF4-622A-70CB-2FC2-70D053B48C25}"/>
              </a:ext>
            </a:extLst>
          </p:cNvPr>
          <p:cNvSpPr/>
          <p:nvPr/>
        </p:nvSpPr>
        <p:spPr>
          <a:xfrm>
            <a:off x="593675" y="36330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700" dirty="0"/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5FD9F722-3C8F-DD89-5B5E-035441FB1A09}"/>
              </a:ext>
            </a:extLst>
          </p:cNvPr>
          <p:cNvSpPr/>
          <p:nvPr/>
        </p:nvSpPr>
        <p:spPr>
          <a:xfrm>
            <a:off x="1853059" y="36330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 strict</a:t>
            </a:r>
            <a:endParaRPr lang="en-US" sz="600" dirty="0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E903BD80-E7C5-04AF-DD97-495F6B1316C7}"/>
              </a:ext>
            </a:extLst>
          </p:cNvPr>
          <p:cNvSpPr/>
          <p:nvPr/>
        </p:nvSpPr>
        <p:spPr>
          <a:xfrm>
            <a:off x="3112591" y="36330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javac + IDE checks</a:t>
            </a:r>
            <a:endParaRPr lang="en-US" sz="600" dirty="0"/>
          </a:p>
        </p:txBody>
      </p:sp>
      <p:sp>
        <p:nvSpPr>
          <p:cNvPr id="88" name="Text 24">
            <a:extLst>
              <a:ext uri="{FF2B5EF4-FFF2-40B4-BE49-F238E27FC236}">
                <a16:creationId xmlns:a16="http://schemas.microsoft.com/office/drawing/2014/main" id="{78587D27-CED8-5DE4-7B39-712966FAA27F}"/>
              </a:ext>
            </a:extLst>
          </p:cNvPr>
          <p:cNvSpPr/>
          <p:nvPr/>
        </p:nvSpPr>
        <p:spPr>
          <a:xfrm>
            <a:off x="593675" y="37663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</a:t>
            </a:r>
            <a:endParaRPr lang="en-US" sz="700" dirty="0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97F4320E-F1BD-A148-AFA8-17BAFFFB0C16}"/>
              </a:ext>
            </a:extLst>
          </p:cNvPr>
          <p:cNvSpPr/>
          <p:nvPr/>
        </p:nvSpPr>
        <p:spPr>
          <a:xfrm>
            <a:off x="1853059" y="376639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E979DF23-417C-E0C1-06E2-DB16300DBFAB}"/>
              </a:ext>
            </a:extLst>
          </p:cNvPr>
          <p:cNvSpPr/>
          <p:nvPr/>
        </p:nvSpPr>
        <p:spPr>
          <a:xfrm>
            <a:off x="3112591" y="376639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91" name="Text 27">
            <a:extLst>
              <a:ext uri="{FF2B5EF4-FFF2-40B4-BE49-F238E27FC236}">
                <a16:creationId xmlns:a16="http://schemas.microsoft.com/office/drawing/2014/main" id="{D1E569C5-E2E3-BBF6-7349-DA6C4393710E}"/>
              </a:ext>
            </a:extLst>
          </p:cNvPr>
          <p:cNvSpPr/>
          <p:nvPr/>
        </p:nvSpPr>
        <p:spPr>
          <a:xfrm>
            <a:off x="593675" y="38997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</a:t>
            </a:r>
            <a:endParaRPr lang="en-US" sz="700" dirty="0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C24CF005-18BE-FE2F-2A04-CDE9100943C4}"/>
              </a:ext>
            </a:extLst>
          </p:cNvPr>
          <p:cNvSpPr/>
          <p:nvPr/>
        </p:nvSpPr>
        <p:spPr>
          <a:xfrm>
            <a:off x="1853059" y="3899744"/>
            <a:ext cx="1532546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600" dirty="0"/>
          </a:p>
        </p:txBody>
      </p:sp>
      <p:sp>
        <p:nvSpPr>
          <p:cNvPr id="93" name="Text 29">
            <a:extLst>
              <a:ext uri="{FF2B5EF4-FFF2-40B4-BE49-F238E27FC236}">
                <a16:creationId xmlns:a16="http://schemas.microsoft.com/office/drawing/2014/main" id="{8C3CDBA9-ADDC-22E8-B22B-BBD2DA2B7CF3}"/>
              </a:ext>
            </a:extLst>
          </p:cNvPr>
          <p:cNvSpPr/>
          <p:nvPr/>
        </p:nvSpPr>
        <p:spPr>
          <a:xfrm>
            <a:off x="3112591" y="3899744"/>
            <a:ext cx="1532365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600" dirty="0"/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8307C470-53E1-A05F-AF43-020521F0C921}"/>
              </a:ext>
            </a:extLst>
          </p:cNvPr>
          <p:cNvGrpSpPr/>
          <p:nvPr/>
        </p:nvGrpSpPr>
        <p:grpSpPr>
          <a:xfrm>
            <a:off x="5408609" y="3154859"/>
            <a:ext cx="3561169" cy="1371302"/>
            <a:chOff x="4307952" y="3367540"/>
            <a:chExt cx="4197695" cy="1371302"/>
          </a:xfrm>
        </p:grpSpPr>
        <p:sp>
          <p:nvSpPr>
            <p:cNvPr id="94" name="Text 34">
              <a:extLst>
                <a:ext uri="{FF2B5EF4-FFF2-40B4-BE49-F238E27FC236}">
                  <a16:creationId xmlns:a16="http://schemas.microsoft.com/office/drawing/2014/main" id="{D1148A76-3085-DEC5-AF79-E21E347F343E}"/>
                </a:ext>
              </a:extLst>
            </p:cNvPr>
            <p:cNvSpPr/>
            <p:nvPr/>
          </p:nvSpPr>
          <p:spPr>
            <a:xfrm>
              <a:off x="4307952" y="3367540"/>
              <a:ext cx="4051399" cy="1371302"/>
            </a:xfrm>
            <a:prstGeom prst="roundRect">
              <a:avLst>
                <a:gd name="adj" fmla="val 3705"/>
              </a:avLst>
            </a:prstGeom>
            <a:solidFill>
              <a:srgbClr val="161B22"/>
            </a:solidFill>
            <a:ln w="9525">
              <a:solidFill>
                <a:srgbClr val="21262D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rtlCol="0" anchor="ctr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95" name="Text 35">
              <a:extLst>
                <a:ext uri="{FF2B5EF4-FFF2-40B4-BE49-F238E27FC236}">
                  <a16:creationId xmlns:a16="http://schemas.microsoft.com/office/drawing/2014/main" id="{AA46F0AC-E12A-656D-E9A4-D6A0DD0B0182}"/>
                </a:ext>
              </a:extLst>
            </p:cNvPr>
            <p:cNvSpPr/>
            <p:nvPr/>
          </p:nvSpPr>
          <p:spPr>
            <a:xfrm>
              <a:off x="4541984" y="3474394"/>
              <a:ext cx="3854016" cy="123825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spcAft>
                  <a:spcPts val="500"/>
                </a:spcAft>
                <a:buNone/>
              </a:pPr>
              <a:r>
                <a:rPr lang="en-US" sz="8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REODE 마이그레이션 실측</a:t>
              </a:r>
              <a:endParaRPr lang="en-US" sz="800" dirty="0"/>
            </a:p>
          </p:txBody>
        </p:sp>
        <p:sp>
          <p:nvSpPr>
            <p:cNvPr id="96" name="Text 36">
              <a:extLst>
                <a:ext uri="{FF2B5EF4-FFF2-40B4-BE49-F238E27FC236}">
                  <a16:creationId xmlns:a16="http://schemas.microsoft.com/office/drawing/2014/main" id="{7CDCF1B5-E214-44DE-54E0-3AF647078994}"/>
                </a:ext>
              </a:extLst>
            </p:cNvPr>
            <p:cNvSpPr/>
            <p:nvPr/>
          </p:nvSpPr>
          <p:spPr>
            <a:xfrm>
              <a:off x="4541982" y="3661621"/>
              <a:ext cx="884463" cy="9525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소스 파일</a:t>
              </a:r>
              <a:endParaRPr lang="en-US" sz="700" dirty="0"/>
            </a:p>
          </p:txBody>
        </p:sp>
        <p:sp>
          <p:nvSpPr>
            <p:cNvPr id="97" name="Text 37">
              <a:extLst>
                <a:ext uri="{FF2B5EF4-FFF2-40B4-BE49-F238E27FC236}">
                  <a16:creationId xmlns:a16="http://schemas.microsoft.com/office/drawing/2014/main" id="{2BE17591-EAF8-23F1-9D1C-2DF84AB23851}"/>
                </a:ext>
              </a:extLst>
            </p:cNvPr>
            <p:cNvSpPr/>
            <p:nvPr/>
          </p:nvSpPr>
          <p:spPr>
            <a:xfrm>
              <a:off x="6954103" y="3661621"/>
              <a:ext cx="1147093" cy="66676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241 Java + 355 JSP</a:t>
              </a:r>
              <a:endParaRPr lang="en-US" sz="700" dirty="0"/>
            </a:p>
          </p:txBody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9F80778E-D5CB-2752-AB04-1BC8265CBE8B}"/>
                </a:ext>
              </a:extLst>
            </p:cNvPr>
            <p:cNvSpPr/>
            <p:nvPr/>
          </p:nvSpPr>
          <p:spPr>
            <a:xfrm>
              <a:off x="4541982" y="3804495"/>
              <a:ext cx="884463" cy="12038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코드 규모</a:t>
              </a:r>
              <a:endParaRPr lang="en-US" sz="700" dirty="0"/>
            </a:p>
          </p:txBody>
        </p:sp>
        <p:sp>
          <p:nvSpPr>
            <p:cNvPr id="99" name="Text 39">
              <a:extLst>
                <a:ext uri="{FF2B5EF4-FFF2-40B4-BE49-F238E27FC236}">
                  <a16:creationId xmlns:a16="http://schemas.microsoft.com/office/drawing/2014/main" id="{86771C05-C0B1-DA88-9273-106A635E4529}"/>
                </a:ext>
              </a:extLst>
            </p:cNvPr>
            <p:cNvSpPr/>
            <p:nvPr/>
          </p:nvSpPr>
          <p:spPr>
            <a:xfrm>
              <a:off x="7338423" y="3801224"/>
              <a:ext cx="1014408" cy="66676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103,983 LoC</a:t>
              </a:r>
              <a:endParaRPr lang="en-US" sz="700" dirty="0"/>
            </a:p>
          </p:txBody>
        </p:sp>
        <p:sp>
          <p:nvSpPr>
            <p:cNvPr id="100" name="Text 40">
              <a:extLst>
                <a:ext uri="{FF2B5EF4-FFF2-40B4-BE49-F238E27FC236}">
                  <a16:creationId xmlns:a16="http://schemas.microsoft.com/office/drawing/2014/main" id="{3D9B67B4-EB34-8150-3C30-676A7E5A5086}"/>
                </a:ext>
              </a:extLst>
            </p:cNvPr>
            <p:cNvSpPr/>
            <p:nvPr/>
          </p:nvSpPr>
          <p:spPr>
            <a:xfrm>
              <a:off x="4541984" y="3947371"/>
              <a:ext cx="949052" cy="9525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마이그레이션 대상</a:t>
              </a:r>
              <a:endParaRPr lang="en-US" sz="700" dirty="0"/>
            </a:p>
          </p:txBody>
        </p:sp>
        <p:sp>
          <p:nvSpPr>
            <p:cNvPr id="101" name="Text 41">
              <a:extLst>
                <a:ext uri="{FF2B5EF4-FFF2-40B4-BE49-F238E27FC236}">
                  <a16:creationId xmlns:a16="http://schemas.microsoft.com/office/drawing/2014/main" id="{152783CC-EDF6-5A2C-31AE-2D0BDFC162A6}"/>
                </a:ext>
              </a:extLst>
            </p:cNvPr>
            <p:cNvSpPr/>
            <p:nvPr/>
          </p:nvSpPr>
          <p:spPr>
            <a:xfrm>
              <a:off x="6718609" y="3947371"/>
              <a:ext cx="1387177" cy="7620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Java 1.8→22, Spring 4→6</a:t>
              </a:r>
              <a:endParaRPr lang="en-US" sz="700" dirty="0"/>
            </a:p>
          </p:txBody>
        </p:sp>
        <p:sp>
          <p:nvSpPr>
            <p:cNvPr id="102" name="Text 42">
              <a:extLst>
                <a:ext uri="{FF2B5EF4-FFF2-40B4-BE49-F238E27FC236}">
                  <a16:creationId xmlns:a16="http://schemas.microsoft.com/office/drawing/2014/main" id="{71BAB912-3EE9-F836-5E89-E2D8A80BA4A9}"/>
                </a:ext>
              </a:extLst>
            </p:cNvPr>
            <p:cNvSpPr/>
            <p:nvPr/>
          </p:nvSpPr>
          <p:spPr>
            <a:xfrm>
              <a:off x="4541984" y="4090245"/>
              <a:ext cx="949052" cy="8512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실행 시간</a:t>
              </a:r>
              <a:endParaRPr lang="en-US" sz="700" dirty="0"/>
            </a:p>
          </p:txBody>
        </p:sp>
        <p:sp>
          <p:nvSpPr>
            <p:cNvPr id="103" name="Text 43">
              <a:extLst>
                <a:ext uri="{FF2B5EF4-FFF2-40B4-BE49-F238E27FC236}">
                  <a16:creationId xmlns:a16="http://schemas.microsoft.com/office/drawing/2014/main" id="{35FD200E-C4E6-4DA4-2DBA-80A58551050C}"/>
                </a:ext>
              </a:extLst>
            </p:cNvPr>
            <p:cNvSpPr/>
            <p:nvPr/>
          </p:nvSpPr>
          <p:spPr>
            <a:xfrm>
              <a:off x="7578757" y="4090246"/>
              <a:ext cx="897315" cy="9883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4ECDC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5h 48m</a:t>
              </a:r>
              <a:endParaRPr lang="en-US" sz="700" dirty="0"/>
            </a:p>
          </p:txBody>
        </p:sp>
        <p:sp>
          <p:nvSpPr>
            <p:cNvPr id="104" name="Text 44">
              <a:extLst>
                <a:ext uri="{FF2B5EF4-FFF2-40B4-BE49-F238E27FC236}">
                  <a16:creationId xmlns:a16="http://schemas.microsoft.com/office/drawing/2014/main" id="{3DAE2F4F-B003-3F50-6A85-CE2137968594}"/>
                </a:ext>
              </a:extLst>
            </p:cNvPr>
            <p:cNvSpPr/>
            <p:nvPr/>
          </p:nvSpPr>
          <p:spPr>
            <a:xfrm>
              <a:off x="4541982" y="4233120"/>
              <a:ext cx="1050429" cy="12337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LLM 라운드</a:t>
              </a:r>
              <a:endParaRPr lang="en-US" sz="700" dirty="0"/>
            </a:p>
          </p:txBody>
        </p:sp>
        <p:sp>
          <p:nvSpPr>
            <p:cNvPr id="105" name="Text 45">
              <a:extLst>
                <a:ext uri="{FF2B5EF4-FFF2-40B4-BE49-F238E27FC236}">
                  <a16:creationId xmlns:a16="http://schemas.microsoft.com/office/drawing/2014/main" id="{0C016589-3FD5-3368-3B15-31DFEC7EFAF9}"/>
                </a:ext>
              </a:extLst>
            </p:cNvPr>
            <p:cNvSpPr/>
            <p:nvPr/>
          </p:nvSpPr>
          <p:spPr>
            <a:xfrm>
              <a:off x="6752335" y="4233427"/>
              <a:ext cx="1469092" cy="76200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8B949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1,133 rounds / 33 sessions</a:t>
              </a:r>
              <a:endParaRPr lang="en-US" sz="700" dirty="0"/>
            </a:p>
          </p:txBody>
        </p:sp>
        <p:sp>
          <p:nvSpPr>
            <p:cNvPr id="106" name="Text 46">
              <a:extLst>
                <a:ext uri="{FF2B5EF4-FFF2-40B4-BE49-F238E27FC236}">
                  <a16:creationId xmlns:a16="http://schemas.microsoft.com/office/drawing/2014/main" id="{4783C332-91BE-35AC-84E3-6F05518257ED}"/>
                </a:ext>
              </a:extLst>
            </p:cNvPr>
            <p:cNvSpPr/>
            <p:nvPr/>
          </p:nvSpPr>
          <p:spPr>
            <a:xfrm>
              <a:off x="4541982" y="4375995"/>
              <a:ext cx="884463" cy="7247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비용</a:t>
              </a:r>
              <a:endParaRPr lang="en-US" sz="700" dirty="0"/>
            </a:p>
          </p:txBody>
        </p:sp>
        <p:sp>
          <p:nvSpPr>
            <p:cNvPr id="107" name="Text 47">
              <a:extLst>
                <a:ext uri="{FF2B5EF4-FFF2-40B4-BE49-F238E27FC236}">
                  <a16:creationId xmlns:a16="http://schemas.microsoft.com/office/drawing/2014/main" id="{45F1E0FC-431A-6F0A-EEBA-8718CC4D5043}"/>
                </a:ext>
              </a:extLst>
            </p:cNvPr>
            <p:cNvSpPr/>
            <p:nvPr/>
          </p:nvSpPr>
          <p:spPr>
            <a:xfrm>
              <a:off x="7609461" y="4388055"/>
              <a:ext cx="896186" cy="63707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F5C54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~$388</a:t>
              </a:r>
              <a:endParaRPr lang="en-US" sz="700" dirty="0"/>
            </a:p>
          </p:txBody>
        </p:sp>
        <p:sp>
          <p:nvSpPr>
            <p:cNvPr id="108" name="Text 48">
              <a:extLst>
                <a:ext uri="{FF2B5EF4-FFF2-40B4-BE49-F238E27FC236}">
                  <a16:creationId xmlns:a16="http://schemas.microsoft.com/office/drawing/2014/main" id="{21B7AAE7-757C-04B9-BBC6-A48C32F8DBBA}"/>
                </a:ext>
              </a:extLst>
            </p:cNvPr>
            <p:cNvSpPr/>
            <p:nvPr/>
          </p:nvSpPr>
          <p:spPr>
            <a:xfrm>
              <a:off x="4541982" y="4518870"/>
              <a:ext cx="794319" cy="14555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dirty="0">
                  <a:solidFill>
                    <a:srgbClr val="E2E8F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빌드 결과</a:t>
              </a:r>
              <a:endParaRPr lang="en-US" sz="700" dirty="0"/>
            </a:p>
          </p:txBody>
        </p:sp>
        <p:sp>
          <p:nvSpPr>
            <p:cNvPr id="109" name="Text 49">
              <a:extLst>
                <a:ext uri="{FF2B5EF4-FFF2-40B4-BE49-F238E27FC236}">
                  <a16:creationId xmlns:a16="http://schemas.microsoft.com/office/drawing/2014/main" id="{5933DF79-678F-DFE2-B938-B1F278DE3F23}"/>
                </a:ext>
              </a:extLst>
            </p:cNvPr>
            <p:cNvSpPr/>
            <p:nvPr/>
          </p:nvSpPr>
          <p:spPr>
            <a:xfrm>
              <a:off x="7201395" y="4511879"/>
              <a:ext cx="1125862" cy="123815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marL="0" indent="0" algn="l">
                <a:buNone/>
              </a:pPr>
              <a:r>
                <a:rPr lang="en-US" sz="700" b="1" dirty="0">
                  <a:solidFill>
                    <a:srgbClr val="34D3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83/83 mvn pass</a:t>
              </a:r>
              <a:endParaRPr lang="en-US" sz="700" dirty="0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61776"/>
            <a:ext cx="11336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도메인 파이프라인 → 범용 하네스 → 의도적 단순화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전형 → 피봇 → 하네스 → 경화 → 단순화. 44 릴리스, 0 회귀.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5720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6050" y="837902"/>
            <a:ext cx="1539180" cy="25301"/>
          </a:xfrm>
          <a:prstGeom prst="rect">
            <a:avLst/>
          </a:prstGeom>
          <a:solidFill>
            <a:srgbClr val="F5C542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085231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174081" y="837902"/>
            <a:ext cx="1539329" cy="25301"/>
          </a:xfrm>
          <a:prstGeom prst="rect">
            <a:avLst/>
          </a:prstGeom>
          <a:solidFill>
            <a:srgbClr val="F97316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13411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2261" y="837902"/>
            <a:ext cx="1539329" cy="25301"/>
          </a:xfrm>
          <a:prstGeom prst="rect">
            <a:avLst/>
          </a:prstGeom>
          <a:solidFill>
            <a:srgbClr val="34D399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4159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30441" y="837902"/>
            <a:ext cx="1539329" cy="25301"/>
          </a:xfrm>
          <a:prstGeom prst="rect">
            <a:avLst/>
          </a:prstGeom>
          <a:solidFill>
            <a:srgbClr val="818CF8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6977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58620" y="837902"/>
            <a:ext cx="1539329" cy="25301"/>
          </a:xfrm>
          <a:prstGeom prst="rect">
            <a:avLst/>
          </a:prstGeom>
          <a:solidFill>
            <a:srgbClr val="EF4444">
              <a:alpha val="3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97950" y="806202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977503"/>
            <a:ext cx="1318766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8226" y="1085404"/>
            <a:ext cx="334417" cy="117277"/>
          </a:xfrm>
          <a:prstGeom prst="roundRect">
            <a:avLst>
              <a:gd name="adj" fmla="val 32487"/>
            </a:avLst>
          </a:prstGeom>
          <a:solidFill>
            <a:srgbClr val="F5C542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8976" y="1110704"/>
            <a:ext cx="237574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v0.1-0.7</a:t>
            </a:r>
            <a:endParaRPr lang="en-US" sz="500" dirty="0"/>
          </a:p>
        </p:txBody>
      </p:sp>
      <p:sp>
        <p:nvSpPr>
          <p:cNvPr id="24" name="Text 22"/>
          <p:cNvSpPr/>
          <p:nvPr/>
        </p:nvSpPr>
        <p:spPr>
          <a:xfrm>
            <a:off x="940743" y="1110704"/>
            <a:ext cx="23742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Jan-Feb</a:t>
            </a:r>
            <a:endParaRPr lang="en-US" sz="500" dirty="0"/>
          </a:p>
        </p:txBody>
      </p:sp>
      <p:sp>
        <p:nvSpPr>
          <p:cNvPr id="25" name="Text 23"/>
          <p:cNvSpPr/>
          <p:nvPr/>
        </p:nvSpPr>
        <p:spPr>
          <a:xfrm>
            <a:off x="568226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68226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DAG. 넥슨 네비게이터실 과제 전형.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576840" y="1679310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StateGraph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1839367" y="958454"/>
            <a:ext cx="1318766" cy="908760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839367" y="977503"/>
            <a:ext cx="1318766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950393" y="1085404"/>
            <a:ext cx="432941" cy="117277"/>
          </a:xfrm>
          <a:prstGeom prst="roundRect">
            <a:avLst>
              <a:gd name="adj" fmla="val 32487"/>
            </a:avLst>
          </a:prstGeom>
          <a:solidFill>
            <a:srgbClr val="F97316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01143" y="1110704"/>
            <a:ext cx="33806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v0.8 PIVOT</a:t>
            </a:r>
            <a:endParaRPr lang="en-US" sz="500" dirty="0"/>
          </a:p>
        </p:txBody>
      </p:sp>
      <p:sp>
        <p:nvSpPr>
          <p:cNvPr id="36" name="Text 34"/>
          <p:cNvSpPr/>
          <p:nvPr/>
        </p:nvSpPr>
        <p:spPr>
          <a:xfrm>
            <a:off x="2421434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초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1950393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950393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 → </a:t>
            </a:r>
          </a:p>
          <a:p>
            <a:pPr marL="0" indent="0" algn="l">
              <a:lnSpc>
                <a:spcPts val="780"/>
              </a:lnSpc>
              <a:buNone/>
            </a:pPr>
            <a:r>
              <a:rPr lang="en-US" sz="6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수행 에이전트로 </a:t>
            </a:r>
            <a:r>
              <a:rPr lang="en-US" sz="600" dirty="0" err="1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</a:t>
            </a:r>
            <a:endParaRPr lang="en-US" sz="600" dirty="0">
              <a:solidFill>
                <a:srgbClr val="E2E8F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>IP DAG</a:t>
            </a:r>
            <a:r>
              <a:rPr lang="ko-KR" altLang="en-US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>는 </a:t>
            </a:r>
            <a:r>
              <a:rPr lang="en-US" altLang="ko-KR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>Plug-in level</a:t>
            </a:r>
            <a:r>
              <a:rPr lang="ko-KR" altLang="en-US" sz="600" dirty="0">
                <a:solidFill>
                  <a:srgbClr val="E2E8F0"/>
                </a:solidFill>
                <a:latin typeface="Arial" pitchFamily="34" charset="0"/>
                <a:cs typeface="Arial" pitchFamily="34" charset="-120"/>
              </a:rPr>
              <a:t>로 격하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013793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범용 설계 전환점</a:t>
            </a:r>
            <a:endParaRPr lang="en-US" sz="500" dirty="0"/>
          </a:p>
        </p:txBody>
      </p:sp>
      <p:sp>
        <p:nvSpPr>
          <p:cNvPr id="41" name="Text 39"/>
          <p:cNvSpPr/>
          <p:nvPr/>
        </p:nvSpPr>
        <p:spPr>
          <a:xfrm>
            <a:off x="3221534" y="958454"/>
            <a:ext cx="1318766" cy="908760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221534" y="977503"/>
            <a:ext cx="1318766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332559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4ECDC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83310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v0.24-0.30</a:t>
            </a:r>
            <a:endParaRPr lang="en-US" sz="500" dirty="0"/>
          </a:p>
        </p:txBody>
      </p:sp>
      <p:sp>
        <p:nvSpPr>
          <p:cNvPr id="48" name="Text 46"/>
          <p:cNvSpPr/>
          <p:nvPr/>
        </p:nvSpPr>
        <p:spPr>
          <a:xfrm>
            <a:off x="3775621" y="1105942"/>
            <a:ext cx="2413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중후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3332559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332559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→ Runtime → Loop 하네스 완성.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395960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tool_use: loop()</a:t>
            </a:r>
            <a:endParaRPr lang="en-US" sz="500" dirty="0"/>
          </a:p>
        </p:txBody>
      </p:sp>
      <p:sp>
        <p:nvSpPr>
          <p:cNvPr id="53" name="Text 51"/>
          <p:cNvSpPr/>
          <p:nvPr/>
        </p:nvSpPr>
        <p:spPr>
          <a:xfrm>
            <a:off x="4603700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603700" y="977503"/>
            <a:ext cx="1318766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4714726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34D399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65477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v0.31-0.35</a:t>
            </a:r>
            <a:endParaRPr lang="en-US" sz="500" dirty="0"/>
          </a:p>
        </p:txBody>
      </p:sp>
      <p:sp>
        <p:nvSpPr>
          <p:cNvPr id="60" name="Text 58"/>
          <p:cNvSpPr/>
          <p:nvPr/>
        </p:nvSpPr>
        <p:spPr>
          <a:xfrm>
            <a:off x="5157788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말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4714726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14726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프로덕션 경화. 20개 결함 수정. SharedServices.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778127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SessionMode + time_budget</a:t>
            </a:r>
            <a:endParaRPr lang="en-US" sz="500" dirty="0"/>
          </a:p>
        </p:txBody>
      </p:sp>
      <p:sp>
        <p:nvSpPr>
          <p:cNvPr id="65" name="Text 63"/>
          <p:cNvSpPr/>
          <p:nvPr/>
        </p:nvSpPr>
        <p:spPr>
          <a:xfrm>
            <a:off x="5985867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5985867" y="977503"/>
            <a:ext cx="1318766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096893" y="1085404"/>
            <a:ext cx="404961" cy="117277"/>
          </a:xfrm>
          <a:prstGeom prst="roundRect">
            <a:avLst>
              <a:gd name="adj" fmla="val 32487"/>
            </a:avLst>
          </a:prstGeom>
          <a:solidFill>
            <a:srgbClr val="818CF8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147643" y="1110704"/>
            <a:ext cx="30953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v0.36-0.38</a:t>
            </a:r>
            <a:endParaRPr lang="en-US" sz="500" dirty="0"/>
          </a:p>
        </p:txBody>
      </p:sp>
      <p:sp>
        <p:nvSpPr>
          <p:cNvPr id="72" name="Text 70"/>
          <p:cNvSpPr/>
          <p:nvPr/>
        </p:nvSpPr>
        <p:spPr>
          <a:xfrm>
            <a:off x="6539954" y="1105942"/>
            <a:ext cx="18550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말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6096893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96893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의도적 단순화. 6L→4L. Thin-only IPC. 835줄 삭제.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160294" y="1711596"/>
            <a:ext cx="98931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"이거 필요해?" -10 modules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7368034" y="958454"/>
            <a:ext cx="1318766" cy="904296"/>
          </a:xfrm>
          <a:prstGeom prst="roundRect">
            <a:avLst>
              <a:gd name="adj" fmla="val 38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7368034" y="977503"/>
            <a:ext cx="1318766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7479060" y="1085404"/>
            <a:ext cx="281285" cy="117277"/>
          </a:xfrm>
          <a:prstGeom prst="roundRect">
            <a:avLst>
              <a:gd name="adj" fmla="val 32487"/>
            </a:avLst>
          </a:prstGeom>
          <a:solidFill>
            <a:srgbClr val="EF4444">
              <a:alpha val="12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529810" y="1110704"/>
            <a:ext cx="1833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7798445" y="1110704"/>
            <a:ext cx="25533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Mar-May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7479060" y="1240780"/>
            <a:ext cx="11186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479060" y="1374130"/>
            <a:ext cx="1118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8→22, Spring 4→6. 103K LoC. 83/83.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7542461" y="1635396"/>
            <a:ext cx="9893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DomainPort: 0 core changes</a:t>
            </a:r>
            <a:endParaRPr lang="en-US" sz="500" dirty="0"/>
          </a:p>
        </p:txBody>
      </p:sp>
      <p:sp>
        <p:nvSpPr>
          <p:cNvPr id="89" name="Text 87"/>
          <p:cNvSpPr/>
          <p:nvPr/>
        </p:nvSpPr>
        <p:spPr>
          <a:xfrm>
            <a:off x="457200" y="4677073"/>
            <a:ext cx="8229600" cy="250627"/>
          </a:xfrm>
          <a:prstGeom prst="roundRect">
            <a:avLst>
              <a:gd name="adj" fmla="val 20269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540068" y="4749998"/>
            <a:ext cx="806386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파이프라인 → 범용 하네스 → 프로덕션 경화 → 의도적 단순화. 44 릴리스, 0 회귀.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57200" y="4991100"/>
            <a:ext cx="297506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과제 합격 → v0.8 Pivot → v0.30 Harness → v0.35 Hardening → v0.38 Simplification → REODE fork</a:t>
            </a:r>
            <a:endParaRPr lang="en-US" sz="500" dirty="0"/>
          </a:p>
        </p:txBody>
      </p:sp>
      <p:sp>
        <p:nvSpPr>
          <p:cNvPr id="92" name="Text 90"/>
          <p:cNvSpPr/>
          <p:nvPr/>
        </p:nvSpPr>
        <p:spPr>
          <a:xfrm>
            <a:off x="8492728" y="4995863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500" dirty="0"/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06213119-33B4-1FF1-36C9-76575258D4B3}"/>
              </a:ext>
            </a:extLst>
          </p:cNvPr>
          <p:cNvSpPr/>
          <p:nvPr/>
        </p:nvSpPr>
        <p:spPr>
          <a:xfrm>
            <a:off x="436454" y="1990395"/>
            <a:ext cx="4135546" cy="1536958"/>
          </a:xfrm>
          <a:prstGeom prst="roundRect">
            <a:avLst>
              <a:gd name="adj" fmla="val 12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8405CF1D-136C-68B5-F95A-B04F2FCF752B}"/>
              </a:ext>
            </a:extLst>
          </p:cNvPr>
          <p:cNvSpPr/>
          <p:nvPr/>
        </p:nvSpPr>
        <p:spPr>
          <a:xfrm>
            <a:off x="572929" y="2101419"/>
            <a:ext cx="3853866" cy="1238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Phase별 정량 분석</a:t>
            </a:r>
            <a:endParaRPr lang="en-US" sz="800" dirty="0"/>
          </a:p>
        </p:txBody>
      </p:sp>
      <p:sp>
        <p:nvSpPr>
          <p:cNvPr id="95" name="Shape 5">
            <a:extLst>
              <a:ext uri="{FF2B5EF4-FFF2-40B4-BE49-F238E27FC236}">
                <a16:creationId xmlns:a16="http://schemas.microsoft.com/office/drawing/2014/main" id="{13D854B5-0F46-064D-55A0-A90C530B5CBF}"/>
              </a:ext>
            </a:extLst>
          </p:cNvPr>
          <p:cNvSpPr/>
          <p:nvPr/>
        </p:nvSpPr>
        <p:spPr>
          <a:xfrm>
            <a:off x="572929" y="2417233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96" name="Text 6">
            <a:extLst>
              <a:ext uri="{FF2B5EF4-FFF2-40B4-BE49-F238E27FC236}">
                <a16:creationId xmlns:a16="http://schemas.microsoft.com/office/drawing/2014/main" id="{8E75BA7E-22A9-D9AB-8B01-176E97F70395}"/>
              </a:ext>
            </a:extLst>
          </p:cNvPr>
          <p:cNvSpPr/>
          <p:nvPr/>
        </p:nvSpPr>
        <p:spPr>
          <a:xfrm>
            <a:off x="572929" y="2301444"/>
            <a:ext cx="712419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600" dirty="0"/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3E760A10-1C02-99C5-CD0D-861628AE53C5}"/>
              </a:ext>
            </a:extLst>
          </p:cNvPr>
          <p:cNvSpPr/>
          <p:nvPr/>
        </p:nvSpPr>
        <p:spPr>
          <a:xfrm>
            <a:off x="1265665" y="2301444"/>
            <a:ext cx="582930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739839BE-0DD7-0690-E02F-A570AEBD7D9C}"/>
              </a:ext>
            </a:extLst>
          </p:cNvPr>
          <p:cNvSpPr/>
          <p:nvPr/>
        </p:nvSpPr>
        <p:spPr>
          <a:xfrm>
            <a:off x="1838436" y="2301444"/>
            <a:ext cx="453289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99" name="Text 9">
            <a:extLst>
              <a:ext uri="{FF2B5EF4-FFF2-40B4-BE49-F238E27FC236}">
                <a16:creationId xmlns:a16="http://schemas.microsoft.com/office/drawing/2014/main" id="{4DF224AF-9964-12A5-E753-D2D9C27B66D5}"/>
              </a:ext>
            </a:extLst>
          </p:cNvPr>
          <p:cNvSpPr/>
          <p:nvPr/>
        </p:nvSpPr>
        <p:spPr>
          <a:xfrm>
            <a:off x="2266641" y="2301444"/>
            <a:ext cx="2105227" cy="8572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산출물</a:t>
            </a:r>
            <a:endParaRPr lang="en-US" sz="600" dirty="0"/>
          </a:p>
        </p:txBody>
      </p:sp>
      <p:sp>
        <p:nvSpPr>
          <p:cNvPr id="100" name="Text 10">
            <a:extLst>
              <a:ext uri="{FF2B5EF4-FFF2-40B4-BE49-F238E27FC236}">
                <a16:creationId xmlns:a16="http://schemas.microsoft.com/office/drawing/2014/main" id="{5CAB87EC-7893-F321-CD02-D5A7BDE75117}"/>
              </a:ext>
            </a:extLst>
          </p:cNvPr>
          <p:cNvSpPr/>
          <p:nvPr/>
        </p:nvSpPr>
        <p:spPr>
          <a:xfrm>
            <a:off x="572929" y="2472746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Ph.1 (v0.1-7)</a:t>
            </a:r>
            <a:endParaRPr lang="en-US" sz="700" dirty="0"/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6E9697B4-10E1-CDFA-6407-6A9F691FB7BD}"/>
              </a:ext>
            </a:extLst>
          </p:cNvPr>
          <p:cNvSpPr/>
          <p:nvPr/>
        </p:nvSpPr>
        <p:spPr>
          <a:xfrm>
            <a:off x="1265665" y="2472746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B53B064B-40F1-73F7-DB8A-FF222FC50E31}"/>
              </a:ext>
            </a:extLst>
          </p:cNvPr>
          <p:cNvSpPr/>
          <p:nvPr/>
        </p:nvSpPr>
        <p:spPr>
          <a:xfrm>
            <a:off x="1838436" y="2472746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</a:t>
            </a:r>
            <a:endParaRPr lang="en-US" sz="700" dirty="0"/>
          </a:p>
        </p:txBody>
      </p:sp>
      <p:sp>
        <p:nvSpPr>
          <p:cNvPr id="103" name="Text 13">
            <a:extLst>
              <a:ext uri="{FF2B5EF4-FFF2-40B4-BE49-F238E27FC236}">
                <a16:creationId xmlns:a16="http://schemas.microsoft.com/office/drawing/2014/main" id="{F3BA5D2B-E8D9-D8A6-35BB-8F5B60CECEBC}"/>
              </a:ext>
            </a:extLst>
          </p:cNvPr>
          <p:cNvSpPr/>
          <p:nvPr/>
        </p:nvSpPr>
        <p:spPr>
          <a:xfrm>
            <a:off x="2266641" y="2472746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9-Node DAG, 14축 루브릭</a:t>
            </a:r>
            <a:endParaRPr lang="en-US" sz="600" dirty="0"/>
          </a:p>
        </p:txBody>
      </p:sp>
      <p:sp>
        <p:nvSpPr>
          <p:cNvPr id="104" name="Text 14">
            <a:extLst>
              <a:ext uri="{FF2B5EF4-FFF2-40B4-BE49-F238E27FC236}">
                <a16:creationId xmlns:a16="http://schemas.microsoft.com/office/drawing/2014/main" id="{5170E63A-B296-3A65-EFBD-626C876DBD0A}"/>
              </a:ext>
            </a:extLst>
          </p:cNvPr>
          <p:cNvSpPr/>
          <p:nvPr/>
        </p:nvSpPr>
        <p:spPr>
          <a:xfrm>
            <a:off x="572929" y="2618746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Ph.2 (v0.8)</a:t>
            </a:r>
            <a:endParaRPr lang="en-US" sz="700" dirty="0"/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A73C509C-0297-B91B-4AB6-FFE33C9CAE10}"/>
              </a:ext>
            </a:extLst>
          </p:cNvPr>
          <p:cNvSpPr/>
          <p:nvPr/>
        </p:nvSpPr>
        <p:spPr>
          <a:xfrm>
            <a:off x="1265665" y="2618746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B53BCB7F-934F-C837-3920-851B1900DFC0}"/>
              </a:ext>
            </a:extLst>
          </p:cNvPr>
          <p:cNvSpPr/>
          <p:nvPr/>
        </p:nvSpPr>
        <p:spPr>
          <a:xfrm>
            <a:off x="1838436" y="2618746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</a:t>
            </a:r>
            <a:endParaRPr lang="en-US" sz="700" dirty="0"/>
          </a:p>
        </p:txBody>
      </p:sp>
      <p:sp>
        <p:nvSpPr>
          <p:cNvPr id="107" name="Text 17">
            <a:extLst>
              <a:ext uri="{FF2B5EF4-FFF2-40B4-BE49-F238E27FC236}">
                <a16:creationId xmlns:a16="http://schemas.microsoft.com/office/drawing/2014/main" id="{B05ED0E4-1A0E-59CB-FF5F-22F30F79653E}"/>
              </a:ext>
            </a:extLst>
          </p:cNvPr>
          <p:cNvSpPr/>
          <p:nvPr/>
        </p:nvSpPr>
        <p:spPr>
          <a:xfrm>
            <a:off x="2266641" y="2618746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DomainPort, Token Guard 철폐</a:t>
            </a:r>
            <a:endParaRPr lang="en-US" sz="600" dirty="0"/>
          </a:p>
        </p:txBody>
      </p:sp>
      <p:sp>
        <p:nvSpPr>
          <p:cNvPr id="108" name="Text 18">
            <a:extLst>
              <a:ext uri="{FF2B5EF4-FFF2-40B4-BE49-F238E27FC236}">
                <a16:creationId xmlns:a16="http://schemas.microsoft.com/office/drawing/2014/main" id="{DB95E3A5-4854-0C47-3198-9C51CD4FB23D}"/>
              </a:ext>
            </a:extLst>
          </p:cNvPr>
          <p:cNvSpPr/>
          <p:nvPr/>
        </p:nvSpPr>
        <p:spPr>
          <a:xfrm>
            <a:off x="572929" y="2764746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Ph.3 (v0.24-30)</a:t>
            </a:r>
            <a:endParaRPr lang="en-US" sz="700" dirty="0"/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0B34D787-4E99-3786-5B73-FC2AAF44F820}"/>
              </a:ext>
            </a:extLst>
          </p:cNvPr>
          <p:cNvSpPr/>
          <p:nvPr/>
        </p:nvSpPr>
        <p:spPr>
          <a:xfrm>
            <a:off x="1265665" y="2764746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110" name="Text 20">
            <a:extLst>
              <a:ext uri="{FF2B5EF4-FFF2-40B4-BE49-F238E27FC236}">
                <a16:creationId xmlns:a16="http://schemas.microsoft.com/office/drawing/2014/main" id="{63FD4E62-F18F-C714-953A-37A606515082}"/>
              </a:ext>
            </a:extLst>
          </p:cNvPr>
          <p:cNvSpPr/>
          <p:nvPr/>
        </p:nvSpPr>
        <p:spPr>
          <a:xfrm>
            <a:off x="1838436" y="2764746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700" dirty="0"/>
          </a:p>
        </p:txBody>
      </p:sp>
      <p:sp>
        <p:nvSpPr>
          <p:cNvPr id="111" name="Text 21">
            <a:extLst>
              <a:ext uri="{FF2B5EF4-FFF2-40B4-BE49-F238E27FC236}">
                <a16:creationId xmlns:a16="http://schemas.microsoft.com/office/drawing/2014/main" id="{4201CD49-DBB5-90CF-7B01-2FE17FD632D7}"/>
              </a:ext>
            </a:extLst>
          </p:cNvPr>
          <p:cNvSpPr/>
          <p:nvPr/>
        </p:nvSpPr>
        <p:spPr>
          <a:xfrm>
            <a:off x="2266641" y="2764746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AgenticLoop, 47 Tools, 40 Hooks</a:t>
            </a:r>
            <a:endParaRPr lang="en-US" sz="600" dirty="0"/>
          </a:p>
        </p:txBody>
      </p:sp>
      <p:sp>
        <p:nvSpPr>
          <p:cNvPr id="112" name="Text 22">
            <a:extLst>
              <a:ext uri="{FF2B5EF4-FFF2-40B4-BE49-F238E27FC236}">
                <a16:creationId xmlns:a16="http://schemas.microsoft.com/office/drawing/2014/main" id="{926500C7-9FC6-A788-F13B-EBFEE260EC18}"/>
              </a:ext>
            </a:extLst>
          </p:cNvPr>
          <p:cNvSpPr/>
          <p:nvPr/>
        </p:nvSpPr>
        <p:spPr>
          <a:xfrm>
            <a:off x="572929" y="2910747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Ph.4 (v0.31-35)</a:t>
            </a:r>
            <a:endParaRPr lang="en-US" sz="700" dirty="0"/>
          </a:p>
        </p:txBody>
      </p:sp>
      <p:sp>
        <p:nvSpPr>
          <p:cNvPr id="113" name="Text 23">
            <a:extLst>
              <a:ext uri="{FF2B5EF4-FFF2-40B4-BE49-F238E27FC236}">
                <a16:creationId xmlns:a16="http://schemas.microsoft.com/office/drawing/2014/main" id="{FBB4C8AC-7EBE-9239-8C50-A30AD26732E9}"/>
              </a:ext>
            </a:extLst>
          </p:cNvPr>
          <p:cNvSpPr/>
          <p:nvPr/>
        </p:nvSpPr>
        <p:spPr>
          <a:xfrm>
            <a:off x="1265665" y="2910747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114" name="Text 24">
            <a:extLst>
              <a:ext uri="{FF2B5EF4-FFF2-40B4-BE49-F238E27FC236}">
                <a16:creationId xmlns:a16="http://schemas.microsoft.com/office/drawing/2014/main" id="{D38A5161-2FD2-351E-B804-BD51FD686FA6}"/>
              </a:ext>
            </a:extLst>
          </p:cNvPr>
          <p:cNvSpPr/>
          <p:nvPr/>
        </p:nvSpPr>
        <p:spPr>
          <a:xfrm>
            <a:off x="1838436" y="2910747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</a:t>
            </a:r>
            <a:endParaRPr lang="en-US" sz="700" dirty="0"/>
          </a:p>
        </p:txBody>
      </p:sp>
      <p:sp>
        <p:nvSpPr>
          <p:cNvPr id="115" name="Text 25">
            <a:extLst>
              <a:ext uri="{FF2B5EF4-FFF2-40B4-BE49-F238E27FC236}">
                <a16:creationId xmlns:a16="http://schemas.microsoft.com/office/drawing/2014/main" id="{FDDEBC89-BD85-B2F6-F92E-BBA2CDF9A5FB}"/>
              </a:ext>
            </a:extLst>
          </p:cNvPr>
          <p:cNvSpPr/>
          <p:nvPr/>
        </p:nvSpPr>
        <p:spPr>
          <a:xfrm>
            <a:off x="2266641" y="2910747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SharedServices, 42 Skills, Hardening</a:t>
            </a:r>
            <a:endParaRPr lang="en-US" sz="600" dirty="0"/>
          </a:p>
        </p:txBody>
      </p:sp>
      <p:sp>
        <p:nvSpPr>
          <p:cNvPr id="116" name="Text 26">
            <a:extLst>
              <a:ext uri="{FF2B5EF4-FFF2-40B4-BE49-F238E27FC236}">
                <a16:creationId xmlns:a16="http://schemas.microsoft.com/office/drawing/2014/main" id="{585DDD28-F4E3-1855-B77A-429AA9392AA1}"/>
              </a:ext>
            </a:extLst>
          </p:cNvPr>
          <p:cNvSpPr/>
          <p:nvPr/>
        </p:nvSpPr>
        <p:spPr>
          <a:xfrm>
            <a:off x="572929" y="3056747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Ph.5 (v0.36-38)</a:t>
            </a:r>
            <a:endParaRPr lang="en-US" sz="700" dirty="0"/>
          </a:p>
        </p:txBody>
      </p:sp>
      <p:sp>
        <p:nvSpPr>
          <p:cNvPr id="117" name="Text 27">
            <a:extLst>
              <a:ext uri="{FF2B5EF4-FFF2-40B4-BE49-F238E27FC236}">
                <a16:creationId xmlns:a16="http://schemas.microsoft.com/office/drawing/2014/main" id="{150D8357-D29C-E27F-7898-A848CB01A1C8}"/>
              </a:ext>
            </a:extLst>
          </p:cNvPr>
          <p:cNvSpPr/>
          <p:nvPr/>
        </p:nvSpPr>
        <p:spPr>
          <a:xfrm>
            <a:off x="1265665" y="3056747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118" name="Text 28">
            <a:extLst>
              <a:ext uri="{FF2B5EF4-FFF2-40B4-BE49-F238E27FC236}">
                <a16:creationId xmlns:a16="http://schemas.microsoft.com/office/drawing/2014/main" id="{79CF7336-4C1F-F29F-DC76-A74A8FA76EE1}"/>
              </a:ext>
            </a:extLst>
          </p:cNvPr>
          <p:cNvSpPr/>
          <p:nvPr/>
        </p:nvSpPr>
        <p:spPr>
          <a:xfrm>
            <a:off x="1838436" y="3056747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endParaRPr lang="en-US" sz="700" dirty="0"/>
          </a:p>
        </p:txBody>
      </p:sp>
      <p:sp>
        <p:nvSpPr>
          <p:cNvPr id="119" name="Text 29">
            <a:extLst>
              <a:ext uri="{FF2B5EF4-FFF2-40B4-BE49-F238E27FC236}">
                <a16:creationId xmlns:a16="http://schemas.microsoft.com/office/drawing/2014/main" id="{88725C8F-487B-40CD-85FC-19B48B35F19F}"/>
              </a:ext>
            </a:extLst>
          </p:cNvPr>
          <p:cNvSpPr/>
          <p:nvPr/>
        </p:nvSpPr>
        <p:spPr>
          <a:xfrm>
            <a:off x="2266641" y="3056747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Thin-only, 4-Layer, Resilience</a:t>
            </a:r>
            <a:endParaRPr lang="en-US" sz="600" dirty="0"/>
          </a:p>
        </p:txBody>
      </p:sp>
      <p:sp>
        <p:nvSpPr>
          <p:cNvPr id="120" name="Shape 30">
            <a:extLst>
              <a:ext uri="{FF2B5EF4-FFF2-40B4-BE49-F238E27FC236}">
                <a16:creationId xmlns:a16="http://schemas.microsoft.com/office/drawing/2014/main" id="{23370CF1-0102-A18B-5B50-00F0A59E87C3}"/>
              </a:ext>
            </a:extLst>
          </p:cNvPr>
          <p:cNvSpPr/>
          <p:nvPr/>
        </p:nvSpPr>
        <p:spPr>
          <a:xfrm>
            <a:off x="572929" y="3207510"/>
            <a:ext cx="37783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121" name="Text 31">
            <a:extLst>
              <a:ext uri="{FF2B5EF4-FFF2-40B4-BE49-F238E27FC236}">
                <a16:creationId xmlns:a16="http://schemas.microsoft.com/office/drawing/2014/main" id="{865DC711-BB6C-AFEB-A760-10D007794AB4}"/>
              </a:ext>
            </a:extLst>
          </p:cNvPr>
          <p:cNvSpPr/>
          <p:nvPr/>
        </p:nvSpPr>
        <p:spPr>
          <a:xfrm>
            <a:off x="572929" y="3250372"/>
            <a:ext cx="71241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00" dirty="0"/>
          </a:p>
        </p:txBody>
      </p:sp>
      <p:sp>
        <p:nvSpPr>
          <p:cNvPr id="122" name="Text 32">
            <a:extLst>
              <a:ext uri="{FF2B5EF4-FFF2-40B4-BE49-F238E27FC236}">
                <a16:creationId xmlns:a16="http://schemas.microsoft.com/office/drawing/2014/main" id="{F93AAA66-CB43-8CF7-E447-22794F30721F}"/>
              </a:ext>
            </a:extLst>
          </p:cNvPr>
          <p:cNvSpPr/>
          <p:nvPr/>
        </p:nvSpPr>
        <p:spPr>
          <a:xfrm>
            <a:off x="1265665" y="3250372"/>
            <a:ext cx="582930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700" dirty="0"/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B18F923D-44B4-FD26-B043-9B5F336AF676}"/>
              </a:ext>
            </a:extLst>
          </p:cNvPr>
          <p:cNvSpPr/>
          <p:nvPr/>
        </p:nvSpPr>
        <p:spPr>
          <a:xfrm>
            <a:off x="1838436" y="3250372"/>
            <a:ext cx="453289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</a:t>
            </a:r>
            <a:endParaRPr lang="en-US" sz="700" dirty="0"/>
          </a:p>
        </p:txBody>
      </p:sp>
      <p:sp>
        <p:nvSpPr>
          <p:cNvPr id="124" name="Text 34">
            <a:extLst>
              <a:ext uri="{FF2B5EF4-FFF2-40B4-BE49-F238E27FC236}">
                <a16:creationId xmlns:a16="http://schemas.microsoft.com/office/drawing/2014/main" id="{72487F21-B6D7-D4CC-550D-16A89B90BA1E}"/>
              </a:ext>
            </a:extLst>
          </p:cNvPr>
          <p:cNvSpPr/>
          <p:nvPr/>
        </p:nvSpPr>
        <p:spPr>
          <a:xfrm>
            <a:off x="2266641" y="3250372"/>
            <a:ext cx="2105227" cy="952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regressions</a:t>
            </a:r>
            <a:endParaRPr lang="en-US" sz="600" dirty="0"/>
          </a:p>
        </p:txBody>
      </p:sp>
      <p:sp>
        <p:nvSpPr>
          <p:cNvPr id="127" name="Shape 35">
            <a:extLst>
              <a:ext uri="{FF2B5EF4-FFF2-40B4-BE49-F238E27FC236}">
                <a16:creationId xmlns:a16="http://schemas.microsoft.com/office/drawing/2014/main" id="{42A294BE-FDFE-D5F4-4892-E20F7DDAE193}"/>
              </a:ext>
            </a:extLst>
          </p:cNvPr>
          <p:cNvSpPr/>
          <p:nvPr/>
        </p:nvSpPr>
        <p:spPr>
          <a:xfrm>
            <a:off x="4699759" y="2120708"/>
            <a:ext cx="4051399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36">
            <a:extLst>
              <a:ext uri="{FF2B5EF4-FFF2-40B4-BE49-F238E27FC236}">
                <a16:creationId xmlns:a16="http://schemas.microsoft.com/office/drawing/2014/main" id="{7E941BD0-F89A-BF89-4DD9-3E0BBD4F9C49}"/>
              </a:ext>
            </a:extLst>
          </p:cNvPr>
          <p:cNvSpPr/>
          <p:nvPr/>
        </p:nvSpPr>
        <p:spPr>
          <a:xfrm>
            <a:off x="4699759" y="1954021"/>
            <a:ext cx="41324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핵심 전환점</a:t>
            </a:r>
            <a:endParaRPr lang="en-US" sz="800" dirty="0"/>
          </a:p>
        </p:txBody>
      </p:sp>
      <p:sp>
        <p:nvSpPr>
          <p:cNvPr id="129" name="Text 37">
            <a:extLst>
              <a:ext uri="{FF2B5EF4-FFF2-40B4-BE49-F238E27FC236}">
                <a16:creationId xmlns:a16="http://schemas.microsoft.com/office/drawing/2014/main" id="{0FDC40D7-E373-9D08-FBAF-B5E06A6DF33E}"/>
              </a:ext>
            </a:extLst>
          </p:cNvPr>
          <p:cNvSpPr/>
          <p:nvPr/>
        </p:nvSpPr>
        <p:spPr>
          <a:xfrm>
            <a:off x="4699759" y="2188871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0" name="Shape 38">
            <a:extLst>
              <a:ext uri="{FF2B5EF4-FFF2-40B4-BE49-F238E27FC236}">
                <a16:creationId xmlns:a16="http://schemas.microsoft.com/office/drawing/2014/main" id="{D2500DDF-9B9B-184B-9221-7D0DFBF2B7D2}"/>
              </a:ext>
            </a:extLst>
          </p:cNvPr>
          <p:cNvSpPr/>
          <p:nvPr/>
        </p:nvSpPr>
        <p:spPr>
          <a:xfrm>
            <a:off x="4699759" y="2207921"/>
            <a:ext cx="405139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Shape 39">
            <a:extLst>
              <a:ext uri="{FF2B5EF4-FFF2-40B4-BE49-F238E27FC236}">
                <a16:creationId xmlns:a16="http://schemas.microsoft.com/office/drawing/2014/main" id="{74047521-62F6-6767-D10A-45C7601F7B8B}"/>
              </a:ext>
            </a:extLst>
          </p:cNvPr>
          <p:cNvSpPr/>
          <p:nvPr/>
        </p:nvSpPr>
        <p:spPr>
          <a:xfrm>
            <a:off x="8746396" y="2188871"/>
            <a:ext cx="0" cy="74056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40">
            <a:extLst>
              <a:ext uri="{FF2B5EF4-FFF2-40B4-BE49-F238E27FC236}">
                <a16:creationId xmlns:a16="http://schemas.microsoft.com/office/drawing/2014/main" id="{1BDD4792-075F-AEF7-C88B-0A21C89CCBCD}"/>
              </a:ext>
            </a:extLst>
          </p:cNvPr>
          <p:cNvSpPr/>
          <p:nvPr/>
        </p:nvSpPr>
        <p:spPr>
          <a:xfrm>
            <a:off x="4699759" y="2924678"/>
            <a:ext cx="4051399" cy="0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Shape 41">
            <a:extLst>
              <a:ext uri="{FF2B5EF4-FFF2-40B4-BE49-F238E27FC236}">
                <a16:creationId xmlns:a16="http://schemas.microsoft.com/office/drawing/2014/main" id="{D93E2E41-2456-5C39-2855-6DE7C9CD78FB}"/>
              </a:ext>
            </a:extLst>
          </p:cNvPr>
          <p:cNvSpPr/>
          <p:nvPr/>
        </p:nvSpPr>
        <p:spPr>
          <a:xfrm>
            <a:off x="4704521" y="2188871"/>
            <a:ext cx="0" cy="740569"/>
          </a:xfrm>
          <a:prstGeom prst="line">
            <a:avLst/>
          </a:prstGeom>
          <a:noFill/>
          <a:ln w="95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4" name="Text 42">
            <a:extLst>
              <a:ext uri="{FF2B5EF4-FFF2-40B4-BE49-F238E27FC236}">
                <a16:creationId xmlns:a16="http://schemas.microsoft.com/office/drawing/2014/main" id="{BB1792B5-AEBA-BD15-8C53-F54D215DCACC}"/>
              </a:ext>
            </a:extLst>
          </p:cNvPr>
          <p:cNvSpPr/>
          <p:nvPr/>
        </p:nvSpPr>
        <p:spPr>
          <a:xfrm>
            <a:off x="4836234" y="2315822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전환점 1: Identity Pivot (v0.8)</a:t>
            </a:r>
            <a:endParaRPr lang="en-US" sz="700" dirty="0"/>
          </a:p>
        </p:txBody>
      </p:sp>
      <p:sp>
        <p:nvSpPr>
          <p:cNvPr id="135" name="Text 43">
            <a:extLst>
              <a:ext uri="{FF2B5EF4-FFF2-40B4-BE49-F238E27FC236}">
                <a16:creationId xmlns:a16="http://schemas.microsoft.com/office/drawing/2014/main" id="{5D9907A3-C0D4-B047-E92F-F2EA6CED2E64}"/>
              </a:ext>
            </a:extLst>
          </p:cNvPr>
          <p:cNvSpPr/>
          <p:nvPr/>
        </p:nvSpPr>
        <p:spPr>
          <a:xfrm>
            <a:off x="4836234" y="2458697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 → 자율 피봇. "Undervalued IP Analyzer"에서 "Autonomous Execution Harness"로. DomainPort Protocol 설계. 도메인 종속에서 범용으로 전환한 결정입니다.</a:t>
            </a:r>
            <a:endParaRPr lang="en-US" sz="700" dirty="0"/>
          </a:p>
        </p:txBody>
      </p:sp>
      <p:sp>
        <p:nvSpPr>
          <p:cNvPr id="136" name="Text 44">
            <a:extLst>
              <a:ext uri="{FF2B5EF4-FFF2-40B4-BE49-F238E27FC236}">
                <a16:creationId xmlns:a16="http://schemas.microsoft.com/office/drawing/2014/main" id="{4AD4EBA7-EFAF-12A9-650E-D27783FC4951}"/>
              </a:ext>
            </a:extLst>
          </p:cNvPr>
          <p:cNvSpPr/>
          <p:nvPr/>
        </p:nvSpPr>
        <p:spPr>
          <a:xfrm>
            <a:off x="4836234" y="2745340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전환이 없었다면 REODE 이식은 불가능했습니다.</a:t>
            </a:r>
            <a:endParaRPr lang="en-US" sz="600" dirty="0"/>
          </a:p>
        </p:txBody>
      </p:sp>
      <p:sp>
        <p:nvSpPr>
          <p:cNvPr id="137" name="Text 45">
            <a:extLst>
              <a:ext uri="{FF2B5EF4-FFF2-40B4-BE49-F238E27FC236}">
                <a16:creationId xmlns:a16="http://schemas.microsoft.com/office/drawing/2014/main" id="{F976FBBC-B11F-FB0C-3A58-E59FA8E33565}"/>
              </a:ext>
            </a:extLst>
          </p:cNvPr>
          <p:cNvSpPr/>
          <p:nvPr/>
        </p:nvSpPr>
        <p:spPr>
          <a:xfrm>
            <a:off x="4699759" y="2992841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8" name="Shape 46">
            <a:extLst>
              <a:ext uri="{FF2B5EF4-FFF2-40B4-BE49-F238E27FC236}">
                <a16:creationId xmlns:a16="http://schemas.microsoft.com/office/drawing/2014/main" id="{2A6D3CAD-BB52-F42B-B963-5DCE0C17A510}"/>
              </a:ext>
            </a:extLst>
          </p:cNvPr>
          <p:cNvSpPr/>
          <p:nvPr/>
        </p:nvSpPr>
        <p:spPr>
          <a:xfrm>
            <a:off x="4699759" y="3011891"/>
            <a:ext cx="4051399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Shape 47">
            <a:extLst>
              <a:ext uri="{FF2B5EF4-FFF2-40B4-BE49-F238E27FC236}">
                <a16:creationId xmlns:a16="http://schemas.microsoft.com/office/drawing/2014/main" id="{F092CE91-E4CC-4D50-7E59-78CD3A8D96EE}"/>
              </a:ext>
            </a:extLst>
          </p:cNvPr>
          <p:cNvSpPr/>
          <p:nvPr/>
        </p:nvSpPr>
        <p:spPr>
          <a:xfrm>
            <a:off x="8746396" y="2992841"/>
            <a:ext cx="0" cy="74056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Shape 48">
            <a:extLst>
              <a:ext uri="{FF2B5EF4-FFF2-40B4-BE49-F238E27FC236}">
                <a16:creationId xmlns:a16="http://schemas.microsoft.com/office/drawing/2014/main" id="{2B9F7380-08D4-E74D-B631-3EA94858D153}"/>
              </a:ext>
            </a:extLst>
          </p:cNvPr>
          <p:cNvSpPr/>
          <p:nvPr/>
        </p:nvSpPr>
        <p:spPr>
          <a:xfrm>
            <a:off x="4699759" y="3728647"/>
            <a:ext cx="4051399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1" name="Shape 49">
            <a:extLst>
              <a:ext uri="{FF2B5EF4-FFF2-40B4-BE49-F238E27FC236}">
                <a16:creationId xmlns:a16="http://schemas.microsoft.com/office/drawing/2014/main" id="{3B3ABF32-07CA-5ED3-0871-0865EAD7062E}"/>
              </a:ext>
            </a:extLst>
          </p:cNvPr>
          <p:cNvSpPr/>
          <p:nvPr/>
        </p:nvSpPr>
        <p:spPr>
          <a:xfrm>
            <a:off x="4704521" y="2992841"/>
            <a:ext cx="0" cy="740569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2" name="Text 50">
            <a:extLst>
              <a:ext uri="{FF2B5EF4-FFF2-40B4-BE49-F238E27FC236}">
                <a16:creationId xmlns:a16="http://schemas.microsoft.com/office/drawing/2014/main" id="{47DD2838-0142-E601-2B3A-C5BCDEDC4406}"/>
              </a:ext>
            </a:extLst>
          </p:cNvPr>
          <p:cNvSpPr/>
          <p:nvPr/>
        </p:nvSpPr>
        <p:spPr>
          <a:xfrm>
            <a:off x="4836234" y="3119791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전환점 2: SharedServices Gateway (v0.35)</a:t>
            </a:r>
            <a:endParaRPr lang="en-US" sz="700" dirty="0"/>
          </a:p>
        </p:txBody>
      </p:sp>
      <p:sp>
        <p:nvSpPr>
          <p:cNvPr id="143" name="Text 51">
            <a:extLst>
              <a:ext uri="{FF2B5EF4-FFF2-40B4-BE49-F238E27FC236}">
                <a16:creationId xmlns:a16="http://schemas.microsoft.com/office/drawing/2014/main" id="{7B5551CD-EE59-0B98-1A98-F3FE3572AD4A}"/>
              </a:ext>
            </a:extLst>
          </p:cNvPr>
          <p:cNvSpPr/>
          <p:nvPr/>
        </p:nvSpPr>
        <p:spPr>
          <a:xfrm>
            <a:off x="4836234" y="3262666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create_session(mode) 단일 팩토리. REPL, Slack, Scheduler가 동일한 리소스를 공유합니다. 이 패턴이 thin-only 전환의 전제 조건이었습니다.</a:t>
            </a:r>
            <a:endParaRPr lang="en-US" sz="700" dirty="0"/>
          </a:p>
        </p:txBody>
      </p:sp>
      <p:sp>
        <p:nvSpPr>
          <p:cNvPr id="144" name="Text 52">
            <a:extLst>
              <a:ext uri="{FF2B5EF4-FFF2-40B4-BE49-F238E27FC236}">
                <a16:creationId xmlns:a16="http://schemas.microsoft.com/office/drawing/2014/main" id="{0CA5C8A5-6DC4-2592-6CF0-F7829DC2FEE5}"/>
              </a:ext>
            </a:extLst>
          </p:cNvPr>
          <p:cNvSpPr/>
          <p:nvPr/>
        </p:nvSpPr>
        <p:spPr>
          <a:xfrm>
            <a:off x="4836234" y="3549309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팩토리 없이는 unified daemon 구현이 불가능했습니다.</a:t>
            </a:r>
            <a:endParaRPr lang="en-US" sz="600" dirty="0"/>
          </a:p>
        </p:txBody>
      </p:sp>
      <p:sp>
        <p:nvSpPr>
          <p:cNvPr id="145" name="Text 53">
            <a:extLst>
              <a:ext uri="{FF2B5EF4-FFF2-40B4-BE49-F238E27FC236}">
                <a16:creationId xmlns:a16="http://schemas.microsoft.com/office/drawing/2014/main" id="{4EA93454-B79E-CB6C-C9D0-E304648D4554}"/>
              </a:ext>
            </a:extLst>
          </p:cNvPr>
          <p:cNvSpPr/>
          <p:nvPr/>
        </p:nvSpPr>
        <p:spPr>
          <a:xfrm>
            <a:off x="4699759" y="3796810"/>
            <a:ext cx="4051399" cy="740569"/>
          </a:xfrm>
          <a:prstGeom prst="roundRect">
            <a:avLst>
              <a:gd name="adj" fmla="val 6860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6" name="Shape 54">
            <a:extLst>
              <a:ext uri="{FF2B5EF4-FFF2-40B4-BE49-F238E27FC236}">
                <a16:creationId xmlns:a16="http://schemas.microsoft.com/office/drawing/2014/main" id="{35E2C857-25C0-D132-04A0-D8DC3EA215A0}"/>
              </a:ext>
            </a:extLst>
          </p:cNvPr>
          <p:cNvSpPr/>
          <p:nvPr/>
        </p:nvSpPr>
        <p:spPr>
          <a:xfrm>
            <a:off x="4699759" y="3815860"/>
            <a:ext cx="4051399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7" name="Shape 55">
            <a:extLst>
              <a:ext uri="{FF2B5EF4-FFF2-40B4-BE49-F238E27FC236}">
                <a16:creationId xmlns:a16="http://schemas.microsoft.com/office/drawing/2014/main" id="{28D9DF94-81B0-33EC-C0BB-B7594737B070}"/>
              </a:ext>
            </a:extLst>
          </p:cNvPr>
          <p:cNvSpPr/>
          <p:nvPr/>
        </p:nvSpPr>
        <p:spPr>
          <a:xfrm>
            <a:off x="8746396" y="3796810"/>
            <a:ext cx="0" cy="74056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8" name="Shape 56">
            <a:extLst>
              <a:ext uri="{FF2B5EF4-FFF2-40B4-BE49-F238E27FC236}">
                <a16:creationId xmlns:a16="http://schemas.microsoft.com/office/drawing/2014/main" id="{B509C376-0E08-EC64-6F30-5E73BC720E4E}"/>
              </a:ext>
            </a:extLst>
          </p:cNvPr>
          <p:cNvSpPr/>
          <p:nvPr/>
        </p:nvSpPr>
        <p:spPr>
          <a:xfrm>
            <a:off x="4699759" y="4532617"/>
            <a:ext cx="4051399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9" name="Shape 57">
            <a:extLst>
              <a:ext uri="{FF2B5EF4-FFF2-40B4-BE49-F238E27FC236}">
                <a16:creationId xmlns:a16="http://schemas.microsoft.com/office/drawing/2014/main" id="{9F532FFB-836F-E845-0A6D-A643462020FA}"/>
              </a:ext>
            </a:extLst>
          </p:cNvPr>
          <p:cNvSpPr/>
          <p:nvPr/>
        </p:nvSpPr>
        <p:spPr>
          <a:xfrm>
            <a:off x="4704521" y="3796810"/>
            <a:ext cx="0" cy="740569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0" name="Text 58">
            <a:extLst>
              <a:ext uri="{FF2B5EF4-FFF2-40B4-BE49-F238E27FC236}">
                <a16:creationId xmlns:a16="http://schemas.microsoft.com/office/drawing/2014/main" id="{6D313EB1-A1B1-19C2-F7B1-3FAF8C85AC18}"/>
              </a:ext>
            </a:extLst>
          </p:cNvPr>
          <p:cNvSpPr/>
          <p:nvPr/>
        </p:nvSpPr>
        <p:spPr>
          <a:xfrm>
            <a:off x="4836234" y="3923761"/>
            <a:ext cx="385401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전환점 3: "이거 필요해?" (v0.37)</a:t>
            </a:r>
            <a:endParaRPr lang="en-US" sz="700" dirty="0"/>
          </a:p>
        </p:txBody>
      </p:sp>
      <p:sp>
        <p:nvSpPr>
          <p:cNvPr id="151" name="Text 59">
            <a:extLst>
              <a:ext uri="{FF2B5EF4-FFF2-40B4-BE49-F238E27FC236}">
                <a16:creationId xmlns:a16="http://schemas.microsoft.com/office/drawing/2014/main" id="{F8B1AD7D-A946-29D7-C356-4A4A7974C425}"/>
              </a:ext>
            </a:extLst>
          </p:cNvPr>
          <p:cNvSpPr/>
          <p:nvPr/>
        </p:nvSpPr>
        <p:spPr>
          <a:xfrm>
            <a:off x="4836234" y="4066636"/>
            <a:ext cx="385401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의도적 단순화. 복잡함을 추가하는 것보다 제거하는 것이 더 어렵습니다. 202→192 모듈, 6→4 레이어, 5→2 게이트. 줄였지만 기능은 더 추가되었습니다.</a:t>
            </a:r>
            <a:endParaRPr lang="en-US" sz="700" dirty="0"/>
          </a:p>
        </p:txBody>
      </p:sp>
      <p:sp>
        <p:nvSpPr>
          <p:cNvPr id="152" name="Text 60">
            <a:extLst>
              <a:ext uri="{FF2B5EF4-FFF2-40B4-BE49-F238E27FC236}">
                <a16:creationId xmlns:a16="http://schemas.microsoft.com/office/drawing/2014/main" id="{F9304CF4-CE70-20B3-F0D8-D5222D6D75D0}"/>
              </a:ext>
            </a:extLst>
          </p:cNvPr>
          <p:cNvSpPr/>
          <p:nvPr/>
        </p:nvSpPr>
        <p:spPr>
          <a:xfrm>
            <a:off x="4836234" y="4353279"/>
            <a:ext cx="3854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단순화 없이는 v0.38 LLM Resilience 14항목 추가 공간이 없었습니다.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9160</Words>
  <Application>Microsoft Macintosh PowerPoint</Application>
  <PresentationFormat>화면 슬라이드 쇼(16:9)</PresentationFormat>
  <Paragraphs>1432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v0.38 — Autonomous Execution Harness</dc:title>
  <dc:subject>PptxGenJS Presentation</dc:subject>
  <dc:creator>mangowhoiscloud</dc:creator>
  <cp:lastModifiedBy>mng polar</cp:lastModifiedBy>
  <cp:revision>41</cp:revision>
  <dcterms:created xsi:type="dcterms:W3CDTF">2026-03-30T14:59:15Z</dcterms:created>
  <dcterms:modified xsi:type="dcterms:W3CDTF">2026-03-30T16:38:47Z</dcterms:modified>
</cp:coreProperties>
</file>