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9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997595"/>
            <a:ext cx="2801689" cy="311051"/>
          </a:xfrm>
          <a:prstGeom prst="roundRect">
            <a:avLst>
              <a:gd name="adj" fmla="val 1633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115020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095970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435596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1933426"/>
            <a:ext cx="62698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184202"/>
            <a:ext cx="62698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Long-Running Autonomous Harness — 50×200 컨텍스트 창 위에서 자율 실행을 제어하는 4축 엔지니어링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57200" y="2460278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471291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671316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018979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130004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425279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457200" y="3799731"/>
            <a:ext cx="1479500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55651" y="3898106"/>
            <a:ext cx="12825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555651" y="4028182"/>
            <a:ext cx="1282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012900" y="3799731"/>
            <a:ext cx="14796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2111350" y="3898106"/>
            <a:ext cx="12827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111350" y="4028182"/>
            <a:ext cx="12827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3-Brake Safety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3568750" y="3799731"/>
            <a:ext cx="1479500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3667201" y="3898106"/>
            <a:ext cx="12825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3667201" y="4028182"/>
            <a:ext cx="1282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Cross-LLM α≥0.67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5124450" y="3799731"/>
            <a:ext cx="14796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5222900" y="3898106"/>
            <a:ext cx="12827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5222900" y="4028182"/>
            <a:ext cx="12827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TokenTracker</a:t>
            </a:r>
            <a:endParaRPr lang="en-US" sz="600" dirty="0"/>
          </a:p>
        </p:txBody>
      </p:sp>
      <p:pic>
        <p:nvPicPr>
          <p:cNvPr id="39" name="Image 1" descr="/Users/mango/workspace/portfolio/geode/versions/v9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43" name="Text 39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995785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16083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227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1025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2596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871960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05310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19893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36086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46563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1641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47851" y="2894112"/>
            <a:ext cx="685502" cy="282476"/>
          </a:xfrm>
          <a:prstGeom prst="roundRect">
            <a:avLst>
              <a:gd name="adj" fmla="val 17984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2992487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2596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27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227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7545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32212"/>
            <a:ext cx="2032397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15582" y="303058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15582" y="3116312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05310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2596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862435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1995785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17036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32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2753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323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7735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2951262"/>
            <a:ext cx="2032397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228" y="3049637"/>
            <a:ext cx="18204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813"/>
            <a:ext cx="8229600" cy="586978"/>
          </a:xfrm>
          <a:prstGeom prst="roundRect">
            <a:avLst>
              <a:gd name="adj" fmla="val 86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813"/>
            <a:ext cx="0" cy="58697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700" y="3554313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70343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3351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분석을 선택하면 재사용성 없는 일회성 프로젝트로 끝난다. 하네스 인프라를 선택하기 때문에 REODE 포크가 가능해지고,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32149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62027" y="2521000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설계하여 수렴을 강제한다.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32149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1427" y="2521000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 나오기 때문에 5-Layer 검증(Guardrails→BiasBuster→Cross-LLM→Rights→Ground Truth)으로 신뢰도를 확보한다.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492972"/>
            <a:ext cx="2470249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62027" y="4581823"/>
            <a:ext cx="23125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492972"/>
            <a:ext cx="2470398" cy="263426"/>
          </a:xfrm>
          <a:prstGeom prst="roundRect">
            <a:avLst>
              <a:gd name="adj" fmla="val 1928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81427" y="4581823"/>
            <a:ext cx="23127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83878"/>
            <a:ext cx="5794177" cy="698450"/>
          </a:xfrm>
          <a:prstGeom prst="roundRect">
            <a:avLst>
              <a:gd name="adj" fmla="val 10910"/>
            </a:avLst>
          </a:prstGeom>
          <a:solidFill>
            <a:srgbClr val="161B22"/>
          </a:solidFill>
          <a:ln w="19050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8650" y="948928"/>
            <a:ext cx="660350" cy="244376"/>
          </a:xfrm>
          <a:prstGeom prst="roundRect">
            <a:avLst>
              <a:gd name="adj" fmla="val 20788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2046" y="999679"/>
            <a:ext cx="673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2046" y="1231404"/>
            <a:ext cx="6735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415951" y="917228"/>
            <a:ext cx="12650" cy="4317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55552" y="936278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55409" y="103465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655409" y="1145679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425줄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957810" y="106159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48310" y="936278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248168" y="103465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248168" y="1145679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23-Rule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50569" y="106159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41069" y="936278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40926" y="103465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 Commits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4840926" y="1145679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개발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092101" y="1482328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92101" y="1583829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536502" y="1517154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713161" y="1540966"/>
            <a:ext cx="5736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전파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338983" y="1540966"/>
            <a:ext cx="11502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DEV 규칙 강화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1685330"/>
            <a:ext cx="5794177" cy="698450"/>
          </a:xfrm>
          <a:prstGeom prst="roundRect">
            <a:avLst>
              <a:gd name="adj" fmla="val 10910"/>
            </a:avLst>
          </a:prstGeom>
          <a:solidFill>
            <a:srgbClr val="161B22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8650" y="1850380"/>
            <a:ext cx="660350" cy="244376"/>
          </a:xfrm>
          <a:prstGeom prst="roundRect">
            <a:avLst>
              <a:gd name="adj" fmla="val 20788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2046" y="1901130"/>
            <a:ext cx="673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2046" y="2132856"/>
            <a:ext cx="6735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415951" y="1818680"/>
            <a:ext cx="12650" cy="4317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555552" y="1837730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655409" y="1936105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Loop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1655409" y="2047131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단위 작성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957810" y="196304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48310" y="1837730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248168" y="1936105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Gate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3248168" y="2047131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강제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50569" y="196304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41069" y="1837730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840926" y="1936105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840926" y="2047131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 무회귀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092101" y="2383780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92101" y="2485281"/>
            <a:ext cx="25301" cy="1015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36502" y="2418606"/>
            <a:ext cx="1155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713161" y="2442418"/>
            <a:ext cx="5736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전파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2338983" y="2442418"/>
            <a:ext cx="1428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NODE_EXIT → RUNTIME 안전장치 트리거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2586782"/>
            <a:ext cx="5794177" cy="698450"/>
          </a:xfrm>
          <a:prstGeom prst="roundRect">
            <a:avLst>
              <a:gd name="adj" fmla="val 10910"/>
            </a:avLst>
          </a:prstGeom>
          <a:solidFill>
            <a:srgbClr val="161B22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28650" y="2756595"/>
            <a:ext cx="660350" cy="234851"/>
          </a:xfrm>
          <a:prstGeom prst="roundRect">
            <a:avLst>
              <a:gd name="adj" fmla="val 21631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2046" y="2807345"/>
            <a:ext cx="673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2046" y="3029545"/>
            <a:ext cx="6735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1415951" y="2720132"/>
            <a:ext cx="12650" cy="4317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555552" y="2739182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655409" y="2837557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1655409" y="294858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2957810" y="2864495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148310" y="2739182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248168" y="2837557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3248168" y="294858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라운드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550569" y="2864495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741069" y="2739182"/>
            <a:ext cx="1338858" cy="393502"/>
          </a:xfrm>
          <a:prstGeom prst="roundRect">
            <a:avLst>
              <a:gd name="adj" fmla="val 1291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4840926" y="2837557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840926" y="2948583"/>
            <a:ext cx="11391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자율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6378327" y="783878"/>
            <a:ext cx="2308473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514802" y="920353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641753" y="934641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6494447" y="1148953"/>
            <a:ext cx="207623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6494447" y="1472803"/>
            <a:ext cx="20762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667202" y="1669554"/>
            <a:ext cx="188312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514802" y="2317254"/>
            <a:ext cx="20762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에러 격리로 한 이벤트 실패가 루프를 중단시키지 않는다.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378327" y="2701379"/>
            <a:ext cx="2308473" cy="1009055"/>
          </a:xfrm>
          <a:prstGeom prst="roundRect">
            <a:avLst>
              <a:gd name="adj" fmla="val 755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489353" y="2812405"/>
            <a:ext cx="21281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89353" y="3109168"/>
            <a:ext cx="724049" cy="212527"/>
          </a:xfrm>
          <a:prstGeom prst="roundRect">
            <a:avLst>
              <a:gd name="adj" fmla="val 179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572740" y="3172569"/>
            <a:ext cx="5572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7276802" y="3148757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454503" y="3109168"/>
            <a:ext cx="636538" cy="212527"/>
          </a:xfrm>
          <a:prstGeom prst="roundRect">
            <a:avLst>
              <a:gd name="adj" fmla="val 179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7538765" y="3172569"/>
            <a:ext cx="4680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8154442" y="3148757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332143" y="2980581"/>
            <a:ext cx="243632" cy="469702"/>
          </a:xfrm>
          <a:prstGeom prst="roundRect">
            <a:avLst>
              <a:gd name="adj" fmla="val 1563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420334" y="3043982"/>
            <a:ext cx="672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6489353" y="3513683"/>
            <a:ext cx="21281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378327" y="3786634"/>
            <a:ext cx="2308473" cy="851595"/>
          </a:xfrm>
          <a:prstGeom prst="roundRect">
            <a:avLst>
              <a:gd name="adj" fmla="val 5965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6502152" y="3897660"/>
            <a:ext cx="21020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3중 루프인가?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6502152" y="4040535"/>
            <a:ext cx="1005036" cy="486668"/>
          </a:xfrm>
          <a:prstGeom prst="roundRect">
            <a:avLst>
              <a:gd name="adj" fmla="val 782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6603653" y="4129385"/>
            <a:ext cx="8180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86" name="Text 84"/>
          <p:cNvSpPr/>
          <p:nvPr/>
        </p:nvSpPr>
        <p:spPr>
          <a:xfrm>
            <a:off x="6603653" y="4240411"/>
            <a:ext cx="81807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7557939" y="4040535"/>
            <a:ext cx="1005036" cy="486668"/>
          </a:xfrm>
          <a:prstGeom prst="roundRect">
            <a:avLst>
              <a:gd name="adj" fmla="val 782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7659439" y="4129385"/>
            <a:ext cx="8180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7659439" y="4240411"/>
            <a:ext cx="81807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90" name="Text 88"/>
          <p:cNvSpPr/>
          <p:nvPr/>
        </p:nvSpPr>
        <p:spPr>
          <a:xfrm>
            <a:off x="457200" y="4968925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8453735" y="49689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하므로 Port/Adapter로 6-Layer를 수직 분리한다</a:t>
            </a:r>
            <a:endParaRPr lang="en-US" sz="800" dirty="0"/>
          </a:p>
        </p:txBody>
      </p:sp>
      <p:pic>
        <p:nvPicPr>
          <p:cNvPr id="6" name="Image 0" descr="/Users/mango/workspace/portfolio/geode/versions/v9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50" y="847576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12956" y="32605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횟단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324600" y="847576"/>
            <a:ext cx="2362200" cy="574477"/>
          </a:xfrm>
          <a:prstGeom prst="roundRect">
            <a:avLst>
              <a:gd name="adj" fmla="val 884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451963" y="958602"/>
            <a:ext cx="929500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51963" y="1225302"/>
            <a:ext cx="929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499300" y="958602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629787" y="958602"/>
            <a:ext cx="929652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29787" y="1225302"/>
            <a:ext cx="929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6324600" y="1485454"/>
            <a:ext cx="2362200" cy="1209377"/>
          </a:xfrm>
          <a:prstGeom prst="roundRect">
            <a:avLst>
              <a:gd name="adj" fmla="val 4201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461075" y="1596479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 — 설계 판단의 인과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6461075" y="1752005"/>
            <a:ext cx="213103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4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도구, 메모리, 오케스트레이션이 독립적으로 교체되어야 하므로 6-Layer로 분리한다.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6461075" y="2174230"/>
            <a:ext cx="21310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레이어 간 Protocol 정의가 필요하다.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6461075" y="2336155"/>
            <a:ext cx="21310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GEODE→REODE 피벗 시 L5만 교체하고 L0‑L4는 그대로 유지한다.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6324600" y="2758232"/>
            <a:ext cx="2362200" cy="1000274"/>
          </a:xfrm>
          <a:prstGeom prst="roundRect">
            <a:avLst>
              <a:gd name="adj" fmla="val 5079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61075" y="2869257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Hook을 L3에서 분리하는가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461075" y="3024783"/>
            <a:ext cx="213103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Hook을 L3 오케스트레이션에 두면 L0‑L4 전체가 L3에 의존하는 역전 구조가 발생한다. 이를 막기 위해 Hook을 cross‑cutting 모듈로 독립시킨다.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6461075" y="3434358"/>
            <a:ext cx="21310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이벤트가 L0‑L5 모든 계층을 관측하되 어느 계층에도 종속되지 않는다.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324600" y="3821906"/>
            <a:ext cx="2362200" cy="749052"/>
          </a:xfrm>
          <a:prstGeom prst="roundRect">
            <a:avLst>
              <a:gd name="adj" fmla="val 678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61075" y="3932932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교체 단위로서의 계층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6588026" y="4088457"/>
            <a:ext cx="19622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50" dirty="0"/>
          </a:p>
        </p:txBody>
      </p:sp>
      <p:sp>
        <p:nvSpPr>
          <p:cNvPr id="26" name="Text 23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크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실행하면 무한 소모이므로, 5가지 종료 경로로 탈출을 보장하고 비용 폭주를 차단한다</a:t>
            </a:r>
            <a:endParaRPr lang="en-US" sz="800" dirty="0"/>
          </a:p>
        </p:txBody>
      </p:sp>
      <p:pic>
        <p:nvPicPr>
          <p:cNvPr id="6" name="Image 0" descr="/Users/mango/workspace/portfolio/geode/versions/v9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850" y="847576"/>
            <a:ext cx="4953000" cy="23113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597927" y="3209627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324600" y="847576"/>
            <a:ext cx="2362200" cy="1448098"/>
          </a:xfrm>
          <a:prstGeom prst="roundRect">
            <a:avLst>
              <a:gd name="adj" fmla="val 35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461075" y="958602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GEODE의 핵심 프리미티브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461075" y="1114127"/>
            <a:ext cx="213103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루프가 GEODE의 핵심 프리미티브이다. Claude Code, Codex, autoresearch 모두 동일한 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구조를 사용한다. 이 구조가 진정한 자율 실행의 최소 단위다.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6461075" y="1666577"/>
            <a:ext cx="2089249" cy="518071"/>
          </a:xfrm>
          <a:prstGeom prst="roundRect">
            <a:avLst>
              <a:gd name="adj" fmla="val 735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562576" y="1742777"/>
            <a:ext cx="1923973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response.stop == "tool_use":</a:t>
            </a:r>
            <a:endParaRPr lang="en-US" sz="6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result = execute(tool)</a:t>
            </a:r>
            <a:endParaRPr lang="en-US" sz="6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 = llm(result)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324600" y="2359075"/>
            <a:ext cx="2362200" cy="549027"/>
          </a:xfrm>
          <a:prstGeom prst="roundRect">
            <a:avLst>
              <a:gd name="adj" fmla="val 925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455889" y="2470100"/>
            <a:ext cx="5290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55889" y="2711351"/>
            <a:ext cx="5290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7106692" y="2470100"/>
            <a:ext cx="12650" cy="3269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7241104" y="2470100"/>
            <a:ext cx="529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241104" y="2711351"/>
            <a:ext cx="5291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7892058" y="2470100"/>
            <a:ext cx="12650" cy="3269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8026472" y="2470100"/>
            <a:ext cx="5290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026472" y="2711351"/>
            <a:ext cx="5290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6324600" y="2971502"/>
            <a:ext cx="2362200" cy="996702"/>
          </a:xfrm>
          <a:prstGeom prst="roundRect">
            <a:avLst>
              <a:gd name="adj" fmla="val 50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461075" y="3082528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 — 탈출 보장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6588026" y="3238054"/>
            <a:ext cx="1962299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LLM이 tool_use 없이 응답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50라운드 도달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동일 에러 3회 반복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잔여 2라운드 강제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budget_stop: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비용 상한 초과</a:t>
            </a:r>
            <a:endParaRPr lang="en-US" sz="650" dirty="0"/>
          </a:p>
        </p:txBody>
      </p:sp>
      <p:sp>
        <p:nvSpPr>
          <p:cNvPr id="25" name="Text 22"/>
          <p:cNvSpPr/>
          <p:nvPr/>
        </p:nvSpPr>
        <p:spPr>
          <a:xfrm>
            <a:off x="6324600" y="4031605"/>
            <a:ext cx="2362200" cy="806053"/>
          </a:xfrm>
          <a:prstGeom prst="roundRect">
            <a:avLst>
              <a:gd name="adj" fmla="val 630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461075" y="4142631"/>
            <a:ext cx="21310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 — 평균 4.2 라운드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61075" y="4298156"/>
            <a:ext cx="662583" cy="428476"/>
          </a:xfrm>
          <a:prstGeom prst="roundRect">
            <a:avLst>
              <a:gd name="adj" fmla="val 889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532174" y="4387007"/>
            <a:ext cx="5203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32174" y="4552057"/>
            <a:ext cx="520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174409" y="4298156"/>
            <a:ext cx="662583" cy="428476"/>
          </a:xfrm>
          <a:prstGeom prst="roundRect">
            <a:avLst>
              <a:gd name="adj" fmla="val 889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245507" y="4387007"/>
            <a:ext cx="5203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245507" y="4552057"/>
            <a:ext cx="520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887742" y="4298156"/>
            <a:ext cx="662583" cy="428476"/>
          </a:xfrm>
          <a:prstGeom prst="roundRect">
            <a:avLst>
              <a:gd name="adj" fmla="val 889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7958840" y="4387007"/>
            <a:ext cx="5203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958840" y="4552057"/>
            <a:ext cx="520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위험은 문제 → 브레이크 → 결과의 인과 흐름으로 해결된다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8387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3223" y="841028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62000" y="826740"/>
            <a:ext cx="435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34184" y="78387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20207" y="841028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38984" y="826740"/>
            <a:ext cx="435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011317" y="78387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7339" y="841028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16117" y="826740"/>
            <a:ext cx="435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8701" y="1088678"/>
            <a:ext cx="2641699" cy="664220"/>
          </a:xfrm>
          <a:prstGeom prst="roundRect">
            <a:avLst>
              <a:gd name="adj" fmla="val 7648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92051" y="1209229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92051" y="1383804"/>
            <a:ext cx="242249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$0.15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세션당 $7.50. 무인 실행 시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소모 가능.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301901" y="1088678"/>
            <a:ext cx="2641699" cy="664220"/>
          </a:xfrm>
          <a:prstGeom prst="roundRect">
            <a:avLst>
              <a:gd name="adj" fmla="val 7648"/>
            </a:avLst>
          </a:prstGeom>
          <a:solidFill>
            <a:srgbClr val="1A0D00"/>
          </a:solidFill>
          <a:ln w="19050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35251" y="1209229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35251" y="1383804"/>
            <a:ext cx="242249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에러를 반복하면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전체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낭비. 실패 반환에 $7.50 소모.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045101" y="1088678"/>
            <a:ext cx="2641699" cy="664220"/>
          </a:xfrm>
          <a:prstGeom prst="roundRect">
            <a:avLst>
              <a:gd name="adj" fmla="val 7648"/>
            </a:avLst>
          </a:prstGeom>
          <a:solidFill>
            <a:srgbClr val="1A1500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8451" y="1209229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78451" y="1383804"/>
            <a:ext cx="242249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반복하면 탐색 공간이 좁아지고 대안 경로를 놓친다.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30445" y="1829098"/>
            <a:ext cx="27289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7428" y="1829098"/>
            <a:ext cx="2729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84562" y="1829098"/>
            <a:ext cx="27289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057698"/>
            <a:ext cx="2675483" cy="664220"/>
          </a:xfrm>
          <a:prstGeom prst="roundRect">
            <a:avLst>
              <a:gd name="adj" fmla="val 7648"/>
            </a:avLst>
          </a:prstGeom>
          <a:solidFill>
            <a:srgbClr val="0D1A0D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90550" y="2178248"/>
            <a:ext cx="3584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0550" y="2352824"/>
            <a:ext cx="24569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 매 턴 누적 →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상한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budget_stop → PIPELINE_END 강제 발화.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234184" y="2057698"/>
            <a:ext cx="2675632" cy="664220"/>
          </a:xfrm>
          <a:prstGeom prst="roundRect">
            <a:avLst>
              <a:gd name="adj" fmla="val 7648"/>
            </a:avLst>
          </a:prstGeom>
          <a:solidFill>
            <a:srgbClr val="0D1A0D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67534" y="2178248"/>
            <a:ext cx="3584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67534" y="2352824"/>
            <a:ext cx="245711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에스컬레이션 → Cross-Provider.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011317" y="2057698"/>
            <a:ext cx="2675483" cy="664220"/>
          </a:xfrm>
          <a:prstGeom prst="roundRect">
            <a:avLst>
              <a:gd name="adj" fmla="val 7648"/>
            </a:avLst>
          </a:prstGeom>
          <a:solidFill>
            <a:srgbClr val="0D1A0D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144667" y="2178248"/>
            <a:ext cx="3584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44667" y="2352824"/>
            <a:ext cx="24569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자동 주입 → 다른 도구 경로 탐색 유도.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0445" y="2798118"/>
            <a:ext cx="27289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07428" y="2798118"/>
            <a:ext cx="2729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984562" y="2798118"/>
            <a:ext cx="27289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3026718"/>
            <a:ext cx="2675483" cy="644277"/>
          </a:xfrm>
          <a:prstGeom prst="roundRect">
            <a:avLst>
              <a:gd name="adj" fmla="val 7885"/>
            </a:avLst>
          </a:prstGeom>
          <a:solidFill>
            <a:srgbClr val="161B22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0550" y="314726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90550" y="3321844"/>
            <a:ext cx="24569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PIPELINE_END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90550" y="3464719"/>
            <a:ext cx="24569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원칙. 사람 없이 비용 상한 보장.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3234184" y="3026718"/>
            <a:ext cx="2675632" cy="644277"/>
          </a:xfrm>
          <a:prstGeom prst="roundRect">
            <a:avLst>
              <a:gd name="adj" fmla="val 7885"/>
            </a:avLst>
          </a:prstGeom>
          <a:solidFill>
            <a:srgbClr val="161B22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367534" y="314726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367534" y="3321844"/>
            <a:ext cx="24571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367534" y="3464719"/>
            <a:ext cx="24571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원칙. 수렴 고착 탈출.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011317" y="3026718"/>
            <a:ext cx="2675483" cy="644277"/>
          </a:xfrm>
          <a:prstGeom prst="roundRect">
            <a:avLst>
              <a:gd name="adj" fmla="val 7885"/>
            </a:avLst>
          </a:prstGeom>
          <a:solidFill>
            <a:srgbClr val="161B22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144667" y="314726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144667" y="3321844"/>
            <a:ext cx="24569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144667" y="3464719"/>
            <a:ext cx="24569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Forcing. 탐색 다양성 강제.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57200" y="3747195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476250" y="3747195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2250" y="3836045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3가지 임계값(budget 한도·수렴 3회·반복 5회)은 사용자가 조정 가능하며, 기본값은 실험적으로 도출한다.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68925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689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도입하고, 컨텍스트 포화가 프로바이더마다 다르기 때문에 Provider-aware Compaction을 분리한다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58503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48978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628180"/>
            <a:ext cx="3708499" cy="326827"/>
          </a:xfrm>
          <a:prstGeom prst="roundRect">
            <a:avLst>
              <a:gd name="adj" fmla="val 15543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739205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748730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175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0175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2018407"/>
            <a:ext cx="1822549" cy="418802"/>
          </a:xfrm>
          <a:prstGeom prst="roundRect">
            <a:avLst>
              <a:gd name="adj" fmla="val 12130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87701" y="2129433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87701" y="2240459"/>
            <a:ext cx="16063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500610"/>
            <a:ext cx="3708499" cy="437852"/>
          </a:xfrm>
          <a:prstGeom prst="roundRect">
            <a:avLst>
              <a:gd name="adj" fmla="val 11602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611636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722662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3014663"/>
            <a:ext cx="3708499" cy="374452"/>
          </a:xfrm>
          <a:prstGeom prst="roundRect">
            <a:avLst>
              <a:gd name="adj" fmla="val 135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07975" y="3103513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707975" y="3214539"/>
            <a:ext cx="354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120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458170"/>
          </a:xfrm>
          <a:prstGeom prst="roundRect">
            <a:avLst>
              <a:gd name="adj" fmla="val 22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336352"/>
          </a:xfrm>
          <a:prstGeom prst="roundRect">
            <a:avLst>
              <a:gd name="adj" fmla="val 15103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48978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53741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637705"/>
            <a:ext cx="1822549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748730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94731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52042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525143"/>
            <a:ext cx="1600498" cy="263426"/>
          </a:xfrm>
          <a:prstGeom prst="roundRect">
            <a:avLst>
              <a:gd name="adj" fmla="val 14463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54203" y="3613993"/>
            <a:ext cx="14254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637705"/>
            <a:ext cx="1822698" cy="2261890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748730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94731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52042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525143"/>
            <a:ext cx="1600646" cy="263426"/>
          </a:xfrm>
          <a:prstGeom prst="roundRect">
            <a:avLst>
              <a:gd name="adj" fmla="val 14463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40153" y="3613993"/>
            <a:ext cx="14255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3962995"/>
            <a:ext cx="3708648" cy="460177"/>
          </a:xfrm>
          <a:prstGeom prst="roundRect">
            <a:avLst>
              <a:gd name="adj" fmla="val 110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55977" y="4051846"/>
            <a:ext cx="35496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55977" y="4248596"/>
            <a:ext cx="35496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10398"/>
            <a:ext cx="8229600" cy="282476"/>
          </a:xfrm>
          <a:prstGeom prst="roundRect">
            <a:avLst>
              <a:gd name="adj" fmla="val 179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10398"/>
            <a:ext cx="0" cy="2824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2250" y="46992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설계하고, 채널마다 어댑터를 새로 짜는 비용을 0으로 만들기 위해 Gateway를 단일 진입점으로 집중한다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727174"/>
          </a:xfrm>
          <a:prstGeom prst="roundRect">
            <a:avLst>
              <a:gd name="adj" fmla="val 698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1025" y="1187202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07975" y="1342727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87202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87202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42727"/>
            <a:ext cx="179433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606600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79550"/>
            <a:ext cx="3981450" cy="1005929"/>
          </a:xfrm>
          <a:prstGeom prst="roundRect">
            <a:avLst>
              <a:gd name="adj" fmla="val 5050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1025" y="1990576"/>
            <a:ext cx="380847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81025" y="2207865"/>
            <a:ext cx="899517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5276" y="2306241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53129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6343" y="2158752"/>
            <a:ext cx="1632049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93269" y="2257127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93269" y="2355503"/>
            <a:ext cx="14381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379143" y="2282428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44193" y="2207865"/>
            <a:ext cx="770632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9733" y="2306241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1025" y="2603004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961680"/>
            <a:ext cx="3981450" cy="1091654"/>
          </a:xfrm>
          <a:prstGeom prst="roundRect">
            <a:avLst>
              <a:gd name="adj" fmla="val 4653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81025" y="3099643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7975" y="3072705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81025" y="3332857"/>
            <a:ext cx="1092101" cy="282476"/>
          </a:xfrm>
          <a:prstGeom prst="roundRect">
            <a:avLst>
              <a:gd name="adj" fmla="val 1798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3350" y="3431232"/>
            <a:ext cx="88745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2387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01726" y="3240881"/>
            <a:ext cx="1092250" cy="466576"/>
          </a:xfrm>
          <a:prstGeom prst="roundRect">
            <a:avLst>
              <a:gd name="adj" fmla="val 1088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04050" y="3339257"/>
            <a:ext cx="8876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004050" y="3523357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4726" y="340265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2575" y="3283744"/>
            <a:ext cx="1092250" cy="380851"/>
          </a:xfrm>
          <a:prstGeom prst="roundRect">
            <a:avLst>
              <a:gd name="adj" fmla="val 13339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24899" y="3382119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24899" y="3480495"/>
            <a:ext cx="8876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81025" y="3770858"/>
            <a:ext cx="38084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072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378696"/>
          </a:xfrm>
          <a:prstGeom prst="roundRect">
            <a:avLst>
              <a:gd name="adj" fmla="val 150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29026" y="1187202"/>
            <a:ext cx="885825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20511" y="1285577"/>
            <a:ext cx="7028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920511" y="1393478"/>
            <a:ext cx="7028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8252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9735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9735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819110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819110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77001" y="1187202"/>
            <a:ext cx="885974" cy="390376"/>
          </a:xfrm>
          <a:prstGeom prst="roundRect">
            <a:avLst>
              <a:gd name="adj" fmla="val 1301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68484" y="1285577"/>
            <a:ext cx="7030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68484" y="1393478"/>
            <a:ext cx="7030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91687" y="1628329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29026" y="1821954"/>
            <a:ext cx="3733949" cy="428327"/>
          </a:xfrm>
          <a:prstGeom prst="roundRect">
            <a:avLst>
              <a:gd name="adj" fmla="val 11860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17988" y="1932980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17988" y="2053530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91687" y="2301032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29026" y="2494657"/>
            <a:ext cx="1835200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52851" y="2605683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52851" y="2716709"/>
            <a:ext cx="1619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494657"/>
            <a:ext cx="183534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51452" y="2605683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51452" y="2716709"/>
            <a:ext cx="1619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91687" y="2964210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29026" y="3157835"/>
            <a:ext cx="3733949" cy="514052"/>
          </a:xfrm>
          <a:prstGeom prst="roundRect">
            <a:avLst>
              <a:gd name="adj" fmla="val 9882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17988" y="3268861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17988" y="3389412"/>
            <a:ext cx="35560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분산되기 때문에 Gateway를 단일 진입점으로 집중한다.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29026" y="3722638"/>
            <a:ext cx="1835200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40052" y="3821013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40052" y="3932039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40052" y="4030414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722638"/>
            <a:ext cx="1835348" cy="491877"/>
          </a:xfrm>
          <a:prstGeom prst="roundRect">
            <a:avLst>
              <a:gd name="adj" fmla="val 10328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38652" y="3821013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38652" y="3932039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38652" y="403041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05623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05623"/>
            <a:ext cx="0" cy="3872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2250" y="45944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막지만, 격리 세션은 이전 학습을 공유하지 않는다. systemEvent 주입으로 필요할 때만 연계한다. Gateway 단일화는 채널 다양성을 포기하지만 어댑터 1개로 신규 채널을 추가할 수 있게 된다.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36428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순서로 살펴보는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내부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Sub-Agent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Compression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921050" y="752177"/>
            <a:ext cx="3301901" cy="539651"/>
          </a:xfrm>
          <a:prstGeom prst="roundRect">
            <a:avLst>
              <a:gd name="adj" fmla="val 14120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18358" y="885527"/>
            <a:ext cx="2707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18358" y="1053703"/>
            <a:ext cx="27072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59350" y="1342579"/>
            <a:ext cx="25301" cy="139601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03090" y="1482179"/>
            <a:ext cx="4937671" cy="25301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03090" y="1482179"/>
            <a:ext cx="25301" cy="139601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36330" y="1482179"/>
            <a:ext cx="25301" cy="139601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82220" y="1482179"/>
            <a:ext cx="25301" cy="139601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28111" y="1482179"/>
            <a:ext cx="25301" cy="139601"/>
          </a:xfrm>
          <a:prstGeom prst="rect">
            <a:avLst/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36455" y="1355229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4경로 분기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1691729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47925" y="1672679"/>
            <a:ext cx="0" cy="834182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97336"/>
            <a:ext cx="2000250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725" y="1672679"/>
            <a:ext cx="0" cy="834182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055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0550" y="1977330"/>
            <a:ext cx="1768221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590550" y="2286298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허용 목록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926157" y="227201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8557" y="2286298"/>
            <a:ext cx="4104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531739" y="227201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684139" y="228629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53365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2533650" y="1691729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24375" y="1672679"/>
            <a:ext cx="0" cy="834182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33650" y="2497336"/>
            <a:ext cx="2000250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43175" y="1672679"/>
            <a:ext cx="0" cy="834182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6700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667000" y="1977330"/>
            <a:ext cx="1768221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667000" y="2170658"/>
            <a:ext cx="3629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73598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225998" y="2170658"/>
            <a:ext cx="259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3530947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83347" y="217065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61010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610100" y="1691729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00825" y="1672679"/>
            <a:ext cx="0" cy="834182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0100" y="2497336"/>
            <a:ext cx="2000250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19625" y="1672679"/>
            <a:ext cx="0" cy="834182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4345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43450" y="1977330"/>
            <a:ext cx="1768221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4743450" y="2170658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027265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179665" y="2170658"/>
            <a:ext cx="27658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501580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653980" y="217065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반환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686550" y="1672679"/>
            <a:ext cx="2000250" cy="834182"/>
          </a:xfrm>
          <a:prstGeom prst="roundRect">
            <a:avLst>
              <a:gd name="adj" fmla="val 609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686550" y="1691729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77275" y="1672679"/>
            <a:ext cx="0" cy="834182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86550" y="2497336"/>
            <a:ext cx="2000250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96075" y="1672679"/>
            <a:ext cx="0" cy="834182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19900" y="1812280"/>
            <a:ext cx="17682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819900" y="1977330"/>
            <a:ext cx="1768221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819900" y="2170658"/>
            <a:ext cx="479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7340798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493198" y="2170658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노드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28806" y="215637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981206" y="2170658"/>
            <a:ext cx="1344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집계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3448348" y="2557611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3575447" y="2562374"/>
            <a:ext cx="21624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이상 tool_use 시 ToolCallProcessor가 안전 등급 분류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2722662"/>
            <a:ext cx="8229600" cy="1098500"/>
          </a:xfrm>
          <a:prstGeom prst="roundRect">
            <a:avLst>
              <a:gd name="adj" fmla="val 462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93675" y="2821037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93675" y="2989213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78613" y="3100239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78613" y="3239839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78613" y="3363664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197596" y="2989213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2282532" y="3100239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2282532" y="3239839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2282532" y="3363664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3801666" y="2989213"/>
            <a:ext cx="1540520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886603" y="3100239"/>
            <a:ext cx="1370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3886603" y="3239839"/>
            <a:ext cx="13706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3886603" y="3363664"/>
            <a:ext cx="137064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5405586" y="2989213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5490523" y="3100239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5490523" y="3239839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5490523" y="3363664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7009656" y="2989213"/>
            <a:ext cx="1540669" cy="584448"/>
          </a:xfrm>
          <a:prstGeom prst="roundRect">
            <a:avLst>
              <a:gd name="adj" fmla="val 8692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7094592" y="3100239"/>
            <a:ext cx="13707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7094592" y="3239839"/>
            <a:ext cx="13707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7094592" y="3363664"/>
            <a:ext cx="137079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593675" y="3637062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457200" y="3871913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581025" y="3982938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581025" y="4103489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4610100" y="3871913"/>
            <a:ext cx="4076700" cy="449163"/>
          </a:xfrm>
          <a:prstGeom prst="roundRect">
            <a:avLst>
              <a:gd name="adj" fmla="val 1131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4733925" y="3982938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4733925" y="4103489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95" name="Text 93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96" name="Text 94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88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1891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400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불가능하기 때문에 Claude Code·Devin·OpenHands 리서치 후 16카테고리 46이벤트로 개편한다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5029200" cy="1448246"/>
          </a:xfrm>
          <a:prstGeom prst="roundRect">
            <a:avLst>
              <a:gd name="adj" fmla="val 35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52177"/>
            <a:ext cx="0" cy="1448246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53678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55191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198066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66230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61467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54944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107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345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711821"/>
            <a:ext cx="4676775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79984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75222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94148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63825"/>
            <a:ext cx="5029200" cy="2776835"/>
          </a:xfrm>
          <a:prstGeom prst="roundRect">
            <a:avLst>
              <a:gd name="adj" fmla="val 182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74850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GROUPS (46 total · 16 categories)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65202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7352" y="2663577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+ Node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17352" y="2784128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PIPELINE_START/END/ERROR · NODE_BOOTSTRAP/ENTER/EXIT/ERROR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47566"/>
            <a:ext cx="2340025" cy="531614"/>
          </a:xfrm>
          <a:prstGeom prst="roundRect">
            <a:avLst>
              <a:gd name="adj" fmla="val 955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17352" y="3245941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+ Verification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17352" y="3366492"/>
            <a:ext cx="21603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ANALYST/EVALUATOR/SCORING_COMPLETE · VERIFICATION_PASS/FAIL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29930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17352" y="3828306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17352" y="3948857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DRIFT_DETECTED · OUTCOME_COLLECTED · MODEL_PROMOTED · SNAPSHOT_CAPTURED · TRIGGER_FIRED · POST_ANALYSIS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355157"/>
            <a:ext cx="2340025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7352" y="4453533"/>
            <a:ext cx="216033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Prompt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7352" y="4574084"/>
            <a:ext cx="216033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MEMORY_SAVED · RULE_CREATED/UPDATED/DELETED · PROMPT_ASSEMBLED · PROMPT_DRIFT_DETECTED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65202"/>
            <a:ext cx="2340173" cy="488752"/>
          </a:xfrm>
          <a:prstGeom prst="roundRect">
            <a:avLst>
              <a:gd name="adj" fmla="val 1039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108127" y="2663577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108127" y="2784128"/>
            <a:ext cx="2160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SUBAGENT_STARTED · SUBAGENT_COMPLETED · SUBAGENT_FAILED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04704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108127" y="3203079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Session + LLM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108127" y="3323630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CONTEXT_WARNING/CRITICAL/OVERFLOW_ACTION · SESSION_START/END · LLM_CALL_START/END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29930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08127" y="3828306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Recovery + Approval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108127" y="3948857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TOOL_RECOVERY_ATTEMPTED/SUCCEEDED/FAILED · TOOL_APPROVAL_REQUESTED/GRANTED/DENIED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355157"/>
            <a:ext cx="2340173" cy="574477"/>
          </a:xfrm>
          <a:prstGeom prst="roundRect">
            <a:avLst>
              <a:gd name="adj" fmla="val 884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108127" y="4453533"/>
            <a:ext cx="216048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MCP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108127" y="4574084"/>
            <a:ext cx="21604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GATEWAY_MESSAGE_RECEIVED/RESPONSE_SENT · MCP_SERVER_STARTED/STOPPED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52177"/>
            <a:ext cx="3086100" cy="3104257"/>
          </a:xfrm>
          <a:prstGeom prst="roundRect">
            <a:avLst>
              <a:gd name="adj" fmla="val 16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863203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40904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13830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312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47056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1998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407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62733"/>
            <a:ext cx="2787848" cy="377577"/>
          </a:xfrm>
          <a:prstGeom prst="roundRect">
            <a:avLst>
              <a:gd name="adj" fmla="val 13454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3565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53084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78410"/>
            <a:ext cx="2787848" cy="368052"/>
          </a:xfrm>
          <a:prstGeom prst="roundRect">
            <a:avLst>
              <a:gd name="adj" fmla="val 13802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51336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68761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919835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919835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87926" y="4008686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4161086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561880"/>
            <a:ext cx="3086100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50" y="4561880"/>
            <a:ext cx="0" cy="426244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5750" y="4650730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5013424"/>
            <a:ext cx="3297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16 categories · 8 display groups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50134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7127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팽창하기 때문에 full inheritance + 4096 guard로 해결한다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742652"/>
            <a:ext cx="1879550" cy="4194572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2674" y="2198787"/>
            <a:ext cx="4838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1119" y="2370237"/>
            <a:ext cx="366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1350" y="2589312"/>
            <a:ext cx="406301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7018" y="2678162"/>
            <a:ext cx="6951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23586" y="2773412"/>
            <a:ext cx="6418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전체 보유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50800" y="2979688"/>
            <a:ext cx="1587550" cy="501402"/>
          </a:xfrm>
          <a:prstGeom prst="roundRect">
            <a:avLst>
              <a:gd name="adj" fmla="val 1013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38456" y="3068538"/>
            <a:ext cx="14122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위험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38456" y="3179564"/>
            <a:ext cx="14122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 tokens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8456" y="3306514"/>
            <a:ext cx="14122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없을 때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311301" y="1906042"/>
            <a:ext cx="850850" cy="12650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212902" y="184576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11301" y="2077492"/>
            <a:ext cx="850850" cy="12650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212902" y="201721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311301" y="2248942"/>
            <a:ext cx="850850" cy="12650"/>
          </a:xfrm>
          <a:prstGeom prst="rect">
            <a:avLst/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212902" y="218866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61448" y="2423517"/>
            <a:ext cx="715607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</a:t>
            </a:r>
            <a:endParaRPr lang="en-US" sz="600" dirty="0"/>
          </a:p>
          <a:p>
            <a:pPr algn="ctr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위임이지 파견이 아니다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311301" y="2748409"/>
            <a:ext cx="1015901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311301" y="2888010"/>
            <a:ext cx="1015901" cy="368201"/>
          </a:xfrm>
          <a:prstGeom prst="roundRect">
            <a:avLst>
              <a:gd name="adj" fmla="val 13797"/>
            </a:avLst>
          </a:prstGeom>
          <a:solidFill>
            <a:srgbClr val="1E1A00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401485" y="2973735"/>
            <a:ext cx="8355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01485" y="3084761"/>
            <a:ext cx="8355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구조화 요약 압축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2311301" y="3357711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476351" y="3417987"/>
            <a:ext cx="850850" cy="126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311301" y="3529161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76351" y="3589437"/>
            <a:ext cx="850850" cy="126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311301" y="3700611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76351" y="3760887"/>
            <a:ext cx="850850" cy="1265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454152" y="1957834"/>
            <a:ext cx="1744117" cy="615553"/>
          </a:xfrm>
          <a:prstGeom prst="roundRect">
            <a:avLst>
              <a:gd name="adj" fmla="val 8253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549957" y="2068860"/>
            <a:ext cx="155250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173736" y="2214860"/>
            <a:ext cx="3048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549957" y="2278261"/>
            <a:ext cx="155250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49957" y="2376636"/>
            <a:ext cx="155250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상속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5274469" y="1957834"/>
            <a:ext cx="1744266" cy="615553"/>
          </a:xfrm>
          <a:prstGeom prst="roundRect">
            <a:avLst>
              <a:gd name="adj" fmla="val 8253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70272" y="2068860"/>
            <a:ext cx="155265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994202" y="2214860"/>
            <a:ext cx="3048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370272" y="2278261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370272" y="2376636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상속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94934" y="1957834"/>
            <a:ext cx="1744266" cy="615553"/>
          </a:xfrm>
          <a:prstGeom prst="roundRect">
            <a:avLst>
              <a:gd name="adj" fmla="val 8253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190738" y="2068860"/>
            <a:ext cx="155265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814667" y="2214860"/>
            <a:ext cx="3048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190738" y="2278261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190738" y="2376636"/>
            <a:ext cx="15526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상속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3454152" y="2636788"/>
            <a:ext cx="5385048" cy="485626"/>
          </a:xfrm>
          <a:prstGeom prst="roundRect">
            <a:avLst>
              <a:gd name="adj" fmla="val 10461"/>
            </a:avLst>
          </a:prstGeom>
          <a:solidFill>
            <a:srgbClr val="1E293B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590627" y="2808089"/>
            <a:ext cx="648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755678" y="2776389"/>
            <a:ext cx="457949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755678" y="2896939"/>
            <a:ext cx="45794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8343318" y="2747814"/>
            <a:ext cx="362965" cy="1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343318" y="2925663"/>
            <a:ext cx="3629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3454152" y="3185815"/>
            <a:ext cx="1744117" cy="536228"/>
          </a:xfrm>
          <a:prstGeom prst="roundRect">
            <a:avLst>
              <a:gd name="adj" fmla="val 947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3563012" y="3296841"/>
            <a:ext cx="1526396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563012" y="3525292"/>
            <a:ext cx="15263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274469" y="3185815"/>
            <a:ext cx="1744266" cy="536228"/>
          </a:xfrm>
          <a:prstGeom prst="roundRect">
            <a:avLst>
              <a:gd name="adj" fmla="val 94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383328" y="3296841"/>
            <a:ext cx="152654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5383328" y="3525292"/>
            <a:ext cx="15265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7094934" y="3185815"/>
            <a:ext cx="1744266" cy="536228"/>
          </a:xfrm>
          <a:prstGeom prst="roundRect">
            <a:avLst>
              <a:gd name="adj" fmla="val 9474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203793" y="3296841"/>
            <a:ext cx="152654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203793" y="3525292"/>
            <a:ext cx="15265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09451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의존하면 Rate Limit·장애 시 파이프라인 전체가 중단되기 때문에 3-Provider 체인으로 단일 장애점을 제거한다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64977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4502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898327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6337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2515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5651" y="1314004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52667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2505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847255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5176" y="194563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38544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53784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64977"/>
            <a:ext cx="1422648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74502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898327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6337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25153"/>
            <a:ext cx="1168747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14302" y="1314004"/>
            <a:ext cx="9850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526679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23827" y="1625054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847255"/>
            <a:ext cx="1168747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23827" y="1945630"/>
            <a:ext cx="9656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385441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537841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64977"/>
            <a:ext cx="1422499" cy="1479054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74502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898327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6337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25153"/>
            <a:ext cx="1168598" cy="263426"/>
          </a:xfrm>
          <a:prstGeom prst="roundRect">
            <a:avLst>
              <a:gd name="adj" fmla="val 144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43102" y="1314004"/>
            <a:ext cx="9849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526679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52627" y="1625054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847255"/>
            <a:ext cx="116859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52627" y="1945630"/>
            <a:ext cx="965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320230"/>
            <a:ext cx="5079950" cy="2607469"/>
          </a:xfrm>
          <a:prstGeom prst="roundRect">
            <a:avLst>
              <a:gd name="adj" fmla="val 19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431256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631281"/>
            <a:ext cx="935534" cy="511076"/>
          </a:xfrm>
          <a:prstGeom prst="roundRect">
            <a:avLst>
              <a:gd name="adj" fmla="val 9940"/>
            </a:avLst>
          </a:prstGeom>
          <a:solidFill>
            <a:srgbClr val="0D2A0D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19932" y="2764631"/>
            <a:ext cx="7083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9932" y="2923282"/>
            <a:ext cx="708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676698" y="2774156"/>
            <a:ext cx="2031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fails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1618059" y="2932807"/>
            <a:ext cx="203150" cy="1905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821210" y="2885182"/>
            <a:ext cx="1155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010668" y="2631281"/>
            <a:ext cx="935682" cy="511076"/>
          </a:xfrm>
          <a:prstGeom prst="roundRect">
            <a:avLst>
              <a:gd name="adj" fmla="val 9940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2124273" y="2764631"/>
            <a:ext cx="7084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124273" y="2923282"/>
            <a:ext cx="7084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075682" y="2774156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3022550" y="2932807"/>
            <a:ext cx="203150" cy="19050"/>
          </a:xfrm>
          <a:prstGeom prst="rect">
            <a:avLst/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225701" y="2885182"/>
            <a:ext cx="1155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415159" y="2631281"/>
            <a:ext cx="935534" cy="511076"/>
          </a:xfrm>
          <a:prstGeom prst="roundRect">
            <a:avLst>
              <a:gd name="adj" fmla="val 9940"/>
            </a:avLst>
          </a:prstGeom>
          <a:solidFill>
            <a:srgbClr val="1A1500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3528765" y="2764631"/>
            <a:ext cx="7083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528765" y="2923282"/>
            <a:ext cx="708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426893" y="2774156"/>
            <a:ext cx="33275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 OK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431804" y="2932807"/>
            <a:ext cx="203150" cy="19050"/>
          </a:xfrm>
          <a:prstGeom prst="rect">
            <a:avLst/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634954" y="2885182"/>
            <a:ext cx="1155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829324" y="2678906"/>
            <a:ext cx="558701" cy="415677"/>
          </a:xfrm>
          <a:prstGeom prst="roundRect">
            <a:avLst>
              <a:gd name="adj" fmla="val 12221"/>
            </a:avLst>
          </a:prstGeom>
          <a:solidFill>
            <a:srgbClr val="0D1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898121" y="2789932"/>
            <a:ext cx="42110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898121" y="2897832"/>
            <a:ext cx="4211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복구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606326" y="3218557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606326" y="338048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651450" y="764977"/>
            <a:ext cx="3035350" cy="1000571"/>
          </a:xfrm>
          <a:prstGeom prst="roundRect">
            <a:avLst>
              <a:gd name="adj" fmla="val 50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800576" y="87600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800576" y="1050578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00576" y="1362521"/>
            <a:ext cx="2737098" cy="292001"/>
          </a:xfrm>
          <a:prstGeom prst="roundRect">
            <a:avLst>
              <a:gd name="adj" fmla="val 1304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5914876" y="1465659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6585645" y="1451372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6763494" y="1465659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5651450" y="18417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5800576" y="1952774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800576" y="21273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51450" y="2687389"/>
            <a:ext cx="3035350" cy="1040755"/>
          </a:xfrm>
          <a:prstGeom prst="roundRect">
            <a:avLst>
              <a:gd name="adj" fmla="val 48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Shape 74"/>
          <p:cNvSpPr/>
          <p:nvPr/>
        </p:nvSpPr>
        <p:spPr>
          <a:xfrm>
            <a:off x="5670500" y="2687389"/>
            <a:ext cx="0" cy="104075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16501" y="2788890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16501" y="2918966"/>
            <a:ext cx="279821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873767" y="3286869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80" name="Text 78"/>
          <p:cNvSpPr/>
          <p:nvPr/>
        </p:nvSpPr>
        <p:spPr>
          <a:xfrm>
            <a:off x="6873767" y="3540919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7289759" y="3286869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82" name="Text 80"/>
          <p:cNvSpPr/>
          <p:nvPr/>
        </p:nvSpPr>
        <p:spPr>
          <a:xfrm>
            <a:off x="7289759" y="3540919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84" name="Text 8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종료되기 때문에 Lossless Selection을 도입해 정보 손실 없이 비용을 0.03%로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6973" y="129510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74201" y="1380827"/>
            <a:ext cx="3362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8151" y="25555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49153"/>
            <a:ext cx="2929086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49153"/>
            <a:ext cx="0" cy="3750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58702" y="2838004"/>
            <a:ext cx="27611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58702" y="2936379"/>
            <a:ext cx="2761175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8" y="2749153"/>
            <a:ext cx="2929235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49153"/>
            <a:ext cx="0" cy="3750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1189" y="2838004"/>
            <a:ext cx="27613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51189" y="2936379"/>
            <a:ext cx="2761327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07751" y="2874764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49458" y="2960489"/>
            <a:ext cx="385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75416" y="4373761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107751" y="4459486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3401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93464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9202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33102"/>
            <a:ext cx="83941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이벤트가 MEMORY.md에 인사이트를 자동 축적하고, 다음 세션 PromptAssembler P4가 주입한다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457200" y="644128"/>
            <a:ext cx="5029200" cy="1371600"/>
          </a:xfrm>
          <a:prstGeom prst="roundRect">
            <a:avLst>
              <a:gd name="adj" fmla="val 37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767953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958453"/>
            <a:ext cx="1458367" cy="425202"/>
          </a:xfrm>
          <a:prstGeom prst="roundRect">
            <a:avLst>
              <a:gd name="adj" fmla="val 1194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044" y="1069479"/>
            <a:ext cx="12349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044" y="1186904"/>
            <a:ext cx="12349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102793" y="111383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42542" y="963216"/>
            <a:ext cx="1458516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54259" y="1074241"/>
            <a:ext cx="12350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54259" y="1182142"/>
            <a:ext cx="12350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39158" y="1113830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78907" y="963216"/>
            <a:ext cx="1458367" cy="415677"/>
          </a:xfrm>
          <a:prstGeom prst="roundRect">
            <a:avLst>
              <a:gd name="adj" fmla="val 12221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990625" y="1074241"/>
            <a:ext cx="12349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990625" y="1182142"/>
            <a:ext cx="12349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421755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545580"/>
            <a:ext cx="4730948" cy="346323"/>
          </a:xfrm>
          <a:prstGeom prst="roundRect">
            <a:avLst>
              <a:gd name="adj" fmla="val 1466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656606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091928"/>
            <a:ext cx="5029200" cy="2921496"/>
          </a:xfrm>
          <a:prstGeom prst="roundRect">
            <a:avLst>
              <a:gd name="adj" fmla="val 17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202954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0151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4: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30151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798588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22413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22413" y="2647206"/>
            <a:ext cx="92464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2990850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675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675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183112" y="2415629"/>
            <a:ext cx="1154162" cy="2486769"/>
          </a:xfrm>
          <a:prstGeom prst="roundRect">
            <a:avLst>
              <a:gd name="adj" fmla="val 440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06937" y="2526655"/>
            <a:ext cx="924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06937" y="2647206"/>
            <a:ext cx="9246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575250" y="644128"/>
            <a:ext cx="3111550" cy="1783259"/>
          </a:xfrm>
          <a:prstGeom prst="roundRect">
            <a:avLst>
              <a:gd name="adj" fmla="val 28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24376" y="767953"/>
            <a:ext cx="28695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24376" y="955179"/>
            <a:ext cx="2813298" cy="409277"/>
          </a:xfrm>
          <a:prstGeom prst="roundRect">
            <a:avLst>
              <a:gd name="adj" fmla="val 124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43426" y="955179"/>
            <a:ext cx="0" cy="409277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6776" y="1056680"/>
            <a:ext cx="25975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876776" y="1177230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24376" y="1415207"/>
            <a:ext cx="281329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43426" y="1415207"/>
            <a:ext cx="0" cy="41880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76776" y="1516707"/>
            <a:ext cx="2597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876776" y="1646783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24376" y="1884759"/>
            <a:ext cx="2813298" cy="418802"/>
          </a:xfrm>
          <a:prstGeom prst="roundRect">
            <a:avLst>
              <a:gd name="adj" fmla="val 1213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43426" y="1884759"/>
            <a:ext cx="0" cy="41880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6776" y="1986260"/>
            <a:ext cx="2597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876776" y="2116336"/>
            <a:ext cx="25975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append,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575250" y="2503587"/>
            <a:ext cx="3111550" cy="1057721"/>
          </a:xfrm>
          <a:prstGeom prst="roundRect">
            <a:avLst>
              <a:gd name="adj" fmla="val 480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24376" y="2614613"/>
            <a:ext cx="28695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24376" y="2789188"/>
            <a:ext cx="286956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24376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08351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08351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40388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4363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4363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56400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40375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40375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72413" y="3088481"/>
            <a:ext cx="665262" cy="361801"/>
          </a:xfrm>
          <a:prstGeom prst="roundRect">
            <a:avLst>
              <a:gd name="adj" fmla="val 1053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56387" y="3177332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56387" y="3275707"/>
            <a:ext cx="49731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575250" y="3637508"/>
            <a:ext cx="3111550" cy="712440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24376" y="3735884"/>
            <a:ext cx="28695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24376" y="3878759"/>
            <a:ext cx="286956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시 메모리가 함께 사라지는 버그를 막기 위해 4-Tier 메모리를 LLMClientPort 추상화 위에 배치한다. Provider 전환 후에도 세션 학습이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575250" y="4426148"/>
            <a:ext cx="3111550" cy="707380"/>
          </a:xfrm>
          <a:prstGeom prst="roundRect">
            <a:avLst>
              <a:gd name="adj" fmla="val 71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594300" y="4426148"/>
            <a:ext cx="0" cy="70738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40301" y="4514999"/>
            <a:ext cx="28759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740301" y="4645075"/>
            <a:ext cx="2875940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50260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50260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노드 간 프롬프트 불일치와 비용 낭비를 유발하므로, 6-Phase 조립으로 2회차부터 입력 비용을 90% 절감한다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632073"/>
          </a:xfrm>
          <a:prstGeom prst="roundRect">
            <a:avLst>
              <a:gd name="adj" fmla="val 8037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621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9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82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82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682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622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5737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21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840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6840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6840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4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5755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623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6857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6857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6857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6263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57725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2488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68751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68751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68751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63207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6281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57900" y="1379488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62663" y="752177"/>
            <a:ext cx="0" cy="63207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689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689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689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632073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10014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632073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77275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8075" y="1374725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67600" y="752177"/>
            <a:ext cx="0" cy="632073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78626" y="891778"/>
            <a:ext cx="10073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78626" y="1031379"/>
            <a:ext cx="10073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78626" y="1164729"/>
            <a:ext cx="1007376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60450"/>
            <a:ext cx="3479750" cy="920502"/>
          </a:xfrm>
          <a:prstGeom prst="roundRect">
            <a:avLst>
              <a:gd name="adj" fmla="val 5519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65213"/>
            <a:ext cx="3479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32188" y="1460450"/>
            <a:ext cx="0" cy="920502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2376190"/>
            <a:ext cx="3479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250" y="1460450"/>
            <a:ext cx="0" cy="920502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2250" y="1571476"/>
            <a:ext cx="32417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PromptAssembler가 필요한가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22250" y="1736527"/>
            <a:ext cx="32417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프롬프트를 수동으로 편집하면 변경 추적이 불가능하고, 7개 노드가 서로 다른 시스템 프롬프트를 받으면 행동이 분기한다.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622250" y="2022277"/>
            <a:ext cx="32417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PromptAssembler가 없으면 스킬 주입, 메모리 컨텍스트, 부트스트랩 오버라이드를 수동으로 관리해야 하므로 실수가 누적된다.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4013150" y="1460450"/>
            <a:ext cx="3479899" cy="920502"/>
          </a:xfrm>
          <a:prstGeom prst="roundRect">
            <a:avLst>
              <a:gd name="adj" fmla="val 5519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Shape 71"/>
          <p:cNvSpPr/>
          <p:nvPr/>
        </p:nvSpPr>
        <p:spPr>
          <a:xfrm>
            <a:off x="4013150" y="1465213"/>
            <a:ext cx="3479899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88287" y="1460450"/>
            <a:ext cx="0" cy="920502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013150" y="2376190"/>
            <a:ext cx="3479899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032200" y="1460450"/>
            <a:ext cx="0" cy="92050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178201" y="1571476"/>
            <a:ext cx="32419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복잡도 vs 비용 절감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178201" y="1736527"/>
            <a:ext cx="32419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6단계 조립은 단순 문자열 결합보다 복잡하지만, SHA-256 해시로 변경을 감지하고 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cache_control: ephemeral</a:t>
            </a:r>
            <a:pPr algn="l" indent="0" marL="0">
              <a:lnSpc>
                <a:spcPts val="975"/>
              </a:lnSpc>
              <a:spcAft>
                <a:spcPts val="3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2회차부터 입력 비용을 90% 절감한다.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4178201" y="2022277"/>
            <a:ext cx="32419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7노드가 동일 프롬프트 1 cache entry를 공유하므로 추가 비용이 발생하지 않는다.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7569250" y="1460450"/>
            <a:ext cx="1117550" cy="920502"/>
          </a:xfrm>
          <a:prstGeom prst="roundRect">
            <a:avLst>
              <a:gd name="adj" fmla="val 5519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7894625" y="1588443"/>
            <a:ext cx="4667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82" name="Text 80"/>
          <p:cNvSpPr/>
          <p:nvPr/>
        </p:nvSpPr>
        <p:spPr>
          <a:xfrm>
            <a:off x="7860319" y="1880443"/>
            <a:ext cx="53526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  <a:p>
            <a:pPr algn="ctr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(90% 절감)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7731437" y="2167235"/>
            <a:ext cx="7930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 cache_key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85" name="Text 8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457426"/>
          </a:xfrm>
          <a:prstGeom prst="roundRect">
            <a:avLst>
              <a:gd name="adj" fmla="val 14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99704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0907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30907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95674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95674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79054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42579"/>
            <a:ext cx="1248966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440" y="1440954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60440" y="1526679"/>
            <a:ext cx="1047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7488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2009031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177207"/>
            <a:ext cx="4426148" cy="856952"/>
          </a:xfrm>
          <a:prstGeom prst="roundRect">
            <a:avLst>
              <a:gd name="adj" fmla="val 5928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28823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3584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23584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56758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431107"/>
            <a:ext cx="1981349" cy="368201"/>
          </a:xfrm>
          <a:prstGeom prst="roundRect">
            <a:avLst>
              <a:gd name="adj" fmla="val 137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20733" y="2529483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20733" y="2615208"/>
            <a:ext cx="1794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837408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3097560"/>
            <a:ext cx="4426148" cy="1039267"/>
          </a:xfrm>
          <a:prstGeom prst="roundRect">
            <a:avLst>
              <a:gd name="adj" fmla="val 4888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3208586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351461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병목이다. 자율 에이전트는 도구를 스스로 찾아야 하는데, Registry가 검색 범위를 제한한다.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31652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31652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650754"/>
            <a:ext cx="2057549" cy="375047"/>
          </a:xfrm>
          <a:prstGeom prst="roundRect">
            <a:avLst>
              <a:gd name="adj" fmla="val 1015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52601" y="3739604"/>
            <a:ext cx="18916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52601" y="3837980"/>
            <a:ext cx="1891638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749623"/>
          </a:xfrm>
          <a:prstGeom prst="roundRect">
            <a:avLst>
              <a:gd name="adj" fmla="val 290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불가능하기 때문에 자체 TokenTracker를 구축한다.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87251"/>
          </a:xfrm>
          <a:prstGeom prst="roundRect">
            <a:avLst>
              <a:gd name="adj" fmla="val 983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8725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97426" y="1489472"/>
            <a:ext cx="2882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825972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825972"/>
            <a:ext cx="0" cy="282476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7426" y="1914823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146548"/>
            <a:ext cx="3092648" cy="282476"/>
          </a:xfrm>
          <a:prstGeom prst="roundRect">
            <a:avLst>
              <a:gd name="adj" fmla="val 13488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146548"/>
            <a:ext cx="0" cy="282476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97426" y="2235398"/>
            <a:ext cx="2882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61625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727275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901851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3120777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990701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3120777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596878"/>
            <a:ext cx="3390900" cy="1330821"/>
          </a:xfrm>
          <a:prstGeom prst="roundRect">
            <a:avLst>
              <a:gd name="adj" fmla="val 38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596878"/>
            <a:ext cx="0" cy="1330821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68572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831729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58814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58814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161532"/>
            <a:ext cx="1493937" cy="466576"/>
          </a:xfrm>
          <a:prstGeom prst="roundRect">
            <a:avLst>
              <a:gd name="adj" fmla="val 8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28951" y="4250382"/>
            <a:ext cx="1342561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28951" y="4453533"/>
            <a:ext cx="13425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극복한다</a:t>
            </a:r>
            <a:endParaRPr lang="en-US" sz="700" dirty="0"/>
          </a:p>
        </p:txBody>
      </p:sp>
      <p:pic>
        <p:nvPicPr>
          <p:cNvPr id="6" name="Image 0" descr="/Users/mango/workspace/portfolio/geode/versions/v9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164878"/>
          </a:xfrm>
          <a:prstGeom prst="roundRect">
            <a:avLst>
              <a:gd name="adj" fmla="val 43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58403"/>
          </a:xfrm>
          <a:prstGeom prst="roundRect">
            <a:avLst>
              <a:gd name="adj" fmla="val 90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97821" y="3568303"/>
            <a:ext cx="20009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97821" y="3698379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97821" y="3818930"/>
            <a:ext cx="2000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66431"/>
            <a:ext cx="2209354" cy="555724"/>
          </a:xfrm>
          <a:prstGeom prst="roundRect">
            <a:avLst>
              <a:gd name="adj" fmla="val 9141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97821" y="4177457"/>
            <a:ext cx="200093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97821" y="4298007"/>
            <a:ext cx="20009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18681" y="1079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18681" y="1333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702326" y="1110853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02326" y="1225153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702326" y="1310878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602879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18681" y="1713905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18681" y="1967954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702326" y="1745605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326" y="1859905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702326" y="1945630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237631"/>
            <a:ext cx="2489150" cy="571351"/>
          </a:xfrm>
          <a:prstGeom prst="roundRect">
            <a:avLst>
              <a:gd name="adj" fmla="val 889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18681" y="2348657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18681" y="2602706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702326" y="2380357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326" y="2494657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702326" y="2580382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872383"/>
            <a:ext cx="2489150" cy="2064841"/>
          </a:xfrm>
          <a:prstGeom prst="roundRect">
            <a:avLst>
              <a:gd name="adj" fmla="val 24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970758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3145334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314533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28820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43108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564434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723084"/>
            <a:ext cx="2241500" cy="501848"/>
          </a:xfrm>
          <a:prstGeom prst="roundRect">
            <a:avLst>
              <a:gd name="adj" fmla="val 759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22975" y="3811935"/>
            <a:ext cx="20792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22975" y="3922961"/>
            <a:ext cx="207926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변경마다 에이전트 코어를 수정하면 회귀 테스트 비용이 선형 증가하므로, DomainPort Protocol로 인터페이스를 고정한다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68251"/>
            <a:ext cx="295915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87301"/>
            <a:ext cx="29591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20651"/>
            <a:ext cx="27335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092101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60277"/>
            <a:ext cx="267994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60277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03152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36502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79377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65127"/>
            <a:ext cx="2959150" cy="2962573"/>
          </a:xfrm>
          <a:prstGeom prst="roundRect">
            <a:avLst>
              <a:gd name="adj" fmla="val 171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" y="1969889"/>
            <a:ext cx="29591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1587" y="1965127"/>
            <a:ext cx="0" cy="296257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922937"/>
            <a:ext cx="29591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250" y="1965127"/>
            <a:ext cx="0" cy="296257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901" y="2088952"/>
            <a:ext cx="26849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DomainPort Protocol인가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34901" y="2257127"/>
            <a:ext cx="26849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4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도메인이 바뀔 때마다 에이전트 코어를 수정하면 회귀 테스트 비용이 선형 증가한다. DomainPort Protocol로 인터페이스를 고정하면, 새 도메인은 Protocol만 구현하여 코어 수정 없이 연결된다.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634901" y="2679353"/>
            <a:ext cx="2632323" cy="412552"/>
          </a:xfrm>
          <a:prstGeom prst="roundRect">
            <a:avLst>
              <a:gd name="adj" fmla="val 1231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201" y="2780854"/>
            <a:ext cx="24517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49201" y="2885629"/>
            <a:ext cx="24517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34901" y="3155305"/>
            <a:ext cx="2684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상속 없이 메서드만 구현하면 즉시 호환된다.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530650" y="1163985"/>
            <a:ext cx="2082701" cy="1548557"/>
          </a:xfrm>
          <a:prstGeom prst="roundRect">
            <a:avLst>
              <a:gd name="adj" fmla="val 4921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658743" y="1309985"/>
            <a:ext cx="18265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658743" y="1500485"/>
            <a:ext cx="182651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676650" y="1709886"/>
            <a:ext cx="1790700" cy="396627"/>
          </a:xfrm>
          <a:prstGeom prst="roundRect">
            <a:avLst>
              <a:gd name="adj" fmla="val 12808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775329" y="1811387"/>
            <a:ext cx="15933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775329" y="1919288"/>
            <a:ext cx="15933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676650" y="2169914"/>
            <a:ext cx="1790700" cy="396627"/>
          </a:xfrm>
          <a:prstGeom prst="roundRect">
            <a:avLst>
              <a:gd name="adj" fmla="val 12808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775329" y="2271415"/>
            <a:ext cx="15933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775329" y="2379315"/>
            <a:ext cx="15933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3530650" y="2788741"/>
            <a:ext cx="2082701" cy="949523"/>
          </a:xfrm>
          <a:prstGeom prst="roundRect">
            <a:avLst>
              <a:gd name="adj" fmla="val 5350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61931" y="2925217"/>
            <a:ext cx="182013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3661931" y="3217366"/>
            <a:ext cx="1820138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661931" y="3388668"/>
            <a:ext cx="182013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GEODE→REODE 전환 시</a:t>
            </a:r>
            <a:endParaRPr lang="en-US" sz="600" dirty="0"/>
          </a:p>
          <a:p>
            <a:pPr algn="ctr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무변경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530650" y="3814465"/>
            <a:ext cx="2082701" cy="717352"/>
          </a:xfrm>
          <a:prstGeom prst="roundRect">
            <a:avLst>
              <a:gd name="adj" fmla="val 7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3549700" y="3814465"/>
            <a:ext cx="0" cy="717352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3050" y="3915966"/>
            <a:ext cx="18523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설계 비용 vs 이식 속도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683050" y="4058841"/>
            <a:ext cx="185232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인터페이스 설계에 3일을 투자한다. 그 대가로 GEODE→REODE 피봇 시 코어 수정이 0줄이 되고, 수주의 재작성을 막는다.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727650" y="768251"/>
            <a:ext cx="295915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5727650" y="787301"/>
            <a:ext cx="29591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67251" y="920651"/>
            <a:ext cx="27335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67251" y="1092101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67251" y="1260277"/>
            <a:ext cx="26799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867251" y="1260277"/>
            <a:ext cx="27335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867251" y="1403152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7251" y="1536502"/>
            <a:ext cx="273354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27650" y="1822252"/>
            <a:ext cx="2959150" cy="3105448"/>
          </a:xfrm>
          <a:prstGeom prst="roundRect">
            <a:avLst>
              <a:gd name="adj" fmla="val 1717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76776" y="1946077"/>
            <a:ext cx="27141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core/ 변경이 0줄인가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5876776" y="2123777"/>
            <a:ext cx="27141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Aft>
                <a:spcPts val="500"/>
              </a:spcAft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GEODE(게임 IP)에서 REODE(코드 마이그레이션)로 전환할 때 core/ 디렉토리 변경이 0줄인 이유는 DomainPort가 도메인 로직을 완전히 캡슐화하기 때문이다.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5863980" y="2434828"/>
            <a:ext cx="13052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863980" y="2663428"/>
            <a:ext cx="130521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45103" y="2434828"/>
            <a:ext cx="13053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245103" y="2663428"/>
            <a:ext cx="13053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876776" y="2812554"/>
            <a:ext cx="2660898" cy="447377"/>
          </a:xfrm>
          <a:prstGeom prst="roundRect">
            <a:avLst>
              <a:gd name="adj" fmla="val 1135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976469" y="2923580"/>
            <a:ext cx="24615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5976469" y="3063180"/>
            <a:ext cx="24615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 · 33세션 1,133라운드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Eco²에서 LLM 편향 제어의 핵심을 파악하고, 그 경험이 GEODE 5-Layer Verification으로 진화한다. 단순 복사가 아니라 분화와 재설계다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77776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777776"/>
            <a:ext cx="0" cy="4441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2250" y="866626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Eco²에서 Swiss Cheese 3-Layer 평가를 설계하며 LLM 편향 제어의 핵심을 파악한다. Eco²의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Code Grader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GEODE의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G1-G4 Guardrails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분화하고,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LLM Judge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+ Cross-LLM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분리된다. 같은 문제를 더 정밀하게 세 번 푼다.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272629"/>
            <a:ext cx="8229600" cy="390376"/>
          </a:xfrm>
          <a:prstGeom prst="roundRect">
            <a:avLst>
              <a:gd name="adj" fmla="val 1301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3675" y="1371005"/>
            <a:ext cx="50750" cy="19362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5927" y="1415355"/>
            <a:ext cx="932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761827" y="1371005"/>
            <a:ext cx="19045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Eco²: Swiss Cheese 3-Layer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761827" y="1478905"/>
            <a:ext cx="19045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Code Grader + L2 LLM Judge + L3 Human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730526" y="1401068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35772" y="1371005"/>
            <a:ext cx="247593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GEODE: 5-Layer Verification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035772" y="1478905"/>
            <a:ext cx="24759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 G1-G4로 분화 · BiasBuster 6종 · Cross-LLM α≥0.67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564660" y="1401068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69906" y="1371005"/>
            <a:ext cx="1714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5-Gate Scorecard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869906" y="1478905"/>
            <a:ext cx="1714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57200" y="1713756"/>
            <a:ext cx="8229600" cy="485626"/>
          </a:xfrm>
          <a:prstGeom prst="roundRect">
            <a:avLst>
              <a:gd name="adj" fmla="val 104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3675" y="1812131"/>
            <a:ext cx="50750" cy="288875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5927" y="1904107"/>
            <a:ext cx="932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761827" y="1854994"/>
            <a:ext cx="19045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Eco²: Event Bus 동기 처리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761827" y="1972419"/>
            <a:ext cx="19045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· 확장 불가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730526" y="1889820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35772" y="1812131"/>
            <a:ext cx="24759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GEODE: HookSystem 46 Events 비동기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035772" y="1929557"/>
            <a:ext cx="24759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Event Bus는 동기 기반이므로 비동기 Hook으로 재설계. Priority 핸들러 · StuckDetector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564660" y="1889820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69906" y="1854994"/>
            <a:ext cx="171402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69906" y="1972419"/>
            <a:ext cx="1714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57200" y="2250132"/>
            <a:ext cx="8229600" cy="390376"/>
          </a:xfrm>
          <a:prstGeom prst="roundRect">
            <a:avLst>
              <a:gd name="adj" fmla="val 1301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3675" y="2348508"/>
            <a:ext cx="50750" cy="19362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5927" y="2392859"/>
            <a:ext cx="9326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761827" y="2348508"/>
            <a:ext cx="19045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Eco²: LLMClientPort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761827" y="2456408"/>
            <a:ext cx="19045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730526" y="2378571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35772" y="2348508"/>
            <a:ext cx="247593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GEODE: Port/Adapter DI + ContextVar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35772" y="2456408"/>
            <a:ext cx="24759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· OpenAI · ZhipuAI 3-Provider · CB ×3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6564660" y="2378571"/>
            <a:ext cx="207821" cy="133350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69906" y="2348508"/>
            <a:ext cx="171402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69906" y="2456408"/>
            <a:ext cx="17140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 Java 교체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445496"/>
            <a:ext cx="82296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76250" y="4445496"/>
            <a:ext cx="0" cy="444103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250" y="4534346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기존 패턴 재사용 vs 도메인 차이 무시 위험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기존 패턴을 재사용하면 설계 시간을 줄이지만, 도메인 차이를 무시하면 맞지 않는 구조를 강제하게 된다. Eco²의 Event Bus는 동기 처리 기반이므로 GEODE의 비동기 Hook으로 재설계가 필요하다. 재사용과 재설계를 구분하여, REODE는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" y="4978450"/>
            <a:ext cx="383640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Event Bus(동기)→HookSystem(비동기) · LLMClientPort→Port/Adapter · L1 Code Grader→G1-G4 Guardrails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 허용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8-Step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Frontier Mining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설계하기 때문에 동형 구조가 나온다.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주입한다.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재발명하기 때문에 4개 하네스를 리서치하고 3/4 수렴 규칙으로 채택 여부를 결정한다.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WHY를 CHANGELOG에 기록한다.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달성한다.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누적되기 때문에 70% 테스트 비율을 CANNOT으로 강제한다.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31194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31219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되고,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40223"/>
            <a:ext cx="1555700" cy="586085"/>
          </a:xfrm>
          <a:prstGeom prst="roundRect">
            <a:avLst>
              <a:gd name="adj" fmla="val 866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83475" y="2841724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83475" y="2973586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83475" y="3118247"/>
            <a:ext cx="1353642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407271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88234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6087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7885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4225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6970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13310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635323"/>
          </a:xfrm>
          <a:prstGeom prst="roundRect">
            <a:avLst>
              <a:gd name="adj" fmla="val 4660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65875" y="2003673"/>
            <a:ext cx="16646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59100"/>
            <a:ext cx="2209800" cy="2298799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708225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722513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924026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00996"/>
            <a:ext cx="1860649" cy="307777"/>
          </a:xfrm>
          <a:prstGeom prst="roundRect">
            <a:avLst>
              <a:gd name="adj" fmla="val 165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65875" y="4502497"/>
            <a:ext cx="16646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773585"/>
          </a:xfrm>
          <a:prstGeom prst="roundRect">
            <a:avLst>
              <a:gd name="adj" fmla="val 2864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92826" y="3433316"/>
            <a:ext cx="657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92826" y="3544342"/>
            <a:ext cx="657618" cy="639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928092"/>
          </a:xfrm>
          <a:prstGeom prst="roundRect">
            <a:avLst>
              <a:gd name="adj" fmla="val 449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803952" y="3433316"/>
            <a:ext cx="657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803952" y="3544342"/>
            <a:ext cx="6577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발명은 검증 비용이 높으므로, 먼저 읽고 3/4 수렴 규칙으로 차용 여부를 결정한다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787700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11002"/>
            <a:ext cx="2565044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확인한다. GEODE AgenticLoop 50 라운드 설계의 직접 근거가 된다.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455962"/>
            <a:ext cx="2514749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7975" y="2544812"/>
            <a:ext cx="23318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08300" y="834777"/>
            <a:ext cx="2787848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444776" y="958602"/>
            <a:ext cx="25651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444776" y="1111002"/>
            <a:ext cx="2565196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444776" y="2455962"/>
            <a:ext cx="251489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59076" y="2544812"/>
            <a:ext cx="23320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06613"/>
            <a:ext cx="2787700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0438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182838"/>
            <a:ext cx="2565044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얻는다.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27798"/>
            <a:ext cx="2514749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4616648"/>
            <a:ext cx="23318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08300" y="2906613"/>
            <a:ext cx="2787848" cy="2008436"/>
          </a:xfrm>
          <a:prstGeom prst="roundRect">
            <a:avLst>
              <a:gd name="adj" fmla="val 379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44776" y="3030438"/>
            <a:ext cx="25651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44776" y="3182838"/>
            <a:ext cx="2565196" cy="1306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작업하는 구조의 실증 사례다.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4776" y="4527798"/>
            <a:ext cx="2514898" cy="263426"/>
          </a:xfrm>
          <a:prstGeom prst="roundRect">
            <a:avLst>
              <a:gd name="adj" fmla="val 1928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59076" y="4616648"/>
            <a:ext cx="23320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945505"/>
          </a:xfrm>
          <a:prstGeom prst="roundRect">
            <a:avLst>
              <a:gd name="adj" fmla="val 805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197650" y="839539"/>
            <a:ext cx="24891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2038" y="834777"/>
            <a:ext cx="0" cy="945505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7650" y="1775520"/>
            <a:ext cx="24891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6700" y="834777"/>
            <a:ext cx="0" cy="94550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5350" y="958602"/>
            <a:ext cx="22055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4개 하네스인가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375350" y="1123652"/>
            <a:ext cx="2205570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Code, autoresearch, OpenClaw, Codex CLI를 선택한 이유: 이 4개가 현존하는 프론티어 에이전트 하네스 중 가장 성숙하고, 소스 코드 또는 설계 문서가 공개되어 패턴을 추출할 수 있기 때문이다.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197650" y="1843683"/>
            <a:ext cx="2489150" cy="1516707"/>
          </a:xfrm>
          <a:prstGeom prst="roundRect">
            <a:avLst>
              <a:gd name="adj" fmla="val 5024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6197650" y="1848445"/>
            <a:ext cx="24891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2038" y="1843683"/>
            <a:ext cx="0" cy="1516707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97650" y="3355628"/>
            <a:ext cx="24891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6700" y="1843683"/>
            <a:ext cx="0" cy="151670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75350" y="1967508"/>
            <a:ext cx="22055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자체 발명 vs 검증된 패턴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75350" y="2132558"/>
            <a:ext cx="220557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발명은 독창적이지만 검증 비용이 높다. 프론티어 하네스에서 이미 검증된 패턴을 채택하면 설계 리스크를 줄인다.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375350" y="2437061"/>
            <a:ext cx="220557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 이상 합의된 패턴만 채택하고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1종에서만 존재하는 패턴은 Socratic Gate Q5에서 재검증한다.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375350" y="2766864"/>
            <a:ext cx="2162324" cy="469702"/>
          </a:xfrm>
          <a:prstGeom prst="roundRect">
            <a:avLst>
              <a:gd name="adj" fmla="val 1081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489650" y="2868364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883747" y="2877443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57200" y="4978450"/>
            <a:ext cx="293544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설계한다 · 3/4 수렴 규칙 · Socratic Gate Q5 재검증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관점 리뷰는 Confirmation Bias로 자기 설계의 결함을 놓친다. 4인격이 각자 다른 failure mode를 담당하므로 한 시점의 맹점을 다른 시점이 잡는다.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누락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95251" y="936278"/>
            <a:ext cx="475452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가능성을 검사한다. 상위 레이어가 하위를 직접 임포트하거나 플러그인 교체 시 코어 수정이 발생하면 블로킹한다.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6940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95251" y="1469082"/>
            <a:ext cx="475452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히트율을 기준으로 과잉 구현을 차단한다. LLM 호출을 줄이거나 컨텍스트를 재사용하는 더 단순한 경로가 있으면 반드시 제안한다.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900386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900386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2001887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135237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장애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2001887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위반을 탐지한다. 외부 입력이 직접 shell로 전달되는 경로가 있으면 머지 전에 차단하므로 .env 파일 권한 취약점도 이 단계에서 포착한다.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433191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433191"/>
            <a:ext cx="0" cy="4694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534692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68042"/>
            <a:ext cx="544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95251" y="2534692"/>
            <a:ext cx="475452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커버리지를 확인한다. 새로운 코드 경로가 3,216 기존 테스트를 깨거나 에이전트 루프 안전 조건을 위반하면 블로킹한다.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609576"/>
          </a:xfrm>
          <a:prstGeom prst="roundRect">
            <a:avLst>
              <a:gd name="adj" fmla="val 473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10694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4인 리뷰 비용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 리뷰는 단일 리뷰보다 시간이 4배 걸린다. 그러나 머지 후 P0 보안 이슈를 발견하는 비용은 리뷰 비용의 10배를 넘는다. 리뷰 시간에 투자하면 사후 복구 비용을 회피하므로 순이익이 발생한다.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524619"/>
          </a:xfrm>
          <a:prstGeom prst="roundRect">
            <a:avLst>
              <a:gd name="adj" fmla="val 968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73875" y="1872109"/>
            <a:ext cx="1975434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실증:</a:t>
            </a:r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.env 환경변수를 LLM 프롬프트에 직접 삽입하는 경로를 Steinberger가 머지 전에 포착. CANNOT 규칙 추가로 API 키 유출 벡터 영구 차단.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197650" y="2520553"/>
            <a:ext cx="2489150" cy="2394496"/>
          </a:xfrm>
          <a:prstGeom prst="roundRect">
            <a:avLst>
              <a:gd name="adj" fmla="val 3182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657029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671316"/>
            <a:ext cx="444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4명인가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872829"/>
            <a:ext cx="2208606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4명의 페르소나는 각각 다른 failure mode를 담당한다. Beck은 테스트 누락, Karpathy는 과잉 구현, Steinberger는 운영 장애, Cherny는 에이전트 안전을 맡는다. 한 시점에서는 놓치는 결함을 다른 시점이 잡으므로, 단일 설계자의 Confirmation Bias가 구조적으로 제거된다.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359575" y="3602236"/>
            <a:ext cx="220860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패턴이므로 비용은 1회 추론이다.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성숙하면 속도가 폭발한다. Phase 0의 4 commits/day에서 Phase 5의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commits/day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가속하는 것은 우연이 아니라 구조적 결과이다.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613273"/>
            <a:ext cx="554436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수 (실제 비율)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834182" y="4438948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4572298"/>
            <a:ext cx="853083" cy="101501"/>
          </a:xfrm>
          <a:prstGeom prst="roundRect">
            <a:avLst>
              <a:gd name="adj" fmla="val 37537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726109" y="4349948"/>
            <a:ext cx="1513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73684" y="4483298"/>
            <a:ext cx="853232" cy="1905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42592" y="4248448"/>
            <a:ext cx="1513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290316" y="4381798"/>
            <a:ext cx="853083" cy="292001"/>
          </a:xfrm>
          <a:prstGeom prst="roundRect">
            <a:avLst>
              <a:gd name="adj" fmla="val 13048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06242" y="2870448"/>
            <a:ext cx="2592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06800" y="3022848"/>
            <a:ext cx="853083" cy="1650950"/>
          </a:xfrm>
          <a:prstGeom prst="roundRect">
            <a:avLst>
              <a:gd name="adj" fmla="val 4466"/>
            </a:avLst>
          </a:prstGeom>
          <a:solidFill>
            <a:srgbClr val="F5C542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75559" y="4007048"/>
            <a:ext cx="1513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123283" y="4140398"/>
            <a:ext cx="853083" cy="533400"/>
          </a:xfrm>
          <a:prstGeom prst="roundRect">
            <a:avLst>
              <a:gd name="adj" fmla="val 714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27898" y="4349948"/>
            <a:ext cx="2822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67/day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39767" y="4483298"/>
            <a:ext cx="853083" cy="1905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4673798"/>
            <a:ext cx="5435650" cy="190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8669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48669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365151" y="4743599"/>
            <a:ext cx="870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365151" y="4838849"/>
            <a:ext cx="8702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281785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281785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198269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198269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★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114752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114752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031236" y="4743599"/>
            <a:ext cx="8701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031236" y="4838849"/>
            <a:ext cx="8701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9800" y="1166068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038850" y="1166068"/>
            <a:ext cx="0" cy="2729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1254919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344394" y="1259681"/>
            <a:ext cx="18940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 · CLAUDE.md 초안, 첫 CANNOT 규칙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485584" y="1259681"/>
            <a:ext cx="886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019800" y="1489770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6038850" y="1489770"/>
            <a:ext cx="0" cy="27295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1578620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344394" y="1583382"/>
            <a:ext cx="10595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— 회귀 60% 감소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422035" y="1583382"/>
            <a:ext cx="1534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019800" y="1813471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038850" y="1813471"/>
            <a:ext cx="0" cy="27295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1902321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344394" y="1907084"/>
            <a:ext cx="14746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Loop + CI Gate — 불필요 작업 50%↓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85584" y="1907084"/>
            <a:ext cx="886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019800" y="2137172"/>
            <a:ext cx="2667000" cy="412552"/>
          </a:xfrm>
          <a:prstGeom prst="roundRect">
            <a:avLst>
              <a:gd name="adj" fmla="val 12314"/>
            </a:avLst>
          </a:prstGeom>
          <a:solidFill>
            <a:srgbClr val="1A1500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153150" y="2291060"/>
            <a:ext cx="2145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★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426845" y="2257723"/>
            <a:ext cx="20010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 — 복리 회수 시작. PR 500+ 돌파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8452098" y="2295823"/>
            <a:ext cx="1033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019800" y="2600474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6038850" y="2600474"/>
            <a:ext cx="0" cy="27295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72200" y="2689324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344394" y="2694087"/>
            <a:ext cx="13401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 — Domain Portability 실증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43168" y="2694087"/>
            <a:ext cx="1319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19800" y="2924175"/>
            <a:ext cx="2667000" cy="272951"/>
          </a:xfrm>
          <a:prstGeom prst="roundRect">
            <a:avLst>
              <a:gd name="adj" fmla="val 186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6038850" y="2924175"/>
            <a:ext cx="0" cy="272951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72200" y="3013025"/>
            <a:ext cx="11096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344394" y="3017788"/>
            <a:ext cx="1162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Long-Running Safety 완성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8379619" y="3017788"/>
            <a:ext cx="1967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6019800" y="3260527"/>
            <a:ext cx="2667000" cy="790426"/>
          </a:xfrm>
          <a:prstGeom prst="roundRect">
            <a:avLst>
              <a:gd name="adj" fmla="val 964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174013" y="3447752"/>
            <a:ext cx="7866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2400" dirty="0"/>
          </a:p>
        </p:txBody>
      </p:sp>
      <p:sp>
        <p:nvSpPr>
          <p:cNvPr id="63" name="Text 61"/>
          <p:cNvSpPr/>
          <p:nvPr/>
        </p:nvSpPr>
        <p:spPr>
          <a:xfrm>
            <a:off x="6174013" y="3777853"/>
            <a:ext cx="7866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79903" y="3401764"/>
            <a:ext cx="12650" cy="5079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219504" y="3384352"/>
            <a:ext cx="2905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7656761" y="3384352"/>
            <a:ext cx="1765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7219504" y="3530352"/>
            <a:ext cx="23575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7629674" y="3530352"/>
            <a:ext cx="2041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7219504" y="3676352"/>
            <a:ext cx="3241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730877" y="3676352"/>
            <a:ext cx="1009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7219504" y="3822353"/>
            <a:ext cx="1344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7654082" y="3822353"/>
            <a:ext cx="17928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019800" y="4114354"/>
            <a:ext cx="266700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Shape 72"/>
          <p:cNvSpPr/>
          <p:nvPr/>
        </p:nvSpPr>
        <p:spPr>
          <a:xfrm>
            <a:off x="6038850" y="4114354"/>
            <a:ext cx="0" cy="469404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84850" y="4215854"/>
            <a:ext cx="2422499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0-2에서 정확성을 선택한 투자가 Phase 3부터 복리로 회수된다. 회귀 없이 하루 32.2 커밋.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26146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24866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375618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18526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296293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426369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737420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72462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851571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661220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772245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1902321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1337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005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327523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137172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481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3782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68932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67652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034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13124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652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524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7942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89077"/>
            <a:ext cx="5486846" cy="437852"/>
          </a:xfrm>
          <a:prstGeom prst="roundRect">
            <a:avLst>
              <a:gd name="adj" fmla="val 116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2001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3301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64122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6284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755380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565029"/>
            <a:ext cx="5486846" cy="428327"/>
          </a:xfrm>
          <a:prstGeom prst="roundRect">
            <a:avLst>
              <a:gd name="adj" fmla="val 118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676055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79660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410765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409485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4031456"/>
            <a:ext cx="5486846" cy="456902"/>
          </a:xfrm>
          <a:prstGeom prst="roundRect">
            <a:avLst>
              <a:gd name="adj" fmla="val 11118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152007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282083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281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2900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377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329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1821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185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185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4867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4867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549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549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29976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0991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568601"/>
            <a:ext cx="1650950" cy="976908"/>
          </a:xfrm>
          <a:prstGeom prst="roundRect">
            <a:avLst>
              <a:gd name="adj" fmla="val 520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568601"/>
            <a:ext cx="0" cy="9769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88250" y="3657451"/>
            <a:ext cx="1411935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5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799802"/>
            <a:ext cx="4565600" cy="4124771"/>
          </a:xfrm>
          <a:prstGeom prst="roundRect">
            <a:avLst>
              <a:gd name="adj" fmla="val 184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1025" y="898178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95325" y="91246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9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025" y="1152079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149751" y="799802"/>
            <a:ext cx="3537049" cy="2200126"/>
          </a:xfrm>
          <a:prstGeom prst="roundRect">
            <a:avLst>
              <a:gd name="adj" fmla="val 3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273576" y="898178"/>
            <a:ext cx="33551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 — 인과 서술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273576" y="1098203"/>
            <a:ext cx="3289399" cy="501402"/>
          </a:xfrm>
          <a:prstGeom prst="roundRect">
            <a:avLst>
              <a:gd name="adj" fmla="val 101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375077" y="1161604"/>
            <a:ext cx="314812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Blocked — Regex 9-Pattern Safe-First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375077" y="1269504"/>
            <a:ext cx="3148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rm‑rf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sudo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curl|sh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9개 regex 패턴을 우선 검사한다. safe‑first로 검사하면 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 / &amp;&amp; rm‑rf /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같은 파이프 주입을 놓치기 때문에 저 순서가 필수다.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5273576" y="1675805"/>
            <a:ext cx="3289399" cy="501402"/>
          </a:xfrm>
          <a:prstGeom prst="roundRect">
            <a:avLst>
              <a:gd name="adj" fmla="val 101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375077" y="1739205"/>
            <a:ext cx="31481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Resource — setrlimit Child Process 강제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375077" y="1856631"/>
            <a:ext cx="31481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preexec_fn setrlimit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CPU 30s, FSIZE 50MB, NPROC 64를 child process에 강제한다. L1을 통과하더라도 슬로우 루프나 대용량 파일 생성을 츨다.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5273576" y="2253407"/>
            <a:ext cx="3289399" cy="501402"/>
          </a:xfrm>
          <a:prstGeom prst="roundRect">
            <a:avLst>
              <a:gd name="adj" fmla="val 101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375077" y="2316807"/>
            <a:ext cx="31481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HITL — stdin 없으면 deny‑by‑default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375077" y="2434233"/>
            <a:ext cx="31481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L1‑2를 통과한 미분류 명령은 사용자 승인을 요청한다. 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pPr algn="l" indent="0" marL="0">
              <a:lnSpc>
                <a:spcPts val="975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에서는 stdin이 없으므로 자동으로 deny‑by‑default로 처리된다.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5149751" y="3050679"/>
            <a:ext cx="3537049" cy="1396901"/>
          </a:xfrm>
          <a:prstGeom prst="roundRect">
            <a:avLst>
              <a:gd name="adj" fmla="val 545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273576" y="3149054"/>
            <a:ext cx="33551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입력 차단 후 출력 검증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273576" y="3336280"/>
            <a:ext cx="335518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Input Gating은 실행 전 차단하고, Output Validation은 실행 후 산출물을 검증한다. 두 축 모두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273576" y="3691384"/>
            <a:ext cx="1606600" cy="657820"/>
          </a:xfrm>
          <a:prstGeom prst="roundRect">
            <a:avLst>
              <a:gd name="adj" fmla="val 77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387876" y="3792885"/>
            <a:ext cx="14055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387876" y="3900785"/>
            <a:ext cx="140556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4‑Tier HITL 게층으로 에이전트 실행 전 차단. TIER 0‑1: asyncio.gather 자동 / TIER 3‑4: 개별 수동 승인 필수</a:t>
            </a:r>
            <a:endParaRPr lang="en-US" sz="650" dirty="0"/>
          </a:p>
        </p:txBody>
      </p:sp>
      <p:sp>
        <p:nvSpPr>
          <p:cNvPr id="27" name="Text 24"/>
          <p:cNvSpPr/>
          <p:nvPr/>
        </p:nvSpPr>
        <p:spPr>
          <a:xfrm>
            <a:off x="6956375" y="3691384"/>
            <a:ext cx="1606600" cy="657820"/>
          </a:xfrm>
          <a:prstGeom prst="roundRect">
            <a:avLst>
              <a:gd name="adj" fmla="val 77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070675" y="3792885"/>
            <a:ext cx="14055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070675" y="3900785"/>
            <a:ext cx="140556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1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5‑Tier Safety 등급으로 실행 후 출력 검증. 파이프라인 결과물만 이 아치를 통과한다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5149751" y="4498330"/>
            <a:ext cx="3537049" cy="426244"/>
          </a:xfrm>
          <a:prstGeom prst="roundRect">
            <a:avLst>
              <a:gd name="adj" fmla="val 1191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8"/>
          <p:cNvSpPr/>
          <p:nvPr/>
        </p:nvSpPr>
        <p:spPr>
          <a:xfrm>
            <a:off x="5168801" y="4498330"/>
            <a:ext cx="0" cy="4262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302151" y="4587180"/>
            <a:ext cx="333575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setrlimit + L3 HITL 모두 통과 시 지연이 발생하지만, 자율 에이전트가 시스템을 파괴한 사례가 0건인 것이 증거다.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457200" y="4987975"/>
            <a:ext cx="235024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46 Hook Events · 5-Tier Tool Safety · Bash 3-Layer + Dual Trust</a:t>
            </a:r>
            <a:endParaRPr lang="en-US" sz="500" dirty="0"/>
          </a:p>
        </p:txBody>
      </p:sp>
      <p:sp>
        <p:nvSpPr>
          <p:cNvPr id="34" name="Text 3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 8선: 포기하지 않은 설계 결정은 결정이 아니다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3는 인과관계로 서술한다. 나머지 5개는 before/after 한 줄로 유지. 모든 피벗은 CHANGELOG에 “왔”가 기록되어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4232077" cy="821978"/>
          </a:xfrm>
          <a:prstGeom prst="rect">
            <a:avLst/>
          </a:prstGeom>
          <a:solidFill>
            <a:srgbClr val="0F192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82197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2250" y="923627"/>
            <a:ext cx="450354" cy="190500"/>
          </a:xfrm>
          <a:prstGeom prst="roundRect">
            <a:avLst>
              <a:gd name="adj" fmla="val 20000"/>
            </a:avLst>
          </a:prstGeom>
          <a:solidFill>
            <a:srgbClr val="0A2218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20626" y="971252"/>
            <a:ext cx="2586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48804" y="956965"/>
            <a:ext cx="12561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Context vs 전체 공유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2250" y="1152227"/>
            <a:ext cx="414836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A의 S급 평가가 B를 편향시키는 앙커링을 구조적으로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22250" y="1310729"/>
            <a:ext cx="414836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필드를 빈 배열로 전달하여 4명의 Analyst가 완전 독립 평가를 수행한다. 가헌 군사적 개입이 없는 제한된 판단이 무작위 합의보다 신뢰도가 높다.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57200" y="1732955"/>
            <a:ext cx="4232077" cy="688628"/>
          </a:xfrm>
          <a:prstGeom prst="rect">
            <a:avLst/>
          </a:prstGeom>
          <a:solidFill>
            <a:srgbClr val="0F192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76250" y="1732955"/>
            <a:ext cx="0" cy="68862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250" y="1821805"/>
            <a:ext cx="450354" cy="190500"/>
          </a:xfrm>
          <a:prstGeom prst="roundRect">
            <a:avLst>
              <a:gd name="adj" fmla="val 20000"/>
            </a:avLst>
          </a:prstGeom>
          <a:solidFill>
            <a:srgbClr val="0A2218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0626" y="1869430"/>
            <a:ext cx="2586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48804" y="1855143"/>
            <a:ext cx="16564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 vs 하드와이어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2250" y="2050405"/>
            <a:ext cx="414836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교체 시 코어 수정 0줄. GEODE→REODE 피벗에서 실증되었다.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22250" y="2208907"/>
            <a:ext cx="41483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DomainPort가 계약만 정의하고 구현은 삽입한다. L5 엔드포인트만 교체하고 L0‑L4가 그대로 유지된다.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497782"/>
            <a:ext cx="4232077" cy="821978"/>
          </a:xfrm>
          <a:prstGeom prst="rect">
            <a:avLst/>
          </a:prstGeom>
          <a:solidFill>
            <a:srgbClr val="0F192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6250" y="2497782"/>
            <a:ext cx="0" cy="82197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50" y="2586633"/>
            <a:ext cx="450354" cy="190500"/>
          </a:xfrm>
          <a:prstGeom prst="roundRect">
            <a:avLst>
              <a:gd name="adj" fmla="val 20000"/>
            </a:avLst>
          </a:prstGeom>
          <a:solidFill>
            <a:srgbClr val="0A2218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20626" y="2634258"/>
            <a:ext cx="2586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148804" y="2619970"/>
            <a:ext cx="193551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 vs 단일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2250" y="2815233"/>
            <a:ext cx="414836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Anthropic은 서버사이드(compact_20260112), OpenAI/GLM은 클라이언트사이드.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2250" y="2973735"/>
            <a:ext cx="414836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context_action.py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hook이 프로바이더별 최적 전략을 분화한다. 단일 전략으로는 Anthropic의 네이티브 커패션 효율을 활용할 수 없다.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4841677" y="834777"/>
            <a:ext cx="12650" cy="4080272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025777" y="834777"/>
            <a:ext cx="0" cy="56495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71777" y="923627"/>
            <a:ext cx="35853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171777" y="1063228"/>
            <a:ext cx="35853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T3‑4 병렬 속도를 포기하고 DANGEROUS 명령은 개별 순차 승인으로 격리하니 권한 에스칼레이션 경로가 차단된다.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5025777" y="1475929"/>
            <a:ext cx="0" cy="55542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71777" y="1564779"/>
            <a:ext cx="358532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171777" y="1694855"/>
            <a:ext cx="35853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출력 전체 반환을 포기하고 4096 guard를 적용하니 부모 컨텍스트 폭발이 방지되어 MAX_CONCURRENT=5 병렬이 가능해진다.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5025777" y="2107555"/>
            <a:ext cx="0" cy="55542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71777" y="2196405"/>
            <a:ext cx="358532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171777" y="2326481"/>
            <a:ext cx="35853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편집의 즉각성을 포기하고 6‑Phase 조립과 SHA‑256 추적을 도입하니 cache_control ephemeral로 2회차 입력 비용이 10%로 준다.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5025777" y="2739182"/>
            <a:ext cx="0" cy="564952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71777" y="2828032"/>
            <a:ext cx="35853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71777" y="2967633"/>
            <a:ext cx="35853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도구 관리를 포기하고 auto‑discovery를 채택하니 proxy stub 9개가 제거되고 45 MCP 서버를 자동 등록할 수 있게 된다.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5025777" y="3380333"/>
            <a:ext cx="0" cy="564952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71777" y="3469184"/>
            <a:ext cx="35853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후 200 Turns 상한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171777" y="3608784"/>
            <a:ext cx="35853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자율을 포기하고 수렴 감지 + 비용 상한을 도입했더니 파이프라인 폭주가 차단되고 장기 운용 비용이 예측 가능해졌다.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모든 피벗 CHANGELOG 기록</a:t>
            </a:r>
            <a:endParaRPr lang="en-US" sz="500" dirty="0"/>
          </a:p>
        </p:txBody>
      </p:sp>
      <p:sp>
        <p:nvSpPr>
          <p:cNvPr id="44" name="Text 42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규칙이 어떤 자동화 메커니즘을 통해 결과를 보장하는가 — 각 CANNOT은 수동 검토가 아닌 구조적 차단으로 작동한다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1504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41342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53397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44199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56254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31504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41342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53397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Review의 Cherny가 인과관계 1문장 없는 슬라이드를 탐지하면 Socratic Gate 재통과를 강제하므로 PR이 자동으로 차단된다.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50227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31504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41342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53397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1905298"/>
            <a:ext cx="238645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00367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12422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08463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20518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1905298"/>
            <a:ext cx="296301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00367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124224"/>
            <a:ext cx="27438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Gate가 구현 파일 변경을 탐지하므로, 5-질문 답변 없는 커밋은 자동으로 실패 처리된다. 잘못된 전제로 50 rounds를 낭비하는 경로가 사전 차단된다.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14491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1905298"/>
            <a:ext cx="2194322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00367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12422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0032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69870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1925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27275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4782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0032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69870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1925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 페르소나가 화살표·분기·루프백 없는 다이어그램을 탐지하므로, Architect 검사를 통과하지 못한 슬라이드는 머지가 차단된다.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7875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0032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69870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1925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190577"/>
            <a:ext cx="238645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28895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0950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69915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9046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190577"/>
            <a:ext cx="2963019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28895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09504"/>
            <a:ext cx="27438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커밋 훅이 "포기한 것 / 얻은 것" 쌍을 검사하므로, 해당 쌍 없이 제출된 기능 커밋은 자동으로 차단된다. 결정의 이유가 코드와 함께 기록된다.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43019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190577"/>
            <a:ext cx="2194322" cy="631627"/>
          </a:xfrm>
          <a:prstGeom prst="roundRect">
            <a:avLst>
              <a:gd name="adj" fmla="val 1206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28895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0950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88560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9839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41045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무단 공유 금지: 세션 격리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4012555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413310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88560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9839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410453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.owner 파일이 세션 소유권을 관리하므로, 다른 세션이 동일 worktree에 진입하면 자동으로 차단된다. 병렬 에이전트의 상태 충돌이 원천 차단된다.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4072830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88560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9839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41045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conflict 0건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053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2053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93403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93403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04753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04753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22127"/>
            <a:ext cx="1435150" cy="704552"/>
          </a:xfrm>
          <a:prstGeom prst="roundRect">
            <a:avLst>
              <a:gd name="adj" fmla="val 721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16102" y="93315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16102" y="132992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2053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2053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93403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093403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4753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04753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590080"/>
            <a:ext cx="1435150" cy="631627"/>
          </a:xfrm>
          <a:prstGeom prst="roundRect">
            <a:avLst>
              <a:gd name="adj" fmla="val 804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16102" y="1688455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16102" y="2037606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2053" y="23834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2053" y="27040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93403" y="23834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093403" y="27040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04753" y="23834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04753" y="27040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285107"/>
            <a:ext cx="1435150" cy="612577"/>
          </a:xfrm>
          <a:prstGeom prst="roundRect">
            <a:avLst>
              <a:gd name="adj" fmla="val 829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16102" y="2383482"/>
            <a:ext cx="11854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16102" y="2713583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2961084"/>
            <a:ext cx="5969198" cy="629394"/>
          </a:xfrm>
          <a:prstGeom prst="roundRect">
            <a:avLst>
              <a:gd name="adj" fmla="val 807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76250" y="2961084"/>
            <a:ext cx="0" cy="62939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4901" y="3062585"/>
            <a:ext cx="5764935" cy="426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숫자들은 35일간 단 한 건의 회귀 없이 축적된 결과이다.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23개 규칙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품질 하한을 보장하고,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5-Job Ratchet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테스트 수의 단조 증가를 강제하며,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머지 전 결함을 차단한다. Harness 4-Axis(컨텍스트·실행·검증·관측)가 이 세 메커니즘을 매 커밋마다 작동시키므로 숫자는 선형이 아닌 복리로 성장한다.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527899" y="822127"/>
            <a:ext cx="2158901" cy="2982664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664375" y="92050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664375" y="116160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78675" y="1098203"/>
            <a:ext cx="180708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64375" y="1473547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78675" y="1410146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664375" y="166122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778675" y="159781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664375" y="184889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778675" y="178549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527899" y="3880991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664375" y="3979366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64375" y="4153942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664375" y="4328964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664375" y="4529286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664375" y="4719638"/>
            <a:ext cx="192366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실천한다.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082701" cy="4057948"/>
          </a:xfrm>
          <a:prstGeom prst="roundRect">
            <a:avLst>
              <a:gd name="adj" fmla="val 3659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572220"/>
            <a:ext cx="1758851" cy="57150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984" y="1686520"/>
            <a:ext cx="148313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발산한다”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536" y="2232571"/>
            <a:ext cx="1794028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610445"/>
            <a:ext cx="17588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536" y="2704058"/>
            <a:ext cx="179402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619125" y="3040559"/>
            <a:ext cx="1758851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1026" y="3142059"/>
            <a:ext cx="1535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026" y="3319760"/>
            <a:ext cx="1535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595836"/>
            <a:ext cx="1758851" cy="603945"/>
          </a:xfrm>
          <a:prstGeom prst="roundRect">
            <a:avLst>
              <a:gd name="adj" fmla="val 841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595836"/>
            <a:ext cx="0" cy="603945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525" y="3684687"/>
            <a:ext cx="1521994" cy="426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41402" y="857101"/>
            <a:ext cx="6045398" cy="957263"/>
          </a:xfrm>
          <a:prstGeom prst="roundRect">
            <a:avLst>
              <a:gd name="adj" fmla="val 79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03327" y="968127"/>
            <a:ext cx="38100" cy="735211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42927" y="1060400"/>
            <a:ext cx="50405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42927" y="1209526"/>
            <a:ext cx="5040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v0.32에서 Provider-aware Compaction 도입. Anthropic은 서버사이드, OpenAI/GLM은 클라이언트사이드로 분화하여 2회차 입력 비용을 10%로 절감한다.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942927" y="1495276"/>
            <a:ext cx="5040523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프롬프트 자동 최적화 (RL 기반) — 별도 fine-tuning 없이 후보 프롬프트 등급 자동 선택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7986117" y="1124694"/>
            <a:ext cx="53875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10219" y="1226195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10219" y="1359545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641402" y="1890564"/>
            <a:ext cx="6045398" cy="957411"/>
          </a:xfrm>
          <a:prstGeom prst="roundRect">
            <a:avLst>
              <a:gd name="adj" fmla="val 795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803327" y="2001589"/>
            <a:ext cx="38100" cy="73536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942927" y="2094012"/>
            <a:ext cx="49397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942927" y="2243138"/>
            <a:ext cx="49397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v0.32에서 Autonomous Safety 3조건 도입. 비용 상한 + 수렴 감지 + 권한 검증으로 파이프라인 폭주를 차단하고 평균 4.2 라운드에 자연 종료를 보장한다.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942927" y="2528888"/>
            <a:ext cx="4939725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멀티에이전트 협업 프로토콜 — 독립 SubAgent가 DAG로 병렬 실행되는 협업 매커니즘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887295" y="2158157"/>
            <a:ext cx="637580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010409" y="2259657"/>
            <a:ext cx="391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10409" y="2393007"/>
            <a:ext cx="3913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크200 turns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641402" y="2924175"/>
            <a:ext cx="6045398" cy="957263"/>
          </a:xfrm>
          <a:prstGeom prst="roundRect">
            <a:avLst>
              <a:gd name="adj" fmla="val 79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803327" y="3035201"/>
            <a:ext cx="38100" cy="735211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942927" y="3127474"/>
            <a:ext cx="49684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942927" y="3276600"/>
            <a:ext cx="49684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5-Layer Cross-LLM 합의 도편지수 α≥0.67로 단일 LLM 편향 및 앙커링을 구조적으로 제거한다. 단일 LLM 편향은 평가점 오차 당18점 분산을 밤는다.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942927" y="3562350"/>
            <a:ext cx="4968416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인간 피드백 루프 (RLHF Phase 5) 실가동 — 평가자 피드백이 실시간 합의도 보정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7915424" y="3191768"/>
            <a:ext cx="609451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038819" y="3293269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38819" y="3426619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2641402" y="3957638"/>
            <a:ext cx="6045398" cy="957411"/>
          </a:xfrm>
          <a:prstGeom prst="roundRect">
            <a:avLst>
              <a:gd name="adj" fmla="val 795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803327" y="4068663"/>
            <a:ext cx="38100" cy="73536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942927" y="4161086"/>
            <a:ext cx="48903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942927" y="4310211"/>
            <a:ext cx="489038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spcBef>
                <a:spcPts val="200"/>
              </a:spcBef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46 events로 모든 계층을 횟전단한다. L3 Decide 핸들러가 현재 1개에 불과하여 비용 표문점이 부족하다. 자체 TokenTracker가 무선 LangSmith보다 모델별 비용을 정밀하게 분리한다.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2942927" y="4595961"/>
            <a:ext cx="4890388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다음:</a:t>
            </a:r>
            <a:pPr algn="l" indent="0" marL="0">
              <a:lnSpc>
                <a:spcPts val="910"/>
              </a:lnSpc>
              <a:spcBef>
                <a:spcPts val="300"/>
              </a:spcBef>
              <a:buNone/>
            </a:pPr>
            <a:r>
              <a:rPr lang="en-US" sz="65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L3 Decide 핸들러 확대 (현재 1개 → 5개+) — 자동 비용 예측 + ML 실행 계획 최적화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7838926" y="4225230"/>
            <a:ext cx="685949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961556" y="4326731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961556" y="4460081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4978450"/>
            <a:ext cx="247046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크 Loop 크 Validation 크 Observation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9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867966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00444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18854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63026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1988790"/>
            <a:ext cx="6058049" cy="512862"/>
          </a:xfrm>
          <a:prstGeom prst="roundRect">
            <a:avLst>
              <a:gd name="adj" fmla="val 99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476250" y="1988790"/>
            <a:ext cx="0" cy="512862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7700" y="2103090"/>
            <a:ext cx="5829452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시스템을 제어하는 것은 단순히 가드레일을 세우는 것이 아니다.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관측(Hook 46 events)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현재 상태를 파악하고,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검증(5-Layer)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출력을 신뢰할 수 있게 만들며, </a:t>
            </a:r>
            <a:pPr algn="l" indent="0" marL="0">
              <a:lnSpc>
                <a:spcPts val="112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압축(Provider-aware Compaction)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장기 운용을 가능하게 한다. 이 세 축이 while(tool_use) 루프 안에서 매 턴마다 작동한다.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57200" y="2590502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44426" y="2714327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44426" y="2914352"/>
            <a:ext cx="1674465" cy="383977"/>
          </a:xfrm>
          <a:prstGeom prst="roundRect">
            <a:avLst>
              <a:gd name="adj" fmla="val 132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744267" y="3003203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744267" y="3123754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420392" y="303490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648992" y="2914352"/>
            <a:ext cx="1674465" cy="383977"/>
          </a:xfrm>
          <a:prstGeom prst="roundRect">
            <a:avLst>
              <a:gd name="adj" fmla="val 132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2748833" y="3003203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2748833" y="3123754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4424958" y="3034903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653558" y="2914352"/>
            <a:ext cx="1674465" cy="383977"/>
          </a:xfrm>
          <a:prstGeom prst="roundRect">
            <a:avLst>
              <a:gd name="adj" fmla="val 132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753399" y="3003203"/>
            <a:ext cx="14747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753399" y="3123754"/>
            <a:ext cx="14747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457200" y="3511004"/>
            <a:ext cx="6058049" cy="913805"/>
          </a:xfrm>
          <a:prstGeom prst="roundRect">
            <a:avLst>
              <a:gd name="adj" fmla="val 83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44426" y="3634829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44426" y="386328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84027" y="3799880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644426" y="404723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84027" y="3983831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44426" y="423118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784027" y="4167783"/>
            <a:ext cx="279654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4" name="Image 1" descr="/Users/mango/workspace/portfolio/geode/versions/v9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642938"/>
            <a:ext cx="1396901" cy="1396901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718399" y="2154138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2"/>
          <p:cNvSpPr/>
          <p:nvPr/>
        </p:nvSpPr>
        <p:spPr>
          <a:xfrm>
            <a:off x="6863879" y="2316063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863879" y="2592288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6880324" y="2787551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863879" y="2868513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40" name="Text 36"/>
          <p:cNvSpPr/>
          <p:nvPr/>
        </p:nvSpPr>
        <p:spPr>
          <a:xfrm>
            <a:off x="6863879" y="3024039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863879" y="3170039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42" name="Text 38"/>
          <p:cNvSpPr/>
          <p:nvPr/>
        </p:nvSpPr>
        <p:spPr>
          <a:xfrm>
            <a:off x="6718399" y="3541514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6828205" y="3643015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4" name="Text 40"/>
          <p:cNvSpPr/>
          <p:nvPr/>
        </p:nvSpPr>
        <p:spPr>
          <a:xfrm>
            <a:off x="6718399" y="4125218"/>
            <a:ext cx="1968401" cy="524619"/>
          </a:xfrm>
          <a:prstGeom prst="roundRect">
            <a:avLst>
              <a:gd name="adj" fmla="val 968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1"/>
          <p:cNvSpPr/>
          <p:nvPr/>
        </p:nvSpPr>
        <p:spPr>
          <a:xfrm>
            <a:off x="6737449" y="4125218"/>
            <a:ext cx="0" cy="524619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853782" y="4214068"/>
            <a:ext cx="1735735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pPr algn="ctr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비용을 지불하고, 36일 무중단 실행이 수익이다.</a:t>
            </a:r>
            <a:endParaRPr lang="en-US" sz="650" dirty="0"/>
          </a:p>
        </p:txBody>
      </p:sp>
      <p:sp>
        <p:nvSpPr>
          <p:cNvPr id="47" name="Text 43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8" name="Text 44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2026-03-28T10:35:13Z</dcterms:created>
  <dcterms:modified xsi:type="dcterms:W3CDTF">2026-03-28T10:35:13Z</dcterms:modified>
</cp:coreProperties>
</file>