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7" d="100"/>
          <a:sy n="167" d="100"/>
        </p:scale>
        <p:origin x="584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7920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9/slides/assets/bg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7701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99876"/>
            <a:ext cx="84251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7442895" y="204639"/>
            <a:ext cx="12687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 · 1,174 커밋 · 40 릴리스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997595"/>
            <a:ext cx="2801689" cy="311051"/>
          </a:xfrm>
          <a:prstGeom prst="roundRect">
            <a:avLst>
              <a:gd name="adj" fmla="val 1633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93675" y="1115020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746075" y="1095970"/>
            <a:ext cx="24238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while(tool_use) → 50 rounds × 200 turns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1435596"/>
            <a:ext cx="6269837" cy="447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2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57200" y="1933426"/>
            <a:ext cx="62698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13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 하네스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184202"/>
            <a:ext cx="626983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v0.32.0 Long-Running Autonomous Harness — 50×200 컨텍스트 창 위에서 자율 실행을 제어하는 4축 엔지니어링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57200" y="2460278"/>
            <a:ext cx="25301" cy="355550"/>
          </a:xfrm>
          <a:prstGeom prst="roundRect">
            <a:avLst>
              <a:gd name="adj" fmla="val 50196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84002" y="2471291"/>
            <a:ext cx="99143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84002" y="2671316"/>
            <a:ext cx="9914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018979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607758" y="3130004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07758" y="3425279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019300" y="3018979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169858" y="3130004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3,216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2169858" y="3425279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3581400" y="3018979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3731958" y="3130004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3731958" y="3425279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4" name="Text 21"/>
          <p:cNvSpPr/>
          <p:nvPr/>
        </p:nvSpPr>
        <p:spPr>
          <a:xfrm>
            <a:off x="5143500" y="3018979"/>
            <a:ext cx="1460599" cy="603052"/>
          </a:xfrm>
          <a:prstGeom prst="roundRect">
            <a:avLst>
              <a:gd name="adj" fmla="val 1263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294058" y="3130004"/>
            <a:ext cx="1159484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5294058" y="3425279"/>
            <a:ext cx="11594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457200" y="3799731"/>
            <a:ext cx="1479500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55651" y="3898106"/>
            <a:ext cx="12825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555651" y="4028182"/>
            <a:ext cx="12825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Provider-aware Compaction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2012900" y="3799731"/>
            <a:ext cx="14796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2111350" y="3898106"/>
            <a:ext cx="1282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2111350" y="4028182"/>
            <a:ext cx="12827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3-Brake Safety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3568750" y="3799731"/>
            <a:ext cx="1479500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3667201" y="3898106"/>
            <a:ext cx="12825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3667201" y="4028182"/>
            <a:ext cx="12825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Cross-LLM α≥0.67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5124450" y="3799731"/>
            <a:ext cx="14796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5222900" y="3898106"/>
            <a:ext cx="12827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38" name="Text 35"/>
          <p:cNvSpPr/>
          <p:nvPr/>
        </p:nvSpPr>
        <p:spPr>
          <a:xfrm>
            <a:off x="5222900" y="4028182"/>
            <a:ext cx="12827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TokenTracker</a:t>
            </a:r>
            <a:endParaRPr lang="en-US" sz="600" dirty="0"/>
          </a:p>
        </p:txBody>
      </p:sp>
      <p:pic>
        <p:nvPicPr>
          <p:cNvPr id="39" name="Image 1" descr="/Users/mango/workspace/portfolio/geode/versions/v9/slides/assets/masc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8899" y="1430387"/>
            <a:ext cx="1777901" cy="1777901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7212509" y="3309789"/>
            <a:ext cx="1170533" cy="469702"/>
          </a:xfrm>
          <a:prstGeom prst="roundRect">
            <a:avLst>
              <a:gd name="adj" fmla="val 1622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7365967" y="3420814"/>
            <a:ext cx="8636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Analysis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7365967" y="3573214"/>
            <a:ext cx="86361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Harness</a:t>
            </a:r>
            <a:endParaRPr lang="en-US" sz="700" dirty="0"/>
          </a:p>
        </p:txBody>
      </p:sp>
      <p:sp>
        <p:nvSpPr>
          <p:cNvPr id="43" name="Text 39"/>
          <p:cNvSpPr/>
          <p:nvPr/>
        </p:nvSpPr>
        <p:spPr>
          <a:xfrm>
            <a:off x="457200" y="4930825"/>
            <a:ext cx="23242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to Mar 28, 2026 · Anthropic / OpenAI / ZhipuAI · 3 Providers</a:t>
            </a:r>
            <a:endParaRPr lang="en-US" sz="600" dirty="0"/>
          </a:p>
        </p:txBody>
      </p:sp>
      <p:sp>
        <p:nvSpPr>
          <p:cNvPr id="44" name="Text 40"/>
          <p:cNvSpPr/>
          <p:nvPr/>
        </p:nvSpPr>
        <p:spPr>
          <a:xfrm>
            <a:off x="8453735" y="4930825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35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936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HOOK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36일의 피봇 스토리: 과제 → 탈락 → 자율 하네스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에이전트는 재사용이 안 된다. 탈락이 하네스 인프라로의 피봇을 결정한다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725960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6081" y="1862435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76081" y="1995785"/>
            <a:ext cx="17946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Agent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6081" y="2160836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76081" y="2322761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넥슨 코딩 과제: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76081" y="2427536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 파이프라인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76081" y="2532311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분석 에이전트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466999" y="2773561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7200" y="2951262"/>
            <a:ext cx="2032397" cy="282476"/>
          </a:xfrm>
          <a:prstGeom prst="roundRect">
            <a:avLst>
              <a:gd name="adj" fmla="val 17984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81025" y="3049637"/>
            <a:ext cx="18204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v0.1 · 3 Provider 초기 설계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489597" y="2005310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19846" y="1725960"/>
            <a:ext cx="1141661" cy="990451"/>
          </a:xfrm>
          <a:prstGeom prst="roundRect">
            <a:avLst>
              <a:gd name="adj" fmla="val 7693"/>
            </a:avLst>
          </a:prstGeom>
          <a:solidFill>
            <a:srgbClr val="1A0A0A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09116" y="1871960"/>
            <a:ext cx="76312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PIVOT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009116" y="2005310"/>
            <a:ext cx="76312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면접 탈락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09116" y="2198936"/>
            <a:ext cx="763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03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009116" y="2360861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"도메인 에이전트로는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009116" y="2465636"/>
            <a:ext cx="76312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부족하다"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384352" y="2716411"/>
            <a:ext cx="12650" cy="177701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047851" y="2894112"/>
            <a:ext cx="685502" cy="282476"/>
          </a:xfrm>
          <a:prstGeom prst="roundRect">
            <a:avLst>
              <a:gd name="adj" fmla="val 17984"/>
            </a:avLst>
          </a:prstGeom>
          <a:solidFill>
            <a:srgbClr val="1A0A0A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67298" y="2992487"/>
            <a:ext cx="4466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피봇 결정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961507" y="2005310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91757" y="1725960"/>
            <a:ext cx="2032397" cy="1028551"/>
          </a:xfrm>
          <a:prstGeom prst="roundRect">
            <a:avLst>
              <a:gd name="adj" fmla="val 740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410638" y="1862435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410638" y="1995785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강화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10638" y="2170361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04 to Mar 18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410638" y="23322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410638" y="242753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Plan-first + Compaction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4410638" y="25227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3-Brake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301555" y="2754511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291757" y="2932212"/>
            <a:ext cx="2032397" cy="368201"/>
          </a:xfrm>
          <a:prstGeom prst="roundRect">
            <a:avLst>
              <a:gd name="adj" fmla="val 137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415582" y="3030587"/>
            <a:ext cx="18204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415582" y="3116312"/>
            <a:ext cx="18204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6324154" y="2005310"/>
            <a:ext cx="336855" cy="209550"/>
          </a:xfrm>
          <a:prstGeom prst="rect">
            <a:avLst/>
          </a:prstGeom>
          <a:noFill/>
          <a:ln/>
        </p:spPr>
        <p:txBody>
          <a:bodyPr wrap="square" lIns="76200" tIns="0" rIns="7620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654403" y="1725960"/>
            <a:ext cx="2032397" cy="1047601"/>
          </a:xfrm>
          <a:prstGeom prst="roundRect">
            <a:avLst>
              <a:gd name="adj" fmla="val 727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773284" y="1862435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· FORK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773284" y="1995785"/>
            <a:ext cx="179463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제품화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773284" y="2170361"/>
            <a:ext cx="179463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 19 to Mar 28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773284" y="2332286"/>
            <a:ext cx="1794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v0.13 → Fork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773284" y="2427536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773284" y="2532311"/>
            <a:ext cx="179463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패스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664202" y="2773561"/>
            <a:ext cx="12650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654403" y="2951262"/>
            <a:ext cx="2032397" cy="282476"/>
          </a:xfrm>
          <a:prstGeom prst="roundRect">
            <a:avLst>
              <a:gd name="adj" fmla="val 17984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778228" y="3049637"/>
            <a:ext cx="18204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하네스 패턴 재사용 증명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57200" y="3452813"/>
            <a:ext cx="8229600" cy="586978"/>
          </a:xfrm>
          <a:prstGeom prst="roundRect">
            <a:avLst>
              <a:gd name="adj" fmla="val 86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76250" y="3452813"/>
            <a:ext cx="0" cy="586978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47700" y="3554313"/>
            <a:ext cx="80444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피봇의 결론: 도메인 전문성 vs 인프라 재사용성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47700" y="3703439"/>
            <a:ext cx="8044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에이전트는 </a:t>
            </a: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무엇을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분석하는가의 문제다. 하네스는 </a:t>
            </a: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어떻게 오래, 안전하게 실행하는가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 문제다.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47700" y="3833515"/>
            <a:ext cx="80444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분석을 선택하면 재사용성 없는 일회성 프로젝트로 끝난다. 하네스 인프라를 선택하기 때문에 REODE 포크가 가능해지고,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0줄로 83/83 빌드를 통과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56274"/>
            <a:ext cx="164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v0.32.0 · 1,174 commits · 40 releases · 36 days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35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9307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THESIS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시스템(LLM)은 제어 없이 발산한다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4-Axis: 장기 운용에서 컨텍스트·루프·검증·관측 4축이 없으면 열화가 불가피하다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539901" cy="104775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8405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주장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93675" y="1152227"/>
            <a:ext cx="2312289" cy="29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단독 실행은 비결정론, 컨텍스트 손실, 비용 폭발, 루프 고착 4가지 이유로 반드시 발산한다.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93675" y="1510308"/>
            <a:ext cx="231228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5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수렴시키는 것이 하네스의 역할이다. 4개 축이 없으면 자율 실행은 불가능하다.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457200" y="1971526"/>
            <a:ext cx="2539901" cy="1104602"/>
          </a:xfrm>
          <a:prstGeom prst="roundRect">
            <a:avLst>
              <a:gd name="adj" fmla="val 6898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3675" y="2108002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운용의 열화: 실제 예시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746075" y="2276177"/>
            <a:ext cx="21145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</a:t>
            </a: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채우면 응답 품질 저하 시작</a:t>
            </a:r>
            <a:endParaRPr lang="en-US" sz="650" dirty="0"/>
          </a:p>
          <a:p>
            <a:pPr marL="342900" indent="-342900" algn="l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</a:t>
            </a: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10턴</a:t>
            </a: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넘으면 인사이트 휘발</a:t>
            </a:r>
            <a:endParaRPr lang="en-US" sz="650" dirty="0"/>
          </a:p>
          <a:p>
            <a:pPr marL="342900" indent="-342900" algn="l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drift로 </a:t>
            </a: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변화</a:t>
            </a: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같은 입력에도 다른 출력 발생</a:t>
            </a:r>
            <a:endParaRPr lang="en-US" sz="650" dirty="0"/>
          </a:p>
          <a:p>
            <a:pPr marL="342900" indent="-342900" algn="l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공백 → CUSUM이 드리프트 미감지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93675" y="2834878"/>
            <a:ext cx="2312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4축 자동 보정이 없으면 발산은 불가피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124051" y="847576"/>
            <a:ext cx="2743200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605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87477" y="984052"/>
            <a:ext cx="10504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· Context Control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60527" y="1171277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260527" y="1339453"/>
            <a:ext cx="2519654" cy="4970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 세션 프롬프트를 수동 편집하면 drift가 발생했기 때문에 PromptAssembler 6-Phase + SHA-256으로 자동 조립한다. 80%/95%에서 compaction이 발동해 루프가 컨텍스트 과부하로 중단되지 않는다.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260527" y="2432149"/>
            <a:ext cx="2470249" cy="263426"/>
          </a:xfrm>
          <a:prstGeom prst="roundRect">
            <a:avLst>
              <a:gd name="adj" fmla="val 1928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62027" y="2521000"/>
            <a:ext cx="23125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PromptAssembler · CompactionHook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43451" y="847576"/>
            <a:ext cx="2743349" cy="1984474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079927" y="1020514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06877" y="984052"/>
            <a:ext cx="10448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2 · Execution Loop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79927" y="1171277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079927" y="1339453"/>
            <a:ext cx="251980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브레이크 없이 실행하면 비용·수렴·탐색 고착이 발생하기 때문에 3개 자동 브레이크를 설계하여 수렴을 강제한다. 실측 평균 4.2 라운드 종료, 상한은 50 라운드.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079927" y="2432149"/>
            <a:ext cx="2470398" cy="263426"/>
          </a:xfrm>
          <a:prstGeom prst="roundRect">
            <a:avLst>
              <a:gd name="adj" fmla="val 1928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181427" y="2521000"/>
            <a:ext cx="23127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AgenticLoop · SafetyBrake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124051" y="2908250"/>
            <a:ext cx="2743200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2605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387477" y="3044726"/>
            <a:ext cx="8264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3 · Verification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260527" y="3231952"/>
            <a:ext cx="251965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260527" y="3400127"/>
            <a:ext cx="251965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평가는 Anchoring 편향으로 점수 분산이 ±18점이 나오기 때문에 5-Layer 검증(Guardrails→BiasBuster→Cross-LLM→Rights→Ground Truth)으로 신뢰도를 확보한다.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260527" y="4492972"/>
            <a:ext cx="2470249" cy="263426"/>
          </a:xfrm>
          <a:prstGeom prst="roundRect">
            <a:avLst>
              <a:gd name="adj" fmla="val 1928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362027" y="4581823"/>
            <a:ext cx="231259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VerificationPipeline · CrossLLM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5943451" y="2908250"/>
            <a:ext cx="2743349" cy="1984623"/>
          </a:xfrm>
          <a:prstGeom prst="roundRect">
            <a:avLst>
              <a:gd name="adj" fmla="val 384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079927" y="3081189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6206877" y="3044726"/>
            <a:ext cx="92433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4 · Observability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79927" y="3231952"/>
            <a:ext cx="251980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079927" y="3400127"/>
            <a:ext cx="2519806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공백이 있으면 CUSUM이 드리프트를 감지하지 못했기 때문에 46 Hook Events로 신경계를 구성하고 TokenTracker로 실시간 비용을 추적한다.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079927" y="4492972"/>
            <a:ext cx="2470398" cy="263426"/>
          </a:xfrm>
          <a:prstGeom prst="roundRect">
            <a:avLst>
              <a:gd name="adj" fmla="val 1928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181427" y="4581823"/>
            <a:ext cx="23127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HookSystem · TokenTracker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57200" y="4956274"/>
            <a:ext cx="205285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4축은 서로 보완하며, 하나의 결함이 전체 자율 실행을 무너뜨립니다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35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42499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 ·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META → DEV → RUNTIME + 46 Hook 신경계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6652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스캐폴드가 자기 자신을 개발하고, RUNTIME이 자율 실행한다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83878"/>
            <a:ext cx="5794177" cy="698450"/>
          </a:xfrm>
          <a:prstGeom prst="roundRect">
            <a:avLst>
              <a:gd name="adj" fmla="val 10910"/>
            </a:avLst>
          </a:prstGeom>
          <a:solidFill>
            <a:srgbClr val="161B22"/>
          </a:solidFill>
          <a:ln w="19050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28650" y="948928"/>
            <a:ext cx="660350" cy="244376"/>
          </a:xfrm>
          <a:prstGeom prst="roundRect">
            <a:avLst>
              <a:gd name="adj" fmla="val 20788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22046" y="999679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2046" y="1231404"/>
            <a:ext cx="6735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스캐폴드 루프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415951" y="917228"/>
            <a:ext cx="12650" cy="4317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555552" y="936278"/>
            <a:ext cx="1338858" cy="393502"/>
          </a:xfrm>
          <a:prstGeom prst="roundRect">
            <a:avLst>
              <a:gd name="adj" fmla="val 12910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655409" y="1034653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1655409" y="1145679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425줄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957810" y="106159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48310" y="936278"/>
            <a:ext cx="1338858" cy="393502"/>
          </a:xfrm>
          <a:prstGeom prst="roundRect">
            <a:avLst>
              <a:gd name="adj" fmla="val 12910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248168" y="1034653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248168" y="1145679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23-Rule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50569" y="1061591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41069" y="936278"/>
            <a:ext cx="1338858" cy="393502"/>
          </a:xfrm>
          <a:prstGeom prst="roundRect">
            <a:avLst>
              <a:gd name="adj" fmla="val 12910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40926" y="1034653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1,174 Commits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4840926" y="1145679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자체 개발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092101" y="1482328"/>
            <a:ext cx="25301" cy="101501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92101" y="1583829"/>
            <a:ext cx="25301" cy="101501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536502" y="1517154"/>
            <a:ext cx="1155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713161" y="1540966"/>
            <a:ext cx="5736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이벤트 전파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338983" y="1540966"/>
            <a:ext cx="11502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DEV 규칙 강화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57200" y="1685330"/>
            <a:ext cx="5794177" cy="698450"/>
          </a:xfrm>
          <a:prstGeom prst="roundRect">
            <a:avLst>
              <a:gd name="adj" fmla="val 10910"/>
            </a:avLst>
          </a:prstGeom>
          <a:solidFill>
            <a:srgbClr val="161B22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28650" y="1850380"/>
            <a:ext cx="660350" cy="244376"/>
          </a:xfrm>
          <a:prstGeom prst="roundRect">
            <a:avLst>
              <a:gd name="adj" fmla="val 20788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22046" y="1901130"/>
            <a:ext cx="6735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2046" y="2132856"/>
            <a:ext cx="6735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루프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1415951" y="1818680"/>
            <a:ext cx="12650" cy="4317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555552" y="1837730"/>
            <a:ext cx="1338858" cy="393502"/>
          </a:xfrm>
          <a:prstGeom prst="roundRect">
            <a:avLst>
              <a:gd name="adj" fmla="val 12910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655409" y="1936105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Loop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1655409" y="2047131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단위 작성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2957810" y="1963043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148310" y="1837730"/>
            <a:ext cx="1338858" cy="393502"/>
          </a:xfrm>
          <a:prstGeom prst="roundRect">
            <a:avLst>
              <a:gd name="adj" fmla="val 12910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248168" y="1936105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Gate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248168" y="2047131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테스트 강제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550569" y="1963043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741069" y="1837730"/>
            <a:ext cx="1338858" cy="393502"/>
          </a:xfrm>
          <a:prstGeom prst="roundRect">
            <a:avLst>
              <a:gd name="adj" fmla="val 12910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840926" y="1936105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3,216 Tests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840926" y="2047131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PRs 무회귀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1092101" y="2383780"/>
            <a:ext cx="25301" cy="101501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092101" y="2485281"/>
            <a:ext cx="25301" cy="101501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536502" y="2418606"/>
            <a:ext cx="1155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713161" y="2442418"/>
            <a:ext cx="5736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이벤트 전파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2338983" y="2442418"/>
            <a:ext cx="14280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NODE_EXIT → RUNTIME 안전장치 트리거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2586782"/>
            <a:ext cx="5794177" cy="698450"/>
          </a:xfrm>
          <a:prstGeom prst="roundRect">
            <a:avLst>
              <a:gd name="adj" fmla="val 10910"/>
            </a:avLst>
          </a:prstGeom>
          <a:solidFill>
            <a:srgbClr val="161B22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28650" y="2756595"/>
            <a:ext cx="660350" cy="234851"/>
          </a:xfrm>
          <a:prstGeom prst="roundRect">
            <a:avLst>
              <a:gd name="adj" fmla="val 21631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2046" y="2807345"/>
            <a:ext cx="67355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22046" y="3029545"/>
            <a:ext cx="67355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실행 루프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415951" y="2720132"/>
            <a:ext cx="12650" cy="4317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1555552" y="2739182"/>
            <a:ext cx="1338858" cy="393502"/>
          </a:xfrm>
          <a:prstGeom prst="roundRect">
            <a:avLst>
              <a:gd name="adj" fmla="val 12910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1655409" y="2837557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1655409" y="2948583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MCP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2957810" y="2864495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148310" y="2739182"/>
            <a:ext cx="1338858" cy="393502"/>
          </a:xfrm>
          <a:prstGeom prst="roundRect">
            <a:avLst>
              <a:gd name="adj" fmla="val 12910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3248168" y="2837557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3248168" y="2948583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라운드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4550569" y="2864495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4741069" y="2739182"/>
            <a:ext cx="1338858" cy="393502"/>
          </a:xfrm>
          <a:prstGeom prst="roundRect">
            <a:avLst>
              <a:gd name="adj" fmla="val 12910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840926" y="2837557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Brake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840926" y="2948583"/>
            <a:ext cx="11391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없이 자율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6378327" y="783878"/>
            <a:ext cx="2308473" cy="1841302"/>
          </a:xfrm>
          <a:prstGeom prst="roundRect">
            <a:avLst>
              <a:gd name="adj" fmla="val 4138"/>
            </a:avLst>
          </a:prstGeom>
          <a:solidFill>
            <a:srgbClr val="1E293B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514802" y="920353"/>
            <a:ext cx="50750" cy="15240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641753" y="934641"/>
            <a:ext cx="556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신경계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6494447" y="1148953"/>
            <a:ext cx="207623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68" name="Text 66"/>
          <p:cNvSpPr/>
          <p:nvPr/>
        </p:nvSpPr>
        <p:spPr>
          <a:xfrm>
            <a:off x="6494447" y="1472803"/>
            <a:ext cx="20762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8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6667202" y="1669554"/>
            <a:ext cx="1883122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PIPELINE_START / PIPELINE_END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/ NODE_EXIT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MEMORY_SAVED / TURN_COMPLETE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CONTEXT_WARNING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SUBAGENT_STARTED / SUBAGENT_COMPLETED</a:t>
            </a:r>
            <a:endParaRPr lang="en-US" sz="700" dirty="0"/>
          </a:p>
        </p:txBody>
      </p:sp>
      <p:sp>
        <p:nvSpPr>
          <p:cNvPr id="70" name="Text 68"/>
          <p:cNvSpPr/>
          <p:nvPr/>
        </p:nvSpPr>
        <p:spPr>
          <a:xfrm>
            <a:off x="6514802" y="2317254"/>
            <a:ext cx="20762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기반 핸들러 실행. 에러 격리로 한 이벤트 실패가 루프를 중단시키지 않는다.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6378327" y="2701379"/>
            <a:ext cx="2308473" cy="1009055"/>
          </a:xfrm>
          <a:prstGeom prst="roundRect">
            <a:avLst>
              <a:gd name="adj" fmla="val 7552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70"/>
          <p:cNvSpPr/>
          <p:nvPr/>
        </p:nvSpPr>
        <p:spPr>
          <a:xfrm>
            <a:off x="6489353" y="2812405"/>
            <a:ext cx="21281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자기 증강 피드백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489353" y="3109168"/>
            <a:ext cx="724049" cy="212527"/>
          </a:xfrm>
          <a:prstGeom prst="roundRect">
            <a:avLst>
              <a:gd name="adj" fmla="val 179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6572740" y="3172569"/>
            <a:ext cx="5572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7276802" y="3148757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454503" y="3109168"/>
            <a:ext cx="636538" cy="212527"/>
          </a:xfrm>
          <a:prstGeom prst="roundRect">
            <a:avLst>
              <a:gd name="adj" fmla="val 17927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7538765" y="3172569"/>
            <a:ext cx="46801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8154442" y="3148757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8332143" y="2980581"/>
            <a:ext cx="243632" cy="469702"/>
          </a:xfrm>
          <a:prstGeom prst="roundRect">
            <a:avLst>
              <a:gd name="adj" fmla="val 1563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8420334" y="3043982"/>
            <a:ext cx="6724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세션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6489353" y="3513683"/>
            <a:ext cx="21281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3-Loop가 서로 강화한다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6378327" y="3786634"/>
            <a:ext cx="2308473" cy="851595"/>
          </a:xfrm>
          <a:prstGeom prst="roundRect">
            <a:avLst>
              <a:gd name="adj" fmla="val 5965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6502152" y="3897660"/>
            <a:ext cx="21020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3중 루프인가?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6502152" y="4040535"/>
            <a:ext cx="1005036" cy="486668"/>
          </a:xfrm>
          <a:prstGeom prst="roundRect">
            <a:avLst>
              <a:gd name="adj" fmla="val 78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6603653" y="4129385"/>
            <a:ext cx="8180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2중 루프</a:t>
            </a:r>
            <a:endParaRPr lang="en-US" sz="600" dirty="0"/>
          </a:p>
        </p:txBody>
      </p:sp>
      <p:sp>
        <p:nvSpPr>
          <p:cNvPr id="86" name="Text 84"/>
          <p:cNvSpPr/>
          <p:nvPr/>
        </p:nvSpPr>
        <p:spPr>
          <a:xfrm>
            <a:off x="6603653" y="4240411"/>
            <a:ext cx="81807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위반 반복 · 학습 없음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7557939" y="4040535"/>
            <a:ext cx="1005036" cy="486668"/>
          </a:xfrm>
          <a:prstGeom prst="roundRect">
            <a:avLst>
              <a:gd name="adj" fmla="val 782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8" name="Text 86"/>
          <p:cNvSpPr/>
          <p:nvPr/>
        </p:nvSpPr>
        <p:spPr>
          <a:xfrm>
            <a:off x="7659439" y="4129385"/>
            <a:ext cx="8180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추가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7659439" y="4240411"/>
            <a:ext cx="818075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규칙이 CHANGELOG에서 진화</a:t>
            </a:r>
            <a:endParaRPr lang="en-US" sz="600" dirty="0"/>
          </a:p>
        </p:txBody>
      </p:sp>
      <p:sp>
        <p:nvSpPr>
          <p:cNvPr id="90" name="Text 88"/>
          <p:cNvSpPr/>
          <p:nvPr/>
        </p:nvSpPr>
        <p:spPr>
          <a:xfrm>
            <a:off x="457200" y="4968925"/>
            <a:ext cx="273977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META가 DEV를 낳고, DEV가 RUNTIME을 완성하고, RUNTIME이 META를 강화한다</a:t>
            </a:r>
            <a:endParaRPr lang="en-US" sz="600" dirty="0"/>
          </a:p>
        </p:txBody>
      </p:sp>
      <p:sp>
        <p:nvSpPr>
          <p:cNvPr id="91" name="Text 89"/>
          <p:cNvSpPr/>
          <p:nvPr/>
        </p:nvSpPr>
        <p:spPr>
          <a:xfrm>
            <a:off x="8453735" y="4968925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35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85056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WHAT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Architecture: 187 모듈이 수직 분리된 이유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계층으로 설계하면 LLM 교체 시 전체를 다시 짜야 하므로 Port/Adapter로 6-Layer를 수직 분리한다</a:t>
            </a:r>
            <a:endParaRPr lang="en-US" sz="800" dirty="0"/>
          </a:p>
        </p:txBody>
      </p:sp>
      <p:pic>
        <p:nvPicPr>
          <p:cNvPr id="6" name="Image 0" descr="/Users/mango/workspace/portfolio/geode/versions/v9/slides/assets/v028-diagram-3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50" y="847576"/>
            <a:ext cx="5079950" cy="2362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12956" y="3260527"/>
            <a:ext cx="14289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6-Layer 수직 분리 · Hook이 모든 계층을 횟단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324600" y="847576"/>
            <a:ext cx="2362200" cy="574477"/>
          </a:xfrm>
          <a:prstGeom prst="roundRect">
            <a:avLst>
              <a:gd name="adj" fmla="val 8843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451963" y="958602"/>
            <a:ext cx="929500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51963" y="1225302"/>
            <a:ext cx="92950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7499300" y="958602"/>
            <a:ext cx="12650" cy="3524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7629787" y="958602"/>
            <a:ext cx="929652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7629787" y="1225302"/>
            <a:ext cx="9296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14" name="Text 11"/>
          <p:cNvSpPr/>
          <p:nvPr/>
        </p:nvSpPr>
        <p:spPr>
          <a:xfrm>
            <a:off x="6324600" y="1485454"/>
            <a:ext cx="2362200" cy="1209377"/>
          </a:xfrm>
          <a:prstGeom prst="roundRect">
            <a:avLst>
              <a:gd name="adj" fmla="val 4201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6461075" y="1596479"/>
            <a:ext cx="2131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6-Layer인가 — 설계 판단의 인과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461075" y="1752005"/>
            <a:ext cx="213103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400"/>
              </a:spcAft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3-Layer(Presentation/Business/Data)는 에이전트에 맞지 않는다. 도구, 메모리, 오케스트레이션이 독립적으로 교체되어야 하므로 6-Layer로 분리한다.</a:t>
            </a:r>
            <a:endParaRPr lang="en-US" sz="650" dirty="0"/>
          </a:p>
        </p:txBody>
      </p:sp>
      <p:sp>
        <p:nvSpPr>
          <p:cNvPr id="17" name="Text 14"/>
          <p:cNvSpPr/>
          <p:nvPr/>
        </p:nvSpPr>
        <p:spPr>
          <a:xfrm>
            <a:off x="6461075" y="2174230"/>
            <a:ext cx="213103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300"/>
              </a:spcAft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비용:</a:t>
            </a:r>
            <a:r>
              <a:rPr lang="en-US" sz="65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레이어 간 Protocol 정의가 필요하다.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6461075" y="2336155"/>
            <a:ext cx="21310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결과:</a:t>
            </a:r>
            <a:r>
              <a:rPr lang="en-US" sz="6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GEODE→REODE 피벗 시 L5만 교체하고 L0‑L4는 그대로 유지한다.</a:t>
            </a:r>
            <a:endParaRPr lang="en-US" sz="650" dirty="0"/>
          </a:p>
        </p:txBody>
      </p:sp>
      <p:sp>
        <p:nvSpPr>
          <p:cNvPr id="19" name="Text 16"/>
          <p:cNvSpPr/>
          <p:nvPr/>
        </p:nvSpPr>
        <p:spPr>
          <a:xfrm>
            <a:off x="6324600" y="2758232"/>
            <a:ext cx="2362200" cy="1000274"/>
          </a:xfrm>
          <a:prstGeom prst="roundRect">
            <a:avLst>
              <a:gd name="adj" fmla="val 5079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6461075" y="2869257"/>
            <a:ext cx="2131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Hook을 L3에서 분리하는가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6461075" y="3024783"/>
            <a:ext cx="2131034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Hook을 L3 오케스트레이션에 두면 L0‑L4 전체가 L3에 의존하는 역전 구조가 발생한다. 이를 막기 위해 Hook을 cross‑cutting 모듈로 독립시킨다.</a:t>
            </a:r>
            <a:endParaRPr lang="en-US" sz="650" dirty="0"/>
          </a:p>
        </p:txBody>
      </p:sp>
      <p:sp>
        <p:nvSpPr>
          <p:cNvPr id="22" name="Text 19"/>
          <p:cNvSpPr/>
          <p:nvPr/>
        </p:nvSpPr>
        <p:spPr>
          <a:xfrm>
            <a:off x="6461075" y="3434358"/>
            <a:ext cx="213103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이벤트가 L0‑L5 모든 계층을 관측하되 어느 계층에도 종속되지 않는다.</a:t>
            </a:r>
            <a:endParaRPr lang="en-US" sz="600" dirty="0"/>
          </a:p>
        </p:txBody>
      </p:sp>
      <p:sp>
        <p:nvSpPr>
          <p:cNvPr id="23" name="Text 20"/>
          <p:cNvSpPr/>
          <p:nvPr/>
        </p:nvSpPr>
        <p:spPr>
          <a:xfrm>
            <a:off x="6324600" y="3821906"/>
            <a:ext cx="2362200" cy="749052"/>
          </a:xfrm>
          <a:prstGeom prst="roundRect">
            <a:avLst>
              <a:gd name="adj" fmla="val 678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6461075" y="3932932"/>
            <a:ext cx="2131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교체 단위로서의 계층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6588026" y="4088457"/>
            <a:ext cx="1962299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교체 → L4만 변경</a:t>
            </a:r>
            <a:endParaRPr lang="en-US" sz="650" dirty="0"/>
          </a:p>
          <a:p>
            <a:pPr marL="342900" indent="-342900" algn="l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 백엔드 교체 → L5만 변경</a:t>
            </a:r>
            <a:endParaRPr lang="en-US" sz="650" dirty="0"/>
          </a:p>
          <a:p>
            <a:pPr marL="342900" indent="-342900" algn="l">
              <a:lnSpc>
                <a:spcPts val="975"/>
              </a:lnSpc>
              <a:buSzPct val="100000"/>
              <a:buChar char="•"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추가 → L3만 확장</a:t>
            </a:r>
            <a:endParaRPr lang="en-US" sz="650" dirty="0"/>
          </a:p>
        </p:txBody>
      </p:sp>
      <p:sp>
        <p:nvSpPr>
          <p:cNvPr id="26" name="Text 23"/>
          <p:cNvSpPr/>
          <p:nvPr/>
        </p:nvSpPr>
        <p:spPr>
          <a:xfrm>
            <a:off x="457200" y="4956274"/>
            <a:ext cx="16029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modules · 3,216 tests · 46 hooks · v0.32.0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35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5525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EXECUTION LOOP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AgenticLoop: while(tool_use) 50 rounds 크 200-turn Window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없이 실행하면 무한 소모이므로, 5가지 종료 경로로 탈출을 보장하고 비용 폭주를 차단한다</a:t>
            </a:r>
            <a:endParaRPr lang="en-US" sz="800" dirty="0"/>
          </a:p>
        </p:txBody>
      </p:sp>
      <p:pic>
        <p:nvPicPr>
          <p:cNvPr id="6" name="Image 0" descr="/Users/mango/workspace/portfolio/geode/versions/v9/slides/assets/v028-diagram-agentic-lo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50" y="847576"/>
            <a:ext cx="4953000" cy="23113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597927" y="3209627"/>
            <a:ext cx="14589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4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실행 흐름 · 루프백 + 5 종료 경로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324600" y="847576"/>
            <a:ext cx="2362200" cy="1448098"/>
          </a:xfrm>
          <a:prstGeom prst="roundRect">
            <a:avLst>
              <a:gd name="adj" fmla="val 3508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6461075" y="958602"/>
            <a:ext cx="2131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GEODE의 핵심 프리미티브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6461075" y="1114127"/>
            <a:ext cx="2131034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300"/>
              </a:spcAft>
              <a:buNone/>
            </a:pPr>
            <a:r>
              <a:rPr lang="en-US" sz="6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루프가 GEODE의 핵심 프리미티브이다. Claude Code, Codex, autoresearch 모두 동일한 </a:t>
            </a:r>
            <a:r>
              <a:rPr lang="en-US" sz="6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</a:t>
            </a: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구조를 사용한다. 이 구조가 진정한 자율 실행의 최소 단위다.</a:t>
            </a:r>
            <a:endParaRPr lang="en-US" sz="650" dirty="0"/>
          </a:p>
        </p:txBody>
      </p:sp>
      <p:sp>
        <p:nvSpPr>
          <p:cNvPr id="11" name="Text 8"/>
          <p:cNvSpPr/>
          <p:nvPr/>
        </p:nvSpPr>
        <p:spPr>
          <a:xfrm>
            <a:off x="6461075" y="1666577"/>
            <a:ext cx="2089249" cy="518071"/>
          </a:xfrm>
          <a:prstGeom prst="roundRect">
            <a:avLst>
              <a:gd name="adj" fmla="val 735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6562576" y="1742777"/>
            <a:ext cx="1923973" cy="365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60"/>
              </a:lnSpc>
              <a:buNone/>
            </a:pPr>
            <a:r>
              <a:rPr lang="en-US" sz="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response.stop == "tool_use":</a:t>
            </a:r>
            <a:endParaRPr lang="en-US" sz="600" dirty="0"/>
          </a:p>
          <a:p>
            <a:pPr marL="0" indent="0" algn="l">
              <a:lnSpc>
                <a:spcPts val="960"/>
              </a:lnSpc>
              <a:buNone/>
            </a:pPr>
            <a:r>
              <a:rPr lang="en-US" sz="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result = execute(tool)</a:t>
            </a:r>
            <a:endParaRPr lang="en-US" sz="600" dirty="0"/>
          </a:p>
          <a:p>
            <a:pPr marL="0" indent="0" algn="l">
              <a:lnSpc>
                <a:spcPts val="960"/>
              </a:lnSpc>
              <a:buNone/>
            </a:pPr>
            <a:r>
              <a:rPr lang="en-US" sz="6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response = llm(result)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6324600" y="2359075"/>
            <a:ext cx="2362200" cy="549027"/>
          </a:xfrm>
          <a:prstGeom prst="roundRect">
            <a:avLst>
              <a:gd name="adj" fmla="val 925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455889" y="2470100"/>
            <a:ext cx="5290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55889" y="2711351"/>
            <a:ext cx="5290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Rounds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7106692" y="2470100"/>
            <a:ext cx="12650" cy="32697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241104" y="2470100"/>
            <a:ext cx="52919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7241104" y="2711351"/>
            <a:ext cx="52919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Window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7892058" y="2470100"/>
            <a:ext cx="12650" cy="32697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8026472" y="2470100"/>
            <a:ext cx="5290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026472" y="2711351"/>
            <a:ext cx="5290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Paths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6324600" y="2971502"/>
            <a:ext cx="2362200" cy="996702"/>
          </a:xfrm>
          <a:prstGeom prst="roundRect">
            <a:avLst>
              <a:gd name="adj" fmla="val 509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6461075" y="3082528"/>
            <a:ext cx="2131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5가지 종료 경로 — 탈출 보장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6588026" y="3238054"/>
            <a:ext cx="1962299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975"/>
              </a:lnSpc>
              <a:buSzPct val="100000"/>
              <a:buChar char="•"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end_turn:</a:t>
            </a:r>
            <a:r>
              <a:rPr lang="en-US" sz="6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LLM이 tool_use 없이 응답</a:t>
            </a:r>
            <a:endParaRPr lang="en-US" sz="650" dirty="0"/>
          </a:p>
          <a:p>
            <a:pPr marL="342900" indent="-342900" algn="l">
              <a:lnSpc>
                <a:spcPts val="975"/>
              </a:lnSpc>
              <a:buSzPct val="100000"/>
              <a:buChar char="•"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max_rounds:</a:t>
            </a:r>
            <a:r>
              <a:rPr lang="en-US" sz="6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50라운드 도달</a:t>
            </a:r>
            <a:endParaRPr lang="en-US" sz="650" dirty="0"/>
          </a:p>
          <a:p>
            <a:pPr marL="342900" indent="-342900" algn="l">
              <a:lnSpc>
                <a:spcPts val="975"/>
              </a:lnSpc>
              <a:buSzPct val="100000"/>
              <a:buChar char="•"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convergence:</a:t>
            </a:r>
            <a:r>
              <a:rPr lang="en-US" sz="6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동일 에러 3회 반복</a:t>
            </a:r>
            <a:endParaRPr lang="en-US" sz="650" dirty="0"/>
          </a:p>
          <a:p>
            <a:pPr marL="342900" indent="-342900" algn="l">
              <a:lnSpc>
                <a:spcPts val="975"/>
              </a:lnSpc>
              <a:buSzPct val="100000"/>
              <a:buChar char="•"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force_text:</a:t>
            </a:r>
            <a:r>
              <a:rPr lang="en-US" sz="6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잔여 2라운드 강제</a:t>
            </a:r>
            <a:endParaRPr lang="en-US" sz="650" dirty="0"/>
          </a:p>
          <a:p>
            <a:pPr marL="342900" indent="-342900" algn="l">
              <a:lnSpc>
                <a:spcPts val="975"/>
              </a:lnSpc>
              <a:buSzPct val="100000"/>
              <a:buChar char="•"/>
            </a:pPr>
            <a:r>
              <a:rPr lang="en-US" sz="6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budget_stop:</a:t>
            </a:r>
            <a:r>
              <a:rPr lang="en-US" sz="6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비용 상한 초과</a:t>
            </a:r>
            <a:endParaRPr lang="en-US" sz="650" dirty="0"/>
          </a:p>
        </p:txBody>
      </p:sp>
      <p:sp>
        <p:nvSpPr>
          <p:cNvPr id="25" name="Text 22"/>
          <p:cNvSpPr/>
          <p:nvPr/>
        </p:nvSpPr>
        <p:spPr>
          <a:xfrm>
            <a:off x="6324600" y="4031605"/>
            <a:ext cx="2362200" cy="806053"/>
          </a:xfrm>
          <a:prstGeom prst="roundRect">
            <a:avLst>
              <a:gd name="adj" fmla="val 630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3"/>
          <p:cNvSpPr/>
          <p:nvPr/>
        </p:nvSpPr>
        <p:spPr>
          <a:xfrm>
            <a:off x="6461075" y="4142631"/>
            <a:ext cx="21310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기반 — 평균 4.2 라운드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6461075" y="4298156"/>
            <a:ext cx="662583" cy="428476"/>
          </a:xfrm>
          <a:prstGeom prst="roundRect">
            <a:avLst>
              <a:gd name="adj" fmla="val 889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6532174" y="4387007"/>
            <a:ext cx="5203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6532174" y="4552057"/>
            <a:ext cx="520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평균 라운드</a:t>
            </a:r>
            <a:endParaRPr lang="en-US" sz="600" dirty="0"/>
          </a:p>
        </p:txBody>
      </p:sp>
      <p:sp>
        <p:nvSpPr>
          <p:cNvPr id="30" name="Text 27"/>
          <p:cNvSpPr/>
          <p:nvPr/>
        </p:nvSpPr>
        <p:spPr>
          <a:xfrm>
            <a:off x="7174409" y="4298156"/>
            <a:ext cx="662583" cy="428476"/>
          </a:xfrm>
          <a:prstGeom prst="roundRect">
            <a:avLst>
              <a:gd name="adj" fmla="val 889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245507" y="4387007"/>
            <a:ext cx="5203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&lt;30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7245507" y="4552057"/>
            <a:ext cx="520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분석 시</a:t>
            </a:r>
            <a:endParaRPr lang="en-US" sz="600" dirty="0"/>
          </a:p>
        </p:txBody>
      </p:sp>
      <p:sp>
        <p:nvSpPr>
          <p:cNvPr id="33" name="Text 30"/>
          <p:cNvSpPr/>
          <p:nvPr/>
        </p:nvSpPr>
        <p:spPr>
          <a:xfrm>
            <a:off x="7887742" y="4298156"/>
            <a:ext cx="662583" cy="428476"/>
          </a:xfrm>
          <a:prstGeom prst="roundRect">
            <a:avLst>
              <a:gd name="adj" fmla="val 889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958840" y="4387007"/>
            <a:ext cx="52038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7958840" y="4552057"/>
            <a:ext cx="52038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안전망 상한</a:t>
            </a:r>
            <a:endParaRPr lang="en-US" sz="600" dirty="0"/>
          </a:p>
        </p:txBody>
      </p:sp>
      <p:sp>
        <p:nvSpPr>
          <p:cNvPr id="36" name="Text 33"/>
          <p:cNvSpPr/>
          <p:nvPr/>
        </p:nvSpPr>
        <p:spPr>
          <a:xfrm>
            <a:off x="457200" y="4956274"/>
            <a:ext cx="256747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 while(tool_use) 패턴 참고 · core/orchestration/agentic_loop.py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35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92154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SAFETY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자율 실행의 3대 위험과 자동 브레이크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6652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위험은 문제 → 브레이크 → 결과의 인과 흐름으로 해결된다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8387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3223" y="841028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2000" y="826740"/>
            <a:ext cx="435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폭발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34184" y="78387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320207" y="841028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538984" y="826740"/>
            <a:ext cx="435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무한 루프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11317" y="783878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097339" y="841028"/>
            <a:ext cx="5768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316117" y="826740"/>
            <a:ext cx="43583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고착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58701" y="1088678"/>
            <a:ext cx="2641699" cy="664220"/>
          </a:xfrm>
          <a:prstGeom prst="roundRect">
            <a:avLst>
              <a:gd name="adj" fmla="val 7648"/>
            </a:avLst>
          </a:prstGeom>
          <a:solidFill>
            <a:srgbClr val="1A0A0A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92051" y="1209229"/>
            <a:ext cx="179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92051" y="1383804"/>
            <a:ext cx="242249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 × $0.15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세션당 $7.50. 무인 실행 시 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$500+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소모 가능.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01901" y="1088678"/>
            <a:ext cx="2641699" cy="664220"/>
          </a:xfrm>
          <a:prstGeom prst="roundRect">
            <a:avLst>
              <a:gd name="adj" fmla="val 7648"/>
            </a:avLst>
          </a:prstGeom>
          <a:solidFill>
            <a:srgbClr val="1A0D00"/>
          </a:solidFill>
          <a:ln w="19050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35251" y="1209229"/>
            <a:ext cx="179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435251" y="1383804"/>
            <a:ext cx="242249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에러를 반복하면 </a:t>
            </a: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 전체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낭비. 실패 반환에 $7.50 소모.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045101" y="1088678"/>
            <a:ext cx="2641699" cy="664220"/>
          </a:xfrm>
          <a:prstGeom prst="roundRect">
            <a:avLst>
              <a:gd name="adj" fmla="val 7648"/>
            </a:avLst>
          </a:prstGeom>
          <a:solidFill>
            <a:srgbClr val="1A1500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178451" y="1209229"/>
            <a:ext cx="179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78451" y="1383804"/>
            <a:ext cx="242249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도구만 반복하면 탐색 공간이 좁아지고 대안 경로를 놓친다.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30445" y="1829098"/>
            <a:ext cx="2728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07428" y="1829098"/>
            <a:ext cx="2729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984562" y="1829098"/>
            <a:ext cx="2728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2057698"/>
            <a:ext cx="2675483" cy="664220"/>
          </a:xfrm>
          <a:prstGeom prst="roundRect">
            <a:avLst>
              <a:gd name="adj" fmla="val 7648"/>
            </a:avLst>
          </a:prstGeom>
          <a:solidFill>
            <a:srgbClr val="0D1A0D"/>
          </a:solidFill>
          <a:ln w="19050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90550" y="2178248"/>
            <a:ext cx="3584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브레이크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90550" y="2352824"/>
            <a:ext cx="24569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 매 턴 누적 → </a:t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 상한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도달 시 budget_stop → PIPELINE_END 강제 발화.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3234184" y="2057698"/>
            <a:ext cx="2675632" cy="664220"/>
          </a:xfrm>
          <a:prstGeom prst="roundRect">
            <a:avLst>
              <a:gd name="adj" fmla="val 7648"/>
            </a:avLst>
          </a:prstGeom>
          <a:solidFill>
            <a:srgbClr val="0D1A0D"/>
          </a:solidFill>
          <a:ln w="19050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367534" y="2178248"/>
            <a:ext cx="3584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브레이크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67534" y="2352824"/>
            <a:ext cx="245711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동일 에러 </a:t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3회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감지 → 수렴 판정 → Haiku→Sonnet→Opus 에스컬레이션 → Cross-Provider.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011317" y="2057698"/>
            <a:ext cx="2675483" cy="664220"/>
          </a:xfrm>
          <a:prstGeom prst="roundRect">
            <a:avLst>
              <a:gd name="adj" fmla="val 7648"/>
            </a:avLst>
          </a:prstGeom>
          <a:solidFill>
            <a:srgbClr val="0D1A0D"/>
          </a:solidFill>
          <a:ln w="19050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44667" y="2178248"/>
            <a:ext cx="35841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브레이크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144667" y="2352824"/>
            <a:ext cx="24569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반복 </a:t>
            </a: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5회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감지 → Hook이 hint 자동 주입 → 다른 도구 경로 탐색 유도.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30445" y="2798118"/>
            <a:ext cx="2728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07428" y="2798118"/>
            <a:ext cx="27291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984562" y="2798118"/>
            <a:ext cx="27289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7200" y="3026718"/>
            <a:ext cx="2675483" cy="644277"/>
          </a:xfrm>
          <a:prstGeom prst="roundRect">
            <a:avLst>
              <a:gd name="adj" fmla="val 7885"/>
            </a:avLst>
          </a:prstGeom>
          <a:solidFill>
            <a:srgbClr val="161B22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0550" y="3147268"/>
            <a:ext cx="179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0550" y="3321844"/>
            <a:ext cx="24569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budget_stop → PIPELINE_END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90550" y="3464719"/>
            <a:ext cx="24569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P3 원칙. 사람 없이 비용 상한 보장.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3234184" y="3026718"/>
            <a:ext cx="2675632" cy="644277"/>
          </a:xfrm>
          <a:prstGeom prst="roundRect">
            <a:avLst>
              <a:gd name="adj" fmla="val 7885"/>
            </a:avLst>
          </a:prstGeom>
          <a:solidFill>
            <a:srgbClr val="161B22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367534" y="3147268"/>
            <a:ext cx="179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67534" y="3321844"/>
            <a:ext cx="24571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convergence → model escalation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3367534" y="3464719"/>
            <a:ext cx="24571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P4 원칙. 수렴 고착 탈출.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011317" y="3026718"/>
            <a:ext cx="2675483" cy="644277"/>
          </a:xfrm>
          <a:prstGeom prst="roundRect">
            <a:avLst>
              <a:gd name="adj" fmla="val 7885"/>
            </a:avLst>
          </a:prstGeom>
          <a:solidFill>
            <a:srgbClr val="161B22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44667" y="3147268"/>
            <a:ext cx="17928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결과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6144667" y="3321844"/>
            <a:ext cx="245695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tool_repeat_5x → hint_inject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144667" y="3464719"/>
            <a:ext cx="245695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Diversity Forcing. 탐색 다양성 강제.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457200" y="3747195"/>
            <a:ext cx="8229600" cy="282476"/>
          </a:xfrm>
          <a:prstGeom prst="roundRect">
            <a:avLst>
              <a:gd name="adj" fmla="val 179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476250" y="3747195"/>
            <a:ext cx="0" cy="282476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22250" y="3836045"/>
            <a:ext cx="80963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자율성 vs 안전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3가지 임계값(budget 한도·수렴 3회·반복 5회)은 사용자가 조정 가능하며, 기본값은 실험적으로 도출한다.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68925"/>
            <a:ext cx="23875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자동 브레이크 → 사람 없이 장기 실행 가능 · core/orchestration/safety.py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8453735" y="4968925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35</a:t>
            </a:r>
            <a:endParaRPr lang="en-US" sz="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21762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LONG-RUNNING INNOVATION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장시간 운용을 위한 2가지 혁신: Plan-first + Provider-aware Compaction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방향으로 50 rounds 소모를 막기 위해 Plan-first를 도입하고, 컨텍스트 포화가 프로바이더마다 다르기 때문에 Provider-aware Compaction을 분리한다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50750" cy="177701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864989"/>
            <a:ext cx="90794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1 · Plan-first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01477"/>
            <a:ext cx="3981450" cy="3458170"/>
          </a:xfrm>
          <a:prstGeom prst="roundRect">
            <a:avLst>
              <a:gd name="adj" fmla="val 2203"/>
            </a:avLst>
          </a:prstGeom>
          <a:solidFill>
            <a:srgbClr val="161B22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93675" y="1237952"/>
            <a:ext cx="3708499" cy="326827"/>
          </a:xfrm>
          <a:prstGeom prst="roundRect">
            <a:avLst>
              <a:gd name="adj" fmla="val 155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17500" y="1358503"/>
            <a:ext cx="2331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022300" y="1348978"/>
            <a:ext cx="59932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 요청 수신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3675" y="1628180"/>
            <a:ext cx="3708499" cy="326827"/>
          </a:xfrm>
          <a:prstGeom prst="roundRect">
            <a:avLst>
              <a:gd name="adj" fmla="val 15543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17500" y="1739205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복잡도 판별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845719" y="1748730"/>
            <a:ext cx="3392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3+ steps?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593675" y="2018407"/>
            <a:ext cx="1822549" cy="418802"/>
          </a:xfrm>
          <a:prstGeom prst="roundRect">
            <a:avLst>
              <a:gd name="adj" fmla="val 1213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01751" y="2129433"/>
            <a:ext cx="16063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요청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01751" y="2240459"/>
            <a:ext cx="16063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직접 실행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479625" y="2018407"/>
            <a:ext cx="1822549" cy="418802"/>
          </a:xfrm>
          <a:prstGeom prst="roundRect">
            <a:avLst>
              <a:gd name="adj" fmla="val 12130"/>
            </a:avLst>
          </a:prstGeom>
          <a:solidFill>
            <a:srgbClr val="1A0D00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587701" y="2129433"/>
            <a:ext cx="16063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복잡 요청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2587701" y="2240459"/>
            <a:ext cx="16063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create_plan 자발 호출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93675" y="2500610"/>
            <a:ext cx="3708499" cy="437852"/>
          </a:xfrm>
          <a:prstGeom prst="roundRect">
            <a:avLst>
              <a:gd name="adj" fmla="val 11602"/>
            </a:avLst>
          </a:prstGeom>
          <a:solidFill>
            <a:srgbClr val="0D2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17500" y="2611636"/>
            <a:ext cx="353006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HITL UI · plan_id 노출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717500" y="2722662"/>
            <a:ext cx="353006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/ 수정 / 거부 선택 → 확인 후 실행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593675" y="3014663"/>
            <a:ext cx="3708499" cy="374452"/>
          </a:xfrm>
          <a:prstGeom prst="roundRect">
            <a:avLst>
              <a:gd name="adj" fmla="val 135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07975" y="3103513"/>
            <a:ext cx="3549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잘못된 방향으로 50 rounds를 소모하기 전에 사람이 개입. plan_id로 수정·재승인 가능.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707975" y="3214539"/>
            <a:ext cx="3549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LLM.create_plan() → plan_id → user_approval_gate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565600" y="847576"/>
            <a:ext cx="12650" cy="371207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705201" y="847576"/>
            <a:ext cx="50750" cy="177701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32152" y="864989"/>
            <a:ext cx="19509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혁신 2 · Provider-aware Compaction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5201" y="1101477"/>
            <a:ext cx="3981599" cy="3458170"/>
          </a:xfrm>
          <a:prstGeom prst="roundRect">
            <a:avLst>
              <a:gd name="adj" fmla="val 2203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41677" y="1237952"/>
            <a:ext cx="3708648" cy="336352"/>
          </a:xfrm>
          <a:prstGeom prst="roundRect">
            <a:avLst>
              <a:gd name="adj" fmla="val 15103"/>
            </a:avLst>
          </a:prstGeom>
          <a:solidFill>
            <a:srgbClr val="1A1500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965502" y="1348978"/>
            <a:ext cx="20736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245001" y="1353741"/>
            <a:ext cx="147113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 포화 → 프로바이더 분기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4841677" y="1637705"/>
            <a:ext cx="1822549" cy="2261890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952702" y="1748730"/>
            <a:ext cx="16325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4952702" y="1894731"/>
            <a:ext cx="1632508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서버사이드 compaction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4952702" y="2052042"/>
            <a:ext cx="1632508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compact_20260112 + clear_tool_uses. API가 직접 컨텍스트를 압축.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952702" y="3525143"/>
            <a:ext cx="1600498" cy="263426"/>
          </a:xfrm>
          <a:prstGeom prst="roundRect">
            <a:avLst>
              <a:gd name="adj" fmla="val 14463"/>
            </a:avLst>
          </a:prstGeom>
          <a:solidFill>
            <a:srgbClr val="0D2A0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054203" y="3613993"/>
            <a:ext cx="142544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최상 / API 종속적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727627" y="1637705"/>
            <a:ext cx="1822698" cy="2261890"/>
          </a:xfrm>
          <a:prstGeom prst="roundRect">
            <a:avLst>
              <a:gd name="adj" fmla="val 2787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38652" y="1748730"/>
            <a:ext cx="163265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GLM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838652" y="1894731"/>
            <a:ext cx="163265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클라이언트사이드 compaction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6838652" y="2052042"/>
            <a:ext cx="1632659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요약 기반 압축. 80% 도달 시 직접 요약 삽입.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6838652" y="3525143"/>
            <a:ext cx="1600646" cy="263426"/>
          </a:xfrm>
          <a:prstGeom prst="roundRect">
            <a:avLst>
              <a:gd name="adj" fmla="val 14463"/>
            </a:avLst>
          </a:prstGeom>
          <a:solidFill>
            <a:srgbClr val="1A15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940153" y="3613993"/>
            <a:ext cx="14255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범용적 / lossy 손실 있음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4841677" y="3962995"/>
            <a:ext cx="3708648" cy="460177"/>
          </a:xfrm>
          <a:prstGeom prst="roundRect">
            <a:avLst>
              <a:gd name="adj" fmla="val 110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955977" y="4051846"/>
            <a:ext cx="35496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Anthropic과 OpenAI의 캐시 규칙이 달라서 단일 압축 전략을 쓰면 캐시 히트율이 붕괴한다. context_action.py hook이 프로바이더를 감지해 전략을 자동 분기한다.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955977" y="4248596"/>
            <a:ext cx="35496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18C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context_action.py → provider_strategy()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457200" y="4610398"/>
            <a:ext cx="8229600" cy="282476"/>
          </a:xfrm>
          <a:prstGeom prst="roundRect">
            <a:avLst>
              <a:gd name="adj" fmla="val 179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476250" y="4610398"/>
            <a:ext cx="0" cy="282476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22250" y="4699248"/>
            <a:ext cx="809635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서버사이드 compaction은 API 종속적이지만 품질 최상. 클라이언트는 범용적이지만 lossy. Plan-first는 자율성을 일부 제한하지만 잘못된 방향의 50 rounds 낭비를 사전 차단한다.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57200" y="4956274"/>
            <a:ext cx="23590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core/context/context_action.py · core/orchestration/plan_manager.py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35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52400"/>
            <a:ext cx="50750" cy="177701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74575"/>
            <a:ext cx="193809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 · SCHEDULER + GATEWAY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Gateway: 시간 기반 자율 실행과 채널 라우팅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Cron이 메인 컨텍스트를 오염시키는 문제 때문에 격리를 기본값으로 설계하고, 채널마다 어댑터를 새로 짜는 비용을 0으로 만들기 위해 Gateway를 단일 진입점으로 집중한다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50750" cy="15240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866626"/>
            <a:ext cx="13958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 + TriggerManager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1076176"/>
            <a:ext cx="3981450" cy="727174"/>
          </a:xfrm>
          <a:prstGeom prst="roundRect">
            <a:avLst>
              <a:gd name="adj" fmla="val 698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1025" y="1187202"/>
            <a:ext cx="179418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 유형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07975" y="1342727"/>
            <a:ext cx="163204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특정 시각 1회 실행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간격 반복 실행</a:t>
            </a:r>
            <a:endParaRPr lang="en-US" sz="700" dirty="0"/>
          </a:p>
          <a:p>
            <a:pPr marL="342900" indent="-342900" algn="l">
              <a:buSzPct val="100000"/>
              <a:buChar char="•"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cron 표현식 실행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2441525" y="1187202"/>
            <a:ext cx="12650" cy="505123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2555677" y="1187202"/>
            <a:ext cx="17943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2555677" y="1342727"/>
            <a:ext cx="1794331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action_queue 등록 → 트리거 시각 도달 → AgenticLoop 위임. 큐 관리로 동시 실행 충돌을 방지한다.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2555677" y="1606600"/>
            <a:ext cx="17943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action_queue → AgenticLoop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57200" y="1879550"/>
            <a:ext cx="3981450" cy="1005929"/>
          </a:xfrm>
          <a:prstGeom prst="roundRect">
            <a:avLst>
              <a:gd name="adj" fmla="val 5050"/>
            </a:avLst>
          </a:prstGeom>
          <a:solidFill>
            <a:srgbClr val="0A1A1A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1025" y="1990576"/>
            <a:ext cx="380847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TriggerManager: DRIFT_DETECTED 피드백 루프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81025" y="2207865"/>
            <a:ext cx="899517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276" y="2306241"/>
            <a:ext cx="6910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DRIFT_DETECTED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531293" y="228242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696343" y="2158752"/>
            <a:ext cx="1632049" cy="380851"/>
          </a:xfrm>
          <a:prstGeom prst="roundRect">
            <a:avLst>
              <a:gd name="adj" fmla="val 13339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793269" y="2257127"/>
            <a:ext cx="14381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TriggerManager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793269" y="2355503"/>
            <a:ext cx="14381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F1–F4 평가 함수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379143" y="2282428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44193" y="2207865"/>
            <a:ext cx="770632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49733" y="2306241"/>
            <a:ext cx="5595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재분석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581025" y="2603004"/>
            <a:ext cx="38084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 정의 자동화: weekly_discovery_scan · calibration_drift_scan · outcome_tracker · auto_generate_report · pending_analysis_worker + 5개 더. 드리프트 감지 즉시 자율 트리거.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57200" y="2961680"/>
            <a:ext cx="3981450" cy="1091654"/>
          </a:xfrm>
          <a:prstGeom prst="roundRect">
            <a:avLst>
              <a:gd name="adj" fmla="val 4653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81025" y="3099643"/>
            <a:ext cx="50750" cy="50750"/>
          </a:xfrm>
          <a:prstGeom prst="roundRect">
            <a:avLst>
              <a:gd name="adj" fmla="val 1801773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07975" y="3072705"/>
            <a:ext cx="12479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세션 격리 (isolated=True)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81025" y="3332857"/>
            <a:ext cx="1092101" cy="282476"/>
          </a:xfrm>
          <a:prstGeom prst="roundRect">
            <a:avLst>
              <a:gd name="adj" fmla="val 1798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83350" y="3431232"/>
            <a:ext cx="88745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트리거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1723876" y="340265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901726" y="3240881"/>
            <a:ext cx="1092250" cy="466576"/>
          </a:xfrm>
          <a:prstGeom prst="roundRect">
            <a:avLst>
              <a:gd name="adj" fmla="val 1088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004050" y="3339257"/>
            <a:ext cx="8876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ConversationContext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2004050" y="3523357"/>
            <a:ext cx="8876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isolated=True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044726" y="340265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22575" y="3283744"/>
            <a:ext cx="1092250" cy="380851"/>
          </a:xfrm>
          <a:prstGeom prst="roundRect">
            <a:avLst>
              <a:gd name="adj" fmla="val 13339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24899" y="3382119"/>
            <a:ext cx="8876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324899" y="3480495"/>
            <a:ext cx="8876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실행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581025" y="3770858"/>
            <a:ext cx="380847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Cron 태스크가 메인 대화의 컨텍스트를 덮어쓰는 버그가 있었기 때문에 isolated=True를 기본값으로 바꿨다. 결과 주입이 필요하면 systemEvent로 메인에 선택적으로 전달한다.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565600" y="847576"/>
            <a:ext cx="12650" cy="3607296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705201" y="847576"/>
            <a:ext cx="50750" cy="15240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832152" y="861864"/>
            <a:ext cx="117405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Gateway: 채널 무관 라우팅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05201" y="1076176"/>
            <a:ext cx="3981599" cy="3378696"/>
          </a:xfrm>
          <a:prstGeom prst="roundRect">
            <a:avLst>
              <a:gd name="adj" fmla="val 150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829026" y="1187202"/>
            <a:ext cx="885825" cy="390376"/>
          </a:xfrm>
          <a:prstGeom prst="roundRect">
            <a:avLst>
              <a:gd name="adj" fmla="val 1301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920511" y="1285577"/>
            <a:ext cx="70285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Discord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4920511" y="1393478"/>
            <a:ext cx="7028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메시지 이벤트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778252" y="1187202"/>
            <a:ext cx="885974" cy="390376"/>
          </a:xfrm>
          <a:prstGeom prst="roundRect">
            <a:avLst>
              <a:gd name="adj" fmla="val 1301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869735" y="1285577"/>
            <a:ext cx="7030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69735" y="1393478"/>
            <a:ext cx="7030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알림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6727627" y="1187202"/>
            <a:ext cx="885974" cy="390376"/>
          </a:xfrm>
          <a:prstGeom prst="roundRect">
            <a:avLst>
              <a:gd name="adj" fmla="val 1301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819110" y="1285577"/>
            <a:ext cx="7030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819110" y="1393478"/>
            <a:ext cx="7030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입력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677001" y="1187202"/>
            <a:ext cx="885974" cy="390376"/>
          </a:xfrm>
          <a:prstGeom prst="roundRect">
            <a:avLst>
              <a:gd name="adj" fmla="val 1301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768484" y="1285577"/>
            <a:ext cx="70300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768484" y="1393478"/>
            <a:ext cx="7030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API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4791687" y="1628329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829026" y="1821954"/>
            <a:ext cx="3733949" cy="428327"/>
          </a:xfrm>
          <a:prstGeom prst="roundRect">
            <a:avLst>
              <a:gd name="adj" fmla="val 11860"/>
            </a:avLst>
          </a:prstGeom>
          <a:solidFill>
            <a:srgbClr val="1A1A2E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917988" y="1932980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ChannelBinding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4917988" y="2053530"/>
            <a:ext cx="355602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 어댑터 → 표준 메시지 변환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791687" y="2301032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829026" y="2494657"/>
            <a:ext cx="1835200" cy="418802"/>
          </a:xfrm>
          <a:prstGeom prst="roundRect">
            <a:avLst>
              <a:gd name="adj" fmla="val 1213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4952851" y="2605683"/>
            <a:ext cx="16193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key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952851" y="2716709"/>
            <a:ext cx="16193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채널:사용자 조합으로 세션 식별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6727627" y="2494657"/>
            <a:ext cx="1835348" cy="418802"/>
          </a:xfrm>
          <a:prstGeom prst="roundRect">
            <a:avLst>
              <a:gd name="adj" fmla="val 12130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6851452" y="2605683"/>
            <a:ext cx="1619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LaneQueue</a:t>
            </a:r>
            <a:endParaRPr lang="en-US" sz="600" dirty="0"/>
          </a:p>
        </p:txBody>
      </p:sp>
      <p:sp>
        <p:nvSpPr>
          <p:cNvPr id="67" name="Text 65"/>
          <p:cNvSpPr/>
          <p:nvPr/>
        </p:nvSpPr>
        <p:spPr>
          <a:xfrm>
            <a:off x="6851452" y="2716709"/>
            <a:ext cx="1619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 간 처리 순서 보장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4791687" y="2964210"/>
            <a:ext cx="38086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829026" y="3157835"/>
            <a:ext cx="3733949" cy="514052"/>
          </a:xfrm>
          <a:prstGeom prst="roundRect">
            <a:avLst>
              <a:gd name="adj" fmla="val 9882"/>
            </a:avLst>
          </a:prstGeom>
          <a:solidFill>
            <a:srgbClr val="0A1A1A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0" name="Text 68"/>
          <p:cNvSpPr/>
          <p:nvPr/>
        </p:nvSpPr>
        <p:spPr>
          <a:xfrm>
            <a:off x="4917988" y="3268861"/>
            <a:ext cx="355602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4917988" y="3389412"/>
            <a:ext cx="355602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채널별 AgenticLoop 인스턴스를 따로 관리하면 세션이 분산되기 때문에 Gateway를 단일 진입점으로 집중한다. 채널 추가 시 어댑터 1개만 구현하면 된다.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4829026" y="3722638"/>
            <a:ext cx="1835200" cy="491877"/>
          </a:xfrm>
          <a:prstGeom prst="roundRect">
            <a:avLst>
              <a:gd name="adj" fmla="val 10328"/>
            </a:avLst>
          </a:prstGeom>
          <a:solidFill>
            <a:srgbClr val="0D1117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4940052" y="3821013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Webhook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4940052" y="3932039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serve /webhook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4940052" y="4030414"/>
            <a:ext cx="164541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8765 · 외부 이벤트 인입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6727627" y="3722638"/>
            <a:ext cx="1835348" cy="491877"/>
          </a:xfrm>
          <a:prstGeom prst="roundRect">
            <a:avLst>
              <a:gd name="adj" fmla="val 10328"/>
            </a:avLst>
          </a:prstGeom>
          <a:solidFill>
            <a:srgbClr val="0D1117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6838652" y="3821013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ConfigWatcher</a:t>
            </a:r>
            <a:endParaRPr lang="en-US" sz="600" dirty="0"/>
          </a:p>
        </p:txBody>
      </p:sp>
      <p:sp>
        <p:nvSpPr>
          <p:cNvPr id="78" name="Text 76"/>
          <p:cNvSpPr/>
          <p:nvPr/>
        </p:nvSpPr>
        <p:spPr>
          <a:xfrm>
            <a:off x="6838652" y="3932039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게이트웨이 바인딩 hot-reload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6838652" y="4030414"/>
            <a:ext cx="164556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재시작 없이 설정 반영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457200" y="4505623"/>
            <a:ext cx="8229600" cy="387251"/>
          </a:xfrm>
          <a:prstGeom prst="roundRect">
            <a:avLst>
              <a:gd name="adj" fmla="val 131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Shape 79"/>
          <p:cNvSpPr/>
          <p:nvPr/>
        </p:nvSpPr>
        <p:spPr>
          <a:xfrm>
            <a:off x="476250" y="4505623"/>
            <a:ext cx="0" cy="387251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2" name="Text 80"/>
          <p:cNvSpPr/>
          <p:nvPr/>
        </p:nvSpPr>
        <p:spPr>
          <a:xfrm>
            <a:off x="622250" y="4594473"/>
            <a:ext cx="809635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Cron 격리로 메인 오염을 막지만, 격리 세션은 이전 학습을 공유하지 않는다. systemEvent 주입으로 필요할 때만 연계한다. Gateway 단일화는 채널 다양성을 포기하지만 어댑터 1개로 신규 채널을 추가할 수 있게 된다.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457200" y="4956274"/>
            <a:ext cx="4368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core/scheduler/ · core/gateway/ · isolated=True → fresh ConversationContext · /webhook port 8765 · ConfigWatcher hot-reload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8453735" y="4956274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35</a:t>
            </a:r>
            <a:endParaRPr lang="en-US" sz="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901"/>
            <a:ext cx="82296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822058" y="1818977"/>
            <a:ext cx="549988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822058" y="2136428"/>
            <a:ext cx="5499884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8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순서로 살펴보는</a:t>
            </a:r>
            <a:endParaRPr lang="en-US" sz="2800" dirty="0"/>
          </a:p>
          <a:p>
            <a:pPr marL="0" indent="0" algn="ctr">
              <a:lnSpc>
                <a:spcPts val="308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내부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822058" y="3096071"/>
            <a:ext cx="5499884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 → Hook → Sub-Agent → Failover → Compression → Memory → Prompt → MCP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114949"/>
            <a:ext cx="82296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4987975"/>
            <a:ext cx="30224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S10 – S17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35</a:t>
            </a:r>
            <a:endParaRPr lang="en-US" sz="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①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Dispatch: LLM tool_use → ToolExecutor 단일 진입점 → 4-Route 분기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6652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tool_use 블록을 반환하는 순간, 모든 실행 경로는 ToolExecutor 하나로 수렴한다.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2921050" y="752177"/>
            <a:ext cx="3301901" cy="539651"/>
          </a:xfrm>
          <a:prstGeom prst="roundRect">
            <a:avLst>
              <a:gd name="adj" fmla="val 14120"/>
            </a:avLst>
          </a:prstGeom>
          <a:solidFill>
            <a:srgbClr val="1E293B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18358" y="885527"/>
            <a:ext cx="27072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</a:t>
            </a: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ToolExecutor.execute()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18358" y="1053703"/>
            <a:ext cx="27072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진입점 · tool_use 블록 수신 · 도구 유형 판별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4559350" y="1342579"/>
            <a:ext cx="25301" cy="139601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03090" y="1482179"/>
            <a:ext cx="4937671" cy="25301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03090" y="1482179"/>
            <a:ext cx="25301" cy="139601"/>
          </a:xfrm>
          <a:prstGeom prst="rect">
            <a:avLst/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736330" y="1482179"/>
            <a:ext cx="25301" cy="139601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82220" y="1482179"/>
            <a:ext cx="25301" cy="139601"/>
          </a:xfrm>
          <a:prstGeom prst="rect">
            <a:avLst/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028111" y="1482179"/>
            <a:ext cx="25301" cy="139601"/>
          </a:xfrm>
          <a:prstGeom prst="rect">
            <a:avLst/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736455" y="1355229"/>
            <a:ext cx="3338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4경로 분기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7200" y="1672679"/>
            <a:ext cx="2000250" cy="834182"/>
          </a:xfrm>
          <a:prstGeom prst="roundRect">
            <a:avLst>
              <a:gd name="adj" fmla="val 609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57200" y="1691729"/>
            <a:ext cx="200025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2447925" y="1672679"/>
            <a:ext cx="0" cy="834182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497336"/>
            <a:ext cx="2000250" cy="0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466725" y="1672679"/>
            <a:ext cx="0" cy="834182"/>
          </a:xfrm>
          <a:prstGeom prst="line">
            <a:avLst/>
          </a:prstGeom>
          <a:noFill/>
          <a:ln w="190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590550" y="1812280"/>
            <a:ext cx="17682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Path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0550" y="1977330"/>
            <a:ext cx="1768221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run_bash 계열: 3-layer safety + PolicyChain 통과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590550" y="2286298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허용 목록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926157" y="2272010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557" y="2286298"/>
            <a:ext cx="41048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1531739" y="2272010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684139" y="2286298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533650" y="1672679"/>
            <a:ext cx="2000250" cy="834182"/>
          </a:xfrm>
          <a:prstGeom prst="roundRect">
            <a:avLst>
              <a:gd name="adj" fmla="val 609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533650" y="1691729"/>
            <a:ext cx="200025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4524375" y="1672679"/>
            <a:ext cx="0" cy="834182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2533650" y="2497336"/>
            <a:ext cx="2000250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2543175" y="1672679"/>
            <a:ext cx="0" cy="834182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2667000" y="1812280"/>
            <a:ext cx="17682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667000" y="1977330"/>
            <a:ext cx="176822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핸들러 매칭: 52 native tools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2667000" y="2170658"/>
            <a:ext cx="3629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tool_name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073598" y="2156371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225998" y="2170658"/>
            <a:ext cx="2592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3530947" y="2156371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683347" y="2170658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610100" y="1672679"/>
            <a:ext cx="2000250" cy="834182"/>
          </a:xfrm>
          <a:prstGeom prst="roundRect">
            <a:avLst>
              <a:gd name="adj" fmla="val 609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4610100" y="1691729"/>
            <a:ext cx="2000250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Shape 40"/>
          <p:cNvSpPr/>
          <p:nvPr/>
        </p:nvSpPr>
        <p:spPr>
          <a:xfrm>
            <a:off x="6600825" y="1672679"/>
            <a:ext cx="0" cy="834182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41"/>
          <p:cNvSpPr/>
          <p:nvPr/>
        </p:nvSpPr>
        <p:spPr>
          <a:xfrm>
            <a:off x="4610100" y="2497336"/>
            <a:ext cx="2000250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42"/>
          <p:cNvSpPr/>
          <p:nvPr/>
        </p:nvSpPr>
        <p:spPr>
          <a:xfrm>
            <a:off x="4619625" y="1672679"/>
            <a:ext cx="0" cy="834182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4743450" y="1812280"/>
            <a:ext cx="17682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Path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43450" y="1977330"/>
            <a:ext cx="176822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catalog 서버 auto-discovery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4743450" y="2170658"/>
            <a:ext cx="23772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5027265" y="2156371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5179665" y="2170658"/>
            <a:ext cx="2765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501580" y="2156371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653980" y="2170658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반환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6686550" y="1672679"/>
            <a:ext cx="2000250" cy="834182"/>
          </a:xfrm>
          <a:prstGeom prst="roundRect">
            <a:avLst>
              <a:gd name="adj" fmla="val 609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Shape 51"/>
          <p:cNvSpPr/>
          <p:nvPr/>
        </p:nvSpPr>
        <p:spPr>
          <a:xfrm>
            <a:off x="6686550" y="1691729"/>
            <a:ext cx="200025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52"/>
          <p:cNvSpPr/>
          <p:nvPr/>
        </p:nvSpPr>
        <p:spPr>
          <a:xfrm>
            <a:off x="8677275" y="1672679"/>
            <a:ext cx="0" cy="834182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6686550" y="2497336"/>
            <a:ext cx="2000250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6696075" y="1672679"/>
            <a:ext cx="0" cy="834182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55"/>
          <p:cNvSpPr/>
          <p:nvPr/>
        </p:nvSpPr>
        <p:spPr>
          <a:xfrm>
            <a:off x="6819900" y="1812280"/>
            <a:ext cx="17682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DAG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6819900" y="1977330"/>
            <a:ext cx="1768221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analyze_ip → 13-task StateGraph 실행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819900" y="2170658"/>
            <a:ext cx="47955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DAG dispatch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7340798" y="2156371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493198" y="2170658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노드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7828806" y="2156371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7981206" y="2170658"/>
            <a:ext cx="13449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집계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3448348" y="2557611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3575447" y="2562374"/>
            <a:ext cx="216245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 이상 tool_use 시 ToolCallProcessor가 안전 등급 분류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457200" y="2722662"/>
            <a:ext cx="8229600" cy="1098500"/>
          </a:xfrm>
          <a:prstGeom prst="roundRect">
            <a:avLst>
              <a:gd name="adj" fmla="val 462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7" name="Text 65"/>
          <p:cNvSpPr/>
          <p:nvPr/>
        </p:nvSpPr>
        <p:spPr>
          <a:xfrm>
            <a:off x="593675" y="2821037"/>
            <a:ext cx="81157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 — 병렬 속도와 안전 격리의 균형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93675" y="2989213"/>
            <a:ext cx="1540520" cy="584448"/>
          </a:xfrm>
          <a:prstGeom prst="roundRect">
            <a:avLst>
              <a:gd name="adj" fmla="val 8692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678613" y="3100239"/>
            <a:ext cx="13706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678613" y="3239839"/>
            <a:ext cx="13706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</a:t>
            </a:r>
            <a:endParaRPr lang="en-US" sz="600" dirty="0"/>
          </a:p>
        </p:txBody>
      </p:sp>
      <p:sp>
        <p:nvSpPr>
          <p:cNvPr id="71" name="Text 69"/>
          <p:cNvSpPr/>
          <p:nvPr/>
        </p:nvSpPr>
        <p:spPr>
          <a:xfrm>
            <a:off x="678613" y="3363664"/>
            <a:ext cx="1370645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asyncio.gather 완전 병렬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2197596" y="2989213"/>
            <a:ext cx="1540669" cy="584448"/>
          </a:xfrm>
          <a:prstGeom prst="roundRect">
            <a:avLst>
              <a:gd name="adj" fmla="val 8692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2282532" y="3100239"/>
            <a:ext cx="13707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2282532" y="3239839"/>
            <a:ext cx="13707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Auto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2282532" y="3363664"/>
            <a:ext cx="137079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서버당 1회 자동 승인</a:t>
            </a:r>
            <a:endParaRPr lang="en-US" sz="600" dirty="0"/>
          </a:p>
        </p:txBody>
      </p:sp>
      <p:sp>
        <p:nvSpPr>
          <p:cNvPr id="76" name="Text 74"/>
          <p:cNvSpPr/>
          <p:nvPr/>
        </p:nvSpPr>
        <p:spPr>
          <a:xfrm>
            <a:off x="3801666" y="2989213"/>
            <a:ext cx="1540520" cy="584448"/>
          </a:xfrm>
          <a:prstGeom prst="roundRect">
            <a:avLst>
              <a:gd name="adj" fmla="val 8692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3886603" y="3100239"/>
            <a:ext cx="13706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3886603" y="3239839"/>
            <a:ext cx="137064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EXPENSIVE</a:t>
            </a:r>
            <a:endParaRPr lang="en-US" sz="600" dirty="0"/>
          </a:p>
        </p:txBody>
      </p:sp>
      <p:sp>
        <p:nvSpPr>
          <p:cNvPr id="79" name="Text 77"/>
          <p:cNvSpPr/>
          <p:nvPr/>
        </p:nvSpPr>
        <p:spPr>
          <a:xfrm>
            <a:off x="3886603" y="3363664"/>
            <a:ext cx="1370645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일괄 승인 후 병렬</a:t>
            </a:r>
            <a:endParaRPr lang="en-US" sz="600" dirty="0"/>
          </a:p>
        </p:txBody>
      </p:sp>
      <p:sp>
        <p:nvSpPr>
          <p:cNvPr id="80" name="Text 78"/>
          <p:cNvSpPr/>
          <p:nvPr/>
        </p:nvSpPr>
        <p:spPr>
          <a:xfrm>
            <a:off x="5405586" y="2989213"/>
            <a:ext cx="1540669" cy="584448"/>
          </a:xfrm>
          <a:prstGeom prst="roundRect">
            <a:avLst>
              <a:gd name="adj" fmla="val 8692"/>
            </a:avLst>
          </a:prstGeom>
          <a:solidFill>
            <a:srgbClr val="1E293B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5490523" y="3100239"/>
            <a:ext cx="13707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5490523" y="3239839"/>
            <a:ext cx="13707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5490523" y="3363664"/>
            <a:ext cx="137079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개별 HITL 승인 순차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7009656" y="2989213"/>
            <a:ext cx="1540669" cy="584448"/>
          </a:xfrm>
          <a:prstGeom prst="roundRect">
            <a:avLst>
              <a:gd name="adj" fmla="val 8692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5" name="Text 83"/>
          <p:cNvSpPr/>
          <p:nvPr/>
        </p:nvSpPr>
        <p:spPr>
          <a:xfrm>
            <a:off x="7094592" y="3100239"/>
            <a:ext cx="13707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00"/>
              </a:lnSpc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7094592" y="3239839"/>
            <a:ext cx="13707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DANGEROUS</a:t>
            </a:r>
            <a:endParaRPr lang="en-US" sz="600" dirty="0"/>
          </a:p>
        </p:txBody>
      </p:sp>
      <p:sp>
        <p:nvSpPr>
          <p:cNvPr id="87" name="Text 85"/>
          <p:cNvSpPr/>
          <p:nvPr/>
        </p:nvSpPr>
        <p:spPr>
          <a:xfrm>
            <a:off x="7094592" y="3363664"/>
            <a:ext cx="137079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차단 + 에스컬레이션</a:t>
            </a:r>
            <a:endParaRPr lang="en-US" sz="600" dirty="0"/>
          </a:p>
        </p:txBody>
      </p:sp>
      <p:sp>
        <p:nvSpPr>
          <p:cNvPr id="88" name="Text 86"/>
          <p:cNvSpPr/>
          <p:nvPr/>
        </p:nvSpPr>
        <p:spPr>
          <a:xfrm>
            <a:off x="593675" y="3637062"/>
            <a:ext cx="811578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T0-1은 asyncio.gather 완전 병렬화, T3-4는 순차 개별 승인 격리. MAX_CONSECUTIVE_FAILURES=2 · max_recovery=3</a:t>
            </a:r>
            <a:endParaRPr lang="en-US" sz="600" dirty="0"/>
          </a:p>
        </p:txBody>
      </p:sp>
      <p:sp>
        <p:nvSpPr>
          <p:cNvPr id="89" name="Text 87"/>
          <p:cNvSpPr/>
          <p:nvPr/>
        </p:nvSpPr>
        <p:spPr>
          <a:xfrm>
            <a:off x="457200" y="3871913"/>
            <a:ext cx="4076700" cy="449163"/>
          </a:xfrm>
          <a:prstGeom prst="roundRect">
            <a:avLst>
              <a:gd name="adj" fmla="val 1131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581025" y="3982938"/>
            <a:ext cx="39056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Summary · Tier 1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581025" y="4103489"/>
            <a:ext cx="390563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실행 후 긴 tool_result 전문 대신 압축 요약 삽입 → 컨텍스트 슬롯 절약.</a:t>
            </a:r>
            <a:endParaRPr lang="en-US" sz="600" dirty="0"/>
          </a:p>
        </p:txBody>
      </p:sp>
      <p:sp>
        <p:nvSpPr>
          <p:cNvPr id="92" name="Text 90"/>
          <p:cNvSpPr/>
          <p:nvPr/>
        </p:nvSpPr>
        <p:spPr>
          <a:xfrm>
            <a:off x="4610100" y="3871913"/>
            <a:ext cx="4076700" cy="449163"/>
          </a:xfrm>
          <a:prstGeom prst="roundRect">
            <a:avLst>
              <a:gd name="adj" fmla="val 11310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3" name="Text 91"/>
          <p:cNvSpPr/>
          <p:nvPr/>
        </p:nvSpPr>
        <p:spPr>
          <a:xfrm>
            <a:off x="4733925" y="3982938"/>
            <a:ext cx="39056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Deferred Tool Loading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4733925" y="4103489"/>
            <a:ext cx="3905631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ToolSearch 2-hop으로 필요한 도구만 지연 로딩 → </a:t>
            </a: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토큰 절감.</a:t>
            </a:r>
            <a:endParaRPr lang="en-US" sz="600" dirty="0"/>
          </a:p>
        </p:txBody>
      </p:sp>
      <p:sp>
        <p:nvSpPr>
          <p:cNvPr id="95" name="Text 93"/>
          <p:cNvSpPr/>
          <p:nvPr/>
        </p:nvSpPr>
        <p:spPr>
          <a:xfrm>
            <a:off x="457200" y="4987975"/>
            <a:ext cx="396422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tool_executor.py · policy.py · error_recovery.py · v0.32.0 · 52 native tools · 45 MCP · 5-Tier safety · Action Summary · Deferred Load 85%↓</a:t>
            </a:r>
            <a:endParaRPr lang="en-US" sz="500" dirty="0"/>
          </a:p>
        </p:txBody>
      </p:sp>
      <p:sp>
        <p:nvSpPr>
          <p:cNvPr id="96" name="Text 94"/>
          <p:cNvSpPr/>
          <p:nvPr/>
        </p:nvSpPr>
        <p:spPr>
          <a:xfrm>
            <a:off x="8497491" y="4987975"/>
            <a:ext cx="193096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35</a:t>
            </a:r>
            <a:endParaRPr lang="en-US" sz="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88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18914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②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17302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System: 도구 실행 중 46개 이벤트 발화 → 리플 패턴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84002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콜백으로는 확장이 불가능하기 때문에 Claude Code·Devin·OpenHands 리서치 후 16카테고리 46이벤트로 개편한다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52177"/>
            <a:ext cx="5029200" cy="1448246"/>
          </a:xfrm>
          <a:prstGeom prst="roundRect">
            <a:avLst>
              <a:gd name="adj" fmla="val 350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752177"/>
            <a:ext cx="0" cy="1448246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7225" y="853678"/>
            <a:ext cx="4770311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88"/>
              </a:lnSpc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문제: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하드코딩 콜백으로는 확장 불가. 프론티어 3종 리서치 후 </a:t>
            </a:r>
            <a:r>
              <a:rPr lang="en-US" sz="7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8카테고리 46이벤트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개편.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57225" y="1055191"/>
            <a:ext cx="4770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리플 패턴 실행 예시: PIPELINE_END 발화 시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657225" y="1198066"/>
            <a:ext cx="4676775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8726" y="1266230"/>
            <a:ext cx="336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P50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165027" y="1261467"/>
            <a:ext cx="176047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RunLog → runs.jsonl JSONL 기록 (L1 Observe)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57225" y="1454944"/>
            <a:ext cx="4676775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58726" y="1523107"/>
            <a:ext cx="336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P80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165027" y="1518345"/>
            <a:ext cx="15491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SnapshotManager → 상태 캡처 (L2 React)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657225" y="1711821"/>
            <a:ext cx="4676775" cy="231577"/>
          </a:xfrm>
          <a:prstGeom prst="roundRect">
            <a:avLst>
              <a:gd name="adj" fmla="val 1645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58726" y="1779984"/>
            <a:ext cx="3367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P85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165027" y="1775222"/>
            <a:ext cx="1908185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MemoryWriteBack → MEMORY.md 갱신 (L2 React)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657225" y="1994148"/>
            <a:ext cx="4770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400"/>
              </a:spcBef>
              <a:buNone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이벤트가 3개 핸들러를 Priority 순서로 관통.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57200" y="2263825"/>
            <a:ext cx="5029200" cy="2776835"/>
          </a:xfrm>
          <a:prstGeom prst="roundRect">
            <a:avLst>
              <a:gd name="adj" fmla="val 182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06326" y="2374850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EVENT GROUPS (46 total · 16 categories)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6326" y="2565202"/>
            <a:ext cx="2340025" cy="531614"/>
          </a:xfrm>
          <a:prstGeom prst="roundRect">
            <a:avLst>
              <a:gd name="adj" fmla="val 9556"/>
            </a:avLst>
          </a:prstGeom>
          <a:solidFill>
            <a:srgbClr val="0D1117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7352" y="2663577"/>
            <a:ext cx="21603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+ Node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17352" y="2784128"/>
            <a:ext cx="21603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events: PIPELINE_START/END/ERROR · NODE_BOOTSTRAP/ENTER/EXIT/ERROR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606326" y="3147566"/>
            <a:ext cx="2340025" cy="531614"/>
          </a:xfrm>
          <a:prstGeom prst="roundRect">
            <a:avLst>
              <a:gd name="adj" fmla="val 9556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17352" y="3245941"/>
            <a:ext cx="21603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 + Verification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17352" y="3366492"/>
            <a:ext cx="21603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events: ANALYST/EVALUATOR/SCORING_COMPLETE · VERIFICATION_PASS/FAIL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06326" y="3729930"/>
            <a:ext cx="2340025" cy="574477"/>
          </a:xfrm>
          <a:prstGeom prst="roundRect">
            <a:avLst>
              <a:gd name="adj" fmla="val 88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17352" y="3828306"/>
            <a:ext cx="21603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17352" y="3948857"/>
            <a:ext cx="21603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events: DRIFT_DETECTED · OUTCOME_COLLECTED · MODEL_PROMOTED · SNAPSHOT_CAPTURED · TRIGGER_FIRED · POST_ANALYSIS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606326" y="4355157"/>
            <a:ext cx="2340025" cy="574477"/>
          </a:xfrm>
          <a:prstGeom prst="roundRect">
            <a:avLst>
              <a:gd name="adj" fmla="val 88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17352" y="4453533"/>
            <a:ext cx="216033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Prompt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717352" y="4574084"/>
            <a:ext cx="2160333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events: MEMORY_SAVED · RULE_CREATED/UPDATED/DELETED · PROMPT_ASSEMBLED · PROMPT_DRIFT_DETECTED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2997101" y="2565202"/>
            <a:ext cx="2340173" cy="488752"/>
          </a:xfrm>
          <a:prstGeom prst="roundRect">
            <a:avLst>
              <a:gd name="adj" fmla="val 10394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108127" y="2663577"/>
            <a:ext cx="21604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108127" y="2784128"/>
            <a:ext cx="216048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events: SUBAGENT_STARTED · SUBAGENT_COMPLETED · SUBAGENT_FAILED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2997101" y="3104704"/>
            <a:ext cx="2340173" cy="574477"/>
          </a:xfrm>
          <a:prstGeom prst="roundRect">
            <a:avLst>
              <a:gd name="adj" fmla="val 88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108127" y="3203079"/>
            <a:ext cx="21604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+ Session + LLM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3108127" y="3323630"/>
            <a:ext cx="21604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events: CONTEXT_WARNING/CRITICAL/OVERFLOW_ACTION · SESSION_START/END · LLM_CALL_START/END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2997101" y="3729930"/>
            <a:ext cx="2340173" cy="574477"/>
          </a:xfrm>
          <a:prstGeom prst="roundRect">
            <a:avLst>
              <a:gd name="adj" fmla="val 88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108127" y="3828306"/>
            <a:ext cx="21604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Recovery + Approval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108127" y="3948857"/>
            <a:ext cx="21604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events: TOOL_RECOVERY_ATTEMPTED/SUCCEEDED/FAILED · TOOL_APPROVAL_REQUESTED/GRANTED/DENIED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2997101" y="4355157"/>
            <a:ext cx="2340173" cy="574477"/>
          </a:xfrm>
          <a:prstGeom prst="roundRect">
            <a:avLst>
              <a:gd name="adj" fmla="val 8843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108127" y="4453533"/>
            <a:ext cx="216048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 + MCP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3108127" y="4574084"/>
            <a:ext cx="216048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events: GATEWAY_MESSAGE_RECEIVED/RESPONSE_SENT · MCP_SERVER_STARTED/STOPPED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5600700" y="752177"/>
            <a:ext cx="3086100" cy="3104257"/>
          </a:xfrm>
          <a:prstGeom prst="roundRect">
            <a:avLst>
              <a:gd name="adj" fmla="val 1646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749826" y="863203"/>
            <a:ext cx="28436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MATURITY MODEL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749826" y="1040904"/>
            <a:ext cx="2787848" cy="368052"/>
          </a:xfrm>
          <a:prstGeom prst="roundRect">
            <a:avLst>
              <a:gd name="adj" fmla="val 13802"/>
            </a:avLst>
          </a:prstGeom>
          <a:solidFill>
            <a:srgbClr val="1E293B"/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5860852" y="1113830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Autonomy: 백로그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60852" y="1231255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승인 이력 → 자동 승인 룰 학습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749826" y="1447056"/>
            <a:ext cx="2787848" cy="377577"/>
          </a:xfrm>
          <a:prstGeom prst="roundRect">
            <a:avLst>
              <a:gd name="adj" fmla="val 13454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860852" y="1519982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Decide: 현재 프론티어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860852" y="1637407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CONTEXT_OVERFLOW_ACTION 전략 위임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749826" y="1862733"/>
            <a:ext cx="2787848" cy="377577"/>
          </a:xfrm>
          <a:prstGeom prst="roundRect">
            <a:avLst>
              <a:gd name="adj" fmla="val 13454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860852" y="1935659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React: 자동 반응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5860852" y="2053084"/>
            <a:ext cx="26171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DRIFT → 스냅샷 · PIPELINE_END → MEMORY.md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749826" y="2278410"/>
            <a:ext cx="2787848" cy="368052"/>
          </a:xfrm>
          <a:prstGeom prst="roundRect">
            <a:avLst>
              <a:gd name="adj" fmla="val 13802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860852" y="2351336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Observe: 기록만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5860852" y="2468761"/>
            <a:ext cx="261711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RunLog: ALL 46 events → runs.jsonl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600700" y="3919835"/>
            <a:ext cx="3086100" cy="578644"/>
          </a:xfrm>
          <a:prstGeom prst="roundRect">
            <a:avLst>
              <a:gd name="adj" fmla="val 877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5624513" y="3919835"/>
            <a:ext cx="0" cy="578644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5787926" y="4008686"/>
            <a:ext cx="281445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StuckDetector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787926" y="4161086"/>
            <a:ext cx="281445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NODE_ENTER 후 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120초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내 NODE_EXIT 없으면 파이프라인 강제 중단. Priority P30→P50→P85 핸들러 순서 보장.</a:t>
            </a: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600700" y="4561880"/>
            <a:ext cx="3086100" cy="426244"/>
          </a:xfrm>
          <a:prstGeom prst="roundRect">
            <a:avLst>
              <a:gd name="adj" fmla="val 119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5619750" y="4561880"/>
            <a:ext cx="0" cy="426244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64"/>
          <p:cNvSpPr/>
          <p:nvPr/>
        </p:nvSpPr>
        <p:spPr>
          <a:xfrm>
            <a:off x="5765750" y="4650730"/>
            <a:ext cx="284998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Observer 오버헤드 vs 확장성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단순 콜백보다 초기 등록 오버헤드가 있지만, 핸들러 간 에러 격리 덕분에 46이벤트가 독립적으로 확장된다.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457200" y="5013424"/>
            <a:ext cx="329795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core/hooks/ · 46 HookEvent enum members · 16 categories · 8 display groups · Priority-chain · StuckDetector 120s</a:t>
            </a:r>
            <a:endParaRPr lang="en-US" sz="500" dirty="0"/>
          </a:p>
        </p:txBody>
      </p:sp>
      <p:sp>
        <p:nvSpPr>
          <p:cNvPr id="68" name="Text 66"/>
          <p:cNvSpPr/>
          <p:nvPr/>
        </p:nvSpPr>
        <p:spPr>
          <a:xfrm>
            <a:off x="8492728" y="50134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35</a:t>
            </a:r>
            <a:endParaRPr lang="en-US" sz="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③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Sub-Agent: delegate_task → SubAgentManager → IsolatedRunner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87127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병렬 서브에이전트 결과 반환 시 부모 컨텍스트가 기하급수적으로 팽창하기 때문에 full inheritance + 4096 guard로 해결한다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04800" y="742652"/>
            <a:ext cx="1879550" cy="4194572"/>
          </a:xfrm>
          <a:prstGeom prst="roundRect">
            <a:avLst>
              <a:gd name="adj" fmla="val 4054"/>
            </a:avLst>
          </a:prstGeom>
          <a:solidFill>
            <a:srgbClr val="1E293B"/>
          </a:solidFill>
          <a:ln w="19050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2674" y="2198787"/>
            <a:ext cx="4838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1119" y="2370237"/>
            <a:ext cx="366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41350" y="2589312"/>
            <a:ext cx="406301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97018" y="2678162"/>
            <a:ext cx="6951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· MCP · skills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923586" y="2773412"/>
            <a:ext cx="6418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전체 보유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450800" y="2979688"/>
            <a:ext cx="1587550" cy="501402"/>
          </a:xfrm>
          <a:prstGeom prst="roundRect">
            <a:avLst>
              <a:gd name="adj" fmla="val 1013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38456" y="3068538"/>
            <a:ext cx="14122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위험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38456" y="3179564"/>
            <a:ext cx="141223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40K tokens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8456" y="3306514"/>
            <a:ext cx="14122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 없을 때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311301" y="1906042"/>
            <a:ext cx="850850" cy="1265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212902" y="1845766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11301" y="2077492"/>
            <a:ext cx="850850" cy="1265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212902" y="2017216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311301" y="2248942"/>
            <a:ext cx="850850" cy="12650"/>
          </a:xfrm>
          <a:prstGeom prst="rect">
            <a:avLst/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212902" y="2188666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1448" y="2423517"/>
            <a:ext cx="715607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80"/>
              </a:lnSpc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inheritance</a:t>
            </a:r>
            <a:endParaRPr lang="en-US" sz="600" dirty="0"/>
          </a:p>
          <a:p>
            <a:pPr marL="0" indent="0" algn="ctr">
              <a:lnSpc>
                <a:spcPts val="780"/>
              </a:lnSpc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위임이지 파견이 아니다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2311301" y="2748409"/>
            <a:ext cx="1015901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311301" y="2888010"/>
            <a:ext cx="1015901" cy="368201"/>
          </a:xfrm>
          <a:prstGeom prst="roundRect">
            <a:avLst>
              <a:gd name="adj" fmla="val 13797"/>
            </a:avLst>
          </a:prstGeom>
          <a:solidFill>
            <a:srgbClr val="1E1A00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401485" y="2973735"/>
            <a:ext cx="8355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4096 guard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401485" y="3084761"/>
            <a:ext cx="8355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 요약 압축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2311301" y="3357711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476351" y="3417987"/>
            <a:ext cx="850850" cy="126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311301" y="3529161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76351" y="3589437"/>
            <a:ext cx="850850" cy="126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2311301" y="3700611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76351" y="3760887"/>
            <a:ext cx="850850" cy="12650"/>
          </a:xfrm>
          <a:prstGeom prst="rect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454152" y="1957834"/>
            <a:ext cx="1744117" cy="615553"/>
          </a:xfrm>
          <a:prstGeom prst="roundRect">
            <a:avLst>
              <a:gd name="adj" fmla="val 8253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549957" y="2068860"/>
            <a:ext cx="155250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A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173736" y="2214860"/>
            <a:ext cx="3048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549957" y="2278261"/>
            <a:ext cx="15525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3549957" y="2376636"/>
            <a:ext cx="155250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능력 상속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5274469" y="1957834"/>
            <a:ext cx="1744266" cy="615553"/>
          </a:xfrm>
          <a:prstGeom prst="roundRect">
            <a:avLst>
              <a:gd name="adj" fmla="val 8253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5370272" y="2068860"/>
            <a:ext cx="15526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B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994202" y="2214860"/>
            <a:ext cx="3048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370272" y="2278261"/>
            <a:ext cx="15526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370272" y="2376636"/>
            <a:ext cx="15526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능력 상속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094934" y="1957834"/>
            <a:ext cx="1744266" cy="615553"/>
          </a:xfrm>
          <a:prstGeom prst="roundRect">
            <a:avLst>
              <a:gd name="adj" fmla="val 8253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190738" y="2068860"/>
            <a:ext cx="155265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C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7814667" y="2214860"/>
            <a:ext cx="3048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190738" y="2278261"/>
            <a:ext cx="15526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200K window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7190738" y="2376636"/>
            <a:ext cx="155265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부모 능력 상속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3454152" y="2636788"/>
            <a:ext cx="5385048" cy="485626"/>
          </a:xfrm>
          <a:prstGeom prst="roundRect">
            <a:avLst>
              <a:gd name="adj" fmla="val 10461"/>
            </a:avLst>
          </a:prstGeom>
          <a:solidFill>
            <a:srgbClr val="1E293B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3590627" y="2808089"/>
            <a:ext cx="648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55678" y="2776389"/>
            <a:ext cx="457949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Compressed Summary → Parent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755678" y="2896939"/>
            <a:ext cx="45794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원시 출력 대신 구조화 요약 반환 — 컨텍스트 폭발 방지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8343318" y="2747814"/>
            <a:ext cx="362965" cy="17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343318" y="2925663"/>
            <a:ext cx="36296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절감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3454152" y="3185815"/>
            <a:ext cx="1744117" cy="536228"/>
          </a:xfrm>
          <a:prstGeom prst="roundRect">
            <a:avLst>
              <a:gd name="adj" fmla="val 947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563012" y="3296841"/>
            <a:ext cx="1526396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3563012" y="3525292"/>
            <a:ext cx="15263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MAX_CONCURRENT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5274469" y="3185815"/>
            <a:ext cx="1744266" cy="536228"/>
          </a:xfrm>
          <a:prstGeom prst="roundRect">
            <a:avLst>
              <a:gd name="adj" fmla="val 947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5383328" y="3296841"/>
            <a:ext cx="1526548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5383328" y="3525292"/>
            <a:ext cx="15265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 3 유효 컨텍스트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7094934" y="3185815"/>
            <a:ext cx="1744266" cy="536228"/>
          </a:xfrm>
          <a:prstGeom prst="roundRect">
            <a:avLst>
              <a:gd name="adj" fmla="val 9474"/>
            </a:avLst>
          </a:prstGeom>
          <a:solidFill>
            <a:srgbClr val="161B22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7203793" y="3296841"/>
            <a:ext cx="1526548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250ms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203793" y="3525292"/>
            <a:ext cx="152654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CoalescingQueue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57200" y="4987975"/>
            <a:ext cx="3148885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SubAgentManager · IsolatedRunner · CoalescingQueue 250ms · MAX_CONCURRENT=5 · 4096 token guard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35</a:t>
            </a:r>
            <a:endParaRPr lang="en-US" sz="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④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Failover: 호출 실패 → CircuitBreaker → Cross-Provider Fallback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09451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Provider에 의존하면 Rate Limit·장애 시 파이프라인 전체가 중단되기 때문에 3-Provider 체인으로 단일 장애점을 제거한다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64977"/>
            <a:ext cx="1422499" cy="1479054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74502"/>
            <a:ext cx="1422499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84150" y="898327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84150" y="106337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Provider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584150" y="1225153"/>
            <a:ext cx="1168598" cy="263426"/>
          </a:xfrm>
          <a:prstGeom prst="roundRect">
            <a:avLst>
              <a:gd name="adj" fmla="val 144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651" y="1314004"/>
            <a:ext cx="9849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Opus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584150" y="1526679"/>
            <a:ext cx="1168598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95176" y="1625054"/>
            <a:ext cx="965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584150" y="1847255"/>
            <a:ext cx="1168598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95176" y="1945630"/>
            <a:ext cx="965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Haiku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031950" y="1385441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34034" y="1537841"/>
            <a:ext cx="994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285851" y="764977"/>
            <a:ext cx="1422648" cy="1479054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285851" y="774502"/>
            <a:ext cx="1422648" cy="0"/>
          </a:xfrm>
          <a:prstGeom prst="line">
            <a:avLst/>
          </a:prstGeom>
          <a:noFill/>
          <a:ln w="1905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2412802" y="898327"/>
            <a:ext cx="11921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412802" y="1063377"/>
            <a:ext cx="119212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Provider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2412802" y="1225153"/>
            <a:ext cx="1168747" cy="263426"/>
          </a:xfrm>
          <a:prstGeom prst="roundRect">
            <a:avLst>
              <a:gd name="adj" fmla="val 144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514302" y="1314004"/>
            <a:ext cx="9850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GPT-5.4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412802" y="1526679"/>
            <a:ext cx="1168747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523827" y="1625054"/>
            <a:ext cx="9656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GPT-5.3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412802" y="1847255"/>
            <a:ext cx="1168747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523827" y="1945630"/>
            <a:ext cx="9656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860750" y="1385441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862834" y="1537841"/>
            <a:ext cx="994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114651" y="764977"/>
            <a:ext cx="1422499" cy="1479054"/>
          </a:xfrm>
          <a:prstGeom prst="roundRect">
            <a:avLst>
              <a:gd name="adj" fmla="val 357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4114651" y="774502"/>
            <a:ext cx="1422499" cy="0"/>
          </a:xfrm>
          <a:prstGeom prst="line">
            <a:avLst/>
          </a:prstGeom>
          <a:noFill/>
          <a:ln w="1905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4241602" y="898327"/>
            <a:ext cx="1191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41602" y="1063377"/>
            <a:ext cx="11919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241602" y="1225153"/>
            <a:ext cx="1168598" cy="263426"/>
          </a:xfrm>
          <a:prstGeom prst="roundRect">
            <a:avLst>
              <a:gd name="adj" fmla="val 1446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343102" y="1314004"/>
            <a:ext cx="98490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 / 80K ctx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241602" y="1526679"/>
            <a:ext cx="1168598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4352627" y="1625054"/>
            <a:ext cx="965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 tier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241602" y="1847255"/>
            <a:ext cx="1168598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352627" y="1945630"/>
            <a:ext cx="9654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최후 보루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457200" y="2320230"/>
            <a:ext cx="5079950" cy="2607469"/>
          </a:xfrm>
          <a:prstGeom prst="roundRect">
            <a:avLst>
              <a:gd name="adj" fmla="val 1948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06326" y="2431256"/>
            <a:ext cx="487733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Circuit Breaker 상태 머신 (Provider별 독립)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6326" y="2631281"/>
            <a:ext cx="935534" cy="511076"/>
          </a:xfrm>
          <a:prstGeom prst="roundRect">
            <a:avLst>
              <a:gd name="adj" fmla="val 9940"/>
            </a:avLst>
          </a:prstGeom>
          <a:solidFill>
            <a:srgbClr val="0D2A0D"/>
          </a:solidFill>
          <a:ln w="19050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19932" y="2764631"/>
            <a:ext cx="708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9932" y="2923282"/>
            <a:ext cx="708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처리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1676698" y="2774156"/>
            <a:ext cx="2031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fails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1618059" y="2932807"/>
            <a:ext cx="203150" cy="19050"/>
          </a:xfrm>
          <a:prstGeom prst="rect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1821210" y="2885182"/>
            <a:ext cx="1155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010668" y="2631281"/>
            <a:ext cx="935682" cy="511076"/>
          </a:xfrm>
          <a:prstGeom prst="roundRect">
            <a:avLst>
              <a:gd name="adj" fmla="val 9940"/>
            </a:avLst>
          </a:prstGeom>
          <a:solidFill>
            <a:srgbClr val="1A0A0A"/>
          </a:solidFill>
          <a:ln w="19050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2124273" y="2764631"/>
            <a:ext cx="7084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2124273" y="2923282"/>
            <a:ext cx="7084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차단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3075682" y="2774156"/>
            <a:ext cx="2141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60s 후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022550" y="2932807"/>
            <a:ext cx="203150" cy="19050"/>
          </a:xfrm>
          <a:prstGeom prst="rect">
            <a:avLst/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225701" y="2885182"/>
            <a:ext cx="1155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415159" y="2631281"/>
            <a:ext cx="935534" cy="511076"/>
          </a:xfrm>
          <a:prstGeom prst="roundRect">
            <a:avLst>
              <a:gd name="adj" fmla="val 9940"/>
            </a:avLst>
          </a:prstGeom>
          <a:solidFill>
            <a:srgbClr val="1A1500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3528765" y="2764631"/>
            <a:ext cx="70832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HALF-OPEN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528765" y="2923282"/>
            <a:ext cx="708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 1회</a:t>
            </a:r>
            <a:endParaRPr lang="en-US" sz="600" dirty="0"/>
          </a:p>
        </p:txBody>
      </p:sp>
      <p:sp>
        <p:nvSpPr>
          <p:cNvPr id="57" name="Text 55"/>
          <p:cNvSpPr/>
          <p:nvPr/>
        </p:nvSpPr>
        <p:spPr>
          <a:xfrm>
            <a:off x="4426893" y="2774156"/>
            <a:ext cx="33275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probe OK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4431804" y="2932807"/>
            <a:ext cx="203150" cy="19050"/>
          </a:xfrm>
          <a:prstGeom prst="rect">
            <a:avLst/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634954" y="2885182"/>
            <a:ext cx="1155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829324" y="2678906"/>
            <a:ext cx="558701" cy="415677"/>
          </a:xfrm>
          <a:prstGeom prst="roundRect">
            <a:avLst>
              <a:gd name="adj" fmla="val 12221"/>
            </a:avLst>
          </a:prstGeom>
          <a:solidFill>
            <a:srgbClr val="0D1A0D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9"/>
          <p:cNvSpPr/>
          <p:nvPr/>
        </p:nvSpPr>
        <p:spPr>
          <a:xfrm>
            <a:off x="4898121" y="2789932"/>
            <a:ext cx="42110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4898121" y="2897832"/>
            <a:ext cx="42110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복구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606326" y="3218557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Retryable: Timeout · RateLimit · Connection → Exponential Backoff ±25% Jitter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606326" y="3380482"/>
            <a:ext cx="487733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Non-Retryable: 잔액 부족 → 즉시 다음 Provider 에스컬레이션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651450" y="764977"/>
            <a:ext cx="3035350" cy="1000571"/>
          </a:xfrm>
          <a:prstGeom prst="roundRect">
            <a:avLst>
              <a:gd name="adj" fmla="val 507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800576" y="876002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Port/Adapter 추상화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5800576" y="1050578"/>
            <a:ext cx="2791840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3개 Provider를 Port/Adapter DI로 추상화했기 때문에 Failover 시에도 메모리가 모델에 종속되지 않는다. 세션 학습이 Provider 전환 후에도 유지된다.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800576" y="1362521"/>
            <a:ext cx="2737098" cy="292001"/>
          </a:xfrm>
          <a:prstGeom prst="roundRect">
            <a:avLst>
              <a:gd name="adj" fmla="val 1304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7"/>
          <p:cNvSpPr/>
          <p:nvPr/>
        </p:nvSpPr>
        <p:spPr>
          <a:xfrm>
            <a:off x="5914876" y="1465659"/>
            <a:ext cx="6064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LLMClientPort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6585645" y="1451372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763494" y="1465659"/>
            <a:ext cx="13059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 · OpenAI · ZhipuAI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5651450" y="1841748"/>
            <a:ext cx="3035350" cy="769441"/>
          </a:xfrm>
          <a:prstGeom prst="roundRect">
            <a:avLst>
              <a:gd name="adj" fmla="val 6602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1"/>
          <p:cNvSpPr/>
          <p:nvPr/>
        </p:nvSpPr>
        <p:spPr>
          <a:xfrm>
            <a:off x="5800576" y="1952774"/>
            <a:ext cx="279184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ZhipuAI 선택 근거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800576" y="2127349"/>
            <a:ext cx="279184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80K context + 무료 tier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Anthropic·OpenAI 양쪽 장애 시에도 비용 없이 운영 연속성을 보장한다. GLM-5 성능이 GPT-4 수준이라 응급 처리에 충분하다.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5651450" y="2687389"/>
            <a:ext cx="3035350" cy="1040755"/>
          </a:xfrm>
          <a:prstGeom prst="roundRect">
            <a:avLst>
              <a:gd name="adj" fmla="val 488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6" name="Shape 74"/>
          <p:cNvSpPr/>
          <p:nvPr/>
        </p:nvSpPr>
        <p:spPr>
          <a:xfrm>
            <a:off x="5670500" y="2687389"/>
            <a:ext cx="0" cy="1040755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5816501" y="2788890"/>
            <a:ext cx="279821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3-Provider 유지 비용 vs 단일 장애점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5816501" y="2918966"/>
            <a:ext cx="2798216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어댑터 3개 유지 비용이 있지만, 단일 Provider 장애로 파이프라인 전체가 중단되는 비용이 훨씬 크다.</a:t>
            </a:r>
            <a:endParaRPr lang="en-US" sz="700" dirty="0"/>
          </a:p>
        </p:txBody>
      </p:sp>
      <p:sp>
        <p:nvSpPr>
          <p:cNvPr id="79" name="Text 77"/>
          <p:cNvSpPr/>
          <p:nvPr/>
        </p:nvSpPr>
        <p:spPr>
          <a:xfrm>
            <a:off x="6873767" y="3286869"/>
            <a:ext cx="319701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80" name="Text 78"/>
          <p:cNvSpPr/>
          <p:nvPr/>
        </p:nvSpPr>
        <p:spPr>
          <a:xfrm>
            <a:off x="6873767" y="3540919"/>
            <a:ext cx="31970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600" dirty="0"/>
          </a:p>
        </p:txBody>
      </p:sp>
      <p:sp>
        <p:nvSpPr>
          <p:cNvPr id="81" name="Text 79"/>
          <p:cNvSpPr/>
          <p:nvPr/>
        </p:nvSpPr>
        <p:spPr>
          <a:xfrm>
            <a:off x="7289759" y="3286869"/>
            <a:ext cx="211616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82" name="Text 80"/>
          <p:cNvSpPr/>
          <p:nvPr/>
        </p:nvSpPr>
        <p:spPr>
          <a:xfrm>
            <a:off x="7289759" y="3540919"/>
            <a:ext cx="21161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SPOF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457200" y="4978450"/>
            <a:ext cx="343321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Anthropic(Opus·Sonnet·Haiku) · OpenAI(GPT-5.4·5.3·4o) · ZhipuAI(GLM-5 80K) · Provider별 독립 CircuitBreaker 3-state</a:t>
            </a:r>
            <a:endParaRPr lang="en-US" sz="500" dirty="0"/>
          </a:p>
        </p:txBody>
      </p:sp>
      <p:sp>
        <p:nvSpPr>
          <p:cNvPr id="84" name="Text 82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35</a:t>
            </a:r>
            <a:endParaRPr lang="en-US" sz="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Compression: 80% WARNING → 95% CRITICAL → 3-Phase 압축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6652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윈도우가 넘치면 루프가 강제 종료되기 때문에 Lossless Selection을 도입해 정보 손실 없이 비용을 0.03%로 절감한다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52177"/>
            <a:ext cx="914400" cy="109879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3013" y="1052364"/>
            <a:ext cx="3427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670755" y="1147614"/>
            <a:ext cx="4871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4650" y="1300014"/>
            <a:ext cx="28508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7984" y="1465064"/>
            <a:ext cx="3728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1473101" y="752177"/>
            <a:ext cx="6223248" cy="1098798"/>
          </a:xfrm>
          <a:prstGeom prst="roundRect">
            <a:avLst>
              <a:gd name="adj" fmla="val 46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1473101" y="756940"/>
            <a:ext cx="6223248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7691586" y="752177"/>
            <a:ext cx="0" cy="1098798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1473101" y="1846213"/>
            <a:ext cx="6223248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1492151" y="752177"/>
            <a:ext cx="0" cy="1098798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1638151" y="1225451"/>
            <a:ext cx="604015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사용률 상시 추적. </a:t>
            </a:r>
            <a:r>
              <a:rPr lang="en-US" sz="7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도달 시  이벤트 발화 — 루프는 계속 진행하되 compact 준비 신호를 핸들러에 전달한다.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7797850" y="752177"/>
            <a:ext cx="888950" cy="1098798"/>
          </a:xfrm>
          <a:prstGeom prst="roundRect">
            <a:avLst>
              <a:gd name="adj" fmla="val 571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73747" y="1136452"/>
            <a:ext cx="33700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0-79%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096973" y="1295102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 운영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8074201" y="1380827"/>
            <a:ext cx="33624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모니터링만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914400" y="1876276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2015877"/>
            <a:ext cx="914400" cy="1648123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3013" y="2552551"/>
            <a:ext cx="3427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72575" y="2647801"/>
            <a:ext cx="4836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5574" y="2743051"/>
            <a:ext cx="35765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16310" y="2876401"/>
            <a:ext cx="403952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9123" y="3041452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압축 비용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473101" y="2015877"/>
            <a:ext cx="6223248" cy="1648123"/>
          </a:xfrm>
          <a:prstGeom prst="roundRect">
            <a:avLst>
              <a:gd name="adj" fmla="val 308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1473101" y="2020639"/>
            <a:ext cx="6223248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7691586" y="2015877"/>
            <a:ext cx="0" cy="1648123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1473101" y="3659237"/>
            <a:ext cx="6223248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1492151" y="2015877"/>
            <a:ext cx="0" cy="1648123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1638151" y="2555528"/>
            <a:ext cx="604015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 대신 LLM이 코드로 관련 청크만 선별. 요약이 아니라 </a:t>
            </a: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이기 때문에 정보 손실 0%, LLM 호출 비용 </a:t>
            </a: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0.03%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절감.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638151" y="2749153"/>
            <a:ext cx="2929086" cy="375047"/>
          </a:xfrm>
          <a:prstGeom prst="roundRect">
            <a:avLst>
              <a:gd name="adj" fmla="val 101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647676" y="2749153"/>
            <a:ext cx="0" cy="375047"/>
          </a:xfrm>
          <a:prstGeom prst="line">
            <a:avLst/>
          </a:prstGeom>
          <a:noFill/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4"/>
          <p:cNvSpPr/>
          <p:nvPr/>
        </p:nvSpPr>
        <p:spPr>
          <a:xfrm>
            <a:off x="1758702" y="2838004"/>
            <a:ext cx="27611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Lossy 요약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1758702" y="2936379"/>
            <a:ext cx="2761175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쉽지만 정보 소실 불가피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4630638" y="2749153"/>
            <a:ext cx="2929235" cy="375047"/>
          </a:xfrm>
          <a:prstGeom prst="roundRect">
            <a:avLst>
              <a:gd name="adj" fmla="val 101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40163" y="2749153"/>
            <a:ext cx="0" cy="375047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4751189" y="2838004"/>
            <a:ext cx="27613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Lossless Selection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4751189" y="2936379"/>
            <a:ext cx="2761327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청크만 선별, 내용 100% 유지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7797850" y="2015877"/>
            <a:ext cx="888950" cy="1648123"/>
          </a:xfrm>
          <a:prstGeom prst="roundRect">
            <a:avLst>
              <a:gd name="adj" fmla="val 5715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8038951" y="2633514"/>
            <a:ext cx="414882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107751" y="2874764"/>
            <a:ext cx="2689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endParaRPr lang="en-US" sz="600" dirty="0"/>
          </a:p>
        </p:txBody>
      </p:sp>
      <p:sp>
        <p:nvSpPr>
          <p:cNvPr id="45" name="Text 43"/>
          <p:cNvSpPr/>
          <p:nvPr/>
        </p:nvSpPr>
        <p:spPr>
          <a:xfrm>
            <a:off x="8049458" y="2960489"/>
            <a:ext cx="38558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절감 (깊이3)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914400" y="3689300"/>
            <a:ext cx="5191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57200" y="3828901"/>
            <a:ext cx="914400" cy="1098798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43013" y="4090987"/>
            <a:ext cx="3427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22177" y="4186238"/>
            <a:ext cx="584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EMERGENCY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55614" y="4281488"/>
            <a:ext cx="31742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774650" y="4414838"/>
            <a:ext cx="285089" cy="1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0"/>
              </a:lnSpc>
              <a:spcBef>
                <a:spcPts val="300"/>
              </a:spcBef>
              <a:buNone/>
            </a:pPr>
            <a:r>
              <a:rPr lang="en-US" sz="11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37245" y="4579888"/>
            <a:ext cx="35416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1473101" y="3828901"/>
            <a:ext cx="6223248" cy="1098798"/>
          </a:xfrm>
          <a:prstGeom prst="roundRect">
            <a:avLst>
              <a:gd name="adj" fmla="val 462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Shape 52"/>
          <p:cNvSpPr/>
          <p:nvPr/>
        </p:nvSpPr>
        <p:spPr>
          <a:xfrm>
            <a:off x="1473101" y="3833664"/>
            <a:ext cx="6223248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53"/>
          <p:cNvSpPr/>
          <p:nvPr/>
        </p:nvSpPr>
        <p:spPr>
          <a:xfrm>
            <a:off x="7691586" y="3828901"/>
            <a:ext cx="0" cy="1098798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Shape 54"/>
          <p:cNvSpPr/>
          <p:nvPr/>
        </p:nvSpPr>
        <p:spPr>
          <a:xfrm>
            <a:off x="1473101" y="4922937"/>
            <a:ext cx="6223248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55"/>
          <p:cNvSpPr/>
          <p:nvPr/>
        </p:nvSpPr>
        <p:spPr>
          <a:xfrm>
            <a:off x="1492151" y="3828901"/>
            <a:ext cx="0" cy="1098798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1638151" y="4302175"/>
            <a:ext cx="6040157" cy="152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초과 시  이벤트 발생 — 강제 pruning 발동. 최초 사용자 메시지 보존 + bridge 메시지 삽입 후 루프 재개.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797850" y="3828901"/>
            <a:ext cx="888950" cy="1098798"/>
          </a:xfrm>
          <a:prstGeom prst="roundRect">
            <a:avLst>
              <a:gd name="adj" fmla="val 5715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8102894" y="4211389"/>
            <a:ext cx="278713" cy="137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600K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075416" y="4373761"/>
            <a:ext cx="3338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깊이3 유효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8107751" y="4459486"/>
            <a:ext cx="26899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endParaRPr lang="en-US" sz="600" dirty="0"/>
          </a:p>
        </p:txBody>
      </p:sp>
      <p:sp>
        <p:nvSpPr>
          <p:cNvPr id="63" name="Text 61"/>
          <p:cNvSpPr/>
          <p:nvPr/>
        </p:nvSpPr>
        <p:spPr>
          <a:xfrm>
            <a:off x="457200" y="4978450"/>
            <a:ext cx="323753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CONTEXT_WARNING 80% · CONTEXT_CRITICAL 95% · Lossless Selection · Emergency Prune · bridge 메시지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35</a:t>
            </a:r>
            <a:endParaRPr lang="en-US" sz="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3401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93464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⑥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9202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+ Auto-Learning: 턴 종료 → TURN_COMPLETE hook → MEMORY.md 자동 학습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33102"/>
            <a:ext cx="839419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이벤트가 MEMORY.md에 인사이트를 자동 축적하고, 다음 세션 PromptAssembler P4가 주입한다</a:t>
            </a:r>
            <a:endParaRPr lang="en-US" sz="600" dirty="0"/>
          </a:p>
        </p:txBody>
      </p:sp>
      <p:sp>
        <p:nvSpPr>
          <p:cNvPr id="6" name="Text 4"/>
          <p:cNvSpPr/>
          <p:nvPr/>
        </p:nvSpPr>
        <p:spPr>
          <a:xfrm>
            <a:off x="457200" y="644128"/>
            <a:ext cx="5029200" cy="1371600"/>
          </a:xfrm>
          <a:prstGeom prst="roundRect">
            <a:avLst>
              <a:gd name="adj" fmla="val 370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767953"/>
            <a:ext cx="48255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AUTO-LEARNING FEEDBACK LOOP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958453"/>
            <a:ext cx="1458367" cy="425202"/>
          </a:xfrm>
          <a:prstGeom prst="roundRect">
            <a:avLst>
              <a:gd name="adj" fmla="val 1194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18044" y="1069479"/>
            <a:ext cx="12349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턴 실행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18044" y="1186904"/>
            <a:ext cx="12349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1 turn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2102793" y="1113830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242542" y="963216"/>
            <a:ext cx="1458516" cy="415677"/>
          </a:xfrm>
          <a:prstGeom prst="roundRect">
            <a:avLst>
              <a:gd name="adj" fmla="val 12221"/>
            </a:avLst>
          </a:prstGeom>
          <a:solidFill>
            <a:srgbClr val="1E293B"/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354259" y="1074241"/>
            <a:ext cx="12350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354259" y="1182142"/>
            <a:ext cx="12350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이벤트 발화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3739158" y="1113830"/>
            <a:ext cx="1036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78907" y="963216"/>
            <a:ext cx="1458367" cy="415677"/>
          </a:xfrm>
          <a:prstGeom prst="roundRect">
            <a:avLst>
              <a:gd name="adj" fmla="val 12221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990625" y="1074241"/>
            <a:ext cx="1234931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990625" y="1182142"/>
            <a:ext cx="12349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인사이트 자동 축적</a:t>
            </a:r>
            <a:endParaRPr lang="en-US" sz="600" dirty="0"/>
          </a:p>
        </p:txBody>
      </p:sp>
      <p:sp>
        <p:nvSpPr>
          <p:cNvPr id="19" name="Text 17"/>
          <p:cNvSpPr/>
          <p:nvPr/>
        </p:nvSpPr>
        <p:spPr>
          <a:xfrm>
            <a:off x="1932831" y="1421755"/>
            <a:ext cx="21194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→ memory write-back → 다음 세션 Tier 3 주입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606326" y="1545580"/>
            <a:ext cx="4730948" cy="346323"/>
          </a:xfrm>
          <a:prstGeom prst="roundRect">
            <a:avLst>
              <a:gd name="adj" fmla="val 14668"/>
            </a:avLst>
          </a:prstGeom>
          <a:solidFill>
            <a:srgbClr val="0D1117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98221" y="1656606"/>
            <a:ext cx="454715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세션 시작 시 PromptAssembler P4 (memory 페이즈)가 MEMORY.md 인사이트를 프롬프트에 자동 주입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2091928"/>
            <a:ext cx="5029200" cy="2921496"/>
          </a:xfrm>
          <a:prstGeom prst="roundRect">
            <a:avLst>
              <a:gd name="adj" fmla="val 17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06326" y="2202954"/>
            <a:ext cx="48255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MEMORY 계층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06326" y="2415629"/>
            <a:ext cx="1154162" cy="2486769"/>
          </a:xfrm>
          <a:prstGeom prst="roundRect">
            <a:avLst>
              <a:gd name="adj" fmla="val 4401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30151" y="2526655"/>
            <a:ext cx="924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4: Organization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30151" y="2647206"/>
            <a:ext cx="924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불변 가이드라인 · CLAUDE.md · 전역 정책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1798588" y="2415629"/>
            <a:ext cx="1154162" cy="2486769"/>
          </a:xfrm>
          <a:prstGeom prst="roundRect">
            <a:avLst>
              <a:gd name="adj" fmla="val 4401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922413" y="2526655"/>
            <a:ext cx="924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Project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922413" y="2647206"/>
            <a:ext cx="92464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인사이트 · LEARNINGS.md 자동 업데이트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2990850" y="2415629"/>
            <a:ext cx="1154162" cy="2486769"/>
          </a:xfrm>
          <a:prstGeom prst="roundRect">
            <a:avLst>
              <a:gd name="adj" fmla="val 4401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114675" y="2526655"/>
            <a:ext cx="924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Session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3114675" y="2647206"/>
            <a:ext cx="924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단기 메모리 · 200 turns sliding window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4183112" y="2415629"/>
            <a:ext cx="1154162" cy="2486769"/>
          </a:xfrm>
          <a:prstGeom prst="roundRect">
            <a:avLst>
              <a:gd name="adj" fmla="val 4401"/>
            </a:avLst>
          </a:prstGeom>
          <a:solidFill>
            <a:srgbClr val="1E293B"/>
          </a:solidFill>
          <a:ln w="9525">
            <a:solidFill>
              <a:srgbClr val="F9731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306937" y="2526655"/>
            <a:ext cx="924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Hybrid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306937" y="2647206"/>
            <a:ext cx="92464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L1 고속 캐시 + File L2 영속 저장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575250" y="644128"/>
            <a:ext cx="3111550" cy="1783259"/>
          </a:xfrm>
          <a:prstGeom prst="roundRect">
            <a:avLst>
              <a:gd name="adj" fmla="val 284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724376" y="767953"/>
            <a:ext cx="28695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Write-back 메커니즘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24376" y="955179"/>
            <a:ext cx="2813298" cy="409277"/>
          </a:xfrm>
          <a:prstGeom prst="roundRect">
            <a:avLst>
              <a:gd name="adj" fmla="val 12412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5743426" y="955179"/>
            <a:ext cx="0" cy="409277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8"/>
          <p:cNvSpPr/>
          <p:nvPr/>
        </p:nvSpPr>
        <p:spPr>
          <a:xfrm>
            <a:off x="5876776" y="1056680"/>
            <a:ext cx="25975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 hook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5876776" y="1177230"/>
            <a:ext cx="25975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파이프라인 종료 시 L2 React 핸들러 자동 실행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724376" y="1415207"/>
            <a:ext cx="2813298" cy="418802"/>
          </a:xfrm>
          <a:prstGeom prst="roundRect">
            <a:avLst>
              <a:gd name="adj" fmla="val 121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5743426" y="1415207"/>
            <a:ext cx="0" cy="418802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5876776" y="1516707"/>
            <a:ext cx="25975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추출 + 요약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876776" y="1646783"/>
            <a:ext cx="25975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인사이트·패턴·결정 이유를 구조화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5724376" y="1884759"/>
            <a:ext cx="2813298" cy="418802"/>
          </a:xfrm>
          <a:prstGeom prst="roundRect">
            <a:avLst>
              <a:gd name="adj" fmla="val 12130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5743426" y="1884759"/>
            <a:ext cx="0" cy="418802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6"/>
          <p:cNvSpPr/>
          <p:nvPr/>
        </p:nvSpPr>
        <p:spPr>
          <a:xfrm>
            <a:off x="5876776" y="1986260"/>
            <a:ext cx="25975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MEMORY.md 누적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876776" y="2116336"/>
            <a:ext cx="259753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Project 메모리에 append, 세션 간 지속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5575250" y="2503587"/>
            <a:ext cx="3111550" cy="1057721"/>
          </a:xfrm>
          <a:prstGeom prst="roundRect">
            <a:avLst>
              <a:gd name="adj" fmla="val 4803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5724376" y="2614613"/>
            <a:ext cx="28695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4-Tier인가?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724376" y="2789188"/>
            <a:ext cx="286956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Aft>
                <a:spcPts val="4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메모리면 프로젝트 간 격리가 안 되고, 세션 메모리만으로는 인사이트가 휘발된다. 4-Tier로 범위별 TTL과 접근 권한을 분리한다.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724376" y="3088481"/>
            <a:ext cx="665262" cy="361801"/>
          </a:xfrm>
          <a:prstGeom prst="roundRect">
            <a:avLst>
              <a:gd name="adj" fmla="val 105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5808351" y="3177332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 영구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5808351" y="3275707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정책 불변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440388" y="3088481"/>
            <a:ext cx="665262" cy="361801"/>
          </a:xfrm>
          <a:prstGeom prst="roundRect">
            <a:avLst>
              <a:gd name="adj" fmla="val 105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6524363" y="3177332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장기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6524363" y="3275707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간 누적</a:t>
            </a:r>
            <a:endParaRPr lang="en-US" sz="600" dirty="0"/>
          </a:p>
        </p:txBody>
      </p:sp>
      <p:sp>
        <p:nvSpPr>
          <p:cNvPr id="59" name="Text 57"/>
          <p:cNvSpPr/>
          <p:nvPr/>
        </p:nvSpPr>
        <p:spPr>
          <a:xfrm>
            <a:off x="7156400" y="3088481"/>
            <a:ext cx="665262" cy="361801"/>
          </a:xfrm>
          <a:prstGeom prst="roundRect">
            <a:avLst>
              <a:gd name="adj" fmla="val 105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7240375" y="3177332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 TTL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7240375" y="3275707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 단위</a:t>
            </a:r>
            <a:endParaRPr lang="en-US" sz="600" dirty="0"/>
          </a:p>
        </p:txBody>
      </p:sp>
      <p:sp>
        <p:nvSpPr>
          <p:cNvPr id="62" name="Text 60"/>
          <p:cNvSpPr/>
          <p:nvPr/>
        </p:nvSpPr>
        <p:spPr>
          <a:xfrm>
            <a:off x="7872413" y="3088481"/>
            <a:ext cx="665262" cy="361801"/>
          </a:xfrm>
          <a:prstGeom prst="roundRect">
            <a:avLst>
              <a:gd name="adj" fmla="val 10531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7956387" y="3177332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 고속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956387" y="3275707"/>
            <a:ext cx="49731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캐시</a:t>
            </a:r>
            <a:endParaRPr lang="en-US" sz="600" dirty="0"/>
          </a:p>
        </p:txBody>
      </p:sp>
      <p:sp>
        <p:nvSpPr>
          <p:cNvPr id="65" name="Text 63"/>
          <p:cNvSpPr/>
          <p:nvPr/>
        </p:nvSpPr>
        <p:spPr>
          <a:xfrm>
            <a:off x="5575250" y="3637508"/>
            <a:ext cx="3111550" cy="712440"/>
          </a:xfrm>
          <a:prstGeom prst="roundRect">
            <a:avLst>
              <a:gd name="adj" fmla="val 713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4"/>
          <p:cNvSpPr/>
          <p:nvPr/>
        </p:nvSpPr>
        <p:spPr>
          <a:xfrm>
            <a:off x="5724376" y="3735884"/>
            <a:ext cx="286956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Failover 후에도 메모리 유지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724376" y="3878759"/>
            <a:ext cx="2869564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 Failover 시 메모리가 함께 사라지는 버그를 막기 위해 4-Tier 메모리를 LLMClientPort 추상화 위에 배치한다. Provider 전환 후에도 세션 학습이 유지된다.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5575250" y="4426148"/>
            <a:ext cx="3111550" cy="707380"/>
          </a:xfrm>
          <a:prstGeom prst="roundRect">
            <a:avLst>
              <a:gd name="adj" fmla="val 718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Shape 67"/>
          <p:cNvSpPr/>
          <p:nvPr/>
        </p:nvSpPr>
        <p:spPr>
          <a:xfrm>
            <a:off x="5594300" y="4426148"/>
            <a:ext cx="0" cy="70738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68"/>
          <p:cNvSpPr/>
          <p:nvPr/>
        </p:nvSpPr>
        <p:spPr>
          <a:xfrm>
            <a:off x="5740301" y="4514999"/>
            <a:ext cx="287594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자동 학습 오버헤드 vs 지식 휘발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5740301" y="4645075"/>
            <a:ext cx="2875940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PIPELINE_END마다 LLM 호출이 추가되지만, 세션마다 인사이트가 휘발되는 비용이 더 크다. write-back 덕분에 동일 분석 영역에서 세션이 누적될수록 품질이 개선된다.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457200" y="5026075"/>
            <a:ext cx="377265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TURN_COMPLETE · PIPELINE_END hook · 4-Tier: Session→Project→Org→Hybrid · Redis L1 + File L2 · MEMORY.md write-back</a:t>
            </a:r>
            <a:endParaRPr lang="en-US" sz="500" dirty="0"/>
          </a:p>
        </p:txBody>
      </p:sp>
      <p:sp>
        <p:nvSpPr>
          <p:cNvPr id="73" name="Text 71"/>
          <p:cNvSpPr/>
          <p:nvPr/>
        </p:nvSpPr>
        <p:spPr>
          <a:xfrm>
            <a:off x="8492728" y="50260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35</a:t>
            </a:r>
            <a:endParaRPr lang="en-US" sz="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⑦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427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PromptAssembler: 다음 턴 준비 → 6-Phase 동적 조립 → SHA-256 추적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96652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편집은 노드 간 프롬프트 불일치와 비용 낭비를 유발하므로, 6-Phase 조립으로 2회차부터 입력 비용을 90% 절감한다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52177"/>
            <a:ext cx="1209675" cy="632073"/>
          </a:xfrm>
          <a:prstGeom prst="roundRect">
            <a:avLst>
              <a:gd name="adj" fmla="val 8037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71227"/>
            <a:ext cx="1209675" cy="0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166211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457200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46196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568226" y="891778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8226" y="1031379"/>
            <a:ext cx="1007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568226" y="1164729"/>
            <a:ext cx="100737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기반 기본 구조 로드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1666875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04975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57375" y="752177"/>
            <a:ext cx="1209675" cy="63207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1857375" y="771227"/>
            <a:ext cx="1209675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3062288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1857375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Shape 18"/>
          <p:cNvSpPr/>
          <p:nvPr/>
        </p:nvSpPr>
        <p:spPr>
          <a:xfrm>
            <a:off x="1862138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1968401" y="891778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68401" y="1031379"/>
            <a:ext cx="1007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override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1968401" y="1164729"/>
            <a:ext cx="100737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프로젝트별 파라미터 덮어쓰기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067050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105150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57550" y="752177"/>
            <a:ext cx="1209675" cy="63207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257550" y="771227"/>
            <a:ext cx="1209675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446246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3257550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326231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3368576" y="891778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68576" y="1031379"/>
            <a:ext cx="1007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3368576" y="1164729"/>
            <a:ext cx="100737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21개 Scaffold Skill 동적 주입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4467225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05325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57725" y="752177"/>
            <a:ext cx="1209675" cy="63207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4657725" y="771227"/>
            <a:ext cx="1209675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6"/>
          <p:cNvSpPr/>
          <p:nvPr/>
        </p:nvSpPr>
        <p:spPr>
          <a:xfrm>
            <a:off x="5862638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4657725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4662488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4768751" y="891778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68751" y="1031379"/>
            <a:ext cx="1007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768751" y="1164729"/>
            <a:ext cx="100737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4-Tier 메모리 인사이트 주입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5867400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5905500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057900" y="752177"/>
            <a:ext cx="1209675" cy="632073"/>
          </a:xfrm>
          <a:prstGeom prst="rect">
            <a:avLst/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Shape 45"/>
          <p:cNvSpPr/>
          <p:nvPr/>
        </p:nvSpPr>
        <p:spPr>
          <a:xfrm>
            <a:off x="6057900" y="771227"/>
            <a:ext cx="1209675" cy="0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Shape 46"/>
          <p:cNvSpPr/>
          <p:nvPr/>
        </p:nvSpPr>
        <p:spPr>
          <a:xfrm>
            <a:off x="726281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Shape 47"/>
          <p:cNvSpPr/>
          <p:nvPr/>
        </p:nvSpPr>
        <p:spPr>
          <a:xfrm>
            <a:off x="6057900" y="1379488"/>
            <a:ext cx="1209675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8"/>
          <p:cNvSpPr/>
          <p:nvPr/>
        </p:nvSpPr>
        <p:spPr>
          <a:xfrm>
            <a:off x="6062663" y="752177"/>
            <a:ext cx="0" cy="632073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9"/>
          <p:cNvSpPr/>
          <p:nvPr/>
        </p:nvSpPr>
        <p:spPr>
          <a:xfrm>
            <a:off x="6168926" y="891778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168926" y="1031379"/>
            <a:ext cx="1007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168926" y="1164729"/>
            <a:ext cx="100737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window 초기화 bridge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7267575" y="752177"/>
            <a:ext cx="190500" cy="632073"/>
          </a:xfrm>
          <a:prstGeom prst="rect">
            <a:avLst/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7305675" y="1001464"/>
            <a:ext cx="1165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7458075" y="752177"/>
            <a:ext cx="1228725" cy="632073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7458075" y="771227"/>
            <a:ext cx="1228725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56"/>
          <p:cNvSpPr/>
          <p:nvPr/>
        </p:nvSpPr>
        <p:spPr>
          <a:xfrm>
            <a:off x="8677275" y="752177"/>
            <a:ext cx="0" cy="632073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Shape 57"/>
          <p:cNvSpPr/>
          <p:nvPr/>
        </p:nvSpPr>
        <p:spPr>
          <a:xfrm>
            <a:off x="7458075" y="1374725"/>
            <a:ext cx="1228725" cy="0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Shape 58"/>
          <p:cNvSpPr/>
          <p:nvPr/>
        </p:nvSpPr>
        <p:spPr>
          <a:xfrm>
            <a:off x="7467600" y="752177"/>
            <a:ext cx="0" cy="632073"/>
          </a:xfrm>
          <a:prstGeom prst="line">
            <a:avLst/>
          </a:prstGeom>
          <a:noFill/>
          <a:ln w="1905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9"/>
          <p:cNvSpPr/>
          <p:nvPr/>
        </p:nvSpPr>
        <p:spPr>
          <a:xfrm>
            <a:off x="7578626" y="891778"/>
            <a:ext cx="100737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P6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7578626" y="1031379"/>
            <a:ext cx="100737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5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assemble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7578626" y="1164729"/>
            <a:ext cx="1007376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메시지 배열 출력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457200" y="1460450"/>
            <a:ext cx="3479750" cy="920502"/>
          </a:xfrm>
          <a:prstGeom prst="roundRect">
            <a:avLst>
              <a:gd name="adj" fmla="val 5519"/>
            </a:avLst>
          </a:prstGeom>
          <a:solidFill>
            <a:srgbClr val="1E0A0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Shape 63"/>
          <p:cNvSpPr/>
          <p:nvPr/>
        </p:nvSpPr>
        <p:spPr>
          <a:xfrm>
            <a:off x="457200" y="1465213"/>
            <a:ext cx="34797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64"/>
          <p:cNvSpPr/>
          <p:nvPr/>
        </p:nvSpPr>
        <p:spPr>
          <a:xfrm>
            <a:off x="3932188" y="1460450"/>
            <a:ext cx="0" cy="920502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7" name="Shape 65"/>
          <p:cNvSpPr/>
          <p:nvPr/>
        </p:nvSpPr>
        <p:spPr>
          <a:xfrm>
            <a:off x="457200" y="2376190"/>
            <a:ext cx="3479750" cy="0"/>
          </a:xfrm>
          <a:prstGeom prst="line">
            <a:avLst/>
          </a:prstGeom>
          <a:noFill/>
          <a:ln w="9525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66"/>
          <p:cNvSpPr/>
          <p:nvPr/>
        </p:nvSpPr>
        <p:spPr>
          <a:xfrm>
            <a:off x="476250" y="1460450"/>
            <a:ext cx="0" cy="920502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Text 67"/>
          <p:cNvSpPr/>
          <p:nvPr/>
        </p:nvSpPr>
        <p:spPr>
          <a:xfrm>
            <a:off x="622250" y="1571476"/>
            <a:ext cx="324178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PromptAssembler가 필요한가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622250" y="1736527"/>
            <a:ext cx="32417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300"/>
              </a:spcAft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프롬프트를 수동으로 편집하면 변경 추적이 불가능하고, 7개 노드가 서로 다른 시스템 프롬프트를 받으면 행동이 분기한다.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622250" y="2022277"/>
            <a:ext cx="324178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PromptAssembler가 없으면 스킬 주입, 메모리 컨텍스트, 부트스트랩 오버라이드를 수동으로 관리해야 하므로 실수가 누적된다.</a:t>
            </a:r>
            <a:endParaRPr lang="en-US" sz="650" dirty="0"/>
          </a:p>
        </p:txBody>
      </p:sp>
      <p:sp>
        <p:nvSpPr>
          <p:cNvPr id="72" name="Text 70"/>
          <p:cNvSpPr/>
          <p:nvPr/>
        </p:nvSpPr>
        <p:spPr>
          <a:xfrm>
            <a:off x="4013150" y="1460450"/>
            <a:ext cx="3479899" cy="920502"/>
          </a:xfrm>
          <a:prstGeom prst="roundRect">
            <a:avLst>
              <a:gd name="adj" fmla="val 5519"/>
            </a:avLst>
          </a:prstGeom>
          <a:solidFill>
            <a:srgbClr val="0D1A0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Shape 71"/>
          <p:cNvSpPr/>
          <p:nvPr/>
        </p:nvSpPr>
        <p:spPr>
          <a:xfrm>
            <a:off x="4013150" y="1465213"/>
            <a:ext cx="34798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72"/>
          <p:cNvSpPr/>
          <p:nvPr/>
        </p:nvSpPr>
        <p:spPr>
          <a:xfrm>
            <a:off x="7488287" y="1460450"/>
            <a:ext cx="0" cy="920502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Shape 73"/>
          <p:cNvSpPr/>
          <p:nvPr/>
        </p:nvSpPr>
        <p:spPr>
          <a:xfrm>
            <a:off x="4013150" y="2376190"/>
            <a:ext cx="3479899" cy="0"/>
          </a:xfrm>
          <a:prstGeom prst="line">
            <a:avLst/>
          </a:prstGeom>
          <a:noFill/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Shape 74"/>
          <p:cNvSpPr/>
          <p:nvPr/>
        </p:nvSpPr>
        <p:spPr>
          <a:xfrm>
            <a:off x="4032200" y="1460450"/>
            <a:ext cx="0" cy="920502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7" name="Text 75"/>
          <p:cNvSpPr/>
          <p:nvPr/>
        </p:nvSpPr>
        <p:spPr>
          <a:xfrm>
            <a:off x="4178201" y="1571476"/>
            <a:ext cx="324194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복잡도 vs 비용 절감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4178201" y="1736527"/>
            <a:ext cx="32419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300"/>
              </a:spcAft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6단계 조립은 단순 문자열 결합보다 복잡하지만, SHA-256 해시로 변경을 감지하고 </a:t>
            </a: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cache_control: ephemeral</a:t>
            </a: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2회차부터 입력 비용을 90% 절감한다.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4178201" y="2022277"/>
            <a:ext cx="324194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7노드가 동일 프롬프트 1 cache entry를 공유하므로 추가 비용이 발생하지 않는다.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7569250" y="1460450"/>
            <a:ext cx="1117550" cy="920502"/>
          </a:xfrm>
          <a:prstGeom prst="roundRect">
            <a:avLst>
              <a:gd name="adj" fmla="val 5519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1" name="Text 79"/>
          <p:cNvSpPr/>
          <p:nvPr/>
        </p:nvSpPr>
        <p:spPr>
          <a:xfrm>
            <a:off x="7894625" y="1588443"/>
            <a:ext cx="46679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800" dirty="0"/>
          </a:p>
        </p:txBody>
      </p:sp>
      <p:sp>
        <p:nvSpPr>
          <p:cNvPr id="82" name="Text 80"/>
          <p:cNvSpPr/>
          <p:nvPr/>
        </p:nvSpPr>
        <p:spPr>
          <a:xfrm>
            <a:off x="7860319" y="1880443"/>
            <a:ext cx="535263" cy="197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2회차+ 입력 비용</a:t>
            </a:r>
            <a:endParaRPr lang="en-US" sz="600" dirty="0"/>
          </a:p>
          <a:p>
            <a:pPr marL="0" indent="0" algn="ctr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(90% 절감)</a:t>
            </a:r>
            <a:endParaRPr lang="en-US" sz="600" dirty="0"/>
          </a:p>
        </p:txBody>
      </p:sp>
      <p:sp>
        <p:nvSpPr>
          <p:cNvPr id="83" name="Text 81"/>
          <p:cNvSpPr/>
          <p:nvPr/>
        </p:nvSpPr>
        <p:spPr>
          <a:xfrm>
            <a:off x="7731437" y="2167235"/>
            <a:ext cx="79302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SHA-256 cache_key</a:t>
            </a:r>
            <a:endParaRPr lang="en-US" sz="600" dirty="0"/>
          </a:p>
        </p:txBody>
      </p:sp>
      <p:sp>
        <p:nvSpPr>
          <p:cNvPr id="84" name="Text 82"/>
          <p:cNvSpPr/>
          <p:nvPr/>
        </p:nvSpPr>
        <p:spPr>
          <a:xfrm>
            <a:off x="457200" y="4987975"/>
            <a:ext cx="3218867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PromptAssembler 6-Phase · SHA-256 cache_key · cache_control: ephemeral · 21 skills · 7-node prompt sharing</a:t>
            </a:r>
            <a:endParaRPr lang="en-US" sz="500" dirty="0"/>
          </a:p>
        </p:txBody>
      </p:sp>
      <p:sp>
        <p:nvSpPr>
          <p:cNvPr id="85" name="Text 83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35</a:t>
            </a:r>
            <a:endParaRPr lang="en-US" sz="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4363"/>
            <a:ext cx="15581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HE-1 DEEP DIVE: 실행 흐름 ⑧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+ Cost: 외부 도구 호출 → 45 Catalog + TokenTracker 비용 관측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스토리 + 자체 TokenTracker로 while(tool_use) 루프 비용을 /cost CLI로 실시간 관측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90426"/>
            <a:ext cx="4724400" cy="3457426"/>
          </a:xfrm>
          <a:prstGeom prst="roundRect">
            <a:avLst>
              <a:gd name="adj" fmla="val 146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01452"/>
            <a:ext cx="451467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아키텍처 진화: 3계층에서 2계층으로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06326" y="1088678"/>
            <a:ext cx="4426148" cy="856952"/>
          </a:xfrm>
          <a:prstGeom prst="roundRect">
            <a:avLst>
              <a:gd name="adj" fmla="val 5928"/>
            </a:avLst>
          </a:prstGeom>
          <a:solidFill>
            <a:srgbClr val="0D1117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30151" y="1199704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BEFORE: 3계층 (병목)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730151" y="1342579"/>
            <a:ext cx="1248966" cy="368201"/>
          </a:xfrm>
          <a:prstGeom prst="roundRect">
            <a:avLst>
              <a:gd name="adj" fmla="val 13797"/>
            </a:avLst>
          </a:prstGeom>
          <a:solidFill>
            <a:srgbClr val="1E293B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30907" y="1440954"/>
            <a:ext cx="1047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830907" y="1526679"/>
            <a:ext cx="1047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257줄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2042517" y="1479054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2194917" y="1342579"/>
            <a:ext cx="1248966" cy="368201"/>
          </a:xfrm>
          <a:prstGeom prst="roundRect">
            <a:avLst>
              <a:gd name="adj" fmla="val 137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295674" y="1440954"/>
            <a:ext cx="1047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2295674" y="1526679"/>
            <a:ext cx="1047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검색+관리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3507284" y="1479054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659684" y="1342579"/>
            <a:ext cx="1248966" cy="368201"/>
          </a:xfrm>
          <a:prstGeom prst="roundRect">
            <a:avLst>
              <a:gd name="adj" fmla="val 13797"/>
            </a:avLst>
          </a:prstGeom>
          <a:solidFill>
            <a:srgbClr val="1E293B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760440" y="1440954"/>
            <a:ext cx="1047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3760440" y="1526679"/>
            <a:ext cx="1047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분산 설정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730151" y="1748879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 도구 탐색 막는 병목 · Proxy stub 9개 중복 · auto-discovery 불가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982391" y="2009031"/>
            <a:ext cx="17073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Registry 257줄 삭제 + Proxy stub 9개 제거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6326" y="2177207"/>
            <a:ext cx="4426148" cy="856952"/>
          </a:xfrm>
          <a:prstGeom prst="roundRect">
            <a:avLst>
              <a:gd name="adj" fmla="val 5928"/>
            </a:avLst>
          </a:prstGeom>
          <a:solidFill>
            <a:srgbClr val="0D1117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0151" y="2288232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AFTER: 2계층 (탐색 자유도)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30151" y="2431107"/>
            <a:ext cx="1981349" cy="368201"/>
          </a:xfrm>
          <a:prstGeom prst="roundRect">
            <a:avLst>
              <a:gd name="adj" fmla="val 137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23584" y="2529483"/>
            <a:ext cx="1794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823584" y="2615208"/>
            <a:ext cx="1794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검색 전용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2774900" y="2567583"/>
            <a:ext cx="907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2927300" y="2431107"/>
            <a:ext cx="1981349" cy="368201"/>
          </a:xfrm>
          <a:prstGeom prst="roundRect">
            <a:avLst>
              <a:gd name="adj" fmla="val 13797"/>
            </a:avLst>
          </a:prstGeom>
          <a:solidFill>
            <a:srgbClr val="1E293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020733" y="2529483"/>
            <a:ext cx="1794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config.toml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3020733" y="2615208"/>
            <a:ext cx="17944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[mcp.servers] 통합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730151" y="2837408"/>
            <a:ext cx="4262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catalog servers auto-discovery · API key 부재 시 dry-run 자동 전환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606326" y="3097560"/>
            <a:ext cx="4426148" cy="1039267"/>
          </a:xfrm>
          <a:prstGeom prst="roundRect">
            <a:avLst>
              <a:gd name="adj" fmla="val 4888"/>
            </a:avLst>
          </a:prstGeom>
          <a:solidFill>
            <a:srgbClr val="1E293B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30151" y="3208586"/>
            <a:ext cx="426206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Registry를 삭제했는가?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730151" y="3351461"/>
            <a:ext cx="4262068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Registry가 LLM의 도구 탐색을 막는 병목이다. 자율 에이전트는 도구를 스스로 찾아야 하는데, Registry가 검색 범위를 제한한다. 삭제 후 LLM이 Catalog를 직접 탐색하여 중앙 제어 없이 45 서버를 자율 발견한다.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30151" y="3650754"/>
            <a:ext cx="2057549" cy="375047"/>
          </a:xfrm>
          <a:prstGeom prst="roundRect">
            <a:avLst>
              <a:gd name="adj" fmla="val 101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31652" y="3739604"/>
            <a:ext cx="18916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포기: 중앙 제어</a:t>
            </a:r>
            <a:endParaRPr lang="en-US" sz="600" dirty="0"/>
          </a:p>
        </p:txBody>
      </p:sp>
      <p:sp>
        <p:nvSpPr>
          <p:cNvPr id="38" name="Text 36"/>
          <p:cNvSpPr/>
          <p:nvPr/>
        </p:nvSpPr>
        <p:spPr>
          <a:xfrm>
            <a:off x="831652" y="3837980"/>
            <a:ext cx="189163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Registry 삭제로 도구 목록 감사 불가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2851100" y="3650754"/>
            <a:ext cx="2057549" cy="375047"/>
          </a:xfrm>
          <a:prstGeom prst="roundRect">
            <a:avLst>
              <a:gd name="adj" fmla="val 1015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2952601" y="3739604"/>
            <a:ext cx="18916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획득: 탐색 자유도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2952601" y="3837980"/>
            <a:ext cx="1891638" cy="98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780"/>
              </a:lnSpc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컨텍스트에 맞게 자율 선택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5295900" y="790426"/>
            <a:ext cx="3390900" cy="1749623"/>
          </a:xfrm>
          <a:prstGeom prst="roundRect">
            <a:avLst>
              <a:gd name="adj" fmla="val 290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445026" y="901452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TokenTracker: 자체 비용 추적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445026" y="1088678"/>
            <a:ext cx="3154501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Aft>
                <a:spcPts val="5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LangSmith는 모델별 캐시 히트율·프로바이더별 비용 분리가 불가능하기 때문에 자체 TokenTracker를 구축한다. ContextVar 싱글톤으로 18개 모델 가격을 실시간 추적한다.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5445026" y="1400621"/>
            <a:ext cx="3092648" cy="387251"/>
          </a:xfrm>
          <a:prstGeom prst="roundRect">
            <a:avLst>
              <a:gd name="adj" fmla="val 9839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5464076" y="1400621"/>
            <a:ext cx="0" cy="387251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5"/>
          <p:cNvSpPr/>
          <p:nvPr/>
        </p:nvSpPr>
        <p:spPr>
          <a:xfrm>
            <a:off x="5597426" y="1489472"/>
            <a:ext cx="288246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ContextVar 싱글톤으로 호출마다 입출력 토큰 + cache_creation/cache_read 기록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5445026" y="1825972"/>
            <a:ext cx="3092648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5464076" y="1825972"/>
            <a:ext cx="0" cy="282476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8"/>
          <p:cNvSpPr/>
          <p:nvPr/>
        </p:nvSpPr>
        <p:spPr>
          <a:xfrm>
            <a:off x="5597426" y="1914823"/>
            <a:ext cx="28824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18개 모델 가격 레지스트리: 실시간 비용 산출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445026" y="2146548"/>
            <a:ext cx="3092648" cy="282476"/>
          </a:xfrm>
          <a:prstGeom prst="roundRect">
            <a:avLst>
              <a:gd name="adj" fmla="val 13488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5464076" y="2146548"/>
            <a:ext cx="0" cy="282476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5597426" y="2235398"/>
            <a:ext cx="288246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UsageStore: 월별 JSONL 영속 저장 · ProjectJournal 프로젝트별 이력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295900" y="2616250"/>
            <a:ext cx="3390900" cy="904429"/>
          </a:xfrm>
          <a:prstGeom prst="roundRect">
            <a:avLst>
              <a:gd name="adj" fmla="val 561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445026" y="2727275"/>
            <a:ext cx="3154501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/cost CLI 대시보드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5445026" y="2901851"/>
            <a:ext cx="3092648" cy="507802"/>
          </a:xfrm>
          <a:prstGeom prst="roundRect">
            <a:avLst>
              <a:gd name="adj" fmla="val 1000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5"/>
          <p:cNvSpPr/>
          <p:nvPr/>
        </p:nvSpPr>
        <p:spPr>
          <a:xfrm>
            <a:off x="5550625" y="2990701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세션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550625" y="3120777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비용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547625" y="2990701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일간 / 월간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6547625" y="3120777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집계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7544625" y="2990701"/>
            <a:ext cx="8874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예산 소진율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7544625" y="3120777"/>
            <a:ext cx="88745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경고 / 95% PRUNE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295900" y="3596878"/>
            <a:ext cx="3390900" cy="1330821"/>
          </a:xfrm>
          <a:prstGeom prst="roundRect">
            <a:avLst>
              <a:gd name="adj" fmla="val 381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Shape 62"/>
          <p:cNvSpPr/>
          <p:nvPr/>
        </p:nvSpPr>
        <p:spPr>
          <a:xfrm>
            <a:off x="5319713" y="3596878"/>
            <a:ext cx="0" cy="1330821"/>
          </a:xfrm>
          <a:prstGeom prst="line">
            <a:avLst/>
          </a:prstGeom>
          <a:noFill/>
          <a:ln w="476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63"/>
          <p:cNvSpPr/>
          <p:nvPr/>
        </p:nvSpPr>
        <p:spPr>
          <a:xfrm>
            <a:off x="5483126" y="3685729"/>
            <a:ext cx="312535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MCP-first + Fixture Fallback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5483126" y="3831729"/>
            <a:ext cx="3125355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5개 signal 도구: 라이브 환경에서는 MCP 직접 호출, 오프라인/CI에서는 fixture 데이터로 자동 전환하여 라이브 수집과 테스트를 동시에 보장한다.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5483126" y="4161532"/>
            <a:ext cx="1493937" cy="466576"/>
          </a:xfrm>
          <a:prstGeom prst="roundRect">
            <a:avLst>
              <a:gd name="adj" fmla="val 8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558814" y="4250382"/>
            <a:ext cx="1342561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5558814" y="4453533"/>
            <a:ext cx="13425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7053263" y="4161532"/>
            <a:ext cx="1493937" cy="466576"/>
          </a:xfrm>
          <a:prstGeom prst="roundRect">
            <a:avLst>
              <a:gd name="adj" fmla="val 8166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128951" y="4250382"/>
            <a:ext cx="1342561" cy="203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7128951" y="4453533"/>
            <a:ext cx="13425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price registry</a:t>
            </a:r>
            <a:endParaRPr lang="en-US" sz="600" dirty="0"/>
          </a:p>
        </p:txBody>
      </p:sp>
      <p:sp>
        <p:nvSpPr>
          <p:cNvPr id="73" name="Text 71"/>
          <p:cNvSpPr/>
          <p:nvPr/>
        </p:nvSpPr>
        <p:spPr>
          <a:xfrm>
            <a:off x="457200" y="4978450"/>
            <a:ext cx="3186380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257줄 삭제 · Proxy stub 9개 제거 · 45 catalog auto-discovery · TokenTracker ContextVar · /cost CLI</a:t>
            </a:r>
            <a:endParaRPr lang="en-US" sz="500" dirty="0"/>
          </a:p>
        </p:txBody>
      </p:sp>
      <p:sp>
        <p:nvSpPr>
          <p:cNvPr id="74" name="Text 72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35</a:t>
            </a:r>
            <a:endParaRPr lang="en-US" sz="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8571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· Game IP Pipeline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Pipeline: 9-Node DAG + 5-Layer 검증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평가는 Confirmation Bias·Anchoring 편향이 있기 때문에 병렬 전문가 4명 + Cross-LLM + PSM으로 극복한다</a:t>
            </a:r>
            <a:endParaRPr lang="en-US" sz="700" dirty="0"/>
          </a:p>
        </p:txBody>
      </p:sp>
      <p:pic>
        <p:nvPicPr>
          <p:cNvPr id="6" name="Image 0" descr="/Users/mango/workspace/portfolio/geode/versions/v9/slides/assets/v028-diagram-pipeline-da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790426"/>
            <a:ext cx="5587901" cy="2603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3457277"/>
            <a:ext cx="3340596" cy="1164878"/>
          </a:xfrm>
          <a:prstGeom prst="roundRect">
            <a:avLst>
              <a:gd name="adj" fmla="val 436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581025" y="3555653"/>
            <a:ext cx="31548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Formula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81025" y="3689003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= 0.25·PSM + 0.20·Quality + 0.18·Recovery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581025" y="3822204"/>
            <a:ext cx="3154805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+ 0.12·Growth + 0.20·Momentum + 0.05·Dev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581025" y="3980706"/>
            <a:ext cx="315480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= base × (0.7 + 0.3·conf/100)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3873996" y="3457277"/>
            <a:ext cx="2209354" cy="558403"/>
          </a:xfrm>
          <a:prstGeom prst="roundRect">
            <a:avLst>
              <a:gd name="adj" fmla="val 9097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3997821" y="3568303"/>
            <a:ext cx="200093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기준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3997821" y="3698379"/>
            <a:ext cx="20009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≥80 · A ≥60 · B ≥40 · C &lt;40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997821" y="3818930"/>
            <a:ext cx="200093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D-E-F 코드 결정 트리 (LLM 아님)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3873996" y="4066431"/>
            <a:ext cx="2209354" cy="555724"/>
          </a:xfrm>
          <a:prstGeom prst="roundRect">
            <a:avLst>
              <a:gd name="adj" fmla="val 9141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3997821" y="4177457"/>
            <a:ext cx="200093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Clean Context</a:t>
            </a:r>
            <a:endParaRPr lang="en-US" sz="700" dirty="0"/>
          </a:p>
        </p:txBody>
      </p:sp>
      <p:sp>
        <p:nvSpPr>
          <p:cNvPr id="18" name="Text 15"/>
          <p:cNvSpPr/>
          <p:nvPr/>
        </p:nvSpPr>
        <p:spPr>
          <a:xfrm>
            <a:off x="3997821" y="4298007"/>
            <a:ext cx="2000938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analyses: []</a:t>
            </a: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전달로 앵커링 편향을 차단한다. 7개 병렬 LLM 호출에서 독립 평가 보장.</a:t>
            </a:r>
            <a:endParaRPr lang="en-US" sz="600" dirty="0"/>
          </a:p>
        </p:txBody>
      </p:sp>
      <p:sp>
        <p:nvSpPr>
          <p:cNvPr id="19" name="Text 16"/>
          <p:cNvSpPr/>
          <p:nvPr/>
        </p:nvSpPr>
        <p:spPr>
          <a:xfrm>
            <a:off x="6197650" y="790426"/>
            <a:ext cx="253893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Fixture Results: Golden Set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197650" y="968127"/>
            <a:ext cx="24891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6318681" y="1079153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6318681" y="1333202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81.2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6702326" y="1110853"/>
            <a:ext cx="8813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Berserk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702326" y="1225153"/>
            <a:ext cx="8813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0.89 · bias: 0/6</a:t>
            </a:r>
            <a:endParaRPr lang="en-US" sz="600" dirty="0"/>
          </a:p>
        </p:txBody>
      </p:sp>
      <p:sp>
        <p:nvSpPr>
          <p:cNvPr id="25" name="Text 22"/>
          <p:cNvSpPr/>
          <p:nvPr/>
        </p:nvSpPr>
        <p:spPr>
          <a:xfrm>
            <a:off x="6702326" y="1310878"/>
            <a:ext cx="88137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conversion_failure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6197650" y="1602879"/>
            <a:ext cx="24891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318681" y="1713905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6318681" y="1967954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68.4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6702326" y="1745605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Cowboy Bebop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702326" y="1859905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0.85 · range: 63-75</a:t>
            </a:r>
            <a:endParaRPr lang="en-US" sz="600" dirty="0"/>
          </a:p>
        </p:txBody>
      </p:sp>
      <p:sp>
        <p:nvSpPr>
          <p:cNvPr id="31" name="Text 28"/>
          <p:cNvSpPr/>
          <p:nvPr/>
        </p:nvSpPr>
        <p:spPr>
          <a:xfrm>
            <a:off x="6702326" y="1945630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undermarketed</a:t>
            </a:r>
            <a:endParaRPr lang="en-US" sz="600" dirty="0"/>
          </a:p>
        </p:txBody>
      </p:sp>
      <p:sp>
        <p:nvSpPr>
          <p:cNvPr id="32" name="Text 29"/>
          <p:cNvSpPr/>
          <p:nvPr/>
        </p:nvSpPr>
        <p:spPr>
          <a:xfrm>
            <a:off x="6197650" y="2237631"/>
            <a:ext cx="2489150" cy="571351"/>
          </a:xfrm>
          <a:prstGeom prst="roundRect">
            <a:avLst>
              <a:gd name="adj" fmla="val 8891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6318681" y="2348657"/>
            <a:ext cx="284937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000" dirty="0"/>
          </a:p>
        </p:txBody>
      </p:sp>
      <p:sp>
        <p:nvSpPr>
          <p:cNvPr id="34" name="Text 31"/>
          <p:cNvSpPr/>
          <p:nvPr/>
        </p:nvSpPr>
        <p:spPr>
          <a:xfrm>
            <a:off x="6318681" y="2602706"/>
            <a:ext cx="28493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</a:t>
            </a:r>
            <a:endParaRPr lang="en-US" sz="700" dirty="0"/>
          </a:p>
        </p:txBody>
      </p:sp>
      <p:sp>
        <p:nvSpPr>
          <p:cNvPr id="35" name="Text 32"/>
          <p:cNvSpPr/>
          <p:nvPr/>
        </p:nvSpPr>
        <p:spPr>
          <a:xfrm>
            <a:off x="6702326" y="2380357"/>
            <a:ext cx="85132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in Shell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702326" y="2494657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conf: 0.72 · range: 48-60</a:t>
            </a:r>
            <a:endParaRPr lang="en-US" sz="600" dirty="0"/>
          </a:p>
        </p:txBody>
      </p:sp>
      <p:sp>
        <p:nvSpPr>
          <p:cNvPr id="37" name="Text 34"/>
          <p:cNvSpPr/>
          <p:nvPr/>
        </p:nvSpPr>
        <p:spPr>
          <a:xfrm>
            <a:off x="6702326" y="2580382"/>
            <a:ext cx="85132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cause: discovery_failure</a:t>
            </a:r>
            <a:endParaRPr lang="en-US" sz="600" dirty="0"/>
          </a:p>
        </p:txBody>
      </p:sp>
      <p:sp>
        <p:nvSpPr>
          <p:cNvPr id="38" name="Text 35"/>
          <p:cNvSpPr/>
          <p:nvPr/>
        </p:nvSpPr>
        <p:spPr>
          <a:xfrm>
            <a:off x="6197650" y="2872383"/>
            <a:ext cx="2489150" cy="2064841"/>
          </a:xfrm>
          <a:prstGeom prst="roundRect">
            <a:avLst>
              <a:gd name="adj" fmla="val 24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6321475" y="2970758"/>
            <a:ext cx="228633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5-Layer 검증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321475" y="3145334"/>
            <a:ext cx="22415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6321475" y="3145334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Guardrails: 스키마·범위·근거·일관성</a:t>
            </a:r>
            <a:endParaRPr lang="en-US" sz="700" dirty="0"/>
          </a:p>
        </p:txBody>
      </p:sp>
      <p:sp>
        <p:nvSpPr>
          <p:cNvPr id="42" name="Text 39"/>
          <p:cNvSpPr/>
          <p:nvPr/>
        </p:nvSpPr>
        <p:spPr>
          <a:xfrm>
            <a:off x="6321475" y="3288209"/>
            <a:ext cx="228633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BiasBuster: 6종 편향 (arXiv:2403.00811)</a:t>
            </a:r>
            <a:endParaRPr lang="en-US" sz="700" dirty="0"/>
          </a:p>
        </p:txBody>
      </p:sp>
      <p:sp>
        <p:nvSpPr>
          <p:cNvPr id="43" name="Text 40"/>
          <p:cNvSpPr/>
          <p:nvPr/>
        </p:nvSpPr>
        <p:spPr>
          <a:xfrm>
            <a:off x="6321475" y="3431084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Cross-LLM: Claude×GPT α≥0.67</a:t>
            </a:r>
            <a:endParaRPr lang="en-US" sz="700" dirty="0"/>
          </a:p>
        </p:txBody>
      </p:sp>
      <p:sp>
        <p:nvSpPr>
          <p:cNvPr id="44" name="Text 41"/>
          <p:cNvSpPr/>
          <p:nvPr/>
        </p:nvSpPr>
        <p:spPr>
          <a:xfrm>
            <a:off x="6321475" y="3564434"/>
            <a:ext cx="228633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Rights Risk · L5 Calibration 80/100</a:t>
            </a:r>
            <a:endParaRPr lang="en-US" sz="700" dirty="0"/>
          </a:p>
        </p:txBody>
      </p:sp>
      <p:sp>
        <p:nvSpPr>
          <p:cNvPr id="45" name="Text 42"/>
          <p:cNvSpPr/>
          <p:nvPr/>
        </p:nvSpPr>
        <p:spPr>
          <a:xfrm>
            <a:off x="6321475" y="3723084"/>
            <a:ext cx="2241500" cy="501848"/>
          </a:xfrm>
          <a:prstGeom prst="roundRect">
            <a:avLst>
              <a:gd name="adj" fmla="val 759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6422975" y="3811935"/>
            <a:ext cx="20792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판단</a:t>
            </a:r>
            <a:endParaRPr lang="en-US" sz="600" dirty="0"/>
          </a:p>
        </p:txBody>
      </p:sp>
      <p:sp>
        <p:nvSpPr>
          <p:cNvPr id="47" name="Text 44"/>
          <p:cNvSpPr/>
          <p:nvPr/>
        </p:nvSpPr>
        <p:spPr>
          <a:xfrm>
            <a:off x="6422975" y="3922961"/>
            <a:ext cx="2079269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LLM 평가는 Anchoring 편향으로 점수 분산이 ±18점. L3 Cross-LLM α≥0.67 강제로 편향 0/6 달성.</a:t>
            </a:r>
            <a:endParaRPr lang="en-US" sz="600" dirty="0"/>
          </a:p>
        </p:txBody>
      </p:sp>
      <p:sp>
        <p:nvSpPr>
          <p:cNvPr id="48" name="Text 45"/>
          <p:cNvSpPr/>
          <p:nvPr/>
        </p:nvSpPr>
        <p:spPr>
          <a:xfrm>
            <a:off x="457200" y="4987975"/>
            <a:ext cx="343048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rubric axes (8+3+3) · 6 cause classes · PSM Rosenbaum Gamma · conf gate ≥0.7 · max 5 iterations · Clean Context</a:t>
            </a:r>
            <a:endParaRPr lang="en-US" sz="500" dirty="0"/>
          </a:p>
        </p:txBody>
      </p:sp>
      <p:sp>
        <p:nvSpPr>
          <p:cNvPr id="49" name="Text 4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35</a:t>
            </a:r>
            <a:endParaRPr lang="en-US" sz="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9432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· Domain Portability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Portability: GEODE ↔ REODE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725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변경마다 에이전트 코어를 수정하면 회귀 테스트 비용이 선형 증가하므로, DomainPort Protocol로 인터페이스를 고정한다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68251"/>
            <a:ext cx="2959150" cy="1120676"/>
          </a:xfrm>
          <a:prstGeom prst="roundRect">
            <a:avLst>
              <a:gd name="adj" fmla="val 4533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" y="787301"/>
            <a:ext cx="2959150" cy="0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596801" y="920651"/>
            <a:ext cx="27335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96801" y="1092101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IP 저평가 분석 에이전트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596801" y="1260277"/>
            <a:ext cx="2679948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6801" y="1260277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 모듈 · 3,216 테스트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596801" y="1403152"/>
            <a:ext cx="27335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Tools + 45 MCP · 21 Skills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96801" y="1536502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릴리스 무회귀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596801" y="1679377"/>
            <a:ext cx="27335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GameIPAdapter implements DomainPort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457200" y="1965127"/>
            <a:ext cx="2959150" cy="2962573"/>
          </a:xfrm>
          <a:prstGeom prst="roundRect">
            <a:avLst>
              <a:gd name="adj" fmla="val 1717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57200" y="1969889"/>
            <a:ext cx="2959150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3411587" y="1965127"/>
            <a:ext cx="0" cy="2962573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4922937"/>
            <a:ext cx="2959150" cy="0"/>
          </a:xfrm>
          <a:prstGeom prst="line">
            <a:avLst/>
          </a:prstGeom>
          <a:noFill/>
          <a:ln w="9525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76250" y="1965127"/>
            <a:ext cx="0" cy="2962573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634901" y="2088952"/>
            <a:ext cx="268497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DomainPort Protocol인가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4901" y="2257127"/>
            <a:ext cx="268497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400"/>
              </a:spcAft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도메인이 바뀔 때마다 에이전트 코어를 수정하면 회귀 테스트 비용이 선형 증가한다. DomainPort Protocol로 인터페이스를 고정하면, 새 도메인은 Protocol만 구현하여 코어 수정 없이 연결된다.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634901" y="2679353"/>
            <a:ext cx="2632323" cy="412552"/>
          </a:xfrm>
          <a:prstGeom prst="roundRect">
            <a:avLst>
              <a:gd name="adj" fmla="val 1231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49201" y="2780854"/>
            <a:ext cx="24517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F5C54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_domain_ctx: ContextVar[DomainPort]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49201" y="2885629"/>
            <a:ext cx="245179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set_domain() / get_domain_or_none()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34901" y="3155305"/>
            <a:ext cx="26849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spcBef>
                <a:spcPts val="5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상속 없이 메서드만 구현하면 즉시 호환된다.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530650" y="1163985"/>
            <a:ext cx="2082701" cy="1548557"/>
          </a:xfrm>
          <a:prstGeom prst="roundRect">
            <a:avLst>
              <a:gd name="adj" fmla="val 4921"/>
            </a:avLst>
          </a:prstGeom>
          <a:solidFill>
            <a:srgbClr val="1E293B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658743" y="1309985"/>
            <a:ext cx="182651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658743" y="1500485"/>
            <a:ext cx="1826514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2-Protocol 직교 설계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3676650" y="1709886"/>
            <a:ext cx="1790700" cy="396627"/>
          </a:xfrm>
          <a:prstGeom prst="roundRect">
            <a:avLst>
              <a:gd name="adj" fmla="val 12808"/>
            </a:avLst>
          </a:prstGeom>
          <a:solidFill>
            <a:srgbClr val="0D2B1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3775329" y="1811387"/>
            <a:ext cx="15933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PipelineTemplate L1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3775329" y="1919288"/>
            <a:ext cx="15933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흐름 정의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676650" y="2169914"/>
            <a:ext cx="1790700" cy="396627"/>
          </a:xfrm>
          <a:prstGeom prst="roundRect">
            <a:avLst>
              <a:gd name="adj" fmla="val 12808"/>
            </a:avLst>
          </a:prstGeom>
          <a:solidFill>
            <a:srgbClr val="2B1A0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775329" y="2271415"/>
            <a:ext cx="15933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LanguageAdapter L2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775329" y="2379315"/>
            <a:ext cx="15933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언어·포맷 변환</a:t>
            </a:r>
            <a:endParaRPr lang="en-US" sz="600" dirty="0"/>
          </a:p>
        </p:txBody>
      </p:sp>
      <p:sp>
        <p:nvSpPr>
          <p:cNvPr id="35" name="Text 33"/>
          <p:cNvSpPr/>
          <p:nvPr/>
        </p:nvSpPr>
        <p:spPr>
          <a:xfrm>
            <a:off x="3530650" y="2788741"/>
            <a:ext cx="2082701" cy="949523"/>
          </a:xfrm>
          <a:prstGeom prst="roundRect">
            <a:avLst>
              <a:gd name="adj" fmla="val 5350"/>
            </a:avLst>
          </a:prstGeom>
          <a:solidFill>
            <a:srgbClr val="1E293B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661931" y="2925217"/>
            <a:ext cx="1820138" cy="254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0줄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661931" y="3217366"/>
            <a:ext cx="1820138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코어 수정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3661931" y="3388668"/>
            <a:ext cx="1820138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GEODE→REODE 전환 시</a:t>
            </a:r>
            <a:endParaRPr lang="en-US" sz="600" dirty="0"/>
          </a:p>
          <a:p>
            <a:pPr marL="0" indent="0" algn="ctr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core/graph.py 무변경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3530650" y="3814465"/>
            <a:ext cx="2082701" cy="717352"/>
          </a:xfrm>
          <a:prstGeom prst="roundRect">
            <a:avLst>
              <a:gd name="adj" fmla="val 708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Shape 38"/>
          <p:cNvSpPr/>
          <p:nvPr/>
        </p:nvSpPr>
        <p:spPr>
          <a:xfrm>
            <a:off x="3549700" y="3814465"/>
            <a:ext cx="0" cy="717352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3683050" y="3915966"/>
            <a:ext cx="185232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설계 비용 vs 이식 속도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3683050" y="4058841"/>
            <a:ext cx="185232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인터페이스 설계에 3일을 투자한다. 그 대가로 GEODE→REODE 피봇 시 코어 수정이 0줄이 되고, 수주의 재작성을 막는다.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5727650" y="768251"/>
            <a:ext cx="2959150" cy="977801"/>
          </a:xfrm>
          <a:prstGeom prst="roundRect">
            <a:avLst>
              <a:gd name="adj" fmla="val 5195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5727650" y="787301"/>
            <a:ext cx="2959150" cy="0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3"/>
          <p:cNvSpPr/>
          <p:nvPr/>
        </p:nvSpPr>
        <p:spPr>
          <a:xfrm>
            <a:off x="5867251" y="920651"/>
            <a:ext cx="273354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867251" y="1092101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코드 마이그레이션 에이전트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867251" y="1260277"/>
            <a:ext cx="2679948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867251" y="1260277"/>
            <a:ext cx="273354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209 모듈 · 3,274 테스트 · 34 Tools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5867251" y="1403152"/>
            <a:ext cx="27335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OpenRewrite 70% + LLM 30%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867251" y="1536502"/>
            <a:ext cx="273354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5-Gate Migration Scorecard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727650" y="1822252"/>
            <a:ext cx="2959150" cy="3105448"/>
          </a:xfrm>
          <a:prstGeom prst="roundRect">
            <a:avLst>
              <a:gd name="adj" fmla="val 1717"/>
            </a:avLst>
          </a:prstGeom>
          <a:solidFill>
            <a:srgbClr val="0D1E2B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5876776" y="1946077"/>
            <a:ext cx="271411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7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core/ 변경이 0줄인가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5876776" y="2123777"/>
            <a:ext cx="27141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Aft>
                <a:spcPts val="500"/>
              </a:spcAft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GEODE(게임 IP)에서 REODE(코드 마이그레이션)로 전환할 때 core/ 디렉토리 변경이 0줄인 이유는 DomainPort가 도메인 로직을 완전히 캡슐화하기 때문이다.</a:t>
            </a:r>
            <a:endParaRPr lang="en-US" sz="650" dirty="0"/>
          </a:p>
        </p:txBody>
      </p:sp>
      <p:sp>
        <p:nvSpPr>
          <p:cNvPr id="54" name="Text 52"/>
          <p:cNvSpPr/>
          <p:nvPr/>
        </p:nvSpPr>
        <p:spPr>
          <a:xfrm>
            <a:off x="5863980" y="2434828"/>
            <a:ext cx="130521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5863980" y="2663428"/>
            <a:ext cx="130521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 파일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7245103" y="2434828"/>
            <a:ext cx="130536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103K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7245103" y="2663428"/>
            <a:ext cx="130536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</a:t>
            </a:r>
            <a:endParaRPr lang="en-US" sz="600" dirty="0"/>
          </a:p>
        </p:txBody>
      </p:sp>
      <p:sp>
        <p:nvSpPr>
          <p:cNvPr id="58" name="Text 56"/>
          <p:cNvSpPr/>
          <p:nvPr/>
        </p:nvSpPr>
        <p:spPr>
          <a:xfrm>
            <a:off x="5876776" y="2812554"/>
            <a:ext cx="2660898" cy="447377"/>
          </a:xfrm>
          <a:prstGeom prst="roundRect">
            <a:avLst>
              <a:gd name="adj" fmla="val 11355"/>
            </a:avLst>
          </a:prstGeom>
          <a:solidFill>
            <a:srgbClr val="0D2B1E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976469" y="2923580"/>
            <a:ext cx="246151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 패스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5976469" y="3063180"/>
            <a:ext cx="246151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5h 48m 자율 실행 · 33세션 1,133라운드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978450"/>
            <a:ext cx="319488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· ContextVar DI · core/graph.py 0줄 수정 · 241소스 103K LoC · 33세션 1,133라운드 · 83/83 build pass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35</a:t>
            </a:r>
            <a:endParaRPr lang="en-US" sz="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430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49126"/>
            <a:ext cx="187843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HE-2: DOMAIN · Pattern Evolution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55550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 → GEODE → REODE: 패턴 진화 증거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22250"/>
            <a:ext cx="839419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Eco²에서 LLM 편향 제어의 핵심을 파악하고, 그 경험이 GEODE 5-Layer Verification으로 진화한다. 단순 복사가 아니라 분화와 재설계다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457200" y="777776"/>
            <a:ext cx="8229600" cy="444103"/>
          </a:xfrm>
          <a:prstGeom prst="roundRect">
            <a:avLst>
              <a:gd name="adj" fmla="val 114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777776"/>
            <a:ext cx="0" cy="444103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2250" y="866626"/>
            <a:ext cx="809635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Eco²에서 Swiss Cheese 3-Layer 평가를 설계하며 LLM 편향 제어의 핵심을 파악한다. Eco²의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Code Grader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GEODE의 </a:t>
            </a: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G1-G4 Guardrails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분화하고,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LLM Judge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</a:t>
            </a: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BiasBuster + Cross-LLM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분리된다. 같은 문제를 더 정밀하게 세 번 푼다.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457200" y="1272629"/>
            <a:ext cx="8229600" cy="390376"/>
          </a:xfrm>
          <a:prstGeom prst="roundRect">
            <a:avLst>
              <a:gd name="adj" fmla="val 1301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93675" y="1371005"/>
            <a:ext cx="50750" cy="193625"/>
          </a:xfrm>
          <a:prstGeom prst="roundRect">
            <a:avLst>
              <a:gd name="adj" fmla="val 50049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5927" y="1415355"/>
            <a:ext cx="9326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 레이어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761827" y="1371005"/>
            <a:ext cx="19045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Eco²: Swiss Cheese 3-Layer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761827" y="1478905"/>
            <a:ext cx="19045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Code Grader + L2 LLM Judge + L3 Human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3730526" y="1401068"/>
            <a:ext cx="207821" cy="13335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035772" y="1371005"/>
            <a:ext cx="2475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GEODE: 5-Layer Verification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035772" y="1478905"/>
            <a:ext cx="24759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Guardrails G1-G4로 분화 · BiasBuster 6종 · Cross-LLM α≥0.67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6564660" y="1401068"/>
            <a:ext cx="207821" cy="13335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69906" y="1371005"/>
            <a:ext cx="1714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REODE: 5-Gate Scorecard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869906" y="1478905"/>
            <a:ext cx="17140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마이그레이션 품질 5관문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457200" y="1713756"/>
            <a:ext cx="8229600" cy="485626"/>
          </a:xfrm>
          <a:prstGeom prst="roundRect">
            <a:avLst>
              <a:gd name="adj" fmla="val 1046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93675" y="1812131"/>
            <a:ext cx="50750" cy="288875"/>
          </a:xfrm>
          <a:prstGeom prst="roundRect">
            <a:avLst>
              <a:gd name="adj" fmla="val 50049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5927" y="1904107"/>
            <a:ext cx="9326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시스템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761827" y="1854994"/>
            <a:ext cx="19045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Eco²: Event Bus 동기 처리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761827" y="1972419"/>
            <a:ext cx="19045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· 확장 불가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3730526" y="1889820"/>
            <a:ext cx="207821" cy="13335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35772" y="1812131"/>
            <a:ext cx="247593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GEODE: HookSystem 46 Events 비동기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035772" y="1929557"/>
            <a:ext cx="247593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 Event Bus는 동기 기반이므로 비동기 Hook으로 재설계. Priority 핸들러 · StuckDetector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6564660" y="1889820"/>
            <a:ext cx="207821" cy="13335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69906" y="1854994"/>
            <a:ext cx="171402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HookSystem 상속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869906" y="1972419"/>
            <a:ext cx="17140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lifecycle 동일 패턴</a:t>
            </a:r>
            <a:endParaRPr lang="en-US" sz="600" dirty="0"/>
          </a:p>
        </p:txBody>
      </p:sp>
      <p:sp>
        <p:nvSpPr>
          <p:cNvPr id="31" name="Text 29"/>
          <p:cNvSpPr/>
          <p:nvPr/>
        </p:nvSpPr>
        <p:spPr>
          <a:xfrm>
            <a:off x="457200" y="2250132"/>
            <a:ext cx="8229600" cy="390376"/>
          </a:xfrm>
          <a:prstGeom prst="roundRect">
            <a:avLst>
              <a:gd name="adj" fmla="val 1301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3675" y="2348508"/>
            <a:ext cx="50750" cy="193625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45927" y="2392859"/>
            <a:ext cx="93268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추상화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1761827" y="2348508"/>
            <a:ext cx="19045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Eco²: LLMClientPort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761827" y="2456408"/>
            <a:ext cx="19045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Provider 종속 위험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730526" y="2378571"/>
            <a:ext cx="207821" cy="13335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035772" y="2348508"/>
            <a:ext cx="247593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GEODE: Port/Adapter DI + ContextVar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035772" y="2456408"/>
            <a:ext cx="247593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· OpenAI · ZhipuAI 3-Provider · CB ×3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6564660" y="2378571"/>
            <a:ext cx="207821" cy="133350"/>
          </a:xfrm>
          <a:prstGeom prst="rect">
            <a:avLst/>
          </a:prstGeom>
          <a:noFill/>
          <a:ln/>
        </p:spPr>
        <p:txBody>
          <a:bodyPr wrap="square" lIns="50800" tIns="0" rIns="5080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➔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869906" y="2348508"/>
            <a:ext cx="171402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69906" y="2456408"/>
            <a:ext cx="171402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 수정 0줄 Java 교체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57200" y="4445496"/>
            <a:ext cx="8229600" cy="444103"/>
          </a:xfrm>
          <a:prstGeom prst="roundRect">
            <a:avLst>
              <a:gd name="adj" fmla="val 1143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76250" y="4445496"/>
            <a:ext cx="0" cy="444103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22250" y="4534346"/>
            <a:ext cx="809635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기존 패턴 재사용 vs 도메인 차이 무시 위험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기존 패턴을 재사용하면 설계 시간을 줄이지만, 도메인 차이를 무시하면 맞지 않는 구조를 강제하게 된다. Eco²의 Event Bus는 동기 처리 기반이므로 GEODE의 비동기 Hook으로 재설계가 필요하다. 재사용과 재설계를 구분하여, REODE는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빌드를 5h 48m 안에 달성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457200" y="4978450"/>
            <a:ext cx="3836408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Swiss Cheese→5-Layer · Event Bus(동기)→HookSystem(비동기) · LLMClientPort→Port/Adapter · L1 Code Grader→G1-G4 Guardrails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8492728" y="4983212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35</a:t>
            </a:r>
            <a:endParaRPr lang="en-US" sz="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901"/>
            <a:ext cx="82296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90877" y="1818977"/>
            <a:ext cx="35620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790877" y="2136428"/>
            <a:ext cx="3562097" cy="7819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8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코드가 아닌</a:t>
            </a:r>
            <a:endParaRPr lang="en-US" sz="2800" dirty="0"/>
          </a:p>
          <a:p>
            <a:pPr marL="0" indent="0" algn="ctr">
              <a:lnSpc>
                <a:spcPts val="3080"/>
              </a:lnSpc>
              <a:spcAft>
                <a:spcPts val="14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계층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790877" y="3096071"/>
            <a:ext cx="3562097" cy="228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23 · CAN 허용 · 8-Step · Frontier Mining · 4-Persona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114949"/>
            <a:ext cx="8229600" cy="126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4987975"/>
            <a:ext cx="30224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S21 – S25</a:t>
            </a:r>
            <a:endParaRPr lang="en-US" sz="500" dirty="0"/>
          </a:p>
        </p:txBody>
      </p:sp>
      <p:sp>
        <p:nvSpPr>
          <p:cNvPr id="8" name="Text 6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35</a:t>
            </a:r>
            <a:endParaRPr lang="en-US" sz="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Mirror Table: Scaffold ↔ Runtime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스캐폴딩이 Runtime을 설계하기 때문에 동형 구조가 나온다. 의도한 것이 아닌 좋은 설계의 부산물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8051"/>
            <a:ext cx="2768798" cy="4076998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33425" y="979289"/>
            <a:ext cx="118058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 (빌드 타임)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19125" y="1253877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46075" y="134272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23 CANNOT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6075" y="1482328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LLM이 발산하지 않도록 23개 금지 규칙을 CLAUDE.md에 주입한다. 위반하면 CI가 머지를 차단한다.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19125" y="1856929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6075" y="1945779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 → 8-Step Loop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46075" y="2085380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리서치 없이 구현하면 중복 설계가 발생했기 때문에 8-Step Loop가 모든 PR에 Socratic Gate를 강제한다.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19125" y="2459980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46075" y="2548830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 + 4-Persona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46075" y="2688431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 설계만 하면 이미 해결된 문제를 재발명하기 때문에 4개 하네스를 리서치하고 3/4 수렴 규칙으로 채택 여부를 결정한다.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619125" y="3063032"/>
            <a:ext cx="2444948" cy="631627"/>
          </a:xfrm>
          <a:prstGeom prst="roundRect">
            <a:avLst>
              <a:gd name="adj" fmla="val 80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46075" y="3151882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40 Releases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6075" y="3291483"/>
            <a:ext cx="22348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이유가 사라지면 같은 실수를 반복하기 때문에 v0.6 → v0.32 40회 릴리스의 모든 피봇 WHY를 CHANGELOG에 기록한다.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480941" y="2655838"/>
            <a:ext cx="20493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⟺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514151" y="2925663"/>
            <a:ext cx="13449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</a:t>
            </a:r>
            <a:endParaRPr lang="en-US" sz="600" dirty="0"/>
          </a:p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936950" y="838051"/>
            <a:ext cx="2768798" cy="4076998"/>
          </a:xfrm>
          <a:prstGeom prst="roundRect">
            <a:avLst>
              <a:gd name="adj" fmla="val 2752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098875" y="974527"/>
            <a:ext cx="38100" cy="15240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213175" y="979289"/>
            <a:ext cx="10769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(실행 타임)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098875" y="1253877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25826" y="134272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Hook Events (PolicyChain)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25826" y="1482328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규칙은 빌드 타임에 검문하고, 46 Hook Events는 실행 타임에 정책 위반을 즉시 차단한다. 같은 원칙, 다른 계층.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098875" y="1856929"/>
            <a:ext cx="2444948" cy="526852"/>
          </a:xfrm>
          <a:prstGeom prst="roundRect">
            <a:avLst>
              <a:gd name="adj" fmla="val 964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225826" y="1945779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50 rounds × 200 turns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25826" y="2085380"/>
            <a:ext cx="223486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Scaffold가 설계한 50R×200T 루프 구조가 Runtime에서 그대로 실행된다. 실측 평균 종료: 4.2 라운드.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098875" y="2459980"/>
            <a:ext cx="2444948" cy="631627"/>
          </a:xfrm>
          <a:prstGeom prst="roundRect">
            <a:avLst>
              <a:gd name="adj" fmla="val 80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225826" y="2548830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3-Provider Failover + 5-Tier Safety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25826" y="2688431"/>
            <a:ext cx="22348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Mining에서 3/4 수렴으로 선택한 3-Provider Failover + 5-Tier Safety가 Runtime에서 단일 장애점 0을 달성한다.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4098875" y="3167807"/>
            <a:ext cx="2444948" cy="631627"/>
          </a:xfrm>
          <a:prstGeom prst="roundRect">
            <a:avLst>
              <a:gd name="adj" fmla="val 804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225826" y="3256657"/>
            <a:ext cx="22348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3,216 Tests · 187 Modules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25826" y="3396258"/>
            <a:ext cx="2234869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없이 커밋을 허용하면 회귀가 누적되기 때문에 70% 테스트 비율을 CANNOT으로 강제한다. 결과: 3,216 Tests, 40/40 무회귀.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807250" y="838051"/>
            <a:ext cx="1879550" cy="4076998"/>
          </a:xfrm>
          <a:prstGeom prst="roundRect">
            <a:avLst>
              <a:gd name="adj" fmla="val 4054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969175" y="1931194"/>
            <a:ext cx="158681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구조적 동형인가?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69175" y="2131219"/>
            <a:ext cx="1586814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설계가 아닌 발견이었다. Scaffold가 성숙하면서 Runtime과 자연스럽게 동형 구조가 되고, 의도한 것이 아니라 좋은 설계의 부산물이다.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969175" y="2740223"/>
            <a:ext cx="1555700" cy="586085"/>
          </a:xfrm>
          <a:prstGeom prst="roundRect">
            <a:avLst>
              <a:gd name="adj" fmla="val 866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7083475" y="2841724"/>
            <a:ext cx="135364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규칙 위반 → 빌드 실패</a:t>
            </a:r>
            <a:endParaRPr lang="en-US" sz="600" dirty="0"/>
          </a:p>
        </p:txBody>
      </p:sp>
      <p:sp>
        <p:nvSpPr>
          <p:cNvPr id="43" name="Text 41"/>
          <p:cNvSpPr/>
          <p:nvPr/>
        </p:nvSpPr>
        <p:spPr>
          <a:xfrm>
            <a:off x="7083475" y="2973586"/>
            <a:ext cx="135364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규칙 위반 → 실행 차단</a:t>
            </a:r>
            <a:endParaRPr lang="en-US" sz="600" dirty="0"/>
          </a:p>
        </p:txBody>
      </p:sp>
      <p:sp>
        <p:nvSpPr>
          <p:cNvPr id="44" name="Text 42"/>
          <p:cNvSpPr/>
          <p:nvPr/>
        </p:nvSpPr>
        <p:spPr>
          <a:xfrm>
            <a:off x="7083475" y="3118247"/>
            <a:ext cx="1353642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300"/>
              </a:spcBef>
              <a:buNone/>
            </a:pPr>
            <a:r>
              <a:rPr lang="en-US" sz="6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원칙, 다른 계층에서 작동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6969175" y="3407271"/>
            <a:ext cx="15557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4"/>
          <p:cNvSpPr/>
          <p:nvPr/>
        </p:nvSpPr>
        <p:spPr>
          <a:xfrm>
            <a:off x="6969175" y="3488234"/>
            <a:ext cx="158681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6969175" y="3608784"/>
            <a:ext cx="1586814" cy="213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동형 유지 비용: Scaffold 변경 시 Runtime도 동기화 필요. 수익: 설계 결정이 코드로 직접 흐른다.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457200" y="4978450"/>
            <a:ext cx="99872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1,174 커밋 · 36일</a:t>
            </a:r>
            <a:endParaRPr lang="en-US" sz="500" dirty="0"/>
          </a:p>
        </p:txBody>
      </p:sp>
      <p:sp>
        <p:nvSpPr>
          <p:cNvPr id="49" name="Text 47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35</a:t>
            </a:r>
            <a:endParaRPr lang="en-US" sz="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CANNOT: 6 핵심 규칙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LLM에게 자유를 주되 발산을 막는 헌법: 금지 규칙이 명확할수록 허용 공간이 넓어진다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47576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6326" y="974527"/>
            <a:ext cx="30801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격리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971699" y="971401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35100" y="984052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606326" y="1133177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없이 코드 작업 금지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6326" y="1307753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에이전트가 main 브랜치에 직접 쓰면 병렬 작업 충돌이 발생한다. 각 태스크는 반드시 독립 worktree에서 실행돼야 한다.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48050" y="847576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97176" y="974527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품질 게이트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4069705" y="971401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33106" y="984052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3597176" y="1133177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lint/type/test 실패 상태 커밋 금지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97176" y="1307753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실패한 상태의 커밋은 다음 에이전트를 오염시킨다. CI가 3종 체크를 모두 통과한 후에만 머지를 허용한다.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457200" y="2205484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6326" y="2332434"/>
            <a:ext cx="5208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과잉 구현 방지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180356" y="2329309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43757" y="2341959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606326" y="2491085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승인 없이 구현 착수 금지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06326" y="2665661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LLM은 승인 없이 구현하려는 성질이 있다. 설계 문서에 인간 승인 서명이 없으면 첫 줄도 작성하지 않는다.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48050" y="2205484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97176" y="2332434"/>
            <a:ext cx="235297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추적성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91260" y="2329309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954661" y="2341959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3597176" y="2491085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없이 기능 커밋 금지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97176" y="2665661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 PR의 결정 근거가 사라지면 재설계 비용이 폭증한다. 모든 기능 커밋은 CHANGELOG 항목을 동반해야 한다.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457200" y="3563392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06326" y="3690342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브랜치 보호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1078855" y="3687217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142256" y="3699867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606326" y="3848993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main/develop 직접 push 금지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06326" y="4023568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 브랜치에 직접 쓰면 병렬 에이전트 간 충돌이 발생한다. 모든 변경은 worktree PR을 통해서만 머지된다.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3448050" y="3563392"/>
            <a:ext cx="2927449" cy="1294507"/>
          </a:xfrm>
          <a:prstGeom prst="roundRect">
            <a:avLst>
              <a:gd name="adj" fmla="val 5886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597176" y="3690342"/>
            <a:ext cx="41731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일관성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4069705" y="3687217"/>
            <a:ext cx="452735" cy="111026"/>
          </a:xfrm>
          <a:prstGeom prst="roundRect">
            <a:avLst>
              <a:gd name="adj" fmla="val 22878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4133106" y="3699867"/>
            <a:ext cx="3324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b="1" dirty="0">
                <a:solidFill>
                  <a:srgbClr val="0D11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3597176" y="3848993"/>
            <a:ext cx="268178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버전 번호 4곳 불일치 금지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597176" y="4023568"/>
            <a:ext cx="26817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pyproject.toml · CHANGELOG · __version__ · API 응답의 4곳이 불일치하면 배포 검증이 실패한다. 기능 커밋 전 동기화를 강제한다.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477000" y="847576"/>
            <a:ext cx="2209800" cy="1635323"/>
          </a:xfrm>
          <a:prstGeom prst="roundRect">
            <a:avLst>
              <a:gd name="adj" fmla="val 4660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6651575" y="996702"/>
            <a:ext cx="40349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2800" dirty="0"/>
          </a:p>
        </p:txBody>
      </p:sp>
      <p:sp>
        <p:nvSpPr>
          <p:cNvPr id="44" name="Text 42"/>
          <p:cNvSpPr/>
          <p:nvPr/>
        </p:nvSpPr>
        <p:spPr>
          <a:xfrm>
            <a:off x="7123361" y="1234827"/>
            <a:ext cx="70088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 규칙 추가</a:t>
            </a:r>
            <a:endParaRPr lang="en-US" sz="700" dirty="0"/>
          </a:p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CLAUDE.md 수록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51575" y="1559570"/>
            <a:ext cx="1897862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나머지 17개 규칙은 CLAUDE.md 425줄에 명시. 하나라도 위반하면 CI가 머지를 차단한다.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6651575" y="1902172"/>
            <a:ext cx="1860649" cy="431602"/>
          </a:xfrm>
          <a:prstGeom prst="roundRect">
            <a:avLst>
              <a:gd name="adj" fmla="val 1177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765875" y="2003673"/>
            <a:ext cx="16646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타이포그래피 4개 · 레이아웃 5개</a:t>
            </a:r>
            <a:endParaRPr lang="en-US" sz="600" dirty="0"/>
          </a:p>
          <a:p>
            <a:pPr marL="0" indent="0" algn="l">
              <a:lnSpc>
                <a:spcPts val="900"/>
              </a:lnSpc>
              <a:buNone/>
            </a:pPr>
            <a:r>
              <a:rPr lang="en-US" sz="60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4개 · 운영 4개</a:t>
            </a:r>
            <a:endParaRPr lang="en-US" sz="600" dirty="0"/>
          </a:p>
        </p:txBody>
      </p:sp>
      <p:sp>
        <p:nvSpPr>
          <p:cNvPr id="48" name="Text 46"/>
          <p:cNvSpPr/>
          <p:nvPr/>
        </p:nvSpPr>
        <p:spPr>
          <a:xfrm>
            <a:off x="6477000" y="2559100"/>
            <a:ext cx="2209800" cy="2298799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651575" y="2708225"/>
            <a:ext cx="38100" cy="15240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53076" y="2722513"/>
            <a:ext cx="67477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CAN: 허용 공간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651575" y="2924026"/>
            <a:ext cx="1897862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명확할수록 허용 공간이 넓어진다. 금지 규칙이 경계를 정하면, 그 안에서 LLM은 구체적 숫자, DAG, 인과 서술로 자유롭게 표현한다.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6651575" y="4400996"/>
            <a:ext cx="1860649" cy="307777"/>
          </a:xfrm>
          <a:prstGeom prst="roundRect">
            <a:avLst>
              <a:gd name="adj" fmla="val 165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765875" y="4502497"/>
            <a:ext cx="166469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문제→설계→결과 인과 흐름 시각화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57200" y="4908649"/>
            <a:ext cx="17290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702915" y="4956274"/>
            <a:ext cx="1461424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전체 규칙: 제약이 명확할수록 자유가 넓어진다</a:t>
            </a:r>
            <a:endParaRPr lang="en-US" sz="500" dirty="0"/>
          </a:p>
        </p:txBody>
      </p:sp>
      <p:sp>
        <p:nvSpPr>
          <p:cNvPr id="56" name="Text 54"/>
          <p:cNvSpPr/>
          <p:nvPr/>
        </p:nvSpPr>
        <p:spPr>
          <a:xfrm>
            <a:off x="8492728" y="4961037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35</a:t>
            </a:r>
            <a:endParaRPr lang="en-US" sz="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58701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Development Loop + Socratic Gate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키보드에 손이 닿는 순간 하네스는 실패하기 때문에 스캐폴딩이 구현보다 앞서야 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822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Socratic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56822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정제: 5W로 전제 검증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84785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3835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4937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Frontier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14937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Code/Devin GAP 리서치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342900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1950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73052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Design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73052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 + Trade-off 결정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5010150" y="2440186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00650" y="230534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311676" y="2403723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Implement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5311676" y="253379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 테스트 비율 목표 구현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558701" y="2828925"/>
            <a:ext cx="2568476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177927" y="2790825"/>
            <a:ext cx="53541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실패 시 ①로 복귀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3753594" y="2828925"/>
            <a:ext cx="2568476" cy="9525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72820" y="2781300"/>
            <a:ext cx="5465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457200" y="2949476"/>
            <a:ext cx="1327249" cy="498277"/>
          </a:xfrm>
          <a:prstGeom prst="roundRect">
            <a:avLst>
              <a:gd name="adj" fmla="val 10195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8226" y="3047851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CHANGELOG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68226" y="3177927"/>
            <a:ext cx="11273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결정 이력 기록: 다음 Frontier 입력으로 연결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184785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03835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14937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Release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214937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+ Semver 태깅 · 39회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342900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1950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373052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E2E Verify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73052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3,216 테스트 + Hook 회귀 검사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5010150" y="3127177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00650" y="2992338"/>
            <a:ext cx="1327249" cy="412552"/>
          </a:xfrm>
          <a:prstGeom prst="roundRect">
            <a:avLst>
              <a:gd name="adj" fmla="val 1231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311676" y="3090714"/>
            <a:ext cx="112730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4-Persona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5311676" y="3220789"/>
            <a:ext cx="11273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Architect/Security/QA/Perf 리뷰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6654850" y="838051"/>
            <a:ext cx="2031950" cy="1657796"/>
          </a:xfrm>
          <a:prstGeom prst="roundRect">
            <a:avLst>
              <a:gd name="adj" fmla="val 459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16775" y="974527"/>
            <a:ext cx="174226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(①)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816775" y="1149102"/>
            <a:ext cx="1742262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 전 반드시 통과해야 하는 5가지 질문: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16775" y="1333054"/>
            <a:ext cx="1708100" cy="676275"/>
          </a:xfrm>
          <a:prstGeom prst="rect">
            <a:avLst/>
          </a:prstGeom>
          <a:noFill/>
          <a:ln/>
        </p:spPr>
        <p:txBody>
          <a:bodyPr wrap="square" lIns="76200" tIns="0" rIns="0" bIns="0" rtlCol="0" anchor="t"/>
          <a:lstStyle/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기능이 필요한가?</a:t>
            </a:r>
            <a:endParaRPr lang="en-US" sz="7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어떤 실패 모드가 있는가?</a:t>
            </a:r>
            <a:endParaRPr lang="en-US" sz="7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Trade-off는 무엇인가?</a:t>
            </a:r>
            <a:endParaRPr lang="en-US" sz="7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가능한가?</a:t>
            </a:r>
            <a:endParaRPr lang="en-US" sz="700" dirty="0"/>
          </a:p>
          <a:p>
            <a:pPr marL="76200" indent="-76200" algn="l">
              <a:spcAft>
                <a:spcPts val="300"/>
              </a:spcAft>
              <a:buSzPct val="100000"/>
              <a:buChar char="•"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CHANGELOG에 이유를 쓸 수 있는가?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16775" y="2110829"/>
            <a:ext cx="1742262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Bef>
                <a:spcPts val="4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5가지를 답하지 못하면 코드 작성 불가이며 루프가 ①로 되돌아간다.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654850" y="2597348"/>
            <a:ext cx="2031950" cy="1773585"/>
          </a:xfrm>
          <a:prstGeom prst="roundRect">
            <a:avLst>
              <a:gd name="adj" fmla="val 2864"/>
            </a:avLst>
          </a:prstGeom>
          <a:solidFill>
            <a:srgbClr val="1E293B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791325" y="2695724"/>
            <a:ext cx="179418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8단계인가?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91325" y="2895600"/>
            <a:ext cx="1794180" cy="372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5단계(Plan→Implement→Test→Merge→Deploy)면 충분하지 않은가?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6791325" y="3344466"/>
            <a:ext cx="847725" cy="928092"/>
          </a:xfrm>
          <a:prstGeom prst="roundRect">
            <a:avLst>
              <a:gd name="adj" fmla="val 44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6892826" y="3433316"/>
            <a:ext cx="65761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5단계 부재 시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6892826" y="3544342"/>
            <a:ext cx="657618" cy="639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Audit·Socratic Gate 없으면 불필요한 구현이 50%에 달하며 잘못된 전제로 PR이 병합된다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7702451" y="3344466"/>
            <a:ext cx="847874" cy="928092"/>
          </a:xfrm>
          <a:prstGeom prst="roundRect">
            <a:avLst>
              <a:gd name="adj" fmla="val 4494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803952" y="3433316"/>
            <a:ext cx="657770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8단계 추가 비용</a:t>
            </a:r>
            <a:endParaRPr lang="en-US" sz="600" dirty="0"/>
          </a:p>
        </p:txBody>
      </p:sp>
      <p:sp>
        <p:nvSpPr>
          <p:cNvPr id="53" name="Text 51"/>
          <p:cNvSpPr/>
          <p:nvPr/>
        </p:nvSpPr>
        <p:spPr>
          <a:xfrm>
            <a:off x="7803952" y="3544342"/>
            <a:ext cx="657770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①② Socratic+Frontier로 착수가 느리지만, 회귀 없는 39회 릴리스가 증거다</a:t>
            </a:r>
            <a:endParaRPr lang="en-US" sz="600" dirty="0"/>
          </a:p>
        </p:txBody>
      </p:sp>
      <p:sp>
        <p:nvSpPr>
          <p:cNvPr id="54" name="Text 52"/>
          <p:cNvSpPr/>
          <p:nvPr/>
        </p:nvSpPr>
        <p:spPr>
          <a:xfrm>
            <a:off x="457200" y="4978450"/>
            <a:ext cx="1561615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21 Skills · LEARNINGS.md 패턴 축적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35</a:t>
            </a:r>
            <a:endParaRPr lang="en-US" sz="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Mining: 4개 하네스 GAP 분석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자체 발명은 검증 비용이 높으므로, 먼저 읽고 3/4 수렴 규칙으로 차용 여부를 결정한다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2787700" cy="2008436"/>
          </a:xfrm>
          <a:prstGeom prst="roundRect">
            <a:avLst>
              <a:gd name="adj" fmla="val 379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958602"/>
            <a:ext cx="25650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93675" y="1111002"/>
            <a:ext cx="2565044" cy="130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패턴: LLM이 tool_use를 반환하는 한 루프를 유지하는 구조를 직접 확인한다. GEODE AgenticLoop 50 라운드 설계의 직접 근거가 된다.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93675" y="2455962"/>
            <a:ext cx="2514749" cy="263426"/>
          </a:xfrm>
          <a:prstGeom prst="roundRect">
            <a:avLst>
              <a:gd name="adj" fmla="val 192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07975" y="2544812"/>
            <a:ext cx="23318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루프 계속 조건 + end_turn 종료 패턴</a:t>
            </a:r>
            <a:endParaRPr lang="en-US" sz="600" dirty="0"/>
          </a:p>
        </p:txBody>
      </p:sp>
      <p:sp>
        <p:nvSpPr>
          <p:cNvPr id="11" name="Text 9"/>
          <p:cNvSpPr/>
          <p:nvPr/>
        </p:nvSpPr>
        <p:spPr>
          <a:xfrm>
            <a:off x="3308300" y="834777"/>
            <a:ext cx="2787848" cy="2008436"/>
          </a:xfrm>
          <a:prstGeom prst="roundRect">
            <a:avLst>
              <a:gd name="adj" fmla="val 379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44776" y="958602"/>
            <a:ext cx="25651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autoresearch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44776" y="1111002"/>
            <a:ext cx="2565196" cy="130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 P1 제약 기반 설계, P4 래칫(되돌아가지 않음), P6 컨텍스트 예산 명시: 이 세 원칙이 CLAUDE.md 규칙 체계의 뼈대가 된다.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444776" y="2455962"/>
            <a:ext cx="2514898" cy="263426"/>
          </a:xfrm>
          <a:prstGeom prst="roundRect">
            <a:avLst>
              <a:gd name="adj" fmla="val 192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559076" y="2544812"/>
            <a:ext cx="23320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P1/P4/P6 → CANNOT 규칙 3종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457200" y="2906613"/>
            <a:ext cx="2787700" cy="2008436"/>
          </a:xfrm>
          <a:prstGeom prst="roundRect">
            <a:avLst>
              <a:gd name="adj" fmla="val 379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3675" y="3030438"/>
            <a:ext cx="2565044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OpenClaw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93675" y="3182838"/>
            <a:ext cx="2565044" cy="130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Gateway, Session Key, Lane Queue, Plugin 4-계층 디스패치 구조에서 에이전트 요청을 분리된 채널로 라우팅하는 아이디어를 얻는다.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93675" y="4527798"/>
            <a:ext cx="2514749" cy="263426"/>
          </a:xfrm>
          <a:prstGeom prst="roundRect">
            <a:avLst>
              <a:gd name="adj" fmla="val 192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7975" y="4616648"/>
            <a:ext cx="233187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SessionKey 격리 + LaneQueue 우선순위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3308300" y="2906613"/>
            <a:ext cx="2787848" cy="2008436"/>
          </a:xfrm>
          <a:prstGeom prst="roundRect">
            <a:avLst>
              <a:gd name="adj" fmla="val 379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444776" y="3030438"/>
            <a:ext cx="2565196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Codex CLI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44776" y="3182838"/>
            <a:ext cx="2565196" cy="1306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격리, .owner 파일 보호, Dumb Platform 원칙으로 Git 충돌 없이 여러 에이전트가 병렬 작업하는 구조의 실증 사례다.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444776" y="4527798"/>
            <a:ext cx="2514898" cy="263426"/>
          </a:xfrm>
          <a:prstGeom prst="roundRect">
            <a:avLst>
              <a:gd name="adj" fmla="val 19284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559076" y="4616648"/>
            <a:ext cx="233202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채택: Worktree 의무화 → CANNOT Git 규칙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6197650" y="834777"/>
            <a:ext cx="2489150" cy="945505"/>
          </a:xfrm>
          <a:prstGeom prst="roundRect">
            <a:avLst>
              <a:gd name="adj" fmla="val 805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6197650" y="839539"/>
            <a:ext cx="24891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6"/>
          <p:cNvSpPr/>
          <p:nvPr/>
        </p:nvSpPr>
        <p:spPr>
          <a:xfrm>
            <a:off x="8682038" y="834777"/>
            <a:ext cx="0" cy="945505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7"/>
          <p:cNvSpPr/>
          <p:nvPr/>
        </p:nvSpPr>
        <p:spPr>
          <a:xfrm>
            <a:off x="6197650" y="1775520"/>
            <a:ext cx="2489150" cy="0"/>
          </a:xfrm>
          <a:prstGeom prst="line">
            <a:avLst/>
          </a:prstGeom>
          <a:noFill/>
          <a:ln w="9525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8"/>
          <p:cNvSpPr/>
          <p:nvPr/>
        </p:nvSpPr>
        <p:spPr>
          <a:xfrm>
            <a:off x="6216700" y="834777"/>
            <a:ext cx="0" cy="945505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6375350" y="958602"/>
            <a:ext cx="2205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 4개 하네스인가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375350" y="1123652"/>
            <a:ext cx="2205570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Code, autoresearch, OpenClaw, Codex CLI를 선택한 이유: 이 4개가 현존하는 프론티어 에이전트 하네스 중 가장 성숙하고, 소스 코드 또는 설계 문서가 공개되어 패턴을 추출할 수 있기 때문이다.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197650" y="1843683"/>
            <a:ext cx="2489150" cy="1516707"/>
          </a:xfrm>
          <a:prstGeom prst="roundRect">
            <a:avLst>
              <a:gd name="adj" fmla="val 5024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197650" y="1848445"/>
            <a:ext cx="24891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33"/>
          <p:cNvSpPr/>
          <p:nvPr/>
        </p:nvSpPr>
        <p:spPr>
          <a:xfrm>
            <a:off x="8682038" y="1843683"/>
            <a:ext cx="0" cy="1516707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4"/>
          <p:cNvSpPr/>
          <p:nvPr/>
        </p:nvSpPr>
        <p:spPr>
          <a:xfrm>
            <a:off x="6197650" y="3355628"/>
            <a:ext cx="2489150" cy="0"/>
          </a:xfrm>
          <a:prstGeom prst="line">
            <a:avLst/>
          </a:prstGeom>
          <a:noFill/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5"/>
          <p:cNvSpPr/>
          <p:nvPr/>
        </p:nvSpPr>
        <p:spPr>
          <a:xfrm>
            <a:off x="6216700" y="1843683"/>
            <a:ext cx="0" cy="1516707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6375350" y="1967508"/>
            <a:ext cx="220557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7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자체 발명 vs 검증된 패턴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75350" y="2132558"/>
            <a:ext cx="220557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자체 발명은 독창적이지만 검증 비용이 높다. 프론티어 하네스에서 이미 검증된 패턴을 채택하면 설계 리스크를 줄인다.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375350" y="2437061"/>
            <a:ext cx="220557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3종 이상 합의된 패턴만 채택하고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1종에서만 존재하는 패턴은 Socratic Gate Q5에서 재검증한다.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375350" y="2766864"/>
            <a:ext cx="2162324" cy="469702"/>
          </a:xfrm>
          <a:prstGeom prst="roundRect">
            <a:avLst>
              <a:gd name="adj" fmla="val 10815"/>
            </a:avLst>
          </a:prstGeom>
          <a:solidFill>
            <a:srgbClr val="0D1117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489650" y="2868364"/>
            <a:ext cx="32425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3/4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883747" y="2877443"/>
            <a:ext cx="624524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 시 채택</a:t>
            </a:r>
            <a:endParaRPr lang="en-US" sz="700" dirty="0"/>
          </a:p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미달 시 독자 설계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57200" y="4978450"/>
            <a:ext cx="2935447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Frontier Mining: 읽고 차용하고, 없으면 설계한다 · 3/4 수렴 규칙 · Socratic Gate Q5 재검증</a:t>
            </a:r>
            <a:endParaRPr lang="en-US" sz="500" dirty="0"/>
          </a:p>
        </p:txBody>
      </p:sp>
      <p:sp>
        <p:nvSpPr>
          <p:cNvPr id="45" name="Text 43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35</a:t>
            </a:r>
            <a:endParaRPr lang="en-US" sz="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Review: 구현 전 맹점 제거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관점 리뷰는 Confirmation Bias로 자기 설계의 결함을 놓친다. 4인격이 각자 다른 failure mode를 담당하므로 한 시점의 맹점을 다른 시점이 잡는다.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834777"/>
            <a:ext cx="0" cy="469404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34901" y="936278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34901" y="1069628"/>
            <a:ext cx="544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누락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1295251" y="936278"/>
            <a:ext cx="475452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레이어 의존성 역전 여부, 인터페이스 일관성, v0.40 생존 가능성을 검사한다. 상위 레이어가 하위를 직접 임포트하거나 플러그인 교체 시 코어 수정이 발생하면 블로킹한다.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457200" y="1367582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76250" y="1367582"/>
            <a:ext cx="0" cy="469404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634901" y="1469082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Karpathy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4901" y="1602432"/>
            <a:ext cx="544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과잉 구현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1295251" y="1469082"/>
            <a:ext cx="475452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 비용, 지연 시간, 캐시 히트율을 기준으로 과잉 구현을 차단한다. LLM 호출을 줄이거나 컨텍스트를 재사용하는 더 단순한 경로가 있으면 반드시 제안한다.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57200" y="1900386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6250" y="1900386"/>
            <a:ext cx="0" cy="46940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34901" y="2001887"/>
            <a:ext cx="64790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Steinberger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4901" y="2135237"/>
            <a:ext cx="64790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장애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1397050" y="2001887"/>
            <a:ext cx="4650688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인젝션, 권한 에스컬레이션, Trust Model 위반을 탐지한다. 외부 입력이 직접 shell로 전달되는 경로가 있으면 머지 전에 차단하므로 .env 파일 권한 취약점도 이 단계에서 포착한다.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57200" y="2433191"/>
            <a:ext cx="5638949" cy="469404"/>
          </a:xfrm>
          <a:prstGeom prst="roundRect">
            <a:avLst>
              <a:gd name="adj" fmla="val 10822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76250" y="2433191"/>
            <a:ext cx="0" cy="469404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634901" y="2534692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Cherny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4901" y="2668042"/>
            <a:ext cx="5440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안전</a:t>
            </a:r>
            <a:endParaRPr lang="en-US" sz="600" dirty="0"/>
          </a:p>
        </p:txBody>
      </p:sp>
      <p:sp>
        <p:nvSpPr>
          <p:cNvPr id="25" name="Text 23"/>
          <p:cNvSpPr/>
          <p:nvPr/>
        </p:nvSpPr>
        <p:spPr>
          <a:xfrm>
            <a:off x="1295251" y="2534692"/>
            <a:ext cx="4754523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엣지 케이스, 회귀 가능성, 커버리지를 확인한다. 새로운 코드 경로가 3,216 기존 테스트를 깨거나 에이전트 루프 안전 조건을 위반하면 블로킹한다.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197650" y="834777"/>
            <a:ext cx="2489150" cy="1609576"/>
          </a:xfrm>
          <a:prstGeom prst="roundRect">
            <a:avLst>
              <a:gd name="adj" fmla="val 4734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59575" y="971252"/>
            <a:ext cx="38100" cy="152400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473875" y="985540"/>
            <a:ext cx="106946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4인 리뷰 비용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59575" y="1187053"/>
            <a:ext cx="2208606" cy="53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4인 리뷰는 단일 리뷰보다 시간이 4배 걸린다. 그러나 머지 후 P0 보안 이슈를 발견하는 비용은 리뷰 비용의 10배를 넘는다. 리뷰 시간에 투자하면 사후 복구 비용을 회피하므로 순이익이 발생한다.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359575" y="1783259"/>
            <a:ext cx="2165300" cy="524619"/>
          </a:xfrm>
          <a:prstGeom prst="roundRect">
            <a:avLst>
              <a:gd name="adj" fmla="val 968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6473875" y="1872109"/>
            <a:ext cx="1975434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실증:</a:t>
            </a:r>
            <a:r>
              <a:rPr lang="en-US" sz="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.env 환경변수를 LLM 프롬프트에 직접 삽입하는 경로를 Steinberger가 머지 전에 포착. CANNOT 규칙 추가로 API 키 유출 벡터 영구 차단.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6197650" y="2520553"/>
            <a:ext cx="2489150" cy="2394496"/>
          </a:xfrm>
          <a:prstGeom prst="roundRect">
            <a:avLst>
              <a:gd name="adj" fmla="val 3182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59575" y="2657029"/>
            <a:ext cx="38100" cy="152400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473875" y="2671316"/>
            <a:ext cx="4447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4명인가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59575" y="2872829"/>
            <a:ext cx="2208606" cy="6660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4명의 페르소나는 각각 다른 failure mode를 담당한다. Beck은 테스트 누락, Karpathy는 과잉 구현, Steinberger는 운영 장애, Cherny는 에이전트 안전을 맡는다. 한 시점에서는 놓치는 결함을 다른 시점이 잡으므로, 단일 설계자의 Confirmation Bias가 구조적으로 제거된다.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359575" y="3602236"/>
            <a:ext cx="2208606" cy="39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4인격은 별도 LLM 세션이 아니다. 동일 컨텍스트에서 역할을 명시적으로 전환하는 프롬프트 패턴이므로 비용은 1회 추론이다.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457200" y="4978450"/>
            <a:ext cx="203843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Beck × Karpathy × Steinberger × Cherny: 4인격 1세션</a:t>
            </a:r>
            <a:endParaRPr lang="en-US" sz="500" dirty="0"/>
          </a:p>
        </p:txBody>
      </p:sp>
      <p:sp>
        <p:nvSpPr>
          <p:cNvPr id="38" name="Text 36"/>
          <p:cNvSpPr/>
          <p:nvPr/>
        </p:nvSpPr>
        <p:spPr>
          <a:xfrm>
            <a:off x="8457456" y="4978450"/>
            <a:ext cx="233931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26b / 35</a:t>
            </a:r>
            <a:endParaRPr lang="en-US" sz="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0360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Velocity: Phase 0-5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제약이 성숙하면 속도가 폭발한다. Phase 0의 4 commits/day에서 Phase 5의 </a:t>
            </a: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 commits/day</a:t>
            </a: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가속하는 것은 우연이 아니라 구조적 결과이다.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2613273"/>
            <a:ext cx="554436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커밋 수 (실제 비율)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834182" y="4438948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4572298"/>
            <a:ext cx="853083" cy="101501"/>
          </a:xfrm>
          <a:prstGeom prst="roundRect">
            <a:avLst>
              <a:gd name="adj" fmla="val 37537"/>
            </a:avLst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726109" y="4349948"/>
            <a:ext cx="151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373684" y="4483298"/>
            <a:ext cx="853232" cy="190500"/>
          </a:xfrm>
          <a:prstGeom prst="roundRect">
            <a:avLst>
              <a:gd name="adj" fmla="val 2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42592" y="4248448"/>
            <a:ext cx="151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210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2290316" y="4381798"/>
            <a:ext cx="853083" cy="292001"/>
          </a:xfrm>
          <a:prstGeom prst="roundRect">
            <a:avLst>
              <a:gd name="adj" fmla="val 13048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06242" y="2870448"/>
            <a:ext cx="25928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1,174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06800" y="3022848"/>
            <a:ext cx="853083" cy="1650950"/>
          </a:xfrm>
          <a:prstGeom prst="roundRect">
            <a:avLst>
              <a:gd name="adj" fmla="val 4466"/>
            </a:avLst>
          </a:prstGeom>
          <a:solidFill>
            <a:srgbClr val="F5C542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475559" y="4007048"/>
            <a:ext cx="1513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123283" y="4140398"/>
            <a:ext cx="853083" cy="533400"/>
          </a:xfrm>
          <a:prstGeom prst="roundRect">
            <a:avLst>
              <a:gd name="adj" fmla="val 7143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327898" y="4349948"/>
            <a:ext cx="28220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67/day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5039767" y="4483298"/>
            <a:ext cx="853083" cy="1905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57200" y="4673798"/>
            <a:ext cx="5435650" cy="190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48669" y="4743599"/>
            <a:ext cx="8701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448669" y="4838849"/>
            <a:ext cx="870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</a:t>
            </a:r>
            <a:endParaRPr lang="en-US" sz="600" dirty="0"/>
          </a:p>
        </p:txBody>
      </p:sp>
      <p:sp>
        <p:nvSpPr>
          <p:cNvPr id="22" name="Text 20"/>
          <p:cNvSpPr/>
          <p:nvPr/>
        </p:nvSpPr>
        <p:spPr>
          <a:xfrm>
            <a:off x="1365151" y="4743599"/>
            <a:ext cx="87029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365151" y="4838849"/>
            <a:ext cx="87029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2281785" y="4743599"/>
            <a:ext cx="8701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2281785" y="4838849"/>
            <a:ext cx="870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3198269" y="4743599"/>
            <a:ext cx="8701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198269" y="4838849"/>
            <a:ext cx="870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 ★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4114752" y="4743599"/>
            <a:ext cx="8701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4114752" y="4838849"/>
            <a:ext cx="870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4-5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5031236" y="4743599"/>
            <a:ext cx="87014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031236" y="4838849"/>
            <a:ext cx="87014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36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6019800" y="1166068"/>
            <a:ext cx="2667000" cy="272951"/>
          </a:xfrm>
          <a:prstGeom prst="roundRect">
            <a:avLst>
              <a:gd name="adj" fmla="val 186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038850" y="1166068"/>
            <a:ext cx="0" cy="272951"/>
          </a:xfrm>
          <a:prstGeom prst="line">
            <a:avLst/>
          </a:prstGeom>
          <a:noFill/>
          <a:ln w="381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32"/>
          <p:cNvSpPr/>
          <p:nvPr/>
        </p:nvSpPr>
        <p:spPr>
          <a:xfrm>
            <a:off x="6172200" y="1254919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344394" y="1259681"/>
            <a:ext cx="18940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Bootstrap · CLAUDE.md 초안, 첫 CANNOT 규칙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8485584" y="1259681"/>
            <a:ext cx="886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1×</a:t>
            </a:r>
            <a:endParaRPr lang="en-US" sz="600" dirty="0"/>
          </a:p>
        </p:txBody>
      </p:sp>
      <p:sp>
        <p:nvSpPr>
          <p:cNvPr id="37" name="Text 35"/>
          <p:cNvSpPr/>
          <p:nvPr/>
        </p:nvSpPr>
        <p:spPr>
          <a:xfrm>
            <a:off x="6019800" y="1489770"/>
            <a:ext cx="2667000" cy="272951"/>
          </a:xfrm>
          <a:prstGeom prst="roundRect">
            <a:avLst>
              <a:gd name="adj" fmla="val 186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38850" y="1489770"/>
            <a:ext cx="0" cy="272951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7"/>
          <p:cNvSpPr/>
          <p:nvPr/>
        </p:nvSpPr>
        <p:spPr>
          <a:xfrm>
            <a:off x="6172200" y="1578620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6344394" y="1583382"/>
            <a:ext cx="105959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— 회귀 60% 감소</a:t>
            </a:r>
            <a:endParaRPr lang="en-US" sz="600" dirty="0"/>
          </a:p>
        </p:txBody>
      </p:sp>
      <p:sp>
        <p:nvSpPr>
          <p:cNvPr id="41" name="Text 39"/>
          <p:cNvSpPr/>
          <p:nvPr/>
        </p:nvSpPr>
        <p:spPr>
          <a:xfrm>
            <a:off x="8422035" y="1583382"/>
            <a:ext cx="15347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2.5×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6019800" y="1813471"/>
            <a:ext cx="2667000" cy="272951"/>
          </a:xfrm>
          <a:prstGeom prst="roundRect">
            <a:avLst>
              <a:gd name="adj" fmla="val 186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6038850" y="1813471"/>
            <a:ext cx="0" cy="272951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172200" y="1902321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344394" y="1907084"/>
            <a:ext cx="14746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Loop + CI Gate — 불필요 작업 50%↓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485584" y="1907084"/>
            <a:ext cx="886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6019800" y="2137172"/>
            <a:ext cx="2667000" cy="412552"/>
          </a:xfrm>
          <a:prstGeom prst="roundRect">
            <a:avLst>
              <a:gd name="adj" fmla="val 12314"/>
            </a:avLst>
          </a:prstGeom>
          <a:solidFill>
            <a:srgbClr val="1A1500"/>
          </a:solidFill>
          <a:ln w="19050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153150" y="2291060"/>
            <a:ext cx="214500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★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426845" y="2257723"/>
            <a:ext cx="20010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AgenticLoop + Hook 자율 실행 — 복리 회수 시작. PR 500+ 돌파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8452098" y="2295823"/>
            <a:ext cx="10337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019800" y="2600474"/>
            <a:ext cx="2667000" cy="272951"/>
          </a:xfrm>
          <a:prstGeom prst="roundRect">
            <a:avLst>
              <a:gd name="adj" fmla="val 186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Shape 50"/>
          <p:cNvSpPr/>
          <p:nvPr/>
        </p:nvSpPr>
        <p:spPr>
          <a:xfrm>
            <a:off x="6038850" y="2600474"/>
            <a:ext cx="0" cy="272951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51"/>
          <p:cNvSpPr/>
          <p:nvPr/>
        </p:nvSpPr>
        <p:spPr>
          <a:xfrm>
            <a:off x="6172200" y="2689324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P4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6344394" y="2694087"/>
            <a:ext cx="134013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이식 — Domain Portability 실증</a:t>
            </a:r>
            <a:endParaRPr lang="en-US" sz="600" dirty="0"/>
          </a:p>
        </p:txBody>
      </p:sp>
      <p:sp>
        <p:nvSpPr>
          <p:cNvPr id="55" name="Text 53"/>
          <p:cNvSpPr/>
          <p:nvPr/>
        </p:nvSpPr>
        <p:spPr>
          <a:xfrm>
            <a:off x="8443168" y="2694087"/>
            <a:ext cx="13191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12×</a:t>
            </a:r>
            <a:endParaRPr lang="en-US" sz="600" dirty="0"/>
          </a:p>
        </p:txBody>
      </p:sp>
      <p:sp>
        <p:nvSpPr>
          <p:cNvPr id="56" name="Text 54"/>
          <p:cNvSpPr/>
          <p:nvPr/>
        </p:nvSpPr>
        <p:spPr>
          <a:xfrm>
            <a:off x="6019800" y="2924175"/>
            <a:ext cx="2667000" cy="272951"/>
          </a:xfrm>
          <a:prstGeom prst="roundRect">
            <a:avLst>
              <a:gd name="adj" fmla="val 18611"/>
            </a:avLst>
          </a:prstGeom>
          <a:solidFill>
            <a:srgbClr val="161B2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Shape 55"/>
          <p:cNvSpPr/>
          <p:nvPr/>
        </p:nvSpPr>
        <p:spPr>
          <a:xfrm>
            <a:off x="6038850" y="2924175"/>
            <a:ext cx="0" cy="272951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56"/>
          <p:cNvSpPr/>
          <p:nvPr/>
        </p:nvSpPr>
        <p:spPr>
          <a:xfrm>
            <a:off x="6172200" y="3013025"/>
            <a:ext cx="11096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P5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344394" y="3017788"/>
            <a:ext cx="1162976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v0.32.0 Long-Running Safety 완성</a:t>
            </a:r>
            <a:endParaRPr lang="en-US" sz="600" dirty="0"/>
          </a:p>
        </p:txBody>
      </p:sp>
      <p:sp>
        <p:nvSpPr>
          <p:cNvPr id="60" name="Text 58"/>
          <p:cNvSpPr/>
          <p:nvPr/>
        </p:nvSpPr>
        <p:spPr>
          <a:xfrm>
            <a:off x="8379619" y="3017788"/>
            <a:ext cx="19673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6019800" y="3260527"/>
            <a:ext cx="2667000" cy="790426"/>
          </a:xfrm>
          <a:prstGeom prst="roundRect">
            <a:avLst>
              <a:gd name="adj" fmla="val 9640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174013" y="3447752"/>
            <a:ext cx="78665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16.7×</a:t>
            </a:r>
            <a:endParaRPr lang="en-US" sz="2400" dirty="0"/>
          </a:p>
        </p:txBody>
      </p:sp>
      <p:sp>
        <p:nvSpPr>
          <p:cNvPr id="63" name="Text 61"/>
          <p:cNvSpPr/>
          <p:nvPr/>
        </p:nvSpPr>
        <p:spPr>
          <a:xfrm>
            <a:off x="6174013" y="3777853"/>
            <a:ext cx="7866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Velocity</a:t>
            </a:r>
            <a:endParaRPr lang="en-US" sz="600" dirty="0"/>
          </a:p>
        </p:txBody>
      </p:sp>
      <p:sp>
        <p:nvSpPr>
          <p:cNvPr id="64" name="Text 62"/>
          <p:cNvSpPr/>
          <p:nvPr/>
        </p:nvSpPr>
        <p:spPr>
          <a:xfrm>
            <a:off x="7079903" y="3401764"/>
            <a:ext cx="12650" cy="50795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219504" y="3384352"/>
            <a:ext cx="29055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커밋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7656761" y="3384352"/>
            <a:ext cx="17654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</a:t>
            </a:r>
            <a:endParaRPr lang="en-US" sz="700" dirty="0"/>
          </a:p>
        </p:txBody>
      </p:sp>
      <p:sp>
        <p:nvSpPr>
          <p:cNvPr id="67" name="Text 65"/>
          <p:cNvSpPr/>
          <p:nvPr/>
        </p:nvSpPr>
        <p:spPr>
          <a:xfrm>
            <a:off x="7219504" y="3530352"/>
            <a:ext cx="23575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PRs</a:t>
            </a:r>
            <a:endParaRPr lang="en-US" sz="600" dirty="0"/>
          </a:p>
        </p:txBody>
      </p:sp>
      <p:sp>
        <p:nvSpPr>
          <p:cNvPr id="68" name="Text 66"/>
          <p:cNvSpPr/>
          <p:nvPr/>
        </p:nvSpPr>
        <p:spPr>
          <a:xfrm>
            <a:off x="7629674" y="3530352"/>
            <a:ext cx="20417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7219504" y="3676352"/>
            <a:ext cx="32410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70" name="Text 68"/>
          <p:cNvSpPr/>
          <p:nvPr/>
        </p:nvSpPr>
        <p:spPr>
          <a:xfrm>
            <a:off x="7730877" y="3676352"/>
            <a:ext cx="10095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219504" y="3822353"/>
            <a:ext cx="13449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</a:t>
            </a:r>
            <a:endParaRPr lang="en-US" sz="600" dirty="0"/>
          </a:p>
        </p:txBody>
      </p:sp>
      <p:sp>
        <p:nvSpPr>
          <p:cNvPr id="72" name="Text 70"/>
          <p:cNvSpPr/>
          <p:nvPr/>
        </p:nvSpPr>
        <p:spPr>
          <a:xfrm>
            <a:off x="7654082" y="3822353"/>
            <a:ext cx="17928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6019800" y="4114354"/>
            <a:ext cx="2667000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4" name="Shape 72"/>
          <p:cNvSpPr/>
          <p:nvPr/>
        </p:nvSpPr>
        <p:spPr>
          <a:xfrm>
            <a:off x="6038850" y="4114354"/>
            <a:ext cx="0" cy="469404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5" name="Text 73"/>
          <p:cNvSpPr/>
          <p:nvPr/>
        </p:nvSpPr>
        <p:spPr>
          <a:xfrm>
            <a:off x="6184850" y="4215854"/>
            <a:ext cx="2422499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Phase 0-2에서 정확성을 선택한 투자가 Phase 3부터 복리로 회수된다. 회귀 없이 하루 32.2 커밋.</a:t>
            </a:r>
            <a:endParaRPr lang="en-US" sz="700" dirty="0"/>
          </a:p>
        </p:txBody>
      </p:sp>
      <p:sp>
        <p:nvSpPr>
          <p:cNvPr id="76" name="Text 74"/>
          <p:cNvSpPr/>
          <p:nvPr/>
        </p:nvSpPr>
        <p:spPr>
          <a:xfrm>
            <a:off x="457200" y="4987975"/>
            <a:ext cx="1672432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1,174 commits · Feb 21 to Mar 28, 2026</a:t>
            </a:r>
            <a:endParaRPr lang="en-US" sz="500" dirty="0"/>
          </a:p>
        </p:txBody>
      </p:sp>
      <p:sp>
        <p:nvSpPr>
          <p:cNvPr id="77" name="Text 75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35</a:t>
            </a:r>
            <a:endParaRPr lang="en-US" sz="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1501"/>
            <a:ext cx="50750" cy="177701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23676"/>
            <a:ext cx="179418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HE-0 SCAFFOLD · CHANGELOG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17302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Evolution: v0.6 → v0.32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574477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릴리스, 6 아키텍처 피봇: 각 결정에는 왜(Why)가 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43993" y="1261467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1219051" y="1248668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277689" y="1375618"/>
            <a:ext cx="9525" cy="1524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447502" y="1185267"/>
            <a:ext cx="54868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583978" y="1296293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도입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583978" y="1426369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로직이 인프라에 강결합 → Port/Adapter 분리. 이후 REODE 이식이 가능해진 기반 결정.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443993" y="1737420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v0.10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1219051" y="172462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77689" y="1851571"/>
            <a:ext cx="9525" cy="1524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447502" y="1661220"/>
            <a:ext cx="54868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583978" y="1772245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Pivot: 도메인 분석 → 하네스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583978" y="1902321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GameIP 분석 결과보다 자율 실행 인프라가 재사용 가치가 높다고 판단. 어필 포인트 전환.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43993" y="2213372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v0.14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1219051" y="2200573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C542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277689" y="2327523"/>
            <a:ext cx="9525" cy="1524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447502" y="2137172"/>
            <a:ext cx="54868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583978" y="2248198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Guard 제거 → ContextVar 통합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1583978" y="2378273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독립 Guard 모듈이 ContextVar 흐름과 충돌 → 통합 TokenTracker로 단순화. 비용 추적 정확도 향상.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443993" y="2689324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v0.18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219051" y="267652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77689" y="2803475"/>
            <a:ext cx="9525" cy="152400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1447502" y="2613124"/>
            <a:ext cx="54868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583978" y="2724150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System 독립 추출 → 46 Events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1583978" y="2854226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하드코딩 콜백 → Priority 핸들러 체인. 재귀 개선 루프와 자동 학습이 Hook에 의존하는 구조로 전환.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43993" y="3165277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v0.24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219051" y="315247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277689" y="3279428"/>
            <a:ext cx="9525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447502" y="3089077"/>
            <a:ext cx="5486846" cy="437852"/>
          </a:xfrm>
          <a:prstGeom prst="roundRect">
            <a:avLst>
              <a:gd name="adj" fmla="val 1160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1583978" y="3200102"/>
            <a:ext cx="5318174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 → 45 Catalog auto-discovery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1583978" y="3330178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3계층(Registry+Catalog+Config) → 2계층. Proxy stub 9개 제거로 도구 추가 비용 대폭 감소.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443993" y="3641229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v0.31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1219051" y="362843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277689" y="3755380"/>
            <a:ext cx="9525" cy="177701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1447502" y="3565029"/>
            <a:ext cx="5486846" cy="428327"/>
          </a:xfrm>
          <a:prstGeom prst="roundRect">
            <a:avLst>
              <a:gd name="adj" fmla="val 118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1583978" y="3676055"/>
            <a:ext cx="5318174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Summary + Gateway Webhook + ConfigWatcher hot-reload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583978" y="3796605"/>
            <a:ext cx="531817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tool_result 압축 요약 · /webhook port 8765 외부 인입 · TOOL_APPROVAL 3종 훅 · 재시작 없는 바인딩 반영.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43993" y="4107656"/>
            <a:ext cx="673557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1219051" y="4094857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1447502" y="4031456"/>
            <a:ext cx="5486846" cy="456902"/>
          </a:xfrm>
          <a:prstGeom prst="roundRect">
            <a:avLst>
              <a:gd name="adj" fmla="val 11118"/>
            </a:avLst>
          </a:prstGeom>
          <a:solidFill>
            <a:srgbClr val="161B22"/>
          </a:solidFill>
          <a:ln w="19050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1593503" y="4152007"/>
            <a:ext cx="529874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Long-Running Harness: Autonomous Safety 3조건 + Plan-first + Provider-aware Compaction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1593503" y="4282083"/>
            <a:ext cx="52987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budget_stop · 수렴 3회 에스컬레이션 · 다양성 강제 5회. create_plan + plan_id HITL UI. Anthropic compact_20260112 vs OpenAI LLM 요약 자동 분기.</a:t>
            </a:r>
            <a:endParaRPr lang="en-US" sz="600" dirty="0"/>
          </a:p>
        </p:txBody>
      </p:sp>
      <p:sp>
        <p:nvSpPr>
          <p:cNvPr id="47" name="Text 45"/>
          <p:cNvSpPr/>
          <p:nvPr/>
        </p:nvSpPr>
        <p:spPr>
          <a:xfrm>
            <a:off x="7035850" y="1128117"/>
            <a:ext cx="1650950" cy="952500"/>
          </a:xfrm>
          <a:prstGeom prst="roundRect">
            <a:avLst>
              <a:gd name="adj" fmla="val 8000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184504" y="1290042"/>
            <a:ext cx="1353642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800" dirty="0"/>
          </a:p>
        </p:txBody>
      </p:sp>
      <p:sp>
        <p:nvSpPr>
          <p:cNvPr id="49" name="Text 47"/>
          <p:cNvSpPr/>
          <p:nvPr/>
        </p:nvSpPr>
        <p:spPr>
          <a:xfrm>
            <a:off x="7184504" y="1737717"/>
            <a:ext cx="13536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3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184504" y="1832967"/>
            <a:ext cx="135364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 → v0.32 · 36일</a:t>
            </a:r>
            <a:endParaRPr lang="en-US" sz="600" dirty="0"/>
          </a:p>
        </p:txBody>
      </p:sp>
      <p:sp>
        <p:nvSpPr>
          <p:cNvPr id="51" name="Text 49"/>
          <p:cNvSpPr/>
          <p:nvPr/>
        </p:nvSpPr>
        <p:spPr>
          <a:xfrm>
            <a:off x="7035850" y="2182118"/>
            <a:ext cx="1650950" cy="714077"/>
          </a:xfrm>
          <a:prstGeom prst="roundRect">
            <a:avLst>
              <a:gd name="adj" fmla="val 10671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7197775" y="2318593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아키텍처 피봇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8398520" y="2318593"/>
            <a:ext cx="12888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6회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7197775" y="2486769"/>
            <a:ext cx="4956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무회귀 릴리스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8302377" y="2486769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40/40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7197775" y="2654945"/>
            <a:ext cx="33882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누적 커밋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8302377" y="2654945"/>
            <a:ext cx="226948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1,174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7035850" y="2997696"/>
            <a:ext cx="1650950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162800" y="3099197"/>
            <a:ext cx="1424991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CHANGELOG는 기록이 아니다. 다음 Frontier Mining의 입력이다.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7035850" y="3568601"/>
            <a:ext cx="1650950" cy="976908"/>
          </a:xfrm>
          <a:prstGeom prst="roundRect">
            <a:avLst>
              <a:gd name="adj" fmla="val 520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Shape 59"/>
          <p:cNvSpPr/>
          <p:nvPr/>
        </p:nvSpPr>
        <p:spPr>
          <a:xfrm>
            <a:off x="7054900" y="3568601"/>
            <a:ext cx="0" cy="976908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60"/>
          <p:cNvSpPr/>
          <p:nvPr/>
        </p:nvSpPr>
        <p:spPr>
          <a:xfrm>
            <a:off x="7188250" y="3657451"/>
            <a:ext cx="1411935" cy="799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판단: WHY를 기록하는 비용</a:t>
            </a: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각 릴리스마다 CHANGELOG 작성에 시간이 든다. 이를 포기하면 "왜 이 결정을 했는가"가 휘발되어 v0.14 Token Guard 제거처럼 나중에 같은 실수를 반복하게 된다.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57200" y="4987975"/>
            <a:ext cx="167228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40 releases · 6 major architecture pivots</a:t>
            </a:r>
            <a:endParaRPr lang="en-US" sz="500" dirty="0"/>
          </a:p>
        </p:txBody>
      </p:sp>
      <p:sp>
        <p:nvSpPr>
          <p:cNvPr id="64" name="Text 62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35</a:t>
            </a:r>
            <a:endParaRPr lang="en-US" sz="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2784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· SECURITY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Security: Bash 3-Layer + Dual Trust Model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12577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자율 에이전트는 신뢰 경계가 없으면 시스템을 파괴하기 때문에 PolicyChain이 실행 전 모든 명령을 검문한다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799802"/>
            <a:ext cx="4565600" cy="2473077"/>
          </a:xfrm>
          <a:prstGeom prst="roundRect">
            <a:avLst>
              <a:gd name="adj" fmla="val 1847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1025" y="898178"/>
            <a:ext cx="38100" cy="152400"/>
          </a:xfrm>
          <a:prstGeom prst="roundRect">
            <a:avLst>
              <a:gd name="adj" fmla="val 66667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95325" y="912465"/>
            <a:ext cx="10696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PolicyChain 다이어그램</a:t>
            </a:r>
            <a:endParaRPr lang="en-US" sz="800" dirty="0"/>
          </a:p>
        </p:txBody>
      </p:sp>
      <p:pic>
        <p:nvPicPr>
          <p:cNvPr id="9" name="Image 0" descr="/Users/mango/workspace/portfolio/geode/versions/v9/slides/assets/v028-diagram-policy-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1152079"/>
            <a:ext cx="4317950" cy="2006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149751" y="799802"/>
            <a:ext cx="3537049" cy="2200126"/>
          </a:xfrm>
          <a:prstGeom prst="roundRect">
            <a:avLst>
              <a:gd name="adj" fmla="val 346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5273576" y="898178"/>
            <a:ext cx="33551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Bash 3-Layer 실행 제어 — 인과 서술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273576" y="1098203"/>
            <a:ext cx="3289399" cy="501402"/>
          </a:xfrm>
          <a:prstGeom prst="roundRect">
            <a:avLst>
              <a:gd name="adj" fmla="val 101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5375077" y="1161604"/>
            <a:ext cx="3148126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L1: Blocked — Regex 9-Pattern Safe-First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5375077" y="1269504"/>
            <a:ext cx="3148126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100"/>
              </a:spcBef>
              <a:buNone/>
            </a:pPr>
            <a:r>
              <a:rPr lang="en-US" sz="6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rm‑rf</a:t>
            </a: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6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sudo</a:t>
            </a: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6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curl|sh</a:t>
            </a: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등 9개 regex 패턴을 우선 검사한다. safe‑first로 검사하면 </a:t>
            </a:r>
            <a:r>
              <a:rPr lang="en-US" sz="6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 / &amp;&amp; rm‑rf /</a:t>
            </a: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같은 파이프 주입을 놓치기 때문에 저 순서가 필수다.</a:t>
            </a:r>
            <a:endParaRPr lang="en-US" sz="650" dirty="0"/>
          </a:p>
        </p:txBody>
      </p:sp>
      <p:sp>
        <p:nvSpPr>
          <p:cNvPr id="15" name="Text 12"/>
          <p:cNvSpPr/>
          <p:nvPr/>
        </p:nvSpPr>
        <p:spPr>
          <a:xfrm>
            <a:off x="5273576" y="1675805"/>
            <a:ext cx="3289399" cy="501402"/>
          </a:xfrm>
          <a:prstGeom prst="roundRect">
            <a:avLst>
              <a:gd name="adj" fmla="val 101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375077" y="1739205"/>
            <a:ext cx="31481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L2: Resource — setrlimit Child Process 강제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5375077" y="1856631"/>
            <a:ext cx="31481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100"/>
              </a:spcBef>
              <a:buNone/>
            </a:pPr>
            <a:r>
              <a:rPr lang="en-US" sz="650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preexec_fn setrlimit</a:t>
            </a: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CPU 30s, FSIZE 50MB, NPROC 64를 child process에 강제한다. L1을 통과하더라도 슬로우 루프나 대용량 파일 생성을 츨다.</a:t>
            </a:r>
            <a:endParaRPr lang="en-US" sz="650" dirty="0"/>
          </a:p>
        </p:txBody>
      </p:sp>
      <p:sp>
        <p:nvSpPr>
          <p:cNvPr id="18" name="Text 15"/>
          <p:cNvSpPr/>
          <p:nvPr/>
        </p:nvSpPr>
        <p:spPr>
          <a:xfrm>
            <a:off x="5273576" y="2253407"/>
            <a:ext cx="3289399" cy="501402"/>
          </a:xfrm>
          <a:prstGeom prst="roundRect">
            <a:avLst>
              <a:gd name="adj" fmla="val 1013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5375077" y="2316807"/>
            <a:ext cx="314812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L3: HITL — stdin 없으면 deny‑by‑default</a:t>
            </a:r>
            <a:endParaRPr lang="en-US" sz="700" dirty="0"/>
          </a:p>
        </p:txBody>
      </p:sp>
      <p:sp>
        <p:nvSpPr>
          <p:cNvPr id="20" name="Text 17"/>
          <p:cNvSpPr/>
          <p:nvPr/>
        </p:nvSpPr>
        <p:spPr>
          <a:xfrm>
            <a:off x="5375077" y="2434233"/>
            <a:ext cx="314812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L1‑2를 통과한 미분류 명령은 사용자 승인을 요청한다. </a:t>
            </a:r>
            <a:r>
              <a:rPr lang="en-US" sz="650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serve</a:t>
            </a: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에서는 stdin이 없으므로 자동으로 deny‑by‑default로 처리된다.</a:t>
            </a:r>
            <a:endParaRPr lang="en-US" sz="650" dirty="0"/>
          </a:p>
        </p:txBody>
      </p:sp>
      <p:sp>
        <p:nvSpPr>
          <p:cNvPr id="21" name="Text 18"/>
          <p:cNvSpPr/>
          <p:nvPr/>
        </p:nvSpPr>
        <p:spPr>
          <a:xfrm>
            <a:off x="5149751" y="3050679"/>
            <a:ext cx="3537049" cy="1396901"/>
          </a:xfrm>
          <a:prstGeom prst="roundRect">
            <a:avLst>
              <a:gd name="adj" fmla="val 5455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273576" y="3149054"/>
            <a:ext cx="335518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Trust Model: 입력 차단 후 출력 검증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5273576" y="3336280"/>
            <a:ext cx="3355187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에이전트 안전과 파이프라인 검증은 독립 축이다. Input Gating은 실행 전 차단하고, Output Validation은 실행 후 산출물을 검증한다. 두 축 모두 통과해야만 결과가 신뢰된다.</a:t>
            </a:r>
            <a:endParaRPr lang="en-US" sz="700" dirty="0"/>
          </a:p>
        </p:txBody>
      </p:sp>
      <p:sp>
        <p:nvSpPr>
          <p:cNvPr id="24" name="Text 21"/>
          <p:cNvSpPr/>
          <p:nvPr/>
        </p:nvSpPr>
        <p:spPr>
          <a:xfrm>
            <a:off x="5273576" y="3691384"/>
            <a:ext cx="1606600" cy="657820"/>
          </a:xfrm>
          <a:prstGeom prst="roundRect">
            <a:avLst>
              <a:gd name="adj" fmla="val 77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5387876" y="3792885"/>
            <a:ext cx="1405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Gating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5387876" y="3900785"/>
            <a:ext cx="140556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4‑Tier HITL 게층으로 에이전트 실행 전 차단. TIER 0‑1: asyncio.gather 자동 / TIER 3‑4: 개별 수동 승인 필수</a:t>
            </a:r>
            <a:endParaRPr lang="en-US" sz="650" dirty="0"/>
          </a:p>
        </p:txBody>
      </p:sp>
      <p:sp>
        <p:nvSpPr>
          <p:cNvPr id="27" name="Text 24"/>
          <p:cNvSpPr/>
          <p:nvPr/>
        </p:nvSpPr>
        <p:spPr>
          <a:xfrm>
            <a:off x="6956375" y="3691384"/>
            <a:ext cx="1606600" cy="657820"/>
          </a:xfrm>
          <a:prstGeom prst="roundRect">
            <a:avLst>
              <a:gd name="adj" fmla="val 77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7070675" y="3792885"/>
            <a:ext cx="140556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Validation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7070675" y="3900785"/>
            <a:ext cx="1405560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100"/>
              </a:spcBef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5‑Tier Safety 등급으로 실행 후 출력 검증. 파이프라인 결과물만 이 아치를 통과한다</a:t>
            </a:r>
            <a:endParaRPr lang="en-US" sz="650" dirty="0"/>
          </a:p>
        </p:txBody>
      </p:sp>
      <p:sp>
        <p:nvSpPr>
          <p:cNvPr id="30" name="Text 27"/>
          <p:cNvSpPr/>
          <p:nvPr/>
        </p:nvSpPr>
        <p:spPr>
          <a:xfrm>
            <a:off x="5149751" y="4498330"/>
            <a:ext cx="3537049" cy="426244"/>
          </a:xfrm>
          <a:prstGeom prst="roundRect">
            <a:avLst>
              <a:gd name="adj" fmla="val 11918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Shape 28"/>
          <p:cNvSpPr/>
          <p:nvPr/>
        </p:nvSpPr>
        <p:spPr>
          <a:xfrm>
            <a:off x="5168801" y="4498330"/>
            <a:ext cx="0" cy="426244"/>
          </a:xfrm>
          <a:prstGeom prst="line">
            <a:avLst/>
          </a:prstGeom>
          <a:noFill/>
          <a:ln w="381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5302151" y="4587180"/>
            <a:ext cx="3335756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3-Layer 제어 비용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L1 정적 분석 + L2 setrlimit + L3 HITL 모두 통과 시 지연이 발생하지만, 자율 에이전트가 시스템을 파괴한 사례가 0건인 것이 증거다.</a:t>
            </a:r>
            <a:endParaRPr lang="en-US" sz="700" dirty="0"/>
          </a:p>
        </p:txBody>
      </p:sp>
      <p:sp>
        <p:nvSpPr>
          <p:cNvPr id="33" name="Text 30"/>
          <p:cNvSpPr/>
          <p:nvPr/>
        </p:nvSpPr>
        <p:spPr>
          <a:xfrm>
            <a:off x="457200" y="4987975"/>
            <a:ext cx="2350240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46 Hook Events · 5-Tier Tool Safety · Bash 3-Layer + Dual Trust</a:t>
            </a:r>
            <a:endParaRPr lang="en-US" sz="500" dirty="0"/>
          </a:p>
        </p:txBody>
      </p:sp>
      <p:sp>
        <p:nvSpPr>
          <p:cNvPr id="34" name="Text 31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35</a:t>
            </a:r>
            <a:endParaRPr lang="en-US" sz="500" dirty="0"/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907E6121-40EF-3AB9-00AE-45DD09B1B3B2}"/>
              </a:ext>
            </a:extLst>
          </p:cNvPr>
          <p:cNvSpPr/>
          <p:nvPr/>
        </p:nvSpPr>
        <p:spPr>
          <a:xfrm>
            <a:off x="-1606213" y="3460388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ko-KR" altLang="en-US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35007E76-87DC-BA12-0F04-DC51A4F9DC76}"/>
              </a:ext>
            </a:extLst>
          </p:cNvPr>
          <p:cNvSpPr/>
          <p:nvPr/>
        </p:nvSpPr>
        <p:spPr>
          <a:xfrm>
            <a:off x="6537395" y="3460388"/>
            <a:ext cx="0" cy="653504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ko-KR" altLang="en-US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57938406-38E3-7BE5-0078-2473E28002F8}"/>
              </a:ext>
            </a:extLst>
          </p:cNvPr>
          <p:cNvSpPr/>
          <p:nvPr/>
        </p:nvSpPr>
        <p:spPr>
          <a:xfrm>
            <a:off x="-1692205" y="4121512"/>
            <a:ext cx="8229600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ko-KR" altLang="en-US"/>
          </a:p>
        </p:txBody>
      </p:sp>
      <p:sp>
        <p:nvSpPr>
          <p:cNvPr id="39" name="Shape 4">
            <a:extLst>
              <a:ext uri="{FF2B5EF4-FFF2-40B4-BE49-F238E27FC236}">
                <a16:creationId xmlns:a16="http://schemas.microsoft.com/office/drawing/2014/main" id="{84C1DC49-BBCF-29D5-85EB-2BB5FAFFB98D}"/>
              </a:ext>
            </a:extLst>
          </p:cNvPr>
          <p:cNvSpPr/>
          <p:nvPr/>
        </p:nvSpPr>
        <p:spPr>
          <a:xfrm>
            <a:off x="-1668393" y="3460388"/>
            <a:ext cx="0" cy="653504"/>
          </a:xfrm>
          <a:prstGeom prst="line">
            <a:avLst/>
          </a:prstGeom>
          <a:noFill/>
          <a:ln w="38100">
            <a:solidFill>
              <a:srgbClr val="F5C542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ajor"/>
        </p:style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  <a:lvl2pPr>
              <a:defRPr>
                <a:latin typeface="+mj-lt"/>
                <a:ea typeface="+mj-ea"/>
                <a:cs typeface="+mj-cs"/>
              </a:defRPr>
            </a:lvl2pPr>
            <a:lvl3pPr>
              <a:defRPr>
                <a:latin typeface="+mj-lt"/>
                <a:ea typeface="+mj-ea"/>
                <a:cs typeface="+mj-cs"/>
              </a:defRPr>
            </a:lvl3pPr>
            <a:lvl4pPr>
              <a:defRPr>
                <a:latin typeface="+mj-lt"/>
                <a:ea typeface="+mj-ea"/>
                <a:cs typeface="+mj-cs"/>
              </a:defRPr>
            </a:lvl4pPr>
            <a:lvl5pPr>
              <a:defRPr>
                <a:latin typeface="+mj-lt"/>
                <a:ea typeface="+mj-ea"/>
                <a:cs typeface="+mj-cs"/>
              </a:defRPr>
            </a:lvl5pPr>
            <a:lvl6pPr>
              <a:defRPr>
                <a:latin typeface="+mj-lt"/>
                <a:ea typeface="+mj-ea"/>
                <a:cs typeface="+mj-cs"/>
              </a:defRPr>
            </a:lvl6pPr>
            <a:lvl7pPr>
              <a:defRPr>
                <a:latin typeface="+mj-lt"/>
                <a:ea typeface="+mj-ea"/>
                <a:cs typeface="+mj-cs"/>
              </a:defRPr>
            </a:lvl7pPr>
            <a:lvl8pPr>
              <a:defRPr>
                <a:latin typeface="+mj-lt"/>
                <a:ea typeface="+mj-ea"/>
                <a:cs typeface="+mj-cs"/>
              </a:defRPr>
            </a:lvl8pPr>
            <a:lvl9pPr>
              <a:defRPr>
                <a:latin typeface="+mj-lt"/>
                <a:ea typeface="+mj-ea"/>
                <a:cs typeface="+mj-cs"/>
              </a:defRPr>
            </a:lvl9pPr>
          </a:lstStyle>
          <a:p>
            <a:endParaRPr lang="ko-KR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8202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TRADE-OFFS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Trade-off 8선: 포기하지 않은 설계 결정은 결정이 아니다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3는 인과관계로 서술한다. 나머지 5개는 before/after 한 줄로 유지. 모든 피벗은 CHANGELOG에 “왔”가 기록되어 있다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34777"/>
            <a:ext cx="4232077" cy="821978"/>
          </a:xfrm>
          <a:prstGeom prst="rect">
            <a:avLst/>
          </a:prstGeom>
          <a:solidFill>
            <a:srgbClr val="0F192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76250" y="834777"/>
            <a:ext cx="0" cy="821978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22250" y="923627"/>
            <a:ext cx="450354" cy="190500"/>
          </a:xfrm>
          <a:prstGeom prst="roundRect">
            <a:avLst>
              <a:gd name="adj" fmla="val 20000"/>
            </a:avLst>
          </a:prstGeom>
          <a:solidFill>
            <a:srgbClr val="0A2218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0626" y="971252"/>
            <a:ext cx="258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1148804" y="956965"/>
            <a:ext cx="125618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Context vs 전체 공유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2250" y="1152227"/>
            <a:ext cx="414836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A의 S급 평가가 B를 편향시키는 앙커링을 구조적으로 차단한다.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622250" y="1310729"/>
            <a:ext cx="414836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analyses</a:t>
            </a: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필드를 빈 배열로 전달하여 4명의 Analyst가 완전 독립 평가를 수행한다. 가헌 군사적 개입이 없는 제한된 판단이 무작위 합의보다 신뢰도가 높다.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457200" y="1732955"/>
            <a:ext cx="4232077" cy="688628"/>
          </a:xfrm>
          <a:prstGeom prst="rect">
            <a:avLst/>
          </a:prstGeom>
          <a:solidFill>
            <a:srgbClr val="0F192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76250" y="1732955"/>
            <a:ext cx="0" cy="688628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22250" y="1821805"/>
            <a:ext cx="450354" cy="190500"/>
          </a:xfrm>
          <a:prstGeom prst="roundRect">
            <a:avLst>
              <a:gd name="adj" fmla="val 20000"/>
            </a:avLst>
          </a:prstGeom>
          <a:solidFill>
            <a:srgbClr val="0A2218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20626" y="1869430"/>
            <a:ext cx="258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1148804" y="1855143"/>
            <a:ext cx="165649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Protocol vs 하드와이어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22250" y="2050405"/>
            <a:ext cx="414836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도메인 교체 시 코어 수정 0줄. GEODE→REODE 피벗에서 실증되었다.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22250" y="2208907"/>
            <a:ext cx="4148367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DomainPort가 계약만 정의하고 구현은 삽입한다. L5 엔드포인트만 교체하고 L0‑L4가 그대로 유지된다.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457200" y="2497782"/>
            <a:ext cx="4232077" cy="821978"/>
          </a:xfrm>
          <a:prstGeom prst="rect">
            <a:avLst/>
          </a:prstGeom>
          <a:solidFill>
            <a:srgbClr val="0F192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76250" y="2497782"/>
            <a:ext cx="0" cy="821978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22250" y="2586633"/>
            <a:ext cx="450354" cy="190500"/>
          </a:xfrm>
          <a:prstGeom prst="roundRect">
            <a:avLst>
              <a:gd name="adj" fmla="val 20000"/>
            </a:avLst>
          </a:prstGeom>
          <a:solidFill>
            <a:srgbClr val="0A2218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0626" y="2634258"/>
            <a:ext cx="25867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148804" y="2619970"/>
            <a:ext cx="1935510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Provider-aware Compaction vs 단일 전략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2250" y="2815233"/>
            <a:ext cx="414836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Aft>
                <a:spcPts val="200"/>
              </a:spcAft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Anthropic은 서버사이드(compact_20260112), OpenAI/GLM은 클라이언트사이드.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2250" y="2973735"/>
            <a:ext cx="414836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context_action.py</a:t>
            </a: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hook이 프로바이더별 최적 전략을 분화한다. 단일 전략으로는 Anthropic의 네이티브 커패션 효율을 활용할 수 없다.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4841677" y="834777"/>
            <a:ext cx="12650" cy="4080272"/>
          </a:xfrm>
          <a:prstGeom prst="rect">
            <a:avLst/>
          </a:prstGeom>
          <a:solidFill>
            <a:srgbClr val="21262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025777" y="834777"/>
            <a:ext cx="0" cy="564952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5171777" y="923627"/>
            <a:ext cx="3585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5-Tier Safety: 병렬 vs 순차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171777" y="1063228"/>
            <a:ext cx="35853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T3‑4 병렬 속도를 포기하고 DANGEROUS 명령은 개별 순차 승인으로 격리하니 권한 에스칼레이션 경로가 차단된다.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5025777" y="1475929"/>
            <a:ext cx="0" cy="555427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30"/>
          <p:cNvSpPr/>
          <p:nvPr/>
        </p:nvSpPr>
        <p:spPr>
          <a:xfrm>
            <a:off x="5171777" y="1564779"/>
            <a:ext cx="35853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4096 Token Guard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171777" y="1694855"/>
            <a:ext cx="35853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자식 출력 전체 반환을 포기하고 4096 guard를 적용하니 부모 컨텍스트 폭발이 방지되어 MAX_CONCURRENT=5 병렬이 가능해진다.</a:t>
            </a:r>
            <a:endParaRPr lang="en-US" sz="650" dirty="0"/>
          </a:p>
        </p:txBody>
      </p:sp>
      <p:sp>
        <p:nvSpPr>
          <p:cNvPr id="34" name="Shape 32"/>
          <p:cNvSpPr/>
          <p:nvPr/>
        </p:nvSpPr>
        <p:spPr>
          <a:xfrm>
            <a:off x="5025777" y="2107555"/>
            <a:ext cx="0" cy="555427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5171777" y="2196405"/>
            <a:ext cx="3585323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SHA-256 PromptAssembler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171777" y="2326481"/>
            <a:ext cx="35853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수동 편집의 즉각성을 포기하고 6‑Phase 조립과 SHA‑256 추적을 도입하니 cache_control ephemeral로 2회차 입력 비용이 10%로 준다.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5025777" y="2739182"/>
            <a:ext cx="0" cy="564952"/>
          </a:xfrm>
          <a:prstGeom prst="line">
            <a:avLst/>
          </a:prstGeom>
          <a:noFill/>
          <a:ln w="38100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6"/>
          <p:cNvSpPr/>
          <p:nvPr/>
        </p:nvSpPr>
        <p:spPr>
          <a:xfrm>
            <a:off x="5171777" y="2828032"/>
            <a:ext cx="3585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MCPRegistry 삭제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171777" y="2967633"/>
            <a:ext cx="35853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 집중 도구 관리를 포기하고 auto‑discovery를 채택하니 proxy stub 9개가 제거되고 45 MCP 서버를 자동 등록할 수 있게 된다.</a:t>
            </a:r>
            <a:endParaRPr lang="en-US" sz="650" dirty="0"/>
          </a:p>
        </p:txBody>
      </p:sp>
      <p:sp>
        <p:nvSpPr>
          <p:cNvPr id="40" name="Shape 38"/>
          <p:cNvSpPr/>
          <p:nvPr/>
        </p:nvSpPr>
        <p:spPr>
          <a:xfrm>
            <a:off x="5025777" y="3380333"/>
            <a:ext cx="0" cy="56495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5171777" y="3469184"/>
            <a:ext cx="358532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7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Rounds 후 200 Turns 상한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5171777" y="3608784"/>
            <a:ext cx="35853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 자율을 포기하고 수렴 감지 + 비용 상한을 도입했더니 파이프라인 폭주가 차단되고 장기 운용 비용이 예측 가능해졌다.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457200" y="4978450"/>
            <a:ext cx="171675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40 releases · 모든 피벗 CHANGELOG 기록</a:t>
            </a:r>
            <a:endParaRPr lang="en-US" sz="500" dirty="0"/>
          </a:p>
        </p:txBody>
      </p:sp>
      <p:sp>
        <p:nvSpPr>
          <p:cNvPr id="44" name="Text 42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35</a:t>
            </a:r>
            <a:endParaRPr lang="en-US" sz="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271730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CONNECTION · CONSTRAINTS → 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Constraints → HOW → Results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3802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금지 규칙이 어떤 자동화 메커니즘을 통해 결과를 보장하는가 — 각 CANNOT은 수동 검토가 아닌 구조적 차단으로 작동한다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315045"/>
            <a:ext cx="238645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1413421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593675" y="1533971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키워드 나열식 슬라이드 금지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923342" y="1441996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2964210" y="156254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24659" y="1315045"/>
            <a:ext cx="296301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361134" y="1413421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3361134" y="1533971"/>
            <a:ext cx="27438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Review의 Cherny가 인과관계 1문장 없는 슬라이드를 탐지하면 Socratic Gate 재통과를 강제하므로 PR이 자동으로 차단된다.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6270129" y="150227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478" y="1315045"/>
            <a:ext cx="2194322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628954" y="1413421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6628954" y="1533971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34장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전체 DAG 내러티브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57200" y="1905298"/>
            <a:ext cx="2386459" cy="631627"/>
          </a:xfrm>
          <a:prstGeom prst="roundRect">
            <a:avLst>
              <a:gd name="adj" fmla="val 12064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3675" y="2003673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593675" y="2124224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Socratic Gate 통과 전 코드 작성 금지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923342" y="2084636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2964210" y="220518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24659" y="1905298"/>
            <a:ext cx="2963019" cy="631627"/>
          </a:xfrm>
          <a:prstGeom prst="roundRect">
            <a:avLst>
              <a:gd name="adj" fmla="val 12064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61134" y="2003673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3361134" y="2124224"/>
            <a:ext cx="27438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Gate가 구현 파일 변경을 탐지하므로, 5-질문 답변 없는 커밋은 자동으로 실패 처리된다. 잘못된 전제로 50 rounds를 낭비하는 경로가 사전 차단된다.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270129" y="214491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478" y="1905298"/>
            <a:ext cx="2194322" cy="631627"/>
          </a:xfrm>
          <a:prstGeom prst="roundRect">
            <a:avLst>
              <a:gd name="adj" fmla="val 1206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628954" y="2003673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628954" y="2124224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39회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릴리스 무회귀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457200" y="2600325"/>
            <a:ext cx="238645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3675" y="2698700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32" name="Text 30"/>
          <p:cNvSpPr/>
          <p:nvPr/>
        </p:nvSpPr>
        <p:spPr>
          <a:xfrm>
            <a:off x="593675" y="2819251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박스형 다이어그램 금지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2923342" y="2727275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2964210" y="284782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24659" y="2600325"/>
            <a:ext cx="296301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361134" y="2698700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3361134" y="2819251"/>
            <a:ext cx="27438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Beck 페르소나가 화살표·분기·루프백 없는 다이어그램을 탐지하므로, Architect 검사를 통과하지 못한 슬라이드는 머지가 차단된다.</a:t>
            </a:r>
            <a:endParaRPr lang="en-US" sz="700" dirty="0"/>
          </a:p>
        </p:txBody>
      </p:sp>
      <p:sp>
        <p:nvSpPr>
          <p:cNvPr id="38" name="Text 36"/>
          <p:cNvSpPr/>
          <p:nvPr/>
        </p:nvSpPr>
        <p:spPr>
          <a:xfrm>
            <a:off x="6270129" y="278755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92478" y="2600325"/>
            <a:ext cx="2194322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628954" y="2698700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41" name="Text 39"/>
          <p:cNvSpPr/>
          <p:nvPr/>
        </p:nvSpPr>
        <p:spPr>
          <a:xfrm>
            <a:off x="6628954" y="2819251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Skills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흐름도 누적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57200" y="3190577"/>
            <a:ext cx="2386459" cy="631627"/>
          </a:xfrm>
          <a:prstGeom prst="roundRect">
            <a:avLst>
              <a:gd name="adj" fmla="val 12064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593675" y="3288953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593675" y="3409504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 명시 없는 설계 결정 금지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2923342" y="3369915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964210" y="349046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224659" y="3190577"/>
            <a:ext cx="2963019" cy="631627"/>
          </a:xfrm>
          <a:prstGeom prst="roundRect">
            <a:avLst>
              <a:gd name="adj" fmla="val 12064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3361134" y="3288953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49" name="Text 47"/>
          <p:cNvSpPr/>
          <p:nvPr/>
        </p:nvSpPr>
        <p:spPr>
          <a:xfrm>
            <a:off x="3361134" y="3409504"/>
            <a:ext cx="27438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CHANGELOG 커밋 훅이 "포기한 것 / 얻은 것" 쌍을 검사하므로, 해당 쌍 없이 제출된 기능 커밋은 자동으로 차단된다. 결정의 이유가 코드와 함께 기록된다.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270129" y="3430191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492478" y="3190577"/>
            <a:ext cx="2194322" cy="631627"/>
          </a:xfrm>
          <a:prstGeom prst="roundRect">
            <a:avLst>
              <a:gd name="adj" fmla="val 12064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628954" y="3288953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6628954" y="3409504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6회</a:t>
            </a: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피봇 WHY 전부 기록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57200" y="3885605"/>
            <a:ext cx="238645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EF444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593675" y="3983980"/>
            <a:ext cx="2155778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593675" y="4104531"/>
            <a:ext cx="2155778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Worktree 무단 공유 금지: 세션 격리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2923342" y="4012555"/>
            <a:ext cx="22163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2964210" y="4133106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224659" y="3885605"/>
            <a:ext cx="2963019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8B949E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3361134" y="3983980"/>
            <a:ext cx="274387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3361134" y="4104531"/>
            <a:ext cx="274387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.owner 파일이 세션 소유권을 관리하므로, 다른 세션이 동일 worktree에 진입하면 자동으로 차단된다. 병렬 에이전트의 상태 충돌이 원천 차단된다.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270129" y="4072830"/>
            <a:ext cx="1425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492478" y="3885605"/>
            <a:ext cx="2194322" cy="526852"/>
          </a:xfrm>
          <a:prstGeom prst="roundRect">
            <a:avLst>
              <a:gd name="adj" fmla="val 14463"/>
            </a:avLst>
          </a:prstGeom>
          <a:solidFill>
            <a:srgbClr val="161B22"/>
          </a:solidFill>
          <a:ln w="9525">
            <a:solidFill>
              <a:srgbClr val="34D399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4" name="Text 62"/>
          <p:cNvSpPr/>
          <p:nvPr/>
        </p:nvSpPr>
        <p:spPr>
          <a:xfrm>
            <a:off x="6628954" y="3983980"/>
            <a:ext cx="1959799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6628954" y="4104531"/>
            <a:ext cx="195979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7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merge conflict 0건</a:t>
            </a:r>
            <a:endParaRPr lang="en-US" sz="750" dirty="0"/>
          </a:p>
        </p:txBody>
      </p:sp>
      <p:sp>
        <p:nvSpPr>
          <p:cNvPr id="66" name="Text 64"/>
          <p:cNvSpPr/>
          <p:nvPr/>
        </p:nvSpPr>
        <p:spPr>
          <a:xfrm>
            <a:off x="457200" y="4978450"/>
            <a:ext cx="163888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23 CANNOT rules · 제약이 품질을 만든다</a:t>
            </a:r>
            <a:endParaRPr lang="en-US" sz="500" dirty="0"/>
          </a:p>
        </p:txBody>
      </p:sp>
      <p:sp>
        <p:nvSpPr>
          <p:cNvPr id="67" name="Text 65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35</a:t>
            </a:r>
            <a:endParaRPr lang="en-US" sz="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3694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총정리: GEODE v0.32.0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551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36일, 모든 숫자는 Socratic Gate → 8-Step Loop → 4-Persona Review를 통과한 것들이다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22127"/>
            <a:ext cx="1435150" cy="704552"/>
          </a:xfrm>
          <a:prstGeom prst="roundRect">
            <a:avLst>
              <a:gd name="adj" fmla="val 72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2053" y="933152"/>
            <a:ext cx="118544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v0.32.0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82053" y="1329928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Version</a:t>
            </a:r>
            <a:endParaRPr lang="en-US" sz="600" dirty="0"/>
          </a:p>
        </p:txBody>
      </p:sp>
      <p:sp>
        <p:nvSpPr>
          <p:cNvPr id="9" name="Text 7"/>
          <p:cNvSpPr/>
          <p:nvPr/>
        </p:nvSpPr>
        <p:spPr>
          <a:xfrm>
            <a:off x="1968550" y="822127"/>
            <a:ext cx="1435150" cy="704552"/>
          </a:xfrm>
          <a:prstGeom prst="roundRect">
            <a:avLst>
              <a:gd name="adj" fmla="val 72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093403" y="933152"/>
            <a:ext cx="118544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1,174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093403" y="1329928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3479899" y="822127"/>
            <a:ext cx="1435150" cy="704552"/>
          </a:xfrm>
          <a:prstGeom prst="roundRect">
            <a:avLst>
              <a:gd name="adj" fmla="val 72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604753" y="933152"/>
            <a:ext cx="118544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604753" y="1329928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PRs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4991249" y="822127"/>
            <a:ext cx="1435150" cy="704552"/>
          </a:xfrm>
          <a:prstGeom prst="roundRect">
            <a:avLst>
              <a:gd name="adj" fmla="val 721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116102" y="933152"/>
            <a:ext cx="1185443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5116102" y="1329928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57200" y="1590080"/>
            <a:ext cx="1435150" cy="631627"/>
          </a:xfrm>
          <a:prstGeom prst="roundRect">
            <a:avLst>
              <a:gd name="adj" fmla="val 80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2053" y="1688455"/>
            <a:ext cx="11854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187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82053" y="2037606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Modules</a:t>
            </a:r>
            <a:endParaRPr lang="en-US" sz="600" dirty="0"/>
          </a:p>
        </p:txBody>
      </p:sp>
      <p:sp>
        <p:nvSpPr>
          <p:cNvPr id="21" name="Text 19"/>
          <p:cNvSpPr/>
          <p:nvPr/>
        </p:nvSpPr>
        <p:spPr>
          <a:xfrm>
            <a:off x="1968550" y="1590080"/>
            <a:ext cx="1435150" cy="631627"/>
          </a:xfrm>
          <a:prstGeom prst="roundRect">
            <a:avLst>
              <a:gd name="adj" fmla="val 80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093403" y="1688455"/>
            <a:ext cx="11854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3,216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2093403" y="2037606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</a:t>
            </a:r>
            <a:endParaRPr lang="en-US" sz="600" dirty="0"/>
          </a:p>
        </p:txBody>
      </p:sp>
      <p:sp>
        <p:nvSpPr>
          <p:cNvPr id="24" name="Text 22"/>
          <p:cNvSpPr/>
          <p:nvPr/>
        </p:nvSpPr>
        <p:spPr>
          <a:xfrm>
            <a:off x="3479899" y="1590080"/>
            <a:ext cx="1435150" cy="631627"/>
          </a:xfrm>
          <a:prstGeom prst="roundRect">
            <a:avLst>
              <a:gd name="adj" fmla="val 80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04753" y="1688455"/>
            <a:ext cx="11854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3604753" y="2037606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27" name="Text 25"/>
          <p:cNvSpPr/>
          <p:nvPr/>
        </p:nvSpPr>
        <p:spPr>
          <a:xfrm>
            <a:off x="4991249" y="1590080"/>
            <a:ext cx="1435150" cy="631627"/>
          </a:xfrm>
          <a:prstGeom prst="roundRect">
            <a:avLst>
              <a:gd name="adj" fmla="val 804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116102" y="1688455"/>
            <a:ext cx="11854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116102" y="2037606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Tools</a:t>
            </a:r>
            <a:endParaRPr lang="en-US" sz="600" dirty="0"/>
          </a:p>
        </p:txBody>
      </p:sp>
      <p:sp>
        <p:nvSpPr>
          <p:cNvPr id="30" name="Text 28"/>
          <p:cNvSpPr/>
          <p:nvPr/>
        </p:nvSpPr>
        <p:spPr>
          <a:xfrm>
            <a:off x="457200" y="2285107"/>
            <a:ext cx="1435150" cy="612577"/>
          </a:xfrm>
          <a:prstGeom prst="roundRect">
            <a:avLst>
              <a:gd name="adj" fmla="val 829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82053" y="2383482"/>
            <a:ext cx="118544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82053" y="2704058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Catalog</a:t>
            </a:r>
            <a:endParaRPr lang="en-US" sz="600" dirty="0"/>
          </a:p>
        </p:txBody>
      </p:sp>
      <p:sp>
        <p:nvSpPr>
          <p:cNvPr id="33" name="Text 31"/>
          <p:cNvSpPr/>
          <p:nvPr/>
        </p:nvSpPr>
        <p:spPr>
          <a:xfrm>
            <a:off x="1968550" y="2285107"/>
            <a:ext cx="1435150" cy="612577"/>
          </a:xfrm>
          <a:prstGeom prst="roundRect">
            <a:avLst>
              <a:gd name="adj" fmla="val 829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2093403" y="2383482"/>
            <a:ext cx="118544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2093403" y="2704058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</a:t>
            </a:r>
            <a:endParaRPr lang="en-US" sz="600" dirty="0"/>
          </a:p>
        </p:txBody>
      </p:sp>
      <p:sp>
        <p:nvSpPr>
          <p:cNvPr id="36" name="Text 34"/>
          <p:cNvSpPr/>
          <p:nvPr/>
        </p:nvSpPr>
        <p:spPr>
          <a:xfrm>
            <a:off x="3479899" y="2285107"/>
            <a:ext cx="1435150" cy="612577"/>
          </a:xfrm>
          <a:prstGeom prst="roundRect">
            <a:avLst>
              <a:gd name="adj" fmla="val 829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3604753" y="2383482"/>
            <a:ext cx="118544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3604753" y="2704058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Rules</a:t>
            </a:r>
            <a:endParaRPr lang="en-US" sz="600" dirty="0"/>
          </a:p>
        </p:txBody>
      </p:sp>
      <p:sp>
        <p:nvSpPr>
          <p:cNvPr id="39" name="Text 37"/>
          <p:cNvSpPr/>
          <p:nvPr/>
        </p:nvSpPr>
        <p:spPr>
          <a:xfrm>
            <a:off x="4991249" y="2285107"/>
            <a:ext cx="1435150" cy="612577"/>
          </a:xfrm>
          <a:prstGeom prst="roundRect">
            <a:avLst>
              <a:gd name="adj" fmla="val 8293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116102" y="2383482"/>
            <a:ext cx="118544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36일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116102" y="2713583"/>
            <a:ext cx="118544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457200" y="2961084"/>
            <a:ext cx="5969198" cy="629394"/>
          </a:xfrm>
          <a:prstGeom prst="roundRect">
            <a:avLst>
              <a:gd name="adj" fmla="val 807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476250" y="2961084"/>
            <a:ext cx="0" cy="629394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2"/>
          <p:cNvSpPr/>
          <p:nvPr/>
        </p:nvSpPr>
        <p:spPr>
          <a:xfrm>
            <a:off x="634901" y="3062585"/>
            <a:ext cx="5764935" cy="426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숫자들은 35일간 단 한 건의 회귀 없이 축적된 결과이다. </a:t>
            </a:r>
            <a:r>
              <a:rPr lang="en-US" sz="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23개 규칙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품질 하한을 보장하고,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 5-Job Ratchet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테스트 수의 단조 증가를 강제하며, </a:t>
            </a: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4-Persona Review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 머지 전 결함을 차단한다. Harness 4-Axis(컨텍스트·실행·검증·관측)가 이 세 메커니즘을 매 커밋마다 작동시키므로 숫자는 선형이 아닌 복리로 성장한다.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6527899" y="822127"/>
            <a:ext cx="2158901" cy="2982664"/>
          </a:xfrm>
          <a:prstGeom prst="roundRect">
            <a:avLst>
              <a:gd name="adj" fmla="val 2353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6664375" y="920502"/>
            <a:ext cx="19236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4-Axis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664375" y="116160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6778675" y="1098203"/>
            <a:ext cx="1807083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PromptAssembler 6-Phase + SHA-256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664375" y="1473547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778675" y="1410146"/>
            <a:ext cx="1530495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while(tool_use) · 50R × 200T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664375" y="166122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6778675" y="1597819"/>
            <a:ext cx="1317057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5-Layer · Cross-LLM α≥0.67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6664375" y="184889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6778675" y="1785491"/>
            <a:ext cx="1557668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46-Event Hook · LangSmith/OTEL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6527899" y="3880991"/>
            <a:ext cx="2158901" cy="1043583"/>
          </a:xfrm>
          <a:prstGeom prst="roundRect">
            <a:avLst>
              <a:gd name="adj" fmla="val 4868"/>
            </a:avLst>
          </a:prstGeom>
          <a:solidFill>
            <a:srgbClr val="161B22"/>
          </a:solidFill>
          <a:ln w="9525">
            <a:solidFill>
              <a:srgbClr val="F5C542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664375" y="3979366"/>
            <a:ext cx="19236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REODE (이식 증거)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664375" y="4153942"/>
            <a:ext cx="192366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241 소스 · 103K LoC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664375" y="4328964"/>
            <a:ext cx="1923669" cy="124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세션 · 1,133 LLM 라운드 · 5h 48m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6664375" y="4529286"/>
            <a:ext cx="19236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buNone/>
            </a:pPr>
            <a:r>
              <a:rPr lang="en-US" sz="800" b="1" dirty="0">
                <a:solidFill>
                  <a:srgbClr val="F5C5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83/83 mvn compile+test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664375" y="4719638"/>
            <a:ext cx="1923669" cy="106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DomainPort 때문에 코어 수정 0줄로 하네스 이식성을 실증</a:t>
            </a:r>
            <a:endParaRPr lang="en-US" sz="600" dirty="0"/>
          </a:p>
        </p:txBody>
      </p:sp>
      <p:sp>
        <p:nvSpPr>
          <p:cNvPr id="61" name="Text 59"/>
          <p:cNvSpPr/>
          <p:nvPr/>
        </p:nvSpPr>
        <p:spPr>
          <a:xfrm>
            <a:off x="457200" y="4987975"/>
            <a:ext cx="2071679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Feb 21 to Mar 28, 2026 · Anthropic / OpenAI / ZhipuAI</a:t>
            </a:r>
            <a:endParaRPr lang="en-US" sz="500" dirty="0"/>
          </a:p>
        </p:txBody>
      </p:sp>
      <p:sp>
        <p:nvSpPr>
          <p:cNvPr id="62" name="Text 60"/>
          <p:cNvSpPr/>
          <p:nvPr/>
        </p:nvSpPr>
        <p:spPr>
          <a:xfrm>
            <a:off x="8492728" y="4987975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35</a:t>
            </a:r>
            <a:endParaRPr lang="en-US" sz="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84150" y="157014"/>
            <a:ext cx="143197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 · DISCIPLINE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380851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Engineering은 디시플린이다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57076"/>
            <a:ext cx="83941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4축을 한 릴리스라도 건너뛰면 회귀가 쌓이기 때문에 도구가 아닌 매 PR 습관으로 실천한다. v0.6 → v0.32 26버전의 실증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857101"/>
            <a:ext cx="2082701" cy="4057948"/>
          </a:xfrm>
          <a:prstGeom prst="roundRect">
            <a:avLst>
              <a:gd name="adj" fmla="val 3659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19125" y="1572220"/>
            <a:ext cx="1758851" cy="57150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56984" y="1686520"/>
            <a:ext cx="148313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“확률적 시스템은</a:t>
            </a:r>
            <a:endParaRPr lang="en-US" sz="900" dirty="0"/>
          </a:p>
          <a:p>
            <a:pPr marL="0" indent="0" algn="ctr">
              <a:lnSpc>
                <a:spcPts val="1350"/>
              </a:lnSpc>
              <a:buNone/>
            </a:pPr>
            <a:r>
              <a:rPr lang="en-US" sz="90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제어 없이 발산한다”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01536" y="2232571"/>
            <a:ext cx="1794028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</a:t>
            </a:r>
            <a:endParaRPr lang="en-US" sz="700" dirty="0"/>
          </a:p>
          <a:p>
            <a:pPr marL="0" indent="0" algn="ctr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수렴시키는 하네스를 만듭니다.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619125" y="2610445"/>
            <a:ext cx="175885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601536" y="2704058"/>
            <a:ext cx="179402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75"/>
              </a:lnSpc>
              <a:buNone/>
            </a:pP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디시플린은 일회성 설계가 아니다. 매 PR마다, 매 릴리스마다 4축이 실천되어야 하네스가 살아남는다.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619125" y="3040559"/>
            <a:ext cx="1758851" cy="466427"/>
          </a:xfrm>
          <a:prstGeom prst="roundRect">
            <a:avLst>
              <a:gd name="adj" fmla="val 10891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31026" y="3142059"/>
            <a:ext cx="15350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v0.6 → v0.32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026" y="3319760"/>
            <a:ext cx="153504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26버전 동안 4축이 유지됨</a:t>
            </a:r>
            <a:endParaRPr lang="en-US" sz="600" dirty="0"/>
          </a:p>
        </p:txBody>
      </p:sp>
      <p:sp>
        <p:nvSpPr>
          <p:cNvPr id="15" name="Text 13"/>
          <p:cNvSpPr/>
          <p:nvPr/>
        </p:nvSpPr>
        <p:spPr>
          <a:xfrm>
            <a:off x="619125" y="3595836"/>
            <a:ext cx="1758851" cy="603945"/>
          </a:xfrm>
          <a:prstGeom prst="roundRect">
            <a:avLst>
              <a:gd name="adj" fmla="val 8411"/>
            </a:avLst>
          </a:prstGeom>
          <a:solidFill>
            <a:srgbClr val="1A1A2E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38175" y="3595836"/>
            <a:ext cx="0" cy="603945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771525" y="3684687"/>
            <a:ext cx="1521994" cy="426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40"/>
              </a:lnSpc>
              <a:buNone/>
            </a:pPr>
            <a:r>
              <a:rPr lang="en-US" sz="6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Trade-off: 디시플린 비용</a:t>
            </a: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4축 실천은 PR마다 시간이 든다. 이를 포기하면 릴리스 속도는 올라가지만 회귀가 쌓인다. 40/40 무회귀가 그 비용의 수익이다.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2641402" y="857101"/>
            <a:ext cx="6045398" cy="957263"/>
          </a:xfrm>
          <a:prstGeom prst="roundRect">
            <a:avLst>
              <a:gd name="adj" fmla="val 79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803327" y="968127"/>
            <a:ext cx="38100" cy="735211"/>
          </a:xfrm>
          <a:prstGeom prst="roundRect">
            <a:avLst>
              <a:gd name="adj" fmla="val 66667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942927" y="1060400"/>
            <a:ext cx="5040523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컨텍스트 제어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942927" y="1209526"/>
            <a:ext cx="50405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v0.32에서 Provider-aware Compaction 도입. Anthropic은 서버사이드, OpenAI/GLM은 클라이언트사이드로 분화하여 2회차 입력 비용을 10%로 절감한다.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2942927" y="1495276"/>
            <a:ext cx="5040523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65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다음:</a:t>
            </a:r>
            <a:r>
              <a:rPr lang="en-US" sz="650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프롬프트 자동 최적화 (RL 기반) — 별도 fine-tuning 없이 후보 프롬프트 등급 자동 선택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7986117" y="1124694"/>
            <a:ext cx="538758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110219" y="1226195"/>
            <a:ext cx="29055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110219" y="1359545"/>
            <a:ext cx="290554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절감</a:t>
            </a:r>
            <a:endParaRPr lang="en-US" sz="600" dirty="0"/>
          </a:p>
        </p:txBody>
      </p:sp>
      <p:sp>
        <p:nvSpPr>
          <p:cNvPr id="26" name="Text 24"/>
          <p:cNvSpPr/>
          <p:nvPr/>
        </p:nvSpPr>
        <p:spPr>
          <a:xfrm>
            <a:off x="2641402" y="1890564"/>
            <a:ext cx="6045398" cy="957411"/>
          </a:xfrm>
          <a:prstGeom prst="roundRect">
            <a:avLst>
              <a:gd name="adj" fmla="val 795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803327" y="2001589"/>
            <a:ext cx="38100" cy="735360"/>
          </a:xfrm>
          <a:prstGeom prst="roundRect">
            <a:avLst>
              <a:gd name="adj" fmla="val 66667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942927" y="2094012"/>
            <a:ext cx="4939725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루프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2942927" y="2243138"/>
            <a:ext cx="49397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v0.32에서 Autonomous Safety 3조건 도입. 비용 상한 + 수렴 감지 + 권한 검증으로 파이프라인 폭주를 차단하고 평균 4.2 라운드에 자연 종료를 보장한다.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2942927" y="2528888"/>
            <a:ext cx="4939725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6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다음:</a:t>
            </a:r>
            <a:r>
              <a:rPr lang="en-US" sz="65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멀티에이전트 협업 프로토콜 — 독립 SubAgent가 DAG로 병렬 실행되는 협업 매커니즘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7887295" y="2158157"/>
            <a:ext cx="637580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010409" y="2259657"/>
            <a:ext cx="3913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010409" y="2393007"/>
            <a:ext cx="391352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크200 turns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2641402" y="2924175"/>
            <a:ext cx="6045398" cy="957263"/>
          </a:xfrm>
          <a:prstGeom prst="roundRect">
            <a:avLst>
              <a:gd name="adj" fmla="val 7960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803327" y="3035201"/>
            <a:ext cx="38100" cy="735211"/>
          </a:xfrm>
          <a:prstGeom prst="roundRect">
            <a:avLst>
              <a:gd name="adj" fmla="val 66667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942927" y="3127474"/>
            <a:ext cx="49684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942927" y="3276600"/>
            <a:ext cx="49684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5-Layer Cross-LLM 합의 도편지수 α≥0.67로 단일 LLM 편향 및 앙커링을 구조적으로 제거한다. 단일 LLM 편향은 평가점 오차 당18점 분산을 밤는다.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942927" y="3562350"/>
            <a:ext cx="4968416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6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다음:</a:t>
            </a:r>
            <a:r>
              <a:rPr lang="en-US" sz="650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인간 피드백 루프 (RLHF Phase 5) 실가동 — 평가자 피드백이 실시간 합의도 보정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7915424" y="3191768"/>
            <a:ext cx="609451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8038819" y="3293269"/>
            <a:ext cx="36266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α≥0.67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038819" y="3426619"/>
            <a:ext cx="36266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합의도</a:t>
            </a:r>
            <a:endParaRPr lang="en-US" sz="600" dirty="0"/>
          </a:p>
        </p:txBody>
      </p:sp>
      <p:sp>
        <p:nvSpPr>
          <p:cNvPr id="42" name="Text 40"/>
          <p:cNvSpPr/>
          <p:nvPr/>
        </p:nvSpPr>
        <p:spPr>
          <a:xfrm>
            <a:off x="2641402" y="3957638"/>
            <a:ext cx="6045398" cy="957411"/>
          </a:xfrm>
          <a:prstGeom prst="roundRect">
            <a:avLst>
              <a:gd name="adj" fmla="val 795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803327" y="4068663"/>
            <a:ext cx="38100" cy="735360"/>
          </a:xfrm>
          <a:prstGeom prst="roundRect">
            <a:avLst>
              <a:gd name="adj" fmla="val 6666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942927" y="4161086"/>
            <a:ext cx="48903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2942927" y="4310211"/>
            <a:ext cx="48903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75"/>
              </a:lnSpc>
              <a:spcBef>
                <a:spcPts val="200"/>
              </a:spcBef>
              <a:buNone/>
            </a:pPr>
            <a:r>
              <a:rPr lang="en-US" sz="6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46 events로 모든 계층을 횟전단한다. L3 Decide 핸들러가 현재 1개에 불과하여 비용 표문점이 부족하다. 자체 TokenTracker가 무선 LangSmith보다 모델별 비용을 정밀하게 분리한다.</a:t>
            </a:r>
            <a:endParaRPr lang="en-US" sz="650" dirty="0"/>
          </a:p>
        </p:txBody>
      </p:sp>
      <p:sp>
        <p:nvSpPr>
          <p:cNvPr id="46" name="Text 44"/>
          <p:cNvSpPr/>
          <p:nvPr/>
        </p:nvSpPr>
        <p:spPr>
          <a:xfrm>
            <a:off x="2942927" y="4595961"/>
            <a:ext cx="4890388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65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다음:</a:t>
            </a:r>
            <a:r>
              <a:rPr lang="en-US" sz="65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L3 Decide 핸들러 확대 (현재 1개 → 5개+) — 자동 비용 예측 + ML 실행 계획 최적화</a:t>
            </a:r>
            <a:endParaRPr lang="en-US" sz="650" dirty="0"/>
          </a:p>
        </p:txBody>
      </p:sp>
      <p:sp>
        <p:nvSpPr>
          <p:cNvPr id="47" name="Text 45"/>
          <p:cNvSpPr/>
          <p:nvPr/>
        </p:nvSpPr>
        <p:spPr>
          <a:xfrm>
            <a:off x="7838926" y="4225230"/>
            <a:ext cx="685949" cy="422077"/>
          </a:xfrm>
          <a:prstGeom prst="roundRect">
            <a:avLst>
              <a:gd name="adj" fmla="val 12036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7961556" y="4326731"/>
            <a:ext cx="4406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961556" y="4460081"/>
            <a:ext cx="44068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 Events</a:t>
            </a:r>
            <a:endParaRPr lang="en-US" sz="600" dirty="0"/>
          </a:p>
        </p:txBody>
      </p:sp>
      <p:sp>
        <p:nvSpPr>
          <p:cNvPr id="50" name="Text 48"/>
          <p:cNvSpPr/>
          <p:nvPr/>
        </p:nvSpPr>
        <p:spPr>
          <a:xfrm>
            <a:off x="457200" y="4978450"/>
            <a:ext cx="2470469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Harness Engineering = Context 크 Loop 크 Validation 크 Observation</a:t>
            </a:r>
            <a:endParaRPr lang="en-US" sz="500" dirty="0"/>
          </a:p>
        </p:txBody>
      </p:sp>
      <p:sp>
        <p:nvSpPr>
          <p:cNvPr id="51" name="Text 49"/>
          <p:cNvSpPr/>
          <p:nvPr/>
        </p:nvSpPr>
        <p:spPr>
          <a:xfrm>
            <a:off x="8492728" y="4978450"/>
            <a:ext cx="197953" cy="7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35</a:t>
            </a:r>
            <a:endParaRPr lang="en-US" sz="5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mango/workspace/portfolio/geode/versions/v9/slides/assets/bg-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6950"/>
            <a:ext cx="50750" cy="203150"/>
          </a:xfrm>
          <a:prstGeom prst="roundRect">
            <a:avLst>
              <a:gd name="adj" fmla="val 50049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84150" y="157014"/>
            <a:ext cx="59006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812905" y="171301"/>
            <a:ext cx="191137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 · Feb 21 to Mar 28, 2026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57200" y="867966"/>
            <a:ext cx="6058049" cy="1031974"/>
          </a:xfrm>
          <a:prstGeom prst="roundRect">
            <a:avLst>
              <a:gd name="adj" fmla="val 7384"/>
            </a:avLst>
          </a:prstGeom>
          <a:solidFill>
            <a:srgbClr val="161B22"/>
          </a:solidFill>
          <a:ln w="9525">
            <a:solidFill>
              <a:srgbClr val="4ECDC4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644426" y="1004441"/>
            <a:ext cx="57972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Opening Thesis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44426" y="1188541"/>
            <a:ext cx="5797269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"확률적 시스템(LLM)은 제어 없이 발산합니다.</a:t>
            </a:r>
            <a:endParaRPr lang="en-US" sz="900" dirty="0"/>
          </a:p>
          <a:p>
            <a:pPr marL="0" indent="0" algn="l">
              <a:lnSpc>
                <a:spcPts val="144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발산을 루프와 가치로 수렴시키는 하네스를 만듭니다."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4426" y="1630263"/>
            <a:ext cx="5797269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spcBef>
                <a:spcPts val="600"/>
              </a:spcBef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GEODE v0.32.0: 36일, 1,174 커밋, 40 릴리스. 이 숫자들이 명제의 실증이다.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57200" y="1988790"/>
            <a:ext cx="6058049" cy="512862"/>
          </a:xfrm>
          <a:prstGeom prst="roundRect">
            <a:avLst>
              <a:gd name="adj" fmla="val 9905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8"/>
          <p:cNvSpPr/>
          <p:nvPr/>
        </p:nvSpPr>
        <p:spPr>
          <a:xfrm>
            <a:off x="476250" y="1988790"/>
            <a:ext cx="0" cy="512862"/>
          </a:xfrm>
          <a:prstGeom prst="line">
            <a:avLst/>
          </a:prstGeom>
          <a:noFill/>
          <a:ln w="381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647700" y="2103090"/>
            <a:ext cx="5829452" cy="284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확률적 시스템을 제어하는 것은 단순히 가드레일을 세우는 것이 아니다. </a:t>
            </a:r>
            <a:r>
              <a:rPr lang="en-US" sz="7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관측(Hook 46 events)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현재 상태를 파악하고, </a:t>
            </a: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검증(5-Layer)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출력을 신뢰할 수 있게 만들며, </a:t>
            </a: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압축(Provider-aware Compaction)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장기 운용을 가능하게 한다. 이 세 축이 while(tool_use) 루프 안에서 매 턴마다 작동한다.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457200" y="2590502"/>
            <a:ext cx="6058049" cy="831652"/>
          </a:xfrm>
          <a:prstGeom prst="roundRect">
            <a:avLst>
              <a:gd name="adj" fmla="val 9162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644426" y="2714327"/>
            <a:ext cx="579726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Triple Loop: 하네스의 3개 피드백 사이클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44426" y="2914352"/>
            <a:ext cx="1674465" cy="383977"/>
          </a:xfrm>
          <a:prstGeom prst="roundRect">
            <a:avLst>
              <a:gd name="adj" fmla="val 132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744267" y="3003203"/>
            <a:ext cx="1474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Loop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744267" y="3123754"/>
            <a:ext cx="14747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Frontier → CANNOT → 다음 설계</a:t>
            </a:r>
            <a:endParaRPr lang="en-US" sz="600" dirty="0"/>
          </a:p>
        </p:txBody>
      </p:sp>
      <p:sp>
        <p:nvSpPr>
          <p:cNvPr id="18" name="Text 15"/>
          <p:cNvSpPr/>
          <p:nvPr/>
        </p:nvSpPr>
        <p:spPr>
          <a:xfrm>
            <a:off x="2420392" y="3034903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648992" y="2914352"/>
            <a:ext cx="1674465" cy="383977"/>
          </a:xfrm>
          <a:prstGeom prst="roundRect">
            <a:avLst>
              <a:gd name="adj" fmla="val 132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2748833" y="3003203"/>
            <a:ext cx="1474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 Loop</a:t>
            </a:r>
            <a:endParaRPr lang="en-US" sz="700" dirty="0"/>
          </a:p>
        </p:txBody>
      </p:sp>
      <p:sp>
        <p:nvSpPr>
          <p:cNvPr id="21" name="Text 18"/>
          <p:cNvSpPr/>
          <p:nvPr/>
        </p:nvSpPr>
        <p:spPr>
          <a:xfrm>
            <a:off x="2748833" y="3123754"/>
            <a:ext cx="14747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8-Step → PR → CHANGELOG</a:t>
            </a:r>
            <a:endParaRPr lang="en-US" sz="600" dirty="0"/>
          </a:p>
        </p:txBody>
      </p:sp>
      <p:sp>
        <p:nvSpPr>
          <p:cNvPr id="22" name="Text 19"/>
          <p:cNvSpPr/>
          <p:nvPr/>
        </p:nvSpPr>
        <p:spPr>
          <a:xfrm>
            <a:off x="4424958" y="3034903"/>
            <a:ext cx="1296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653558" y="2914352"/>
            <a:ext cx="1674465" cy="383977"/>
          </a:xfrm>
          <a:prstGeom prst="roundRect">
            <a:avLst>
              <a:gd name="adj" fmla="val 13230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4753399" y="3003203"/>
            <a:ext cx="1474783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Loop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4753399" y="3123754"/>
            <a:ext cx="14747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200"/>
              </a:spcBef>
              <a:buNone/>
            </a:pPr>
            <a:r>
              <a:rPr lang="en-US" sz="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while(tool_use) → Hook → LEARNINGS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457200" y="3511004"/>
            <a:ext cx="6058049" cy="913805"/>
          </a:xfrm>
          <a:prstGeom prst="roundRect">
            <a:avLst>
              <a:gd name="adj" fmla="val 8339"/>
            </a:avLst>
          </a:prstGeom>
          <a:solidFill>
            <a:srgbClr val="161B22"/>
          </a:solidFill>
          <a:ln w="9525">
            <a:solidFill>
              <a:srgbClr val="21262D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/>
          <p:cNvSpPr/>
          <p:nvPr/>
        </p:nvSpPr>
        <p:spPr>
          <a:xfrm>
            <a:off x="644426" y="3634829"/>
            <a:ext cx="579726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Value Propositions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4426" y="3863280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818C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84027" y="3799880"/>
            <a:ext cx="2943037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Scaffold: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23 CANNOT + 21 Skills로 LLM 자율성과 제어의 균형을 잡는 방법론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644426" y="4047232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4ECDC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8"/>
          <p:cNvSpPr/>
          <p:nvPr/>
        </p:nvSpPr>
        <p:spPr>
          <a:xfrm>
            <a:off x="784027" y="3983831"/>
            <a:ext cx="311867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50R × 200T 장기 실행을 비용 상한 + 수렴 감지로 안정 운용하는 기술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644426" y="4231184"/>
            <a:ext cx="38100" cy="38100"/>
          </a:xfrm>
          <a:prstGeom prst="roundRect">
            <a:avLst>
              <a:gd name="adj" fmla="val 2400000"/>
            </a:avLst>
          </a:prstGeom>
          <a:solidFill>
            <a:srgbClr val="34D399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84027" y="4167783"/>
            <a:ext cx="2796546" cy="133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Portable:</a:t>
            </a:r>
            <a:r>
              <a:rPr lang="en-US" sz="7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GEODE → REODE 이식: 하네스가 도메인을 선택하지 않는 구조</a:t>
            </a:r>
            <a:endParaRPr lang="en-US" sz="700" dirty="0"/>
          </a:p>
        </p:txBody>
      </p:sp>
      <p:pic>
        <p:nvPicPr>
          <p:cNvPr id="34" name="Image 1" descr="/Users/mango/workspace/portfolio/geode/versions/v9/slides/assets/masc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4149" y="642938"/>
            <a:ext cx="1396901" cy="1396901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6718399" y="2154138"/>
            <a:ext cx="1968401" cy="1273076"/>
          </a:xfrm>
          <a:prstGeom prst="roundRect">
            <a:avLst>
              <a:gd name="adj" fmla="val 5986"/>
            </a:avLst>
          </a:prstGeom>
          <a:solidFill>
            <a:srgbClr val="161B22"/>
          </a:solidFill>
          <a:ln w="9525">
            <a:solidFill>
              <a:srgbClr val="818CF8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6863879" y="2316063"/>
            <a:ext cx="16774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류지환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6863879" y="2592288"/>
            <a:ext cx="167744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Harness Engineer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6880324" y="2787551"/>
            <a:ext cx="1644551" cy="0"/>
          </a:xfrm>
          <a:prstGeom prst="line">
            <a:avLst/>
          </a:prstGeom>
          <a:noFill/>
          <a:ln w="9525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35"/>
          <p:cNvSpPr/>
          <p:nvPr/>
        </p:nvSpPr>
        <p:spPr>
          <a:xfrm>
            <a:off x="6863879" y="2868513"/>
            <a:ext cx="1677442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4ECD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GEODE · REODE</a:t>
            </a:r>
            <a:endParaRPr lang="en-US" sz="700" dirty="0"/>
          </a:p>
        </p:txBody>
      </p:sp>
      <p:sp>
        <p:nvSpPr>
          <p:cNvPr id="40" name="Text 36"/>
          <p:cNvSpPr/>
          <p:nvPr/>
        </p:nvSpPr>
        <p:spPr>
          <a:xfrm>
            <a:off x="6863879" y="3024039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v0.32.0 · 1,174 commits</a:t>
            </a:r>
            <a:endParaRPr lang="en-US" sz="700" dirty="0"/>
          </a:p>
        </p:txBody>
      </p:sp>
      <p:sp>
        <p:nvSpPr>
          <p:cNvPr id="41" name="Text 37"/>
          <p:cNvSpPr/>
          <p:nvPr/>
        </p:nvSpPr>
        <p:spPr>
          <a:xfrm>
            <a:off x="6863879" y="3170039"/>
            <a:ext cx="167744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 21 to Mar 28, 2026</a:t>
            </a:r>
            <a:endParaRPr lang="en-US" sz="700" dirty="0"/>
          </a:p>
        </p:txBody>
      </p:sp>
      <p:sp>
        <p:nvSpPr>
          <p:cNvPr id="42" name="Text 38"/>
          <p:cNvSpPr/>
          <p:nvPr/>
        </p:nvSpPr>
        <p:spPr>
          <a:xfrm>
            <a:off x="6718399" y="3541514"/>
            <a:ext cx="1968401" cy="469404"/>
          </a:xfrm>
          <a:prstGeom prst="roundRect">
            <a:avLst>
              <a:gd name="adj" fmla="val 10822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6828205" y="3643015"/>
            <a:ext cx="1748790" cy="266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감사합니다.</a:t>
            </a:r>
            <a:endParaRPr lang="en-US" sz="700" dirty="0"/>
          </a:p>
          <a:p>
            <a:pPr marL="0" indent="0" algn="ctr">
              <a:lnSpc>
                <a:spcPts val="1050"/>
              </a:lnSpc>
              <a:buNone/>
            </a:pPr>
            <a:r>
              <a:rPr lang="en-US" sz="7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질문은 언제든 환영합니다.</a:t>
            </a:r>
            <a:endParaRPr lang="en-US" sz="700" dirty="0"/>
          </a:p>
        </p:txBody>
      </p:sp>
      <p:sp>
        <p:nvSpPr>
          <p:cNvPr id="44" name="Text 40"/>
          <p:cNvSpPr/>
          <p:nvPr/>
        </p:nvSpPr>
        <p:spPr>
          <a:xfrm>
            <a:off x="6718399" y="4125218"/>
            <a:ext cx="1968401" cy="524619"/>
          </a:xfrm>
          <a:prstGeom prst="roundRect">
            <a:avLst>
              <a:gd name="adj" fmla="val 9683"/>
            </a:avLst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Shape 41"/>
          <p:cNvSpPr/>
          <p:nvPr/>
        </p:nvSpPr>
        <p:spPr>
          <a:xfrm>
            <a:off x="6737449" y="4125218"/>
            <a:ext cx="0" cy="524619"/>
          </a:xfrm>
          <a:prstGeom prst="line">
            <a:avLst/>
          </a:prstGeom>
          <a:noFill/>
          <a:ln w="381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42"/>
          <p:cNvSpPr/>
          <p:nvPr/>
        </p:nvSpPr>
        <p:spPr>
          <a:xfrm>
            <a:off x="6853782" y="4214068"/>
            <a:ext cx="1735735" cy="346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0"/>
              </a:lnSpc>
              <a:buNone/>
            </a:pPr>
            <a:r>
              <a:rPr lang="en-US" sz="65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Trade-off:</a:t>
            </a:r>
            <a:r>
              <a:rPr lang="en-US" sz="6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자율성을 높이면 안전 비용이 오른다. 46 Hook + 3 Brake + 5-Tier로 그 비용을 지불하고, 36일 무중단 실행이 수익이다.</a:t>
            </a:r>
            <a:endParaRPr lang="en-US" sz="650" dirty="0"/>
          </a:p>
        </p:txBody>
      </p:sp>
      <p:sp>
        <p:nvSpPr>
          <p:cNvPr id="47" name="Text 43"/>
          <p:cNvSpPr/>
          <p:nvPr/>
        </p:nvSpPr>
        <p:spPr>
          <a:xfrm>
            <a:off x="457200" y="4975324"/>
            <a:ext cx="2023708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/ OpenAI / ZhipuAI · 3 Providers · 187 Modules · 3,216 Tests</a:t>
            </a:r>
            <a:endParaRPr lang="en-US" sz="500" dirty="0"/>
          </a:p>
        </p:txBody>
      </p:sp>
      <p:sp>
        <p:nvSpPr>
          <p:cNvPr id="48" name="Text 44"/>
          <p:cNvSpPr/>
          <p:nvPr/>
        </p:nvSpPr>
        <p:spPr>
          <a:xfrm>
            <a:off x="8492728" y="4975324"/>
            <a:ext cx="197953" cy="666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35</a:t>
            </a:r>
            <a:endParaRPr lang="en-US" sz="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2804</TotalTime>
  <Words>8594</Words>
  <Application>Microsoft Macintosh PowerPoint</Application>
  <PresentationFormat>화면 슬라이드 쇼(16:9)</PresentationFormat>
  <Paragraphs>1317</Paragraphs>
  <Slides>35</Slides>
  <Notes>35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38" baseType="lpstr"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GEODE v0.30 — Autonomous Execution Harness</dc:title>
  <dc:subject>PptxGenJS Presentation</dc:subject>
  <dc:creator>mangowhoiscloud</dc:creator>
  <cp:lastModifiedBy>mng polar</cp:lastModifiedBy>
  <cp:revision>2</cp:revision>
  <dcterms:created xsi:type="dcterms:W3CDTF">2026-03-28T10:35:13Z</dcterms:created>
  <dcterms:modified xsi:type="dcterms:W3CDTF">2026-03-30T09:19:54Z</dcterms:modified>
</cp:coreProperties>
</file>