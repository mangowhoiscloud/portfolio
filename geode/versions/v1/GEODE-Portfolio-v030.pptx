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101" y="1151037"/>
            <a:ext cx="553938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47576" y="1211312"/>
            <a:ext cx="2866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v0.30.0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1353889" y="1151037"/>
            <a:ext cx="1272778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490365" y="1211312"/>
            <a:ext cx="10198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Execution Agent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2715518" y="1151037"/>
            <a:ext cx="954732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51993" y="1211312"/>
            <a:ext cx="6954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35-day build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711101" y="1509713"/>
            <a:ext cx="78762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11101" y="1890713"/>
            <a:ext cx="78762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 { observe → learn → act }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11101" y="2122438"/>
            <a:ext cx="5334000" cy="622250"/>
          </a:xfrm>
          <a:prstGeom prst="roundRect">
            <a:avLst>
              <a:gd name="adj" fmla="val 816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11101" y="2127200"/>
            <a:ext cx="533400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40338" y="2122438"/>
            <a:ext cx="0" cy="62225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1101" y="2739926"/>
            <a:ext cx="533400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4913" y="2122438"/>
            <a:ext cx="0" cy="622250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1126" y="2246263"/>
            <a:ext cx="5071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발산합니다.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11126" y="2468463"/>
            <a:ext cx="50714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4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1101" y="2947839"/>
            <a:ext cx="895648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80211" y="3071664"/>
            <a:ext cx="55742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80211" y="3351014"/>
            <a:ext cx="557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1708249" y="2947839"/>
            <a:ext cx="1133029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874986" y="3071664"/>
            <a:ext cx="799555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3,219+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874986" y="3351014"/>
            <a:ext cx="7995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2942779" y="2947839"/>
            <a:ext cx="863501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112210" y="3071664"/>
            <a:ext cx="5246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3112210" y="3351014"/>
            <a:ext cx="5246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3907780" y="2947839"/>
            <a:ext cx="863501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077212" y="3071664"/>
            <a:ext cx="5246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4077212" y="3351014"/>
            <a:ext cx="5246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872782" y="2947839"/>
            <a:ext cx="970657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41142" y="3071664"/>
            <a:ext cx="63393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1,118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5041142" y="3351014"/>
            <a:ext cx="6339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11101" y="3687514"/>
            <a:ext cx="78762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days (Feb 21 — Mar 27) · 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tools + 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MCP · 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events · 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CANNOT rules</a:t>
            </a:r>
            <a:endParaRPr lang="en-US" sz="600" dirty="0"/>
          </a:p>
        </p:txBody>
      </p:sp>
      <p:pic>
        <p:nvPicPr>
          <p:cNvPr id="34" name="Image 1" descr="/Users/mango/workspace/portfolio/geode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450" y="3848249"/>
            <a:ext cx="1117550" cy="111755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11101" y="5000625"/>
            <a:ext cx="11940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— Harness Engineering</a:t>
            </a:r>
            <a:endParaRPr lang="en-US" sz="500" dirty="0"/>
          </a:p>
        </p:txBody>
      </p:sp>
      <p:sp>
        <p:nvSpPr>
          <p:cNvPr id="36" name="Text 32"/>
          <p:cNvSpPr/>
          <p:nvPr/>
        </p:nvSpPr>
        <p:spPr>
          <a:xfrm>
            <a:off x="8238827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24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— 4-Axis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LLM을 신뢰 가능한 시스템으로 수렴시키는 4개 제어 축. 루프가 데이터를 생산하고, 관측이 포착하고, 검증이 확인하고, 컨텍스트가 다음 반복을 제어한다.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1981200" cy="371207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0626" y="1088827"/>
            <a:ext cx="637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0626" y="1231702"/>
            <a:ext cx="6375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Control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3675" y="1482477"/>
            <a:ext cx="1708249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0626" y="1583978"/>
            <a:ext cx="1483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주입 설계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0626" y="1739503"/>
            <a:ext cx="148343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6-Phase: template → override → skill → memory → bootstrap 순서로 동적 조립. LLM이 보는 것이 곧 결과.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3675" y="2450009"/>
            <a:ext cx="1708249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0151" y="254838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prompt caching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30151" y="2691259"/>
            <a:ext cx="146400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노드 동일 프롬프트 공유 → 입력 비용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절감. 200 turns sliding window.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39901" y="863501"/>
            <a:ext cx="1981349" cy="371207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76376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03327" y="1088827"/>
            <a:ext cx="5358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03327" y="1231702"/>
            <a:ext cx="535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Loop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676376" y="1482477"/>
            <a:ext cx="1708398" cy="758130"/>
          </a:xfrm>
          <a:prstGeom prst="roundRect">
            <a:avLst>
              <a:gd name="adj" fmla="val 6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803327" y="1583978"/>
            <a:ext cx="14835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오케스트레이션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803327" y="1739503"/>
            <a:ext cx="1483587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while(tool_use), 최대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라운드. 자연 종료·수렴 감지(동일 에러 4회)·강제 텍스트 등 5가지 경로로 종료.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676376" y="2316807"/>
            <a:ext cx="1708398" cy="817215"/>
          </a:xfrm>
          <a:prstGeom prst="roundRect">
            <a:avLst>
              <a:gd name="adj" fmla="val 6216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12852" y="2415183"/>
            <a:ext cx="14641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tools × 50 rounds 자율 실행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812852" y="2662833"/>
            <a:ext cx="146415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안전 등급. TIER 0-1 병렬, TIER 2 비용 일괄 승인, TIER 3-4 HITL 순차. 3-Provider Failover.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63501"/>
            <a:ext cx="1981200" cy="371207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59226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86176" y="1088827"/>
            <a:ext cx="3802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86176" y="1231702"/>
            <a:ext cx="380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59226" y="1482477"/>
            <a:ext cx="1708249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86176" y="1583978"/>
            <a:ext cx="1483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비결정론 → 신뢰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86176" y="1739503"/>
            <a:ext cx="148343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3-Layer → GEODE 5-Layer로 진화: 69.4 →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정확도. 단일 LLM 평가의 Confirmation Bias 제거.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59226" y="2450009"/>
            <a:ext cx="1708249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95701" y="254838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5-Layer + Cross-LLM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95701" y="2691259"/>
            <a:ext cx="146400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Guardrails → BiasBuster(6종) → Claude×GPT 교차검증(α≥0.67) → Confidence Gate(0.7).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705451" y="863501"/>
            <a:ext cx="1981349" cy="371207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41927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968877" y="1088827"/>
            <a:ext cx="449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68877" y="1231702"/>
            <a:ext cx="4493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841927" y="1482477"/>
            <a:ext cx="1708398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968877" y="1583978"/>
            <a:ext cx="14835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증명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68877" y="1739503"/>
            <a:ext cx="1483587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40-Event Hook Observer가 파이프라인 전 생명주기를 포착. LEARNING.md에 자동 축적. 루프가 작동함을 증명해야 신뢰 가능.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41927" y="2450009"/>
            <a:ext cx="1708398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978402" y="2548384"/>
            <a:ext cx="14641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 / OTEL / CUSUM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978402" y="2691259"/>
            <a:ext cx="146415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TokenTracker: 18개 모델 가격 레지스트리. 컨텍스트 80% 경고, 95% 위험 시 adaptive pruning 발동.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607641" y="4638973"/>
            <a:ext cx="646361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744117" y="4699248"/>
            <a:ext cx="3808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330202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495401" y="4638973"/>
            <a:ext cx="486370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631877" y="4699248"/>
            <a:ext cx="2176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057971" y="4708773"/>
            <a:ext cx="4926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data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617119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82318" y="4638973"/>
            <a:ext cx="966341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918793" y="4699248"/>
            <a:ext cx="7072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824859" y="4708773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193357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358557" y="4638973"/>
            <a:ext cx="912912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495032" y="4699248"/>
            <a:ext cx="652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347668" y="4708773"/>
            <a:ext cx="3067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6724650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889849" y="4638973"/>
            <a:ext cx="646361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026325" y="4699248"/>
            <a:ext cx="3808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57200" y="4978450"/>
            <a:ext cx="133330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축이 순환하며 LLM의 발산을 수렴으로 제어한다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24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4187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650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META, DEV, RUNTIME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6987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세 루프의 공유 기본 단위. RUNTIME이 DEV를 먹이고, DEV가 META를 먹인다.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38051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79140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675" y="1112490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Evolution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93675" y="1210866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711077" y="949077"/>
            <a:ext cx="1818084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22103" y="1034802"/>
            <a:ext cx="16279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2103" y="1155353"/>
            <a:ext cx="16279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결과 · DRIFT_DETECTED · 세션 회고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579912" y="1080790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72049" y="949077"/>
            <a:ext cx="1818233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83075" y="1034802"/>
            <a:ext cx="16281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83075" y="1155353"/>
            <a:ext cx="16281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추출 · anti-pattern 식별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641032" y="1080790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33170" y="949077"/>
            <a:ext cx="2137321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44195" y="1034802"/>
            <a:ext cx="19535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Scaffold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944195" y="1155353"/>
            <a:ext cx="1953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규칙 추가 · 스킬 21개 · CI 래칫 ≥2900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8071991" y="1044327"/>
            <a:ext cx="478334" cy="187226"/>
          </a:xfrm>
          <a:prstGeom prst="roundRect">
            <a:avLst>
              <a:gd name="adj" fmla="val 20350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60841" y="1095077"/>
            <a:ext cx="3066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600200" y="1501229"/>
            <a:ext cx="25301" cy="1269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01701" y="1521768"/>
            <a:ext cx="38857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· TURN_COMPLETE → LEARNING.md 업데이트 → CLAUDE.md CANNOT 규칙 추가 · 스킬 생성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57200" y="1691580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3675" y="1832670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3675" y="1966020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per-PR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93675" y="2064395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711077" y="1802606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822103" y="1888331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22103" y="2008882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5Q · GAP Audit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133874" y="1934319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26011" y="1802606"/>
            <a:ext cx="1372195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37037" y="1888331"/>
            <a:ext cx="11731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437037" y="2008882"/>
            <a:ext cx="1173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branch · ruff+mypy+pytest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748957" y="1934319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41094" y="1802606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52120" y="1888331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52120" y="2008882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리뷰 · CI 5/5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363891" y="1934319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56028" y="1802606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67054" y="1888331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667054" y="2008882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PR→main · progress.md 업데이트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8029575" y="1897856"/>
            <a:ext cx="520750" cy="187226"/>
          </a:xfrm>
          <a:prstGeom prst="roundRect">
            <a:avLst>
              <a:gd name="adj" fmla="val 20350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118425" y="1948607"/>
            <a:ext cx="3499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1600200" y="2354759"/>
            <a:ext cx="25301" cy="1269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701701" y="2375297"/>
            <a:ext cx="40800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SESSION_START → GEODE.md + MEMORY.md + LEARNING.md 로드 · VERIFICATION_FAIL → 새 DEV PR 트리거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2545110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3675" y="2686199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3675" y="2819549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while(tool_use)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93675" y="2917924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711077" y="2656136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822103" y="2741861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22103" y="2862411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 · SESSION_START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121372" y="278784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13509" y="2656136"/>
            <a:ext cx="1473250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424535" y="2741861"/>
            <a:ext cx="12762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424535" y="2862411"/>
            <a:ext cx="12762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native + 41 MCP · 4-경로 디스패치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837509" y="278784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29646" y="2656136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140672" y="2741861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140672" y="2862411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 · conf ≥0.7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439942" y="278784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632079" y="2656136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743105" y="2741861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743105" y="2862411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Hook 이벤트 · 메모리 저장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8093125" y="2751386"/>
            <a:ext cx="457200" cy="187226"/>
          </a:xfrm>
          <a:prstGeom prst="roundRect">
            <a:avLst>
              <a:gd name="adj" fmla="val 20350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181975" y="2802136"/>
            <a:ext cx="2850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457200" y="4978450"/>
            <a:ext cx="163706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워크플로우가 시스템을 만든다. 시스템이 워크플로우를 증명한다.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24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668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ISOMORPHISM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82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Builds Harness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4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SCAFFOLD(빌더)와 GEODE(결과물)는 동일한 아키텍처를 공유한다. 각 컴포넌트는 1:1 구조적 거울을 갖는다.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12602"/>
            <a:ext cx="3683050" cy="4064347"/>
          </a:xfrm>
          <a:prstGeom prst="roundRect">
            <a:avLst>
              <a:gd name="adj" fmla="val 172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49077"/>
            <a:ext cx="866477" cy="209550"/>
          </a:xfrm>
          <a:prstGeom prst="roundRect">
            <a:avLst>
              <a:gd name="adj" fmla="val 18182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0151" y="996702"/>
            <a:ext cx="6053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36353" y="1010989"/>
            <a:ext cx="1078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GEODE를 빌드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3675" y="1260128"/>
            <a:ext cx="3410099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3200" y="1260128"/>
            <a:ext cx="0" cy="387251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4226" y="1336328"/>
            <a:ext cx="32518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— 425줄, 17 CANNOT 규칙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4226" y="1485454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도메인: Git · Planning · Quality · Docs · PR · 개발자 에이전트 SOT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93675" y="1710779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3200" y="1710779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4226" y="1786979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Scaffold Skills (.claude/skills/)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4226" y="1926580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geode-gitflow · kent-beck-review · karpathy-patterns · verification-team + 17개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93675" y="2151906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3200" y="2151906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226" y="2228106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Ratchet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4226" y="2367707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Lint(ruff) · Type(mypy) · Test(pytest ≥2900) · Security(bandit) · Gate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93675" y="2593032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3200" y="2593032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226" y="2669232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CANNOT/CAN (17 hard rules + 5 freedoms)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4226" y="2808833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제약 — LLM이 읽고 내면화. CI에서 강제 가능한 hard rule만 포함.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93675" y="3034159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3200" y="3034159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4226" y="3110359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Review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4226" y="3249960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Beck · Karpathy · Steinberger · Cherny — 다중 관점 PR 리뷰 시뮬레이션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474696" y="2070348"/>
            <a:ext cx="1943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471051" y="2156073"/>
            <a:ext cx="201748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76518" y="2333923"/>
            <a:ext cx="1906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4559201" y="2463998"/>
            <a:ext cx="25301" cy="2286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57526" y="2755999"/>
            <a:ext cx="628799" cy="374452"/>
          </a:xfrm>
          <a:prstGeom prst="roundRect">
            <a:avLst>
              <a:gd name="adj" fmla="val 13566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38678" y="2828925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338678" y="2943225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(tool_use)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559201" y="3193852"/>
            <a:ext cx="25301" cy="2286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67560" y="3485852"/>
            <a:ext cx="20873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4447827" y="3552527"/>
            <a:ext cx="24804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5003602" y="812602"/>
            <a:ext cx="3683198" cy="4064347"/>
          </a:xfrm>
          <a:prstGeom prst="roundRect">
            <a:avLst>
              <a:gd name="adj" fmla="val 172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0077" y="949077"/>
            <a:ext cx="665113" cy="209550"/>
          </a:xfrm>
          <a:prstGeom prst="roundRect">
            <a:avLst>
              <a:gd name="adj" fmla="val 18182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276552" y="996702"/>
            <a:ext cx="400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81390" y="1010989"/>
            <a:ext cx="9332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runtime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140077" y="1260128"/>
            <a:ext cx="3410248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149602" y="1260128"/>
            <a:ext cx="0" cy="387251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60628" y="1336328"/>
            <a:ext cx="32519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GEODE.md — 71줄, 4 CANNOT 규칙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60628" y="1485454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SESSION_START 시 core/memory/organization.py를 통해 로드 · 런타임 에이전트 정체성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140077" y="1710779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149602" y="1710779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60628" y="1786979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Skills (.geode/skills/)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260628" y="1926580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분석가 템플릿: discovery · game-mechanics · growth-potential · player-experience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140077" y="2151906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149602" y="2151906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0628" y="2228106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Verification (core/verification/)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60628" y="2367707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Guardrails · BiasBuster · Cross-LLM(α≥0.67) · Confidence Gate 0.7 · Rights Risk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140077" y="2593032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5149602" y="2593032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60628" y="2669232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 (core/tools/policy.py)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260628" y="2808833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· Org · Mode · Agent(STANDARD/WRITE/DANGEROUS) · Node-scope · Sub-agent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140077" y="3034159"/>
            <a:ext cx="3410248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149602" y="3034159"/>
            <a:ext cx="0" cy="387251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60628" y="3110359"/>
            <a:ext cx="32519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 — 6 유형 편향 제거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260628" y="3259485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· recency · anchoring · position · verbosity · self-enhancement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57200" y="4978450"/>
            <a:ext cx="133922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하네스를 빌드하는 하네스는 자신의 구조를 공유한다.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24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650"/>
            <a:ext cx="26714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/ CAN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69875"/>
            <a:ext cx="26714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제약이 품질을 담보한다. 486 PRs, 0 hotfix bypasses, 0 regressions.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277695" y="533549"/>
            <a:ext cx="1409105" cy="241102"/>
          </a:xfrm>
          <a:prstGeom prst="roundRect">
            <a:avLst>
              <a:gd name="adj" fmla="val 21070"/>
            </a:avLst>
          </a:prstGeom>
          <a:solidFill>
            <a:srgbClr val="EF4444">
              <a:alpha val="7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4171" y="606475"/>
            <a:ext cx="1158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strictness → 0 regressions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838051"/>
            <a:ext cx="5259288" cy="234851"/>
          </a:xfrm>
          <a:prstGeom prst="roundRect">
            <a:avLst>
              <a:gd name="adj" fmla="val 21631"/>
            </a:avLst>
          </a:prstGeom>
          <a:solidFill>
            <a:srgbClr val="EF4444">
              <a:alpha val="7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898327"/>
            <a:ext cx="5086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— 17 Hard Rules (CLAUDE.md)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23652"/>
            <a:ext cx="2604195" cy="92080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" y="1123652"/>
            <a:ext cx="0" cy="92080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200" y="1212503"/>
            <a:ext cx="23778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격리 </a:t>
            </a:r>
            <a:pPr algn="l"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5600" y="1387078"/>
            <a:ext cx="2178844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없이 코드 작업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main/develop 직접 push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세션 worktree 삭제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원격 미동기화 상태 브랜치 생성 금지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2095202"/>
            <a:ext cx="2604195" cy="2819846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6725" y="2095202"/>
            <a:ext cx="0" cy="2819846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200" y="2184053"/>
            <a:ext cx="2377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</a:t>
            </a:r>
            <a:pPr algn="l"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5600" y="2349103"/>
            <a:ext cx="2178844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lint/type/test 실패 상태 커밋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수치에 자리표시자(XXXX)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테스트(-m live) 무단 실행 금지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112145" y="1123652"/>
            <a:ext cx="2604343" cy="911275"/>
          </a:xfrm>
          <a:prstGeom prst="roundRect">
            <a:avLst>
              <a:gd name="adj" fmla="val 557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121670" y="1123652"/>
            <a:ext cx="0" cy="911275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8145" y="1212503"/>
            <a:ext cx="23780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/ PR </a:t>
            </a:r>
            <a:pPr algn="l"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10545" y="1377553"/>
            <a:ext cx="2178993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커밋에서 CHANGELOG 누락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4곳 불일치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가드레일 미통과 PR 머지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근거 없이 PR 금지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12145" y="2085677"/>
            <a:ext cx="2604343" cy="2829371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121670" y="2085677"/>
            <a:ext cx="0" cy="2829371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8145" y="2174528"/>
            <a:ext cx="2378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원칙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58145" y="2349103"/>
            <a:ext cx="2378020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CANNOT에 없는 것은 자유롭게 할 수 있다. 17개 경계가 에이전트의 과잉 구현 충동을 구조적으로 제거한다.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17989" y="838051"/>
            <a:ext cx="2868811" cy="234851"/>
          </a:xfrm>
          <a:prstGeom prst="roundRect">
            <a:avLst>
              <a:gd name="adj" fmla="val 21631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54464" y="898327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— 5 Unconstrained Freedoms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17989" y="1123652"/>
            <a:ext cx="2868811" cy="932259"/>
          </a:xfrm>
          <a:prstGeom prst="roundRect">
            <a:avLst>
              <a:gd name="adj" fmla="val 544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827514" y="1123652"/>
            <a:ext cx="0" cy="93225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6389" y="1212503"/>
            <a:ext cx="2443460" cy="75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버그/문서 수정 — Plan 없이 바로 구현</a:t>
            </a:r>
            <a:endParaRPr lang="en-US" sz="700" dirty="0"/>
          </a:p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플랜 외 개선 발견 — 현재 완료 후 다음 이터</a:t>
            </a:r>
            <a:endParaRPr lang="en-US" sz="700" dirty="0"/>
          </a:p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선별 실행 — 최종만 전체</a:t>
            </a:r>
            <a:endParaRPr lang="en-US" sz="700" dirty="0"/>
          </a:p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 메시지 언어 — 한글/영어 자유</a:t>
            </a:r>
            <a:endParaRPr lang="en-US" sz="700" dirty="0"/>
          </a:p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선택 — 더 빠른 도구 선택 가능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817989" y="2106662"/>
            <a:ext cx="2868811" cy="2808387"/>
          </a:xfrm>
          <a:prstGeom prst="roundRect">
            <a:avLst>
              <a:gd name="adj" fmla="val 1809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54464" y="3121968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Result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50848" y="3337768"/>
            <a:ext cx="43218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50848" y="3617119"/>
            <a:ext cx="43218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7077167" y="3337768"/>
            <a:ext cx="44600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77167" y="3617119"/>
            <a:ext cx="44600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hotfix bypasses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8018407" y="3337768"/>
            <a:ext cx="33457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018407" y="3617119"/>
            <a:ext cx="33457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5928506" y="3785295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PR은 5-job CI를 통과해야만 merge 가능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57200" y="4978450"/>
            <a:ext cx="143576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17개 제약 + 5개 자유 — 엄격함이 속도를 가능하게 한다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24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Engineering Loop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 PRs, 0 regressions — GAP Audit + Socratic Gate가 과잉 구현을 소스에서 차단한다.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73026"/>
            <a:ext cx="870347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0262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0262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78297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08522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508522" y="873026"/>
            <a:ext cx="870347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1584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1584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429619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59844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59844" y="873026"/>
            <a:ext cx="870347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2906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2906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80941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11166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611166" y="873026"/>
            <a:ext cx="870347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4228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4228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32263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62488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62488" y="873026"/>
            <a:ext cx="870347" cy="0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5549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5549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Verify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83585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713809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713809" y="873026"/>
            <a:ext cx="870347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56871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56871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Docs-Sync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634907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765131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765131" y="873026"/>
            <a:ext cx="870347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08193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08193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CI Gate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686229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816453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7816453" y="873026"/>
            <a:ext cx="870347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59515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59515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1349276"/>
            <a:ext cx="4659511" cy="3587948"/>
          </a:xfrm>
          <a:prstGeom prst="roundRect">
            <a:avLst>
              <a:gd name="adj" fmla="val 141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9125" y="1485751"/>
            <a:ext cx="44223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5-Question Gate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9125" y="1663452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07975" y="1688753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016943" y="1663452"/>
            <a:ext cx="20326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코드에 이미 있는가? grep/Explore 실측 — 있으면 제거.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9125" y="1872704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07975" y="1898005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016943" y="1872704"/>
            <a:ext cx="24820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이걸 안 하면 무엇이 깨지는가? 실제 장애 시나리오 — 답 없으면 제거.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19125" y="2081957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07975" y="2107257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016943" y="2081957"/>
            <a:ext cx="16381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효과를 어떻게 측정하는가? 측정 불가 시 보류.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19125" y="2291209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07975" y="2316510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016943" y="2291209"/>
            <a:ext cx="1377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단순한 구현은? 최소 변경만 채택.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19125" y="2500461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07975" y="2525762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016943" y="2500461"/>
            <a:ext cx="2052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프론티어 3종 이상에서 동일 패턴인가? 1종만이면 재검증.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218212" y="1349276"/>
            <a:ext cx="3468588" cy="2794546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380137" y="1485751"/>
            <a:ext cx="32076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Ratchet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380137" y="1676251"/>
            <a:ext cx="3144738" cy="688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380137" y="1679377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570488" y="1676251"/>
            <a:ext cx="13258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ruff check + import ratchet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380137" y="1825377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70488" y="1822252"/>
            <a:ext cx="15291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mypy + prompt integrity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380137" y="1976140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5570488" y="1968252"/>
            <a:ext cx="17216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pytest count &gt;= </a:t>
            </a:r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(현재 3,249+)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380137" y="2126903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5570488" y="2123777"/>
            <a:ext cx="10480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bandit -r core/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380137" y="2272903"/>
            <a:ext cx="88850" cy="88850"/>
          </a:xfrm>
          <a:prstGeom prst="roundRect">
            <a:avLst>
              <a:gd name="adj" fmla="val 28588"/>
            </a:avLst>
          </a:prstGeom>
          <a:solidFill>
            <a:srgbClr val="818CF8">
              <a:alpha val="25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570488" y="2269778"/>
            <a:ext cx="1168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4/4 all pass to merge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218212" y="4245322"/>
            <a:ext cx="3468588" cy="691902"/>
          </a:xfrm>
          <a:prstGeom prst="roundRect">
            <a:avLst>
              <a:gd name="adj" fmla="val 73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5380137" y="4381798"/>
            <a:ext cx="32076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Recovery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380137" y="4559498"/>
            <a:ext cx="32076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E2E fail → Step 3 (Implement)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380137" y="4705499"/>
            <a:ext cx="32076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CI fail → Step 3 (Implement)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457200" y="5000625"/>
            <a:ext cx="30916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 blocks duplicate work — Socratic Gate blocks unnecessary work — CI Ratchet blocks regression</a:t>
            </a:r>
            <a:endParaRPr lang="en-US" sz="500" dirty="0"/>
          </a:p>
        </p:txBody>
      </p:sp>
      <p:sp>
        <p:nvSpPr>
          <p:cNvPr id="80" name="Text 78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24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+ 4-Persona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3종 이상 프론티어에서 수렴한 패턴만 채택하고, 4인 페르소나가 단일 리뷰어가 놓치는 것을 병렬로 감사한다.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67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Autonomous Loop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P1→CANNOT 규칙. P4→CI ratchet. P6→컨텍스트 압축. P10→최소 구현.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53365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7012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7012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 / PSPDFKit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7012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Session Key. Lane Queue 동시성. Atomic write for .env 보안.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1010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4657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4657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 / Anthropic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46575" y="1304627"/>
            <a:ext cx="1761845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AgenticLoop. HITL 3-tier SAFE/WRITE/DANGEROUS. Sliding-window context.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68655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2302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2302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2302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격리 + .owner 소유권. Bash resource limits. Secret redaction.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1891457"/>
            <a:ext cx="2000250" cy="3045768"/>
          </a:xfrm>
          <a:prstGeom prst="roundRect">
            <a:avLst>
              <a:gd name="adj" fmla="val 254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57200" y="1900982"/>
            <a:ext cx="200025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52688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932462"/>
            <a:ext cx="20002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963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3675" y="201200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Beck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3675" y="2145357"/>
            <a:ext cx="17618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creator · TDD inventor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593675" y="2275433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단순한 구현인가? 불필요한 추상화가 있는가? Error paths 테스트됐는가?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533650" y="1891457"/>
            <a:ext cx="2000250" cy="3045768"/>
          </a:xfrm>
          <a:prstGeom prst="roundRect">
            <a:avLst>
              <a:gd name="adj" fmla="val 254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533650" y="1900982"/>
            <a:ext cx="200025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9138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33650" y="4932462"/>
            <a:ext cx="20002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38413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125" y="201200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70125" y="2145357"/>
            <a:ext cx="17618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 AI Director · autoresearch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2670125" y="2275433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guard? Ratchet? 이 기능이 컨텍스트 윈도우를 얼마나 소비하는가?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610100" y="1891457"/>
            <a:ext cx="2000250" cy="3045768"/>
          </a:xfrm>
          <a:prstGeom prst="roundRect">
            <a:avLst>
              <a:gd name="adj" fmla="val 254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10100" y="1900982"/>
            <a:ext cx="200025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05588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0100" y="4932462"/>
            <a:ext cx="20002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4863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46575" y="201200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46575" y="2145357"/>
            <a:ext cx="17618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PSPDFKit founder · OpenClaw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4746575" y="2275433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write (tmp+rename)? 크래시 시 상태 파일이 깨지지 않는가?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86550" y="1891457"/>
            <a:ext cx="2000250" cy="3045768"/>
          </a:xfrm>
          <a:prstGeom prst="roundRect">
            <a:avLst>
              <a:gd name="adj" fmla="val 254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686550" y="1900982"/>
            <a:ext cx="2000250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82038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86550" y="4932462"/>
            <a:ext cx="20002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91313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23025" y="201200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23025" y="2145357"/>
            <a:ext cx="17618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Lead · ex-Meta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6823025" y="2275433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definitions clear? HITL classification correct? while(tool_use) 루프가 올바른가?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5000625"/>
            <a:ext cx="348391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scaffold skills encode patterns once, reused across all 486 PRs — research time must not exceed implementation time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24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Iteration Velocity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35일, 1,118 커밋, 35 releases — 엔지니어링 시스템이 완성될수록 속도는 복리로 증가했다.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639" y="4096048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56348"/>
            <a:ext cx="746671" cy="355550"/>
          </a:xfrm>
          <a:prstGeom prst="roundRect">
            <a:avLst>
              <a:gd name="adj" fmla="val 10716"/>
            </a:avLst>
          </a:prstGeom>
          <a:solidFill>
            <a:srgbClr val="818CF8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10010" y="3867448"/>
            <a:ext cx="2925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071" y="4127748"/>
            <a:ext cx="746820" cy="584150"/>
          </a:xfrm>
          <a:prstGeom prst="roundRect">
            <a:avLst>
              <a:gd name="adj" fmla="val 6522"/>
            </a:avLst>
          </a:prstGeom>
          <a:solidFill>
            <a:srgbClr val="818CF8">
              <a:alpha val="3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28118" y="3562648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090" y="3822948"/>
            <a:ext cx="746671" cy="888950"/>
          </a:xfrm>
          <a:prstGeom prst="roundRect">
            <a:avLst>
              <a:gd name="adj" fmla="val 5103"/>
            </a:avLst>
          </a:prstGeom>
          <a:solidFill>
            <a:srgbClr val="818CF8">
              <a:alpha val="4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50989" y="3092797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5961" y="3353098"/>
            <a:ext cx="746820" cy="1358801"/>
          </a:xfrm>
          <a:prstGeom prst="roundRect">
            <a:avLst>
              <a:gd name="adj" fmla="val 510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74009" y="3207097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8980" y="3467398"/>
            <a:ext cx="746820" cy="1244501"/>
          </a:xfrm>
          <a:prstGeom prst="roundRect">
            <a:avLst>
              <a:gd name="adj" fmla="val 5102"/>
            </a:avLst>
          </a:prstGeom>
          <a:solidFill>
            <a:srgbClr val="818CF8">
              <a:alpha val="5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7028" y="2546598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806898"/>
            <a:ext cx="746820" cy="1905000"/>
          </a:xfrm>
          <a:prstGeom prst="roundRect">
            <a:avLst>
              <a:gd name="adj" fmla="val 510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9733" y="4800749"/>
            <a:ext cx="761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49733" y="4895999"/>
            <a:ext cx="76160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1272603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72603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095624" y="4800749"/>
            <a:ext cx="761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095624" y="4895999"/>
            <a:ext cx="76160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918493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18493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3741512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41512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4564532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64532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Maturation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5445770" y="863501"/>
            <a:ext cx="3241030" cy="4099173"/>
          </a:xfrm>
          <a:prstGeom prst="roundRect">
            <a:avLst>
              <a:gd name="adj" fmla="val 1567"/>
            </a:avLst>
          </a:prstGeom>
          <a:solidFill>
            <a:srgbClr val="161B22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82245" y="974527"/>
            <a:ext cx="30274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Identity Pivot — 2일, 6 releases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82245" y="1149102"/>
            <a:ext cx="302744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v0.13.0: "Undervalued IP" → 범용 에이전트. DomainPort Protocol로 도메인 분리.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582245" y="1453604"/>
            <a:ext cx="302744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v0.15.0: Token Guard 철폐 — 하드 캡 대신 압축. max_turns 20→200.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582245" y="1637556"/>
            <a:ext cx="2968079" cy="228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83746" y="1708993"/>
            <a:ext cx="6114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4/day → 67/day =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346627" y="1675656"/>
            <a:ext cx="389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5013424"/>
            <a:ext cx="235449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1,118 commits · 486 merged PRs · 35 releases · 0 hotfix bypasses · 0 regressions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492728" y="50134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24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runtime.py 1,476줄에서 185개 모듈, 6개 레이어로 — 새 도메인은 DomainPort Protocol 12 메서드만 구현하면 된다.</a:t>
            </a:r>
            <a:endParaRPr lang="en-US" sz="700" dirty="0"/>
          </a:p>
        </p:txBody>
      </p:sp>
      <p:pic>
        <p:nvPicPr>
          <p:cNvPr id="6" name="Image 0" descr="/Users/mango/workspace/portfolio/geode/slides/assets/v028-diagram-3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1598563"/>
            <a:ext cx="5587901" cy="2603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8400" y="863501"/>
            <a:ext cx="2438400" cy="1644104"/>
          </a:xfrm>
          <a:prstGeom prst="roundRect">
            <a:avLst>
              <a:gd name="adj" fmla="val 309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84875" y="974527"/>
            <a:ext cx="22087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Module Counts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384875" y="1165027"/>
            <a:ext cx="6023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CLI + Agent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300740" y="1165027"/>
            <a:ext cx="2545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+ 8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384875" y="1311027"/>
            <a:ext cx="7684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Infra + Gateway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8251329" y="1311027"/>
            <a:ext cx="3049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+ 13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384875" y="1457027"/>
            <a:ext cx="4534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Memory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451354" y="1457027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384875" y="1603028"/>
            <a:ext cx="670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Orchestration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8451354" y="1603028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384875" y="1749028"/>
            <a:ext cx="6407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Tools + MCP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8251329" y="1749028"/>
            <a:ext cx="3049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+ 18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384875" y="1895029"/>
            <a:ext cx="760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Domain Plugins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8451354" y="189502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384875" y="2045791"/>
            <a:ext cx="216544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4875" y="2201317"/>
            <a:ext cx="2937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8126611" y="2101304"/>
            <a:ext cx="4321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248400" y="2583805"/>
            <a:ext cx="2438400" cy="824805"/>
          </a:xfrm>
          <a:prstGeom prst="roundRect">
            <a:avLst>
              <a:gd name="adj" fmla="val 615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384875" y="2694831"/>
            <a:ext cx="22087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 — Cross-cutting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384875" y="2872532"/>
            <a:ext cx="220875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 (7 모듈)는 L0–L5 전 레이어에서 import 가능한 횡단 관심사. 종속 사이클 해소를 위해 분리 추출.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384875" y="3202335"/>
            <a:ext cx="22087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events · 17 handlers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7200" y="5000625"/>
            <a:ext cx="2611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12 methods — new domain swap without touching infrastructure code</a:t>
            </a:r>
            <a:endParaRPr lang="en-US" sz="500" dirty="0"/>
          </a:p>
        </p:txBody>
      </p:sp>
      <p:sp>
        <p:nvSpPr>
          <p:cNvPr id="29" name="Text 26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24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— while(tool_use)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tool_use를 반환하는 한 최대 50 라운드까지 루프를 계속하고, 5가지 경로로 종료한다.</a:t>
            </a:r>
            <a:endParaRPr lang="en-US" sz="700" dirty="0"/>
          </a:p>
        </p:txBody>
      </p:sp>
      <p:pic>
        <p:nvPicPr>
          <p:cNvPr id="6" name="Image 0" descr="/Users/mango/workspace/portfolio/geode/slides/assets/v028-diagram-agentic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850" y="1650950"/>
            <a:ext cx="5334000" cy="2476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1450" y="850702"/>
            <a:ext cx="2565350" cy="1312962"/>
          </a:xfrm>
          <a:prstGeom prst="roundRect">
            <a:avLst>
              <a:gd name="adj" fmla="val 38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83375" y="987177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종료 경로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83375" y="1187202"/>
            <a:ext cx="364034" cy="117277"/>
          </a:xfrm>
          <a:prstGeom prst="roundRect">
            <a:avLst>
              <a:gd name="adj" fmla="val 32487"/>
            </a:avLst>
          </a:prstGeom>
          <a:solidFill>
            <a:srgbClr val="34D399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59575" y="1212503"/>
            <a:ext cx="2158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6748909" y="1187202"/>
            <a:ext cx="13248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end_turn 반환 — 자연 완료.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283375" y="1367879"/>
            <a:ext cx="346323" cy="117277"/>
          </a:xfrm>
          <a:prstGeom prst="roundRect">
            <a:avLst>
              <a:gd name="adj" fmla="val 32487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359575" y="1393180"/>
            <a:ext cx="19780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6731198" y="1367879"/>
            <a:ext cx="12740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잔여 2라운드에서 텍스트 강제 추출.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283375" y="1548557"/>
            <a:ext cx="543818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359575" y="1573857"/>
            <a:ext cx="39924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6928693" y="1548557"/>
            <a:ext cx="11799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에러 4회 반복 → 조기 종료.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283375" y="1729234"/>
            <a:ext cx="427434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359575" y="1754535"/>
            <a:ext cx="28053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llm_error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6812310" y="1729234"/>
            <a:ext cx="16262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2회 실패 → Cross-Provider Fallback.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283375" y="1909911"/>
            <a:ext cx="441573" cy="117277"/>
          </a:xfrm>
          <a:prstGeom prst="roundRect">
            <a:avLst>
              <a:gd name="adj" fmla="val 32487"/>
            </a:avLst>
          </a:prstGeom>
          <a:solidFill>
            <a:srgbClr val="8B949E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59575" y="1935212"/>
            <a:ext cx="29495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500" dirty="0"/>
          </a:p>
        </p:txBody>
      </p:sp>
      <p:sp>
        <p:nvSpPr>
          <p:cNvPr id="23" name="Text 20"/>
          <p:cNvSpPr/>
          <p:nvPr/>
        </p:nvSpPr>
        <p:spPr>
          <a:xfrm>
            <a:off x="6826448" y="1909911"/>
            <a:ext cx="12444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Ctrl+C 인터럽트 또는 billing 에러.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121450" y="2239863"/>
            <a:ext cx="2565350" cy="1043880"/>
          </a:xfrm>
          <a:prstGeom prst="roundRect">
            <a:avLst>
              <a:gd name="adj" fmla="val 486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283375" y="2376339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관리 3단계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283375" y="2576364"/>
            <a:ext cx="434578" cy="117277"/>
          </a:xfrm>
          <a:prstGeom prst="roundRect">
            <a:avLst>
              <a:gd name="adj" fmla="val 32487"/>
            </a:avLst>
          </a:prstGeom>
          <a:solidFill>
            <a:srgbClr val="818CF8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59575" y="2601664"/>
            <a:ext cx="2878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turns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6819454" y="2576364"/>
            <a:ext cx="17395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— 최초 메시지 보존, 중간 제거.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283375" y="2849314"/>
            <a:ext cx="279499" cy="117277"/>
          </a:xfrm>
          <a:prstGeom prst="roundRect">
            <a:avLst>
              <a:gd name="adj" fmla="val 32487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359575" y="2874615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664375" y="2849314"/>
            <a:ext cx="13931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80% → compact 압축 발동.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283375" y="3029992"/>
            <a:ext cx="279499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359575" y="3055293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500" dirty="0"/>
          </a:p>
        </p:txBody>
      </p:sp>
      <p:sp>
        <p:nvSpPr>
          <p:cNvPr id="34" name="Text 31"/>
          <p:cNvSpPr/>
          <p:nvPr/>
        </p:nvSpPr>
        <p:spPr>
          <a:xfrm>
            <a:off x="6664375" y="3029992"/>
            <a:ext cx="14170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→ emergency prune 자동 발동.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4991100"/>
            <a:ext cx="298296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Code의 while(tool_use) 패턴 참조 — DEFAULT_MAX_ROUNDS=50, WRAP_UP_HEADROOM=2</a:t>
            </a:r>
            <a:endParaRPr lang="en-US" sz="500" dirty="0"/>
          </a:p>
        </p:txBody>
      </p:sp>
      <p:sp>
        <p:nvSpPr>
          <p:cNvPr id="36" name="Text 33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24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Dispatch: 단일 진입점 → 4경로 분기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ToolExecutor가 LLM tool_use를 받아 도구 유형과 안전 등급으로 라우팅합니다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5308550" cy="568077"/>
          </a:xfrm>
          <a:prstGeom prst="roundRect">
            <a:avLst>
              <a:gd name="adj" fmla="val 89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568077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36427"/>
            <a:ext cx="5055248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</a:t>
            </a:r>
            <a:pPr algn="l" indent="0" marL="0">
              <a:lnSpc>
                <a:spcPts val="120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tool_use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블록을 반환하면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ToolCallProcessor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도구 수를 먼저 판단합니다. 단일 도구는 바로 실행, 2개 이상이면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안전 등급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분류 후 Tier에 따라 병렬 또는 순차 실행합니다.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79054"/>
            <a:ext cx="5308550" cy="3445520"/>
          </a:xfrm>
          <a:prstGeom prst="roundRect">
            <a:avLst>
              <a:gd name="adj" fmla="val 147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615529"/>
            <a:ext cx="50843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DECISION TREE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1850380"/>
            <a:ext cx="4984700" cy="361950"/>
          </a:xfrm>
          <a:prstGeom prst="roundRect">
            <a:avLst>
              <a:gd name="adj" fmla="val 14035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8483" y="1936105"/>
            <a:ext cx="48059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ToolExecutor.execute()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8483" y="2050405"/>
            <a:ext cx="480598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진입점 — 모든 도구 디스패치</a:t>
            </a:r>
            <a:endParaRPr lang="en-US" sz="500" dirty="0"/>
          </a:p>
        </p:txBody>
      </p:sp>
      <p:sp>
        <p:nvSpPr>
          <p:cNvPr id="14" name="Text 12"/>
          <p:cNvSpPr/>
          <p:nvPr/>
        </p:nvSpPr>
        <p:spPr>
          <a:xfrm>
            <a:off x="619125" y="2313831"/>
            <a:ext cx="1188988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0481" y="2412206"/>
            <a:ext cx="986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Path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20481" y="2507456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run_bash?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720481" y="2574131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safety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1884313" y="2313831"/>
            <a:ext cx="1189137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85668" y="2412206"/>
            <a:ext cx="9864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85668" y="2507456"/>
            <a:ext cx="98642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핸들러?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1985668" y="2583656"/>
            <a:ext cx="98642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native tools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3149650" y="2313831"/>
            <a:ext cx="1188988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51006" y="2412206"/>
            <a:ext cx="986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Path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251006" y="2507456"/>
            <a:ext cx="98627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서버?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3251006" y="2583656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catalog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414838" y="2313831"/>
            <a:ext cx="1188988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16194" y="2412206"/>
            <a:ext cx="986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DAG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16194" y="2507456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analyze_ip?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4516194" y="2574131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13-task graph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569278" y="2850207"/>
            <a:ext cx="50843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2개 이상 tool_use 시 — 5-Tier 안전 등급 분류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19125" y="3056483"/>
            <a:ext cx="946100" cy="409575"/>
          </a:xfrm>
          <a:prstGeom prst="roundRect">
            <a:avLst>
              <a:gd name="adj" fmla="val 12403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4048" y="3142208"/>
            <a:ext cx="8162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84048" y="3237458"/>
            <a:ext cx="8162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684048" y="3304133"/>
            <a:ext cx="81625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병렬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162862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69354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69354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Auto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169354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서버당 1회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263827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70319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70319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270319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일괄 승인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364792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71284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1284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371284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HITL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465757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2249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2249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472249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+ HITL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5892701" y="809476"/>
            <a:ext cx="2794099" cy="1637407"/>
          </a:xfrm>
          <a:prstGeom prst="roundRect">
            <a:avLst>
              <a:gd name="adj" fmla="val 31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054626" y="945952"/>
            <a:ext cx="2519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 Chain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054626" y="1180802"/>
            <a:ext cx="251965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2회 실패 시 자동 복구 체인 실행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6054626" y="1333202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175988" y="1383953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Retry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968877" y="1379190"/>
            <a:ext cx="10963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도구 재시도 (1s backoff)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054626" y="1593354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75988" y="1644104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Alt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968877" y="1639342"/>
            <a:ext cx="8596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카테고리 대체 도구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054626" y="1853505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175988" y="1904256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Fallback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968877" y="1899493"/>
            <a:ext cx="7813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저렴한 도구로 강등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054626" y="2113657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175988" y="2164407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Escalate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968877" y="2159645"/>
            <a:ext cx="8877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사용자에게 에스컬레이션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892701" y="2548384"/>
            <a:ext cx="2794099" cy="2376190"/>
          </a:xfrm>
          <a:prstGeom prst="roundRect">
            <a:avLst>
              <a:gd name="adj" fmla="val 213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5916513" y="2548384"/>
            <a:ext cx="0" cy="2376190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92726" y="2675334"/>
            <a:ext cx="24905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092726" y="2884884"/>
            <a:ext cx="2490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0-1은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완전 병렬 실행하여 응답 속도를 극대화하고, Tier 3-4는 순차+개별승인으로 안전성을 보장합니다.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092726" y="3418284"/>
            <a:ext cx="2490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MAX_CONSECUTIVE_FAILURES = 2 · max_recovery = 3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457200" y="4987975"/>
            <a:ext cx="29349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tool_executor.py (1179L) + policy.py (431L) + error_recovery.py (461L) · 52 native tools · 12 categories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8497491" y="4987975"/>
            <a:ext cx="1930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24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하드코딩 콜백 → 45-Event Bus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재귀 개선·자기 증강을 위한 실시간 추적 — Claude Code·Devin·OpenHands 리서치 후 개편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4876800" cy="688032"/>
          </a:xfrm>
          <a:prstGeom prst="roundRect">
            <a:avLst>
              <a:gd name="adj" fmla="val 738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688032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10977"/>
            <a:ext cx="461486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DAG 노드 상태·검증 결과·드리프트를 실시간 추적하려면 하드코딩 콜백으로는 확장이 불가능했습니다. 프론티어 하네스를 리서치하고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카테고리 45개 이벤트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개편했습니다.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271736"/>
            <a:ext cx="461486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600"/>
              </a:spcBef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리플 패턴:</a:t>
            </a:r>
            <a:pPr algn="l" indent="0" marL="0">
              <a:lnSpc>
                <a:spcPts val="98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하나의 이벤트가 L1(관측)과 L2(반응)를 동시에 지나가는 것이 리플 패턴입니다.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548259"/>
            <a:ext cx="4876800" cy="3392091"/>
          </a:xfrm>
          <a:prstGeom prst="roundRect">
            <a:avLst>
              <a:gd name="adj" fmla="val 149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125" y="1659285"/>
            <a:ext cx="46440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CORE EVENT CATEGORIES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9125" y="1830735"/>
            <a:ext cx="1422350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0151" y="1891010"/>
            <a:ext cx="12243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Lifecycle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30151" y="1986260"/>
            <a:ext cx="122430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START · END · ERROR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2092226" y="1830735"/>
            <a:ext cx="1422350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03252" y="1891010"/>
            <a:ext cx="12243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Execution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03252" y="1986260"/>
            <a:ext cx="122430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 — ENTER · EXIT · ERROR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3565327" y="1830735"/>
            <a:ext cx="1471017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76352" y="1891010"/>
            <a:ext cx="12739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L4.5 Automation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76352" y="1986260"/>
            <a:ext cx="12739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events — DRIFT · OUTCOME · TRIGGER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619125" y="2163961"/>
            <a:ext cx="1422350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0151" y="2224236"/>
            <a:ext cx="12243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Overflow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30151" y="2319486"/>
            <a:ext cx="122430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80% · 95% · ACTION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092226" y="2163961"/>
            <a:ext cx="1422350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203252" y="2224236"/>
            <a:ext cx="12243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03252" y="2319486"/>
            <a:ext cx="122430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STARTED · DONE · FAILED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619125" y="2497187"/>
            <a:ext cx="1617911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30151" y="2557463"/>
            <a:ext cx="14237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HITL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30151" y="2652713"/>
            <a:ext cx="142377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REQUESTED · GRANTED · DENIED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5460950" y="809476"/>
            <a:ext cx="3225850" cy="3444478"/>
          </a:xfrm>
          <a:prstGeom prst="roundRect">
            <a:avLst>
              <a:gd name="adj" fmla="val 15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22875" y="920502"/>
            <a:ext cx="29600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MATURITY MODEL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22875" y="1091952"/>
            <a:ext cx="2902000" cy="330101"/>
          </a:xfrm>
          <a:prstGeom prst="roundRect">
            <a:avLst>
              <a:gd name="adj" fmla="val 15389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33901" y="1152227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Autonomy — 백로그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733901" y="1257002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이력 → 자동 승인 룰 학습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622875" y="1460153"/>
            <a:ext cx="2902000" cy="339626"/>
          </a:xfrm>
          <a:prstGeom prst="roundRect">
            <a:avLst>
              <a:gd name="adj" fmla="val 14958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33901" y="1520428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Decide — 현재 프론티어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733901" y="1625203"/>
            <a:ext cx="27335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CONTEXT_OVERFLOW_ACTION 전략 위임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622875" y="1837879"/>
            <a:ext cx="2902000" cy="339626"/>
          </a:xfrm>
          <a:prstGeom prst="roundRect">
            <a:avLst>
              <a:gd name="adj" fmla="val 14958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33901" y="1898154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React — 자동 반응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33901" y="2002929"/>
            <a:ext cx="27335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 → 스냅샷 · PIPELINE_END → MEMORY.md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622875" y="2215604"/>
            <a:ext cx="2902000" cy="330101"/>
          </a:xfrm>
          <a:prstGeom prst="roundRect">
            <a:avLst>
              <a:gd name="adj" fmla="val 15389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733901" y="2275880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Observe — 기록만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33901" y="2380655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RunLog: ALL 45 events → runs.jsonl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60950" y="4304705"/>
            <a:ext cx="3225850" cy="635645"/>
          </a:xfrm>
          <a:prstGeom prst="roundRect">
            <a:avLst>
              <a:gd name="adj" fmla="val 79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484763" y="4304705"/>
            <a:ext cx="0" cy="635645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0975" y="4406205"/>
            <a:ext cx="2930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60975" y="4590306"/>
            <a:ext cx="293089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후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120초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내 NODE_EXIT 없으면 파이프라인 강제 중단. Priority 기반 핸들러 순서 보장 (P30→P50→P85).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7200" y="4991100"/>
            <a:ext cx="264610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v0.30.1: core/hooks/ 추출 (cross-cutting) — 26개 파일 의존성 위반 해소 · 17 handlers registered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24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토큰 폭발 → 4096-token Guard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서브에이전트가 부모 컨텍스트에 결과를 반환할 때 토큰이 기하급수적으로 증가하는 문제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5181600" cy="742801"/>
          </a:xfrm>
          <a:prstGeom prst="roundRect">
            <a:avLst>
              <a:gd name="adj" fmla="val 68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74280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36427"/>
            <a:ext cx="4925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7225" y="1120527"/>
            <a:ext cx="49257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"Berserk vs Ghost in the Shell 비교"처럼 병렬 서브에이전트가 각자 전체 분석을</a:t>
            </a:r>
            <a:endParaRPr lang="en-US" sz="8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부모 컨텍스트에 반환하면 토큰이 기하급수적으로 증가합니다.</a:t>
            </a:r>
            <a:endParaRPr lang="en-US" sz="8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부모의 tools·MCP·skills·memory를 전체 상속하되 출력 제어가 필요했습니다.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653778"/>
            <a:ext cx="5181600" cy="3270796"/>
          </a:xfrm>
          <a:prstGeom prst="roundRect">
            <a:avLst>
              <a:gd name="adj" fmla="val 155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125" y="1790254"/>
            <a:ext cx="49549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+ ANNOUNCE 패턴 (OpenClaw 참조)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9125" y="2034629"/>
            <a:ext cx="4857750" cy="361950"/>
          </a:xfrm>
          <a:prstGeom prst="roundRect">
            <a:avLst>
              <a:gd name="adj" fmla="val 14035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9752" y="2120354"/>
            <a:ext cx="46764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AgenticLoop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9752" y="2244179"/>
            <a:ext cx="467649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 context · tools 52 · MCP 44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570548" y="2472779"/>
            <a:ext cx="49549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delegate() — IsolatedRunner threads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9125" y="2663279"/>
            <a:ext cx="1568351" cy="425351"/>
          </a:xfrm>
          <a:prstGeom prst="roundRect">
            <a:avLst>
              <a:gd name="adj" fmla="val 119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6688" y="2761655"/>
            <a:ext cx="13732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A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16688" y="2856905"/>
            <a:ext cx="137322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max_rounds=10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716688" y="2923580"/>
            <a:ext cx="137322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AgentMemoryStore (24h TTL)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2263676" y="2663279"/>
            <a:ext cx="1568500" cy="425351"/>
          </a:xfrm>
          <a:prstGeom prst="roundRect">
            <a:avLst>
              <a:gd name="adj" fmla="val 119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61237" y="2761655"/>
            <a:ext cx="13733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B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361237" y="2856905"/>
            <a:ext cx="13733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max_rounds=10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2361237" y="2923580"/>
            <a:ext cx="13733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AgentMemoryStore (24h TTL)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3908375" y="2663279"/>
            <a:ext cx="1568500" cy="425351"/>
          </a:xfrm>
          <a:prstGeom prst="roundRect">
            <a:avLst>
              <a:gd name="adj" fmla="val 119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05937" y="2761655"/>
            <a:ext cx="13733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005937" y="2856905"/>
            <a:ext cx="13733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max_rounds=10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4005937" y="2923580"/>
            <a:ext cx="13733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AgentMemoryStore (24h TTL)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619125" y="3164830"/>
            <a:ext cx="4857750" cy="396776"/>
          </a:xfrm>
          <a:prstGeom prst="roundRect">
            <a:avLst>
              <a:gd name="adj" fmla="val 12803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9752" y="3263205"/>
            <a:ext cx="46764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반환 시 </a:t>
            </a:r>
            <a:pPr algn="ctr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4096-token guard</a:t>
            </a:r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구조화 요약으로 압축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9752" y="3387030"/>
            <a:ext cx="467649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_announce_queue (thread-safe) → 부모 drain_announced_results()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5765750" y="809476"/>
            <a:ext cx="2921050" cy="1647230"/>
          </a:xfrm>
          <a:prstGeom prst="roundRect">
            <a:avLst>
              <a:gd name="adj" fmla="val 308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27675" y="945952"/>
            <a:ext cx="26491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동시성 제어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27675" y="1190327"/>
            <a:ext cx="1260425" cy="564952"/>
          </a:xfrm>
          <a:prstGeom prst="roundRect">
            <a:avLst>
              <a:gd name="adj" fmla="val 8992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18602" y="1291828"/>
            <a:ext cx="10785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018602" y="1587103"/>
            <a:ext cx="107857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7264301" y="1190327"/>
            <a:ext cx="1260574" cy="564952"/>
          </a:xfrm>
          <a:prstGeom prst="roundRect">
            <a:avLst>
              <a:gd name="adj" fmla="val 8992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55226" y="1291828"/>
            <a:ext cx="10787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55226" y="1501378"/>
            <a:ext cx="107872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dedup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5927675" y="1831479"/>
            <a:ext cx="1260425" cy="488752"/>
          </a:xfrm>
          <a:prstGeom prst="roundRect">
            <a:avLst>
              <a:gd name="adj" fmla="val 103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18602" y="1932980"/>
            <a:ext cx="10785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18602" y="2142530"/>
            <a:ext cx="107857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max_total / session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7264301" y="1831479"/>
            <a:ext cx="1260574" cy="488752"/>
          </a:xfrm>
          <a:prstGeom prst="roundRect">
            <a:avLst>
              <a:gd name="adj" fmla="val 103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355226" y="1932980"/>
            <a:ext cx="10787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2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55226" y="2142530"/>
            <a:ext cx="107872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재귀 깊이 제한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5765750" y="2558207"/>
            <a:ext cx="2921050" cy="2366367"/>
          </a:xfrm>
          <a:prstGeom prst="roundRect">
            <a:avLst>
              <a:gd name="adj" fmla="val 214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789563" y="2558207"/>
            <a:ext cx="0" cy="2366367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65775" y="2685157"/>
            <a:ext cx="2619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위임의 의미를 살린다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65775" y="2904232"/>
            <a:ext cx="26199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서브에이전트는 부모와 동일한 52 tools·44 MCP·skills·memory를 상속합니다. 단,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위험 도구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(set_api_key, manage_auth 등)는 샌드박스로 차단합니다.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65775" y="3437632"/>
            <a:ext cx="26199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타임아웃·API에러 → 재시도 / 검증에러 → 즉시 중단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457200" y="4987975"/>
            <a:ext cx="37521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sub_agent.py (530L) · IsolatedRunner + ThreadPoolExecutor · error_category: timeout/api_error=retryable, validation=not retryable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24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Failover: 단일 Provider 의존 → 3-Provider Chain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Limit·장애 시 파이프라인 전체 중단 방지 — CircuitBreaker 3-state + Exponential Backoff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5181600" cy="558701"/>
          </a:xfrm>
          <a:prstGeom prst="roundRect">
            <a:avLst>
              <a:gd name="adj" fmla="val 90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55870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36427"/>
            <a:ext cx="49257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Provider에 의존하면 Rate Limit이나 장애 시 파이프라인 전체가 중단됩니다. Anthropic·OpenAI·ZhipuAI를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추상화하고, Provider별 독립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배치했습니다.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69678"/>
            <a:ext cx="5181600" cy="2012156"/>
          </a:xfrm>
          <a:prstGeom prst="roundRect">
            <a:avLst>
              <a:gd name="adj" fmla="val 252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606153"/>
            <a:ext cx="4954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CHAIN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1845766"/>
            <a:ext cx="1398984" cy="584002"/>
          </a:xfrm>
          <a:prstGeom prst="roundRect">
            <a:avLst>
              <a:gd name="adj" fmla="val 8699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5600" y="1956792"/>
            <a:ext cx="1148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5600" y="2090142"/>
            <a:ext cx="11485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claude-opus-4-6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55600" y="2185392"/>
            <a:ext cx="11485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claude-sonnet-4-6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755600" y="2252067"/>
            <a:ext cx="11485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claude-haiku-3-5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2092531" y="1999655"/>
            <a:ext cx="1814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fails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2092531" y="206633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48359" y="1845766"/>
            <a:ext cx="1399133" cy="584002"/>
          </a:xfrm>
          <a:prstGeom prst="roundRect">
            <a:avLst>
              <a:gd name="adj" fmla="val 8699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84834" y="1956792"/>
            <a:ext cx="1148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84834" y="2090142"/>
            <a:ext cx="11487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84834" y="2185392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gpt-5.3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484834" y="2252067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gpt-4o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3821914" y="1999655"/>
            <a:ext cx="1814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fails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3821914" y="206633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77742" y="1841004"/>
            <a:ext cx="1399133" cy="593527"/>
          </a:xfrm>
          <a:prstGeom prst="roundRect">
            <a:avLst>
              <a:gd name="adj" fmla="val 8559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14217" y="1952030"/>
            <a:ext cx="1148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14217" y="2085380"/>
            <a:ext cx="11487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14217" y="2180630"/>
            <a:ext cx="11487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최후 보루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4214217" y="2256830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context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619125" y="2536031"/>
            <a:ext cx="4857750" cy="809327"/>
          </a:xfrm>
          <a:prstGeom prst="roundRect">
            <a:avLst>
              <a:gd name="adj" fmla="val 627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5600" y="2647057"/>
            <a:ext cx="46764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CircuitBreaker 상태 머신 (Provider별 독립)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55600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56390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6390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운영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2074042" y="2921645"/>
            <a:ext cx="3518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5회 실패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2074042" y="2997845"/>
            <a:ext cx="351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98675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599465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99465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차단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3818587" y="2921645"/>
            <a:ext cx="2019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60초 후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3818587" y="2997845"/>
            <a:ext cx="2019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94708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195498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95498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1회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5765750" y="809476"/>
            <a:ext cx="2921050" cy="1371005"/>
          </a:xfrm>
          <a:prstGeom prst="roundRect">
            <a:avLst>
              <a:gd name="adj" fmla="val 370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927675" y="945952"/>
            <a:ext cx="26491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에러 분류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27675" y="1190327"/>
            <a:ext cx="1260425" cy="853678"/>
          </a:xfrm>
          <a:prstGeom prst="roundRect">
            <a:avLst>
              <a:gd name="adj" fmla="val 5951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64151" y="1301353"/>
            <a:ext cx="10072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Retryable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41852" y="1479054"/>
            <a:ext cx="8097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RateLimit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064151" y="1828205"/>
            <a:ext cx="100722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Exp. Backoff ±25% Jitter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7264301" y="1190327"/>
            <a:ext cx="1260574" cy="853678"/>
          </a:xfrm>
          <a:prstGeom prst="roundRect">
            <a:avLst>
              <a:gd name="adj" fmla="val 595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00776" y="1301353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Non-retryable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578477" y="1479054"/>
            <a:ext cx="8099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잔액 부족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오류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초과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400776" y="1856780"/>
            <a:ext cx="100737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다음 Provider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5765750" y="2281982"/>
            <a:ext cx="2921050" cy="2642592"/>
          </a:xfrm>
          <a:prstGeom prst="roundRect">
            <a:avLst>
              <a:gd name="adj" fmla="val 19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789563" y="2281982"/>
            <a:ext cx="0" cy="2642592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65775" y="2408932"/>
            <a:ext cx="2619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설계 결정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965775" y="2628007"/>
            <a:ext cx="26199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메모리가 모델에 종속되지 않습니다.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4-Tier 메모리는 Provider와 분리되어 Failover 시에도 세션 학습 내용이 그대로 유지됩니다.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965775" y="3161407"/>
            <a:ext cx="261999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"/>
              </a:lnSpc>
              <a:spcBef>
                <a:spcPts val="6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추상화로 새 Provider 추가 시 어댑터 1개만 구현. Thundering Herd 방지를 위해 ±25% Jitter 적용.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457200" y="4987975"/>
            <a:ext cx="35998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llm_client.py · circuit_breaker.py · Port/Adapter pattern — 3 providers, 9 models in chain · thread-safe Lock per CircuitBreaker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24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Memory: 압축 전략 × 4-Tier 자동 학습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종료 시 인사이트 휘발 방지 — PIPELINE_END → MEMORY.md 자동 축적 루프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4368701" cy="558701"/>
          </a:xfrm>
          <a:prstGeom prst="roundRect">
            <a:avLst>
              <a:gd name="adj" fmla="val 90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55870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36427"/>
            <a:ext cx="40966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서브에이전트는 부모와 독립된 200K 컨텍스트 윈도우를 갖기 때문에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3이면 유효 컨텍스트가 600K로 선형 확장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됩니다. 임계값 초과 시 3-Phase 압축이 자동 발동합니다.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69678"/>
            <a:ext cx="4368701" cy="3454896"/>
          </a:xfrm>
          <a:prstGeom prst="roundRect">
            <a:avLst>
              <a:gd name="adj" fmla="val 147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606153"/>
            <a:ext cx="4125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압축 3-PHASE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1850529"/>
            <a:ext cx="1015901" cy="241102"/>
          </a:xfrm>
          <a:prstGeom prst="roundRect">
            <a:avLst>
              <a:gd name="adj" fmla="val 21070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2212" y="1923455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WARNING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736527" y="1850529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SUMMARIZE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36527" y="1964829"/>
            <a:ext cx="29859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tool_result 블록 &gt;5% 윈도우 → [summarized: N tokens]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619125" y="2193131"/>
            <a:ext cx="1015901" cy="241102"/>
          </a:xfrm>
          <a:prstGeom prst="roundRect">
            <a:avLst>
              <a:gd name="adj" fmla="val 21070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2212" y="2266057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CRITICAL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736527" y="2193131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ADAPTIVE PRUNE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36527" y="2307431"/>
            <a:ext cx="29859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최신→과거 순 70% 예산 내 유지, first+last 2 보존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619125" y="2535734"/>
            <a:ext cx="1015901" cy="250627"/>
          </a:xfrm>
          <a:prstGeom prst="roundRect">
            <a:avLst>
              <a:gd name="adj" fmla="val 20269"/>
            </a:avLst>
          </a:prstGeom>
          <a:solidFill>
            <a:srgbClr val="EF4444">
              <a:alpha val="6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2212" y="2608659"/>
            <a:ext cx="8097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비상 폴백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736527" y="2535734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EMERGENCY PRUNE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736527" y="2650034"/>
            <a:ext cx="29859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prune_oldest_messages(keep_recent=10) 최후 수단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619125" y="2887861"/>
            <a:ext cx="4044851" cy="253901"/>
          </a:xfrm>
          <a:prstGeom prst="roundRect">
            <a:avLst>
              <a:gd name="adj" fmla="val 2000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6075" y="2976711"/>
            <a:ext cx="386676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P6 패턴: 4 chars/token 보수적 추정 → 실제보다 낮게 계산 = 안전 마진 확보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4952851" y="809476"/>
            <a:ext cx="3733949" cy="2180332"/>
          </a:xfrm>
          <a:prstGeom prst="roundRect">
            <a:avLst>
              <a:gd name="adj" fmla="val 233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14776" y="945952"/>
            <a:ext cx="34783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피라미드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14776" y="1190327"/>
            <a:ext cx="3410099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51252" y="1288703"/>
            <a:ext cx="10497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(Tier 3) — 최우선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251252" y="1393478"/>
            <a:ext cx="104972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기반 · 현재 작업 맥락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8228409" y="1326803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40%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114776" y="1631454"/>
            <a:ext cx="3410099" cy="358676"/>
          </a:xfrm>
          <a:prstGeom prst="roundRect">
            <a:avLst>
              <a:gd name="adj" fmla="val 14163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51252" y="1729829"/>
            <a:ext cx="1327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(Tier 2)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251252" y="1825079"/>
            <a:ext cx="13270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.geode/memory/PROJECT.md · max 200 lines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8228409" y="1758404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14776" y="2053530"/>
            <a:ext cx="3410099" cy="368201"/>
          </a:xfrm>
          <a:prstGeom prst="roundRect">
            <a:avLst>
              <a:gd name="adj" fmla="val 13797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51252" y="2151906"/>
            <a:ext cx="879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(Tier 1)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251252" y="2247156"/>
            <a:ext cx="8798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 가이드라인 · 공통 루브릭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228409" y="2185243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14776" y="2485132"/>
            <a:ext cx="3410099" cy="368201"/>
          </a:xfrm>
          <a:prstGeom prst="roundRect">
            <a:avLst>
              <a:gd name="adj" fmla="val 13797"/>
            </a:avLst>
          </a:prstGeom>
          <a:solidFill>
            <a:srgbClr val="E2E8F0">
              <a:alpha val="6000"/>
            </a:srgbClr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51252" y="2583507"/>
            <a:ext cx="12054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 (Tier 0) — GEODE.md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51252" y="2678757"/>
            <a:ext cx="120548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정체성 · Karpathy P7 패턴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228409" y="2616845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952851" y="3091309"/>
            <a:ext cx="3733949" cy="1833265"/>
          </a:xfrm>
          <a:prstGeom prst="roundRect">
            <a:avLst>
              <a:gd name="adj" fmla="val 27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976664" y="3091309"/>
            <a:ext cx="0" cy="1833265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52876" y="3218259"/>
            <a:ext cx="34491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→ 자동 학습 루프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52876" y="3437334"/>
            <a:ext cx="3449154" cy="46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세션이 끝나면 Hook P85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memory_write_back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인사이트를 </a:t>
            </a:r>
            <a:pPr algn="l" indent="0" marL="0">
              <a:lnSpc>
                <a:spcPts val="120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.geode/memory/PROJECT.md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자동 축적합니다. 최대 50개 인사이트 (oldest-drop rotation).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4987975"/>
            <a:ext cx="380498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context_monitor.py · memory/context.py (ContextAssembler) · 280-char LLM summary budget · file-based .geode/ hub (git-trackable)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24</a:t>
            </a:r>
            <a:endParaRPr lang="en-US" sz="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854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PromptAssembler: 6-Phase 동적 조립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951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 → 변경 추적 불가 + 캐시 히트율 하락. SHA-256 해시와 ephemeral 캐시로 해결.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925169" cy="663178"/>
          </a:xfrm>
          <a:prstGeom prst="roundRect">
            <a:avLst>
              <a:gd name="adj" fmla="val 76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72877"/>
            <a:ext cx="0" cy="66317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87177"/>
            <a:ext cx="46641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— 수동 편집의 두 가지 실패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7225" y="1155353"/>
            <a:ext cx="466419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변경 추적 불가: 어느 버전이 어떤 결과를 냈는지 재현 불가.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57225" y="1288554"/>
            <a:ext cx="466419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캐시 히트율 하락: 작은 수정 한 줄이 전체 해시를 바꿔 캐시 미스 유발.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637556"/>
            <a:ext cx="4925169" cy="873026"/>
          </a:xfrm>
          <a:prstGeom prst="roundRect">
            <a:avLst>
              <a:gd name="adj" fmla="val 581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1761381"/>
            <a:ext cx="46933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— 6-Phase 조립 파이프라인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9125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3624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03624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정의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1282750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12974" y="1986707"/>
            <a:ext cx="613023" cy="400050"/>
          </a:xfrm>
          <a:prstGeom prst="roundRect">
            <a:avLst>
              <a:gd name="adj" fmla="val 126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97471" y="2062907"/>
            <a:ext cx="4440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497471" y="2158157"/>
            <a:ext cx="444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노드별 오버라이드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2076748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206972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91471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91471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매칭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870597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000821" y="2029569"/>
            <a:ext cx="612874" cy="314325"/>
          </a:xfrm>
          <a:prstGeom prst="roundRect">
            <a:avLst>
              <a:gd name="adj" fmla="val 161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85320" y="2105769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085320" y="2201019"/>
            <a:ext cx="4438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3664446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94671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79169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79169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접두사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4458295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88520" y="2015282"/>
            <a:ext cx="631924" cy="342900"/>
          </a:xfrm>
          <a:prstGeom prst="roundRect">
            <a:avLst>
              <a:gd name="adj" fmla="val 14815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682544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82544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추적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457200" y="2612082"/>
            <a:ext cx="4925169" cy="669578"/>
          </a:xfrm>
          <a:prstGeom prst="roundRect">
            <a:avLst>
              <a:gd name="adj" fmla="val 75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9125" y="2735907"/>
            <a:ext cx="46933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조립 복잡도 vs 캐시 안정성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9125" y="2891433"/>
            <a:ext cx="469334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Phase가 독립 청크로 분리되어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변경된 Phase만 해시가 달라집니다.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cache_control 범위가 명확해져 캐시 히트율이 보존됩니다.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509320" y="872877"/>
            <a:ext cx="3177480" cy="1114276"/>
          </a:xfrm>
          <a:prstGeom prst="roundRect">
            <a:avLst>
              <a:gd name="adj" fmla="val 455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509320" y="891927"/>
            <a:ext cx="317748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32993" y="1063377"/>
            <a:ext cx="29301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cache_control: ephemeral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632993" y="1234827"/>
            <a:ext cx="29301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632993" y="1603028"/>
            <a:ext cx="29301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2회차부터 입력 비용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32993" y="1758553"/>
            <a:ext cx="293013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노드가 동일 시스템 프롬프트 공유 시 적용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5509320" y="2088654"/>
            <a:ext cx="3177480" cy="2800945"/>
          </a:xfrm>
          <a:prstGeom prst="roundRect">
            <a:avLst>
              <a:gd name="adj" fmla="val 18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671245" y="2225129"/>
            <a:ext cx="2910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변경 추적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71245" y="2450455"/>
            <a:ext cx="2853630" cy="763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71245" y="2450455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완료 시 전체 프롬프트를 SHA-256 해싱하여 버전 고정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671245" y="2663577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해시 = 동일 프롬프트 → 캐시 히트 보장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671245" y="2876699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변경 시 HookSystem 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PROMPT_CHANGED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이벤트 발행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671245" y="3089821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Skills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전체가 이 파이프라인을 통해 주입됨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7200" y="4965799"/>
            <a:ext cx="349727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→ override → skill → memory → bootstrap → SHA-256 · 7 노드 공유 · cache_control: ephemeral · 2회차 비용 10%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8492728" y="4965799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24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854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단순화 + TokenTracker 자체 관측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951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병목 제거로 LLM 도구 탐색을 열고, 자체 비용 트레이싱으로 루프 비용을 제어합니다.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단순화 — Before → After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17253"/>
            <a:ext cx="4051250" cy="888802"/>
          </a:xfrm>
          <a:prstGeom prst="roundRect">
            <a:avLst>
              <a:gd name="adj" fmla="val 5716"/>
            </a:avLst>
          </a:prstGeom>
          <a:solidFill>
            <a:srgbClr val="1A1010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1241078"/>
            <a:ext cx="38019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3-Layer 병목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441103"/>
            <a:ext cx="3727400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9125" y="1441103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(257줄)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LLM 탐색을 가로막는 중앙 레지스트리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9125" y="1609279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— Registry에 종속, 독립 검색 불가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1777454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stub 9개 — 중복 래퍼, 유지 관리 부담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2107555"/>
            <a:ext cx="4051250" cy="888802"/>
          </a:xfrm>
          <a:prstGeom prst="roundRect">
            <a:avLst>
              <a:gd name="adj" fmla="val 5716"/>
            </a:avLst>
          </a:prstGeom>
          <a:solidFill>
            <a:srgbClr val="0D1E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125" y="2231380"/>
            <a:ext cx="38019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2-Layer 직관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9125" y="2431405"/>
            <a:ext cx="3727400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125" y="2431405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Catalog 검색 전용으로 축소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9125" y="2599581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config.toml [mcp.servers]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설정 통합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9125" y="2767757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44개 서버 auto-discovery · Proxy stub 9개 제거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3097857"/>
            <a:ext cx="4051250" cy="669578"/>
          </a:xfrm>
          <a:prstGeom prst="roundRect">
            <a:avLst>
              <a:gd name="adj" fmla="val 75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9125" y="3221682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제어 vs 탐색 자유도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9125" y="3377208"/>
            <a:ext cx="380194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Registry는 도구 목록을 완전 통제하지만 LLM의 런타임 탐색을 막습니다. Catalog로 전환하면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44개 서버를 동적 관리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하면서도 HITL 4-Tier 권한 모델로 실행 경계를 유지합니다.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35401" y="872877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 — 자체 비용 트레이싱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35401" y="1117253"/>
            <a:ext cx="4051399" cy="663178"/>
          </a:xfrm>
          <a:prstGeom prst="roundRect">
            <a:avLst>
              <a:gd name="adj" fmla="val 76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59213" y="1117253"/>
            <a:ext cx="0" cy="663178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5426" y="1231553"/>
            <a:ext cx="37729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만들었나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35426" y="1399729"/>
            <a:ext cx="377295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루프는 LLM 턴이 많습니다. LangSmith만으로는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모델별 비용 내역과 캐시 히트율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추적하기 어려웠습니다.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35401" y="1881932"/>
            <a:ext cx="1974949" cy="664369"/>
          </a:xfrm>
          <a:prstGeom prst="roundRect">
            <a:avLst>
              <a:gd name="adj" fmla="val 76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35401" y="1891457"/>
            <a:ext cx="1974949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9701" y="2015282"/>
            <a:ext cx="17812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싱글톤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9701" y="2183457"/>
            <a:ext cx="178127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모델, 입출력 토큰, cache_creation, cache_read 기록. 스레드 안전.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711851" y="1881932"/>
            <a:ext cx="1974949" cy="664369"/>
          </a:xfrm>
          <a:prstGeom prst="roundRect">
            <a:avLst>
              <a:gd name="adj" fmla="val 76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711851" y="1891457"/>
            <a:ext cx="1974949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6151" y="2015282"/>
            <a:ext cx="17812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 모델 가격 레지스트리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826151" y="2183457"/>
            <a:ext cx="178127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Anthropic·OpenAI·GLM 실시간 비용 산출. 월별 JSONL 영속 저장.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35401" y="2647801"/>
            <a:ext cx="4051399" cy="2241798"/>
          </a:xfrm>
          <a:prstGeom prst="roundRect">
            <a:avLst>
              <a:gd name="adj" fmla="val 2266"/>
            </a:avLst>
          </a:prstGeom>
          <a:solidFill>
            <a:srgbClr val="060B14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97326" y="2771626"/>
            <a:ext cx="38021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대시보드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97326" y="2984302"/>
            <a:ext cx="3727549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97326" y="2984302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세션/일간/월간 비용 + </a:t>
            </a:r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소진율 실시간 표시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797326" y="3152477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</a:t>
            </a:r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경고 → </a:t>
            </a:r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위험 시 adaptive pruning 자동 발동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97326" y="3320653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ProjectJournal: 프로젝트별 실행 이력 + 누적 비용 추적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" y="4965799"/>
            <a:ext cx="35414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MCPRegistry(257줄) 삭제 · Catalog 검색 전용 · config.toml 통합 · TokenTracker ContextVar · 18 모델 가격 레지스트리 · /cost CLI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492728" y="4965799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24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09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Pipeline: 9-Node DAG + 5-Layer 검증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평가의 편향을 병렬 전문가 4명 + 교차 검증 + PSM으로 극복합니다.</a:t>
            </a:r>
            <a:endParaRPr lang="en-US" sz="500" dirty="0"/>
          </a:p>
        </p:txBody>
      </p:sp>
      <p:pic>
        <p:nvPicPr>
          <p:cNvPr id="6" name="Image 0" descr="/Users/mango/workspace/portfolio/geode/slides/assets/v028-diagram-pipeline-d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4926"/>
            <a:ext cx="5715000" cy="26542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577977"/>
            <a:ext cx="5715000" cy="748754"/>
          </a:xfrm>
          <a:prstGeom prst="roundRect">
            <a:avLst>
              <a:gd name="adj" fmla="val 678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9125" y="3689003"/>
            <a:ext cx="31906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 (adapter.py:91-98)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19125" y="3835003"/>
            <a:ext cx="319063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0.25·PSM + 0.20·Quality + 0.18·Recovery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19125" y="3968204"/>
            <a:ext cx="319063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+ 0.12·Growth + 0.20·Momentum + 0.05·Dev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19125" y="4139505"/>
            <a:ext cx="319063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base × (0.7 + 0.3·conf/100)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3924895" y="3689003"/>
            <a:ext cx="21270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기준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924895" y="3844528"/>
            <a:ext cx="2127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 80 · A ≥ 60 · B ≥ 40 · C &lt; 40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24895" y="3990529"/>
            <a:ext cx="212708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D-E-F 축 코드 결정 트리 (LLM 아님)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457200" y="4415582"/>
            <a:ext cx="5715000" cy="643979"/>
          </a:xfrm>
          <a:prstGeom prst="roundRect">
            <a:avLst>
              <a:gd name="adj" fmla="val 7888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19125" y="4526607"/>
            <a:ext cx="54989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 — Clean Context: 앵커링 편향 차단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19125" y="4682133"/>
            <a:ext cx="549897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"Analyst A의 S급 평가가 Analyst B를 편향시킵니다." 각 분석가에게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analyses: []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전달 — 다른 분석가 점수 완전 차단. 7개 병렬 LLM 호출에서 독립 평가 보장.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299150" y="834926"/>
            <a:ext cx="24354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Results — Golden Set 검증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99150" y="1034951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432578" y="1145977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32578" y="1400026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867376" y="1182439"/>
            <a:ext cx="13128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67376" y="1296739"/>
            <a:ext cx="13128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0.89 · bias: 0/6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867376" y="1391989"/>
            <a:ext cx="13128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conversion_failure → marketing_boost</a:t>
            </a:r>
            <a:endParaRPr lang="en-US" sz="500" dirty="0"/>
          </a:p>
        </p:txBody>
      </p:sp>
      <p:sp>
        <p:nvSpPr>
          <p:cNvPr id="25" name="Text 22"/>
          <p:cNvSpPr/>
          <p:nvPr/>
        </p:nvSpPr>
        <p:spPr>
          <a:xfrm>
            <a:off x="6299150" y="1682502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432578" y="1793528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432578" y="2047577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867376" y="1829991"/>
            <a:ext cx="13666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867376" y="1944291"/>
            <a:ext cx="13666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0.85 · range: 63-75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867376" y="2039541"/>
            <a:ext cx="13666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undermarketed → community_activation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299150" y="2330053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432578" y="2441079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432578" y="2695129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867376" y="2477542"/>
            <a:ext cx="1359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the Shell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867376" y="2591842"/>
            <a:ext cx="1359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0.72 · range: 48-60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867376" y="2687092"/>
            <a:ext cx="135956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discovery_failure → platform_expansion</a:t>
            </a:r>
            <a:endParaRPr lang="en-US" sz="500" dirty="0"/>
          </a:p>
        </p:txBody>
      </p:sp>
      <p:sp>
        <p:nvSpPr>
          <p:cNvPr id="37" name="Text 34"/>
          <p:cNvSpPr/>
          <p:nvPr/>
        </p:nvSpPr>
        <p:spPr>
          <a:xfrm>
            <a:off x="6299150" y="2977604"/>
            <a:ext cx="2387650" cy="1921520"/>
          </a:xfrm>
          <a:prstGeom prst="roundRect">
            <a:avLst>
              <a:gd name="adj" fmla="val 26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435626" y="3088630"/>
            <a:ext cx="2156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 (N4)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435626" y="3275856"/>
            <a:ext cx="2114699" cy="55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435626" y="3275856"/>
            <a:ext cx="21569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 — 스키마·범위·근거·일관성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35626" y="3431381"/>
            <a:ext cx="21569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BiasBuster — 6종 편향 탐지 (arXiv:2403.00811)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435626" y="3586907"/>
            <a:ext cx="2156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Cross-LLM — Claude×GPT α≥0.67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435626" y="3732907"/>
            <a:ext cx="2156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Rights Risk · L5 Calibration 80/100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457200" y="4975324"/>
            <a:ext cx="32399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 (8+3+3) · 6 cause classes · PSM Rosenbaum Gamma · conf gate loopback ≥0.7 · max 5 iterations</a:t>
            </a:r>
            <a:endParaRPr lang="en-US" sz="500" dirty="0"/>
          </a:p>
        </p:txBody>
      </p:sp>
      <p:sp>
        <p:nvSpPr>
          <p:cNvPr id="45" name="Text 42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24</a:t>
            </a:r>
            <a:endParaRPr lang="en-US" sz="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09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이식성: GEODE → REODE 실증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 0줄로 피봇. DomainPort Protocol이 도메인을 코어에서 분리합니다.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34926"/>
            <a:ext cx="2848421" cy="1336179"/>
          </a:xfrm>
          <a:prstGeom prst="roundRect">
            <a:avLst>
              <a:gd name="adj" fmla="val 38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53976"/>
            <a:ext cx="2848421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999976"/>
            <a:ext cx="2594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600" y="1184077"/>
            <a:ext cx="25944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저평가 분석 에이전트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09600" y="1377702"/>
            <a:ext cx="2543621" cy="66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1377702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 모듈 · 3,181 테스트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9600" y="1564928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Tools + 44 MCP · 25 Skills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9600" y="1742629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릴리스 무회귀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9600" y="1929854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GameIPAdapter implements DomainPort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272605"/>
            <a:ext cx="2848421" cy="2616994"/>
          </a:xfrm>
          <a:prstGeom prst="roundRect">
            <a:avLst>
              <a:gd name="adj" fmla="val 194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125" y="2409081"/>
            <a:ext cx="25750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(15 메서드, 6 카테고리)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9125" y="2590056"/>
            <a:ext cx="2524571" cy="24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125" y="2590056"/>
            <a:ext cx="2575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(3) · Analyst Config (2) · Evaluator Config (3)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19125" y="2736056"/>
            <a:ext cx="2575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(4) · Classification (5) · Fixtures (2)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9125" y="2932807"/>
            <a:ext cx="2524571" cy="387251"/>
          </a:xfrm>
          <a:prstGeom prst="roundRect">
            <a:avLst>
              <a:gd name="adj" fmla="val 13118"/>
            </a:avLst>
          </a:prstGeom>
          <a:solidFill>
            <a:srgbClr val="060B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6075" y="3021657"/>
            <a:ext cx="23160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_domain_ctx: ContextVar[DomainPort]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46075" y="3126432"/>
            <a:ext cx="23160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set_domain() / get_domain_or_none()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19125" y="3396258"/>
            <a:ext cx="257506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@runtime_checkable Protocol — 상속 없이 15개 메서드 구현하면 즉시 호환. Pipeline 노드는 </a:t>
            </a:r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get_domain_or_none()</a:t>
            </a:r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조회 후 fallback.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32572" y="1438573"/>
            <a:ext cx="2278856" cy="1504504"/>
          </a:xfrm>
          <a:prstGeom prst="roundRect">
            <a:avLst>
              <a:gd name="adj" fmla="val 5065"/>
            </a:avLst>
          </a:prstGeom>
          <a:solidFill>
            <a:srgbClr val="1E293B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84662" y="1610023"/>
            <a:ext cx="1974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84662" y="1825823"/>
            <a:ext cx="197467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2-Protocol 직교 설계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04022" y="2060525"/>
            <a:ext cx="1935956" cy="323850"/>
          </a:xfrm>
          <a:prstGeom prst="roundRect">
            <a:avLst>
              <a:gd name="adj" fmla="val 15686"/>
            </a:avLst>
          </a:prstGeom>
          <a:solidFill>
            <a:srgbClr val="0D2B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14152" y="2136725"/>
            <a:ext cx="1715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14152" y="2231975"/>
            <a:ext cx="17156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정의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3604022" y="2447776"/>
            <a:ext cx="1935956" cy="323850"/>
          </a:xfrm>
          <a:prstGeom prst="roundRect">
            <a:avLst>
              <a:gd name="adj" fmla="val 15686"/>
            </a:avLst>
          </a:prstGeom>
          <a:solidFill>
            <a:srgbClr val="2B1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14152" y="2523976"/>
            <a:ext cx="1715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14152" y="2619226"/>
            <a:ext cx="17156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언어·포맷 변환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3432572" y="3044577"/>
            <a:ext cx="2278856" cy="758726"/>
          </a:xfrm>
          <a:prstGeom prst="roundRect">
            <a:avLst>
              <a:gd name="adj" fmla="val 6695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74947" y="3181052"/>
            <a:ext cx="199410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0줄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574947" y="3485852"/>
            <a:ext cx="19941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574947" y="3590627"/>
            <a:ext cx="19941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core/graph.py · core/verification/ 무변경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4543276" y="3904804"/>
            <a:ext cx="58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79131" y="4076254"/>
            <a:ext cx="785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스왑으로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전환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38379" y="834926"/>
            <a:ext cx="2848421" cy="1148953"/>
          </a:xfrm>
          <a:prstGeom prst="roundRect">
            <a:avLst>
              <a:gd name="adj" fmla="val 442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838379" y="853976"/>
            <a:ext cx="2848421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90779" y="999976"/>
            <a:ext cx="2594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v0.21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90779" y="1184077"/>
            <a:ext cx="25944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코드 마이그레이션 에이전트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990779" y="1377702"/>
            <a:ext cx="2543621" cy="47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90779" y="1377702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 · 34 Tools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90779" y="1564928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Pipelines (Migration · Porting · Refactoring)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90779" y="1742629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38379" y="2085380"/>
            <a:ext cx="2848421" cy="2804220"/>
          </a:xfrm>
          <a:prstGeom prst="roundRect">
            <a:avLst>
              <a:gd name="adj" fmla="val 1812"/>
            </a:avLst>
          </a:prstGeom>
          <a:solidFill>
            <a:srgbClr val="0D1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00304" y="2221855"/>
            <a:ext cx="25750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수치 — Java 마이그레이션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88315" y="2447181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5988315" y="2751981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314076" y="2447181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7314076" y="2751981"/>
            <a:ext cx="12227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988315" y="2958257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5988315" y="3263057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314076" y="2958257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7314076" y="3263057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라운드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000304" y="3469332"/>
            <a:ext cx="2524571" cy="434876"/>
          </a:xfrm>
          <a:prstGeom prst="roundRect">
            <a:avLst>
              <a:gd name="adj" fmla="val 11681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14263" y="3567708"/>
            <a:ext cx="22966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패스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14263" y="3729633"/>
            <a:ext cx="22966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 자율 실행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457200" y="4965799"/>
            <a:ext cx="374122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15 메서드 · ContextVar DI · core/graph.py 0줄 수정 · REODE: 241 소스 103K LoC · 33 세션 1,133 라운드 · 83/83 빌드 패스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8492728" y="4965799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24</a:t>
            </a:r>
            <a:endParaRPr lang="en-US" sz="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42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/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+ Gateway: Swiss Cheese 방어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+ Secret Redaction 8패턴 + ChannelBinding 세션 격리로 자율 실행 경계를 제어합니다.</a:t>
            </a:r>
            <a:endParaRPr lang="en-US" sz="500" dirty="0"/>
          </a:p>
        </p:txBody>
      </p:sp>
      <p:pic>
        <p:nvPicPr>
          <p:cNvPr id="6" name="Image 0" descr="/Users/mango/workspace/portfolio/geode/slides/assets/v028-diagram-policy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4926"/>
            <a:ext cx="4572000" cy="20045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928342"/>
            <a:ext cx="4579739" cy="1237952"/>
          </a:xfrm>
          <a:prstGeom prst="roundRect">
            <a:avLst>
              <a:gd name="adj" fmla="val 41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993850" y="3039368"/>
            <a:ext cx="0" cy="1015901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9125" y="3039368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— 9 차단 패턴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19125" y="3207544"/>
            <a:ext cx="1243013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9125" y="320754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/ · sudo · &gt;/etc/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19125" y="345519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curl|sh · wget|sh · mkfs.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19125" y="370284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if→/dev/ · chmod 777 /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19125" y="39504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 bomb :(){:|:&amp;}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500289" y="3039368"/>
            <a:ext cx="0" cy="1015901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25563" y="3039368"/>
            <a:ext cx="12678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Resource Limits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125563" y="3198019"/>
            <a:ext cx="124301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125563" y="319801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30s 하드 캡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125563" y="33408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크기 50MB 상한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2125563" y="348376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자식 프로세스 64개 상한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2125563" y="3626644"/>
            <a:ext cx="126787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preexec_fn setrlimit 적용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3632002" y="3039368"/>
            <a:ext cx="12678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— HITL 4-Tier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632002" y="3198019"/>
            <a:ext cx="12430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32002" y="319801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— 30 prefix 자동 승인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632002" y="33408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— 개별 승인 필요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3632002" y="348376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— 비용 일괄 승인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632002" y="362664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 — 순차 승인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7200" y="4255145"/>
            <a:ext cx="4579739" cy="643979"/>
          </a:xfrm>
          <a:prstGeom prst="roundRect">
            <a:avLst>
              <a:gd name="adj" fmla="val 7888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9125" y="4366171"/>
            <a:ext cx="43410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safe-first 허용 시 파이프 주입 통과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19125" y="4521696"/>
            <a:ext cx="434100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file.txt | bash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prefix로 SAFE 분류 → 파이프 주입이 통과됩니다. Layer 1의 curl/wget 차단이 원격 코드 실행을 방어합니다.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163889" y="834926"/>
            <a:ext cx="3522911" cy="1177677"/>
          </a:xfrm>
          <a:prstGeom prst="roundRect">
            <a:avLst>
              <a:gd name="adj" fmla="val 43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187702" y="834926"/>
            <a:ext cx="0" cy="1177677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63914" y="961876"/>
            <a:ext cx="32338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Redaction — 8 패턴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63914" y="1161901"/>
            <a:ext cx="3170486" cy="57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363914" y="1161901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sk-ant-...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API key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363914" y="1317427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sk-proj-... / sk-...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363914" y="1472952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ghp_... / gho_...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PAT/OAuth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363914" y="1628477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xoxb-... / xoxp-...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363914" y="1809452"/>
            <a:ext cx="323389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BashTool.to_tool_result() 경계에서 적용 — LLM 컨텍스트 진입 전 차단</a:t>
            </a:r>
            <a:endParaRPr lang="en-US" sz="500" dirty="0"/>
          </a:p>
        </p:txBody>
      </p:sp>
      <p:sp>
        <p:nvSpPr>
          <p:cNvPr id="40" name="Text 37"/>
          <p:cNvSpPr/>
          <p:nvPr/>
        </p:nvSpPr>
        <p:spPr>
          <a:xfrm>
            <a:off x="5163889" y="2101453"/>
            <a:ext cx="3522911" cy="1726109"/>
          </a:xfrm>
          <a:prstGeom prst="roundRect">
            <a:avLst>
              <a:gd name="adj" fmla="val 29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325814" y="2237929"/>
            <a:ext cx="32630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— 채널 세션 격리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325814" y="2450604"/>
            <a:ext cx="3199061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325814" y="2450604"/>
            <a:ext cx="3263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325814" y="2603004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· Discord · Telegram 3채널, 정적 바인딩 규칙으로 결정론적 라우팅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5325814" y="2803475"/>
            <a:ext cx="32630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격리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325814" y="2965400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gateway:{channel}:{id}[:{sender}][:{thread}]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325814" y="3089672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스레드별 독립 컨텍스트 — 동시 대화 격리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325814" y="3290143"/>
            <a:ext cx="3263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325814" y="3442543"/>
            <a:ext cx="32630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hitl_level=0 완전 자율 · quiet=True · echo 2중 방어 (bot_message subtype + _last_ts)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5163889" y="3916412"/>
            <a:ext cx="3522911" cy="643979"/>
          </a:xfrm>
          <a:prstGeom prst="roundRect">
            <a:avLst>
              <a:gd name="adj" fmla="val 7888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325814" y="4027438"/>
            <a:ext cx="3263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설계 원칙 — AND-logic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5325814" y="4182963"/>
            <a:ext cx="326304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도구는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정책을 통과해야 실행됩니다. Org 정책(priority=5)이 최우선. 6개 레이어 중 하나라도 거부하면 차단. Swiss Cheese: 단일 실패를 다음 레이어가 차단합니다.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5163889" y="4649242"/>
            <a:ext cx="3522911" cy="634454"/>
          </a:xfrm>
          <a:prstGeom prst="roundRect">
            <a:avLst>
              <a:gd name="adj" fmla="val 8007"/>
            </a:avLst>
          </a:prstGeom>
          <a:solidFill>
            <a:srgbClr val="1A0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1"/>
          <p:cNvSpPr/>
          <p:nvPr/>
        </p:nvSpPr>
        <p:spPr>
          <a:xfrm>
            <a:off x="5163889" y="4654004"/>
            <a:ext cx="3522911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682038" y="4649242"/>
            <a:ext cx="0" cy="634454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163889" y="5278934"/>
            <a:ext cx="3522911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187702" y="4649242"/>
            <a:ext cx="0" cy="634454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363914" y="4760268"/>
            <a:ext cx="32241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Model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5363914" y="4906268"/>
            <a:ext cx="322418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GEODE는 두 가지 신뢰 모델을 병행합니다. 자율 에이전트는 실행 전 입력을 차단(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Gating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)하고, 분석 파이프라인은 실행 후 출력을 검증(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)합니다.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457200" y="4975324"/>
            <a:ext cx="41662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blocked patterns · CPU/FSIZE/NPROC limits · 8 secret patterns · 6-layer PolicyChain AND-logic · ChannelBinding 3 pollers · geode serve hitl=0</a:t>
            </a:r>
            <a:endParaRPr lang="en-US" sz="500" dirty="0"/>
          </a:p>
        </p:txBody>
      </p:sp>
      <p:sp>
        <p:nvSpPr>
          <p:cNvPr id="61" name="Text 58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24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2523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— CONSTRAINTS →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→ Result: 제약이 품질을 보증한다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951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 없이 발산하는 LLM을 제어 가능한 결과로 수렴시키는 4가지 인과 경로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1809750" cy="1906786"/>
          </a:xfrm>
          <a:prstGeom prst="roundRect">
            <a:avLst>
              <a:gd name="adj" fmla="val 421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009352"/>
            <a:ext cx="151561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619125" y="1126778"/>
            <a:ext cx="15156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-rf / · sudo · curl|bash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291828"/>
            <a:ext cx="15156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bash_tool.py 9 regex + setrlimit — CPU 30s · FSIZE 50MB · NPROC 64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368451" y="1754832"/>
            <a:ext cx="233172" cy="142875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8552" y="872877"/>
            <a:ext cx="1809899" cy="1906786"/>
          </a:xfrm>
          <a:prstGeom prst="roundRect">
            <a:avLst>
              <a:gd name="adj" fmla="val 4210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60477" y="1009352"/>
            <a:ext cx="15157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500" dirty="0"/>
          </a:p>
        </p:txBody>
      </p:sp>
      <p:sp>
        <p:nvSpPr>
          <p:cNvPr id="13" name="Text 11"/>
          <p:cNvSpPr/>
          <p:nvPr/>
        </p:nvSpPr>
        <p:spPr>
          <a:xfrm>
            <a:off x="2860477" y="1126778"/>
            <a:ext cx="15157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사고 0건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60477" y="1301353"/>
            <a:ext cx="15157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 패턴이 실행 차단, 리소스 초과는 커널이 강제 종료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2881164"/>
            <a:ext cx="1809750" cy="1906935"/>
          </a:xfrm>
          <a:prstGeom prst="roundRect">
            <a:avLst>
              <a:gd name="adj" fmla="val 421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125" y="3017639"/>
            <a:ext cx="151561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619125" y="3135064"/>
            <a:ext cx="15156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키를 LLM 컨텍스트에 노출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9125" y="3309640"/>
            <a:ext cx="15156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redaction.py 8 regex — sk-ant-*, ghp_* 등 출력이 LLM에 도달하기 전 redact_secrets() 호출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368451" y="3763119"/>
            <a:ext cx="233172" cy="142875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8552" y="2881164"/>
            <a:ext cx="1809899" cy="1906935"/>
          </a:xfrm>
          <a:prstGeom prst="roundRect">
            <a:avLst>
              <a:gd name="adj" fmla="val 4210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860477" y="3017639"/>
            <a:ext cx="15157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860477" y="3135064"/>
            <a:ext cx="15157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누출 0건 — [REDACTED] 치환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60477" y="3309640"/>
            <a:ext cx="15157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8종 패턴 전수 검열, LLM 컨텍스트 경계에서 강제 치환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35401" y="872877"/>
            <a:ext cx="1809899" cy="1906786"/>
          </a:xfrm>
          <a:prstGeom prst="roundRect">
            <a:avLst>
              <a:gd name="adj" fmla="val 4210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97326" y="1009352"/>
            <a:ext cx="15157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797326" y="1126778"/>
            <a:ext cx="15157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애널리스트 점수를 보고 평가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97326" y="1301353"/>
            <a:ext cx="15157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Context — Send 상태에 analyses: [] 삽입, 각 애널리스트는 빈 배열만 수신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546800" y="1754832"/>
            <a:ext cx="233172" cy="142875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76901" y="872877"/>
            <a:ext cx="1809899" cy="1906786"/>
          </a:xfrm>
          <a:prstGeom prst="roundRect">
            <a:avLst>
              <a:gd name="adj" fmla="val 4210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38826" y="1009352"/>
            <a:ext cx="15157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7038826" y="1126778"/>
            <a:ext cx="15157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앵커링 편향 구조적 차단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38826" y="1301353"/>
            <a:ext cx="15157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애널리스트 독립 병렬 → BiasBuster CV 검사로 2차 확인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635401" y="2881164"/>
            <a:ext cx="1809899" cy="1906935"/>
          </a:xfrm>
          <a:prstGeom prst="roundRect">
            <a:avLst>
              <a:gd name="adj" fmla="val 4210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97326" y="3017639"/>
            <a:ext cx="15157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4797326" y="3135064"/>
            <a:ext cx="15157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신뢰도 미달 결과를 최종 출력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97326" y="3309640"/>
            <a:ext cx="15157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 ≥0.7 — 미달 시 gather 노드로 루프백, MAX 5회 반복 후 강제 진행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546800" y="3763119"/>
            <a:ext cx="233172" cy="142875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76901" y="2881164"/>
            <a:ext cx="1809899" cy="1906935"/>
          </a:xfrm>
          <a:prstGeom prst="roundRect">
            <a:avLst>
              <a:gd name="adj" fmla="val 4210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038826" y="3017639"/>
            <a:ext cx="15157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7038826" y="3135064"/>
            <a:ext cx="15157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 치유 루프 + 무한 루프 방지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38826" y="3309640"/>
            <a:ext cx="15157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MAX_ITERATIONS=5 하드캡 — weak_areas 기록으로 재실행 시 집중 영역 좁힘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57200" y="4965799"/>
            <a:ext cx="237771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 → 집행 코드 → 측정 가능한 결과 — 모든 CANNOT은 grep 검증된 코드 경로를 갖는다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8492728" y="497056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24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2357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— DESIGN DECISIONS (1/2)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결정: 파이프라인 · 실행 · 보안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항목: [채택] vs [기각] — 왜 이 선택인가를 1줄로 정당화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457200" y="1020663"/>
            <a:ext cx="40512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4926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· 실행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6176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1149102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Plan-and-Execute DAG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ReAct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8226" y="125700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결정론적 실행 순서 + 병렬 노드 — 재귀 추론 루프 없이 구조화된 다단계 가능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485454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155837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API 병렬 실행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순차 처리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8226" y="1675805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애널리스트 × 3 평가자 동시 — LangGraph Send가 상태 병합을 자동 처리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904256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197718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Context (analyses: [])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전체 공유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8226" y="2094607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앵커링 편향 구조적 차단 — 단일 설계 결정이 평가 품질에 가장 큰 영향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2323058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26" y="2395984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 ≥0.7 루프백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단일 패스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8226" y="251340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개입 없는 자가 치유 — MAX=5로 무한루프 차단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35401" y="1020663"/>
            <a:ext cx="4051399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5401" y="834926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· 검증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5401" y="1076176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6427" y="114910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3중 보안 (regex+limits+redaction)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단일 샌드박스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46427" y="126652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— 각 레이어가 독립적으로 다른 공격 면을 차단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35401" y="1494979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6427" y="156790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AND 체인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OR 허용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46427" y="1685330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정책 통과 필수 — Org 정책(priority=5)이 모든 하위 규칙 오버라이드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35401" y="1913781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6427" y="198670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HITL (SAFE/WRITE/DANGEROUS/EXPENSIVE)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이진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6427" y="210413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안전 접두사 자동 승인 — 세분화로 마찰 최소화, 위험 제어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35401" y="2332583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6427" y="2405509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Swiss Cheese 검증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단일 종합 검사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46427" y="252293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구조 + BiasBuster 인지 + Cross-LLM 통계 + Rights 법적 + Calibration 실증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" y="4991100"/>
            <a:ext cx="250174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4 + 보안·검증 4 — 채택 근거는 코드 경로와 측정 결과로 뒷받침 (2/2는 다음 슬라이드)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8457456" y="4995863"/>
            <a:ext cx="23393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22a / 24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2357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— DESIGN DECISIONS (2/2)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결정: 게이트웨이 · 인프라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결정론적·제로 레이턴시 라우팅부터 도메인 이식성까지 — 8가지 인프라 결정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457200" y="1020663"/>
            <a:ext cx="40512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4926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게이트웨이 · 통신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6176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114910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바인딩 라우팅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LLM 의도 라우팅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8226" y="1266527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결정론적·제로 레이턴시·감사 가능 — LLM 라우팅은 비용·지연·불확실성 추가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494979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1567904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 Thread 폴링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asyncio 이벤트 루프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8226" y="1685330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 LangGraph와 단순 통합 — 비동기 복잡도 없이 동시성 확보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913781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1986707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Prevention (subtype + _last_ts)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DB dedup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8226" y="2094607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경량·DB 의존 없음 — 3초 폴링 주기에 충분한 메모리 기반 dedup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2323058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26" y="2395984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계층형 세션 키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플랫 UUID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8226" y="251340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gateway:ch:id:sender:thread — 스레드별 컨텍스트 격리, 사람이 읽을 수 있는 키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35401" y="1020663"/>
            <a:ext cx="4051399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5401" y="834926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· 이식성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5401" y="1076176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6427" y="114910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+ ContextVar DI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ABC 상속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46427" y="126652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타이핑 — 상속 결합 없음, 스레드 안전 교체 가능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35401" y="1494979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6427" y="156790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SqliteSaver + MemorySaver fallback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항상 인메모리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46427" y="1685330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프로덕션 크래시 복구 + 개발 경량 — 단일 팩토리로 환경별 전환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35401" y="1913781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6427" y="198670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사이드 점수 계산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LLM composite_score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6427" y="210413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(axes_sum-8)/32×100 — 투명·검증 가능, LLM 수치는 비교 참고만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35401" y="2332583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6427" y="2405509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= REPL 팩토리 + hitl_level=0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별도 코드베이스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46427" y="252293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_build_agentic_stack() 재사용 — 동작 플래그만 다름, 코드 중복 0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635401" y="2751386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34D399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35401" y="2756148"/>
            <a:ext cx="40513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2038" y="2751386"/>
            <a:ext cx="0" cy="368052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5401" y="3114675"/>
            <a:ext cx="40513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54451" y="2751386"/>
            <a:ext cx="0" cy="368052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5002" y="2824311"/>
            <a:ext cx="38767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이식성 증명: GEODE → REODE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75002" y="2941737"/>
            <a:ext cx="38767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6-Layer 코어 — 도메인 플러그인만 교체, core/graph.py 변경 0줄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" y="4991100"/>
            <a:ext cx="232868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게이트웨이 4 + 인프라·이식성 4 — 20가지 결정 완료. 모든 채택 근거는 코드 경로로 검증됨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457456" y="4995863"/>
            <a:ext cx="23393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22b / 24</a:t>
            </a:r>
            <a:endParaRPr lang="en-US" sz="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23941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— GEODE v0.30 + REODE v0.21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— 전체 지표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시스템을 수렴시키는 4개 축의 실증 결과 (GEODE + REODE 합산)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784027"/>
            <a:ext cx="2019300" cy="434876"/>
          </a:xfrm>
          <a:prstGeom prst="roundRect">
            <a:avLst>
              <a:gd name="adj" fmla="val 17522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912614"/>
            <a:ext cx="31403" cy="177701"/>
          </a:xfrm>
          <a:prstGeom prst="roundRect">
            <a:avLst>
              <a:gd name="adj" fmla="val 808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3029" y="844302"/>
            <a:ext cx="17364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63029" y="949077"/>
            <a:ext cx="17364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· SHA-256 캐시 90% 절감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527250" y="784027"/>
            <a:ext cx="2019449" cy="434876"/>
          </a:xfrm>
          <a:prstGeom prst="roundRect">
            <a:avLst>
              <a:gd name="adj" fmla="val 17522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38276" y="912614"/>
            <a:ext cx="32296" cy="177701"/>
          </a:xfrm>
          <a:prstGeom prst="roundRect">
            <a:avLst>
              <a:gd name="adj" fmla="val 78648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33973" y="853827"/>
            <a:ext cx="17357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33973" y="958602"/>
            <a:ext cx="17357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while(tool_use) · 54 tools × 50 rounds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97450" y="784027"/>
            <a:ext cx="2019300" cy="434876"/>
          </a:xfrm>
          <a:prstGeom prst="roundRect">
            <a:avLst>
              <a:gd name="adj" fmla="val 17522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08475" y="912614"/>
            <a:ext cx="36165" cy="177701"/>
          </a:xfrm>
          <a:prstGeom prst="roundRect">
            <a:avLst>
              <a:gd name="adj" fmla="val 7023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8041" y="849064"/>
            <a:ext cx="17316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08041" y="953839"/>
            <a:ext cx="17316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5-Layer · 신뢰도 69.4 → 99.8%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667500" y="784027"/>
            <a:ext cx="2019300" cy="434876"/>
          </a:xfrm>
          <a:prstGeom prst="roundRect">
            <a:avLst>
              <a:gd name="adj" fmla="val 17522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78526" y="912614"/>
            <a:ext cx="37654" cy="177701"/>
          </a:xfrm>
          <a:prstGeom prst="roundRect">
            <a:avLst>
              <a:gd name="adj" fmla="val 67456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79580" y="844302"/>
            <a:ext cx="17301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79580" y="949077"/>
            <a:ext cx="1730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36-Event Hook Observer · CUSUM 드리프트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" y="1436340"/>
            <a:ext cx="489972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269653"/>
            <a:ext cx="4997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v0.30 — 코드베이스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1491853"/>
            <a:ext cx="1186755" cy="504676"/>
          </a:xfrm>
          <a:prstGeom prst="roundRect">
            <a:avLst>
              <a:gd name="adj" fmla="val 150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8579" y="1552129"/>
            <a:ext cx="98399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8579" y="1831479"/>
            <a:ext cx="9839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모듈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694706" y="1491853"/>
            <a:ext cx="1186904" cy="504676"/>
          </a:xfrm>
          <a:prstGeom prst="roundRect">
            <a:avLst>
              <a:gd name="adj" fmla="val 150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796083" y="1552129"/>
            <a:ext cx="98415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48K+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96083" y="1831479"/>
            <a:ext cx="984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932361" y="1491853"/>
            <a:ext cx="1186904" cy="504676"/>
          </a:xfrm>
          <a:prstGeom prst="roundRect">
            <a:avLst>
              <a:gd name="adj" fmla="val 150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33738" y="1552129"/>
            <a:ext cx="98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3,159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33738" y="1806029"/>
            <a:ext cx="984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함수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170015" y="1491853"/>
            <a:ext cx="1186904" cy="504676"/>
          </a:xfrm>
          <a:prstGeom prst="roundRect">
            <a:avLst>
              <a:gd name="adj" fmla="val 150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71392" y="1552129"/>
            <a:ext cx="98415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271392" y="1831479"/>
            <a:ext cx="984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semver 릴리스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2047280"/>
            <a:ext cx="2424410" cy="568077"/>
          </a:xfrm>
          <a:prstGeom prst="roundRect">
            <a:avLst>
              <a:gd name="adj" fmla="val 134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8226" y="2120205"/>
            <a:ext cx="22464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· 도구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68226" y="2237631"/>
            <a:ext cx="224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9-Node StateGraph DAG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8226" y="2332881"/>
            <a:ext cx="22464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Tools · 44 MCP 서버 · 25 Skills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8226" y="2437656"/>
            <a:ext cx="22464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3채널 Gateway (Slack/Discord/Telegram)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932361" y="2047280"/>
            <a:ext cx="2424559" cy="568077"/>
          </a:xfrm>
          <a:prstGeom prst="roundRect">
            <a:avLst>
              <a:gd name="adj" fmla="val 134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043386" y="2120205"/>
            <a:ext cx="22465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· 검증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043386" y="2237631"/>
            <a:ext cx="22465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Bash 차단 · 8 Secret 탐지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043386" y="2342406"/>
            <a:ext cx="22465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PolicyChain · 4-Tier HITL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043386" y="2437656"/>
            <a:ext cx="22465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80/100 통과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420320" y="1436340"/>
            <a:ext cx="3266480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20320" y="1269653"/>
            <a:ext cx="33318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v0.21 — 이식성 증명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20320" y="1491853"/>
            <a:ext cx="1607790" cy="479227"/>
          </a:xfrm>
          <a:prstGeom prst="roundRect">
            <a:avLst>
              <a:gd name="adj" fmla="val 1590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517489" y="1552129"/>
            <a:ext cx="14134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517489" y="1806029"/>
            <a:ext cx="14134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078861" y="1491853"/>
            <a:ext cx="1607939" cy="479227"/>
          </a:xfrm>
          <a:prstGeom prst="roundRect">
            <a:avLst>
              <a:gd name="adj" fmla="val 1590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176028" y="1552129"/>
            <a:ext cx="1413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3,274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176028" y="1806029"/>
            <a:ext cx="14136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420320" y="2021830"/>
            <a:ext cx="3266480" cy="2855119"/>
          </a:xfrm>
          <a:prstGeom prst="roundRect">
            <a:avLst>
              <a:gd name="adj" fmla="val 26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531346" y="2094756"/>
            <a:ext cx="31053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 LoC 마이그레이션 · 83/83 통과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531346" y="2224832"/>
            <a:ext cx="31053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세션 / 1,133 라운드 / 5h 48m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531346" y="2354907"/>
            <a:ext cx="31053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코드 변경 0줄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531346" y="2484983"/>
            <a:ext cx="31053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≥3.12 · LangGraph · Anthropic SDK · FastAPI · Redis · SQLite · mypy strict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57200" y="4991100"/>
            <a:ext cx="262470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GEODE(184) + REODE(209) = 393 모듈 · 6,433 테스트 — 확률론적 시스템을 루프와 가치로 수렴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24</a:t>
            </a:r>
            <a:endParaRPr lang="en-US" sz="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74575"/>
            <a:ext cx="21311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— CLOSING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406301"/>
            <a:ext cx="4244280" cy="1031081"/>
          </a:xfrm>
          <a:prstGeom prst="roundRect">
            <a:avLst>
              <a:gd name="adj" fmla="val 739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57200" y="411063"/>
            <a:ext cx="424428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96718" y="406301"/>
            <a:ext cx="0" cy="1031081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32620"/>
            <a:ext cx="424428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1012" y="406301"/>
            <a:ext cx="0" cy="1031081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7225" y="517327"/>
            <a:ext cx="395997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발산합니다.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7225" y="817066"/>
            <a:ext cx="395997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7225" y="1116806"/>
            <a:ext cx="39599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Engineering은 기법이 아니라 규율(discipline)입니다 — 제약, 루프, 검증을 체계적으로 설계하는 방법론.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7200" y="1500783"/>
            <a:ext cx="4244280" cy="784027"/>
          </a:xfrm>
          <a:prstGeom prst="roundRect">
            <a:avLst>
              <a:gd name="adj" fmla="val 971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93675" y="1586508"/>
            <a:ext cx="40507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 — 자기 증강 하네스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3675" y="1735634"/>
            <a:ext cx="528935" cy="320576"/>
          </a:xfrm>
          <a:prstGeom prst="roundRect">
            <a:avLst>
              <a:gd name="adj" fmla="val 19808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88729" y="1795909"/>
            <a:ext cx="3388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88729" y="1891159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루프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198811" y="1829246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389311" y="1735634"/>
            <a:ext cx="528935" cy="320576"/>
          </a:xfrm>
          <a:prstGeom prst="roundRect">
            <a:avLst>
              <a:gd name="adj" fmla="val 19808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484364" y="1795909"/>
            <a:ext cx="3388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484364" y="1891159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루프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994446" y="1829246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184946" y="1735634"/>
            <a:ext cx="601563" cy="320576"/>
          </a:xfrm>
          <a:prstGeom prst="roundRect">
            <a:avLst>
              <a:gd name="adj" fmla="val 19808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279273" y="1795909"/>
            <a:ext cx="4129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2279273" y="1891159"/>
            <a:ext cx="4129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862709" y="1829246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053209" y="1735634"/>
            <a:ext cx="528935" cy="320576"/>
          </a:xfrm>
          <a:prstGeom prst="roundRect">
            <a:avLst>
              <a:gd name="adj" fmla="val 19808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148263" y="1795909"/>
            <a:ext cx="3388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148263" y="1891159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루프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3658344" y="1829246"/>
            <a:ext cx="702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3675" y="2094309"/>
            <a:ext cx="40507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루프가 DEV를 설계하고, RUNTIME이 실행하며, HOOKS가 관측하여 META로 피드백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57200" y="2348210"/>
            <a:ext cx="4244280" cy="679400"/>
          </a:xfrm>
          <a:prstGeom prst="roundRect">
            <a:avLst>
              <a:gd name="adj" fmla="val 1121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1" descr="/Users/mango/workspace/portfolio/geode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75" y="2433935"/>
            <a:ext cx="507950" cy="50795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203127" y="2503736"/>
            <a:ext cx="12306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1203127" y="2656136"/>
            <a:ext cx="12306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github.com/mangowhoiscloud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1203127" y="2776686"/>
            <a:ext cx="12306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mangowhoiscloud@gmail.com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4828431" y="406301"/>
            <a:ext cx="39355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3가지 가치 명제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828431" y="612577"/>
            <a:ext cx="3858369" cy="720626"/>
          </a:xfrm>
          <a:prstGeom prst="roundRect">
            <a:avLst>
              <a:gd name="adj" fmla="val 1057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5"/>
          <p:cNvSpPr/>
          <p:nvPr/>
        </p:nvSpPr>
        <p:spPr>
          <a:xfrm>
            <a:off x="4828431" y="617339"/>
            <a:ext cx="385836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682038" y="612577"/>
            <a:ext cx="0" cy="720626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828431" y="1328440"/>
            <a:ext cx="385836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847481" y="612577"/>
            <a:ext cx="0" cy="720626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993481" y="698302"/>
            <a:ext cx="3627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Scaffold Design — 제약으로 품질 보증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993481" y="872877"/>
            <a:ext cx="36279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규칙을 코드로 집행 — 9 Bash 차단 · 8 Secret 탐지 · 6-Layer PolicyChain · 36 Event Hooks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4993481" y="1123652"/>
            <a:ext cx="3627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 보안 사고 0건 · 키 누출 0건 · 범위 외 호출 0건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4828431" y="1396603"/>
            <a:ext cx="3858369" cy="615851"/>
          </a:xfrm>
          <a:prstGeom prst="roundRect">
            <a:avLst>
              <a:gd name="adj" fmla="val 123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3"/>
          <p:cNvSpPr/>
          <p:nvPr/>
        </p:nvSpPr>
        <p:spPr>
          <a:xfrm>
            <a:off x="4828431" y="1401366"/>
            <a:ext cx="3858369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682038" y="1396603"/>
            <a:ext cx="0" cy="615851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828431" y="2007691"/>
            <a:ext cx="3858369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847481" y="1396603"/>
            <a:ext cx="0" cy="61585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993481" y="1482328"/>
            <a:ext cx="3627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System Architecture — 6-Layer + DomainPort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4993481" y="1656904"/>
            <a:ext cx="36279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CLI → L5 Domain Plugins. DomainPort Protocol(15 methods) ContextVar DI.</a:t>
            </a:r>
            <a:endParaRPr lang="en-US" sz="700" dirty="0"/>
          </a:p>
        </p:txBody>
      </p:sp>
      <p:sp>
        <p:nvSpPr>
          <p:cNvPr id="53" name="Text 49"/>
          <p:cNvSpPr/>
          <p:nvPr/>
        </p:nvSpPr>
        <p:spPr>
          <a:xfrm>
            <a:off x="4993481" y="1802904"/>
            <a:ext cx="3627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증명: GEODE → REODE — core/graph.py 변경 0줄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4828431" y="2075855"/>
            <a:ext cx="3858369" cy="625376"/>
          </a:xfrm>
          <a:prstGeom prst="roundRect">
            <a:avLst>
              <a:gd name="adj" fmla="val 1218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1"/>
          <p:cNvSpPr/>
          <p:nvPr/>
        </p:nvSpPr>
        <p:spPr>
          <a:xfrm>
            <a:off x="4828431" y="2080617"/>
            <a:ext cx="3858369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682038" y="2075855"/>
            <a:ext cx="0" cy="625376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828431" y="2696468"/>
            <a:ext cx="3858369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4847481" y="2075855"/>
            <a:ext cx="0" cy="625376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993481" y="2161580"/>
            <a:ext cx="3627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Domain Reasoning — PSM + 5-Layer + CUSUM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4993481" y="2336155"/>
            <a:ext cx="36279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Cheese: G1-G4 · BiasBuster · Cross-LLM α≥0.67 · CUSUM 드리프트 관측</a:t>
            </a:r>
            <a:endParaRPr lang="en-US" sz="700" dirty="0"/>
          </a:p>
        </p:txBody>
      </p:sp>
      <p:sp>
        <p:nvSpPr>
          <p:cNvPr id="61" name="Text 57"/>
          <p:cNvSpPr/>
          <p:nvPr/>
        </p:nvSpPr>
        <p:spPr>
          <a:xfrm>
            <a:off x="4993481" y="2491680"/>
            <a:ext cx="3627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 Calibration 80/100 · Berserk S-Tier(80-86) 재현 가능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457200" y="4975324"/>
            <a:ext cx="242371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v0.30 · Python ≥3.12 · LangGraph · 184 modules · 3,159 tests · 25 releases</a:t>
            </a:r>
            <a:endParaRPr lang="en-US" sz="500" dirty="0"/>
          </a:p>
        </p:txBody>
      </p:sp>
      <p:sp>
        <p:nvSpPr>
          <p:cNvPr id="63" name="Text 59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24</a:t>
            </a:r>
            <a:endParaRPr lang="en-US" sz="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61776"/>
            <a:ext cx="11336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도메인 파이프라인 → 범용 자율 실행 하네스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전형용 도메인 파이프라인에서 범용 자율 실행 하네스로. 35일 피봇.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57200" y="81900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869752"/>
            <a:ext cx="2573834" cy="25301"/>
          </a:xfrm>
          <a:prstGeom prst="rect">
            <a:avLst/>
          </a:prstGeom>
          <a:solidFill>
            <a:srgbClr val="F5C542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57984" y="81900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84934" y="869752"/>
            <a:ext cx="2573982" cy="25301"/>
          </a:xfrm>
          <a:prstGeom prst="rect">
            <a:avLst/>
          </a:prstGeom>
          <a:solidFill>
            <a:srgbClr val="F9731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58917" y="81900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85867" y="869752"/>
            <a:ext cx="2573982" cy="25301"/>
          </a:xfrm>
          <a:prstGeom prst="rect">
            <a:avLst/>
          </a:prstGeom>
          <a:solidFill>
            <a:srgbClr val="4ECDC4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59850" y="81900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1022152"/>
            <a:ext cx="1981200" cy="3553123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7200" y="1041202"/>
            <a:ext cx="198120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3637" y="1022152"/>
            <a:ext cx="0" cy="3553123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570512"/>
            <a:ext cx="1981200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963" y="1022152"/>
            <a:ext cx="0" cy="3553123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125" y="1187202"/>
            <a:ext cx="611981" cy="180975"/>
          </a:xfrm>
          <a:prstGeom prst="roundRect">
            <a:avLst>
              <a:gd name="adj" fmla="val 28070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7500" y="1234827"/>
            <a:ext cx="4235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— v0.7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307306" y="1234827"/>
            <a:ext cx="5402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– Feb 2026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619125" y="1444377"/>
            <a:ext cx="16904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과제 합격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9125" y="1644402"/>
            <a:ext cx="169049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가치추론 DAG. 넥슨 네비게이터실 과제 전형.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19125" y="1987004"/>
            <a:ext cx="169049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14축 루브릭 + PSM 인과추론 + LangGraph StateGraph.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19125" y="4150072"/>
            <a:ext cx="1657350" cy="288727"/>
          </a:xfrm>
          <a:prstGeom prst="roundRect">
            <a:avLst>
              <a:gd name="adj" fmla="val 175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20626" y="4213473"/>
            <a:ext cx="14834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StateGraph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720626" y="4299198"/>
            <a:ext cx="148343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종속 파이프라인 시대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2539901" y="1022152"/>
            <a:ext cx="1981349" cy="3553123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539901" y="1041202"/>
            <a:ext cx="1981349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16487" y="1022152"/>
            <a:ext cx="0" cy="3553123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39901" y="4570512"/>
            <a:ext cx="1981349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44663" y="1022152"/>
            <a:ext cx="0" cy="3553123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01826" y="1187202"/>
            <a:ext cx="594866" cy="180975"/>
          </a:xfrm>
          <a:prstGeom prst="roundRect">
            <a:avLst>
              <a:gd name="adj" fmla="val 28070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00201" y="1234827"/>
            <a:ext cx="4060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v0.8 PIVOT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3372892" y="1234827"/>
            <a:ext cx="4173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초 2026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2701826" y="1444377"/>
            <a:ext cx="16906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Autonomous Pivot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01826" y="1634877"/>
            <a:ext cx="1690649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 → 자율 피봇. 도메인 종속 파이프라인에서 범용 자율 실행 하네스로 전환.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701826" y="1977479"/>
            <a:ext cx="169064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설계로 도메인 교체 가능성 확보.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701826" y="4150072"/>
            <a:ext cx="1657499" cy="288727"/>
          </a:xfrm>
          <a:prstGeom prst="roundRect">
            <a:avLst>
              <a:gd name="adj" fmla="val 175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803327" y="4213473"/>
            <a:ext cx="148358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DomainPort Protocol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2803327" y="4299198"/>
            <a:ext cx="148358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 하네스 설계 전환점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4622750" y="1022152"/>
            <a:ext cx="1981200" cy="3553123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22750" y="1041202"/>
            <a:ext cx="198120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99188" y="1022152"/>
            <a:ext cx="0" cy="3553123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22750" y="4570512"/>
            <a:ext cx="198120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27513" y="1022152"/>
            <a:ext cx="0" cy="3553123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84675" y="1187202"/>
            <a:ext cx="696664" cy="180975"/>
          </a:xfrm>
          <a:prstGeom prst="roundRect">
            <a:avLst>
              <a:gd name="adj" fmla="val 2807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83051" y="1234827"/>
            <a:ext cx="5099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v0.24 — v0.30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557540" y="1234827"/>
            <a:ext cx="4845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중후 2026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784675" y="1444377"/>
            <a:ext cx="16904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Harness 완성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84675" y="1644402"/>
            <a:ext cx="169049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3중 구조 완성: Scaffold → Runtime → Loop.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784675" y="1987004"/>
            <a:ext cx="1657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784675" y="1987004"/>
            <a:ext cx="1690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Scaffold: CLAUDE.md + CI 체계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784675" y="2110829"/>
            <a:ext cx="1690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 45 Hooks + 21 Skills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784675" y="2234654"/>
            <a:ext cx="1690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Loop: while(tool_use) 자율 실행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784675" y="4150072"/>
            <a:ext cx="1657350" cy="288727"/>
          </a:xfrm>
          <a:prstGeom prst="roundRect">
            <a:avLst>
              <a:gd name="adj" fmla="val 175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886176" y="4213473"/>
            <a:ext cx="14834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tool_use: loop()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4886176" y="4299198"/>
            <a:ext cx="148343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 자율 실행 하네스 완성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6705451" y="1022152"/>
            <a:ext cx="1981349" cy="3553123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6705451" y="1041202"/>
            <a:ext cx="1981349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2038" y="1022152"/>
            <a:ext cx="0" cy="3553123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05451" y="4570512"/>
            <a:ext cx="198134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10214" y="1022152"/>
            <a:ext cx="0" cy="3553123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67376" y="1187202"/>
            <a:ext cx="730151" cy="180975"/>
          </a:xfrm>
          <a:prstGeom prst="roundRect">
            <a:avLst>
              <a:gd name="adj" fmla="val 28070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965752" y="1234827"/>
            <a:ext cx="544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FORK: REODE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7673727" y="1234827"/>
            <a:ext cx="5616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– May 2026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6867376" y="1444377"/>
            <a:ext cx="16906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— DomainPort 실증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867376" y="1644402"/>
            <a:ext cx="1690649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8→22, Spring 4.3→6.1. 241소스 103K LoC 레거시 마이그레이션.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867376" y="1987004"/>
            <a:ext cx="169064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빌드 통과. 에이전트 코어 수정 0줄.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867376" y="4150072"/>
            <a:ext cx="1657499" cy="288727"/>
          </a:xfrm>
          <a:prstGeom prst="roundRect">
            <a:avLst>
              <a:gd name="adj" fmla="val 175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6968877" y="4213473"/>
            <a:ext cx="148358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DomainPort: 0 core changes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6968877" y="4299198"/>
            <a:ext cx="148358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범용성 검증 완료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457200" y="4651474"/>
            <a:ext cx="8229600" cy="276225"/>
          </a:xfrm>
          <a:prstGeom prst="roundRect">
            <a:avLst>
              <a:gd name="adj" fmla="val 18391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540068" y="4737199"/>
            <a:ext cx="80638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전형용 도메인 파이프라인에서 범용 자율 실행 하네스로. 35일 피봇.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457200" y="4991100"/>
            <a:ext cx="260633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 과제 합격 → Feb 면접 탈락 → Mar Pivot → Harness v0.30 완성 → REODE fork 실증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25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v0.30 — Autonomous Execution Harness</dc:title>
  <dc:subject>PptxGenJS Presentation</dc:subject>
  <dc:creator>mangowhoiscloud</dc:creator>
  <cp:lastModifiedBy>mangowhoiscloud</cp:lastModifiedBy>
  <cp:revision>1</cp:revision>
  <dcterms:created xsi:type="dcterms:W3CDTF">2026-03-27T20:10:10Z</dcterms:created>
  <dcterms:modified xsi:type="dcterms:W3CDTF">2026-03-27T20:10:10Z</dcterms:modified>
</cp:coreProperties>
</file>