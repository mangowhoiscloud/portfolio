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ngo/workspace/portfolio/geode/versions/v5/slides/assets/bg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7701"/>
            <a:ext cx="50750" cy="177701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84150" y="199876"/>
            <a:ext cx="8425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442895" y="204639"/>
            <a:ext cx="12687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 · 1,160 커밋 · 39 릴리스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1265783"/>
            <a:ext cx="2801689" cy="260152"/>
          </a:xfrm>
          <a:prstGeom prst="roundRect">
            <a:avLst>
              <a:gd name="adj" fmla="val 19527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93675" y="135775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46075" y="1338709"/>
            <a:ext cx="24238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while(tool_use) → 50 rounds × 200 turns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1652885"/>
            <a:ext cx="6269837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7200" y="2150715"/>
            <a:ext cx="626983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자율 실행 하네스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2445990"/>
            <a:ext cx="6269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Long-Running Autonomous Execution Harness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2757041"/>
            <a:ext cx="25301" cy="355550"/>
          </a:xfrm>
          <a:prstGeom prst="roundRect">
            <a:avLst>
              <a:gd name="adj" fmla="val 50196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84002" y="2768054"/>
            <a:ext cx="9914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류지환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84002" y="2968079"/>
            <a:ext cx="9914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3341043"/>
            <a:ext cx="1460599" cy="603052"/>
          </a:xfrm>
          <a:prstGeom prst="roundRect">
            <a:avLst>
              <a:gd name="adj" fmla="val 1263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07758" y="3452068"/>
            <a:ext cx="11594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07758" y="3747343"/>
            <a:ext cx="11594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2019300" y="3341043"/>
            <a:ext cx="1460599" cy="603052"/>
          </a:xfrm>
          <a:prstGeom prst="roundRect">
            <a:avLst>
              <a:gd name="adj" fmla="val 1263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169858" y="3452068"/>
            <a:ext cx="11594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2169858" y="3747343"/>
            <a:ext cx="11594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3581400" y="3341043"/>
            <a:ext cx="1460599" cy="603052"/>
          </a:xfrm>
          <a:prstGeom prst="roundRect">
            <a:avLst>
              <a:gd name="adj" fmla="val 1263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731958" y="3452068"/>
            <a:ext cx="11594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3731958" y="3747343"/>
            <a:ext cx="11594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5143500" y="3341043"/>
            <a:ext cx="1460599" cy="603052"/>
          </a:xfrm>
          <a:prstGeom prst="roundRect">
            <a:avLst>
              <a:gd name="adj" fmla="val 1263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94058" y="3452068"/>
            <a:ext cx="11594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5294058" y="3747343"/>
            <a:ext cx="11594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Tools</a:t>
            </a:r>
            <a:endParaRPr lang="en-US" sz="600" dirty="0"/>
          </a:p>
        </p:txBody>
      </p:sp>
      <p:pic>
        <p:nvPicPr>
          <p:cNvPr id="27" name="Image 1" descr="/Users/mango/workspace/portfolio/geode/versions/v5/slides/assets/masc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99" y="1430387"/>
            <a:ext cx="1777901" cy="1777901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212509" y="3309789"/>
            <a:ext cx="1170533" cy="469702"/>
          </a:xfrm>
          <a:prstGeom prst="roundRect">
            <a:avLst>
              <a:gd name="adj" fmla="val 1622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7365967" y="3420814"/>
            <a:ext cx="8636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Analysis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7365967" y="3573214"/>
            <a:ext cx="8636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Harness</a:t>
            </a:r>
            <a:endParaRPr lang="en-US" sz="700" dirty="0"/>
          </a:p>
        </p:txBody>
      </p:sp>
      <p:sp>
        <p:nvSpPr>
          <p:cNvPr id="31" name="Text 27"/>
          <p:cNvSpPr/>
          <p:nvPr/>
        </p:nvSpPr>
        <p:spPr>
          <a:xfrm>
            <a:off x="457200" y="4930825"/>
            <a:ext cx="23027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21 – Mar 28, 2026 · Anthropic / OpenAI / ZhipuAI · 3 Providers</a:t>
            </a:r>
            <a:endParaRPr lang="en-US" sz="600" dirty="0"/>
          </a:p>
        </p:txBody>
      </p:sp>
      <p:sp>
        <p:nvSpPr>
          <p:cNvPr id="32" name="Text 28"/>
          <p:cNvSpPr/>
          <p:nvPr/>
        </p:nvSpPr>
        <p:spPr>
          <a:xfrm>
            <a:off x="8453735" y="4930825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34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593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 · HOOK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36일의 피봇 스토리: 과제 → 탈락 → 자율 하네스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면접 탈락이 아키텍처 피봇의 계기가 되었습니다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19548"/>
            <a:ext cx="2032397" cy="1047601"/>
          </a:xfrm>
          <a:prstGeom prst="roundRect">
            <a:avLst>
              <a:gd name="adj" fmla="val 727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6081" y="1756023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6081" y="1889373"/>
            <a:ext cx="17946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Agent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76081" y="2054423"/>
            <a:ext cx="17946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21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76081" y="2216348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넥슨 코딩 과제: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76081" y="2321123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검증 파이프라인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76081" y="2425898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분석 에이전트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466999" y="2667149"/>
            <a:ext cx="12650" cy="1777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2844850"/>
            <a:ext cx="2032397" cy="317302"/>
          </a:xfrm>
          <a:prstGeom prst="roundRect">
            <a:avLst>
              <a:gd name="adj" fmla="val 16010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8226" y="2917775"/>
            <a:ext cx="1846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v0.1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568226" y="3003500"/>
            <a:ext cx="1846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Provider Failover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2489597" y="1898898"/>
            <a:ext cx="336855" cy="209550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19846" y="1619548"/>
            <a:ext cx="1141661" cy="990451"/>
          </a:xfrm>
          <a:prstGeom prst="roundRect">
            <a:avLst>
              <a:gd name="adj" fmla="val 7693"/>
            </a:avLst>
          </a:prstGeom>
          <a:solidFill>
            <a:srgbClr val="1A0A0A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009116" y="1765548"/>
            <a:ext cx="7631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009116" y="1898898"/>
            <a:ext cx="7631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면접 탈락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09116" y="2092523"/>
            <a:ext cx="7631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03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009116" y="2254448"/>
            <a:ext cx="76312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"도메인 에이전트로는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009116" y="2359223"/>
            <a:ext cx="76312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부족하다"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384352" y="2609999"/>
            <a:ext cx="12650" cy="177701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060650" y="2787700"/>
            <a:ext cx="659904" cy="231577"/>
          </a:xfrm>
          <a:prstGeom prst="roundRect">
            <a:avLst>
              <a:gd name="adj" fmla="val 21937"/>
            </a:avLst>
          </a:prstGeom>
          <a:solidFill>
            <a:srgbClr val="1A0A0A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167298" y="2860625"/>
            <a:ext cx="4466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 피봇 결정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3961507" y="1898898"/>
            <a:ext cx="336855" cy="209550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91757" y="1619548"/>
            <a:ext cx="2032397" cy="1028551"/>
          </a:xfrm>
          <a:prstGeom prst="roundRect">
            <a:avLst>
              <a:gd name="adj" fmla="val 7408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410638" y="1756023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410638" y="1889373"/>
            <a:ext cx="17946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하네스 강화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410638" y="2063948"/>
            <a:ext cx="17946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04 – Mar 18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410638" y="2225873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Hook Events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410638" y="2321123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Plan-first + Compaction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410638" y="2416373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3-Brake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301555" y="2648099"/>
            <a:ext cx="12650" cy="1777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291757" y="2825800"/>
            <a:ext cx="2032397" cy="317302"/>
          </a:xfrm>
          <a:prstGeom prst="roundRect">
            <a:avLst>
              <a:gd name="adj" fmla="val 16010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402782" y="2898725"/>
            <a:ext cx="1846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+ Gateway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402782" y="2984450"/>
            <a:ext cx="1846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세션 격리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6324154" y="1898898"/>
            <a:ext cx="336855" cy="209550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654403" y="1619548"/>
            <a:ext cx="2032397" cy="1047601"/>
          </a:xfrm>
          <a:prstGeom prst="roundRect">
            <a:avLst>
              <a:gd name="adj" fmla="val 7274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773284" y="1756023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FORK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773284" y="1889373"/>
            <a:ext cx="17946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제품화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773284" y="2063948"/>
            <a:ext cx="17946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19 – Mar 28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6773284" y="2225873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v0.13 → Fork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773284" y="2321123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 모듈 · 3,274 테스트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773284" y="2425898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mvn 패스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664202" y="2667149"/>
            <a:ext cx="12650" cy="1777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654403" y="2844850"/>
            <a:ext cx="2032397" cy="231577"/>
          </a:xfrm>
          <a:prstGeom prst="roundRect">
            <a:avLst>
              <a:gd name="adj" fmla="val 21937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765429" y="2917775"/>
            <a:ext cx="1846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하네스 패턴 재사용 증명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57200" y="3314551"/>
            <a:ext cx="8229600" cy="831652"/>
          </a:xfrm>
          <a:prstGeom prst="roundRect">
            <a:avLst>
              <a:gd name="adj" fmla="val 9162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44426" y="3425577"/>
            <a:ext cx="50750" cy="609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822127" y="3531989"/>
            <a:ext cx="592099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피봇의 결론 — Trade-off: 도메인 전문성 vs 인프라 재사용성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22127" y="3693914"/>
            <a:ext cx="59209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에이전트는 </a:t>
            </a:r>
            <a:pPr algn="l" indent="0" marL="0"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분석하는가의 문제입니다. 하네스는 </a:t>
            </a:r>
            <a:pPr algn="l" indent="0" marL="0"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오래, 안전하게 실행하는가</a:t>
            </a:r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 문제입니다.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22127" y="3823990"/>
            <a:ext cx="59209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분석 결과를 선택했다면 재사용성이 없는 일회성 프로젝트로 끝났다. 하네스 인프라를 선택했고 REODE 포크가 가능해졌다 — </a:t>
            </a:r>
            <a:pPr algn="l" indent="0" marL="0"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코어 수정 0줄, 83/83 빌드 패스</a:t>
            </a:r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57200" y="4956274"/>
            <a:ext cx="16416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v0.31.0 · 1,160 commits · 39 releases · 36 days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34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9307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 · THESIS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확률적 시스템(LLM)은 제어 없이 발산합니다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4-Axis: 장기 운용에서 모두가 시간에 따라 열화한다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7576"/>
            <a:ext cx="2539901" cy="104775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84052"/>
            <a:ext cx="23122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주장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93675" y="1152227"/>
            <a:ext cx="2312289" cy="29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단독 실행은 비결정론, 컨텍스트 손실, 비용 폭발, 루프 고착 4가지 이유로 반드시 발산합니다.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3675" y="1510308"/>
            <a:ext cx="231228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발산을 수렴시키는 것이 하네스의 역할입니다. 4개 축이 없으면 자율 실행은 불가능합니다.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971526"/>
            <a:ext cx="2539901" cy="1131689"/>
          </a:xfrm>
          <a:prstGeom prst="roundRect">
            <a:avLst>
              <a:gd name="adj" fmla="val 6733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3675" y="2108002"/>
            <a:ext cx="23122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운용의 문제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93675" y="2276177"/>
            <a:ext cx="2312289" cy="128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4축 모두가 </a:t>
            </a:r>
            <a:pPr algn="l" indent="0" marL="0">
              <a:lnSpc>
                <a:spcPts val="1015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시간에 따라 열화</a:t>
            </a:r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합니다.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46075" y="2455664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포화 → 정보 손실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루프 고착 → 무한 반복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누적 → 예산 초과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 공백 → 드리프트 미감지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93675" y="2861965"/>
            <a:ext cx="23122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이를 자동 보정하는 것이 하네스의 본질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124051" y="847576"/>
            <a:ext cx="2743200" cy="1984474"/>
          </a:xfrm>
          <a:prstGeom prst="roundRect">
            <a:avLst>
              <a:gd name="adj" fmla="val 38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60527" y="1020514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87477" y="984052"/>
            <a:ext cx="10504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1 · Context Control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60527" y="1171277"/>
            <a:ext cx="25196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제어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260527" y="1339453"/>
            <a:ext cx="2519654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 6-Phase 조립 + SHA-256 캐싱으로 정보 주입을 설계합니다. 장기 세션에서 80%/95% 임계값 compaction이 자동 발동합니다.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260527" y="2483048"/>
            <a:ext cx="2470249" cy="212527"/>
          </a:xfrm>
          <a:prstGeom prst="roundRect">
            <a:avLst>
              <a:gd name="adj" fmla="val 2390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49377" y="2546449"/>
            <a:ext cx="23383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PromptAssembler · CompactionHook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943451" y="847576"/>
            <a:ext cx="2743349" cy="1984474"/>
          </a:xfrm>
          <a:prstGeom prst="roundRect">
            <a:avLst>
              <a:gd name="adj" fmla="val 38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79927" y="1020514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06877" y="984052"/>
            <a:ext cx="10448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2 · Execution Loop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079927" y="1171277"/>
            <a:ext cx="25198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079927" y="1339453"/>
            <a:ext cx="251980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50 rounds × 200 turns. 비용 초과·수렴 고착·탐색 고착을 3개 자동 브레이크로 차단합니다.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079927" y="2483048"/>
            <a:ext cx="2470398" cy="212527"/>
          </a:xfrm>
          <a:prstGeom prst="roundRect">
            <a:avLst>
              <a:gd name="adj" fmla="val 2390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68777" y="2546449"/>
            <a:ext cx="233855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AgenticLoop · SafetyBrake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3124051" y="2908250"/>
            <a:ext cx="2743200" cy="1984623"/>
          </a:xfrm>
          <a:prstGeom prst="roundRect">
            <a:avLst>
              <a:gd name="adj" fmla="val 38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260527" y="3081189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387477" y="3044726"/>
            <a:ext cx="8264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3 · Verification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60527" y="3231952"/>
            <a:ext cx="25196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260527" y="3400127"/>
            <a:ext cx="2519654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비결정론을 신뢰로 전환. 5-Layer 검증(Guardrails→BiasBuster→Cross-LLM→Rights→Ground Truth)으로 단일 LLM 편향을 차단합니다.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260527" y="4543871"/>
            <a:ext cx="2470249" cy="212527"/>
          </a:xfrm>
          <a:prstGeom prst="roundRect">
            <a:avLst>
              <a:gd name="adj" fmla="val 2390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349377" y="4607272"/>
            <a:ext cx="23383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VerificationPipeline · CrossLLM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943451" y="2908250"/>
            <a:ext cx="2743349" cy="1984623"/>
          </a:xfrm>
          <a:prstGeom prst="roundRect">
            <a:avLst>
              <a:gd name="adj" fmla="val 38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079927" y="3081189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206877" y="3044726"/>
            <a:ext cx="9243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4 · Observability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79927" y="3231952"/>
            <a:ext cx="25198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079927" y="3400127"/>
            <a:ext cx="251980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Hook Events가 신경계처럼 전파. TokenTracker로 실시간 비용 관측, CUSUM 드리프트 감지로 열화를 즉시 포착합니다.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079927" y="4543871"/>
            <a:ext cx="2470398" cy="212527"/>
          </a:xfrm>
          <a:prstGeom prst="roundRect">
            <a:avLst>
              <a:gd name="adj" fmla="val 2390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168777" y="4607272"/>
            <a:ext cx="233855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HookSystem · TokenTracker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457200" y="4956274"/>
            <a:ext cx="19960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4축은 서로 보완 — 하나의 결함이 전체 자율 실행을 무너뜨립니다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34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 ·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Loop: META → DEV → RUNTIME + 46 Hook 신경계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스캐폴드가 자기 자신을 개발하고, RUNTIME이 자율 실행합니다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7576"/>
            <a:ext cx="5969050" cy="653951"/>
          </a:xfrm>
          <a:prstGeom prst="roundRect">
            <a:avLst>
              <a:gd name="adj" fmla="val 11652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2776" y="1060252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776" y="1203127"/>
            <a:ext cx="6475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스캐폴드 루프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380976" y="971401"/>
            <a:ext cx="12650" cy="4063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520577" y="988368"/>
            <a:ext cx="3838685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스스로 GEODE를 개발합니다. 21 Skills + CANNOT 23-Rule + Socratic Gate로 요구사항을 정제하고 1,160 커밋을 생성했습니다.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20577" y="1275011"/>
            <a:ext cx="38386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harness-for-real 해커톤 · "키보드에 손이 닿는 순간 하네스의 실패다"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410944" y="1025426"/>
            <a:ext cx="853380" cy="298252"/>
          </a:xfrm>
          <a:prstGeom prst="roundRect">
            <a:avLst>
              <a:gd name="adj" fmla="val 1703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12445" y="1088827"/>
            <a:ext cx="6633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Skills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512445" y="1174552"/>
            <a:ext cx="6633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425줄 CLAUDE.md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97510" y="1577727"/>
            <a:ext cx="60884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Hook 이벤트 전파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1834902"/>
            <a:ext cx="5969050" cy="653951"/>
          </a:xfrm>
          <a:prstGeom prst="roundRect">
            <a:avLst>
              <a:gd name="adj" fmla="val 11652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2776" y="2047577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776" y="2190452"/>
            <a:ext cx="6475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루프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380976" y="1958727"/>
            <a:ext cx="12650" cy="4063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520577" y="1975693"/>
            <a:ext cx="410586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AgenticLoop가 PR 단위 코드를 자율 작성합니다. 8-Step Loop(Socratic→Plan→Code→Test→Hook→Review→Merge→Learn)로 70% 테스트 비율을 유지합니다.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520577" y="2262336"/>
            <a:ext cx="41058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typecheck+lint backpressure · LEARNINGS.md 패턴 축적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672882" y="2012752"/>
            <a:ext cx="591443" cy="298252"/>
          </a:xfrm>
          <a:prstGeom prst="roundRect">
            <a:avLst>
              <a:gd name="adj" fmla="val 1703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774382" y="2076152"/>
            <a:ext cx="3962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 Tests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5774382" y="2161877"/>
            <a:ext cx="3962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PRs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397510" y="2565053"/>
            <a:ext cx="60884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Hook 이벤트 전파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2822228"/>
            <a:ext cx="5969050" cy="653951"/>
          </a:xfrm>
          <a:prstGeom prst="roundRect">
            <a:avLst>
              <a:gd name="adj" fmla="val 11652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2776" y="3034903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776" y="3177778"/>
            <a:ext cx="6475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 실행 루프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1380976" y="2946053"/>
            <a:ext cx="12650" cy="4063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520577" y="2963019"/>
            <a:ext cx="421394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50 라운드. 사용자 요청 → AgenticLoop → Tool 실행 → 결과 반환. 52 Tools + 45 MCP + 46 Hook이 완전 자율 실행을 구성합니다.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520577" y="3249662"/>
            <a:ext cx="421394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Brake · Scheduler · Gateway — 사람 없이 오래 실행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5778847" y="3000077"/>
            <a:ext cx="485477" cy="298252"/>
          </a:xfrm>
          <a:prstGeom prst="roundRect">
            <a:avLst>
              <a:gd name="adj" fmla="val 1703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880348" y="3063478"/>
            <a:ext cx="288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Tools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5880348" y="3149203"/>
            <a:ext cx="288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MCP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6553200" y="847576"/>
            <a:ext cx="2133600" cy="1746052"/>
          </a:xfrm>
          <a:prstGeom prst="roundRect">
            <a:avLst>
              <a:gd name="adj" fmla="val 4364"/>
            </a:avLst>
          </a:prstGeom>
          <a:solidFill>
            <a:srgbClr val="1E293B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689675" y="984052"/>
            <a:ext cx="50750" cy="152400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816626" y="998339"/>
            <a:ext cx="5565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신경계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671069" y="1212652"/>
            <a:ext cx="189786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671069" y="1536502"/>
            <a:ext cx="189786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842075" y="1733252"/>
            <a:ext cx="170824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LOOP_START / LOOP_END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TOOL_BEFORE / TOOL_AFTER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MEMORY_SAVE / LEARN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CONTEXT_COMPACT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AGENT_SPAWN / RETURN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689675" y="2285702"/>
            <a:ext cx="18978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기반 핸들러 실행. 핸들러 간 에러 격리로 한 이벤트 실패가 루프를 중단시키지 않습니다.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6553200" y="2669828"/>
            <a:ext cx="2133600" cy="727174"/>
          </a:xfrm>
          <a:prstGeom prst="roundRect">
            <a:avLst>
              <a:gd name="adj" fmla="val 1047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664226" y="2780854"/>
            <a:ext cx="19497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자기 증강 피드백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664226" y="2936379"/>
            <a:ext cx="1949779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4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이벤트 → MEMORY.md 인사이트 자동 축적 → 다음 세션 PromptAssembler가 반영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6664226" y="3200251"/>
            <a:ext cx="19497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3-Loop가 서로 강화합니다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553200" y="3473202"/>
            <a:ext cx="2133600" cy="1175742"/>
          </a:xfrm>
          <a:prstGeom prst="roundRect">
            <a:avLst>
              <a:gd name="adj" fmla="val 6481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664226" y="3584228"/>
            <a:ext cx="19497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왜 3중 루프인가?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664226" y="3739753"/>
            <a:ext cx="1949779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4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DEV+RUNTIME 2중 루프로는 규칙이 진화하지 않는다. 같은 실수가 반복되고 패턴이 코드베이스에 남는다.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6664226" y="4003625"/>
            <a:ext cx="930325" cy="397818"/>
          </a:xfrm>
          <a:prstGeom prst="roundRect">
            <a:avLst>
              <a:gd name="adj" fmla="val 957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740426" y="4054376"/>
            <a:ext cx="7934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2중 루프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6740426" y="4152751"/>
            <a:ext cx="793483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위반 반복 · 학습 없음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7645301" y="4003625"/>
            <a:ext cx="930473" cy="397818"/>
          </a:xfrm>
          <a:prstGeom prst="roundRect">
            <a:avLst>
              <a:gd name="adj" fmla="val 957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721501" y="4054376"/>
            <a:ext cx="7936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추가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7721501" y="4152751"/>
            <a:ext cx="793635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규칙이 CHANGELOG에서 진화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6664226" y="4452193"/>
            <a:ext cx="19497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비용: META 루프 투자 시간 ↑ · 수익: RUNTIME 품질 복리 ↑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457200" y="4956274"/>
            <a:ext cx="28068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META가 DEV를 낳고, DEV가 RUNTIME을 완성하고, RUNTIME이 META를 강화합니다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505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WHAT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Architecture: 187 모듈이 수직 분리된 이유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계층 시스템은 테스트와 교체가 불가능 — Port/Adapter로 LLM 종속성을 분리했습니다</a:t>
            </a:r>
            <a:endParaRPr lang="en-US" sz="800" dirty="0"/>
          </a:p>
        </p:txBody>
      </p:sp>
      <p:pic>
        <p:nvPicPr>
          <p:cNvPr id="6" name="Image 0" descr="/Users/mango/workspace/portfolio/geode/versions/v5/slides/assets/v028-diagram-3t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847576"/>
            <a:ext cx="5334000" cy="2476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14606" y="3374827"/>
            <a:ext cx="14289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수직 분리 · Hook이 모든 계층을 횡단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527899" y="847576"/>
            <a:ext cx="2158901" cy="5715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689824" y="971401"/>
            <a:ext cx="47545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257455" y="1020663"/>
            <a:ext cx="7998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257455" y="1160264"/>
            <a:ext cx="7998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 하위 계층별 분리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6527899" y="1495276"/>
            <a:ext cx="2158901" cy="5715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689824" y="1619101"/>
            <a:ext cx="3169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102078" y="1668363"/>
            <a:ext cx="6699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102078" y="1807964"/>
            <a:ext cx="6699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 횡단 관측 신경계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6527899" y="2142976"/>
            <a:ext cx="2158901" cy="993577"/>
          </a:xfrm>
          <a:prstGeom prst="roundRect">
            <a:avLst>
              <a:gd name="adj" fmla="val 766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689824" y="2266801"/>
            <a:ext cx="187175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계층별 역할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816775" y="2434977"/>
            <a:ext cx="17081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Gateway: 채널 입력 라우팅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Orchestrator: AgenticLoop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Tool/Agent: 52 Tools + Sub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LLM: 3-Provider Failover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Memory: 4-Tier 학습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6689824" y="2927003"/>
            <a:ext cx="18717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→ LLM 교체 시 나머지 불변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6527899" y="3212753"/>
            <a:ext cx="2158901" cy="1105942"/>
          </a:xfrm>
          <a:prstGeom prst="roundRect">
            <a:avLst>
              <a:gd name="adj" fmla="val 6890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689824" y="3336578"/>
            <a:ext cx="187175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6-Layer인가?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689824" y="3504754"/>
            <a:ext cx="1871752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4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3-Layer(Presentation/Business/Data)는 에이전트에 맞지 않는다. 도구·메모리·오케스트레이션이 독립적으로 교체되어야 한다.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6816775" y="3875187"/>
            <a:ext cx="1708100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4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교체 → L4만 변경, 나머지 불변</a:t>
            </a:r>
            <a:endParaRPr lang="en-US" sz="600" dirty="0"/>
          </a:p>
          <a:p>
            <a:pPr algn="l" marL="342900" indent="-342900">
              <a:lnSpc>
                <a:spcPts val="84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 백엔드 교체 → L5만 변경</a:t>
            </a:r>
            <a:endParaRPr lang="en-US" sz="600" dirty="0"/>
          </a:p>
          <a:p>
            <a:pPr algn="l" marL="342900" indent="-342900">
              <a:lnSpc>
                <a:spcPts val="84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추가 → L3만 확장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457200" y="4956274"/>
            <a:ext cx="16029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 modules · 3,201 tests · 46 hooks · v0.31.0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34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5525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EXECUTION LOOP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AgenticLoop: while(tool_use) 50 rounds × 200-turn Window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패턴을 참고해 설계 — 5가지 경로로만 종료합니다</a:t>
            </a:r>
            <a:endParaRPr lang="en-US" sz="800" dirty="0"/>
          </a:p>
        </p:txBody>
      </p:sp>
      <p:pic>
        <p:nvPicPr>
          <p:cNvPr id="6" name="Image 0" descr="/Users/mango/workspace/portfolio/geode/versions/v5/slides/assets/v028-diagram-agentic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838051"/>
            <a:ext cx="5079950" cy="2362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48678" y="3251002"/>
            <a:ext cx="1458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실행 흐름 · 루프백 + 5 종료 경로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426250" y="838051"/>
            <a:ext cx="2260550" cy="600075"/>
          </a:xfrm>
          <a:prstGeom prst="roundRect">
            <a:avLst>
              <a:gd name="adj" fmla="val 12698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83497" y="961876"/>
            <a:ext cx="4771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83497" y="1228576"/>
            <a:ext cx="4771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Rounds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7182892" y="961876"/>
            <a:ext cx="12650" cy="35242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317813" y="961876"/>
            <a:ext cx="4772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317813" y="1228576"/>
            <a:ext cx="4772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Window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7917359" y="961876"/>
            <a:ext cx="12650" cy="35242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052280" y="961876"/>
            <a:ext cx="4772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052280" y="1228576"/>
            <a:ext cx="4772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Paths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6426250" y="1514326"/>
            <a:ext cx="2260550" cy="996851"/>
          </a:xfrm>
          <a:prstGeom prst="roundRect">
            <a:avLst>
              <a:gd name="adj" fmla="val 764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588175" y="1638151"/>
            <a:ext cx="19754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5가지 종료 경로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715125" y="1806327"/>
            <a:ext cx="180975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end_turn</a:t>
            </a:r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LLM이 tool_use 없이 응답</a:t>
            </a:r>
            <a:endParaRPr lang="en-US" sz="6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max_rounds</a:t>
            </a:r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50라운드 도달</a:t>
            </a:r>
            <a:endParaRPr lang="en-US" sz="6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</a:t>
            </a:r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동일 에러 3회 반복 감지</a:t>
            </a:r>
            <a:endParaRPr lang="en-US" sz="6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force_text</a:t>
            </a:r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잔여 2라운드에서 텍스트 강제</a:t>
            </a:r>
            <a:endParaRPr lang="en-US" sz="6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budget_stop</a:t>
            </a:r>
            <a:pPr algn="l"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세션 비용 상한 초과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6426250" y="2587377"/>
            <a:ext cx="2260550" cy="851148"/>
          </a:xfrm>
          <a:prstGeom prst="roundRect">
            <a:avLst>
              <a:gd name="adj" fmla="val 895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588175" y="2711202"/>
            <a:ext cx="19754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관리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8175" y="2879378"/>
            <a:ext cx="1975434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메시지 초과 시 최초 사용자 메시지 보존 + bridge 삽입. 80%에서 compact, 95%에서 emergency prune 자동 발동.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6588175" y="3143250"/>
            <a:ext cx="19754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2회 연속 실패 → Provider 모델 체인 → Cross-Provider Fallback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6426250" y="3514725"/>
            <a:ext cx="2260550" cy="1127075"/>
          </a:xfrm>
          <a:prstGeom prst="roundRect">
            <a:avLst>
              <a:gd name="adj" fmla="val 6761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588175" y="3638550"/>
            <a:ext cx="19754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max 50 rounds?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6588175" y="3794075"/>
            <a:ext cx="1975434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4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실측 기반: 평균 </a:t>
            </a:r>
            <a:pPr algn="l" indent="0" marL="0">
              <a:lnSpc>
                <a:spcPts val="840"/>
              </a:lnSpc>
              <a:spcAft>
                <a:spcPts val="400"/>
              </a:spcAft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라운드</a:t>
            </a:r>
            <a:pPr algn="l" indent="0" marL="0">
              <a:lnSpc>
                <a:spcPts val="840"/>
              </a:lnSpc>
              <a:spcAft>
                <a:spcPts val="4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 자연 종료(end_turn). 50은 탈출 불가 상황의 안전망 — 긴 분석 작업에서 드물게 30+ 라운드 도달.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6588175" y="4164509"/>
            <a:ext cx="611684" cy="353467"/>
          </a:xfrm>
          <a:prstGeom prst="roundRect">
            <a:avLst>
              <a:gd name="adj" fmla="val 1077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659782" y="4215259"/>
            <a:ext cx="468469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659782" y="4381500"/>
            <a:ext cx="4684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라운드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7250609" y="4164509"/>
            <a:ext cx="611832" cy="353467"/>
          </a:xfrm>
          <a:prstGeom prst="roundRect">
            <a:avLst>
              <a:gd name="adj" fmla="val 1077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7322214" y="4215259"/>
            <a:ext cx="46862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1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322214" y="4381500"/>
            <a:ext cx="4686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심층 분석 시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7913191" y="4164509"/>
            <a:ext cx="611684" cy="353467"/>
          </a:xfrm>
          <a:prstGeom prst="roundRect">
            <a:avLst>
              <a:gd name="adj" fmla="val 1077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7984799" y="4215259"/>
            <a:ext cx="468469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984799" y="4381500"/>
            <a:ext cx="4684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안전망 상한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457200" y="4956274"/>
            <a:ext cx="256747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while(tool_use) 패턴 참고 · core/orchestration/agentic_loop.py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34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88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80975"/>
            <a:ext cx="19215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LONG-RUNNING SAFETY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70937" y="152400"/>
            <a:ext cx="715863" cy="190500"/>
          </a:xfrm>
          <a:prstGeom prst="roundRect">
            <a:avLst>
              <a:gd name="adj" fmla="val 26667"/>
            </a:avLst>
          </a:prstGeom>
          <a:solidFill>
            <a:srgbClr val="1A0A0A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81962" y="200025"/>
            <a:ext cx="5036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SLIDE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3936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자율 실행의 3대 위험과 자동 브레이크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60350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자율성과 안전의 균형 — 사람 없이 하네스를 보호하는 3가지 메커니즘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860375"/>
            <a:ext cx="2675483" cy="3327946"/>
          </a:xfrm>
          <a:prstGeom prst="roundRect">
            <a:avLst>
              <a:gd name="adj" fmla="val 2848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3675" y="99685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9698" y="1054001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8475" y="1049238"/>
            <a:ext cx="3872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폭발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3675" y="1288852"/>
            <a:ext cx="2402532" cy="531019"/>
          </a:xfrm>
          <a:prstGeom prst="roundRect">
            <a:avLst>
              <a:gd name="adj" fmla="val 9567"/>
            </a:avLst>
          </a:prstGeom>
          <a:solidFill>
            <a:srgbClr val="1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95176" y="1365052"/>
            <a:ext cx="22435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95176" y="1495127"/>
            <a:ext cx="224352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 × 200 turns 루프는 LLM API 턴이 급증하고, 복잡한 도구 사용은 비용을 예측 불가능하게 만듭니다.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93675" y="1883271"/>
            <a:ext cx="2402532" cy="674340"/>
          </a:xfrm>
          <a:prstGeom prst="roundRect">
            <a:avLst>
              <a:gd name="adj" fmla="val 7533"/>
            </a:avLst>
          </a:prstGeom>
          <a:solidFill>
            <a:srgbClr val="0D2A0D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4701" y="1968996"/>
            <a:ext cx="22240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브레이크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04701" y="2099072"/>
            <a:ext cx="2224090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비용이 budget 상한 초과 시 루프 자동 정지. TokenTracker가 실시간 누적 비용을 추적하며 예산 소진율을 /cost 대시보드에 노출합니다.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93675" y="3759845"/>
            <a:ext cx="2402532" cy="292001"/>
          </a:xfrm>
          <a:prstGeom prst="roundRect">
            <a:avLst>
              <a:gd name="adj" fmla="val 1739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2051" y="3820120"/>
            <a:ext cx="22498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P3 원칙 적용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692051" y="3905845"/>
            <a:ext cx="22498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budget_stop → LOOP_END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234184" y="860375"/>
            <a:ext cx="2675632" cy="3327946"/>
          </a:xfrm>
          <a:prstGeom prst="roundRect">
            <a:avLst>
              <a:gd name="adj" fmla="val 2848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70659" y="99685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56682" y="1054001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75459" y="1049238"/>
            <a:ext cx="3872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무한 루프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70659" y="1288852"/>
            <a:ext cx="2402681" cy="531019"/>
          </a:xfrm>
          <a:prstGeom prst="roundRect">
            <a:avLst>
              <a:gd name="adj" fmla="val 9567"/>
            </a:avLst>
          </a:prstGeom>
          <a:solidFill>
            <a:srgbClr val="1A0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72160" y="1365052"/>
            <a:ext cx="22436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472160" y="1495127"/>
            <a:ext cx="2243673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동일한 에러를 반복하며 수렴하지 못하면 50 rounds 전체를 낭비하고 의미 없는 결과를 반환합니다.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370659" y="1883271"/>
            <a:ext cx="2402681" cy="550069"/>
          </a:xfrm>
          <a:prstGeom prst="roundRect">
            <a:avLst>
              <a:gd name="adj" fmla="val 9235"/>
            </a:avLst>
          </a:prstGeom>
          <a:solidFill>
            <a:srgbClr val="0D2A0D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481685" y="1968996"/>
            <a:ext cx="22242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브레이크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481685" y="2099072"/>
            <a:ext cx="222424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에러 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3회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감지 시 수렴 판정 → 상위 모델로 에스컬레이션 후 재시도. 모델 체인 소진 시 Cross-Provider로 이동합니다.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370659" y="3759845"/>
            <a:ext cx="2402681" cy="292001"/>
          </a:xfrm>
          <a:prstGeom prst="roundRect">
            <a:avLst>
              <a:gd name="adj" fmla="val 1739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469035" y="3820120"/>
            <a:ext cx="22500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P4 원칙 적용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469035" y="3905845"/>
            <a:ext cx="22500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convergence → model escalation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6011317" y="860375"/>
            <a:ext cx="2675483" cy="3327946"/>
          </a:xfrm>
          <a:prstGeom prst="roundRect">
            <a:avLst>
              <a:gd name="adj" fmla="val 2848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47792" y="99685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233815" y="1054001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52592" y="1049238"/>
            <a:ext cx="3872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탐색 고착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47792" y="1288852"/>
            <a:ext cx="2402532" cy="531019"/>
          </a:xfrm>
          <a:prstGeom prst="roundRect">
            <a:avLst>
              <a:gd name="adj" fmla="val 9567"/>
            </a:avLst>
          </a:prstGeom>
          <a:solidFill>
            <a:srgbClr val="1A15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249293" y="1365052"/>
            <a:ext cx="22435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249293" y="1495127"/>
            <a:ext cx="224352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동일한 도구를 반복 호출하며 다른 접근을 시도하지 않으면 탐색 공간이 축소되고 결과 품질이 저하됩니다.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147792" y="1883271"/>
            <a:ext cx="2402532" cy="550069"/>
          </a:xfrm>
          <a:prstGeom prst="roundRect">
            <a:avLst>
              <a:gd name="adj" fmla="val 9235"/>
            </a:avLst>
          </a:prstGeom>
          <a:solidFill>
            <a:srgbClr val="0D2A0D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258818" y="1968996"/>
            <a:ext cx="22240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브레이크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258818" y="2099072"/>
            <a:ext cx="222409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도구 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5회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연속 사용 감지 시 다른 접근을 유도하는 hint 자동 주입. 탐색 다양성을 강제합니다.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147792" y="3759845"/>
            <a:ext cx="2402532" cy="292001"/>
          </a:xfrm>
          <a:prstGeom prst="roundRect">
            <a:avLst>
              <a:gd name="adj" fmla="val 1739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246168" y="3820120"/>
            <a:ext cx="22498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다양성 강제 (Diversity Forcing)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246168" y="3905845"/>
            <a:ext cx="22498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tool_repeat_5x → hint_inject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457200" y="4289822"/>
            <a:ext cx="8229600" cy="603052"/>
          </a:xfrm>
          <a:prstGeom prst="roundRect">
            <a:avLst>
              <a:gd name="adj" fmla="val 12636"/>
            </a:avLst>
          </a:prstGeom>
          <a:solidFill>
            <a:srgbClr val="1E293B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44426" y="4400848"/>
            <a:ext cx="50750" cy="381000"/>
          </a:xfrm>
          <a:prstGeom prst="roundRect">
            <a:avLst>
              <a:gd name="adj" fmla="val 50049"/>
            </a:avLst>
          </a:prstGeom>
          <a:solidFill>
            <a:srgbClr val="8B94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822127" y="4457998"/>
            <a:ext cx="62150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자율성 vs 안전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22127" y="4619923"/>
            <a:ext cx="621503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브레이크가 강할수록 자율 실행 범위가 줄어듭니다. 3가지 임계값(budget 한도, 수렴 횟수 3회, 반복 횟수 5회)은 사용자가 조정 가능합니다. 기본값은 실험적으로 도출했습니다.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57200" y="4956274"/>
            <a:ext cx="23875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자동 브레이크 → 사람 없이 장기 실행 가능 · core/orchestration/safety.py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34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88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80975"/>
            <a:ext cx="2176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LONG-RUNNING INNOVATION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70937" y="152400"/>
            <a:ext cx="715863" cy="190500"/>
          </a:xfrm>
          <a:prstGeom prst="roundRect">
            <a:avLst>
              <a:gd name="adj" fmla="val 26667"/>
            </a:avLst>
          </a:prstGeom>
          <a:solidFill>
            <a:srgbClr val="1A0A0A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81962" y="200025"/>
            <a:ext cx="5036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SLIDE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3936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장시간 운용을 위한 2가지 혁신: Plan-first + Provider-aware Compaction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60350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복잡한 작업의 사전 계획 + 컨텍스트 포화를 프로바이더별 전략으로 해결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860375"/>
            <a:ext cx="50750" cy="177701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4150" y="877788"/>
            <a:ext cx="9079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혁신 1 · Plan-first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114276"/>
            <a:ext cx="3981450" cy="3226296"/>
          </a:xfrm>
          <a:prstGeom prst="roundRect">
            <a:avLst>
              <a:gd name="adj" fmla="val 2362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3675" y="1250752"/>
            <a:ext cx="3708499" cy="276225"/>
          </a:xfrm>
          <a:prstGeom prst="roundRect">
            <a:avLst>
              <a:gd name="adj" fmla="val 18391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17500" y="1346002"/>
            <a:ext cx="2331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022300" y="1336477"/>
            <a:ext cx="5993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요청 수신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3675" y="1590377"/>
            <a:ext cx="3708499" cy="276225"/>
          </a:xfrm>
          <a:prstGeom prst="roundRect">
            <a:avLst>
              <a:gd name="adj" fmla="val 18391"/>
            </a:avLst>
          </a:prstGeom>
          <a:solidFill>
            <a:srgbClr val="1A0D00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17500" y="1676102"/>
            <a:ext cx="417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복잡도 판별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845719" y="1685627"/>
            <a:ext cx="3392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steps?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93675" y="1930003"/>
            <a:ext cx="1822549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8696" y="2015728"/>
            <a:ext cx="16325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요청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688696" y="2126754"/>
            <a:ext cx="16325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직접 실행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2479625" y="1930003"/>
            <a:ext cx="1822549" cy="368201"/>
          </a:xfrm>
          <a:prstGeom prst="roundRect">
            <a:avLst>
              <a:gd name="adj" fmla="val 13797"/>
            </a:avLst>
          </a:prstGeom>
          <a:solidFill>
            <a:srgbClr val="1A0D00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574646" y="2015728"/>
            <a:ext cx="16325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 요청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574646" y="2126754"/>
            <a:ext cx="16325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create_plan 자발 호출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93675" y="2361605"/>
            <a:ext cx="3708499" cy="276225"/>
          </a:xfrm>
          <a:prstGeom prst="roundRect">
            <a:avLst>
              <a:gd name="adj" fmla="val 18391"/>
            </a:avLst>
          </a:prstGeom>
          <a:solidFill>
            <a:srgbClr val="0D2A0D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17500" y="2456855"/>
            <a:ext cx="4261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1211461" y="2447330"/>
            <a:ext cx="136472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계획 승인 대기 → 확인 후 실행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93675" y="2714030"/>
            <a:ext cx="3708499" cy="323552"/>
          </a:xfrm>
          <a:prstGeom prst="roundRect">
            <a:avLst>
              <a:gd name="adj" fmla="val 1570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95176" y="2777430"/>
            <a:ext cx="35756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잘못된 방향으로 50 rounds를 소모하기 전에 사람이 개입할 수 있습니다.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695176" y="2888456"/>
            <a:ext cx="35756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LLM.create_plan() → user_approval_gate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565600" y="860375"/>
            <a:ext cx="12650" cy="3480197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05201" y="860375"/>
            <a:ext cx="50750" cy="177701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32152" y="877788"/>
            <a:ext cx="19509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혁신 2 · Provider-aware Compaction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5201" y="1114276"/>
            <a:ext cx="3981599" cy="3226296"/>
          </a:xfrm>
          <a:prstGeom prst="roundRect">
            <a:avLst>
              <a:gd name="adj" fmla="val 2362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41677" y="1250752"/>
            <a:ext cx="3708648" cy="285750"/>
          </a:xfrm>
          <a:prstGeom prst="roundRect">
            <a:avLst>
              <a:gd name="adj" fmla="val 17778"/>
            </a:avLst>
          </a:prstGeom>
          <a:solidFill>
            <a:srgbClr val="1A1500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65502" y="1336477"/>
            <a:ext cx="2073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45001" y="1341239"/>
            <a:ext cx="14711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윈도우 포화 → 프로바이더 분기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841677" y="1599902"/>
            <a:ext cx="1822549" cy="2217241"/>
          </a:xfrm>
          <a:prstGeom prst="roundRect">
            <a:avLst>
              <a:gd name="adj" fmla="val 2787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952702" y="1710928"/>
            <a:ext cx="16325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952702" y="1856929"/>
            <a:ext cx="163250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서버사이드 compaction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952702" y="2014240"/>
            <a:ext cx="1632508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compact_20260112 + clear_tool_uses. API가 직접 컨텍스트를 압축.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952702" y="3518892"/>
            <a:ext cx="1600498" cy="187226"/>
          </a:xfrm>
          <a:prstGeom prst="roundRect">
            <a:avLst>
              <a:gd name="adj" fmla="val 20350"/>
            </a:avLst>
          </a:prstGeom>
          <a:solidFill>
            <a:srgbClr val="0D2A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028902" y="3569643"/>
            <a:ext cx="14770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최상 / API 종속적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6727627" y="1599902"/>
            <a:ext cx="1822698" cy="2217241"/>
          </a:xfrm>
          <a:prstGeom prst="roundRect">
            <a:avLst>
              <a:gd name="adj" fmla="val 2787"/>
            </a:avLst>
          </a:prstGeom>
          <a:solidFill>
            <a:srgbClr val="0D1117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838652" y="1710928"/>
            <a:ext cx="16326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/ GLM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838652" y="1856929"/>
            <a:ext cx="163265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클라이언트사이드 compaction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6838652" y="2014240"/>
            <a:ext cx="1632659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요약 기반 압축. 80% 도달 시 직접 요약 삽입.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838652" y="3518892"/>
            <a:ext cx="1600646" cy="187226"/>
          </a:xfrm>
          <a:prstGeom prst="roundRect">
            <a:avLst>
              <a:gd name="adj" fmla="val 20350"/>
            </a:avLst>
          </a:prstGeom>
          <a:solidFill>
            <a:srgbClr val="1A15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914852" y="3569643"/>
            <a:ext cx="14772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범용적 / lossy 손실 있음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841677" y="3880545"/>
            <a:ext cx="3708648" cy="323552"/>
          </a:xfrm>
          <a:prstGeom prst="roundRect">
            <a:avLst>
              <a:gd name="adj" fmla="val 1570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943177" y="3943945"/>
            <a:ext cx="35757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context_action.py hook이 프로바이더를 감지하여 전략을 자동 선택합니다.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943177" y="4054971"/>
            <a:ext cx="35757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context_action.py → provider_strategy()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457200" y="4391323"/>
            <a:ext cx="8229600" cy="501551"/>
          </a:xfrm>
          <a:prstGeom prst="roundRect">
            <a:avLst>
              <a:gd name="adj" fmla="val 15193"/>
            </a:avLst>
          </a:prstGeom>
          <a:solidFill>
            <a:srgbClr val="1E293B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44426" y="4489698"/>
            <a:ext cx="50750" cy="304800"/>
          </a:xfrm>
          <a:prstGeom prst="roundRect">
            <a:avLst>
              <a:gd name="adj" fmla="val 50049"/>
            </a:avLst>
          </a:prstGeom>
          <a:solidFill>
            <a:srgbClr val="8B94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822127" y="4589711"/>
            <a:ext cx="693322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서버사이드 compaction은 API 종속적이지만 품질 최상. 클라이언트는 범용적이지만 lossy. Plan-first는 자율성을 일부 제한하지만 잘못된 방향의 50 rounds 낭비를 사전 차단합니다.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57200" y="4956274"/>
            <a:ext cx="235904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core/context/context_action.py · core/orchestration/plan_manager.py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34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88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80975"/>
            <a:ext cx="19380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SCHEDULER + GATEWAY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70937" y="152400"/>
            <a:ext cx="715863" cy="190500"/>
          </a:xfrm>
          <a:prstGeom prst="roundRect">
            <a:avLst>
              <a:gd name="adj" fmla="val 26667"/>
            </a:avLst>
          </a:prstGeom>
          <a:solidFill>
            <a:srgbClr val="0A1A1A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81962" y="200025"/>
            <a:ext cx="5036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SLIDE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3936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+ Gateway: 시간 기반 자율 실행과 채널 라우팅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60350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세션 격리로 메인 대화 오염 방지 · 채널 무관 단일 세션 관리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860375"/>
            <a:ext cx="50750" cy="1524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4150" y="874663"/>
            <a:ext cx="146491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— 시간 기반 자율 실행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88975"/>
            <a:ext cx="3981450" cy="939701"/>
          </a:xfrm>
          <a:prstGeom prst="roundRect">
            <a:avLst>
              <a:gd name="adj" fmla="val 810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81025" y="1212800"/>
            <a:ext cx="17941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스케줄 유형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07975" y="1368326"/>
            <a:ext cx="163204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특정 시각 1회 실행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간격 반복 실행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cron 표현식 실행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81025" y="1733401"/>
            <a:ext cx="17941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Parser: "매일 오전 9시에 리포트 생성" → AT/EVERY/CRON으로 파싱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2441525" y="1212800"/>
            <a:ext cx="12650" cy="69205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55677" y="1212800"/>
            <a:ext cx="17943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흐름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555677" y="1368326"/>
            <a:ext cx="1794331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파싱 → action_queue 등록 → 트리거 시각 도달 → AgenticLoop 위임. 큐 관리로 동시 실행 충돌을 방지합니다.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2555677" y="1738759"/>
            <a:ext cx="17943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action_queue → AgenticLoop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57200" y="2104876"/>
            <a:ext cx="3981450" cy="961579"/>
          </a:xfrm>
          <a:prstGeom prst="roundRect">
            <a:avLst>
              <a:gd name="adj" fmla="val 7924"/>
            </a:avLst>
          </a:prstGeom>
          <a:solidFill>
            <a:srgbClr val="0A1A1A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1025" y="2255639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7975" y="2228701"/>
            <a:ext cx="12479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세션 격리 (isolated=True)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81025" y="2479328"/>
            <a:ext cx="1092101" cy="231577"/>
          </a:xfrm>
          <a:prstGeom prst="roundRect">
            <a:avLst>
              <a:gd name="adj" fmla="val 21937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0447" y="2552254"/>
            <a:ext cx="91325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트리거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723876" y="2523679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01726" y="2396877"/>
            <a:ext cx="1092250" cy="396627"/>
          </a:xfrm>
          <a:prstGeom prst="roundRect">
            <a:avLst>
              <a:gd name="adj" fmla="val 12808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991146" y="2469803"/>
            <a:ext cx="9134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ConversationContext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1991146" y="2653903"/>
            <a:ext cx="91340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isolated=True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3044726" y="2523679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22575" y="2434977"/>
            <a:ext cx="1092250" cy="320427"/>
          </a:xfrm>
          <a:prstGeom prst="roundRect">
            <a:avLst>
              <a:gd name="adj" fmla="val 1585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11996" y="2507903"/>
            <a:ext cx="9134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311996" y="2606278"/>
            <a:ext cx="91340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실행</a:t>
            </a:r>
            <a:endParaRPr lang="en-US" sz="500" dirty="0"/>
          </a:p>
        </p:txBody>
      </p:sp>
      <p:sp>
        <p:nvSpPr>
          <p:cNvPr id="31" name="Text 29"/>
          <p:cNvSpPr/>
          <p:nvPr/>
        </p:nvSpPr>
        <p:spPr>
          <a:xfrm>
            <a:off x="581025" y="2856905"/>
            <a:ext cx="38084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격리 기본값 — 메인 대화 컨텍스트를 오염시키지 않습니다. systemEvent로 메인에 결과 주입도 가능합니다.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565600" y="860375"/>
            <a:ext cx="12650" cy="3480197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05201" y="860375"/>
            <a:ext cx="50750" cy="1524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32152" y="874663"/>
            <a:ext cx="12718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— 채널 무관 라우팅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05201" y="1088975"/>
            <a:ext cx="3981599" cy="3251597"/>
          </a:xfrm>
          <a:prstGeom prst="roundRect">
            <a:avLst>
              <a:gd name="adj" fmla="val 2343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29026" y="1212800"/>
            <a:ext cx="885825" cy="329952"/>
          </a:xfrm>
          <a:prstGeom prst="roundRect">
            <a:avLst>
              <a:gd name="adj" fmla="val 15396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94552" y="1285726"/>
            <a:ext cx="7547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894552" y="1393627"/>
            <a:ext cx="75477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메시지 이벤트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5778252" y="1212800"/>
            <a:ext cx="885974" cy="329952"/>
          </a:xfrm>
          <a:prstGeom prst="roundRect">
            <a:avLst>
              <a:gd name="adj" fmla="val 15396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843777" y="1285726"/>
            <a:ext cx="754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843777" y="1393627"/>
            <a:ext cx="75492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 알림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6727627" y="1212800"/>
            <a:ext cx="885974" cy="329952"/>
          </a:xfrm>
          <a:prstGeom prst="roundRect">
            <a:avLst>
              <a:gd name="adj" fmla="val 15396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793151" y="1285726"/>
            <a:ext cx="754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793151" y="1393627"/>
            <a:ext cx="75492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입력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7677001" y="1212800"/>
            <a:ext cx="885974" cy="329952"/>
          </a:xfrm>
          <a:prstGeom prst="roundRect">
            <a:avLst>
              <a:gd name="adj" fmla="val 15396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742526" y="1285726"/>
            <a:ext cx="754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742526" y="1393627"/>
            <a:ext cx="75492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API</a:t>
            </a:r>
            <a:endParaRPr lang="en-US" sz="500" dirty="0"/>
          </a:p>
        </p:txBody>
      </p:sp>
      <p:sp>
        <p:nvSpPr>
          <p:cNvPr id="48" name="Text 46"/>
          <p:cNvSpPr/>
          <p:nvPr/>
        </p:nvSpPr>
        <p:spPr>
          <a:xfrm>
            <a:off x="4791687" y="1606153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29026" y="1812429"/>
            <a:ext cx="3733949" cy="377726"/>
          </a:xfrm>
          <a:prstGeom prst="roundRect">
            <a:avLst>
              <a:gd name="adj" fmla="val 13449"/>
            </a:avLst>
          </a:prstGeom>
          <a:solidFill>
            <a:srgbClr val="1A1A2E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917988" y="1898154"/>
            <a:ext cx="35560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ChannelBinding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917988" y="2018705"/>
            <a:ext cx="35560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채널별 어댑터 → 표준 메시지 변환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791687" y="2253555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829026" y="2459831"/>
            <a:ext cx="1835200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940052" y="2545556"/>
            <a:ext cx="16454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key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4940052" y="2656582"/>
            <a:ext cx="16454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채널:사용자 조합으로 세션 식별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6727627" y="2459831"/>
            <a:ext cx="1835348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838652" y="2545556"/>
            <a:ext cx="16455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LaneQueue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6838652" y="2656582"/>
            <a:ext cx="16455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 간 처리 순서 보장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4791687" y="2891433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829026" y="3097709"/>
            <a:ext cx="3733949" cy="377726"/>
          </a:xfrm>
          <a:prstGeom prst="roundRect">
            <a:avLst>
              <a:gd name="adj" fmla="val 13449"/>
            </a:avLst>
          </a:prstGeom>
          <a:solidFill>
            <a:srgbClr val="0A1A1A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917988" y="3183434"/>
            <a:ext cx="35560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serve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917988" y="3303984"/>
            <a:ext cx="35560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단일 진입점 — 채널 추가 시 어댑터 1개만 구현하면 됩니다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457200" y="4391323"/>
            <a:ext cx="8229600" cy="501551"/>
          </a:xfrm>
          <a:prstGeom prst="roundRect">
            <a:avLst>
              <a:gd name="adj" fmla="val 15193"/>
            </a:avLst>
          </a:prstGeom>
          <a:solidFill>
            <a:srgbClr val="1E293B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44426" y="4489698"/>
            <a:ext cx="50750" cy="304800"/>
          </a:xfrm>
          <a:prstGeom prst="roundRect">
            <a:avLst>
              <a:gd name="adj" fmla="val 50049"/>
            </a:avLst>
          </a:prstGeom>
          <a:solidFill>
            <a:srgbClr val="8B94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822127" y="4589711"/>
            <a:ext cx="685701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Cron은 격리가 기본 — 메인 대화 오염 방지. 단, systemEvent로 메인 주입도 가능하여 격리와 연계를 선택할 수 있습니다. Gateway는 채널 추가 시 어댑터 1개만 구현하면 됩니다.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457200" y="4956274"/>
            <a:ext cx="26647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core/scheduler/ · core/gateway/ · isolated=True → fresh ConversationContext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34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Dispatch: LLM tool_use → ToolExecutor 단일 진입점 → 4-Route 분기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tool_use 블록을 반환하는 순간, 모든 실행 경로는 ToolExecutor 하나로 수렴한다.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5486400" cy="1501378"/>
          </a:xfrm>
          <a:prstGeom prst="roundRect">
            <a:avLst>
              <a:gd name="adj" fmla="val 338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326" y="901452"/>
            <a:ext cx="52919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FLOW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6326" y="1079153"/>
            <a:ext cx="1396901" cy="345877"/>
          </a:xfrm>
          <a:prstGeom prst="roundRect">
            <a:avLst>
              <a:gd name="adj" fmla="val 14687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1562" y="1152079"/>
            <a:ext cx="11464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62" y="1266379"/>
            <a:ext cx="11464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tool_use 반환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2079427" y="1180654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2726" y="1079153"/>
            <a:ext cx="3511748" cy="345877"/>
          </a:xfrm>
          <a:prstGeom prst="roundRect">
            <a:avLst>
              <a:gd name="adj" fmla="val 14687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386813" y="1152079"/>
            <a:ext cx="33035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ToolExecutor.execute()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386813" y="1266379"/>
            <a:ext cx="33035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진입점 — 모든 도구 디스패치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54444" y="1488430"/>
            <a:ext cx="52919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도구 유형 판별 → 4경로 분기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606326" y="1637556"/>
            <a:ext cx="1249412" cy="543223"/>
          </a:xfrm>
          <a:prstGeom prst="roundRect">
            <a:avLst>
              <a:gd name="adj" fmla="val 9352"/>
            </a:avLst>
          </a:prstGeom>
          <a:solidFill>
            <a:srgbClr val="0D1117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1271" y="1735931"/>
            <a:ext cx="10995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Path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92051" y="1869281"/>
            <a:ext cx="109952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run_bash 계열 — 3-layer safety + PolicyChain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919139" y="1637556"/>
            <a:ext cx="1249561" cy="543223"/>
          </a:xfrm>
          <a:prstGeom prst="roundRect">
            <a:avLst>
              <a:gd name="adj" fmla="val 9352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994083" y="1735931"/>
            <a:ext cx="10996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004864" y="1869281"/>
            <a:ext cx="1099673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핸들러 매칭 — 52 native tools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232100" y="1637556"/>
            <a:ext cx="1249412" cy="543223"/>
          </a:xfrm>
          <a:prstGeom prst="roundRect">
            <a:avLst>
              <a:gd name="adj" fmla="val 9352"/>
            </a:avLst>
          </a:prstGeom>
          <a:solidFill>
            <a:srgbClr val="0D1117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07046" y="1735931"/>
            <a:ext cx="10995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Path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317825" y="1869281"/>
            <a:ext cx="109952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catalog 서버 auto-discovery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544913" y="1637556"/>
            <a:ext cx="1249561" cy="543223"/>
          </a:xfrm>
          <a:prstGeom prst="roundRect">
            <a:avLst>
              <a:gd name="adj" fmla="val 9352"/>
            </a:avLst>
          </a:prstGeom>
          <a:solidFill>
            <a:srgbClr val="0D1117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619857" y="1735931"/>
            <a:ext cx="10996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DAG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630638" y="1869281"/>
            <a:ext cx="1099673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analyze_ip → 13-task StateGraph 실행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57200" y="2368004"/>
            <a:ext cx="5486400" cy="2569220"/>
          </a:xfrm>
          <a:prstGeom prst="roundRect">
            <a:avLst>
              <a:gd name="adj" fmla="val 197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06326" y="2479030"/>
            <a:ext cx="529191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SAFETY — 2개 이상 tool_use 시 ToolCallProcessor 분류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6326" y="2666256"/>
            <a:ext cx="997000" cy="533846"/>
          </a:xfrm>
          <a:prstGeom prst="roundRect">
            <a:avLst>
              <a:gd name="adj" fmla="val 9516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70740" y="2751981"/>
            <a:ext cx="8681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0740" y="2891582"/>
            <a:ext cx="8681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70740" y="3015407"/>
            <a:ext cx="868171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asyncio.gather 완전 병렬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1654076" y="2666256"/>
            <a:ext cx="997148" cy="533846"/>
          </a:xfrm>
          <a:prstGeom prst="roundRect">
            <a:avLst>
              <a:gd name="adj" fmla="val 9516"/>
            </a:avLst>
          </a:prstGeom>
          <a:solidFill>
            <a:srgbClr val="4ECDC4">
              <a:alpha val="8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718489" y="2751981"/>
            <a:ext cx="8683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718489" y="2891582"/>
            <a:ext cx="86832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Auto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1718489" y="3015407"/>
            <a:ext cx="868323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서버당 1회 자동 승인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2701975" y="2666256"/>
            <a:ext cx="997000" cy="533846"/>
          </a:xfrm>
          <a:prstGeom prst="roundRect">
            <a:avLst>
              <a:gd name="adj" fmla="val 9516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766389" y="2751981"/>
            <a:ext cx="8681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66389" y="2891582"/>
            <a:ext cx="8681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2766389" y="3015407"/>
            <a:ext cx="868171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일괄 승인 후 병렬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3749725" y="2666256"/>
            <a:ext cx="997000" cy="533846"/>
          </a:xfrm>
          <a:prstGeom prst="roundRect">
            <a:avLst>
              <a:gd name="adj" fmla="val 9516"/>
            </a:avLst>
          </a:prstGeom>
          <a:solidFill>
            <a:srgbClr val="F97316">
              <a:alpha val="8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814139" y="2751981"/>
            <a:ext cx="8681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814139" y="2891582"/>
            <a:ext cx="8681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3814139" y="3015407"/>
            <a:ext cx="868171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개별 HITL 승인 순차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4797475" y="2666256"/>
            <a:ext cx="997000" cy="533846"/>
          </a:xfrm>
          <a:prstGeom prst="roundRect">
            <a:avLst>
              <a:gd name="adj" fmla="val 9516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861889" y="2751981"/>
            <a:ext cx="8681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61889" y="2891582"/>
            <a:ext cx="8681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861889" y="3015407"/>
            <a:ext cx="868171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 + 사용자 에스컬레이션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6057900" y="790426"/>
            <a:ext cx="2628900" cy="1425029"/>
          </a:xfrm>
          <a:prstGeom prst="roundRect">
            <a:avLst>
              <a:gd name="adj" fmla="val 356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207026" y="901452"/>
            <a:ext cx="23772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Recovery Chain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207026" y="1079153"/>
            <a:ext cx="23772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연속 2회 실패 → 자동 복구 체인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6207026" y="1228279"/>
            <a:ext cx="698450" cy="180975"/>
          </a:xfrm>
          <a:prstGeom prst="roundRect">
            <a:avLst>
              <a:gd name="adj" fmla="val 21053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290669" y="1266379"/>
            <a:ext cx="5311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Retry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994327" y="1266379"/>
            <a:ext cx="103606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 backoff 동일 도구 재시도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207026" y="1460004"/>
            <a:ext cx="698450" cy="180975"/>
          </a:xfrm>
          <a:prstGeom prst="roundRect">
            <a:avLst>
              <a:gd name="adj" fmla="val 21053"/>
            </a:avLst>
          </a:prstGeom>
          <a:solidFill>
            <a:srgbClr val="4ECDC4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290669" y="1498104"/>
            <a:ext cx="5311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Alt Tool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994327" y="1498104"/>
            <a:ext cx="8596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카테고리 대체 도구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207026" y="1691729"/>
            <a:ext cx="698450" cy="180975"/>
          </a:xfrm>
          <a:prstGeom prst="roundRect">
            <a:avLst>
              <a:gd name="adj" fmla="val 21053"/>
            </a:avLst>
          </a:prstGeom>
          <a:solidFill>
            <a:srgbClr val="F5C542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290669" y="1729829"/>
            <a:ext cx="5311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Fallback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994327" y="1729829"/>
            <a:ext cx="7813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저렴한 도구로 강등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207026" y="1923455"/>
            <a:ext cx="698450" cy="180975"/>
          </a:xfrm>
          <a:prstGeom prst="roundRect">
            <a:avLst>
              <a:gd name="adj" fmla="val 21053"/>
            </a:avLst>
          </a:prstGeom>
          <a:solidFill>
            <a:srgbClr val="EF4444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6290669" y="1961555"/>
            <a:ext cx="5311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Escalate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6994327" y="1961555"/>
            <a:ext cx="7309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에스컬레이션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057900" y="2291655"/>
            <a:ext cx="2628900" cy="2645569"/>
          </a:xfrm>
          <a:prstGeom prst="roundRect">
            <a:avLst>
              <a:gd name="adj" fmla="val 193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6081713" y="2291655"/>
            <a:ext cx="0" cy="2645569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45126" y="2393156"/>
            <a:ext cx="23481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245126" y="2570857"/>
            <a:ext cx="234811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병렬 실행 속도 때문에 T0-1은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asyncio.gather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완전 병렬화하고, 안전 등급 보장 때문에 T3-4는 순차 개별 승인으로 격리했다.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6245126" y="2913459"/>
            <a:ext cx="234811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MAX_CONSECUTIVE_FAILURES = 2 · max_recovery = 3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457200" y="4987975"/>
            <a:ext cx="282781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tool_executor.py · policy.py · error_recovery.py — v0.31.0 · 52 native tools · 45 MCP · 5-Tier safety</a:t>
            </a:r>
            <a:endParaRPr lang="en-US" sz="500" dirty="0"/>
          </a:p>
        </p:txBody>
      </p:sp>
      <p:sp>
        <p:nvSpPr>
          <p:cNvPr id="71" name="Text 69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34</a:t>
            </a:r>
            <a:endParaRPr lang="en-US" sz="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System: 도구 실행 중 46개 이벤트 발화 → 리플 패턴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하드코딩 콜백으로는 확장 불가 → Claude Code·Devin·OpenHands 리서치 후 8카테고리 46이벤트로 개편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5029200" cy="629841"/>
          </a:xfrm>
          <a:prstGeom prst="roundRect">
            <a:avLst>
              <a:gd name="adj" fmla="val 806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790426"/>
            <a:ext cx="0" cy="629841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891927"/>
            <a:ext cx="4770311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DAG 노드 상태·검증 결과·드리프트·MEMORY.md 증강을 실시간 추적하려면 하드코딩 콜백으로는 확장이 불가능했다. 프론티어 3종 리서치 후 </a:t>
            </a:r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8카테고리 46이벤트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개편. PIPELINE_END 하나가 runs.jsonl 기록과 MEMORY.md 업데이트를 동시에 발동하는 </a:t>
            </a:r>
            <a:pPr algn="l" indent="0" marL="0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리플 패턴</a:t>
            </a:r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483668"/>
            <a:ext cx="5029200" cy="3453557"/>
          </a:xfrm>
          <a:prstGeom prst="roundRect">
            <a:avLst>
              <a:gd name="adj" fmla="val 147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6326" y="1594693"/>
            <a:ext cx="48255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EVENT CATEGORIES — 46 total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6326" y="1785045"/>
            <a:ext cx="2340025" cy="722114"/>
          </a:xfrm>
          <a:prstGeom prst="roundRect">
            <a:avLst>
              <a:gd name="adj" fmla="val 7035"/>
            </a:avLst>
          </a:prstGeom>
          <a:solidFill>
            <a:srgbClr val="0D1117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4701" y="1857970"/>
            <a:ext cx="21861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Lifecycle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04701" y="1978521"/>
            <a:ext cx="21861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 — START · END · ERROR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606326" y="2557909"/>
            <a:ext cx="2340025" cy="722263"/>
          </a:xfrm>
          <a:prstGeom prst="roundRect">
            <a:avLst>
              <a:gd name="adj" fmla="val 703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4701" y="2630835"/>
            <a:ext cx="21861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Execution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04701" y="2751386"/>
            <a:ext cx="21861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events — ENTER · EXIT · RETRY · ERROR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606326" y="3330922"/>
            <a:ext cx="2340025" cy="722263"/>
          </a:xfrm>
          <a:prstGeom prst="roundRect">
            <a:avLst>
              <a:gd name="adj" fmla="val 703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4701" y="3403848"/>
            <a:ext cx="21861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/ Verify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04701" y="3524399"/>
            <a:ext cx="21861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events — COMPLETE · FAIL · ESCALATE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606326" y="4103936"/>
            <a:ext cx="2340025" cy="722263"/>
          </a:xfrm>
          <a:prstGeom prst="roundRect">
            <a:avLst>
              <a:gd name="adj" fmla="val 703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04701" y="4176861"/>
            <a:ext cx="21861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Storage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04701" y="4297412"/>
            <a:ext cx="21861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events — SAVE · LOAD · UPDATE · PURGE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997101" y="1785045"/>
            <a:ext cx="2340173" cy="722114"/>
          </a:xfrm>
          <a:prstGeom prst="roundRect">
            <a:avLst>
              <a:gd name="adj" fmla="val 703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095476" y="1857970"/>
            <a:ext cx="21862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Change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095476" y="1978521"/>
            <a:ext cx="21862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 — ASSEMBLE · CACHE · UPDATE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997101" y="2557909"/>
            <a:ext cx="2340173" cy="722263"/>
          </a:xfrm>
          <a:prstGeom prst="roundRect">
            <a:avLst>
              <a:gd name="adj" fmla="val 703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095476" y="2630835"/>
            <a:ext cx="21862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095476" y="2751386"/>
            <a:ext cx="21862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events — SPAWN · COMPLETE · FAIL · TIMEOUT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2997101" y="3330922"/>
            <a:ext cx="2340173" cy="722263"/>
          </a:xfrm>
          <a:prstGeom prst="roundRect">
            <a:avLst>
              <a:gd name="adj" fmla="val 703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095476" y="3403848"/>
            <a:ext cx="21862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Overflow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095476" y="3524399"/>
            <a:ext cx="21862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 — 80% · 95% · OVERFLOW_ACTION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2997101" y="4103936"/>
            <a:ext cx="2340173" cy="722263"/>
          </a:xfrm>
          <a:prstGeom prst="roundRect">
            <a:avLst>
              <a:gd name="adj" fmla="val 703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095476" y="4176861"/>
            <a:ext cx="21862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HITL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095476" y="4297412"/>
            <a:ext cx="21862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 — REQUESTED · GRANTED · DENIED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5600700" y="790426"/>
            <a:ext cx="3086100" cy="2872234"/>
          </a:xfrm>
          <a:prstGeom prst="roundRect">
            <a:avLst>
              <a:gd name="adj" fmla="val 176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749826" y="901452"/>
            <a:ext cx="28436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MATURITY MODEL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49826" y="1079153"/>
            <a:ext cx="2787848" cy="342751"/>
          </a:xfrm>
          <a:prstGeom prst="roundRect">
            <a:avLst>
              <a:gd name="adj" fmla="val 14821"/>
            </a:avLst>
          </a:prstGeom>
          <a:solidFill>
            <a:srgbClr val="F97316">
              <a:alpha val="6000"/>
            </a:srgbClr>
          </a:solidFill>
          <a:ln w="9525">
            <a:solidFill>
              <a:srgbClr val="F973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860852" y="1139428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Autonomy — 백로그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860852" y="1256854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이력 → 자동 승인 룰 학습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749826" y="1460004"/>
            <a:ext cx="2787848" cy="352276"/>
          </a:xfrm>
          <a:prstGeom prst="roundRect">
            <a:avLst>
              <a:gd name="adj" fmla="val 14421"/>
            </a:avLst>
          </a:prstGeom>
          <a:solidFill>
            <a:srgbClr val="F5C542">
              <a:alpha val="6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860852" y="1520279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Decide — 현재 프론티어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860852" y="1637705"/>
            <a:ext cx="26171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CONTEXT_OVERFLOW_ACTION 전략 위임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749826" y="1850380"/>
            <a:ext cx="2787848" cy="352276"/>
          </a:xfrm>
          <a:prstGeom prst="roundRect">
            <a:avLst>
              <a:gd name="adj" fmla="val 14421"/>
            </a:avLst>
          </a:prstGeom>
          <a:solidFill>
            <a:srgbClr val="4ECDC4">
              <a:alpha val="6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860852" y="1910655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React — 자동 반응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860852" y="2028081"/>
            <a:ext cx="26171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DRIFT → 스냅샷 · PIPELINE_END → MEMORY.md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749826" y="2240756"/>
            <a:ext cx="2787848" cy="342751"/>
          </a:xfrm>
          <a:prstGeom prst="roundRect">
            <a:avLst>
              <a:gd name="adj" fmla="val 14821"/>
            </a:avLst>
          </a:prstGeom>
          <a:solidFill>
            <a:srgbClr val="34D399">
              <a:alpha val="6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860852" y="2301032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Observe — 기록만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860852" y="2418457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RunLog: ALL 46 events → runs.jsonl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600700" y="3726061"/>
            <a:ext cx="3086100" cy="578644"/>
          </a:xfrm>
          <a:prstGeom prst="roundRect">
            <a:avLst>
              <a:gd name="adj" fmla="val 877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5624513" y="3726061"/>
            <a:ext cx="0" cy="578644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87926" y="3814911"/>
            <a:ext cx="28144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StuckDetector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787926" y="3967311"/>
            <a:ext cx="281445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NODE_ENTER 후 </a:t>
            </a:r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120초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내 NODE_EXIT 없으면 파이프라인 강제 중단. Priority P30→P50→P85 핸들러 순서 보장.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600700" y="4368105"/>
            <a:ext cx="3086100" cy="569119"/>
          </a:xfrm>
          <a:prstGeom prst="roundRect">
            <a:avLst>
              <a:gd name="adj" fmla="val 892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5624513" y="4368105"/>
            <a:ext cx="0" cy="569119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87926" y="4456956"/>
            <a:ext cx="281445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Observer 오버헤드 vs 확장성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787926" y="4599831"/>
            <a:ext cx="281445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콜백보다 초기 등록 오버헤드가 있지만, 핸들러 간 에러 격리 덕분에 46이벤트가 독립적으로 확장된다.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57200" y="4987975"/>
            <a:ext cx="273324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core/hooks/ · 46 HookEvent enum members · 8 categories · Priority-chain · StuckDetector 120s</a:t>
            </a:r>
            <a:endParaRPr lang="en-US" sz="500" dirty="0"/>
          </a:p>
        </p:txBody>
      </p:sp>
      <p:sp>
        <p:nvSpPr>
          <p:cNvPr id="58" name="Text 56"/>
          <p:cNvSpPr/>
          <p:nvPr/>
        </p:nvSpPr>
        <p:spPr>
          <a:xfrm>
            <a:off x="8497491" y="4987975"/>
            <a:ext cx="19309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34</a:t>
            </a:r>
            <a:endParaRPr lang="en-US" sz="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③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Sub-Agent: delegate_task → SubAgentManager → IsolatedRunner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12725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병렬 서브에이전트가 결과를 반환할 때 부모 컨텍스트가 기하급수적으로 팽창했다 — full inheritance + 4096 guard로 해결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80901"/>
            <a:ext cx="5054501" cy="626120"/>
          </a:xfrm>
          <a:prstGeom prst="roundRect">
            <a:avLst>
              <a:gd name="adj" fmla="val 811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780901"/>
            <a:ext cx="0" cy="626120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882402"/>
            <a:ext cx="47961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 컨텍스트 폭발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7225" y="1056977"/>
            <a:ext cx="479611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서브에이전트 3개가 완전한 실행 컨텍스트를 반환하면 부모 컨텍스트가 200K를 즉시 초과. 서브에이전트 수에 비례해 기하급수적으로 팽창했다.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483221"/>
            <a:ext cx="5054501" cy="3454003"/>
          </a:xfrm>
          <a:prstGeom prst="roundRect">
            <a:avLst>
              <a:gd name="adj" fmla="val 147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9125" y="1594247"/>
            <a:ext cx="48252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full inheritance + 4096 Guard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19125" y="1784747"/>
            <a:ext cx="4730651" cy="384125"/>
          </a:xfrm>
          <a:prstGeom prst="roundRect">
            <a:avLst>
              <a:gd name="adj" fmla="val 13225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1023" y="1870472"/>
            <a:ext cx="45468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Agent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1023" y="1997422"/>
            <a:ext cx="45468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· MCP · skills · memory 전체 보유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2212330" y="2245072"/>
            <a:ext cx="1575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full inheritance (위임이지 파견이 아니다)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19125" y="2426047"/>
            <a:ext cx="1534567" cy="377726"/>
          </a:xfrm>
          <a:prstGeom prst="roundRect">
            <a:avLst>
              <a:gd name="adj" fmla="val 13449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04122" y="2511772"/>
            <a:ext cx="136457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A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04122" y="2632323"/>
            <a:ext cx="13645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200K window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2217093" y="2426047"/>
            <a:ext cx="1534716" cy="377726"/>
          </a:xfrm>
          <a:prstGeom prst="roundRect">
            <a:avLst>
              <a:gd name="adj" fmla="val 13449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302088" y="2511772"/>
            <a:ext cx="13647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B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302088" y="2632323"/>
            <a:ext cx="13647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200K window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815209" y="2426047"/>
            <a:ext cx="1534567" cy="377726"/>
          </a:xfrm>
          <a:prstGeom prst="roundRect">
            <a:avLst>
              <a:gd name="adj" fmla="val 13449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00206" y="2511772"/>
            <a:ext cx="136457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C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900206" y="2632323"/>
            <a:ext cx="13645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200K window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2224832" y="2879973"/>
            <a:ext cx="15494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반환 전 4096-token guard — 구조화 요약 압축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619125" y="3041898"/>
            <a:ext cx="4730651" cy="339477"/>
          </a:xfrm>
          <a:prstGeom prst="roundRect">
            <a:avLst>
              <a:gd name="adj" fmla="val 14964"/>
            </a:avLst>
          </a:prstGeom>
          <a:solidFill>
            <a:srgbClr val="F59E0B">
              <a:alpha val="8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11023" y="3114824"/>
            <a:ext cx="454685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Compressed Summary → Parent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11023" y="3222724"/>
            <a:ext cx="45468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원시 출력이 아닌 구조화 요약 반환 — 컨텍스트 폭발 방지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626001" y="780901"/>
            <a:ext cx="3060799" cy="1621631"/>
          </a:xfrm>
          <a:prstGeom prst="roundRect">
            <a:avLst>
              <a:gd name="adj" fmla="val 313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775127" y="891927"/>
            <a:ext cx="281779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동시성 제어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775127" y="1079153"/>
            <a:ext cx="2762548" cy="358676"/>
          </a:xfrm>
          <a:prstGeom prst="roundRect">
            <a:avLst>
              <a:gd name="adj" fmla="val 1416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794177" y="1079153"/>
            <a:ext cx="0" cy="358676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27527" y="1155353"/>
            <a:ext cx="254576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MAX_CONCURRENT = 5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927527" y="1275904"/>
            <a:ext cx="254576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scheduling — 동시 실행 서브에이전트 최대 5개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5775127" y="1501229"/>
            <a:ext cx="2762548" cy="358676"/>
          </a:xfrm>
          <a:prstGeom prst="roundRect">
            <a:avLst>
              <a:gd name="adj" fmla="val 1416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794177" y="1501229"/>
            <a:ext cx="0" cy="35867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27527" y="1577429"/>
            <a:ext cx="254576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 250ms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927527" y="1697980"/>
            <a:ext cx="254576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250ms 내 동일 태스크 중복 제거 — 토큰 낭비 방지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5775127" y="1923306"/>
            <a:ext cx="2762548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794177" y="1923306"/>
            <a:ext cx="0" cy="368201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27527" y="1999506"/>
            <a:ext cx="25457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깊이 3 = 유효 컨텍스트 600K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927527" y="2129582"/>
            <a:ext cx="254576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서브에이전트 독립 200K window — 깊이당 선형 확장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5626001" y="2478732"/>
            <a:ext cx="969466" cy="587127"/>
          </a:xfrm>
          <a:prstGeom prst="roundRect">
            <a:avLst>
              <a:gd name="adj" fmla="val 8652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729552" y="2589758"/>
            <a:ext cx="76236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5729552" y="2869109"/>
            <a:ext cx="7623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concurrent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671667" y="2478732"/>
            <a:ext cx="969466" cy="587127"/>
          </a:xfrm>
          <a:prstGeom prst="roundRect">
            <a:avLst>
              <a:gd name="adj" fmla="val 8652"/>
            </a:avLst>
          </a:prstGeom>
          <a:solidFill>
            <a:srgbClr val="161B22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775219" y="2589758"/>
            <a:ext cx="76236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4096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6775219" y="2869109"/>
            <a:ext cx="7623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guard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7717334" y="2478732"/>
            <a:ext cx="969466" cy="587127"/>
          </a:xfrm>
          <a:prstGeom prst="roundRect">
            <a:avLst>
              <a:gd name="adj" fmla="val 8652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7820885" y="2589758"/>
            <a:ext cx="76236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600K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7820885" y="2869109"/>
            <a:ext cx="7623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depth-3 ctx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5626001" y="3142059"/>
            <a:ext cx="3060799" cy="1795165"/>
          </a:xfrm>
          <a:prstGeom prst="roundRect">
            <a:avLst>
              <a:gd name="adj" fmla="val 28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5649813" y="3142059"/>
            <a:ext cx="0" cy="1795165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13227" y="3243560"/>
            <a:ext cx="27886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full inheritance vs sandbox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813227" y="3389561"/>
            <a:ext cx="2788652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 격리 sandbox는 안전하지만 부모의 tools·skills·memory를 재설정해야 해서 위임의 의미를 잃는다. full inheritance + 4096 guard가 서브에이전트에게 부모의 능력을 그대로 주면서 컨텍스트 폭발을 방지했다.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57200" y="4987975"/>
            <a:ext cx="314888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SubAgentManager · IsolatedRunner · CoalescingQueue 250ms · MAX_CONCURRENT=5 · 4096 token guard</a:t>
            </a:r>
            <a:endParaRPr lang="en-US" sz="500" dirty="0"/>
          </a:p>
        </p:txBody>
      </p:sp>
      <p:sp>
        <p:nvSpPr>
          <p:cNvPr id="57" name="Text 55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34</a:t>
            </a:r>
            <a:endParaRPr lang="en-US" sz="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④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Failover: 호출 실패 → CircuitBreaker → Cross-Provider Fallback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Provider 의존 때문에 Rate Limit·장애 시 파이프라인 전체가 중단됐다 — 3-Provider 체인으로 단일 장애점 제거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1422499" cy="1174552"/>
          </a:xfrm>
          <a:prstGeom prst="roundRect">
            <a:avLst>
              <a:gd name="adj" fmla="val 432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799951"/>
            <a:ext cx="1422499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4150" y="923776"/>
            <a:ext cx="11919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4150" y="1088827"/>
            <a:ext cx="11919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Provider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84150" y="1250603"/>
            <a:ext cx="1168598" cy="161925"/>
          </a:xfrm>
          <a:prstGeom prst="roundRect">
            <a:avLst>
              <a:gd name="adj" fmla="val 23529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3001" y="1288703"/>
            <a:ext cx="10107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84150" y="1450628"/>
            <a:ext cx="1168598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2526" y="1498253"/>
            <a:ext cx="9912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84150" y="1669703"/>
            <a:ext cx="1168598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2526" y="1717328"/>
            <a:ext cx="9912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031950" y="1268164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42220" y="1420564"/>
            <a:ext cx="8273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500" dirty="0"/>
          </a:p>
        </p:txBody>
      </p:sp>
      <p:sp>
        <p:nvSpPr>
          <p:cNvPr id="18" name="Text 16"/>
          <p:cNvSpPr/>
          <p:nvPr/>
        </p:nvSpPr>
        <p:spPr>
          <a:xfrm>
            <a:off x="2285851" y="790426"/>
            <a:ext cx="1422648" cy="1174552"/>
          </a:xfrm>
          <a:prstGeom prst="roundRect">
            <a:avLst>
              <a:gd name="adj" fmla="val 432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285851" y="799951"/>
            <a:ext cx="1422648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12802" y="923776"/>
            <a:ext cx="11921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12802" y="1088827"/>
            <a:ext cx="11921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Provider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412802" y="1250603"/>
            <a:ext cx="1168747" cy="161925"/>
          </a:xfrm>
          <a:prstGeom prst="roundRect">
            <a:avLst>
              <a:gd name="adj" fmla="val 23529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501652" y="1288703"/>
            <a:ext cx="10108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GPT-5.4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412802" y="1450628"/>
            <a:ext cx="1168747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511177" y="1498253"/>
            <a:ext cx="99143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GPT-5.3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412802" y="1669703"/>
            <a:ext cx="1168747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511177" y="1717328"/>
            <a:ext cx="99143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860750" y="1268164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71020" y="1420564"/>
            <a:ext cx="8273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4114651" y="790426"/>
            <a:ext cx="1422499" cy="1174552"/>
          </a:xfrm>
          <a:prstGeom prst="roundRect">
            <a:avLst>
              <a:gd name="adj" fmla="val 432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114651" y="799951"/>
            <a:ext cx="1422499" cy="0"/>
          </a:xfrm>
          <a:prstGeom prst="line">
            <a:avLst/>
          </a:prstGeom>
          <a:noFill/>
          <a:ln w="19050">
            <a:solidFill>
              <a:srgbClr val="F5C5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41602" y="923776"/>
            <a:ext cx="11919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ZhipuAI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241602" y="1088827"/>
            <a:ext cx="11919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Resort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241602" y="1250603"/>
            <a:ext cx="1168598" cy="161925"/>
          </a:xfrm>
          <a:prstGeom prst="roundRect">
            <a:avLst>
              <a:gd name="adj" fmla="val 23529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330452" y="1288703"/>
            <a:ext cx="10107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GLM-5 / 80K ctx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241602" y="1450628"/>
            <a:ext cx="1168598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339977" y="1498253"/>
            <a:ext cx="9912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 tier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241602" y="1669703"/>
            <a:ext cx="1168598" cy="180975"/>
          </a:xfrm>
          <a:prstGeom prst="roundRect">
            <a:avLst>
              <a:gd name="adj" fmla="val 2105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339977" y="1717328"/>
            <a:ext cx="9912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최후 보루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57200" y="2041178"/>
            <a:ext cx="5079950" cy="2886521"/>
          </a:xfrm>
          <a:prstGeom prst="roundRect">
            <a:avLst>
              <a:gd name="adj" fmla="val 176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06326" y="2152204"/>
            <a:ext cx="48773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상태 머신 (Provider별 독립)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6326" y="2364730"/>
            <a:ext cx="1284089" cy="365075"/>
          </a:xfrm>
          <a:prstGeom prst="roundRect">
            <a:avLst>
              <a:gd name="adj" fmla="val 13915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06731" y="2450455"/>
            <a:ext cx="10832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06731" y="2558355"/>
            <a:ext cx="10832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처리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966615" y="2440930"/>
            <a:ext cx="4226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5회 연속 실패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2122884" y="2539305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457152" y="2364730"/>
            <a:ext cx="1284238" cy="365075"/>
          </a:xfrm>
          <a:prstGeom prst="roundRect">
            <a:avLst>
              <a:gd name="adj" fmla="val 13915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2557556" y="2450455"/>
            <a:ext cx="10834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557556" y="2558355"/>
            <a:ext cx="10834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 차단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3817590" y="2440930"/>
            <a:ext cx="21419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 후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871764" y="2539305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103787" y="2364730"/>
            <a:ext cx="1284238" cy="365075"/>
          </a:xfrm>
          <a:prstGeom prst="roundRect">
            <a:avLst>
              <a:gd name="adj" fmla="val 13915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204191" y="2450455"/>
            <a:ext cx="10834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HALF-OPEN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204191" y="2558355"/>
            <a:ext cx="10834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 1회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606326" y="2793206"/>
            <a:ext cx="48773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Retryable: Timeout · RateLimit · Connection — Exponential Backoff ±25% Jitter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606326" y="2942332"/>
            <a:ext cx="48773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Non-Retryable: 잔액 부족 — 즉시 다음 Provider 에스컬레이션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651450" y="790426"/>
            <a:ext cx="3035350" cy="905321"/>
          </a:xfrm>
          <a:prstGeom prst="roundRect">
            <a:avLst>
              <a:gd name="adj" fmla="val 561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800576" y="901452"/>
            <a:ext cx="27918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추상화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800576" y="1076027"/>
            <a:ext cx="279184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 Provider를 Port/Adapter DI로 추상화했기 때문에 Failover 시에도 메모리가 모델에 종속되지 않는다. 세션 학습이 Provider 전환 후에도 유지된다.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800576" y="1387971"/>
            <a:ext cx="2737098" cy="196751"/>
          </a:xfrm>
          <a:prstGeom prst="roundRect">
            <a:avLst>
              <a:gd name="adj" fmla="val 1936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902077" y="1443484"/>
            <a:ext cx="6064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LLMClientPort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6572845" y="1438721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738045" y="1443484"/>
            <a:ext cx="13059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 · OpenAI · ZhipuAI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651450" y="1771948"/>
            <a:ext cx="3035350" cy="645170"/>
          </a:xfrm>
          <a:prstGeom prst="roundRect">
            <a:avLst>
              <a:gd name="adj" fmla="val 7874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5800576" y="1882973"/>
            <a:ext cx="27918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ZhipuAI 선택 근거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800576" y="2057549"/>
            <a:ext cx="279184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80K context + 무료 tier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Anthropic·OpenAI 양쪽 장애 시 비용 없이 운영 연속성을 보장한다. GLM-5 성능이 GPT-4 수준이라 응급 처리에 충분하다.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651450" y="2493318"/>
            <a:ext cx="3035350" cy="2434382"/>
          </a:xfrm>
          <a:prstGeom prst="roundRect">
            <a:avLst>
              <a:gd name="adj" fmla="val 208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5675263" y="2493318"/>
            <a:ext cx="0" cy="2434382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38676" y="2594818"/>
            <a:ext cx="276269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3-Provider 유지 비용 vs 단일 장애점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838676" y="2750344"/>
            <a:ext cx="2762694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어댑터 3개 유지 비용이 있지만, 단일 Provider 장애로 파이프라인 전체가 중단되는 비용이 훨씬 크다. ZhipuAI 무료 tier 덕분에 추가 비용 없이 단일 장애점을 제거했다.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878529" y="3251448"/>
            <a:ext cx="31970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72" name="Text 70"/>
          <p:cNvSpPr/>
          <p:nvPr/>
        </p:nvSpPr>
        <p:spPr>
          <a:xfrm>
            <a:off x="6878529" y="3505498"/>
            <a:ext cx="31970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7294522" y="3251448"/>
            <a:ext cx="21161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7294522" y="3505498"/>
            <a:ext cx="2116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SPOF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457200" y="4978450"/>
            <a:ext cx="347632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Anthropic(Opus·Sonnet·Haiku) · OpenAI(GPT-5.4·5.3·4o) · ZhipuAI(GLM-5 80K) — Provider별 독립 CircuitBreaker 3-state</a:t>
            </a:r>
            <a:endParaRPr lang="en-US" sz="500" dirty="0"/>
          </a:p>
        </p:txBody>
      </p:sp>
      <p:sp>
        <p:nvSpPr>
          <p:cNvPr id="76" name="Text 74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34</a:t>
            </a:r>
            <a:endParaRPr lang="en-US" sz="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⑤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Compression: 80% WARNING → 95% CRITICAL → 3-Phase 압축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윈도우가 넘치면 루프가 강제 종료됐다 — Lossless Selection으로 정보 손실 없이 비용 0.03%로 절감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47152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압축 3-Phase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990451"/>
            <a:ext cx="4622750" cy="603945"/>
          </a:xfrm>
          <a:prstGeom prst="roundRect">
            <a:avLst>
              <a:gd name="adj" fmla="val 841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995214"/>
            <a:ext cx="46227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75188" y="990451"/>
            <a:ext cx="0" cy="603945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89633"/>
            <a:ext cx="46227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6250" y="990451"/>
            <a:ext cx="0" cy="603945"/>
          </a:xfrm>
          <a:prstGeom prst="line">
            <a:avLst/>
          </a:prstGeom>
          <a:noFill/>
          <a:ln w="38100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901" y="1101477"/>
            <a:ext cx="43818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MONITOR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34901" y="1234827"/>
            <a:ext cx="438184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사용률 상시 추적. </a:t>
            </a:r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도달 시 CONTEXT_WARNING 이벤트 발화 — 루프는 계속 진행하되 compact 준비 신호를 핸들러에게 전달한다.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743051" y="1670596"/>
            <a:ext cx="51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1861096"/>
            <a:ext cx="4622750" cy="966192"/>
          </a:xfrm>
          <a:prstGeom prst="roundRect">
            <a:avLst>
              <a:gd name="adj" fmla="val 525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57200" y="1865858"/>
            <a:ext cx="46227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5188" y="1861096"/>
            <a:ext cx="0" cy="966192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22525"/>
            <a:ext cx="46227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6250" y="1861096"/>
            <a:ext cx="0" cy="966192"/>
          </a:xfrm>
          <a:prstGeom prst="line">
            <a:avLst/>
          </a:prstGeom>
          <a:noFill/>
          <a:ln w="38100">
            <a:solidFill>
              <a:srgbClr val="2126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901" y="1972121"/>
            <a:ext cx="43818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LOSSLESS SELECT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34901" y="2105471"/>
            <a:ext cx="438184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 요약 대신 LLM이 코드로 관련 청크만 선별한다. 요약이 아니라 선택이기 때문에 </a:t>
            </a:r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손실 0%</a:t>
            </a:r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LLM 호출 비용 </a:t>
            </a:r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0.03%</a:t>
            </a:r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절감. 깊이 3이면 서브에이전트 독립 200K window로 유효 컨텍스트 600K 선형 확장.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34901" y="2417415"/>
            <a:ext cx="2116187" cy="298847"/>
          </a:xfrm>
          <a:prstGeom prst="roundRect">
            <a:avLst>
              <a:gd name="adj" fmla="val 1274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44426" y="2417415"/>
            <a:ext cx="0" cy="298847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2801" y="2468166"/>
            <a:ext cx="19578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 요약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742801" y="2566541"/>
            <a:ext cx="1957825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쉽지만 정보 소실 불가피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814489" y="2417415"/>
            <a:ext cx="2116336" cy="298847"/>
          </a:xfrm>
          <a:prstGeom prst="roundRect">
            <a:avLst>
              <a:gd name="adj" fmla="val 1274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2824014" y="2417415"/>
            <a:ext cx="0" cy="298847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2389" y="2468166"/>
            <a:ext cx="195797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Lossless Selection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2922389" y="2566541"/>
            <a:ext cx="1957977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청크만 선별 — 내용 유지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2743051" y="2903488"/>
            <a:ext cx="51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3093988"/>
            <a:ext cx="4622750" cy="603945"/>
          </a:xfrm>
          <a:prstGeom prst="roundRect">
            <a:avLst>
              <a:gd name="adj" fmla="val 841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57200" y="3098750"/>
            <a:ext cx="4622750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75188" y="3093988"/>
            <a:ext cx="0" cy="603945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693170"/>
            <a:ext cx="4622750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6250" y="3093988"/>
            <a:ext cx="0" cy="603945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4901" y="3205014"/>
            <a:ext cx="43818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EMERGENCY PRUNE (95%)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34901" y="3338364"/>
            <a:ext cx="438184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초과 시 CONTEXT_CRITICAL 이벤트 — 강제 pruning 발동. 최초 사용자 메시지 보존 + bridge 메시지 삽입 후 루프 재개.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57200" y="3774132"/>
            <a:ext cx="4622750" cy="588169"/>
          </a:xfrm>
          <a:prstGeom prst="roundRect">
            <a:avLst>
              <a:gd name="adj" fmla="val 8637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93675" y="3872508"/>
            <a:ext cx="443679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정보 손실 vs 크래시 방지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93675" y="4015383"/>
            <a:ext cx="443679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 요약은 구현이 쉽지만 정보가 사라진다. Lossless Selection은 LLM 호출 비용이 있지만 0.03%의 비용으로 정보 손실을 막았다.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206901" y="790426"/>
            <a:ext cx="3479899" cy="1596182"/>
          </a:xfrm>
          <a:prstGeom prst="roundRect">
            <a:avLst>
              <a:gd name="adj" fmla="val 318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356027" y="914251"/>
            <a:ext cx="32452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임계값 단계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356027" y="1114276"/>
            <a:ext cx="3181648" cy="349002"/>
          </a:xfrm>
          <a:prstGeom prst="roundRect">
            <a:avLst>
              <a:gd name="adj" fmla="val 14556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492502" y="1187202"/>
            <a:ext cx="599173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0-79%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181427" y="1236315"/>
            <a:ext cx="8719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운영 — 모니터링만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356027" y="1514029"/>
            <a:ext cx="3181648" cy="349002"/>
          </a:xfrm>
          <a:prstGeom prst="roundRect">
            <a:avLst>
              <a:gd name="adj" fmla="val 14556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492502" y="1586954"/>
            <a:ext cx="569875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152704" y="1636068"/>
            <a:ext cx="13876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— Lossless Select 준비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356027" y="1913781"/>
            <a:ext cx="3181648" cy="349002"/>
          </a:xfrm>
          <a:prstGeom prst="roundRect">
            <a:avLst>
              <a:gd name="adj" fmla="val 14556"/>
            </a:avLst>
          </a:prstGeom>
          <a:solidFill>
            <a:srgbClr val="F97316">
              <a:alpha val="8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492502" y="1986707"/>
            <a:ext cx="569875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152704" y="2035820"/>
            <a:ext cx="145823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— Emergency Prune 발동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206901" y="2462808"/>
            <a:ext cx="3479899" cy="1690539"/>
          </a:xfrm>
          <a:prstGeom prst="roundRect">
            <a:avLst>
              <a:gd name="adj" fmla="val 300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356027" y="2586633"/>
            <a:ext cx="32452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깊이별 유효 컨텍스트 선형 확장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356027" y="2810321"/>
            <a:ext cx="6735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깊이 1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117878" y="2773859"/>
            <a:ext cx="2419796" cy="177701"/>
          </a:xfrm>
          <a:prstGeom prst="roundRect">
            <a:avLst>
              <a:gd name="adj" fmla="val 21441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206728" y="2815084"/>
            <a:ext cx="2167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200K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356027" y="3038773"/>
            <a:ext cx="6735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깊이 2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117878" y="3002310"/>
            <a:ext cx="2419796" cy="177701"/>
          </a:xfrm>
          <a:prstGeom prst="roundRect">
            <a:avLst>
              <a:gd name="adj" fmla="val 21441"/>
            </a:avLst>
          </a:prstGeom>
          <a:solidFill>
            <a:srgbClr val="818CF8">
              <a:alpha val="1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206728" y="3043535"/>
            <a:ext cx="2167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400K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356027" y="3267224"/>
            <a:ext cx="6735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깊이 3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117878" y="3230761"/>
            <a:ext cx="2419796" cy="177701"/>
          </a:xfrm>
          <a:prstGeom prst="roundRect">
            <a:avLst>
              <a:gd name="adj" fmla="val 21441"/>
            </a:avLst>
          </a:prstGeom>
          <a:solidFill>
            <a:srgbClr val="818CF8">
              <a:alpha val="2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206728" y="3267224"/>
            <a:ext cx="69663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600K ← 선형 확장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356027" y="3484662"/>
            <a:ext cx="324528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6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서브에이전트는 부모와 독립된 200K window를 가지기 때문에 깊이가 1 증가할 때마다 200K씩 선형으로 확장된다.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206901" y="4229546"/>
            <a:ext cx="3479899" cy="698153"/>
          </a:xfrm>
          <a:prstGeom prst="roundRect">
            <a:avLst>
              <a:gd name="adj" fmla="val 7276"/>
            </a:avLst>
          </a:prstGeom>
          <a:solidFill>
            <a:srgbClr val="0D2B1E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5324210" y="4340572"/>
            <a:ext cx="3245281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0.03%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5324210" y="4645223"/>
            <a:ext cx="324528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Lossless Select 압축 비용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324210" y="4730948"/>
            <a:ext cx="324528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(Lossy 요약 대비 정보 손실 없음)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457200" y="4978450"/>
            <a:ext cx="323753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CONTEXT_WARNING 80% · CONTEXT_CRITICAL 95% · Lossless Selection · Emergency Prune · bridge 메시지</a:t>
            </a:r>
            <a:endParaRPr lang="en-US" sz="500" dirty="0"/>
          </a:p>
        </p:txBody>
      </p:sp>
      <p:sp>
        <p:nvSpPr>
          <p:cNvPr id="69" name="Text 67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34</a:t>
            </a:r>
            <a:endParaRPr lang="en-US" sz="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+ Auto-Learning: 턴 종료 → TURN_COMPLETE hook → MEMORY.md 자동 학습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세션이 끝나면 인사이트가 휘발됐다 — PIPELINE_END 이벤트가 MEMORY.md에 자동 축적, 다음 세션에 반영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5029200" cy="1346299"/>
          </a:xfrm>
          <a:prstGeom prst="roundRect">
            <a:avLst>
              <a:gd name="adj" fmla="val 377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326" y="914251"/>
            <a:ext cx="48255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AUTO-LEARNING FEEDBACK LOOP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6326" y="1130052"/>
            <a:ext cx="1424583" cy="374600"/>
          </a:xfrm>
          <a:prstGeom prst="roundRect">
            <a:avLst>
              <a:gd name="adj" fmla="val 13561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8381" y="1215777"/>
            <a:ext cx="12004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턴 실행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18381" y="1333202"/>
            <a:ext cx="12004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1 turn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2094309" y="1260128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259360" y="1134814"/>
            <a:ext cx="1424732" cy="365075"/>
          </a:xfrm>
          <a:prstGeom prst="roundRect">
            <a:avLst>
              <a:gd name="adj" fmla="val 13915"/>
            </a:avLst>
          </a:prstGeom>
          <a:solidFill>
            <a:srgbClr val="F97316">
              <a:alpha val="12000"/>
            </a:srgbClr>
          </a:solidFill>
          <a:ln w="9525">
            <a:solidFill>
              <a:srgbClr val="F973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371414" y="1220539"/>
            <a:ext cx="12006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TURN_COMPLETE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371414" y="1328440"/>
            <a:ext cx="120062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이벤트 발화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747492" y="1260128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912543" y="1134814"/>
            <a:ext cx="1424732" cy="365075"/>
          </a:xfrm>
          <a:prstGeom prst="roundRect">
            <a:avLst>
              <a:gd name="adj" fmla="val 13915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24597" y="1220539"/>
            <a:ext cx="12006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MEMORY.md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024597" y="1328440"/>
            <a:ext cx="120062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인사이트 자동 축적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932831" y="1568053"/>
            <a:ext cx="21194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→ memory write-back → 다음 세션 Tier 3 주입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606326" y="1717179"/>
            <a:ext cx="4730948" cy="295721"/>
          </a:xfrm>
          <a:prstGeom prst="roundRect">
            <a:avLst>
              <a:gd name="adj" fmla="val 17178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8221" y="1802904"/>
            <a:ext cx="454715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세션 시작 시 PromptAssembler P4 (memory 페이즈)가 MEMORY.md 인사이트를 프롬프트에 자동 주입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" y="2212925"/>
            <a:ext cx="5029200" cy="2724299"/>
          </a:xfrm>
          <a:prstGeom prst="roundRect">
            <a:avLst>
              <a:gd name="adj" fmla="val 186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6326" y="2323951"/>
            <a:ext cx="48255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MEMORY 계층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6326" y="2536627"/>
            <a:ext cx="1135112" cy="2289572"/>
          </a:xfrm>
          <a:prstGeom prst="roundRect">
            <a:avLst>
              <a:gd name="adj" fmla="val 4475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17352" y="2622352"/>
            <a:ext cx="9313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 — Organization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17352" y="2838152"/>
            <a:ext cx="9313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불변 가이드라인 · CLAUDE.md · 전역 정책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1804839" y="2536627"/>
            <a:ext cx="1135261" cy="2289572"/>
          </a:xfrm>
          <a:prstGeom prst="roundRect">
            <a:avLst>
              <a:gd name="adj" fmla="val 4475"/>
            </a:avLst>
          </a:prstGeom>
          <a:solidFill>
            <a:srgbClr val="4ECDC4">
              <a:alpha val="8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915864" y="2622352"/>
            <a:ext cx="9314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— Project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915864" y="2742902"/>
            <a:ext cx="93147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간 인사이트 · LEARNINGS.md 자동 업데이트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003500" y="2536627"/>
            <a:ext cx="1135112" cy="2289572"/>
          </a:xfrm>
          <a:prstGeom prst="roundRect">
            <a:avLst>
              <a:gd name="adj" fmla="val 4475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114526" y="2622352"/>
            <a:ext cx="9313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— Session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114526" y="2742902"/>
            <a:ext cx="9313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단기 메모리 · 200 turns sliding window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202013" y="2536627"/>
            <a:ext cx="1135261" cy="2289572"/>
          </a:xfrm>
          <a:prstGeom prst="roundRect">
            <a:avLst>
              <a:gd name="adj" fmla="val 4475"/>
            </a:avLst>
          </a:prstGeom>
          <a:solidFill>
            <a:srgbClr val="F97316">
              <a:alpha val="8000"/>
            </a:srgbClr>
          </a:solidFill>
          <a:ln w="9525">
            <a:solidFill>
              <a:srgbClr val="F973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313039" y="2622352"/>
            <a:ext cx="9314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— Hybrid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313039" y="2742902"/>
            <a:ext cx="9314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L1 고속 캐시 + File L2 영속 저장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613350" y="790426"/>
            <a:ext cx="3073450" cy="1631454"/>
          </a:xfrm>
          <a:prstGeom prst="roundRect">
            <a:avLst>
              <a:gd name="adj" fmla="val 311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762476" y="914251"/>
            <a:ext cx="28307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Write-back 메커니즘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62476" y="1101477"/>
            <a:ext cx="2775198" cy="358676"/>
          </a:xfrm>
          <a:prstGeom prst="roundRect">
            <a:avLst>
              <a:gd name="adj" fmla="val 1416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5781526" y="1101477"/>
            <a:ext cx="0" cy="358676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14876" y="1177677"/>
            <a:ext cx="25586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hook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914876" y="1298228"/>
            <a:ext cx="25586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 종료 시 L2 React 핸들러 자동 실행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5762476" y="1510903"/>
            <a:ext cx="2775198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5781526" y="1510903"/>
            <a:ext cx="0" cy="368201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14876" y="1587103"/>
            <a:ext cx="25586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 추출 + 요약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914876" y="1717179"/>
            <a:ext cx="25586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인사이트·패턴·결정 이유를 구조화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5762476" y="1929854"/>
            <a:ext cx="2775198" cy="368201"/>
          </a:xfrm>
          <a:prstGeom prst="roundRect">
            <a:avLst>
              <a:gd name="adj" fmla="val 1379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5781526" y="1929854"/>
            <a:ext cx="0" cy="368201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14876" y="2006054"/>
            <a:ext cx="25586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MEMORY.md 누적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914876" y="2136130"/>
            <a:ext cx="25586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Project 메모리에 append — 세션 간 지속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5613350" y="2498080"/>
            <a:ext cx="3073450" cy="981521"/>
          </a:xfrm>
          <a:prstGeom prst="roundRect">
            <a:avLst>
              <a:gd name="adj" fmla="val 517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762476" y="2609106"/>
            <a:ext cx="28307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4-Tier인가?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762476" y="2783681"/>
            <a:ext cx="283070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메모리면 프로젝트 간 격리가 안 되고, 세션 메모리만으로는 인사이트가 휘발된다. 4-Tier로 범위별 TTL과 접근 권한을 분리했다.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762476" y="3082975"/>
            <a:ext cx="655737" cy="285601"/>
          </a:xfrm>
          <a:prstGeom prst="roundRect">
            <a:avLst>
              <a:gd name="adj" fmla="val 1334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820588" y="3133725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 영구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5820588" y="3232100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 불변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6468963" y="3082975"/>
            <a:ext cx="655737" cy="285601"/>
          </a:xfrm>
          <a:prstGeom prst="roundRect">
            <a:avLst>
              <a:gd name="adj" fmla="val 1334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527075" y="3133725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 장기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6527075" y="3232100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간 누적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7175450" y="3082975"/>
            <a:ext cx="655737" cy="285601"/>
          </a:xfrm>
          <a:prstGeom prst="roundRect">
            <a:avLst>
              <a:gd name="adj" fmla="val 1334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233562" y="3133725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TTL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7233562" y="3232100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단위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7881937" y="3082975"/>
            <a:ext cx="655737" cy="285601"/>
          </a:xfrm>
          <a:prstGeom prst="roundRect">
            <a:avLst>
              <a:gd name="adj" fmla="val 1334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7940049" y="3133725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고속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7940049" y="3232100"/>
            <a:ext cx="5395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캐시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613350" y="3555802"/>
            <a:ext cx="3073450" cy="588169"/>
          </a:xfrm>
          <a:prstGeom prst="roundRect">
            <a:avLst>
              <a:gd name="adj" fmla="val 863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762476" y="3654177"/>
            <a:ext cx="28307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Failover 후에도 메모리 유지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762476" y="3797052"/>
            <a:ext cx="283070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메모리가 LLMClientPort 추상화 위에 있기 때문에 Provider 전환 후에도 세션 학습 내용이 사라지지 않는다.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3350" y="4220170"/>
            <a:ext cx="3073450" cy="732830"/>
          </a:xfrm>
          <a:prstGeom prst="roundRect">
            <a:avLst>
              <a:gd name="adj" fmla="val 693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5637163" y="4220170"/>
            <a:ext cx="0" cy="732830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800576" y="4309021"/>
            <a:ext cx="280155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자동 학습 오버헤드 vs 지식 휘발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800576" y="4464546"/>
            <a:ext cx="2801556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PIPELINE_END마다 LLM 호출이 추가되지만, 세션마다 인사이트가 휘발되는 비용이 더 크다. write-back 덕분에 동일 분석 영역에서 세션이 누적될수록 품질이 개선된다.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457200" y="4987975"/>
            <a:ext cx="377265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TURN_COMPLETE · PIPELINE_END hook · 4-Tier: Session→Project→Org→Hybrid · Redis L1 + File L2 · MEMORY.md write-back</a:t>
            </a:r>
            <a:endParaRPr lang="en-US" sz="500" dirty="0"/>
          </a:p>
        </p:txBody>
      </p:sp>
      <p:sp>
        <p:nvSpPr>
          <p:cNvPr id="73" name="Text 71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34</a:t>
            </a:r>
            <a:endParaRPr lang="en-US" sz="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⑦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PromptAssembler: 다음 턴 준비 → 6-Phase 동적 조립 → SHA-256 추적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편집으로는 변경 추적이 불가능하고 캐시 히트율이 떨어졌다 — 6-Phase 조립으로 2회차부터 입력 비용 10%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55443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6-Phase 조립 파이프라인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990451"/>
            <a:ext cx="747117" cy="654844"/>
          </a:xfrm>
          <a:prstGeom prst="roundRect">
            <a:avLst>
              <a:gd name="adj" fmla="val 775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1009501"/>
            <a:ext cx="747117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555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40532"/>
            <a:ext cx="747117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963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2925" y="1117402"/>
            <a:ext cx="5871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42925" y="1237952"/>
            <a:ext cx="58718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42925" y="1348978"/>
            <a:ext cx="587181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기반 기본 구조 로드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255068" y="1270248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394817" y="990451"/>
            <a:ext cx="747266" cy="654844"/>
          </a:xfrm>
          <a:prstGeom prst="roundRect">
            <a:avLst>
              <a:gd name="adj" fmla="val 775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394817" y="1009501"/>
            <a:ext cx="747266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37321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94817" y="1640532"/>
            <a:ext cx="747266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99580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80542" y="1117402"/>
            <a:ext cx="58733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480542" y="1237952"/>
            <a:ext cx="5873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480542" y="1348978"/>
            <a:ext cx="587332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프로젝트별 파라미터 덮어쓰기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192834" y="1270248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332583" y="990451"/>
            <a:ext cx="747117" cy="654844"/>
          </a:xfrm>
          <a:prstGeom prst="roundRect">
            <a:avLst>
              <a:gd name="adj" fmla="val 775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2332583" y="1009501"/>
            <a:ext cx="747117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74938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2583" y="1640532"/>
            <a:ext cx="747117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37346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18308" y="1117402"/>
            <a:ext cx="5871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418308" y="1237952"/>
            <a:ext cx="58718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2418308" y="1348978"/>
            <a:ext cx="587181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Scaffold Skill 동적 주입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130451" y="1270248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270200" y="990451"/>
            <a:ext cx="747266" cy="654844"/>
          </a:xfrm>
          <a:prstGeom prst="roundRect">
            <a:avLst>
              <a:gd name="adj" fmla="val 775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3270200" y="1009501"/>
            <a:ext cx="747266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12704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70200" y="1640532"/>
            <a:ext cx="747266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74963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55925" y="1117402"/>
            <a:ext cx="58733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355925" y="1237952"/>
            <a:ext cx="5873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3355925" y="1348978"/>
            <a:ext cx="587332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메모리 인사이트 주입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068217" y="1270248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207966" y="990451"/>
            <a:ext cx="747117" cy="654844"/>
          </a:xfrm>
          <a:prstGeom prst="roundRect">
            <a:avLst>
              <a:gd name="adj" fmla="val 775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4207966" y="1009501"/>
            <a:ext cx="747117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50321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07966" y="1640532"/>
            <a:ext cx="747117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12729" y="990451"/>
            <a:ext cx="0" cy="65484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93691" y="1117402"/>
            <a:ext cx="5871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293691" y="1237952"/>
            <a:ext cx="58718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293691" y="1348978"/>
            <a:ext cx="587181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 초기화 bridge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5005834" y="1270248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145584" y="990451"/>
            <a:ext cx="747266" cy="654844"/>
          </a:xfrm>
          <a:prstGeom prst="roundRect">
            <a:avLst>
              <a:gd name="adj" fmla="val 775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5145584" y="1009501"/>
            <a:ext cx="747266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888087" y="990451"/>
            <a:ext cx="0" cy="654844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45584" y="1640532"/>
            <a:ext cx="747266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50346" y="990451"/>
            <a:ext cx="0" cy="654844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31309" y="1117402"/>
            <a:ext cx="58733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231309" y="1237952"/>
            <a:ext cx="5873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5231309" y="1348978"/>
            <a:ext cx="587332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메시지 배열 출력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457200" y="1721495"/>
            <a:ext cx="5435650" cy="644723"/>
          </a:xfrm>
          <a:prstGeom prst="roundRect">
            <a:avLst>
              <a:gd name="adj" fmla="val 787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457200" y="1726257"/>
            <a:ext cx="54356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88087" y="1721495"/>
            <a:ext cx="0" cy="64472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7200" y="2361456"/>
            <a:ext cx="54356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6250" y="1721495"/>
            <a:ext cx="0" cy="644723"/>
          </a:xfrm>
          <a:prstGeom prst="line">
            <a:avLst/>
          </a:prstGeom>
          <a:noFill/>
          <a:ln w="38100">
            <a:solidFill>
              <a:srgbClr val="21262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4901" y="1832521"/>
            <a:ext cx="52110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변경 추적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34901" y="1975396"/>
            <a:ext cx="521100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조립 후 SHA-256 해시 생성 — 동일 프롬프트 재조립 시 캐시 히트 판별. 수동 편집으로는 불가능했던 변경 추적을 코드 레벨에서 보장한다.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634901" y="2150418"/>
            <a:ext cx="52110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= sha256(assembled_prompt) → cache_key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457200" y="2442418"/>
            <a:ext cx="5435650" cy="2494806"/>
          </a:xfrm>
          <a:prstGeom prst="roundRect">
            <a:avLst>
              <a:gd name="adj" fmla="val 2036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606326" y="2553444"/>
            <a:ext cx="52401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조립 복잡도(6단계) vs 비용 절감(90%) + 재현성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06326" y="2708970"/>
            <a:ext cx="256823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— 수동 편집 3대 문제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06326" y="2851845"/>
            <a:ext cx="2517874" cy="342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90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 추적 불가 — drift 감지 없음</a:t>
            </a:r>
            <a:endParaRPr lang="en-US" sz="600" dirty="0"/>
          </a:p>
          <a:p>
            <a:pPr algn="l" marL="76200" indent="-76200">
              <a:lnSpc>
                <a:spcPts val="90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캐시 히트율 저하 — 매 요청 100% 비용</a:t>
            </a:r>
            <a:endParaRPr lang="en-US" sz="600" dirty="0"/>
          </a:p>
          <a:p>
            <a:pPr algn="l" marL="76200" indent="-76200">
              <a:lnSpc>
                <a:spcPts val="90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 간 프롬프트 불일치 — 7 노드 각자 편집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3225701" y="2708970"/>
            <a:ext cx="256838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6-Phase 조립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3225701" y="2851845"/>
            <a:ext cx="2518023" cy="342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900"/>
              </a:lnSpc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SHA-256으로 drift 감지 — 동일 해시면 재조립 스킵</a:t>
            </a:r>
            <a:endParaRPr lang="en-US" sz="600" dirty="0"/>
          </a:p>
          <a:p>
            <a:pPr algn="l" marL="76200" indent="-76200">
              <a:lnSpc>
                <a:spcPts val="900"/>
              </a:lnSpc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캐시 100% 유지 — 2회차부터 입력 비용 10%</a:t>
            </a:r>
            <a:endParaRPr lang="en-US" sz="600" dirty="0"/>
          </a:p>
          <a:p>
            <a:pPr algn="l" marL="76200" indent="-76200">
              <a:lnSpc>
                <a:spcPts val="900"/>
              </a:lnSpc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7노드 동일 프롬프트 1 cache entry 공유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6019800" y="790426"/>
            <a:ext cx="2667000" cy="799951"/>
          </a:xfrm>
          <a:prstGeom prst="roundRect">
            <a:avLst>
              <a:gd name="adj" fmla="val 6350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6132335" y="926902"/>
            <a:ext cx="24419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400" dirty="0"/>
          </a:p>
        </p:txBody>
      </p:sp>
      <p:sp>
        <p:nvSpPr>
          <p:cNvPr id="76" name="Text 74"/>
          <p:cNvSpPr/>
          <p:nvPr/>
        </p:nvSpPr>
        <p:spPr>
          <a:xfrm>
            <a:off x="6132335" y="1269802"/>
            <a:ext cx="24419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2회차+ 입력 비용</a:t>
            </a:r>
            <a:endParaRPr lang="en-US" sz="600" dirty="0"/>
          </a:p>
        </p:txBody>
      </p:sp>
      <p:sp>
        <p:nvSpPr>
          <p:cNvPr id="77" name="Text 75"/>
          <p:cNvSpPr/>
          <p:nvPr/>
        </p:nvSpPr>
        <p:spPr>
          <a:xfrm>
            <a:off x="6132335" y="1368177"/>
            <a:ext cx="24419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1회차 100%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6019800" y="1666577"/>
            <a:ext cx="2667000" cy="854571"/>
          </a:xfrm>
          <a:prstGeom prst="roundRect">
            <a:avLst>
              <a:gd name="adj" fmla="val 594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6156275" y="1777603"/>
            <a:ext cx="24419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cache_control: ephemeral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6156275" y="1910953"/>
            <a:ext cx="244193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파이프라인 내 7개 노드가 동일 시스템 프롬프트를 공유. ephemeral 마킹 1회로 전체 캐시 적용.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6156275" y="2222897"/>
            <a:ext cx="2394049" cy="187226"/>
          </a:xfrm>
          <a:prstGeom prst="roundRect">
            <a:avLst>
              <a:gd name="adj" fmla="val 2035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6245126" y="2273647"/>
            <a:ext cx="22606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nodes × same system prompt → 1 cache entry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6019800" y="2597348"/>
            <a:ext cx="2667000" cy="603945"/>
          </a:xfrm>
          <a:prstGeom prst="roundRect">
            <a:avLst>
              <a:gd name="adj" fmla="val 841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6156275" y="2708374"/>
            <a:ext cx="24419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— 21 Scaffold Skills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6156275" y="2841724"/>
            <a:ext cx="244193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태스크 유형에 따라 필요한 스킬만 동적 선택 주입 — 프롬프트 크기 최적화.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6019800" y="3277493"/>
            <a:ext cx="2667000" cy="1659731"/>
          </a:xfrm>
          <a:prstGeom prst="roundRect">
            <a:avLst>
              <a:gd name="adj" fmla="val 3061"/>
            </a:avLst>
          </a:prstGeom>
          <a:solidFill>
            <a:srgbClr val="1E293B"/>
          </a:solidFill>
          <a:ln w="9525">
            <a:solidFill>
              <a:srgbClr val="F973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6156275" y="3388519"/>
            <a:ext cx="24419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PROMPT_ASSEMBLE hook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6156275" y="3521869"/>
            <a:ext cx="244193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 완료 시 Prompt Change 카테고리 이벤트 발화 — 캐시 상태와 조립 결과를 관측 레이어에 전달.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457200" y="4987975"/>
            <a:ext cx="321886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 6-Phase · SHA-256 cache_key · cache_control: ephemeral · 21 skills · 7-node prompt sharing</a:t>
            </a:r>
            <a:endParaRPr lang="en-US" sz="500" dirty="0"/>
          </a:p>
        </p:txBody>
      </p:sp>
      <p:sp>
        <p:nvSpPr>
          <p:cNvPr id="90" name="Text 88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34</a:t>
            </a:r>
            <a:endParaRPr lang="en-US" sz="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 — 실행 흐름 ⑧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+ Cost: 외부 도구 호출 → 45 Catalog + TokenTracker 비용 관측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257줄 삭제 스토리 + 자체 TokenTracker — while(tool_use) 루프 비용을 /cost CLI로 실시간 관측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4724400" cy="3077021"/>
          </a:xfrm>
          <a:prstGeom prst="roundRect">
            <a:avLst>
              <a:gd name="adj" fmla="val 165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326" y="901452"/>
            <a:ext cx="45146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아키텍처 진화: 3계층 → 2계층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6326" y="1088678"/>
            <a:ext cx="4426148" cy="730151"/>
          </a:xfrm>
          <a:prstGeom prst="roundRect">
            <a:avLst>
              <a:gd name="adj" fmla="val 6957"/>
            </a:avLst>
          </a:prstGeom>
          <a:solidFill>
            <a:srgbClr val="0D1117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0151" y="1174403"/>
            <a:ext cx="42620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— 3계층 (병목)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0151" y="1317278"/>
            <a:ext cx="1248966" cy="292001"/>
          </a:xfrm>
          <a:prstGeom prst="roundRect">
            <a:avLst>
              <a:gd name="adj" fmla="val 17397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8004" y="1377553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818004" y="1463278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257줄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2042517" y="1415653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94917" y="1317278"/>
            <a:ext cx="1248966" cy="292001"/>
          </a:xfrm>
          <a:prstGeom prst="roundRect">
            <a:avLst>
              <a:gd name="adj" fmla="val 17397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282770" y="1377553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282770" y="1463278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검색+관리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507284" y="1415653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659684" y="1317278"/>
            <a:ext cx="1248966" cy="292001"/>
          </a:xfrm>
          <a:prstGeom prst="roundRect">
            <a:avLst>
              <a:gd name="adj" fmla="val 17397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747537" y="1377553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3747537" y="1463278"/>
            <a:ext cx="10732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 설정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730151" y="1647379"/>
            <a:ext cx="42620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Registry가 LLM 도구 탐색 막는 병목 · Proxy stub 9개 중복 · auto-discovery 불가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982391" y="1882229"/>
            <a:ext cx="17073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Registry 257줄 삭제 + Proxy stub 9개 제거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06326" y="2050405"/>
            <a:ext cx="4426148" cy="730151"/>
          </a:xfrm>
          <a:prstGeom prst="roundRect">
            <a:avLst>
              <a:gd name="adj" fmla="val 6957"/>
            </a:avLst>
          </a:prstGeom>
          <a:solidFill>
            <a:srgbClr val="0D1117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30151" y="2136130"/>
            <a:ext cx="42620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2계층 (탐색 자유도)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30151" y="2279005"/>
            <a:ext cx="1981349" cy="292001"/>
          </a:xfrm>
          <a:prstGeom prst="roundRect">
            <a:avLst>
              <a:gd name="adj" fmla="val 17397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10680" y="2339280"/>
            <a:ext cx="18202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810680" y="2425005"/>
            <a:ext cx="18202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전용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2774900" y="2377380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927300" y="2279005"/>
            <a:ext cx="1981349" cy="292001"/>
          </a:xfrm>
          <a:prstGeom prst="roundRect">
            <a:avLst>
              <a:gd name="adj" fmla="val 17397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007830" y="2339280"/>
            <a:ext cx="18202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config.toml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3007830" y="2425005"/>
            <a:ext cx="18202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[mcp.servers] 통합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730151" y="2609106"/>
            <a:ext cx="42620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catalog servers auto-discovery · API key 부재 시 dry-run 자동 전환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06326" y="2843957"/>
            <a:ext cx="4426148" cy="912465"/>
          </a:xfrm>
          <a:prstGeom prst="roundRect">
            <a:avLst>
              <a:gd name="adj" fmla="val 5567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30151" y="2929682"/>
            <a:ext cx="42620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Registry를 삭제했는가?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30151" y="3072557"/>
            <a:ext cx="4262068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Registry가 LLM의 도구 탐색을 막는 병목이었다. 자율 에이전트는 도구를 스스로 찾아야 하는데, Registry가 검색 범위를 제한했다. 삭제 후 LLM이 Catalog를 직접 탐색 — 중앙 제어 없이 45 서버를 자율 발견한다.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30151" y="3371850"/>
            <a:ext cx="2057549" cy="298847"/>
          </a:xfrm>
          <a:prstGeom prst="roundRect">
            <a:avLst>
              <a:gd name="adj" fmla="val 1274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06351" y="3422600"/>
            <a:ext cx="19432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 중앙 제어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806351" y="3520976"/>
            <a:ext cx="1943252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삭제로 도구 목록 감사 불가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851100" y="3371850"/>
            <a:ext cx="2057549" cy="298847"/>
          </a:xfrm>
          <a:prstGeom prst="roundRect">
            <a:avLst>
              <a:gd name="adj" fmla="val 1274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927300" y="3422600"/>
            <a:ext cx="19432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획득: 탐색 자유도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2927300" y="3520976"/>
            <a:ext cx="1943252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컨텍스트에 맞게 자율 선택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5295900" y="790426"/>
            <a:ext cx="3390900" cy="1472654"/>
          </a:xfrm>
          <a:prstGeom prst="roundRect">
            <a:avLst>
              <a:gd name="adj" fmla="val 345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445026" y="901452"/>
            <a:ext cx="31545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TokenTracker — 자체 비용 추적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445026" y="1088678"/>
            <a:ext cx="3154501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5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LangSmith만으로는 모델별 비용 내역·캐시 히트율 추적이 어려워 자체 구축.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445026" y="1276350"/>
            <a:ext cx="3092648" cy="336352"/>
          </a:xfrm>
          <a:prstGeom prst="roundRect">
            <a:avLst>
              <a:gd name="adj" fmla="val 1132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5464076" y="1276350"/>
            <a:ext cx="0" cy="336352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84627" y="1339751"/>
            <a:ext cx="290857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ContextVar 싱글톤으로 호출마다 입출력 토큰 + cache_creation/cache_read 기록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445026" y="1650802"/>
            <a:ext cx="3092648" cy="231577"/>
          </a:xfrm>
          <a:prstGeom prst="roundRect">
            <a:avLst>
              <a:gd name="adj" fmla="val 1645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5464076" y="1650802"/>
            <a:ext cx="0" cy="231577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4627" y="1714202"/>
            <a:ext cx="29085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18개 모델 가격 레지스트리 — 실시간 비용 산출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445026" y="1920478"/>
            <a:ext cx="3092648" cy="231577"/>
          </a:xfrm>
          <a:prstGeom prst="roundRect">
            <a:avLst>
              <a:gd name="adj" fmla="val 1645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5464076" y="1920478"/>
            <a:ext cx="0" cy="231577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4627" y="1983879"/>
            <a:ext cx="29085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UsageStore: 월별 JSONL 영속 저장 · ProjectJournal 프로젝트별 이력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295900" y="2339280"/>
            <a:ext cx="3390900" cy="904429"/>
          </a:xfrm>
          <a:prstGeom prst="roundRect">
            <a:avLst>
              <a:gd name="adj" fmla="val 561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445026" y="2450306"/>
            <a:ext cx="31545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/cost CLI 대시보드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445026" y="2624882"/>
            <a:ext cx="3092648" cy="507802"/>
          </a:xfrm>
          <a:prstGeom prst="roundRect">
            <a:avLst>
              <a:gd name="adj" fmla="val 1000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5550625" y="2713732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550625" y="2843808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비용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547625" y="2713732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일간 / 월간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547625" y="2843808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누적 집계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7544625" y="2713732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 소진율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7544625" y="2843808"/>
            <a:ext cx="8874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경고 / 95% PRUNE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295900" y="3319909"/>
            <a:ext cx="3390900" cy="1607790"/>
          </a:xfrm>
          <a:prstGeom prst="roundRect">
            <a:avLst>
              <a:gd name="adj" fmla="val 316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Shape 62"/>
          <p:cNvSpPr/>
          <p:nvPr/>
        </p:nvSpPr>
        <p:spPr>
          <a:xfrm>
            <a:off x="5319713" y="3319909"/>
            <a:ext cx="0" cy="1607790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3126" y="3408759"/>
            <a:ext cx="312535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MCP-first + Fixture Fallback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483126" y="3554760"/>
            <a:ext cx="312535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signal 도구: 라이브 환경에서는 MCP 직접 호출, 오프라인/CI에서는 fixture 데이터로 자동 전환 — 라이브 수집과 테스트를 동시에 보장.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483126" y="3884563"/>
            <a:ext cx="1493937" cy="415677"/>
          </a:xfrm>
          <a:prstGeom prst="roundRect">
            <a:avLst>
              <a:gd name="adj" fmla="val 9166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5532855" y="3947964"/>
            <a:ext cx="1394478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5532855" y="4151114"/>
            <a:ext cx="13944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7053263" y="3884563"/>
            <a:ext cx="1493937" cy="415677"/>
          </a:xfrm>
          <a:prstGeom prst="roundRect">
            <a:avLst>
              <a:gd name="adj" fmla="val 9166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7102992" y="3947964"/>
            <a:ext cx="1394478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7102992" y="4151114"/>
            <a:ext cx="13944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price registry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457200" y="4978450"/>
            <a:ext cx="31863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257줄 삭제 · Proxy stub 9개 제거 · 45 catalog auto-discovery · TokenTracker ContextVar · /cost CLI</a:t>
            </a:r>
            <a:endParaRPr lang="en-US" sz="500" dirty="0"/>
          </a:p>
        </p:txBody>
      </p:sp>
      <p:sp>
        <p:nvSpPr>
          <p:cNvPr id="74" name="Text 72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34</a:t>
            </a:r>
            <a:endParaRPr lang="en-US" sz="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19349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 — Game IP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Pipeline: 9-Node DAG + 5-Layer 검증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평가의 Confirmation Bias·Anchoring 편향 — 병렬 전문가 4명 + Cross-LLM + PSM으로 극복</a:t>
            </a:r>
            <a:endParaRPr lang="en-US" sz="700" dirty="0"/>
          </a:p>
        </p:txBody>
      </p:sp>
      <p:pic>
        <p:nvPicPr>
          <p:cNvPr id="6" name="Image 0" descr="/Users/mango/workspace/portfolio/geode/versions/v5/slides/assets/v028-diagram-pipeline-d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90426"/>
            <a:ext cx="5587901" cy="2603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457277"/>
            <a:ext cx="3340596" cy="1063675"/>
          </a:xfrm>
          <a:prstGeom prst="roundRect">
            <a:avLst>
              <a:gd name="adj" fmla="val 477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81025" y="3555653"/>
            <a:ext cx="31548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Formula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81025" y="3689003"/>
            <a:ext cx="3154805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0.25·PSM + 0.20·Quality + 0.18·Recovery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81025" y="3822204"/>
            <a:ext cx="3154805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+ 0.12·Growth + 0.20·Momentum + 0.05·Dev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81025" y="3980706"/>
            <a:ext cx="315480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base × (0.7 + 0.3·conf/100)</a:t>
            </a:r>
            <a:endParaRPr lang="en-US" sz="500" dirty="0"/>
          </a:p>
        </p:txBody>
      </p:sp>
      <p:sp>
        <p:nvSpPr>
          <p:cNvPr id="12" name="Text 9"/>
          <p:cNvSpPr/>
          <p:nvPr/>
        </p:nvSpPr>
        <p:spPr>
          <a:xfrm>
            <a:off x="3873996" y="3457277"/>
            <a:ext cx="2209354" cy="507802"/>
          </a:xfrm>
          <a:prstGeom prst="roundRect">
            <a:avLst>
              <a:gd name="adj" fmla="val 100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985022" y="3543002"/>
            <a:ext cx="20270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기준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3985022" y="3673078"/>
            <a:ext cx="20270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≥80 · A ≥60 · B ≥40 · C &lt;40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3985022" y="3793629"/>
            <a:ext cx="202704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D-E-F 코드 결정 트리 (LLM 아님)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3873996" y="4015829"/>
            <a:ext cx="2209354" cy="505123"/>
          </a:xfrm>
          <a:prstGeom prst="roundRect">
            <a:avLst>
              <a:gd name="adj" fmla="val 10057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985022" y="4101554"/>
            <a:ext cx="20270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Clean Context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3985022" y="4222105"/>
            <a:ext cx="2027048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analyses: []</a:t>
            </a:r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전달 — 앵커링 편향 차단. 7개 병렬 LLM 호출에서 독립 평가 보장.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6197650" y="790426"/>
            <a:ext cx="25389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 Results — Golden Set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197650" y="968127"/>
            <a:ext cx="2489150" cy="520750"/>
          </a:xfrm>
          <a:prstGeom prst="roundRect">
            <a:avLst>
              <a:gd name="adj" fmla="val 9755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305882" y="1053852"/>
            <a:ext cx="2849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305882" y="1307902"/>
            <a:ext cx="2849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81.2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689527" y="1085552"/>
            <a:ext cx="8813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Berserk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89527" y="1199852"/>
            <a:ext cx="8813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0.89 · bias: 0/6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6689527" y="1285577"/>
            <a:ext cx="8813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conversion_failure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6197650" y="1552277"/>
            <a:ext cx="2489150" cy="520750"/>
          </a:xfrm>
          <a:prstGeom prst="roundRect">
            <a:avLst>
              <a:gd name="adj" fmla="val 9755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305882" y="1638002"/>
            <a:ext cx="2849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6305882" y="1892052"/>
            <a:ext cx="2849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68.4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689527" y="1669703"/>
            <a:ext cx="8513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Cowboy Bebop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689527" y="1784003"/>
            <a:ext cx="8513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0.85 · range: 63-75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6689527" y="1869728"/>
            <a:ext cx="8513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undermarketed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6197650" y="2136428"/>
            <a:ext cx="2489150" cy="520750"/>
          </a:xfrm>
          <a:prstGeom prst="roundRect">
            <a:avLst>
              <a:gd name="adj" fmla="val 9755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305882" y="2222153"/>
            <a:ext cx="2849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6305882" y="2476202"/>
            <a:ext cx="2849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51.7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6689527" y="2253853"/>
            <a:ext cx="8513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in Shell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689527" y="2368153"/>
            <a:ext cx="8513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0.72 · range: 48-60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6689527" y="2453878"/>
            <a:ext cx="8513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discovery_failure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6197650" y="2720578"/>
            <a:ext cx="2489150" cy="2216646"/>
          </a:xfrm>
          <a:prstGeom prst="roundRect">
            <a:avLst>
              <a:gd name="adj" fmla="val 229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321475" y="2818954"/>
            <a:ext cx="22863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검증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321475" y="2993529"/>
            <a:ext cx="2241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321475" y="2993529"/>
            <a:ext cx="22863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Guardrails — 스키마·범위·근거·일관성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321475" y="3136404"/>
            <a:ext cx="22863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BiasBuster — 6종 편향 (arXiv:2403.00811)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6321475" y="3279279"/>
            <a:ext cx="22863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Cross-LLM — Claude×GPT α≥0.67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6321475" y="3412629"/>
            <a:ext cx="22863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Rights Risk · L5 Calibration 80/100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6321475" y="3571280"/>
            <a:ext cx="2241500" cy="450949"/>
          </a:xfrm>
          <a:prstGeom prst="roundRect">
            <a:avLst>
              <a:gd name="adj" fmla="val 844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6410325" y="3634680"/>
            <a:ext cx="21050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판단</a:t>
            </a:r>
            <a:endParaRPr lang="en-US" sz="600" dirty="0"/>
          </a:p>
        </p:txBody>
      </p:sp>
      <p:sp>
        <p:nvSpPr>
          <p:cNvPr id="47" name="Text 44"/>
          <p:cNvSpPr/>
          <p:nvPr/>
        </p:nvSpPr>
        <p:spPr>
          <a:xfrm>
            <a:off x="6410325" y="3745706"/>
            <a:ext cx="2105076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평가는 Anchoring 편향으로 점수 분산이 ±18점. L3 Cross-LLM α≥0.67 강제로 편향 0/6 달성.</a:t>
            </a:r>
            <a:endParaRPr lang="en-US" sz="600" dirty="0"/>
          </a:p>
        </p:txBody>
      </p:sp>
      <p:sp>
        <p:nvSpPr>
          <p:cNvPr id="48" name="Text 45"/>
          <p:cNvSpPr/>
          <p:nvPr/>
        </p:nvSpPr>
        <p:spPr>
          <a:xfrm>
            <a:off x="457200" y="4987975"/>
            <a:ext cx="343048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rubric axes (8+3+3) · 6 cause classes · PSM Rosenbaum Gamma · conf gate ≥0.7 · max 5 iterations · Clean Context</a:t>
            </a:r>
            <a:endParaRPr lang="en-US" sz="500" dirty="0"/>
          </a:p>
        </p:txBody>
      </p:sp>
      <p:sp>
        <p:nvSpPr>
          <p:cNvPr id="49" name="Text 46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34</a:t>
            </a:r>
            <a:endParaRPr lang="en-US" sz="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20209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 — Domain Portability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Portability: GEODE ↔ REODE — 에이전트 코어 수정 0줄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2-Protocol 직교 설계 — 241소스 103K LoC, 83/83 build pass, core 0줄 변경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2933700" cy="1120676"/>
          </a:xfrm>
          <a:prstGeom prst="roundRect">
            <a:avLst>
              <a:gd name="adj" fmla="val 453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809476"/>
            <a:ext cx="2933700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6801" y="942826"/>
            <a:ext cx="27075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6801" y="1114276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저평가 분석 에이전트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96801" y="1282452"/>
            <a:ext cx="265449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6801" y="1282452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 모듈 · 3,201 테스트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96801" y="1425327"/>
            <a:ext cx="2707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Tools + 45 MCP · 21 Skills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96801" y="1558677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릴리스 무회귀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6801" y="1701552"/>
            <a:ext cx="2707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GameIPAdapter implements DomainPort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57200" y="1987302"/>
            <a:ext cx="2933700" cy="2940397"/>
          </a:xfrm>
          <a:prstGeom prst="roundRect">
            <a:avLst>
              <a:gd name="adj" fmla="val 173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6326" y="2111127"/>
            <a:ext cx="26881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2-Protocol 직교 설계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06326" y="2279303"/>
            <a:ext cx="2635448" cy="26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6326" y="2279303"/>
            <a:ext cx="26881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PipelineTemplate L1 — 실행 흐름 정의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06326" y="2434828"/>
            <a:ext cx="26881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LanguageAdapter L2 — 언어·포맷 변환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06326" y="2628454"/>
            <a:ext cx="2635448" cy="361950"/>
          </a:xfrm>
          <a:prstGeom prst="roundRect">
            <a:avLst>
              <a:gd name="adj" fmla="val 1403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20626" y="2704654"/>
            <a:ext cx="24549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_domain_ctx: ContextVar[DomainPort]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20626" y="2809429"/>
            <a:ext cx="24549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set_domain() / get_domain_or_none()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06326" y="3053804"/>
            <a:ext cx="26881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5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@runtime_checkable Protocol — 상속 없이 메서드 구현하면 즉시 호환. 파이프라인 노드는 get_domain_or_none()으로 조회 후 fallback.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505200" y="1261170"/>
            <a:ext cx="2133600" cy="1497955"/>
          </a:xfrm>
          <a:prstGeom prst="roundRect">
            <a:avLst>
              <a:gd name="adj" fmla="val 5087"/>
            </a:avLst>
          </a:prstGeom>
          <a:solidFill>
            <a:srgbClr val="1E293B"/>
          </a:solidFill>
          <a:ln w="19050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45688" y="1419820"/>
            <a:ext cx="18526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45688" y="1622971"/>
            <a:ext cx="185262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2-Protocol 직교 설계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663851" y="1845022"/>
            <a:ext cx="1816298" cy="346025"/>
          </a:xfrm>
          <a:prstGeom prst="roundRect">
            <a:avLst>
              <a:gd name="adj" fmla="val 14681"/>
            </a:avLst>
          </a:prstGeom>
          <a:solidFill>
            <a:srgbClr val="0D2B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749219" y="1921222"/>
            <a:ext cx="1645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PipelineTemplate L1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749219" y="2029123"/>
            <a:ext cx="16455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흐름 정의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663851" y="2254448"/>
            <a:ext cx="1816298" cy="346025"/>
          </a:xfrm>
          <a:prstGeom prst="roundRect">
            <a:avLst>
              <a:gd name="adj" fmla="val 14681"/>
            </a:avLst>
          </a:prstGeom>
          <a:solidFill>
            <a:srgbClr val="2B1A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749219" y="2330648"/>
            <a:ext cx="1645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LanguageAdapter L2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749219" y="2438549"/>
            <a:ext cx="16455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언어·포맷 변환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505200" y="2835325"/>
            <a:ext cx="2133600" cy="806202"/>
          </a:xfrm>
          <a:prstGeom prst="roundRect">
            <a:avLst>
              <a:gd name="adj" fmla="val 6301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635972" y="2971800"/>
            <a:ext cx="1872055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0줄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635972" y="3289250"/>
            <a:ext cx="18720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코어 수정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635972" y="3419326"/>
            <a:ext cx="187205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core/graph.py · core/verification/ 무변경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3505200" y="3717727"/>
            <a:ext cx="2133600" cy="739229"/>
          </a:xfrm>
          <a:prstGeom prst="roundRect">
            <a:avLst>
              <a:gd name="adj" fmla="val 6872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654326" y="3816102"/>
            <a:ext cx="18720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Protocol 추상화 비용 vs 이식 속도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654326" y="3958977"/>
            <a:ext cx="1872055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인터페이스 설계에 3일을 썼다. 그 대가로 GEODE → REODE 피봇에 코어 수정 0줄 — 3일 투자가 수주의 재작성을 막았다.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753100" y="790426"/>
            <a:ext cx="2933700" cy="977801"/>
          </a:xfrm>
          <a:prstGeom prst="roundRect">
            <a:avLst>
              <a:gd name="adj" fmla="val 519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753100" y="809476"/>
            <a:ext cx="2933700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2701" y="942826"/>
            <a:ext cx="27075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92701" y="1114276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코드 마이그레이션 에이전트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892701" y="1282452"/>
            <a:ext cx="265449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892701" y="1282452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 모듈 · 3,274 테스트 · 34 Tools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892701" y="1425327"/>
            <a:ext cx="2707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OpenRewrite 70% + LLM 30%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892701" y="1558677"/>
            <a:ext cx="2707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5-Gate Migration Scorecard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753100" y="1844427"/>
            <a:ext cx="2933700" cy="3083272"/>
          </a:xfrm>
          <a:prstGeom prst="roundRect">
            <a:avLst>
              <a:gd name="adj" fmla="val 1732"/>
            </a:avLst>
          </a:prstGeom>
          <a:solidFill>
            <a:srgbClr val="0D1E2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902226" y="1968252"/>
            <a:ext cx="26881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수치 — Java 마이그레이션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889556" y="2168277"/>
            <a:ext cx="12923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5889556" y="2422327"/>
            <a:ext cx="12923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 파일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7258031" y="2168277"/>
            <a:ext cx="12923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103K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7258031" y="2422327"/>
            <a:ext cx="12923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5889556" y="2584252"/>
            <a:ext cx="12923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5889556" y="2838301"/>
            <a:ext cx="12923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7258031" y="2584252"/>
            <a:ext cx="12923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1,133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7258031" y="2838301"/>
            <a:ext cx="12923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라운드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902226" y="3000226"/>
            <a:ext cx="2635448" cy="406301"/>
          </a:xfrm>
          <a:prstGeom prst="roundRect">
            <a:avLst>
              <a:gd name="adj" fmla="val 12503"/>
            </a:avLst>
          </a:prstGeom>
          <a:solidFill>
            <a:srgbClr val="0D2B1E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002173" y="3085951"/>
            <a:ext cx="24355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mvn compile+test 패스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002173" y="3235077"/>
            <a:ext cx="2435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5h 48m 자율 실행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457200" y="4978450"/>
            <a:ext cx="319488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· ContextVar DI · core/graph.py 0줄 수정 · 241소스 103K LoC · 33세션 1,133라운드 · 83/83 build pass</a:t>
            </a:r>
            <a:endParaRPr lang="en-US" sz="500" dirty="0"/>
          </a:p>
        </p:txBody>
      </p:sp>
      <p:sp>
        <p:nvSpPr>
          <p:cNvPr id="62" name="Text 60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34</a:t>
            </a:r>
            <a:endParaRPr lang="en-US" sz="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19561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 — Pattern Evolution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Eco² → GEODE → REODE: 패턴 진화 증거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→ 5-Layer · LLMClientPort → Port/Adapter · Event Bus → HookSystem — 같은 문제를 세 번 더 잘 풀었다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2445841" cy="358527"/>
          </a:xfrm>
          <a:prstGeom prst="roundRect">
            <a:avLst>
              <a:gd name="adj" fmla="val 14169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946" y="863352"/>
            <a:ext cx="22163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Eco²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1946" y="990302"/>
            <a:ext cx="221634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원형 패턴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2953792" y="898178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4D399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31641" y="790426"/>
            <a:ext cx="2880568" cy="358527"/>
          </a:xfrm>
          <a:prstGeom prst="rect">
            <a:avLst/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42041" y="863352"/>
            <a:ext cx="26597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42041" y="990302"/>
            <a:ext cx="26597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 심화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6062960" y="898178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40810" y="790426"/>
            <a:ext cx="2445990" cy="358527"/>
          </a:xfrm>
          <a:prstGeom prst="rect">
            <a:avLst/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55555" y="863352"/>
            <a:ext cx="2216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55555" y="990302"/>
            <a:ext cx="2216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적용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57200" y="1212354"/>
            <a:ext cx="8229600" cy="377726"/>
          </a:xfrm>
          <a:prstGeom prst="roundRect">
            <a:avLst>
              <a:gd name="adj" fmla="val 134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3675" y="1310729"/>
            <a:ext cx="50750" cy="180975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5927" y="1348829"/>
            <a:ext cx="1036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레이어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863328" y="1310729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3-Layer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863328" y="1405979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평가 → 3겹 필터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823246" y="1344067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5C542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91732" y="1310729"/>
            <a:ext cx="22747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5-Layer Verification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091732" y="1405979"/>
            <a:ext cx="22747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BiasBuster 6종 + Cross-LLM α≥0.67 → 99.8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6423422" y="1344067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691908" y="1310729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5-Gate Migration Scorecard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691908" y="1405979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마이그레이션 품질 5관문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57200" y="1653480"/>
            <a:ext cx="8229600" cy="377726"/>
          </a:xfrm>
          <a:prstGeom prst="roundRect">
            <a:avLst>
              <a:gd name="adj" fmla="val 134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93675" y="1751856"/>
            <a:ext cx="50750" cy="180975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45927" y="1789956"/>
            <a:ext cx="1036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추상화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863328" y="1751856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LLMClientPort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863328" y="1847106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Provider 종속 위험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823246" y="1785193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091732" y="1751856"/>
            <a:ext cx="22747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DI + ContextVar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091732" y="1847106"/>
            <a:ext cx="22747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Anthropic·OpenAI·ZhipuAI 3-Provider 추상화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423422" y="1785193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691908" y="1751856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691908" y="1847106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코어 수정 0줄로 Java 도메인 교체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57200" y="2094607"/>
            <a:ext cx="8229600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93675" y="2192982"/>
            <a:ext cx="50750" cy="190500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45927" y="2235845"/>
            <a:ext cx="1036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시스템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863328" y="2197745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Bus 3-Tier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863328" y="2292995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하드코딩 콜백 확장 불가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3823246" y="2231082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97316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091732" y="2197745"/>
            <a:ext cx="22747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HookSystem 46 Events 8 Categories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091732" y="2292995"/>
            <a:ext cx="22747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핸들러 · StuckDetector 120s · 에러 격리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6423422" y="2231082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691908" y="2192982"/>
            <a:ext cx="18955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HookSystem 상속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691908" y="2297757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lifecycle 동일 패턴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57200" y="2545259"/>
            <a:ext cx="8229600" cy="377726"/>
          </a:xfrm>
          <a:prstGeom prst="roundRect">
            <a:avLst>
              <a:gd name="adj" fmla="val 134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93675" y="2643634"/>
            <a:ext cx="50750" cy="180975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45927" y="2681734"/>
            <a:ext cx="1036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장애 복원력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863328" y="2643634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+ Jitter Backoff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863328" y="2738884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Provider 장애 시 전체 중단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3823246" y="2676971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091732" y="2643634"/>
            <a:ext cx="22747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3-Provider Failover (CB ×3)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091732" y="2738884"/>
            <a:ext cx="22747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5회 실패→60s OPEN→Half-Open · Exp. Backoff ±25% Jitter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6423422" y="2676971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691908" y="2643634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LLM Failover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691908" y="2738884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CB 패턴 마이그레이션 내성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457200" y="4372124"/>
            <a:ext cx="8229600" cy="527000"/>
          </a:xfrm>
          <a:prstGeom prst="roundRect">
            <a:avLst>
              <a:gd name="adj" fmla="val 9639"/>
            </a:avLst>
          </a:prstGeom>
          <a:solidFill>
            <a:srgbClr val="1E293B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19125" y="4457849"/>
            <a:ext cx="38100" cy="35555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758726" y="4502348"/>
            <a:ext cx="792147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— 재사용 비용 vs 재설계 비용: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Eco²에서 검증된 4개 패턴을 재사용하면 Eco² 제약(Swiss Cheese 3-Layer 한계, 단일 Provider 종속)도 함께 온다. 그러나 패턴을 버리면 REODE 출시에 수주가 더 필요했다. 검증된 패턴을 확장하는 길을 선택했고, REODE는 GEODE 포크로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빌드를 5h 48m 안에 달성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했다.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457200" y="4987975"/>
            <a:ext cx="347010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Cheese→5-Layer · LLMClientPort→Port/Adapter · Event Bus→HookSystem · Circuit Breaker→3-Provider Failover</a:t>
            </a:r>
            <a:endParaRPr lang="en-US" sz="500" dirty="0"/>
          </a:p>
        </p:txBody>
      </p:sp>
      <p:sp>
        <p:nvSpPr>
          <p:cNvPr id="65" name="Text 63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34</a:t>
            </a:r>
            <a:endParaRPr lang="en-US" sz="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 Table: Scaffold ↔ Runtime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런타임 아키텍처를 그대로 거울처럼 반영한다 — 같은 구조, 다른 주체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38051"/>
            <a:ext cx="2768798" cy="4076998"/>
          </a:xfrm>
          <a:prstGeom prst="roundRect">
            <a:avLst>
              <a:gd name="adj" fmla="val 2752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974527"/>
            <a:ext cx="38100" cy="152400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3425" y="979289"/>
            <a:ext cx="11805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(빌드 타임)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9125" y="1253877"/>
            <a:ext cx="2444948" cy="526852"/>
          </a:xfrm>
          <a:prstGeom prst="roundRect">
            <a:avLst>
              <a:gd name="adj" fmla="val 96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6075" y="1342727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23 CANNOT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6075" y="1482328"/>
            <a:ext cx="2234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Claude에게 주입되는 헌법 — 어길 수 없는 규칙이 LLM 행동을 제어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19125" y="1856929"/>
            <a:ext cx="2444948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6075" y="1945779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Skills → 8-Step Loop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46075" y="2085380"/>
            <a:ext cx="223486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소크라테스 정제 → Frontier 리서치 → 구현 → 검증 반복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19125" y="2355205"/>
            <a:ext cx="2444948" cy="526852"/>
          </a:xfrm>
          <a:prstGeom prst="roundRect">
            <a:avLst>
              <a:gd name="adj" fmla="val 96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6075" y="2444055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 + 4-Persona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46075" y="2583656"/>
            <a:ext cx="2234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/ Devin / OpenHands 리서치 → GAP 분석 → 설계 결정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19125" y="2958257"/>
            <a:ext cx="2444948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6075" y="3047107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39 Releases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46075" y="3186708"/>
            <a:ext cx="223486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v0.6 → v0.31 아키텍처 결정 이력 — 모든 피봇을 문서화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80941" y="2655838"/>
            <a:ext cx="20493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14151" y="2925663"/>
            <a:ext cx="1344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동형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3936950" y="838051"/>
            <a:ext cx="2768798" cy="4076998"/>
          </a:xfrm>
          <a:prstGeom prst="roundRect">
            <a:avLst>
              <a:gd name="adj" fmla="val 2752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098875" y="974527"/>
            <a:ext cx="38100" cy="15240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213175" y="979289"/>
            <a:ext cx="10769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(실행 타임)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98875" y="1253877"/>
            <a:ext cx="2444948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225826" y="1342727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Hook Events (PolicyChain)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25826" y="1482328"/>
            <a:ext cx="223486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행동을 실시간 감시 — 위반 즉시 차단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098875" y="1752154"/>
            <a:ext cx="2444948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225826" y="1841004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50 rounds × 200 turns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225826" y="1980605"/>
            <a:ext cx="223486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설계한 루프가 자율 실행으로 구현됨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098875" y="2250430"/>
            <a:ext cx="2444948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225826" y="2339280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3-Provider Failover + 5-Tier Safety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225826" y="2478881"/>
            <a:ext cx="223486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리서치 결과를 그대로 구현한 내결함성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098875" y="2748707"/>
            <a:ext cx="2444948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225826" y="2837557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 Tests · 187 Modules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225826" y="2977158"/>
            <a:ext cx="223486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릴리스가 회귀 없이 축적된 구조적 증거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807250" y="838051"/>
            <a:ext cx="1879550" cy="4076998"/>
          </a:xfrm>
          <a:prstGeom prst="roundRect">
            <a:avLst>
              <a:gd name="adj" fmla="val 40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969175" y="1956495"/>
            <a:ext cx="15868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구조적 동형인가?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969175" y="2156520"/>
            <a:ext cx="1586814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설계가 아닌 발견이었다. Scaffold가 성숙하면서 Runtime과 자연스럽게 동형 구조가 됐다 — 의도한 것이 아니라 좋은 설계의 부산물이다.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969175" y="2765524"/>
            <a:ext cx="1555700" cy="535484"/>
          </a:xfrm>
          <a:prstGeom prst="roundRect">
            <a:avLst>
              <a:gd name="adj" fmla="val 948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070675" y="2841724"/>
            <a:ext cx="137975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규칙 위반 → 빌드 실패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7070675" y="2973586"/>
            <a:ext cx="137975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규칙 위반 → 실행 차단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7070675" y="3118247"/>
            <a:ext cx="137975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원칙, 다른 계층에서 작동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6969175" y="3381970"/>
            <a:ext cx="15557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69175" y="3462933"/>
            <a:ext cx="15868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969175" y="3583484"/>
            <a:ext cx="1586814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동형 유지 비용: Scaffold 변경 시 Runtime도 동기화 필요. 수익: 설계 결정이 코드로 직접 흐른다.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57200" y="4978450"/>
            <a:ext cx="99872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1,160 커밋 · 36일</a:t>
            </a:r>
            <a:endParaRPr lang="en-US" sz="500" dirty="0"/>
          </a:p>
        </p:txBody>
      </p:sp>
      <p:sp>
        <p:nvSpPr>
          <p:cNvPr id="49" name="Text 47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34</a:t>
            </a:r>
            <a:endParaRPr lang="en-US" sz="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— 6 핵심 규칙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LLM에게 자유를 주되 발산을 막는 헌법 — 금지 규칙이 명확할수록 허용 공간이 넓어진다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7576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326" y="971401"/>
            <a:ext cx="30801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격리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71699" y="977801"/>
            <a:ext cx="398264" cy="91976"/>
          </a:xfrm>
          <a:prstGeom prst="roundRect">
            <a:avLst>
              <a:gd name="adj" fmla="val 27616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35100" y="990451"/>
            <a:ext cx="2768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500" dirty="0"/>
          </a:p>
        </p:txBody>
      </p:sp>
      <p:sp>
        <p:nvSpPr>
          <p:cNvPr id="10" name="Text 8"/>
          <p:cNvSpPr/>
          <p:nvPr/>
        </p:nvSpPr>
        <p:spPr>
          <a:xfrm>
            <a:off x="606326" y="1126927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 없이 코드 작업 금지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6326" y="1301502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에이전트가 main 브랜치에 직접 쓰면 병렬 작업 충돌이 발생한다. 각 태스크는 반드시 독립 worktree에서 실행돼야 한다.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448050" y="847576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97176" y="971401"/>
            <a:ext cx="417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게이트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069705" y="977801"/>
            <a:ext cx="398264" cy="91976"/>
          </a:xfrm>
          <a:prstGeom prst="roundRect">
            <a:avLst>
              <a:gd name="adj" fmla="val 27616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33106" y="990451"/>
            <a:ext cx="2768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500" dirty="0"/>
          </a:p>
        </p:txBody>
      </p:sp>
      <p:sp>
        <p:nvSpPr>
          <p:cNvPr id="16" name="Text 14"/>
          <p:cNvSpPr/>
          <p:nvPr/>
        </p:nvSpPr>
        <p:spPr>
          <a:xfrm>
            <a:off x="3597176" y="1126927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lint/type/test 실패 상태 커밋 금지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97176" y="1301502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실패한 상태의 커밋은 다음 에이전트를 오염시킨다. CI가 3종 체크를 모두 통과한 후에만 머지를 허용한다.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57200" y="2205484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6326" y="2329309"/>
            <a:ext cx="5208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과잉 구현 방지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180356" y="2335709"/>
            <a:ext cx="398264" cy="91976"/>
          </a:xfrm>
          <a:prstGeom prst="roundRect">
            <a:avLst>
              <a:gd name="adj" fmla="val 27616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43757" y="2348359"/>
            <a:ext cx="2768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606326" y="2484834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승인 없이 구현 착수 금지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6326" y="2659410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LLM은 승인 없이 구현하려는 성질이 있다. 설계 문서에 인간 승인 서명이 없으면 첫 줄도 작성하지 않는다.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448050" y="2205484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597176" y="2329309"/>
            <a:ext cx="2352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추적성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891260" y="2335709"/>
            <a:ext cx="398264" cy="91976"/>
          </a:xfrm>
          <a:prstGeom prst="roundRect">
            <a:avLst>
              <a:gd name="adj" fmla="val 27616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954661" y="2348359"/>
            <a:ext cx="2768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500" dirty="0"/>
          </a:p>
        </p:txBody>
      </p:sp>
      <p:sp>
        <p:nvSpPr>
          <p:cNvPr id="28" name="Text 26"/>
          <p:cNvSpPr/>
          <p:nvPr/>
        </p:nvSpPr>
        <p:spPr>
          <a:xfrm>
            <a:off x="3597176" y="2484834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없이 기능 커밋 금지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597176" y="2659410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PR의 결정 근거가 사라지면 재설계 비용이 폭증한다. 모든 기능 커밋은 CHANGELOG 항목을 동반해야 한다.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57200" y="3563392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06326" y="3687217"/>
            <a:ext cx="615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html2pptx 제약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272778" y="3693616"/>
            <a:ext cx="398264" cy="91976"/>
          </a:xfrm>
          <a:prstGeom prst="roundRect">
            <a:avLst>
              <a:gd name="adj" fmla="val 27616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336179" y="3706267"/>
            <a:ext cx="2768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500" dirty="0"/>
          </a:p>
        </p:txBody>
      </p:sp>
      <p:sp>
        <p:nvSpPr>
          <p:cNvPr id="34" name="Text 32"/>
          <p:cNvSpPr/>
          <p:nvPr/>
        </p:nvSpPr>
        <p:spPr>
          <a:xfrm>
            <a:off x="606326" y="3842742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gradient 금지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6326" y="4017318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linear-gradient/radial-gradient는 html2pptx가 렌더링하지 못한다. 배경 효과는 solid color + border 조합으로 대체한다.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448050" y="3563392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597176" y="3687217"/>
            <a:ext cx="4956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내러티브 품질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146500" y="3693616"/>
            <a:ext cx="398264" cy="91976"/>
          </a:xfrm>
          <a:prstGeom prst="roundRect">
            <a:avLst>
              <a:gd name="adj" fmla="val 27616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209901" y="3706267"/>
            <a:ext cx="2768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500" dirty="0"/>
          </a:p>
        </p:txBody>
      </p:sp>
      <p:sp>
        <p:nvSpPr>
          <p:cNvPr id="40" name="Text 38"/>
          <p:cNvSpPr/>
          <p:nvPr/>
        </p:nvSpPr>
        <p:spPr>
          <a:xfrm>
            <a:off x="3597176" y="3842742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박스형 배치 금지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597176" y="4017318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키워드만 넣은 카드 그리드는 발표가 아니다. 각 박스는 "X 때문에 Y를 선택했고 Z가 나왔다" 수준의 인과 서술을 포함해야 한다.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477000" y="847576"/>
            <a:ext cx="2209800" cy="1584722"/>
          </a:xfrm>
          <a:prstGeom prst="roundRect">
            <a:avLst>
              <a:gd name="adj" fmla="val 4808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651575" y="996702"/>
            <a:ext cx="40349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7123361" y="1234827"/>
            <a:ext cx="7008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 규칙 추가</a:t>
            </a:r>
            <a:endParaRPr lang="en-US" sz="70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수록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651575" y="1559570"/>
            <a:ext cx="189786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나머지 17개 규칙은 CLAUDE.md 425줄에 명시. 하나라도 위반하면 CI가 머지를 차단한다.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651575" y="1902172"/>
            <a:ext cx="1860649" cy="3810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753076" y="1978372"/>
            <a:ext cx="1690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타이포그래피 4개 · 레이아웃 5개</a:t>
            </a:r>
            <a:endParaRPr lang="en-US" sz="600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html2pptx 추가 4개 · 내러티브 4개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6477000" y="2508498"/>
            <a:ext cx="2209800" cy="2349401"/>
          </a:xfrm>
          <a:prstGeom prst="roundRect">
            <a:avLst>
              <a:gd name="adj" fmla="val 3448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651575" y="2657624"/>
            <a:ext cx="38100" cy="15240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753076" y="2671911"/>
            <a:ext cx="7726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— 허용 공간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651575" y="2873425"/>
            <a:ext cx="1897862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제약이 명확할수록 허용 공간이 넓어진다. 금지 규칙이 경계를 정하면, 그 안에서 LLM은 구체적 숫자, DAG, 인과 서술로 자유롭게 표현한다.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651575" y="4451598"/>
            <a:ext cx="1860649" cy="257175"/>
          </a:xfrm>
          <a:prstGeom prst="roundRect">
            <a:avLst>
              <a:gd name="adj" fmla="val 1975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753076" y="4527798"/>
            <a:ext cx="169080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문제→설계→결과 인과 흐름 시각화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57200" y="4908649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02915" y="4956274"/>
            <a:ext cx="152609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전체 규칙 — 제약이 명확할수록 자유가 넓어진다</a:t>
            </a:r>
            <a:endParaRPr lang="en-US" sz="500" dirty="0"/>
          </a:p>
        </p:txBody>
      </p:sp>
      <p:sp>
        <p:nvSpPr>
          <p:cNvPr id="56" name="Text 54"/>
          <p:cNvSpPr/>
          <p:nvPr/>
        </p:nvSpPr>
        <p:spPr>
          <a:xfrm>
            <a:off x="8492728" y="4961037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34</a:t>
            </a:r>
            <a:endParaRPr lang="en-US" sz="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Development Loop + Socratic Gate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키보드에 손이 닿는 순간 하네스의 실패 — 스캐폴딩이 구현보다 앞서야 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230534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8226" y="2403723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Socratic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68226" y="253379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정제 — 5W로 전제 검증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847850" y="2440186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38350" y="230534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49376" y="2403723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Frontier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149376" y="253379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Code/Devin GAP 리서치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429000" y="2440186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9500" y="230534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730526" y="2403723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Design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730526" y="253379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인터페이스 + Trade-off 결정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010150" y="2440186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00650" y="230534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11676" y="2403723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Implement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311676" y="253379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테스트 비율 목표 구현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58701" y="2828925"/>
            <a:ext cx="2568476" cy="952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177927" y="2790825"/>
            <a:ext cx="53541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 시 ①로 복귀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3753594" y="2828925"/>
            <a:ext cx="2568476" cy="952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72820" y="2781300"/>
            <a:ext cx="546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7200" y="2949476"/>
            <a:ext cx="1327249" cy="498277"/>
          </a:xfrm>
          <a:prstGeom prst="roundRect">
            <a:avLst>
              <a:gd name="adj" fmla="val 10195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68226" y="3047851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⑧ CHANGELOG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68226" y="3177927"/>
            <a:ext cx="11273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 이력 기록 → 다음 Frontier 입력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1847850" y="312717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38350" y="299233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149376" y="3090714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Release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149376" y="322078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+ Semver 태깅 · 39회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429000" y="312717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19500" y="299233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730526" y="3090714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E2E Verify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730526" y="322078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 테스트 + Hook 회귀 검사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010150" y="312717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00650" y="299233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311676" y="3090714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4-Persona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311676" y="322078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Architect/Security/QA/Perf 리뷰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654850" y="838051"/>
            <a:ext cx="2031950" cy="1657796"/>
          </a:xfrm>
          <a:prstGeom prst="roundRect">
            <a:avLst>
              <a:gd name="adj" fmla="val 459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816775" y="974527"/>
            <a:ext cx="1742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Gate (①)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16775" y="1149102"/>
            <a:ext cx="1742262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전 반드시 통과해야 하는 5가지 질문: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816775" y="1333054"/>
            <a:ext cx="1708100" cy="67627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이 기능이 필요한가?</a:t>
            </a:r>
            <a:endParaRPr lang="en-US" sz="7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실패 모드가 있는가?</a:t>
            </a:r>
            <a:endParaRPr lang="en-US" sz="7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Trade-off는 무엇인가?</a:t>
            </a:r>
            <a:endParaRPr lang="en-US" sz="7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가능한가?</a:t>
            </a:r>
            <a:endParaRPr lang="en-US" sz="7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CHANGELOG에 이유를 쓸 수 있는가?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816775" y="2110829"/>
            <a:ext cx="174226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5가지를 답하지 못하면 코드 작성 불가 — 루프가 ①로 되돌아간다.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654850" y="2597348"/>
            <a:ext cx="2031950" cy="1824335"/>
          </a:xfrm>
          <a:prstGeom prst="roundRect">
            <a:avLst>
              <a:gd name="adj" fmla="val 4177"/>
            </a:avLst>
          </a:prstGeom>
          <a:solidFill>
            <a:srgbClr val="1E293B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816775" y="2733824"/>
            <a:ext cx="1742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8단계인가?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816775" y="2933700"/>
            <a:ext cx="1742262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5단계(Plan→Implement→Test→Merge→Deploy)면 충분하지 않은가?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816775" y="3408015"/>
            <a:ext cx="822275" cy="877193"/>
          </a:xfrm>
          <a:prstGeom prst="roundRect">
            <a:avLst>
              <a:gd name="adj" fmla="val 463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905625" y="3471416"/>
            <a:ext cx="65746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5단계 부재 시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6905625" y="3582442"/>
            <a:ext cx="657466" cy="639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Audit·Socratic Gate 없으면 불필요한 구현이 50% — 잘못된 전제로 PR이 병합된다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7702451" y="3408015"/>
            <a:ext cx="822424" cy="877193"/>
          </a:xfrm>
          <a:prstGeom prst="roundRect">
            <a:avLst>
              <a:gd name="adj" fmla="val 4633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791301" y="3471416"/>
            <a:ext cx="65761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8단계 추가 비용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7791301" y="3582442"/>
            <a:ext cx="657618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①② Socratic+Frontier로 착수가 느리지만, 회귀 없는 39회 릴리스가 증거다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457200" y="4978450"/>
            <a:ext cx="156161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21 Skills · LEARNINGS.md 패턴 축적</a:t>
            </a:r>
            <a:endParaRPr lang="en-US" sz="500" dirty="0"/>
          </a:p>
        </p:txBody>
      </p:sp>
      <p:sp>
        <p:nvSpPr>
          <p:cNvPr id="55" name="Text 53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34</a:t>
            </a:r>
            <a:endParaRPr lang="en-US" sz="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 — 4개 하네스 GAP 분석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구현하기 전에 먼저 읽었다 — 3/4 수렴 규칙으로 차용 여부를 결정했다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34777"/>
            <a:ext cx="2832199" cy="2002036"/>
          </a:xfrm>
          <a:prstGeom prst="roundRect">
            <a:avLst>
              <a:gd name="adj" fmla="val 380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58602"/>
            <a:ext cx="2610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3675" y="1123652"/>
            <a:ext cx="2610433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패턴 — LLM이 tool_use를 반환하는 한 루프를 유지하는 구조를 직접 확인했다. GEODE AgenticLoop 50 라운드 설계의 직접 근거가 됐다.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93675" y="2500461"/>
            <a:ext cx="2559248" cy="212527"/>
          </a:xfrm>
          <a:prstGeom prst="roundRect">
            <a:avLst>
              <a:gd name="adj" fmla="val 2390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5176" y="2563862"/>
            <a:ext cx="24033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채택: 루프 계속 조건 + end_turn 종료 패턴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3365599" y="834777"/>
            <a:ext cx="2832199" cy="2002036"/>
          </a:xfrm>
          <a:prstGeom prst="roundRect">
            <a:avLst>
              <a:gd name="adj" fmla="val 380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02075" y="958602"/>
            <a:ext cx="2610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autoresearch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02075" y="1123652"/>
            <a:ext cx="261043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P1 제약 기반 설계, P4 래칫(되돌아가지 않음), P6 컨텍스트 예산 명시 — 이 세 원칙이 CLAUDE.md 규칙 체계의 뼈대가 됐다.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502075" y="2500461"/>
            <a:ext cx="2559248" cy="212527"/>
          </a:xfrm>
          <a:prstGeom prst="roundRect">
            <a:avLst>
              <a:gd name="adj" fmla="val 2390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03575" y="2563862"/>
            <a:ext cx="24033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채택: P1/P4/P6 → CANNOT 규칙 3종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457200" y="2913013"/>
            <a:ext cx="2832199" cy="2002036"/>
          </a:xfrm>
          <a:prstGeom prst="roundRect">
            <a:avLst>
              <a:gd name="adj" fmla="val 380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3675" y="3036838"/>
            <a:ext cx="2610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3675" y="3201888"/>
            <a:ext cx="261043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Gateway, Session Key, Lane Queue, Plugin 4-계층 디스패치 구조 — 에이전트 요청을 분리된 채널로 라우팅하는 아이디어를 여기서 얻었다.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93675" y="4578697"/>
            <a:ext cx="2559248" cy="212527"/>
          </a:xfrm>
          <a:prstGeom prst="roundRect">
            <a:avLst>
              <a:gd name="adj" fmla="val 2390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5176" y="4642098"/>
            <a:ext cx="24033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채택: SessionKey 격리 + LaneQueue 우선순위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365599" y="2913013"/>
            <a:ext cx="2832199" cy="2002036"/>
          </a:xfrm>
          <a:prstGeom prst="roundRect">
            <a:avLst>
              <a:gd name="adj" fmla="val 380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502075" y="3036838"/>
            <a:ext cx="2610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CLI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502075" y="3201888"/>
            <a:ext cx="261043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 격리, .owner 파일 보호, Dumb Platform 원칙 — Git 충돌 없이 여러 에이전트가 병렬 작업할 수 있는 구조의 실증 사례였다.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502075" y="4578697"/>
            <a:ext cx="2559248" cy="212527"/>
          </a:xfrm>
          <a:prstGeom prst="roundRect">
            <a:avLst>
              <a:gd name="adj" fmla="val 2390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03575" y="4642098"/>
            <a:ext cx="24033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채택: Worktree 의무화 → CANNOT Git 규칙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6299299" y="834777"/>
            <a:ext cx="2387501" cy="1529655"/>
          </a:xfrm>
          <a:prstGeom prst="roundRect">
            <a:avLst>
              <a:gd name="adj" fmla="val 4982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461224" y="971252"/>
            <a:ext cx="38100" cy="152400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575524" y="985540"/>
            <a:ext cx="5600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3/4 수렴 규칙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61224" y="1199852"/>
            <a:ext cx="2104924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하네스 중 3개 이상이 동일한 패턴을 사용하면 GEODE도 채택한다. 1-2개만 사용하면 독자 설계로 간다. 단순 다수결이지만 프론티어의 수렴은 신뢰할 수 있는 신호다.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461224" y="1808857"/>
            <a:ext cx="2063651" cy="419100"/>
          </a:xfrm>
          <a:prstGeom prst="roundRect">
            <a:avLst>
              <a:gd name="adj" fmla="val 1212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562725" y="1885057"/>
            <a:ext cx="3242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56822" y="1894136"/>
            <a:ext cx="624524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수렴 시 채택</a:t>
            </a:r>
            <a:endParaRPr lang="en-US" sz="70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미달 시 독자 설계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299299" y="2440632"/>
            <a:ext cx="2387501" cy="2474416"/>
          </a:xfrm>
          <a:prstGeom prst="roundRect">
            <a:avLst>
              <a:gd name="adj" fmla="val 3192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461224" y="2577108"/>
            <a:ext cx="38100" cy="15240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575524" y="2591395"/>
            <a:ext cx="7708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→ 설계 영역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61224" y="2792909"/>
            <a:ext cx="2104924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하네스 중 어느 것도 해결하지 않은 문제 3가지: 장기 자율 실행(비용 폭주 방지), LLM 비용 제어(토큰 예산 강제), 도메인 포터빌리티(게임→보험 교체). 이것이 GEODE가 독자 설계한 영역이다.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57200" y="4978450"/>
            <a:ext cx="185323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Frontier Mining — 읽고 차용하고, 없으면 설계했다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34</a:t>
            </a:r>
            <a:endParaRPr lang="en-US" sz="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4-Persona Review — 구현 전 맹점 제거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혼자 설계하면 Confirmation Bias로 실패한다 — 4인격이 독립 관점으로 리뷰하여 서로의 맹점을 보완한다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34777"/>
            <a:ext cx="5638949" cy="469404"/>
          </a:xfrm>
          <a:prstGeom prst="roundRect">
            <a:avLst>
              <a:gd name="adj" fmla="val 1082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6250" y="834777"/>
            <a:ext cx="0" cy="469404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4901" y="936278"/>
            <a:ext cx="4663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4901" y="1069628"/>
            <a:ext cx="4663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1219051" y="936278"/>
            <a:ext cx="4832247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의존성 역전 여부, 인터페이스 일관성, v0.40 생존 가능성. 체크 항목: 상위 레이어가 하위를 직접 임포트하는가? 플러그인 교체 시 코어 수정이 발생하는가?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367582"/>
            <a:ext cx="5638949" cy="422077"/>
          </a:xfrm>
          <a:prstGeom prst="roundRect">
            <a:avLst>
              <a:gd name="adj" fmla="val 1203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6250" y="1367582"/>
            <a:ext cx="0" cy="422077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901" y="1469082"/>
            <a:ext cx="5053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4901" y="1602432"/>
            <a:ext cx="5053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Simplicity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257300" y="1469082"/>
            <a:ext cx="4793233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 비용, 지연 시간, 캐시 히트율 관점. 체크 항목: 이 LLM 호출을 줄일 수 있는가? 컨텍스트를 재사용하는가? 배치 처리가 가능한가?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1853059"/>
            <a:ext cx="5638949" cy="469404"/>
          </a:xfrm>
          <a:prstGeom prst="roundRect">
            <a:avLst>
              <a:gd name="adj" fmla="val 1082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6250" y="1853059"/>
            <a:ext cx="0" cy="469404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901" y="1954560"/>
            <a:ext cx="6479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Steinberger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4901" y="2087910"/>
            <a:ext cx="6479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1397050" y="1954560"/>
            <a:ext cx="4650688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인젝션, 권한 에스컬레이션, Trust Model 위반. 체크 항목: 이 경로가 샌드박스를 우회하는가? 외부 입력이 직접 shell로 전달되는가?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" y="2385864"/>
            <a:ext cx="5638949" cy="422077"/>
          </a:xfrm>
          <a:prstGeom prst="roundRect">
            <a:avLst>
              <a:gd name="adj" fmla="val 1203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76250" y="2385864"/>
            <a:ext cx="0" cy="422077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901" y="2487364"/>
            <a:ext cx="4663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Cherny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4901" y="2620714"/>
            <a:ext cx="4663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1219051" y="2487364"/>
            <a:ext cx="483224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엣지 케이스, 회귀 가능성, 커버리지. 체크 항목: 이 코드가 3,201 테스트를 통과하는가? 새로운 경로가 기존 픽스처를 깨는가?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197650" y="834777"/>
            <a:ext cx="2489150" cy="1424880"/>
          </a:xfrm>
          <a:prstGeom prst="roundRect">
            <a:avLst>
              <a:gd name="adj" fmla="val 5348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59575" y="971252"/>
            <a:ext cx="38100" cy="152400"/>
          </a:xfrm>
          <a:prstGeom prst="roundRect">
            <a:avLst>
              <a:gd name="adj" fmla="val 6666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473875" y="985540"/>
            <a:ext cx="7127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 보안 케이스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59575" y="1187053"/>
            <a:ext cx="2208606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Steinberger 리뷰가 실제로 막은 사례. 초기 설계에서 에이전트가 환경변수를 직접 읽어 LLM 프롬프트에 삽입하는 경로가 있었다. API 키 유출 벡터. CANNOT 규칙에 ".env 직접 참조 금지" 추가로 차단했다.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359575" y="1783259"/>
            <a:ext cx="2165300" cy="339923"/>
          </a:xfrm>
          <a:prstGeom prst="roundRect">
            <a:avLst>
              <a:gd name="adj" fmla="val 1494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461075" y="1846659"/>
            <a:ext cx="2001545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agent reads .env → injects into prompt</a:t>
            </a:r>
            <a:endParaRPr lang="en-US" sz="60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env vars injected at harness boundary only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6197650" y="2335857"/>
            <a:ext cx="2489150" cy="2579191"/>
          </a:xfrm>
          <a:prstGeom prst="roundRect">
            <a:avLst>
              <a:gd name="adj" fmla="val 3061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359575" y="2472333"/>
            <a:ext cx="38100" cy="152400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473875" y="2486620"/>
            <a:ext cx="3872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근거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59575" y="2688134"/>
            <a:ext cx="2208606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4인격은 별도 LLM 세션이 아니다. 동일 컨텍스트에서 역할을 명시적으로 전환하는 프롬프트 패턴이다. 비용은 1회 추론이고, 효과는 4가지 시각의 독립 체크다. Confirmation Bias를 구조적으로 제거한다.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57200" y="4978450"/>
            <a:ext cx="210310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Beck × Karpathy × Steinberger × Cherny — 4인격 1세션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8457456" y="4978450"/>
            <a:ext cx="23393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24b / 34</a:t>
            </a:r>
            <a:endParaRPr lang="en-US" sz="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Velocity — Phase 0-5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누적될수록 다음 스캐폴딩이 빨라지는 복리 구조 — 36일 만에 </a:t>
            </a:r>
            <a:pPr algn="l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16.7×</a:t>
            </a:r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속도 상승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9421" y="1657796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39421" y="1753046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1447651" y="1684734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676102" y="1559421"/>
            <a:ext cx="4394746" cy="377726"/>
          </a:xfrm>
          <a:prstGeom prst="roundRect">
            <a:avLst>
              <a:gd name="adj" fmla="val 134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812578" y="1645146"/>
            <a:ext cx="42042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Bootstrap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812578" y="1765697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초안, 첫 CANNOT 규칙, 단일 Skill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6162190" y="1705421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 기준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39421" y="2103686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39421" y="2198936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447651" y="2130623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76102" y="2000548"/>
            <a:ext cx="43947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812578" y="2086273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Gate 도입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812578" y="2216348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전 5-질문 게이트 → 회귀 이슈 60% 감소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6162190" y="2151311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2.5×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439421" y="2554337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39421" y="2649587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447651" y="2581275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676102" y="2451199"/>
            <a:ext cx="43947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812578" y="2536924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Skills + 8-Step Loop 확립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812578" y="2667000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 → 설계 결정 자동화 시작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6162190" y="2601962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5×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39421" y="3004989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39421" y="3100239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1447651" y="3031927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676102" y="2901851"/>
            <a:ext cx="43947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812578" y="2987576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+ Hook 자율 실행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812578" y="3117652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직접 코드 생성 시작 → PR 500+ 돌파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162190" y="3052614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39421" y="3455640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39421" y="3550890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4-5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1447651" y="3482578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676102" y="3352502"/>
            <a:ext cx="43947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812578" y="3438227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이식 — Domain Portability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812578" y="3568303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v0.13 하네스 → REODE 209 모듈 · 3,274 Tests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162190" y="3503265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12×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39421" y="3906292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39421" y="4001542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36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1447651" y="3933230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676102" y="3803154"/>
            <a:ext cx="43947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812578" y="3888879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v0.31.0 — Long-Running Safety 완성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812578" y="4018955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Plan-first + Provider-aware Compaction + Cost Guard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6162190" y="3953917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16.7×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6807250" y="1027658"/>
            <a:ext cx="1879550" cy="996851"/>
          </a:xfrm>
          <a:prstGeom prst="roundRect">
            <a:avLst>
              <a:gd name="adj" fmla="val 764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953618" y="1189583"/>
            <a:ext cx="158681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16.7×</a:t>
            </a:r>
            <a:endParaRPr lang="en-US" sz="3000" dirty="0"/>
          </a:p>
        </p:txBody>
      </p:sp>
      <p:sp>
        <p:nvSpPr>
          <p:cNvPr id="50" name="Text 48"/>
          <p:cNvSpPr/>
          <p:nvPr/>
        </p:nvSpPr>
        <p:spPr>
          <a:xfrm>
            <a:off x="6953618" y="1656308"/>
            <a:ext cx="15868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Velocity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953618" y="1776859"/>
            <a:ext cx="15868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대비 Day 36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6807250" y="2126010"/>
            <a:ext cx="1879550" cy="968276"/>
          </a:xfrm>
          <a:prstGeom prst="roundRect">
            <a:avLst>
              <a:gd name="adj" fmla="val 787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969175" y="2267248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커밋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327231" y="2262485"/>
            <a:ext cx="2015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32.2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969175" y="2457748"/>
            <a:ext cx="27491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PRs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8296126" y="2452985"/>
            <a:ext cx="2333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969175" y="2653010"/>
            <a:ext cx="3779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8411914" y="2643485"/>
            <a:ext cx="1152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969175" y="2843510"/>
            <a:ext cx="1569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8324106" y="2833985"/>
            <a:ext cx="2047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807250" y="3195786"/>
            <a:ext cx="1879550" cy="602605"/>
          </a:xfrm>
          <a:prstGeom prst="roundRect">
            <a:avLst>
              <a:gd name="adj" fmla="val 84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934200" y="3297287"/>
            <a:ext cx="1658163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스캐폴딩을 만든다. 각 Phase가 다음 Phase의 속도를 올리는 복리 구조 — 이것이 Harness Engineering이다.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807250" y="3899892"/>
            <a:ext cx="1879550" cy="822127"/>
          </a:xfrm>
          <a:prstGeom prst="roundRect">
            <a:avLst>
              <a:gd name="adj" fmla="val 6179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943725" y="4010918"/>
            <a:ext cx="163873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초기 투자 vs 복리 가속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943725" y="4153793"/>
            <a:ext cx="1638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0-1에서 Socratic Gate·Frontier Mining에 시간을 썼다. 구현 속도를 포기하고 정확성을 선택했다 — Phase 3부터 회귀 없이 하루 32.2 커밋이 가능해진 이유다.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457200" y="4987975"/>
            <a:ext cx="165436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1,160 commits · Feb 21 – Mar 28, 2026</a:t>
            </a:r>
            <a:endParaRPr lang="en-US" sz="500" dirty="0"/>
          </a:p>
        </p:txBody>
      </p:sp>
      <p:sp>
        <p:nvSpPr>
          <p:cNvPr id="67" name="Text 65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34</a:t>
            </a:r>
            <a:endParaRPr lang="en-US" sz="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9930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 · CHANGELOG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Evolution: v0.6 → v0.31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릴리스, 6 아키텍처 피봇 — 각 결정에는 왜(Why)가 있다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43993" y="1667173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219051" y="1654373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77689" y="1781324"/>
            <a:ext cx="9525" cy="2286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47502" y="1590973"/>
            <a:ext cx="54868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583978" y="1676698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도입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83978" y="1806773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로직이 인프라에 강결합 → Port/Adapter 분리. 이후 REODE 이식이 가능해진 기반 결정.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443993" y="2105174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v0.10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219051" y="2092375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77689" y="2219325"/>
            <a:ext cx="9525" cy="2286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447502" y="2028974"/>
            <a:ext cx="54868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83978" y="2114699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Pivot — 도메인 분석 → 하네스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583978" y="2244775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GameIP 분석 결과보다 자율 실행 인프라가 재사용 가치가 높다고 판단. 어필 포인트 전환.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43993" y="2543175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219051" y="2530376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77689" y="2657326"/>
            <a:ext cx="9525" cy="2286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447502" y="2466975"/>
            <a:ext cx="54868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583978" y="2552700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Guard 제거 → ContextVar 통합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583978" y="2682776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Guard 모듈이 ContextVar 흐름과 충돌 → 통합 TokenTracker로 단순화. 비용 추적 정확도 향상.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43993" y="2981176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v0.18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219051" y="2968377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277689" y="3095327"/>
            <a:ext cx="9525" cy="2286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447502" y="2904976"/>
            <a:ext cx="54868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583978" y="2990701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System 독립 추출 → 46 Events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583978" y="3120777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하드코딩 콜백 → Priority 핸들러 체인. 재귀 개선 루프와 자동 학습이 Hook에 의존하는 구조로 전환.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43993" y="3419177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v0.24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219051" y="3406378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277689" y="3533329"/>
            <a:ext cx="9525" cy="2286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447502" y="3342977"/>
            <a:ext cx="5486846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583978" y="3428702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삭제 → 45 Catalog auto-discovery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583978" y="3558778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3계층(Registry+Catalog+Config) → 2계층. Proxy stub 9개 제거로 도구 추가 비용 대폭 감소.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43993" y="3857179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219051" y="3844379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447502" y="3780979"/>
            <a:ext cx="5486846" cy="377726"/>
          </a:xfrm>
          <a:prstGeom prst="roundRect">
            <a:avLst>
              <a:gd name="adj" fmla="val 13449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583978" y="3866704"/>
            <a:ext cx="53181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Provider-aware Compaction + Long-Running Safety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583978" y="3987254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Beta tool_use 캐시 규칙 차이를 인지한 압축. 비용 상한 + 수렴 감지 + 다양성 강제로 안정성 달성.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7035850" y="1243608"/>
            <a:ext cx="1650950" cy="9525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184504" y="1405533"/>
            <a:ext cx="135364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7184504" y="1853208"/>
            <a:ext cx="13536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184504" y="1948458"/>
            <a:ext cx="13536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 → v0.31 · 36일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7035850" y="2297609"/>
            <a:ext cx="1650950" cy="714077"/>
          </a:xfrm>
          <a:prstGeom prst="roundRect">
            <a:avLst>
              <a:gd name="adj" fmla="val 1067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197775" y="2434084"/>
            <a:ext cx="4956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피봇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8398520" y="2434084"/>
            <a:ext cx="1288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6회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7197775" y="2602260"/>
            <a:ext cx="4956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무회귀 릴리스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8302377" y="2602260"/>
            <a:ext cx="226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39/39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197775" y="2770436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누적 커밋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302377" y="2770436"/>
            <a:ext cx="226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1,160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7035850" y="3113187"/>
            <a:ext cx="1650950" cy="469404"/>
          </a:xfrm>
          <a:prstGeom prst="roundRect">
            <a:avLst>
              <a:gd name="adj" fmla="val 108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162800" y="3214688"/>
            <a:ext cx="142499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CHANGELOG는 기록이 아니다. 다음 Frontier Mining의 입력이다.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035850" y="3684091"/>
            <a:ext cx="1650950" cy="822127"/>
          </a:xfrm>
          <a:prstGeom prst="roundRect">
            <a:avLst>
              <a:gd name="adj" fmla="val 6179"/>
            </a:avLst>
          </a:prstGeom>
          <a:solidFill>
            <a:srgbClr val="1E293B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172325" y="3795117"/>
            <a:ext cx="140556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판단: WHY를 기록하는 비용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7172325" y="3937992"/>
            <a:ext cx="140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릴리스마다 CHANGELOG 작성에 시간이 든다. 이를 포기하면 "왜 이 결정을 했는가"가 휘발된다 — v0.14 Token Guard 제거처럼 나중에 같은 실수를 반복하게 된다.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457200" y="4987975"/>
            <a:ext cx="167228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39 releases · 6 major architecture pivots</a:t>
            </a:r>
            <a:endParaRPr lang="en-US" sz="500" dirty="0"/>
          </a:p>
        </p:txBody>
      </p:sp>
      <p:sp>
        <p:nvSpPr>
          <p:cNvPr id="58" name="Text 56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34</a:t>
            </a:r>
            <a:endParaRPr lang="en-US" sz="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2784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· SECURITY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Bash 3-Layer + Dual Trust Model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 에이전트는 신뢰 경계가 없으면 시스템을 파괴한다 — PolicyChain이 실행 전 모든 명령을 검문한다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25252"/>
            <a:ext cx="4641800" cy="4099322"/>
          </a:xfrm>
          <a:prstGeom prst="roundRect">
            <a:avLst>
              <a:gd name="adj" fmla="val 1859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961727"/>
            <a:ext cx="38100" cy="152400"/>
          </a:xfrm>
          <a:prstGeom prst="roundRect">
            <a:avLst>
              <a:gd name="adj" fmla="val 6666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3425" y="976015"/>
            <a:ext cx="10696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다이어그램</a:t>
            </a:r>
            <a:endParaRPr lang="en-US" sz="800" dirty="0"/>
          </a:p>
        </p:txBody>
      </p:sp>
      <p:pic>
        <p:nvPicPr>
          <p:cNvPr id="9" name="Image 0" descr="/Users/mango/workspace/portfolio/geode/versions/v5/slides/assets/v028-diagram-policy-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" y="1241078"/>
            <a:ext cx="4317950" cy="200650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25951" y="825252"/>
            <a:ext cx="3460849" cy="1925538"/>
          </a:xfrm>
          <a:prstGeom prst="roundRect">
            <a:avLst>
              <a:gd name="adj" fmla="val 3957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387876" y="961727"/>
            <a:ext cx="31997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3-Layer 실행 제어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387876" y="1148953"/>
            <a:ext cx="3136999" cy="358676"/>
          </a:xfrm>
          <a:prstGeom prst="roundRect">
            <a:avLst>
              <a:gd name="adj" fmla="val 141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514826" y="1225153"/>
            <a:ext cx="2940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— Syntax Validation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514826" y="1345704"/>
            <a:ext cx="29407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-rf / · chmod 777 · curl | bash 패턴 차단. 실행 전 정적 분석.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5387876" y="1571030"/>
            <a:ext cx="3136999" cy="444401"/>
          </a:xfrm>
          <a:prstGeom prst="roundRect">
            <a:avLst>
              <a:gd name="adj" fmla="val 1143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514826" y="1647230"/>
            <a:ext cx="2940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— PolicyChain Hook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514826" y="1767780"/>
            <a:ext cx="29407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Hook Events 중 BASH_EXEC_PRE에서 PolicyChain 통과 여부 확인. 거부 시 즉시 차단 + 사유 반환.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5387876" y="2078831"/>
            <a:ext cx="3136999" cy="358676"/>
          </a:xfrm>
          <a:prstGeom prst="roundRect">
            <a:avLst>
              <a:gd name="adj" fmla="val 141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514826" y="2155031"/>
            <a:ext cx="2940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— macOS Seatbelt Sandbox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514826" y="2275582"/>
            <a:ext cx="29407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REODE: 34-패턴 deny-list. 파일시스템 쓰기, 네트워크 외부 접근, 프로세스 fork 제한.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5225951" y="2852291"/>
            <a:ext cx="3460849" cy="1437084"/>
          </a:xfrm>
          <a:prstGeom prst="roundRect">
            <a:avLst>
              <a:gd name="adj" fmla="val 530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387876" y="2988766"/>
            <a:ext cx="31997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Trust Model — 두 독립 축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387876" y="3175992"/>
            <a:ext cx="319973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안전과 파이프라인 검증은 독립 축이다. 에이전트는 입력을 차단(Input Gating), 파이프라인은 출력을 검증(Output Validation). 둘 다 통과해야만 결과가 신뢰된다.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387876" y="3513237"/>
            <a:ext cx="1530400" cy="444401"/>
          </a:xfrm>
          <a:prstGeom prst="roundRect">
            <a:avLst>
              <a:gd name="adj" fmla="val 1143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489377" y="3589437"/>
            <a:ext cx="13539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Gating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5489377" y="3709988"/>
            <a:ext cx="13539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HITL 권한 모델 — 에이전트 실행 전 차단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6994475" y="3513237"/>
            <a:ext cx="1530400" cy="444401"/>
          </a:xfrm>
          <a:prstGeom prst="roundRect">
            <a:avLst>
              <a:gd name="adj" fmla="val 1143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7095976" y="3589437"/>
            <a:ext cx="13539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Validation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7095976" y="3709988"/>
            <a:ext cx="135394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Safety 등급 — 실행 후 출력 검증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5387876" y="4046339"/>
            <a:ext cx="319973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0-1: asyncio.gather 병렬 자동 실행 / TIER 3-4: 개별 수동 승인 필수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5225951" y="4390876"/>
            <a:ext cx="3460849" cy="533698"/>
          </a:xfrm>
          <a:prstGeom prst="roundRect">
            <a:avLst>
              <a:gd name="adj" fmla="val 951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5245001" y="4390876"/>
            <a:ext cx="0" cy="533698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91001" y="4479727"/>
            <a:ext cx="32322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3-Layer 제어 비용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5391001" y="4622602"/>
            <a:ext cx="3232225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정적 분석 + L2 PolicyChain + L3 Seatbelt 모두 통과 시 지연이 있지만, 자율 에이전트가 시스템을 파괴한 사례가 0건인 것이 증거다.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457200" y="4987975"/>
            <a:ext cx="235904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46 Hook Events · 5-Tier Tool Safety · macOS Seatbelt (REODE)</a:t>
            </a:r>
            <a:endParaRPr lang="en-US" sz="500" dirty="0"/>
          </a:p>
        </p:txBody>
      </p:sp>
      <p:sp>
        <p:nvSpPr>
          <p:cNvPr id="36" name="Text 33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34</a:t>
            </a:r>
            <a:endParaRPr lang="en-US" sz="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8202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· TRADE-OFFS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Trade-offs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설계 결정은 무언가를 포기하고 무언가를 얻는다 — Trade-off를 인식한 결정만이 장기 운용된다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25252"/>
            <a:ext cx="4064050" cy="965299"/>
          </a:xfrm>
          <a:prstGeom prst="roundRect">
            <a:avLst>
              <a:gd name="adj" fmla="val 789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1085850"/>
            <a:ext cx="38100" cy="12695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3425" y="1092101"/>
            <a:ext cx="7596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DI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9125" y="1263551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직접 호출 단순성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19125" y="139675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GEODE→REODE 이식 시 코어 코드 변경 0줄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866751"/>
            <a:ext cx="4064050" cy="965299"/>
          </a:xfrm>
          <a:prstGeom prst="roundRect">
            <a:avLst>
              <a:gd name="adj" fmla="val 789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9125" y="2127349"/>
            <a:ext cx="38100" cy="12695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3425" y="2133600"/>
            <a:ext cx="13468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Lossless Context Selection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19125" y="2305050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단순 요약(빠르지만 정보 손실)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19125" y="2438251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LLM이 직접 선별 → 컨텍스트 비용 0.03%로 절감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2908250"/>
            <a:ext cx="4064050" cy="965299"/>
          </a:xfrm>
          <a:prstGeom prst="roundRect">
            <a:avLst>
              <a:gd name="adj" fmla="val 789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9125" y="3168848"/>
            <a:ext cx="38100" cy="12695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3425" y="3175099"/>
            <a:ext cx="13755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Provider-aware Compaction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9125" y="3346549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단일 압축 로직의 단순성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19125" y="3479750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Anthropic Beta tool_use 캐시 규칙 준수 → Failover 안정성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" y="3949750"/>
            <a:ext cx="4064050" cy="965299"/>
          </a:xfrm>
          <a:prstGeom prst="roundRect">
            <a:avLst>
              <a:gd name="adj" fmla="val 789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9125" y="4210348"/>
            <a:ext cx="38100" cy="12695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33425" y="4216598"/>
            <a:ext cx="10035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Architecture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9125" y="4388048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초기 설계 속도 (레이어마다 인터페이스 정의)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19125" y="4521250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187 모듈 중 어느 레이어도 교체 가능한 구조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622750" y="825252"/>
            <a:ext cx="4064050" cy="1074390"/>
          </a:xfrm>
          <a:prstGeom prst="roundRect">
            <a:avLst>
              <a:gd name="adj" fmla="val 709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84675" y="1140321"/>
            <a:ext cx="38100" cy="12695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98975" y="1141809"/>
            <a:ext cx="8525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삭제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84675" y="131802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중앙 집중 도구 관리 (단일 조회 포인트)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84675" y="1451223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Proxy stub 9개 제거 → 45 MCP auto-discovery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622750" y="1975842"/>
            <a:ext cx="4064050" cy="1074539"/>
          </a:xfrm>
          <a:prstGeom prst="roundRect">
            <a:avLst>
              <a:gd name="adj" fmla="val 709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84675" y="2291060"/>
            <a:ext cx="38100" cy="12695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98975" y="2297311"/>
            <a:ext cx="13469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PromptAssembler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84675" y="2468761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수동 편집의 즉각성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784675" y="260196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cache_control ephemeral → 2회차 입력 비용 10%로 감소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622750" y="3126581"/>
            <a:ext cx="4064050" cy="1074390"/>
          </a:xfrm>
          <a:prstGeom prst="roundRect">
            <a:avLst>
              <a:gd name="adj" fmla="val 709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784675" y="3441650"/>
            <a:ext cx="38100" cy="12695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98975" y="3443139"/>
            <a:ext cx="13232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Memory (휘발 → 불변)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84675" y="3619351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단순 Redis 캐시 (단계 없는 단일 레이어)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784675" y="375255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Provider Failover 시에도 학습 내용 보존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622750" y="4277171"/>
            <a:ext cx="4064050" cy="637877"/>
          </a:xfrm>
          <a:prstGeom prst="roundRect">
            <a:avLst>
              <a:gd name="adj" fmla="val 796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775150" y="4391471"/>
            <a:ext cx="38344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원칙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775150" y="4534346"/>
            <a:ext cx="383443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포기하는 것을 명시하지 않은 설계 결정은 결정이 아니다. 7개 피봇 모두 CHANGELOG에 "왜"가 기록되어 있다.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57200" y="4978450"/>
            <a:ext cx="171675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39 releases · 모든 피봇 CHANGELOG 기록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34</a:t>
            </a:r>
            <a:endParaRPr lang="en-US" sz="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8202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· TRADE-OFFS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+ Infra Trade-offs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실행과 인프라 결정 — 자율성을 높이면 안전성 비용이 오르고, 안전성을 높이면 처리량이 줄어든다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25252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1087041"/>
            <a:ext cx="38100" cy="12695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3425" y="1088529"/>
            <a:ext cx="17528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 × 200 Turns 무한 루프 방지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9125" y="1264741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완전 자율 (무제한 실행 시도)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19125" y="1397943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수렴 감지 + 비용 상한 → 파이프라인 폭주 차단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869132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9125" y="2130921"/>
            <a:ext cx="38100" cy="12695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3425" y="2137172"/>
            <a:ext cx="1442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4096 Token Guard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19125" y="230862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자식 출력 전체 반환 (완전한 컨텍스트)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19125" y="2441823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부모 컨텍스트 폭발 방지 → MAX_CONCURRENT=5 병렬 가능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2913013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9125" y="3174802"/>
            <a:ext cx="38100" cy="12695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3425" y="3176290"/>
            <a:ext cx="12142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Safety: 병렬 vs 순차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9125" y="335250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TIER 3-4 병렬 처리 (속도)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19125" y="3485704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DANGEROUS 명령 개별 승인 → 권한 에스컬레이션 차단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" y="3956893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9125" y="4218682"/>
            <a:ext cx="38100" cy="12695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33425" y="4224933"/>
            <a:ext cx="13909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StuckDetector 120s Timeout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9125" y="4396383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느린 작업 완료 대기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19125" y="4529584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NODE_ENTER 후 EXIT 미감지 시 파이프라인 강제 중단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622750" y="825252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84675" y="1087041"/>
            <a:ext cx="38100" cy="126950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98975" y="1088529"/>
            <a:ext cx="13638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Priority 핸들러 순서 보장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84675" y="1264741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병렬 핸들러 실행 (최대 처리량)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84675" y="1397943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Security 핸들러가 Logging보다 항상 먼저 실행 보장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622750" y="1869132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84675" y="2130921"/>
            <a:ext cx="38100" cy="126950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98975" y="2137172"/>
            <a:ext cx="12376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CircuitBreaker OPEN 60s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84675" y="230862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즉시 재시도 (지연 없는 복구 시도)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784675" y="2441823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5회 연속 실패 후 60s OPEN → RateLimit 폭주 차단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622750" y="2913013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784675" y="3174802"/>
            <a:ext cx="38100" cy="126950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98975" y="3176290"/>
            <a:ext cx="65761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세션 격리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84675" y="3352502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공유 컨텍스트 (이전 세션 학습 즉시 반영)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784675" y="3485704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스케줄 충돌 없는 독립 실행 → 장기 운용 안정성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622750" y="3956893"/>
            <a:ext cx="4064050" cy="967680"/>
          </a:xfrm>
          <a:prstGeom prst="roundRect">
            <a:avLst>
              <a:gd name="adj" fmla="val 78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784675" y="4218682"/>
            <a:ext cx="38100" cy="126950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898975" y="4220170"/>
            <a:ext cx="10354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dry-run 자동 전환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84675" y="4396383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항상 라이브 데이터 (API 키 필수)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784675" y="4529584"/>
            <a:ext cx="381500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얻음: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API 키 부재 시 fixture fallback → 오프라인 테스트 가능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57200" y="4987975"/>
            <a:ext cx="156571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52 Tools · 45 MCP · 46 Hook Events</a:t>
            </a:r>
            <a:endParaRPr lang="en-US" sz="500" dirty="0"/>
          </a:p>
        </p:txBody>
      </p:sp>
      <p:sp>
        <p:nvSpPr>
          <p:cNvPr id="47" name="Text 45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34</a:t>
            </a:r>
            <a:endParaRPr lang="en-US" sz="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27173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· CONSTRAINTS →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→ Results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규칙과 설계 제약이 결과를 만든다 — 제약 없는 자유가 아닌 제약을 통한 성취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469231"/>
            <a:ext cx="3924300" cy="466427"/>
          </a:xfrm>
          <a:prstGeom prst="roundRect">
            <a:avLst>
              <a:gd name="adj" fmla="val 16337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1580257"/>
            <a:ext cx="36724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19125" y="1700808"/>
            <a:ext cx="36724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나열식 슬라이드 금지 — 인과관계 1문장 필수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483001" y="1597670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62351" y="1469231"/>
            <a:ext cx="3924449" cy="466427"/>
          </a:xfrm>
          <a:prstGeom prst="roundRect">
            <a:avLst>
              <a:gd name="adj" fmla="val 16337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24276" y="1580257"/>
            <a:ext cx="367261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924276" y="1700808"/>
            <a:ext cx="367261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34장 모든 슬라이드가 DAG + 내러티브 시각화로 구성됨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2038796"/>
            <a:ext cx="3924300" cy="466427"/>
          </a:xfrm>
          <a:prstGeom prst="roundRect">
            <a:avLst>
              <a:gd name="adj" fmla="val 16337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9125" y="2149822"/>
            <a:ext cx="36724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19125" y="2270373"/>
            <a:ext cx="36724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Gate 통과 전 코드 작성 금지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83001" y="2167235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62351" y="2024509"/>
            <a:ext cx="3924449" cy="495002"/>
          </a:xfrm>
          <a:prstGeom prst="roundRect">
            <a:avLst>
              <a:gd name="adj" fmla="val 15394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24276" y="2135535"/>
            <a:ext cx="367261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924276" y="2256086"/>
            <a:ext cx="36726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 릴리스 무회귀 — 회귀 이슈 60% 감소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2622649"/>
            <a:ext cx="3924300" cy="466427"/>
          </a:xfrm>
          <a:prstGeom prst="roundRect">
            <a:avLst>
              <a:gd name="adj" fmla="val 16337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9125" y="2733675"/>
            <a:ext cx="36724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19125" y="2854226"/>
            <a:ext cx="36724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박스형 다이어그램 금지 — 화살표 흐름 + 분기 필수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83001" y="2751088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62351" y="2608362"/>
            <a:ext cx="3924449" cy="495002"/>
          </a:xfrm>
          <a:prstGeom prst="roundRect">
            <a:avLst>
              <a:gd name="adj" fmla="val 15394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24276" y="2719388"/>
            <a:ext cx="367261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924276" y="2839938"/>
            <a:ext cx="36726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Skills 모두 흐름도 기반 설계 문서로 누적됨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3206502"/>
            <a:ext cx="3924300" cy="466427"/>
          </a:xfrm>
          <a:prstGeom prst="roundRect">
            <a:avLst>
              <a:gd name="adj" fmla="val 16337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9125" y="3317528"/>
            <a:ext cx="36724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19125" y="3438079"/>
            <a:ext cx="36724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명시 없는 설계 결정 금지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483001" y="3334941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62351" y="3192214"/>
            <a:ext cx="3924449" cy="495002"/>
          </a:xfrm>
          <a:prstGeom prst="roundRect">
            <a:avLst>
              <a:gd name="adj" fmla="val 15394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924276" y="3303240"/>
            <a:ext cx="367261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924276" y="3423791"/>
            <a:ext cx="36726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 아키텍처 피봇 모두 CHANGELOG에 WHY 기록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3790355"/>
            <a:ext cx="3924300" cy="466427"/>
          </a:xfrm>
          <a:prstGeom prst="roundRect">
            <a:avLst>
              <a:gd name="adj" fmla="val 16337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9125" y="3901380"/>
            <a:ext cx="36724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19125" y="4021931"/>
            <a:ext cx="36724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6개 초과 금지 — 정보 밀도 강제 압축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483001" y="3918793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762351" y="3776067"/>
            <a:ext cx="3924449" cy="495002"/>
          </a:xfrm>
          <a:prstGeom prst="roundRect">
            <a:avLst>
              <a:gd name="adj" fmla="val 15394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924276" y="3887093"/>
            <a:ext cx="367261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924276" y="4007644"/>
            <a:ext cx="36726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 프레젠테이션 — 슬라이드당 핵심 1메시지 유지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7200" y="4978450"/>
            <a:ext cx="163888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23 CANNOT rules · 제약이 품질을 만든다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34</a:t>
            </a:r>
            <a:endParaRPr lang="en-US" sz="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3694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·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총정리 — GEODE v0.31.0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36일, 모든 숫자는 Socratic Gate → 8-Step Loop → 4-Persona Review를 통과한 것들이다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34777"/>
            <a:ext cx="1435150" cy="755452"/>
          </a:xfrm>
          <a:prstGeom prst="roundRect">
            <a:avLst>
              <a:gd name="adj" fmla="val 1008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8012" y="971252"/>
            <a:ext cx="113352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08012" y="1368028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Version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968550" y="834777"/>
            <a:ext cx="1435150" cy="755452"/>
          </a:xfrm>
          <a:prstGeom prst="roundRect">
            <a:avLst>
              <a:gd name="adj" fmla="val 1008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19362" y="971252"/>
            <a:ext cx="113352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1,160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119362" y="1368028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3479899" y="834777"/>
            <a:ext cx="1435150" cy="755452"/>
          </a:xfrm>
          <a:prstGeom prst="roundRect">
            <a:avLst>
              <a:gd name="adj" fmla="val 1008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30711" y="971252"/>
            <a:ext cx="113352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30711" y="1368028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991249" y="834777"/>
            <a:ext cx="1435150" cy="755452"/>
          </a:xfrm>
          <a:prstGeom prst="roundRect">
            <a:avLst>
              <a:gd name="adj" fmla="val 1008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42061" y="971252"/>
            <a:ext cx="113352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142061" y="1368028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57200" y="1666429"/>
            <a:ext cx="1435150" cy="656927"/>
          </a:xfrm>
          <a:prstGeom prst="roundRect">
            <a:avLst>
              <a:gd name="adj" fmla="val 115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8012" y="1777454"/>
            <a:ext cx="11335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08012" y="2126605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1968550" y="1666429"/>
            <a:ext cx="1435150" cy="656927"/>
          </a:xfrm>
          <a:prstGeom prst="roundRect">
            <a:avLst>
              <a:gd name="adj" fmla="val 115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119362" y="1777454"/>
            <a:ext cx="11335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119362" y="2126605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479899" y="1666429"/>
            <a:ext cx="1435150" cy="656927"/>
          </a:xfrm>
          <a:prstGeom prst="roundRect">
            <a:avLst>
              <a:gd name="adj" fmla="val 115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30711" y="1777454"/>
            <a:ext cx="11335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630711" y="2126605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991249" y="1666429"/>
            <a:ext cx="1435150" cy="656927"/>
          </a:xfrm>
          <a:prstGeom prst="roundRect">
            <a:avLst>
              <a:gd name="adj" fmla="val 115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142061" y="1777454"/>
            <a:ext cx="11335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142061" y="2126605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Tools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57200" y="2399556"/>
            <a:ext cx="1435150" cy="637877"/>
          </a:xfrm>
          <a:prstGeom prst="roundRect">
            <a:avLst>
              <a:gd name="adj" fmla="val 1194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08012" y="2510582"/>
            <a:ext cx="113352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8012" y="2831157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Catalog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1968550" y="2399556"/>
            <a:ext cx="1435150" cy="637877"/>
          </a:xfrm>
          <a:prstGeom prst="roundRect">
            <a:avLst>
              <a:gd name="adj" fmla="val 1194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119362" y="2510582"/>
            <a:ext cx="113352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2119362" y="2831157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3479899" y="2399556"/>
            <a:ext cx="1435150" cy="637877"/>
          </a:xfrm>
          <a:prstGeom prst="roundRect">
            <a:avLst>
              <a:gd name="adj" fmla="val 1194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630711" y="2510582"/>
            <a:ext cx="113352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630711" y="2831157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Rules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991249" y="2399556"/>
            <a:ext cx="1435150" cy="637877"/>
          </a:xfrm>
          <a:prstGeom prst="roundRect">
            <a:avLst>
              <a:gd name="adj" fmla="val 1194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142061" y="2510582"/>
            <a:ext cx="113352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142061" y="2840682"/>
            <a:ext cx="11335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6527899" y="834777"/>
            <a:ext cx="2158901" cy="2893814"/>
          </a:xfrm>
          <a:prstGeom prst="roundRect">
            <a:avLst>
              <a:gd name="adj" fmla="val 3530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689824" y="971252"/>
            <a:ext cx="18717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4-Axis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689824" y="1212354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804124" y="1148953"/>
            <a:ext cx="175516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PromptAssembler 6-Phase + SHA-256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689824" y="1524298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804124" y="1460897"/>
            <a:ext cx="1530495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while(tool_use) · 50R × 200T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689824" y="1711970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804124" y="1648569"/>
            <a:ext cx="1317057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5-Layer · Cross-LLM α≥0.67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689824" y="1899642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804124" y="1836241"/>
            <a:ext cx="155766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46-Event Hook · LangSmith/OTEL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527899" y="3804791"/>
            <a:ext cx="2158901" cy="1119783"/>
          </a:xfrm>
          <a:prstGeom prst="roundRect">
            <a:avLst>
              <a:gd name="adj" fmla="val 6805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689824" y="3941266"/>
            <a:ext cx="187175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(이식 증거)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689824" y="4115842"/>
            <a:ext cx="187175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 소스 · 103K LoC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689824" y="4290864"/>
            <a:ext cx="187175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세션 · 1,133 LLM 라운드 · 5h 48m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689824" y="4491186"/>
            <a:ext cx="18717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mvn compile+test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689824" y="4681538"/>
            <a:ext cx="187175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때문에 코어 수정 0줄 — 하네스 이식성의 실증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457200" y="4987975"/>
            <a:ext cx="205376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Feb 21 – Mar 28, 2026 · Anthropic / OpenAI / ZhipuAI</a:t>
            </a:r>
            <a:endParaRPr lang="en-US" sz="500" dirty="0"/>
          </a:p>
        </p:txBody>
      </p:sp>
      <p:sp>
        <p:nvSpPr>
          <p:cNvPr id="59" name="Text 57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34</a:t>
            </a:r>
            <a:endParaRPr lang="en-US" sz="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4319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· DISCIPLINE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Engineering은 디시플린입니다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도구가 아닌 습관 — 4축이 매 릴리스마다 실천될 때 하네스가 장기 운용된다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57101"/>
            <a:ext cx="2133600" cy="4067473"/>
          </a:xfrm>
          <a:prstGeom prst="roundRect">
            <a:avLst>
              <a:gd name="adj" fmla="val 3571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1473547"/>
            <a:ext cx="1809750" cy="596801"/>
          </a:xfrm>
          <a:prstGeom prst="roundRect">
            <a:avLst>
              <a:gd name="adj" fmla="val 85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6476" y="1600498"/>
            <a:ext cx="15350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"확률적 시스템은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 없이 발산한다"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1028" y="2171849"/>
            <a:ext cx="1845945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발산을 루프와 가치로</a:t>
            </a:r>
            <a:endParaRPr lang="en-US" sz="7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수렴시키는 하네스를 만듭니다.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19125" y="2562374"/>
            <a:ext cx="18097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1028" y="2668637"/>
            <a:ext cx="184594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디시플린은 일회성 설계가 아니다. 매 PR마다, 매 릴리스마다 4축이 실천되어야 하네스가 살아남는다.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19125" y="3087291"/>
            <a:ext cx="1809750" cy="466427"/>
          </a:xfrm>
          <a:prstGeom prst="roundRect">
            <a:avLst>
              <a:gd name="adj" fmla="val 1089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0517" y="3188791"/>
            <a:ext cx="15869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v0.6 → v0.31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0517" y="3366492"/>
            <a:ext cx="158696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25버전 동안 4축이 유지됨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619125" y="3680520"/>
            <a:ext cx="1809750" cy="627459"/>
          </a:xfrm>
          <a:prstGeom prst="roundRect">
            <a:avLst>
              <a:gd name="adj" fmla="val 8096"/>
            </a:avLst>
          </a:prstGeom>
          <a:solidFill>
            <a:srgbClr val="1A1A2E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55600" y="3778895"/>
            <a:ext cx="15675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디시플린 비용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755600" y="3889921"/>
            <a:ext cx="1567535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4축 실천은 PR마다 시간이 든다. 이를 포기하면 릴리스 속도는 올라가지만 회귀가 쌓인다. 39/39 무회귀가 그 비용의 수익이다.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692301" y="857101"/>
            <a:ext cx="5994499" cy="959644"/>
          </a:xfrm>
          <a:prstGeom prst="roundRect">
            <a:avLst>
              <a:gd name="adj" fmla="val 79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854226" y="968127"/>
            <a:ext cx="38100" cy="737592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993827" y="1189286"/>
            <a:ext cx="49886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제어 — 장기 진화 방향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993827" y="1351211"/>
            <a:ext cx="498860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캐싱 → Semantic diff 기반 선택적 재생성으로 진화. Provider별 캐시 효율 최적화가 장기 비용 절감의 핵심.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986117" y="1151186"/>
            <a:ext cx="538758" cy="371475"/>
          </a:xfrm>
          <a:prstGeom prst="roundRect">
            <a:avLst>
              <a:gd name="adj" fmla="val 13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110219" y="1227386"/>
            <a:ext cx="2905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10219" y="1360736"/>
            <a:ext cx="290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절감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2692301" y="1892945"/>
            <a:ext cx="5994499" cy="959793"/>
          </a:xfrm>
          <a:prstGeom prst="roundRect">
            <a:avLst>
              <a:gd name="adj" fmla="val 793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854226" y="2003971"/>
            <a:ext cx="38100" cy="737741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993827" y="2225278"/>
            <a:ext cx="49096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 — 장기 진화 방향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993827" y="2387203"/>
            <a:ext cx="490966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루프 → Plan-first + Executor 분리 → 멀티 에이전트 DAG 오케스트레이션. 수렴 감지와 다양성 강제가 루프 품질을 유지.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908727" y="2187029"/>
            <a:ext cx="616148" cy="371475"/>
          </a:xfrm>
          <a:prstGeom prst="roundRect">
            <a:avLst>
              <a:gd name="adj" fmla="val 13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032054" y="2263229"/>
            <a:ext cx="369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32054" y="2396579"/>
            <a:ext cx="3694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×200 turns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2692301" y="2928938"/>
            <a:ext cx="5994499" cy="959644"/>
          </a:xfrm>
          <a:prstGeom prst="roundRect">
            <a:avLst>
              <a:gd name="adj" fmla="val 79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854226" y="3039963"/>
            <a:ext cx="38100" cy="737592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993827" y="3261122"/>
            <a:ext cx="491649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— 장기 진화 방향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993827" y="3423047"/>
            <a:ext cx="4916498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정적 검증 → CUSUM 드리프트 감지 + 실시간 Cross-LLM 합의도 추적. 비결정론을 측정 가능한 지표로 관리.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915424" y="3223022"/>
            <a:ext cx="609451" cy="371475"/>
          </a:xfrm>
          <a:prstGeom prst="roundRect">
            <a:avLst>
              <a:gd name="adj" fmla="val 13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038819" y="3299222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α≥0.67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38819" y="3432572"/>
            <a:ext cx="3626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합의도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692301" y="3964781"/>
            <a:ext cx="5994499" cy="959793"/>
          </a:xfrm>
          <a:prstGeom prst="roundRect">
            <a:avLst>
              <a:gd name="adj" fmla="val 793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854226" y="4075807"/>
            <a:ext cx="38100" cy="737741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993827" y="4297114"/>
            <a:ext cx="48384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 — 장기 진화 방향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993827" y="4459039"/>
            <a:ext cx="4838471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LangSmith/OTEL 수동 트레이싱 → 자동 비용 예측 + 예산 소진율 알림 → ML 기반 실행 계획 최적화.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838926" y="4258866"/>
            <a:ext cx="685949" cy="371475"/>
          </a:xfrm>
          <a:prstGeom prst="roundRect">
            <a:avLst>
              <a:gd name="adj" fmla="val 136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961556" y="4335066"/>
            <a:ext cx="4406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961556" y="4468416"/>
            <a:ext cx="4406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457200" y="4987975"/>
            <a:ext cx="241597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Harness Engineering = Context × Loop × Validation × Observation</a:t>
            </a:r>
            <a:endParaRPr lang="en-US" sz="500" dirty="0"/>
          </a:p>
        </p:txBody>
      </p:sp>
      <p:sp>
        <p:nvSpPr>
          <p:cNvPr id="47" name="Text 45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34</a:t>
            </a:r>
            <a:endParaRPr lang="en-US" sz="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ngo/workspace/portfolio/geode/versions/v5/slides/assets/bg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84150" y="157014"/>
            <a:ext cx="5900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41182" y="171301"/>
            <a:ext cx="18825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· Feb 21 – Mar 28,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1124545"/>
            <a:ext cx="6058049" cy="1031974"/>
          </a:xfrm>
          <a:prstGeom prst="roundRect">
            <a:avLst>
              <a:gd name="adj" fmla="val 7384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44426" y="1261021"/>
            <a:ext cx="57972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Thesis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4426" y="1445121"/>
            <a:ext cx="5797269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"확률적 시스템(LLM)은 제어 없이 발산합니다.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발산을 루프와 가치로 수렴시키는 하네스를 만듭니다."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4426" y="1886843"/>
            <a:ext cx="5797269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v0.31.0 — 36일, 1,160 커밋, 39 릴리스가 이 명제의 실증입니다.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57200" y="2258020"/>
            <a:ext cx="6058049" cy="831652"/>
          </a:xfrm>
          <a:prstGeom prst="roundRect">
            <a:avLst>
              <a:gd name="adj" fmla="val 916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44426" y="2394496"/>
            <a:ext cx="57972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Loop — 하네스의 3개 피드백 사이클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44426" y="2594521"/>
            <a:ext cx="1674465" cy="358676"/>
          </a:xfrm>
          <a:prstGeom prst="roundRect">
            <a:avLst>
              <a:gd name="adj" fmla="val 141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31212" y="2670721"/>
            <a:ext cx="15008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Loop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731212" y="2791271"/>
            <a:ext cx="15008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→ CANNOT → 다음 설계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2420392" y="2702421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48992" y="2594521"/>
            <a:ext cx="1674465" cy="358676"/>
          </a:xfrm>
          <a:prstGeom prst="roundRect">
            <a:avLst>
              <a:gd name="adj" fmla="val 141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735778" y="2670721"/>
            <a:ext cx="15008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Loop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2735778" y="2791271"/>
            <a:ext cx="15008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→ PR → CHANGELOG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4424958" y="2702421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653558" y="2594521"/>
            <a:ext cx="1674465" cy="358676"/>
          </a:xfrm>
          <a:prstGeom prst="roundRect">
            <a:avLst>
              <a:gd name="adj" fmla="val 141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740344" y="2670721"/>
            <a:ext cx="15008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Loop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740344" y="2791271"/>
            <a:ext cx="15008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→ Hook → LEARNINGS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457200" y="3191173"/>
            <a:ext cx="6058049" cy="977057"/>
          </a:xfrm>
          <a:prstGeom prst="roundRect">
            <a:avLst>
              <a:gd name="adj" fmla="val 77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44426" y="3327648"/>
            <a:ext cx="57972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Value Propositions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44426" y="3568750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784027" y="3505349"/>
            <a:ext cx="294303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23 CANNOT + 21 Skills로 LLM 자율성과 제어의 균형을 잡는 방법론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644426" y="3765352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784027" y="3701951"/>
            <a:ext cx="311867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50R × 200T 장기 실행을 비용 상한 + 수렴 감지로 안정 운용하는 기술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44426" y="3961954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784027" y="3898553"/>
            <a:ext cx="2887173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GEODE → REODE 이식 — 하네스가 도메인을 선택하지 않는 구조</a:t>
            </a:r>
            <a:endParaRPr lang="en-US" sz="700" dirty="0"/>
          </a:p>
        </p:txBody>
      </p:sp>
      <p:pic>
        <p:nvPicPr>
          <p:cNvPr id="31" name="Image 1" descr="/Users/mango/workspace/portfolio/geode/versions/v5/slides/assets/masc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149" y="566142"/>
            <a:ext cx="1396901" cy="1396901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718399" y="2089993"/>
            <a:ext cx="1968401" cy="1273076"/>
          </a:xfrm>
          <a:prstGeom prst="roundRect">
            <a:avLst>
              <a:gd name="adj" fmla="val 598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6863879" y="2251918"/>
            <a:ext cx="1677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류지환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6863879" y="2528143"/>
            <a:ext cx="16774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6880324" y="2723406"/>
            <a:ext cx="1644551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863879" y="2804368"/>
            <a:ext cx="16774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GEODE · REODE</a:t>
            </a:r>
            <a:endParaRPr lang="en-US" sz="700" dirty="0"/>
          </a:p>
        </p:txBody>
      </p:sp>
      <p:sp>
        <p:nvSpPr>
          <p:cNvPr id="37" name="Text 33"/>
          <p:cNvSpPr/>
          <p:nvPr/>
        </p:nvSpPr>
        <p:spPr>
          <a:xfrm>
            <a:off x="6863879" y="2959894"/>
            <a:ext cx="16774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v0.31.0 · 1,160 commits</a:t>
            </a:r>
            <a:endParaRPr lang="en-US" sz="700" dirty="0"/>
          </a:p>
        </p:txBody>
      </p:sp>
      <p:sp>
        <p:nvSpPr>
          <p:cNvPr id="38" name="Text 34"/>
          <p:cNvSpPr/>
          <p:nvPr/>
        </p:nvSpPr>
        <p:spPr>
          <a:xfrm>
            <a:off x="6863879" y="3105894"/>
            <a:ext cx="16774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21 – Mar 28, 2026</a:t>
            </a:r>
            <a:endParaRPr lang="en-US" sz="700" dirty="0"/>
          </a:p>
        </p:txBody>
      </p:sp>
      <p:sp>
        <p:nvSpPr>
          <p:cNvPr id="39" name="Text 35"/>
          <p:cNvSpPr/>
          <p:nvPr/>
        </p:nvSpPr>
        <p:spPr>
          <a:xfrm>
            <a:off x="6718399" y="3490020"/>
            <a:ext cx="1968401" cy="469404"/>
          </a:xfrm>
          <a:prstGeom prst="roundRect">
            <a:avLst>
              <a:gd name="adj" fmla="val 108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6828205" y="3591520"/>
            <a:ext cx="1748790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감사합니다.</a:t>
            </a:r>
            <a:endParaRPr lang="en-US" sz="7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질문은 언제든 환영합니다.</a:t>
            </a:r>
            <a:endParaRPr lang="en-US" sz="700" dirty="0"/>
          </a:p>
        </p:txBody>
      </p:sp>
      <p:sp>
        <p:nvSpPr>
          <p:cNvPr id="41" name="Text 37"/>
          <p:cNvSpPr/>
          <p:nvPr/>
        </p:nvSpPr>
        <p:spPr>
          <a:xfrm>
            <a:off x="6718399" y="4086374"/>
            <a:ext cx="1968401" cy="640259"/>
          </a:xfrm>
          <a:prstGeom prst="roundRect">
            <a:avLst>
              <a:gd name="adj" fmla="val 7934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6837920" y="4184749"/>
            <a:ext cx="17293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Trade-off</a:t>
            </a:r>
            <a:endParaRPr lang="en-US" sz="600" dirty="0"/>
          </a:p>
        </p:txBody>
      </p:sp>
      <p:sp>
        <p:nvSpPr>
          <p:cNvPr id="43" name="Text 39"/>
          <p:cNvSpPr/>
          <p:nvPr/>
        </p:nvSpPr>
        <p:spPr>
          <a:xfrm>
            <a:off x="6837920" y="4308574"/>
            <a:ext cx="1729359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자율성을 높이면 안전 비용이 오른다. 46 Hook + 3 Brake + 5-Tier로 그 비용을 지불했고, 36일 무중단 실행이 수익이다.</a:t>
            </a:r>
            <a:endParaRPr lang="en-US" sz="600" dirty="0"/>
          </a:p>
        </p:txBody>
      </p:sp>
      <p:sp>
        <p:nvSpPr>
          <p:cNvPr id="44" name="Text 40"/>
          <p:cNvSpPr/>
          <p:nvPr/>
        </p:nvSpPr>
        <p:spPr>
          <a:xfrm>
            <a:off x="457200" y="4975324"/>
            <a:ext cx="202370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/ OpenAI / ZhipuAI · 3 Providers · 187 Modules · 3,201 Tests</a:t>
            </a:r>
            <a:endParaRPr lang="en-US" sz="500" dirty="0"/>
          </a:p>
        </p:txBody>
      </p:sp>
      <p:sp>
        <p:nvSpPr>
          <p:cNvPr id="45" name="Text 41"/>
          <p:cNvSpPr/>
          <p:nvPr/>
        </p:nvSpPr>
        <p:spPr>
          <a:xfrm>
            <a:off x="8492728" y="4975324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34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GEODE v0.30 — Autonomous Execution Harness</dc:title>
  <dc:subject>PptxGenJS Presentation</dc:subject>
  <dc:creator>mangowhoiscloud</dc:creator>
  <cp:lastModifiedBy>mangowhoiscloud</cp:lastModifiedBy>
  <cp:revision>1</cp:revision>
  <dcterms:created xsi:type="dcterms:W3CDTF">2026-03-28T05:57:18Z</dcterms:created>
  <dcterms:modified xsi:type="dcterms:W3CDTF">2026-03-28T05:57:18Z</dcterms:modified>
</cp:coreProperties>
</file>