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7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7701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99876"/>
            <a:ext cx="8425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42895" y="204639"/>
            <a:ext cx="12687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 · 1,160 커밋 · 39 릴리스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265783"/>
            <a:ext cx="2801689" cy="260152"/>
          </a:xfrm>
          <a:prstGeom prst="roundRect">
            <a:avLst>
              <a:gd name="adj" fmla="val 195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3675" y="135775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6075" y="1338709"/>
            <a:ext cx="24238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→ 50 rounds × 200 turns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652885"/>
            <a:ext cx="62698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150715"/>
            <a:ext cx="62698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 하네스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445990"/>
            <a:ext cx="6269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Autonomous Execution Harness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757041"/>
            <a:ext cx="25301" cy="355550"/>
          </a:xfrm>
          <a:prstGeom prst="roundRect">
            <a:avLst>
              <a:gd name="adj" fmla="val 50196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4002" y="2768054"/>
            <a:ext cx="9914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4002" y="2968079"/>
            <a:ext cx="991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77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77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0193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698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1698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5814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7319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7319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940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2940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pic>
        <p:nvPicPr>
          <p:cNvPr id="27" name="Image 1" descr="/Users/mango/workspace/portfolio/geode/versions/v7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99" y="1430387"/>
            <a:ext cx="1777901" cy="177790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12509" y="3309789"/>
            <a:ext cx="1170533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365967" y="3420814"/>
            <a:ext cx="863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Analysis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365967" y="3573214"/>
            <a:ext cx="8636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Harness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457200" y="4930825"/>
            <a:ext cx="23242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to Mar 28, 2026 · Anthropic / OpenAI / ZhipuAI · 3 Providers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8453735" y="4930825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35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9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HOOK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36일의 피봇 스토리: 과제 → 탈락 → 자율 하네스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재사용이 안 된다. 탈락이 하네스 인프라로의 피봇을 결정했다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776710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081" y="19131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81" y="2046536"/>
            <a:ext cx="179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81" y="2211586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76081" y="237351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넥슨 코딩 과제: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76081" y="2478286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파이프라인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81" y="258306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에이전트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66999" y="282431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3002012"/>
            <a:ext cx="2032397" cy="231577"/>
          </a:xfrm>
          <a:prstGeom prst="roundRect">
            <a:avLst>
              <a:gd name="adj" fmla="val 2193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3074938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v0.1 · 3 Provider 초기 설계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489597" y="2056061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19846" y="1776710"/>
            <a:ext cx="1141661" cy="990451"/>
          </a:xfrm>
          <a:prstGeom prst="roundRect">
            <a:avLst>
              <a:gd name="adj" fmla="val 7693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09116" y="1922711"/>
            <a:ext cx="7631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009116" y="2056061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09116" y="2249686"/>
            <a:ext cx="763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03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009116" y="2411611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"도메인 에이전트로는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009116" y="2516386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부족하다"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84352" y="2767161"/>
            <a:ext cx="12650" cy="177701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60650" y="2944862"/>
            <a:ext cx="659904" cy="231577"/>
          </a:xfrm>
          <a:prstGeom prst="roundRect">
            <a:avLst>
              <a:gd name="adj" fmla="val 2193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67298" y="3017788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피봇 결정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961507" y="2056061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1757" y="1776710"/>
            <a:ext cx="2032397" cy="1028551"/>
          </a:xfrm>
          <a:prstGeom prst="roundRect">
            <a:avLst>
              <a:gd name="adj" fmla="val 740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10638" y="19131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410638" y="2046536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강화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10638" y="2221111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04 to Mar 18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10638" y="238303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410638" y="24782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Compaction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10638" y="257353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3-Brake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01555" y="280526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291757" y="2982962"/>
            <a:ext cx="2032397" cy="317302"/>
          </a:xfrm>
          <a:prstGeom prst="roundRect">
            <a:avLst>
              <a:gd name="adj" fmla="val 16010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02782" y="3055888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402782" y="3141613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324154" y="2056061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54403" y="1776710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73284" y="19131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FORK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773284" y="2046536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제품화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73284" y="2221111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19 to Mar 28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773284" y="238303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→ Fork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73284" y="2478286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73284" y="258306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패스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664202" y="282431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54403" y="3002012"/>
            <a:ext cx="2032397" cy="231577"/>
          </a:xfrm>
          <a:prstGeom prst="roundRect">
            <a:avLst>
              <a:gd name="adj" fmla="val 2193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765429" y="3074938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패턴 재사용 증명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57200" y="3452664"/>
            <a:ext cx="8229600" cy="536377"/>
          </a:xfrm>
          <a:prstGeom prst="roundRect">
            <a:avLst>
              <a:gd name="adj" fmla="val 94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6250" y="3452664"/>
            <a:ext cx="0" cy="53637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700" y="3528864"/>
            <a:ext cx="80444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피봇의 결론: 도메인 전문성 vs 인프라 재사용성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7700" y="3677989"/>
            <a:ext cx="8044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분석하는가의 문제다. 하네스는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오래, 안전하게 실행하는가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문제다.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47700" y="3808065"/>
            <a:ext cx="8044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결과를 선택했다면 재사용성이 없는 일회성 프로젝트로 끝났을 것이다. 하네스 인프라를 선택했기 때문에 REODE 포크가 가능해졌고, </a:t>
            </a:r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83/83 빌드를 통과</a:t>
            </a:r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했다.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56274"/>
            <a:ext cx="164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 · 39 releases · 36 days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35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930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4-Axis: 장기 운용에서 컨텍스트·루프·검증·관측 4축이 없으면 열화가 불가피하다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539901" cy="104775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405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주장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3675" y="1152227"/>
            <a:ext cx="2312289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단독 실행은 비결정론, 컨텍스트 손실, 비용 폭발, 루프 고착 4가지 이유로 반드시 발산한다.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3675" y="1510308"/>
            <a:ext cx="23122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수렴시키는 것이 하네스의 역할이다. 4개 축이 없으면 자율 실행은 불가능하다.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971526"/>
            <a:ext cx="2539901" cy="1104602"/>
          </a:xfrm>
          <a:prstGeom prst="roundRect">
            <a:avLst>
              <a:gd name="adj" fmla="val 689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210800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운용의 열화: 실제 예시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6075" y="2276177"/>
            <a:ext cx="2114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채우면 응답 품질 저하 시작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10턴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넘으면 인사이트 휘발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drift로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변화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같은 입력에도 다른 출력 발생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 → CUSUM이 드리프트 미감지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93675" y="2834878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4축 자동 보정이 없으면 발산은 불가피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24051" y="847576"/>
            <a:ext cx="2743200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605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87477" y="984052"/>
            <a:ext cx="1050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· Context Control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0527" y="1171277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60527" y="1339453"/>
            <a:ext cx="2519654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세션 프롬프트를 수동 편집하면 drift가 발생했기 때문에 PromptAssembler 6-Phase + SHA-256으로 자동 조립한다. 80%/95%에서 compaction이 발동해 루프가 컨텍스트 과부하로 중단되지 않는다.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60527" y="2483048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49377" y="2546449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PromptAssembler · CompactionHook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43451" y="847576"/>
            <a:ext cx="2743349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799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06877" y="984052"/>
            <a:ext cx="10448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2 · Execution Loop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79927" y="1171277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079927" y="1339453"/>
            <a:ext cx="251980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 없이 실행하면 비용·수렴·탐색 고착이 발생하기 때문에 3개 자동 브레이크를 설계했다. 실측 평균 4.2 라운드 종료, 상한은 50 라운드.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79927" y="2483048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68777" y="2546449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AgenticLoop · SafetyBrake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124051" y="2908250"/>
            <a:ext cx="2743200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605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87477" y="3044726"/>
            <a:ext cx="826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3 · Verification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60527" y="3231952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60527" y="3400127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Anchoring 편향으로 점수 분산이 ±18점이었기 때문에 5-Layer 검증(Guardrails→BiasBuster→Cross-LLM→Rights→Ground Truth)으로 신뢰도를 확보했다.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60527" y="4543871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49377" y="4607272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VerificationPipeline · CrossLLM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943451" y="2908250"/>
            <a:ext cx="2743349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799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06877" y="3044726"/>
            <a:ext cx="924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· Observability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79927" y="3231952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79927" y="3400127"/>
            <a:ext cx="251980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공백이 있으면 CUSUM이 드리프트를 감지하지 못했기 때문에 46 Hook Events로 신경계를 구성하고 TokenTracker로 실시간 비용을 추적한다.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79927" y="4543871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68777" y="4607272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HookSystem · TokenTracker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57200" y="4956274"/>
            <a:ext cx="20528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4축은 서로 보완하며, 하나의 결함이 전체 자율 실행을 무너뜨립니다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35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 → DEV → RUNTIME + 46 Hook 신경계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스캐폴드가 자기 자신을 개발하고, RUNTIME이 자율 실행한다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776" y="1060252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776" y="1203127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 루프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380976" y="971401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20577" y="988368"/>
            <a:ext cx="383868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인간이 직접 코딩하면 Harness가 실패하기 때문에 Claude Code가 GEODE를 자체 개발했다. 21 Skills + CANNOT 23-Rule + Socratic Gate로 1,160 커밋을 생성했다.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20577" y="1275011"/>
            <a:ext cx="38386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harness-for-real 해커톤 · "키보드에 손이 닿는 순간 하네스의 실패다"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410944" y="1025426"/>
            <a:ext cx="853380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12445" y="1088827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512445" y="1174552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425줄 CLAUDE.md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97510" y="1577727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834902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776" y="204757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776" y="2190452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루프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80976" y="1958727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20577" y="1975693"/>
            <a:ext cx="410586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없이 머지하면 회귀가 쌓이기 때문에 AgenticLoop가 8-Step Loop로 PR 단위 코드를 작성하며 70% 테스트 비율을 강제한다. 결과: 39/39 릴리스 무회귀.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20577" y="2262336"/>
            <a:ext cx="41058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typecheck+lint backpressure · LEARNINGS.md 패턴 축적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672882" y="2012752"/>
            <a:ext cx="591443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74382" y="2076152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774382" y="2161877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97510" y="2565053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822228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2776" y="3034903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776" y="3177778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실행 루프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380976" y="2946053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20577" y="2963019"/>
            <a:ext cx="421394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없이 장기 실행하기 위해 Safety Brake·Scheduler·Gateway를 추가했다. 52 Tools + 45 MCP + 46 Hook이 while(tool_use) 50 라운드를 자율 구동한다.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520577" y="3249662"/>
            <a:ext cx="42139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Brake · Scheduler · Gateway: 사람 없이 오래 실행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778847" y="3000077"/>
            <a:ext cx="485477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80348" y="3063478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880348" y="3149203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MCP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553200" y="847576"/>
            <a:ext cx="2133600" cy="1841302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89675" y="984052"/>
            <a:ext cx="50750" cy="1524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16626" y="998339"/>
            <a:ext cx="556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신경계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1069" y="1212652"/>
            <a:ext cx="18978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71069" y="1536502"/>
            <a:ext cx="1897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2075" y="1733252"/>
            <a:ext cx="170824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PIPELINE_START / PIPELINE_END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/ NODE_EXIT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MEMORY_SAVED / TURN_COMPLETE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SUBAGENT_STARTED / SUBAGENT_COMPLETED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689675" y="2380952"/>
            <a:ext cx="1897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기반 핸들러 실행. 핸들러 간 에러 격리로 한 이벤트 실패가 루프를 중단시키지 않는다.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53200" y="2765078"/>
            <a:ext cx="2133600" cy="727174"/>
          </a:xfrm>
          <a:prstGeom prst="roundRect">
            <a:avLst>
              <a:gd name="adj" fmla="val 104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64226" y="2876104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증강 피드백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64226" y="3031629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이벤트 → MEMORY.md 인사이트 자동 축적 → 다음 세션 PromptAssembler가 반영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664226" y="3295501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3-Loop가 서로 강화한다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553200" y="3568452"/>
            <a:ext cx="2133600" cy="1099691"/>
          </a:xfrm>
          <a:prstGeom prst="roundRect">
            <a:avLst>
              <a:gd name="adj" fmla="val 4619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64226" y="3654177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왜 3중 루프인가?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64226" y="3784253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DEV+RUNTIME 2중 루프로는 규칙이 진화하지 않는다. 같은 실수가 반복되고 패턴이 코드베이스에 남는다.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664226" y="4048125"/>
            <a:ext cx="930325" cy="397818"/>
          </a:xfrm>
          <a:prstGeom prst="roundRect">
            <a:avLst>
              <a:gd name="adj" fmla="val 957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40426" y="4098875"/>
            <a:ext cx="793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2중 루프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740426" y="4197251"/>
            <a:ext cx="79348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위반 반복 · 학습 없음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645301" y="4048125"/>
            <a:ext cx="930473" cy="397818"/>
          </a:xfrm>
          <a:prstGeom prst="roundRect">
            <a:avLst>
              <a:gd name="adj" fmla="val 957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721501" y="4098875"/>
            <a:ext cx="793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추가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721501" y="4197251"/>
            <a:ext cx="79363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규칙이 CHANGELOG에서 진화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664226" y="4496693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META 루프 투자 시간 ↑ · 수익: RUNTIME 품질 복리 ↑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457200" y="4956274"/>
            <a:ext cx="27397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META가 DEV를 낳고, DEV가 RUNTIME을 완성하고, RUNTIME이 META를 강화한다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35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0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WHAT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Architecture: 187 모듈이 수직 분리된 이유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계층으로 설계하면 LLM 교체 시 전체를 다시 짜야 했기 때문에 Port/Adapter로 6-Layer를 수직 분리했다</a:t>
            </a:r>
            <a:endParaRPr lang="en-US" sz="800" dirty="0"/>
          </a:p>
        </p:txBody>
      </p:sp>
      <p:pic>
        <p:nvPicPr>
          <p:cNvPr id="6" name="Image 0" descr="/Users/mango/workspace/portfolio/geode/versions/v7/slides/assets/v028-diagram-3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847576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14606" y="3374827"/>
            <a:ext cx="14289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수직 분리 · Hook이 모든 계층을 횡단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527899" y="8475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89824" y="971401"/>
            <a:ext cx="4754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57455" y="1020663"/>
            <a:ext cx="7998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257455" y="1160264"/>
            <a:ext cx="799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하위 계층별 분리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527899" y="14952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89824" y="16191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02078" y="1668363"/>
            <a:ext cx="6699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102078" y="1807964"/>
            <a:ext cx="669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횡단 관측 신경계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527899" y="2142976"/>
            <a:ext cx="2158901" cy="993577"/>
          </a:xfrm>
          <a:prstGeom prst="roundRect">
            <a:avLst>
              <a:gd name="adj" fmla="val 7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89824" y="2266801"/>
            <a:ext cx="18717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계층별 역할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816775" y="2434977"/>
            <a:ext cx="1708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Gateway: 채널 입력 라우팅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Orchestrator: AgenticLoop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Tool/Agent: 52 Tools + Sub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LLM: 3-Provider Failover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Memory: 4-Tier 학습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689824" y="2927003"/>
            <a:ext cx="18717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→ LLM 교체 시 나머지 불변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527899" y="3212753"/>
            <a:ext cx="2158901" cy="1105942"/>
          </a:xfrm>
          <a:prstGeom prst="roundRect">
            <a:avLst>
              <a:gd name="adj" fmla="val 6890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89824" y="3336578"/>
            <a:ext cx="18717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6-Layer인가?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689824" y="3504754"/>
            <a:ext cx="1871752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3-Layer(Presentation/Business/Data)는 에이전트에 맞지 않는다. 도구·메모리·오케스트레이션이 독립적으로 교체되어야 한다.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816775" y="3875187"/>
            <a:ext cx="1708100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교체 → L4만 변경, 나머지 불변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백엔드 교체 → L5만 변경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 → L3만 확장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57200" y="4956274"/>
            <a:ext cx="160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modules · 3,201 tests · 46 hooks · v0.31.0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2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EXECUTION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AgenticLoop: while(tool_use) 50 rounds × 200-turn Window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while(tool_use) 패턴을 참고했고, 제어 없이 실행하면 무한 소모이기 때문에 5가지 종료 경로로 수렴을 강제했다</a:t>
            </a:r>
            <a:endParaRPr lang="en-US" sz="800" dirty="0"/>
          </a:p>
        </p:txBody>
      </p:sp>
      <p:pic>
        <p:nvPicPr>
          <p:cNvPr id="6" name="Image 0" descr="/Users/mango/workspace/portfolio/geode/versions/v7/slides/assets/v028-diagram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838051"/>
            <a:ext cx="5079950" cy="236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48678" y="3251002"/>
            <a:ext cx="1458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실행 흐름 · 루프백 + 5 종료 경로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26250" y="838051"/>
            <a:ext cx="2260550" cy="600075"/>
          </a:xfrm>
          <a:prstGeom prst="roundRect">
            <a:avLst>
              <a:gd name="adj" fmla="val 1269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83497" y="961876"/>
            <a:ext cx="477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497" y="1228576"/>
            <a:ext cx="477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Rounds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82892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17813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7813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Window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917359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52280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52280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Paths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426250" y="1514326"/>
            <a:ext cx="2260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88175" y="1638151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715125" y="1806327"/>
            <a:ext cx="18097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end_turn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LLM이 tool_use 없이 응답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50라운드 도달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동일 에러 3회 반복 감지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force_text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잔여 2라운드에서 텍스트 강제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budget_stop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세션 비용 상한 초과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426250" y="2587377"/>
            <a:ext cx="2260550" cy="851148"/>
          </a:xfrm>
          <a:prstGeom prst="roundRect">
            <a:avLst>
              <a:gd name="adj" fmla="val 895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88175" y="2711202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8175" y="2879378"/>
            <a:ext cx="197543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메시지 초과 시 최초 사용자 메시지 보존 + bridge 삽입. 80%에서 compact, 95%에서 emergency prune 자동 발동.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588175" y="3143250"/>
            <a:ext cx="19754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2회 연속 실패 → Provider 모델 체인 → Cross-Provider Fallback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426250" y="3514725"/>
            <a:ext cx="2260550" cy="1127075"/>
          </a:xfrm>
          <a:prstGeom prst="roundRect">
            <a:avLst>
              <a:gd name="adj" fmla="val 6761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588175" y="3638550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max 50 rounds?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588175" y="3794075"/>
            <a:ext cx="1975434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기반: 평균 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라운드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자연 종료(end_turn). 50은 탈출 불가 상황의 안전망이며 긴 분석 작업에서 드물게 30+ 라운드 도달.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588175" y="4164509"/>
            <a:ext cx="611684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659782" y="4215259"/>
            <a:ext cx="4684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59782" y="4381500"/>
            <a:ext cx="468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라운드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250609" y="4164509"/>
            <a:ext cx="611832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322214" y="4215259"/>
            <a:ext cx="46862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22214" y="4381500"/>
            <a:ext cx="4686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분석 시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913191" y="4164509"/>
            <a:ext cx="611684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984799" y="4215259"/>
            <a:ext cx="4684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984799" y="4381500"/>
            <a:ext cx="468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안전망 상한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57200" y="4956274"/>
            <a:ext cx="2567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while(tool_use) 패턴 참고 · core/orchestration/agentic_loop.py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35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921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실행의 3대 위험과 자동 브레이크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자율성과 안전의 균형: 사람 없이 하네스를 보호하는 3가지 메커니즘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675483" cy="3737521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40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9698" y="104120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8475" y="1036439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3675" y="1276052"/>
            <a:ext cx="2402532" cy="655290"/>
          </a:xfrm>
          <a:prstGeom prst="roundRect">
            <a:avLst>
              <a:gd name="adj" fmla="val 7752"/>
            </a:avLst>
          </a:prstGeom>
          <a:solidFill>
            <a:srgbClr val="1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176" y="13522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위험: 실제 비용 계산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95176" y="1482328"/>
            <a:ext cx="2243521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특성상 비용 폭발은 구조적으로 불가피.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50라운드 × $0.15/turn = 세션당 $7.50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budget 초과 시 자동 정지가 없으면 하룻밤 무인 실행에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$500+ 소모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가능.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1994743"/>
            <a:ext cx="2402532" cy="674340"/>
          </a:xfrm>
          <a:prstGeom prst="roundRect">
            <a:avLst>
              <a:gd name="adj" fmla="val 7533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4701" y="2080468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브레이크: 인과 흐름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4701" y="2210544"/>
            <a:ext cx="222409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TokenTracker가 매 턴 비용 누적 → budget 상한 도달 시 budget_stop 신호 → PIPELINE_END 강제 발화. 사람 없이 비용 상한을 보장한다.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3675" y="4156621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2051" y="4216896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P3 원칙 적용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92051" y="4302621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budget_stop → PIPELINE_END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234184" y="847576"/>
            <a:ext cx="2675632" cy="3737521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70659" y="9840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56682" y="104120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75459" y="1036439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70659" y="1276052"/>
            <a:ext cx="2402681" cy="531019"/>
          </a:xfrm>
          <a:prstGeom prst="roundRect">
            <a:avLst>
              <a:gd name="adj" fmla="val 9567"/>
            </a:avLst>
          </a:prstGeom>
          <a:solidFill>
            <a:srgbClr val="1A0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72160" y="1352252"/>
            <a:ext cx="22436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위험: 수렴 고착의 비용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72160" y="1482328"/>
            <a:ext cx="224367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동일한 에러를 반복하면 50 rounds 전체를 낭비한다. 동일 요청에 $7.50를 태우고 실패를 반환하는 구조적 낭비다.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70659" y="1870472"/>
            <a:ext cx="2402681" cy="674340"/>
          </a:xfrm>
          <a:prstGeom prst="roundRect">
            <a:avLst>
              <a:gd name="adj" fmla="val 7533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81685" y="1956197"/>
            <a:ext cx="22242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브레이크: 인과 흐름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81685" y="2086273"/>
            <a:ext cx="2224242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→ 수렴 판정 → Haiku→Sonnet→Opus 상위 모델 에스컬레이션 → 모델 체인 소진 시 Cross-Provider 자동 이동.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370659" y="4156621"/>
            <a:ext cx="2402681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69035" y="4216896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P4 원칙 적용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469035" y="4302621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→ model escalation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011317" y="847576"/>
            <a:ext cx="2675483" cy="3737521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47792" y="9840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33815" y="104120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52592" y="1036439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고착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47792" y="1276052"/>
            <a:ext cx="2402532" cy="531019"/>
          </a:xfrm>
          <a:prstGeom prst="roundRect">
            <a:avLst>
              <a:gd name="adj" fmla="val 9567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49293" y="13522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위험: 탐색 편향의 결과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49293" y="1482328"/>
            <a:ext cx="224352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도구만 반복 호출하면 탐색 공간이 좁아지고, 다른 접근법으로 해결 가능한 문제를 50 rounds 내내 놓친다.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47792" y="1870472"/>
            <a:ext cx="2402532" cy="550069"/>
          </a:xfrm>
          <a:prstGeom prst="roundRect">
            <a:avLst>
              <a:gd name="adj" fmla="val 9235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58818" y="1956197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브레이크: 인과 흐름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58818" y="2086273"/>
            <a:ext cx="222409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반복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→ Hook이 hint 메시지 자동 주입 → LLM이 다른 도구 경로를 탐색. 다양성을 구조적으로 강제한다.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47792" y="4156621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46168" y="4216896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다양성 강제 (Diversity Forcing)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246168" y="4302621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tool_repeat_5x → hint_inject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57200" y="4686598"/>
            <a:ext cx="8229600" cy="206276"/>
          </a:xfrm>
          <a:prstGeom prst="roundRect">
            <a:avLst>
              <a:gd name="adj" fmla="val 2462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76250" y="4686598"/>
            <a:ext cx="0" cy="206276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250" y="4737348"/>
            <a:ext cx="8096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자율성 vs 안전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브레이크가 강할수록 자율 실행 범위가 줄어든다. 3가지 임계값(budget 한도, 수렴 횟수 3회, 반복 횟수 5회)은 사용자가 조정 가능하며, 기본값은 실험적으로 도출했다.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956274"/>
            <a:ext cx="2387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자동 브레이크 → 사람 없이 장기 실행 가능 · core/orchestration/safety.py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35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장시간 운용을 위한 2가지 혁신: Plan-first + Provider-aware Compaction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 소모를 막기 위해 Plan-first를 도입했고, 컨텍스트 포화가 프로바이더마다 달랐기 때문에 Provider-aware Compaction을 분리했다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864989"/>
            <a:ext cx="907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1 · Plan-first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01477"/>
            <a:ext cx="3981450" cy="3534370"/>
          </a:xfrm>
          <a:prstGeom prst="roundRect">
            <a:avLst>
              <a:gd name="adj" fmla="val 2156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1237952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7500" y="1333202"/>
            <a:ext cx="2331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022300" y="1323677"/>
            <a:ext cx="599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요청 수신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3675" y="1577578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7500" y="1663303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복잡도 판별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5719" y="1672828"/>
            <a:ext cx="3392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steps?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93675" y="1917204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8696" y="2002929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요청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88696" y="2113955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실행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479625" y="1917204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74646" y="2002929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 요청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574646" y="2113955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create_plan 자발 호출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3675" y="2348805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7500" y="2444055"/>
            <a:ext cx="4261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211461" y="2434530"/>
            <a:ext cx="13647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계획 승인 대기 → 확인 후 실행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3675" y="2701230"/>
            <a:ext cx="3708499" cy="323552"/>
          </a:xfrm>
          <a:prstGeom prst="roundRect">
            <a:avLst>
              <a:gd name="adj" fmla="val 15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5176" y="2764631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rounds를 소모하기 전에 사람이 개입할 수 있다.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95176" y="2875657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LLM.create_plan() → user_approval_gate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65600" y="847576"/>
            <a:ext cx="12650" cy="378827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5201" y="847576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2152" y="864989"/>
            <a:ext cx="195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2 · Provider-aware Compaction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5201" y="1101477"/>
            <a:ext cx="3981599" cy="3534370"/>
          </a:xfrm>
          <a:prstGeom prst="roundRect">
            <a:avLst>
              <a:gd name="adj" fmla="val 215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41677" y="1237952"/>
            <a:ext cx="3708648" cy="285750"/>
          </a:xfrm>
          <a:prstGeom prst="roundRect">
            <a:avLst>
              <a:gd name="adj" fmla="val 17778"/>
            </a:avLst>
          </a:prstGeom>
          <a:solidFill>
            <a:srgbClr val="1A1500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65502" y="132367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45001" y="1328440"/>
            <a:ext cx="1471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 포화 → 프로바이더 분기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41677" y="1587103"/>
            <a:ext cx="1822549" cy="2439591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52702" y="1698129"/>
            <a:ext cx="16325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952702" y="1844129"/>
            <a:ext cx="16325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서버사이드 compaction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952702" y="2001441"/>
            <a:ext cx="163250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compact_20260112 + clear_tool_uses. API가 직접 컨텍스트를 압축.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952702" y="3728442"/>
            <a:ext cx="1600498" cy="187226"/>
          </a:xfrm>
          <a:prstGeom prst="roundRect">
            <a:avLst>
              <a:gd name="adj" fmla="val 20350"/>
            </a:avLst>
          </a:prstGeom>
          <a:solidFill>
            <a:srgbClr val="0D2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28902" y="3779193"/>
            <a:ext cx="14770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최상 / API 종속적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727627" y="1587103"/>
            <a:ext cx="1822698" cy="2439591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38652" y="1698129"/>
            <a:ext cx="1632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GLM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838652" y="1844129"/>
            <a:ext cx="16326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클라이언트사이드 compaction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838652" y="2001441"/>
            <a:ext cx="163265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요약 기반 압축. 80% 도달 시 직접 요약 삽입.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838652" y="3728442"/>
            <a:ext cx="1600646" cy="187226"/>
          </a:xfrm>
          <a:prstGeom prst="roundRect">
            <a:avLst>
              <a:gd name="adj" fmla="val 20350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914852" y="3779193"/>
            <a:ext cx="14772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범용적 / lossy 손실 있음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841677" y="4090095"/>
            <a:ext cx="3708648" cy="409277"/>
          </a:xfrm>
          <a:prstGeom prst="roundRect">
            <a:avLst>
              <a:gd name="adj" fmla="val 1241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43177" y="4153495"/>
            <a:ext cx="3575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Anthropic과 OpenAI의 캐시 규칙이 달라서 단일 압축 전략을 쓰면 캐시 히트율이 붕괴한다. context_action.py hook이 프로바이더를 감지해 전략을 자동 분기한다.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943177" y="4350246"/>
            <a:ext cx="35757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context_action.py → provider_strategy()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57200" y="4686598"/>
            <a:ext cx="8229600" cy="206276"/>
          </a:xfrm>
          <a:prstGeom prst="roundRect">
            <a:avLst>
              <a:gd name="adj" fmla="val 2462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6250" y="4686598"/>
            <a:ext cx="0" cy="206276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2250" y="4737348"/>
            <a:ext cx="8096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서버사이드 compaction은 API 종속적이지만 품질 최상. 클라이언트는 범용적이지만 lossy. Plan-first는 자율성을 일부 제한하지만 잘못된 방향의 50 rounds 낭비를 사전 차단한다.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56274"/>
            <a:ext cx="23590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core/context/context_action.py · core/orchestration/plan_manager.py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35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9380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SCHEDULER + GATEWAY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Gateway: 시간 기반 자율 실행과 채널 라우팅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Cron이 메인 컨텍스트를 오염시키는 문제 때문에 격리를 기본값으로 설계했고, 채널마다 어댑터를 새로 짜는 비용을 0으로 만들기 위해 Gateway를 단일 진입점으로 집중했다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0750" cy="1524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866626"/>
            <a:ext cx="13958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TriggerManager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3981450" cy="752773"/>
          </a:xfrm>
          <a:prstGeom prst="roundRect">
            <a:avLst>
              <a:gd name="adj" fmla="val 101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1025" y="1200001"/>
            <a:ext cx="17941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 유형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07975" y="1355527"/>
            <a:ext cx="16320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특정 시각 1회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간격 반복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cron 표현식 실행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441525" y="1200001"/>
            <a:ext cx="12650" cy="505123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55677" y="1200001"/>
            <a:ext cx="17943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55677" y="1355527"/>
            <a:ext cx="179433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action_queue 등록 → 트리거 시각 도달 → AgenticLoop 위임. 큐 관리로 동시 실행 충돌을 방지한다.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555677" y="1619399"/>
            <a:ext cx="17943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action_queue → AgenticLoop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57200" y="1905149"/>
            <a:ext cx="3981450" cy="929729"/>
          </a:xfrm>
          <a:prstGeom prst="roundRect">
            <a:avLst>
              <a:gd name="adj" fmla="val 8196"/>
            </a:avLst>
          </a:prstGeom>
          <a:solidFill>
            <a:srgbClr val="0A1A1A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8226" y="2016175"/>
            <a:ext cx="38345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TriggerManager: DRIFT_DETECTED 피드백 루프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8226" y="2233464"/>
            <a:ext cx="848916" cy="206276"/>
          </a:xfrm>
          <a:prstGeom prst="roundRect">
            <a:avLst>
              <a:gd name="adj" fmla="val 24627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7176" y="2293739"/>
            <a:ext cx="6910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DRIFT_DETECTED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467892" y="2269927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32942" y="2184350"/>
            <a:ext cx="1758851" cy="304651"/>
          </a:xfrm>
          <a:prstGeom prst="roundRect">
            <a:avLst>
              <a:gd name="adj" fmla="val 1667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02793" y="2244626"/>
            <a:ext cx="16191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TriggerManager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702793" y="2343001"/>
            <a:ext cx="16191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F1–F4 평가 함수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442543" y="2269927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07594" y="2233464"/>
            <a:ext cx="720030" cy="206276"/>
          </a:xfrm>
          <a:prstGeom prst="roundRect">
            <a:avLst>
              <a:gd name="adj" fmla="val 2462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87833" y="2293739"/>
            <a:ext cx="559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재분석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68226" y="2552402"/>
            <a:ext cx="3834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정의 자동화: weekly_discovery_scan · calibration_drift_scan · outcome_tracker · auto_generate_report · pending_analysis_worker + 5개 더. 드리프트 감지 즉시 자율 트리거.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7200" y="2911078"/>
            <a:ext cx="3981450" cy="1040755"/>
          </a:xfrm>
          <a:prstGeom prst="roundRect">
            <a:avLst>
              <a:gd name="adj" fmla="val 7322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8226" y="3049042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5176" y="3022104"/>
            <a:ext cx="12479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 (isolated=True)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68226" y="3282255"/>
            <a:ext cx="1100733" cy="231577"/>
          </a:xfrm>
          <a:prstGeom prst="roundRect">
            <a:avLst>
              <a:gd name="adj" fmla="val 2193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7561" y="3355181"/>
            <a:ext cx="9220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트리거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719709" y="332660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97559" y="3190280"/>
            <a:ext cx="1100733" cy="415677"/>
          </a:xfrm>
          <a:prstGeom prst="roundRect">
            <a:avLst>
              <a:gd name="adj" fmla="val 1222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986894" y="3263205"/>
            <a:ext cx="9220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ConversationContext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1986894" y="3447306"/>
            <a:ext cx="9220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isolated=True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049042" y="332660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26891" y="3233142"/>
            <a:ext cx="1100733" cy="329952"/>
          </a:xfrm>
          <a:prstGeom prst="roundRect">
            <a:avLst>
              <a:gd name="adj" fmla="val 1539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16227" y="3306068"/>
            <a:ext cx="9220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16227" y="3404443"/>
            <a:ext cx="9220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실행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68226" y="3669357"/>
            <a:ext cx="3834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태스크가 메인 대화의 컨텍스트를 덮어쓰는 버그가 있었기 때문에 isolated=True를 기본값으로 바꿨다. 결과 주입이 필요하면 systemEvent로 메인에 선택적으로 전달한다.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565600" y="847576"/>
            <a:ext cx="12650" cy="368349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05201" y="847576"/>
            <a:ext cx="50750" cy="1524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32152" y="861864"/>
            <a:ext cx="11740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Gateway: 채널 무관 라우팅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05201" y="1076176"/>
            <a:ext cx="3981599" cy="3454896"/>
          </a:xfrm>
          <a:prstGeom prst="roundRect">
            <a:avLst>
              <a:gd name="adj" fmla="val 22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29026" y="1200001"/>
            <a:ext cx="885825" cy="339477"/>
          </a:xfrm>
          <a:prstGeom prst="roundRect">
            <a:avLst>
              <a:gd name="adj" fmla="val 149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94552" y="1272927"/>
            <a:ext cx="754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94552" y="1380827"/>
            <a:ext cx="7547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이벤트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778252" y="1200001"/>
            <a:ext cx="885974" cy="339477"/>
          </a:xfrm>
          <a:prstGeom prst="roundRect">
            <a:avLst>
              <a:gd name="adj" fmla="val 149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43777" y="1272927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43777" y="1380827"/>
            <a:ext cx="754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알림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727627" y="1200001"/>
            <a:ext cx="885974" cy="339477"/>
          </a:xfrm>
          <a:prstGeom prst="roundRect">
            <a:avLst>
              <a:gd name="adj" fmla="val 149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793151" y="1272927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793151" y="1380827"/>
            <a:ext cx="754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입력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677001" y="1200001"/>
            <a:ext cx="885974" cy="339477"/>
          </a:xfrm>
          <a:prstGeom prst="roundRect">
            <a:avLst>
              <a:gd name="adj" fmla="val 149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742526" y="1272927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742526" y="1380827"/>
            <a:ext cx="754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4791687" y="1602879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29026" y="1809155"/>
            <a:ext cx="3733949" cy="377726"/>
          </a:xfrm>
          <a:prstGeom prst="roundRect">
            <a:avLst>
              <a:gd name="adj" fmla="val 13449"/>
            </a:avLst>
          </a:prstGeom>
          <a:solidFill>
            <a:srgbClr val="1A1A2E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917988" y="1894880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917988" y="2015430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어댑터 → 표준 메시지 변환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791687" y="2250281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29026" y="2456557"/>
            <a:ext cx="1835200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940052" y="2542282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940052" y="2653308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채널:사용자 조합으로 세션 식별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6727627" y="2456557"/>
            <a:ext cx="183534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838652" y="2542282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6838652" y="2653308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간 처리 순서 보장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791687" y="2888159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829026" y="3094434"/>
            <a:ext cx="3733949" cy="463451"/>
          </a:xfrm>
          <a:prstGeom prst="roundRect">
            <a:avLst>
              <a:gd name="adj" fmla="val 10961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917988" y="3180159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917988" y="3300710"/>
            <a:ext cx="3556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AgenticLoop 인스턴스를 따로 관리하면 세션이 분산됐기 때문에 Gateway를 단일 진입점으로 집중했다. 채널 추가 시 어댑터 1개만 구현하면 된다.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457200" y="4581823"/>
            <a:ext cx="8229600" cy="311051"/>
          </a:xfrm>
          <a:prstGeom prst="roundRect">
            <a:avLst>
              <a:gd name="adj" fmla="val 163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76250" y="4581823"/>
            <a:ext cx="0" cy="311051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2250" y="4632573"/>
            <a:ext cx="80963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Cron 격리로 메인 오염을 막았지만, 격리 세션은 이전 학습을 공유하지 않는다. systemEvent 주입으로 필요할 때만 연계한다. Gateway 단일화는 채널 다양성을 포기했지만 어댑터 1개로 신규 채널을 추가할 수 있게 됐다.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57200" y="4956274"/>
            <a:ext cx="2664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core/scheduler/ · core/gateway/ · isolated=True → fresh ConversationContext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35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901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22058" y="1818977"/>
            <a:ext cx="54998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2058" y="2136428"/>
            <a:ext cx="5499884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순서로 살펴보는</a:t>
            </a:r>
            <a:endParaRPr lang="en-US" sz="2800" dirty="0"/>
          </a:p>
          <a:p>
            <a:pPr algn="ctr" indent="0" marL="0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내부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2058" y="3096071"/>
            <a:ext cx="5499884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Sub-Agent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Failover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Compression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114949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987975"/>
            <a:ext cx="302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ECDC4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 – S17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ECDC4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35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LLM tool_use → ToolExecutor 단일 진입점 → 4-Route 분기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 블록을 반환하는 순간, 모든 실행 경로는 ToolExecutor 하나로 수렴한다.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93950" y="752177"/>
            <a:ext cx="3555950" cy="415826"/>
          </a:xfrm>
          <a:prstGeom prst="roundRect">
            <a:avLst>
              <a:gd name="adj" fmla="val 12217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27085" y="837902"/>
            <a:ext cx="3089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</a:t>
            </a:r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ToolExecutor.execute()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27085" y="996553"/>
            <a:ext cx="30896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· tool_use 블록 수신 · 도구 유형 판별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3943796" y="1231404"/>
            <a:ext cx="12815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도구 유형 판별 → 4경로 분기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418630"/>
            <a:ext cx="2000250" cy="617190"/>
          </a:xfrm>
          <a:prstGeom prst="roundRect">
            <a:avLst>
              <a:gd name="adj" fmla="val 82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437680"/>
            <a:ext cx="200025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2688" y="1418630"/>
            <a:ext cx="0" cy="61719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31057"/>
            <a:ext cx="200025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963" y="1418630"/>
            <a:ext cx="0" cy="61719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025" y="1545580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1025" y="1697980"/>
            <a:ext cx="178765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 계열: 3-layer safety + PolicyChain 통과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81025" y="1851720"/>
            <a:ext cx="1787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명령 허용 목록 → PolicyChain → 실행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533650" y="1418630"/>
            <a:ext cx="2000250" cy="617190"/>
          </a:xfrm>
          <a:prstGeom prst="roundRect">
            <a:avLst>
              <a:gd name="adj" fmla="val 82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33650" y="1437680"/>
            <a:ext cx="200025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9138" y="1418630"/>
            <a:ext cx="0" cy="61719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33650" y="2031057"/>
            <a:ext cx="2000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38413" y="1418630"/>
            <a:ext cx="0" cy="61719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7475" y="1545580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7475" y="1697980"/>
            <a:ext cx="178765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 매칭: 52 native tools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657475" y="1851720"/>
            <a:ext cx="1787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tool_name → handler lookup → 실행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610100" y="1418630"/>
            <a:ext cx="2000250" cy="617190"/>
          </a:xfrm>
          <a:prstGeom prst="roundRect">
            <a:avLst>
              <a:gd name="adj" fmla="val 82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10100" y="1437680"/>
            <a:ext cx="200025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05588" y="1418630"/>
            <a:ext cx="0" cy="61719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0100" y="2031057"/>
            <a:ext cx="20002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4863" y="1418630"/>
            <a:ext cx="0" cy="61719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3925" y="1545580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33925" y="1697980"/>
            <a:ext cx="178765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catalog 서버 auto-discovery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733925" y="1851720"/>
            <a:ext cx="1787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routing → protocol call → 결과 반환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686550" y="1418630"/>
            <a:ext cx="2000250" cy="617190"/>
          </a:xfrm>
          <a:prstGeom prst="roundRect">
            <a:avLst>
              <a:gd name="adj" fmla="val 82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686550" y="1437680"/>
            <a:ext cx="200025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2038" y="1418630"/>
            <a:ext cx="0" cy="61719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86550" y="2031057"/>
            <a:ext cx="20002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91313" y="1418630"/>
            <a:ext cx="0" cy="61719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0375" y="1545580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10375" y="1697980"/>
            <a:ext cx="178765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 → 13-task StateGraph 실행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810375" y="1851720"/>
            <a:ext cx="1787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dispatch → 병렬 노드 → 결과 집계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477369" y="2099221"/>
            <a:ext cx="2232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2개 이상 tool_use 시 ToolCallProcessor가 안전 등급 분류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7200" y="2267396"/>
            <a:ext cx="8229600" cy="1047899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93675" y="2365772"/>
            <a:ext cx="81157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— 병렬 속도와 안전 격리의 균형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93675" y="2533948"/>
            <a:ext cx="1540520" cy="533846"/>
          </a:xfrm>
          <a:prstGeom prst="roundRect">
            <a:avLst>
              <a:gd name="adj" fmla="val 9516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52654" y="2619673"/>
            <a:ext cx="1422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2654" y="2759273"/>
            <a:ext cx="14225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52654" y="2883098"/>
            <a:ext cx="142256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완전 병렬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2197596" y="2533948"/>
            <a:ext cx="1540669" cy="533846"/>
          </a:xfrm>
          <a:prstGeom prst="roundRect">
            <a:avLst>
              <a:gd name="adj" fmla="val 9516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256574" y="2619673"/>
            <a:ext cx="1422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256574" y="2759273"/>
            <a:ext cx="14227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2256574" y="2883098"/>
            <a:ext cx="142271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 자동 승인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801666" y="2533948"/>
            <a:ext cx="1540520" cy="533846"/>
          </a:xfrm>
          <a:prstGeom prst="roundRect">
            <a:avLst>
              <a:gd name="adj" fmla="val 951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860645" y="2619673"/>
            <a:ext cx="1422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60645" y="2759273"/>
            <a:ext cx="14225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860645" y="2883098"/>
            <a:ext cx="142256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일괄 승인 후 병렬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405586" y="2533948"/>
            <a:ext cx="1540669" cy="533846"/>
          </a:xfrm>
          <a:prstGeom prst="roundRect">
            <a:avLst>
              <a:gd name="adj" fmla="val 9516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464564" y="2619673"/>
            <a:ext cx="1422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64564" y="2759273"/>
            <a:ext cx="14227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464564" y="2883098"/>
            <a:ext cx="142271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 승인 순차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009656" y="2533948"/>
            <a:ext cx="1540669" cy="533846"/>
          </a:xfrm>
          <a:prstGeom prst="roundRect">
            <a:avLst>
              <a:gd name="adj" fmla="val 9516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068633" y="2619673"/>
            <a:ext cx="1422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068633" y="2759273"/>
            <a:ext cx="14227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068633" y="2883098"/>
            <a:ext cx="142271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에스컬레이션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93675" y="3131195"/>
            <a:ext cx="81157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T0-1은 asyncio.gather 완전 병렬화, T3-4는 순차 개별 승인 격리. MAX_CONSECUTIVE_FAILURES=2 · max_recovery=3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57200" y="4987975"/>
            <a:ext cx="27847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· policy.py · error_recovery.py · v0.31.0 · 52 native tools · 45 MCP · 5-Tier safety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8497491" y="4987975"/>
            <a:ext cx="193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35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도구 실행 중 46개 이벤트 발화 → 리플 패턴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콜백으로는 확장이 불가능했기 때문에 Claude Code·Devin·OpenHands 리서치 후 16카테고리 46이벤트로 개편했다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1372344"/>
          </a:xfrm>
          <a:prstGeom prst="roundRect">
            <a:avLst>
              <a:gd name="adj" fmla="val 370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90426"/>
            <a:ext cx="0" cy="1372344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91927"/>
            <a:ext cx="477031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하드코딩 콜백으로는 확장 불가. 프론티어 3종 리서치 후 </a:t>
            </a:r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8카테고리 46이벤트</a:t>
            </a:r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7225" y="1093440"/>
            <a:ext cx="4770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 실행 예시: PIPELINE_END 발화 시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236315"/>
            <a:ext cx="4676775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726" y="1291828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65027" y="1287066"/>
            <a:ext cx="17604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RunLog → runs.jsonl JSONL 기록 (L1 Observe)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57225" y="1467892"/>
            <a:ext cx="4676775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8726" y="1523405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P80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65027" y="1518642"/>
            <a:ext cx="15491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SnapshotManager → 상태 캡처 (L2 React)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57225" y="1699468"/>
            <a:ext cx="4676775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8726" y="1754981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65027" y="1750219"/>
            <a:ext cx="19081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MemoryWriteBack → MEMORY.md 갱신 (L2 React)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57225" y="1956495"/>
            <a:ext cx="4770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이벤트가 3개 핸들러를 Priority 순서로 관통.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57200" y="2226171"/>
            <a:ext cx="5029200" cy="2711053"/>
          </a:xfrm>
          <a:prstGeom prst="roundRect">
            <a:avLst>
              <a:gd name="adj" fmla="val 18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6326" y="2337197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EVENT GROUPS (46 total · 16 categories)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6326" y="2527548"/>
            <a:ext cx="2340025" cy="536525"/>
          </a:xfrm>
          <a:prstGeom prst="roundRect">
            <a:avLst>
              <a:gd name="adj" fmla="val 9468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4701" y="2600474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+ Node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4701" y="2721025"/>
            <a:ext cx="2186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events: PIPELINE_START/END/ERROR · NODE_BOOTSTRAP/ENTER/EXIT/ERROR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06326" y="3114824"/>
            <a:ext cx="2340025" cy="536674"/>
          </a:xfrm>
          <a:prstGeom prst="roundRect">
            <a:avLst>
              <a:gd name="adj" fmla="val 946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4701" y="3187750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+ Verification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04701" y="3308300"/>
            <a:ext cx="2186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events: ANALYST/EVALUATOR/SCORING_COMPLETE · VERIFICATION_PASS/FAIL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06326" y="3702248"/>
            <a:ext cx="2340025" cy="536525"/>
          </a:xfrm>
          <a:prstGeom prst="roundRect">
            <a:avLst>
              <a:gd name="adj" fmla="val 946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4701" y="3775174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04701" y="3895725"/>
            <a:ext cx="21861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events: DRIFT_DETECTED · OUTCOME_COLLECTED · MODEL_PROMOTED · SNAPSHOT_CAPTURED · TRIGGER_FIRED · POST_ANALYSIS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06326" y="4289524"/>
            <a:ext cx="2340025" cy="536674"/>
          </a:xfrm>
          <a:prstGeom prst="roundRect">
            <a:avLst>
              <a:gd name="adj" fmla="val 946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04701" y="4362450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Prompt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04701" y="4483001"/>
            <a:ext cx="21861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events: MEMORY_SAVED · RULE_CREATED/UPDATED/DELETED · PROMPT_ASSEMBLED · PROMPT_DRIFT_DETECTED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997101" y="2527548"/>
            <a:ext cx="2340173" cy="536525"/>
          </a:xfrm>
          <a:prstGeom prst="roundRect">
            <a:avLst>
              <a:gd name="adj" fmla="val 946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095476" y="2600474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095476" y="2721025"/>
            <a:ext cx="21862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events: SUBAGENT_STARTED · SUBAGENT_COMPLETED · SUBAGENT_FAILED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2997101" y="3114824"/>
            <a:ext cx="2340173" cy="536674"/>
          </a:xfrm>
          <a:prstGeom prst="roundRect">
            <a:avLst>
              <a:gd name="adj" fmla="val 946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095476" y="3187750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Session + LLM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095476" y="3308300"/>
            <a:ext cx="21862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events: CONTEXT_WARNING/CRITICAL/OVERFLOW_ACTION · SESSION_START/END · LLM_CALL_START/END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997101" y="3702248"/>
            <a:ext cx="2340173" cy="536525"/>
          </a:xfrm>
          <a:prstGeom prst="roundRect">
            <a:avLst>
              <a:gd name="adj" fmla="val 946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095476" y="3775174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Recovery + Approval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095476" y="3895725"/>
            <a:ext cx="21862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events: TOOL_RECOVERY_ATTEMPTED/SUCCEEDED/FAILED · TOOL_APPROVAL_REQUESTED/GRANTED/DENIED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997101" y="4289524"/>
            <a:ext cx="2340173" cy="536674"/>
          </a:xfrm>
          <a:prstGeom prst="roundRect">
            <a:avLst>
              <a:gd name="adj" fmla="val 946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095476" y="4362450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MCP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095476" y="4483001"/>
            <a:ext cx="21862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events: GATEWAY_MESSAGE_RECEIVED/RESPONSE_SENT · MCP_SERVER_STARTED/STOPPED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600700" y="790426"/>
            <a:ext cx="3086100" cy="3066008"/>
          </a:xfrm>
          <a:prstGeom prst="roundRect">
            <a:avLst>
              <a:gd name="adj" fmla="val 165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49826" y="901452"/>
            <a:ext cx="2843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49826" y="1079153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F97316">
              <a:alpha val="6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60852" y="1139428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Autonomy: 백로그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60852" y="1256854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749826" y="1460004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F5C542">
              <a:alpha val="6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860852" y="1520279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Decide: 현재 프론티어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860852" y="1637705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749826" y="1850380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60852" y="1910655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React: 자동 반응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860852" y="2028081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749826" y="2240756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60852" y="2301032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Observe: 기록만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860852" y="2418457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46 events → runs.jsonl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00700" y="3919835"/>
            <a:ext cx="3086100" cy="578644"/>
          </a:xfrm>
          <a:prstGeom prst="roundRect">
            <a:avLst>
              <a:gd name="adj" fmla="val 87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624513" y="3919835"/>
            <a:ext cx="0" cy="57864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87926" y="4008686"/>
            <a:ext cx="2814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787926" y="4161086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P30→P50→P85 핸들러 순서 보장.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00700" y="4561880"/>
            <a:ext cx="3086100" cy="375345"/>
          </a:xfrm>
          <a:prstGeom prst="roundRect">
            <a:avLst>
              <a:gd name="adj" fmla="val 1353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5619750" y="4561880"/>
            <a:ext cx="0" cy="37534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5750" y="4625280"/>
            <a:ext cx="284998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Observer 오버헤드 vs 확장성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콜백보다 초기 등록 오버헤드가 있지만, 핸들러 간 에러 격리 덕분에 46이벤트가 독립적으로 확장된다.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57200" y="4987975"/>
            <a:ext cx="329795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· 46 HookEvent enum members · 16 categories · 8 display groups · Priority-chain · StuckDetector 120s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35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delegate_task → SubAgentManager → IsolatedRunner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87127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 결과 반환 시 부모 컨텍스트가 기하급수적으로 팽창했기 때문에 full inheritance + 4096 guard로 해결했다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4800" y="1802011"/>
            <a:ext cx="1269950" cy="68580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5347" y="1925836"/>
            <a:ext cx="10688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5347" y="2192536"/>
            <a:ext cx="10688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guard 없을 때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05347" y="2278261"/>
            <a:ext cx="10688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8K 부모 유입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04800" y="2564011"/>
            <a:ext cx="1269950" cy="68580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5347" y="2687836"/>
            <a:ext cx="10688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5347" y="2954536"/>
            <a:ext cx="10688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05347" y="3040261"/>
            <a:ext cx="10688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태스크 제거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04800" y="3326011"/>
            <a:ext cx="1269950" cy="551855"/>
          </a:xfrm>
          <a:prstGeom prst="roundRect">
            <a:avLst>
              <a:gd name="adj" fmla="val 92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50" y="3326011"/>
            <a:ext cx="0" cy="55185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01" y="3414861"/>
            <a:ext cx="10494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44401" y="3557736"/>
            <a:ext cx="1049426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없음: 부모 컨텍스트 40% 소비, 루프 강제 종료 위험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676251" y="1822847"/>
            <a:ext cx="5791498" cy="514052"/>
          </a:xfrm>
          <a:prstGeom prst="roundRect">
            <a:avLst>
              <a:gd name="adj" fmla="val 14823"/>
            </a:avLst>
          </a:prstGeom>
          <a:solidFill>
            <a:srgbClr val="4ECDC4">
              <a:alpha val="12000"/>
            </a:srgbClr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44981" y="1943398"/>
            <a:ext cx="5454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44981" y="2111573"/>
            <a:ext cx="54540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MCP · skills · memory 전체 보유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618336" y="2400300"/>
            <a:ext cx="59073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18336" y="2514600"/>
            <a:ext cx="59073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inheritance — 위임이지 파견이 아니다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676251" y="2682776"/>
            <a:ext cx="1879699" cy="520452"/>
          </a:xfrm>
          <a:prstGeom prst="roundRect">
            <a:avLst>
              <a:gd name="adj" fmla="val 976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57797" y="2781151"/>
            <a:ext cx="1716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57797" y="2920752"/>
            <a:ext cx="171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757797" y="3019127"/>
            <a:ext cx="171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능력 그대로 상속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632150" y="2682776"/>
            <a:ext cx="1879699" cy="520452"/>
          </a:xfrm>
          <a:prstGeom prst="roundRect">
            <a:avLst>
              <a:gd name="adj" fmla="val 976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13696" y="2781151"/>
            <a:ext cx="1716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13696" y="2920752"/>
            <a:ext cx="171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713696" y="3019127"/>
            <a:ext cx="171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능력 그대로 상속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588050" y="2682776"/>
            <a:ext cx="1879699" cy="520452"/>
          </a:xfrm>
          <a:prstGeom prst="roundRect">
            <a:avLst>
              <a:gd name="adj" fmla="val 976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69596" y="2781151"/>
            <a:ext cx="1716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596" y="2920752"/>
            <a:ext cx="171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669596" y="3019127"/>
            <a:ext cx="171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능력 그대로 상속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1618336" y="3266629"/>
            <a:ext cx="59073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반환 전 4096-token guard: 구조화 요약 압축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676251" y="3434804"/>
            <a:ext cx="5791498" cy="422077"/>
          </a:xfrm>
          <a:prstGeom prst="roundRect">
            <a:avLst>
              <a:gd name="adj" fmla="val 12036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835265" y="3533180"/>
            <a:ext cx="5473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Summary → Parent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35265" y="3672780"/>
            <a:ext cx="54734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원시 출력 대신 구조화 요약 반환 — 컨텍스트 폭발 방지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569250" y="1802011"/>
            <a:ext cx="1269950" cy="68580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669796" y="1925836"/>
            <a:ext cx="10688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669796" y="2192536"/>
            <a:ext cx="10688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669796" y="2278261"/>
            <a:ext cx="10688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scheduling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569250" y="2564011"/>
            <a:ext cx="1269950" cy="68580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669796" y="2687836"/>
            <a:ext cx="10688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669796" y="2954536"/>
            <a:ext cx="10688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 유효 컨텍스트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7669796" y="3040261"/>
            <a:ext cx="10688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× 3 선형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569250" y="3326011"/>
            <a:ext cx="1269950" cy="551855"/>
          </a:xfrm>
          <a:prstGeom prst="roundRect">
            <a:avLst>
              <a:gd name="adj" fmla="val 92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7588300" y="3326011"/>
            <a:ext cx="0" cy="551855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08850" y="3414861"/>
            <a:ext cx="10494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708850" y="3557736"/>
            <a:ext cx="1049426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 guard 적용: 20K→5K </a:t>
            </a:r>
            <a:pPr algn="l" indent="0" marL="0">
              <a:lnSpc>
                <a:spcPts val="910"/>
              </a:lnSpc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절감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57200" y="4987975"/>
            <a:ext cx="31488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SubAgentManager · IsolatedRunner · CoalescingQueue 250ms · MAX_CONCURRENT=5 · 4096 token guard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35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호출 실패 → CircuitBreaker → Cross-Provider Fallback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Provider에 의존했기 때문에 Rate Limit·장애 시 파이프라인 전체가 중단됐고, 3-Provider 체인으로 단일 장애점을 제거했다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99951"/>
            <a:ext cx="142249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150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Provider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150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001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84150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2526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84150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2526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031950" y="1258639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34034" y="1411039"/>
            <a:ext cx="994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285851" y="790426"/>
            <a:ext cx="1422648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285851" y="799951"/>
            <a:ext cx="142264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2802" y="923776"/>
            <a:ext cx="1192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12802" y="1088827"/>
            <a:ext cx="1192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Provider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12802" y="1250603"/>
            <a:ext cx="1168747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01652" y="1288703"/>
            <a:ext cx="10108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12802" y="1450628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11177" y="1498253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412802" y="1669703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11177" y="1717328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860750" y="1258639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62834" y="1411039"/>
            <a:ext cx="994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114651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114651" y="799951"/>
            <a:ext cx="142249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1602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41602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241602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0452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/ 80K ctx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241602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39977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tier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241602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39977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2041178"/>
            <a:ext cx="5079950" cy="2886521"/>
          </a:xfrm>
          <a:prstGeom prst="roundRect">
            <a:avLst>
              <a:gd name="adj" fmla="val 17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6326" y="2152204"/>
            <a:ext cx="48773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상태 머신 (Provider별 독립)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6326" y="2364730"/>
            <a:ext cx="1284089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06731" y="2450455"/>
            <a:ext cx="108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6731" y="2558355"/>
            <a:ext cx="1083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처리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66615" y="2440930"/>
            <a:ext cx="4226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연속 실패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12288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457152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57556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557556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차단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817590" y="2440930"/>
            <a:ext cx="214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87176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103787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204191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204191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06326" y="2793206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Retryable: Timeout · RateLimit · Connection → Exponential Backoff ±25% Jitter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06326" y="2942332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Non-Retryable: 잔액 부족 → 즉시 다음 Provider 에스컬레이션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51450" y="790426"/>
            <a:ext cx="3035350" cy="905321"/>
          </a:xfrm>
          <a:prstGeom prst="roundRect">
            <a:avLst>
              <a:gd name="adj" fmla="val 56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00576" y="901452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00576" y="1076027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Provider를 Port/Adapter DI로 추상화했기 때문에 Failover 시에도 메모리가 모델에 종속되지 않는다. 세션 학습이 Provider 전환 후에도 유지된다.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800576" y="1387971"/>
            <a:ext cx="2737098" cy="196751"/>
          </a:xfrm>
          <a:prstGeom prst="roundRect">
            <a:avLst>
              <a:gd name="adj" fmla="val 1936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902077" y="1443484"/>
            <a:ext cx="6064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LLMClientPort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572845" y="143872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738045" y="1443484"/>
            <a:ext cx="13059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· OpenAI · ZhipuAI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651450" y="1771948"/>
            <a:ext cx="3035350" cy="769441"/>
          </a:xfrm>
          <a:prstGeom prst="roundRect">
            <a:avLst>
              <a:gd name="adj" fmla="val 660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800576" y="1882973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선택 근거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800576" y="2057549"/>
            <a:ext cx="279184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 + 무료 tier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Anthropic·OpenAI 양쪽 장애 시에도 비용 없이 운영 연속성을 보장한다. GLM-5 성능이 GPT-4 수준이라 응급 처리에 충분하다.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51450" y="2617589"/>
            <a:ext cx="3035350" cy="1123355"/>
          </a:xfrm>
          <a:prstGeom prst="roundRect">
            <a:avLst>
              <a:gd name="adj" fmla="val 45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670500" y="2617589"/>
            <a:ext cx="0" cy="1123355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16501" y="2693789"/>
            <a:ext cx="27982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3-Provider 유지 비용 vs 단일 장애점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816501" y="2823865"/>
            <a:ext cx="2798216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어댑터 3개 유지 비용이 있지만, 단일 Provider 장애로 파이프라인 전체가 중단되는 비용이 훨씬 크다. ZhipuAI 무료 tier 덕분에 추가 비용 없이 단일 장애점을 제거했다.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873767" y="3324969"/>
            <a:ext cx="31970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6873767" y="3579019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289759" y="3324969"/>
            <a:ext cx="21161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7289759" y="3579019"/>
            <a:ext cx="21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SPOF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57200" y="4978450"/>
            <a:ext cx="343321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Anthropic(Opus·Sonnet·Haiku) · OpenAI(GPT-5.4·5.3·4o) · ZhipuAI(GLM-5 80K) · Provider별 독립 CircuitBreaker 3-state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35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Compression: 80% WARNING → 95% CRITICAL → 3-Phase 압축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윈도우가 넘치면 루프가 강제 종료됐기 때문에 Lossless Selection을 도입해 정보 손실 없이 비용을 0.03%로 절감했다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52177"/>
            <a:ext cx="914400" cy="1098798"/>
          </a:xfrm>
          <a:prstGeom prst="roundRect">
            <a:avLst>
              <a:gd name="adj" fmla="val 5556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3013" y="1052364"/>
            <a:ext cx="342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0755" y="1147614"/>
            <a:ext cx="487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4650" y="1300014"/>
            <a:ext cx="28508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7984" y="1465064"/>
            <a:ext cx="3728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473101" y="752177"/>
            <a:ext cx="6223248" cy="1098798"/>
          </a:xfrm>
          <a:prstGeom prst="roundRect">
            <a:avLst>
              <a:gd name="adj" fmla="val 46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473101" y="756940"/>
            <a:ext cx="6223248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91586" y="752177"/>
            <a:ext cx="0" cy="1098798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73101" y="1846213"/>
            <a:ext cx="6223248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2151" y="752177"/>
            <a:ext cx="0" cy="1098798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3601" y="1225451"/>
            <a:ext cx="598824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사용률 상시 추적.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도달 시 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이벤트 발화 — 루프는 계속 진행하되 compact 준비 신호를 핸들러에 전달한다.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797850" y="752177"/>
            <a:ext cx="888950" cy="1098798"/>
          </a:xfrm>
          <a:prstGeom prst="roundRect">
            <a:avLst>
              <a:gd name="adj" fmla="val 571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73747" y="1136452"/>
            <a:ext cx="337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0-79%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6973" y="1295102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074201" y="1380827"/>
            <a:ext cx="3362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모니터링만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914400" y="1876276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015877"/>
            <a:ext cx="914400" cy="1648123"/>
          </a:xfrm>
          <a:prstGeom prst="roundRect">
            <a:avLst>
              <a:gd name="adj" fmla="val 555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3013" y="2552551"/>
            <a:ext cx="342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2575" y="2647801"/>
            <a:ext cx="483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5574" y="2743051"/>
            <a:ext cx="35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16310" y="2876401"/>
            <a:ext cx="403952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9123" y="3041452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압축 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473101" y="2015877"/>
            <a:ext cx="6223248" cy="1648123"/>
          </a:xfrm>
          <a:prstGeom prst="roundRect">
            <a:avLst>
              <a:gd name="adj" fmla="val 308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1473101" y="2020639"/>
            <a:ext cx="6223248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1586" y="2015877"/>
            <a:ext cx="0" cy="1648123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73101" y="3659237"/>
            <a:ext cx="6223248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92151" y="2015877"/>
            <a:ext cx="0" cy="1648123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63601" y="2593628"/>
            <a:ext cx="5988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 대신 LLM이 코드로 관련 청크만 선별. 요약이 아니라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이기 때문에 정보 손실 0%, LLM 호출 비용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절감.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663601" y="2787253"/>
            <a:ext cx="2903637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673126" y="2787253"/>
            <a:ext cx="0" cy="298847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71501" y="2838004"/>
            <a:ext cx="27610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771501" y="2936379"/>
            <a:ext cx="27610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쉽지만 정보 소실 불가피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630638" y="2787253"/>
            <a:ext cx="2903786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40163" y="2787253"/>
            <a:ext cx="0" cy="29884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8539" y="2838004"/>
            <a:ext cx="27611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Selection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38539" y="2936379"/>
            <a:ext cx="276117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청크만 선별, 내용 100% 유지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797850" y="2015877"/>
            <a:ext cx="888950" cy="1648123"/>
          </a:xfrm>
          <a:prstGeom prst="roundRect">
            <a:avLst>
              <a:gd name="adj" fmla="val 5715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038951" y="2633514"/>
            <a:ext cx="4148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07751" y="2874764"/>
            <a:ext cx="2689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8049458" y="2960489"/>
            <a:ext cx="385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절감 (깊이3)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914400" y="3689300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3828901"/>
            <a:ext cx="914400" cy="1098798"/>
          </a:xfrm>
          <a:prstGeom prst="roundRect">
            <a:avLst>
              <a:gd name="adj" fmla="val 5556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43013" y="4090987"/>
            <a:ext cx="342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22177" y="4186238"/>
            <a:ext cx="584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55614" y="4281488"/>
            <a:ext cx="3174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74650" y="4414838"/>
            <a:ext cx="28508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7245" y="4579888"/>
            <a:ext cx="3541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1473101" y="3828901"/>
            <a:ext cx="6223248" cy="1098798"/>
          </a:xfrm>
          <a:prstGeom prst="roundRect">
            <a:avLst>
              <a:gd name="adj" fmla="val 46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1473101" y="3833664"/>
            <a:ext cx="6223248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91586" y="3828901"/>
            <a:ext cx="0" cy="1098798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73101" y="4922937"/>
            <a:ext cx="6223248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92151" y="3828901"/>
            <a:ext cx="0" cy="1098798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63601" y="4302175"/>
            <a:ext cx="598824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초과 시 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이벤트 발생 — 강제 pruning 발동. 최초 사용자 메시지 보존 + bridge 메시지 삽입 후 루프 재개.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797850" y="3828901"/>
            <a:ext cx="888950" cy="1098798"/>
          </a:xfrm>
          <a:prstGeom prst="roundRect">
            <a:avLst>
              <a:gd name="adj" fmla="val 571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102894" y="4211389"/>
            <a:ext cx="27871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75416" y="4373761"/>
            <a:ext cx="3338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깊이3 유효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8107751" y="4459486"/>
            <a:ext cx="2689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57200" y="4978450"/>
            <a:ext cx="323753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 80% · CONTEXT_CRITICAL 95% · Lossless Selection · Emergency Prune · bridge 메시지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35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Auto-Learning: 턴 종료 → TURN_COMPLETE hook → MEMORY.md 자동 학습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세션이 끝나면 인사이트가 휘발되는 문제 때문에 PIPELINE_END 이벤트를 설계해 MEMORY.md에 자동 축적하고, 다음 세션 PromptAssembler P4가 이를 주입한다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1346299"/>
          </a:xfrm>
          <a:prstGeom prst="roundRect">
            <a:avLst>
              <a:gd name="adj" fmla="val 377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14251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AUTO-LEARNING FEEDBACK LOOP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130052"/>
            <a:ext cx="1424583" cy="374600"/>
          </a:xfrm>
          <a:prstGeom prst="roundRect">
            <a:avLst>
              <a:gd name="adj" fmla="val 13561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8381" y="1215777"/>
            <a:ext cx="1200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턴 실행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8381" y="1333202"/>
            <a:ext cx="12004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1 turn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094309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59360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71414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1414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이벤트 발화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47492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12543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24597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24597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자동 축적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32831" y="1568053"/>
            <a:ext cx="211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memory write-back → 다음 세션 Tier 3 주입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1717179"/>
            <a:ext cx="4730948" cy="295721"/>
          </a:xfrm>
          <a:prstGeom prst="roundRect">
            <a:avLst>
              <a:gd name="adj" fmla="val 1717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221" y="1802904"/>
            <a:ext cx="4547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세션 시작 시 PromptAssembler P4 (memory 페이즈)가 MEMORY.md 인사이트를 프롬프트에 자동 주입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212925"/>
            <a:ext cx="5029200" cy="2724299"/>
          </a:xfrm>
          <a:prstGeom prst="roundRect">
            <a:avLst>
              <a:gd name="adj" fmla="val 18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6326" y="2323951"/>
            <a:ext cx="48255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계층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326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7352" y="2622352"/>
            <a:ext cx="931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Organization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17352" y="274290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가이드라인 · CLAUDE.md · 전역 정책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804839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915864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Project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15864" y="2742902"/>
            <a:ext cx="9314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인사이트 · LEARNINGS.md 자동 업데이트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003500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114526" y="2622352"/>
            <a:ext cx="931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Session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114526" y="274290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단기 메모리 · 200 turns sliding window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202013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13039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Hybrid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13039" y="2742902"/>
            <a:ext cx="931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L1 고속 캐시 + File L2 영속 저장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613350" y="790426"/>
            <a:ext cx="3073450" cy="1631454"/>
          </a:xfrm>
          <a:prstGeom prst="roundRect">
            <a:avLst>
              <a:gd name="adj" fmla="val 31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62476" y="914251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Write-back 메커니즘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476" y="1101477"/>
            <a:ext cx="277519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781526" y="1101477"/>
            <a:ext cx="0" cy="35867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14876" y="1177677"/>
            <a:ext cx="25586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hook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914876" y="1298228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종료 시 L2 React 핸들러 자동 실행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762476" y="1510903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781526" y="1510903"/>
            <a:ext cx="0" cy="36820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14876" y="1587103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+ 요약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914876" y="1717179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인사이트·패턴·결정 이유를 구조화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762476" y="1929854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781526" y="1929854"/>
            <a:ext cx="0" cy="368201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14876" y="2006054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누적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914876" y="2136130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Project 메모리에 append, 세션 간 지속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613350" y="2498080"/>
            <a:ext cx="3073450" cy="981521"/>
          </a:xfrm>
          <a:prstGeom prst="roundRect">
            <a:avLst>
              <a:gd name="adj" fmla="val 517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62476" y="2609106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4-Tier인가?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62476" y="2783681"/>
            <a:ext cx="28307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메모리면 프로젝트 간 격리가 안 되고, 세션 메모리만으로는 인사이트가 휘발된다. 4-Tier로 범위별 TTL과 접근 권한을 분리했다.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762476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20588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영구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820588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불변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468963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27075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장기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527075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누적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7175450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233562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TTL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233562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단위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7881937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940049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고속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940049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캐시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613350" y="3555802"/>
            <a:ext cx="3073450" cy="712440"/>
          </a:xfrm>
          <a:prstGeom prst="roundRect">
            <a:avLst>
              <a:gd name="adj" fmla="val 713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62476" y="3654177"/>
            <a:ext cx="28307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후에도 메모리 유지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62476" y="3797052"/>
            <a:ext cx="2830702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시 메모리가 함께 사라지는 버그가 있었기 때문에 4-Tier 메모리를 LLMClientPort 추상화 위에 배치했다. 이제 Provider 전환 후에도 세션 학습이 유지된다.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3350" y="4344442"/>
            <a:ext cx="3073450" cy="656481"/>
          </a:xfrm>
          <a:prstGeom prst="roundRect">
            <a:avLst>
              <a:gd name="adj" fmla="val 77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5632400" y="4344442"/>
            <a:ext cx="0" cy="65648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78401" y="4407843"/>
            <a:ext cx="28370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자동 학습 오버헤드 vs 지식 휘발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778401" y="4537918"/>
            <a:ext cx="2837078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PIPELINE_END마다 LLM 호출이 추가되지만, 세션마다 인사이트가 휘발되는 비용이 더 크다. write-back 덕분에 동일 분석 영역에서 세션이 누적될수록 품질이 개선된다.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57200" y="4987975"/>
            <a:ext cx="37726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 · PIPELINE_END hook · 4-Tier: Session→Project→Org→Hybrid · Redis L1 + File L2 · MEMORY.md write-back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35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⑦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다음 턴 준비 → 6-Phase 동적 조립 → SHA-256 추적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편집으로는 변경 추적이 불가능하고 캐시 히트율이 떨어졌기 때문에 6-Phase 조립을 도입해 2회차부터 입력 비용을 10%로 낮췄다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52177"/>
            <a:ext cx="1209675" cy="632073"/>
          </a:xfrm>
          <a:prstGeom prst="roundRect">
            <a:avLst>
              <a:gd name="adj" fmla="val 803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71227"/>
            <a:ext cx="1209675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211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96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575" y="891778"/>
            <a:ext cx="10331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5575" y="1031379"/>
            <a:ext cx="1033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55575" y="1164729"/>
            <a:ext cx="103318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기반 기본 구조 로드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666875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04975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57375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857375" y="771227"/>
            <a:ext cx="1209675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228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57375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213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55750" y="891778"/>
            <a:ext cx="10331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55750" y="1031379"/>
            <a:ext cx="1033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955750" y="1164729"/>
            <a:ext cx="103318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프로젝트별 파라미터 덮어쓰기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067050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05150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57550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57550" y="771227"/>
            <a:ext cx="1209675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46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57550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231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925" y="891778"/>
            <a:ext cx="10331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55925" y="1031379"/>
            <a:ext cx="1033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355925" y="1164729"/>
            <a:ext cx="103318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Scaffold Skill 동적 주입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467225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05325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57725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57725" y="771227"/>
            <a:ext cx="1209675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6263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57725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248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6100" y="891778"/>
            <a:ext cx="10331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6100" y="1031379"/>
            <a:ext cx="1033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756100" y="1164729"/>
            <a:ext cx="103318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 인사이트 주입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867400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905500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57900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057900" y="771227"/>
            <a:ext cx="1209675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6281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57900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6266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56275" y="891778"/>
            <a:ext cx="10331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56275" y="1031379"/>
            <a:ext cx="1033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156275" y="1164729"/>
            <a:ext cx="103318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초기화 bridge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267575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305675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58075" y="752177"/>
            <a:ext cx="1228725" cy="632073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7458075" y="771227"/>
            <a:ext cx="1228725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77275" y="752177"/>
            <a:ext cx="0" cy="632073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58075" y="1374725"/>
            <a:ext cx="1228725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67600" y="752177"/>
            <a:ext cx="0" cy="632073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65975" y="891778"/>
            <a:ext cx="10331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565975" y="1031379"/>
            <a:ext cx="1033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565975" y="1164729"/>
            <a:ext cx="103318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메시지 배열 출력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57200" y="1460450"/>
            <a:ext cx="8229600" cy="552301"/>
          </a:xfrm>
          <a:prstGeom prst="roundRect">
            <a:avLst>
              <a:gd name="adj" fmla="val 919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457200" y="1465213"/>
            <a:ext cx="822960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2038" y="1460450"/>
            <a:ext cx="0" cy="552301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2007989"/>
            <a:ext cx="822960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6250" y="1460450"/>
            <a:ext cx="0" cy="55230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7700" y="1628626"/>
            <a:ext cx="15393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47700" y="1758702"/>
            <a:ext cx="15393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= sha256(prompt) → cache_key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309217" y="1558826"/>
            <a:ext cx="12650" cy="3555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2474268" y="1674465"/>
            <a:ext cx="531255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후 SHA-256 해시로 동일 프롬프트 재조립 시 캐시 히트 판별. 수동 편집으로는 불가능했던 변경 추적을 코드 레벨에서 보장한다.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835057" y="1558826"/>
            <a:ext cx="12650" cy="3555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7994859" y="1573113"/>
            <a:ext cx="535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7994859" y="1814364"/>
            <a:ext cx="535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2회차+ 입력 비용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457200" y="2088952"/>
            <a:ext cx="3467100" cy="946696"/>
          </a:xfrm>
          <a:prstGeom prst="roundRect">
            <a:avLst>
              <a:gd name="adj" fmla="val 5366"/>
            </a:avLst>
          </a:prstGeom>
          <a:solidFill>
            <a:srgbClr val="1E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457200" y="2108002"/>
            <a:ext cx="346710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919537" y="2088952"/>
            <a:ext cx="0" cy="946696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" y="3030885"/>
            <a:ext cx="346710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1963" y="2088952"/>
            <a:ext cx="0" cy="946696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6326" y="2228552"/>
            <a:ext cx="3232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수동 편집 3대 문제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06326" y="2406253"/>
            <a:ext cx="3168848" cy="3714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 불가: drift 감지 없음</a:t>
            </a:r>
            <a:endParaRPr lang="en-US" sz="650" dirty="0"/>
          </a:p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히트율 저하: 매 요청 100% 비용</a:t>
            </a:r>
            <a:endParaRPr lang="en-US" sz="650" dirty="0"/>
          </a:p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노드 각자 편집 → 불일치 발생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4000500" y="2088952"/>
            <a:ext cx="3467100" cy="946696"/>
          </a:xfrm>
          <a:prstGeom prst="roundRect">
            <a:avLst>
              <a:gd name="adj" fmla="val 5366"/>
            </a:avLst>
          </a:prstGeom>
          <a:solidFill>
            <a:srgbClr val="0D1A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4000500" y="2108002"/>
            <a:ext cx="346710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62837" y="2088952"/>
            <a:ext cx="0" cy="946696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000500" y="3030885"/>
            <a:ext cx="346710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005262" y="2088952"/>
            <a:ext cx="0" cy="946696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49626" y="2228552"/>
            <a:ext cx="3232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6-Phase 조립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149626" y="2406253"/>
            <a:ext cx="3168848" cy="3714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SHA-256으로 drift 감지: 동일 해시 → 재조립 스킵</a:t>
            </a:r>
            <a:endParaRPr lang="en-US" sz="650" dirty="0"/>
          </a:p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 ephemeral → 2회차부터 입력 비용 10%</a:t>
            </a:r>
            <a:endParaRPr lang="en-US" sz="650" dirty="0"/>
          </a:p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7노드 동일 프롬프트 1 cache entry 공유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7543800" y="2088952"/>
            <a:ext cx="1143000" cy="946696"/>
          </a:xfrm>
          <a:prstGeom prst="roundRect">
            <a:avLst>
              <a:gd name="adj" fmla="val 53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7680275" y="2199977"/>
            <a:ext cx="88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PROMPT_ASSEMBLE hook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7680275" y="2441228"/>
            <a:ext cx="88745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완료 시 Prompt Change 이벤트 발화 → 관측 레이어에 전달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7680275" y="2838896"/>
            <a:ext cx="8874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nodes × 1 entry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457200" y="4987975"/>
            <a:ext cx="32188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· SHA-256 cache_key · cache_control: ephemeral · 21 skills · 7-node prompt sharing</a:t>
            </a:r>
            <a:endParaRPr lang="en-US" sz="500" dirty="0"/>
          </a:p>
        </p:txBody>
      </p:sp>
      <p:sp>
        <p:nvSpPr>
          <p:cNvPr id="95" name="Text 9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35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Cost: 외부 도구 호출 → 45 Catalog + TokenTracker 비용 관측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스토리 + 자체 TokenTracker로 while(tool_use) 루프 비용을 /cost CLI로 실시간 관측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24400" cy="3077021"/>
          </a:xfrm>
          <a:prstGeom prst="roundRect">
            <a:avLst>
              <a:gd name="adj" fmla="val 165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4514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아키텍처 진화: 3계층에서 2계층으로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88678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0151" y="1174403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3계층 (병목)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0151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004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818004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257줄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042517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94917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82770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82770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검색+관리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07284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9684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47537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747537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설정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30151" y="1647379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 도구 탐색 막는 병목 · Proxy stub 9개 중복 · auto-discovery 불가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982391" y="1882229"/>
            <a:ext cx="17073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Registry 257줄 삭제 + Proxy stub 9개 제거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2050405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0151" y="2136130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2계층 (탐색 자유도)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0151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068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1068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774900" y="2377380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7300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0783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00783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[mcp.servers] 통합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30151" y="2609106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 servers auto-discovery · API key 부재 시 dry-run 자동 전환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06326" y="2843957"/>
            <a:ext cx="4426148" cy="912465"/>
          </a:xfrm>
          <a:prstGeom prst="roundRect">
            <a:avLst>
              <a:gd name="adj" fmla="val 5567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0151" y="2929682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Registry를 삭제했는가?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0151" y="3072557"/>
            <a:ext cx="42620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LLM의 도구 탐색을 막는 병목이었다. 자율 에이전트는 도구를 스스로 찾아야 하는데, Registry가 검색 범위를 제한했다. 삭제 후 LLM이 Catalog를 직접 탐색하여 중앙 제어 없이 45 서버를 자율 발견한다.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30151" y="3371850"/>
            <a:ext cx="2057549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6351" y="3422600"/>
            <a:ext cx="19432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 중앙 제어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806351" y="3520976"/>
            <a:ext cx="194325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삭제로 도구 목록 감사 불가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851100" y="3371850"/>
            <a:ext cx="2057549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927300" y="3422600"/>
            <a:ext cx="19432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탐색 자유도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927300" y="3520976"/>
            <a:ext cx="194325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컨텍스트에 맞게 자율 선택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295900" y="790426"/>
            <a:ext cx="3390900" cy="1596926"/>
          </a:xfrm>
          <a:prstGeom prst="roundRect">
            <a:avLst>
              <a:gd name="adj" fmla="val 318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45026" y="901452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자체 비용 추적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5026" y="1088678"/>
            <a:ext cx="315450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LangSmith는 모델별 캐시 히트율·프로바이더별 비용 분리가 불가능했기 때문에 자체 TokenTracker를 구축했다. ContextVar 싱글톤으로 18개 모델 가격을 실시간 추적한다.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45026" y="1400621"/>
            <a:ext cx="3092648" cy="336352"/>
          </a:xfrm>
          <a:prstGeom prst="roundRect">
            <a:avLst>
              <a:gd name="adj" fmla="val 113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464076" y="1400621"/>
            <a:ext cx="0" cy="33635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4627" y="1464022"/>
            <a:ext cx="29085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싱글톤으로 호출마다 입출력 토큰 + cache_creation/cache_read 기록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45026" y="1775073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464076" y="1775073"/>
            <a:ext cx="0" cy="231577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4627" y="1838474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레지스트리: 실시간 비용 산출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45026" y="2044750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464076" y="2044750"/>
            <a:ext cx="0" cy="231577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4627" y="2108150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UsageStore: 월별 JSONL 영속 저장 · ProjectJournal 프로젝트별 이력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95900" y="2463552"/>
            <a:ext cx="3390900" cy="904429"/>
          </a:xfrm>
          <a:prstGeom prst="roundRect">
            <a:avLst>
              <a:gd name="adj" fmla="val 561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445026" y="2574578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45026" y="2749153"/>
            <a:ext cx="3092648" cy="507802"/>
          </a:xfrm>
          <a:prstGeom prst="roundRect">
            <a:avLst>
              <a:gd name="adj" fmla="val 100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550625" y="2838004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50625" y="2968079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비용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547625" y="2838004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일간 / 월간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547625" y="2968079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집계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544625" y="2838004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544625" y="2968079"/>
            <a:ext cx="887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경고 / 95% PRUNE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295900" y="3444180"/>
            <a:ext cx="3390900" cy="1483519"/>
          </a:xfrm>
          <a:prstGeom prst="roundRect">
            <a:avLst>
              <a:gd name="adj" fmla="val 342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5319713" y="3444180"/>
            <a:ext cx="0" cy="1483519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3126" y="3533031"/>
            <a:ext cx="3125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MCP-first + Fixture Fallback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83126" y="3679031"/>
            <a:ext cx="312535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signal 도구: 라이브 환경에서는 MCP 직접 호출, 오프라인/CI에서는 fixture 데이터로 자동 전환하여 라이브 수집과 테스트를 동시에 보장한다.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83126" y="4008834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32855" y="4072235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532855" y="4275386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7053263" y="4008834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102992" y="4072235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102992" y="4275386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price registry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57200" y="4978450"/>
            <a:ext cx="31863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· Proxy stub 9개 제거 · 45 catalog auto-discovery · TokenTracker ContextVar · /cost CLI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35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857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· Game IP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Confirmation Bias·Anchoring 편향이 있기 때문에 병렬 전문가 4명 + Cross-LLM + PSM으로 극복했다</a:t>
            </a:r>
            <a:endParaRPr lang="en-US" sz="700" dirty="0"/>
          </a:p>
        </p:txBody>
      </p:sp>
      <p:pic>
        <p:nvPicPr>
          <p:cNvPr id="6" name="Image 0" descr="/Users/mango/workspace/portfolio/geode/versions/v7/slides/assets/v028-diagram-pipeline-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90426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57277"/>
            <a:ext cx="3340596" cy="1063675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1025" y="3555653"/>
            <a:ext cx="31548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1025" y="3689003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81025" y="3822204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81025" y="3980706"/>
            <a:ext cx="31548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873996" y="3457277"/>
            <a:ext cx="2209354" cy="507802"/>
          </a:xfrm>
          <a:prstGeom prst="roundRect">
            <a:avLst>
              <a:gd name="adj" fmla="val 100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85022" y="3543002"/>
            <a:ext cx="20270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85022" y="3673078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≥80 · A ≥60 · B ≥40 · C &lt;40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985022" y="3793629"/>
            <a:ext cx="20270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코드 결정 트리 (LLM 아님)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73996" y="4015829"/>
            <a:ext cx="2209354" cy="505123"/>
          </a:xfrm>
          <a:prstGeom prst="roundRect">
            <a:avLst>
              <a:gd name="adj" fmla="val 10057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85022" y="4101554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Clean Context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985022" y="4222105"/>
            <a:ext cx="2027048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전달로 앵커링 편향을 차단한다. 7개 병렬 LLM 호출에서 독립 평가 보장.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197650" y="790426"/>
            <a:ext cx="2538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Results: Golden Set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97650" y="96812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05882" y="105385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05882" y="13079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689527" y="1085552"/>
            <a:ext cx="8813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89527" y="1199852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689527" y="1285577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197650" y="155227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05882" y="163800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305882" y="189205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689527" y="1669703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689527" y="1784003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689527" y="186972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197650" y="2136428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05882" y="2222153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305882" y="24762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89527" y="2253853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Shell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89527" y="2368153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689527" y="245387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197650" y="2720578"/>
            <a:ext cx="2489150" cy="2216646"/>
          </a:xfrm>
          <a:prstGeom prst="roundRect">
            <a:avLst>
              <a:gd name="adj" fmla="val 22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321475" y="2818954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1475" y="2993529"/>
            <a:ext cx="224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321475" y="2993529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Guardrails: 스키마·범위·근거·일관성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21475" y="3136404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BiasBuster: 6종 편향 (arXiv:2403.00811)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321475" y="327927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Cross-LLM: Claude×GPT α≥0.67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321475" y="341262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6321475" y="3571280"/>
            <a:ext cx="2241500" cy="450949"/>
          </a:xfrm>
          <a:prstGeom prst="roundRect">
            <a:avLst>
              <a:gd name="adj" fmla="val 84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410325" y="3634680"/>
            <a:ext cx="21050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6410325" y="3745706"/>
            <a:ext cx="2105076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Anchoring 편향으로 점수 분산이 ±18점. L3 Cross-LLM α≥0.67 강제로 편향 0/6 달성.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457200" y="4987975"/>
            <a:ext cx="3430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≥0.7 · max 5 iterations · Clean Context</a:t>
            </a:r>
            <a:endParaRPr lang="en-US" sz="500" dirty="0"/>
          </a:p>
        </p:txBody>
      </p:sp>
      <p:sp>
        <p:nvSpPr>
          <p:cNvPr id="49" name="Text 4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35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· Domain Portability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Portability: GEODE ↔ REODE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72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설계로 에이전트 코어 수정 0줄 달성: 241소스 103K LoC, 83/83 build 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80901"/>
            <a:ext cx="2933700" cy="1120676"/>
          </a:xfrm>
          <a:prstGeom prst="roundRect">
            <a:avLst>
              <a:gd name="adj" fmla="val 453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99951"/>
            <a:ext cx="29337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933301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801" y="1104751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6801" y="1272927"/>
            <a:ext cx="26544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01" y="1272927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· 3,201 테스트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6801" y="141580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 + 45 MCP · 21 Skills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6801" y="15491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 무회귀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6801" y="16920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1977777"/>
            <a:ext cx="2933700" cy="2949922"/>
          </a:xfrm>
          <a:prstGeom prst="roundRect">
            <a:avLst>
              <a:gd name="adj" fmla="val 173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6326" y="2101602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6326" y="2269778"/>
            <a:ext cx="2635448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326" y="2269778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L1: 실행 흐름 정의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6326" y="2425303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L2: 언어·포맷 변환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6326" y="2618929"/>
            <a:ext cx="2635448" cy="361950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626" y="2695129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0626" y="2799904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3044279"/>
            <a:ext cx="2688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변경 시 코어 수정 비용을 0으로 만들기 위해 @runtime_checkable Protocol을 설계했다. 상속 없이 메서드만 구현하면 즉시 호환되고 파이프라인 노드는 get_domain_or_none()으로 fallback한다.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505200" y="1308795"/>
            <a:ext cx="2133600" cy="1497955"/>
          </a:xfrm>
          <a:prstGeom prst="roundRect">
            <a:avLst>
              <a:gd name="adj" fmla="val 5087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45688" y="1467445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45688" y="1670596"/>
            <a:ext cx="185262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63851" y="1892647"/>
            <a:ext cx="1816298" cy="346025"/>
          </a:xfrm>
          <a:prstGeom prst="roundRect">
            <a:avLst>
              <a:gd name="adj" fmla="val 14681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49219" y="1968847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49219" y="2076748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663851" y="2302073"/>
            <a:ext cx="1816298" cy="346025"/>
          </a:xfrm>
          <a:prstGeom prst="roundRect">
            <a:avLst>
              <a:gd name="adj" fmla="val 14681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49219" y="2378273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49219" y="2486174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505200" y="2882950"/>
            <a:ext cx="2133600" cy="806202"/>
          </a:xfrm>
          <a:prstGeom prst="roundRect">
            <a:avLst>
              <a:gd name="adj" fmla="val 6301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35972" y="3019425"/>
            <a:ext cx="187205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35972" y="3336875"/>
            <a:ext cx="1872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35972" y="3466951"/>
            <a:ext cx="18720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505200" y="3765352"/>
            <a:ext cx="2133600" cy="634305"/>
          </a:xfrm>
          <a:prstGeom prst="roundRect">
            <a:avLst>
              <a:gd name="adj" fmla="val 80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524250" y="3765352"/>
            <a:ext cx="0" cy="634305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44801" y="3816102"/>
            <a:ext cx="1930348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Protocol 추상화 비용 vs 이식 속도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DomainPort 인터페이스 설계에 3일을 썼다. 그 대가로 GEODE → REODE 피봇 시 코어 수정이 0줄이었고, 3일 투자가 수주의 재작성을 막았다.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53100" y="780901"/>
            <a:ext cx="2933700" cy="977801"/>
          </a:xfrm>
          <a:prstGeom prst="roundRect">
            <a:avLst>
              <a:gd name="adj" fmla="val 519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753100" y="799951"/>
            <a:ext cx="293370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2701" y="933301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92701" y="1104751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2701" y="1272927"/>
            <a:ext cx="26544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2701" y="1272927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92701" y="141580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OpenRewrite 70% + LLM 30%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92701" y="154915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753100" y="1834902"/>
            <a:ext cx="2933700" cy="3092797"/>
          </a:xfrm>
          <a:prstGeom prst="roundRect">
            <a:avLst>
              <a:gd name="adj" fmla="val 173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02226" y="1958727"/>
            <a:ext cx="26881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수치: Java 마이그레이션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89556" y="21587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889556" y="2412802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258031" y="21587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258031" y="2412802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889556" y="257472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889556" y="2828776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7258031" y="257472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258031" y="2828776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902226" y="2990701"/>
            <a:ext cx="2635448" cy="406301"/>
          </a:xfrm>
          <a:prstGeom prst="roundRect">
            <a:avLst>
              <a:gd name="adj" fmla="val 12503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02173" y="3076426"/>
            <a:ext cx="24355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02173" y="3225552"/>
            <a:ext cx="2435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978450"/>
            <a:ext cx="31948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· ContextVar DI · core/graph.py 0줄 수정 · 241소스 103K LoC · 33세션 1,133라운드 · 83/83 build pass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35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878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· Pattern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 → GEODE → REODE: 패턴 진화 증거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→ 5-Layer · LLMClientPort → Port/Adapter · Event Bus → HookSystem: 같은 문제를 세 번 더 잘 풀었다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445841" cy="358527"/>
          </a:xfrm>
          <a:prstGeom prst="roundRect">
            <a:avLst>
              <a:gd name="adj" fmla="val 1416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946" y="863352"/>
            <a:ext cx="2216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946" y="990302"/>
            <a:ext cx="22163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원형 패턴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953792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1641" y="790426"/>
            <a:ext cx="2880568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2041" y="863352"/>
            <a:ext cx="2659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42041" y="990302"/>
            <a:ext cx="2659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심화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062960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40810" y="790426"/>
            <a:ext cx="2445990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5555" y="863352"/>
            <a:ext cx="221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5555" y="990302"/>
            <a:ext cx="221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적용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7200" y="1212354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675" y="1310729"/>
            <a:ext cx="50750" cy="180975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1348829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레이어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6332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6332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 → 3겹 필터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23246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91732" y="1310729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5-Layer Verification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91732" y="1405979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6종 + Cross-LLM α≥0.67 → 99.8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423422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190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9190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품질 5관문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1653480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675" y="1751856"/>
            <a:ext cx="50750" cy="180975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5927" y="1789956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추상화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6332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LLMClientPort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6332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종속 위험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823246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91732" y="1751856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 + ContextVar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1732" y="1847106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Anthropic·OpenAI·ZhipuAI 3-Provider 추상화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423422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190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69190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Java 도메인 교체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57200" y="2094607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3675" y="2192982"/>
            <a:ext cx="50750" cy="1905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5927" y="2235845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시스템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863328" y="2197745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3-Tier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863328" y="2292995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확장 불가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823246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9731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91732" y="2197745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46 Events 8 Categories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91732" y="2292995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핸들러 · StuckDetector 120s · 에러 격리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423422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91908" y="2192982"/>
            <a:ext cx="18955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HookSystem 상속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91908" y="2297757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 동일 패턴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2545259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3675" y="2643634"/>
            <a:ext cx="50750" cy="180975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5927" y="2681734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복원력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86332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+ Jitter Backoff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6332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장애 시 전체 중단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823246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91732" y="2643634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(CB ×3)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091732" y="2738884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실패→60s OPEN→Half-Open · Exp. Backoff ±25% Jitter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423422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9190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LLM Failover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69190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CB 패턴 마이그레이션 내성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531221"/>
            <a:ext cx="8229600" cy="367903"/>
          </a:xfrm>
          <a:prstGeom prst="roundRect">
            <a:avLst>
              <a:gd name="adj" fmla="val 1380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476250" y="4531221"/>
            <a:ext cx="0" cy="367903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2250" y="4581971"/>
            <a:ext cx="809635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재사용 비용 vs 재설계 비용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Eco²에서 검증된 4개 패턴을 재사용하면 Eco² 제약(Swiss Cheese 3-Layer 한계, 단일 Provider 종속)도 함께 온다. 그러나 패턴을 버리면 REODE 출시에 수주가 더 필요했다. 검증된 패턴을 확장하는 길을 선택했고, REODE는 GEODE 포크로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빌드를 5h 48m 안에 달성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했다.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57200" y="4987975"/>
            <a:ext cx="347010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Cheese→5-Layer · LLMClientPort→Port/Adapter · Event Bus→HookSystem · Circuit Breaker→3-Provider Failover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35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901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90877" y="1818977"/>
            <a:ext cx="35620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90877" y="2136428"/>
            <a:ext cx="3562097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코드가 아닌</a:t>
            </a:r>
            <a:endParaRPr lang="en-US" sz="2800" dirty="0"/>
          </a:p>
          <a:p>
            <a:pPr algn="ctr" indent="0" marL="0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계층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90877" y="3096071"/>
            <a:ext cx="3562097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23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허용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8-Step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Frontier Mining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4-Persona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114949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987975"/>
            <a:ext cx="302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18CF8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 – S25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18CF8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35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Table: Scaffold ↔ Runtime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Runtime을 설계했기 때문에 동형 구조가 나왔다. 의도한 것이 아닌 좋은 설계의 부산물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9289"/>
            <a:ext cx="11805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(빌드 타임)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1253877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23 CANNOT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6075" y="1482328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발산하지 않도록 23개 금지 규칙을 CLAUDE.md에 주입했다. 위반하면 CI가 머지를 차단한다.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856929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1945779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→ 8-Step Loop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6075" y="2085380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리서치 없이 구현하면 중복 설계가 발생했기 때문에 8-Step Loop가 모든 PR에 Socratic Gate를 강제한다.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59980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6075" y="2548830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6075" y="2688431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 설계만 하면 이미 해결된 문제를 재발명했기 때문에 4개 하네스를 리서치하고 3/4 수렴 규칙으로 채택 여부를 결정했다.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3063032"/>
            <a:ext cx="2444948" cy="631627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6075" y="3151882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39 Releases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6075" y="3291483"/>
            <a:ext cx="22348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이유가 사라지면 같은 실수를 반복하기 때문에 v0.6 → v0.31 39회 릴리스의 모든 피봇 WHY를 CHANGELOG에 기록했다.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80941" y="2655838"/>
            <a:ext cx="2049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14151" y="2925663"/>
            <a:ext cx="134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93695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9887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13175" y="979289"/>
            <a:ext cx="1076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(실행 타임)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98875" y="1253877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25826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(PolicyChain)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25826" y="1482328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규칙은 빌드 타임에 검문하고, 46 Hook Events는 실행 타임에 정책 위반을 즉시 차단한다. 같은 원칙, 다른 계층.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98875" y="1856929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25826" y="1945779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50 rounds × 200 turns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25826" y="2085380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Scaffold가 설계한 50R×200T 루프 구조가 Runtime에서 그대로 실행된다. 실측 평균 종료: 4.2 라운드.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098875" y="2459980"/>
            <a:ext cx="2444948" cy="631627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25826" y="2548830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+ 5-Tier Safety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5826" y="2688431"/>
            <a:ext cx="22348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Mining에서 3/4 수렴으로 선택한 3-Provider Failover + 5-Tier Safety가 Runtime에서 단일 장애점 0을 달성했다.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8875" y="3167807"/>
            <a:ext cx="2444948" cy="631627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25826" y="325665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 · 187 Modules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25826" y="3396258"/>
            <a:ext cx="22348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없이 커밋을 허용하면 회귀가 누적됐기 때문에 70% 테스트 비율을 CANNOT으로 강제했다. 결과: 3,201 Tests, 39/39 무회귀.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07250" y="838051"/>
            <a:ext cx="1879550" cy="4076998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69175" y="1956495"/>
            <a:ext cx="15868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구조적 동형인가?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69175" y="2156520"/>
            <a:ext cx="158681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설계가 아닌 발견이었다. Scaffold가 성숙하면서 Runtime과 자연스럽게 동형 구조가 됐고, 의도한 것이 아니라 좋은 설계의 부산물이다.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69175" y="2765524"/>
            <a:ext cx="1555700" cy="535484"/>
          </a:xfrm>
          <a:prstGeom prst="roundRect">
            <a:avLst>
              <a:gd name="adj" fmla="val 94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70675" y="2841724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 위반 → 빌드 실패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070675" y="2973586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규칙 위반 → 실행 차단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070675" y="3118247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원칙, 다른 계층에서 작동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969175" y="3381970"/>
            <a:ext cx="15557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69175" y="3462933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69175" y="3583484"/>
            <a:ext cx="15868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 유지 비용: Scaffold 변경 시 Runtime도 동기화 필요. 수익: 설계 결정이 코드로 직접 흐른다.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978450"/>
            <a:ext cx="9987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커밋 · 36일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35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CANNOT: 6 핵심 규칙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LLM에게 자유를 주되 발산을 막는 헌법: 금지 규칙이 명확할수록 허용 공간이 넓어진다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74527"/>
            <a:ext cx="3080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격리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71699" y="971401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5100" y="984052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06326" y="113317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6326" y="1307753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에이전트가 main 브랜치에 직접 쓰면 병렬 작업 충돌이 발생한다. 각 태스크는 반드시 독립 worktree에서 실행돼야 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4805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7176" y="974527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게이트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9705" y="971401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33106" y="984052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597176" y="113317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97176" y="1307753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실패한 상태의 커밋은 다음 에이전트를 오염시킨다. CI가 3종 체크를 모두 통과한 후에만 머지를 허용한다.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6326" y="2332434"/>
            <a:ext cx="520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 구현 방지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80356" y="2329309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3757" y="2341959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06326" y="2491085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승인 없이 구현 착수 금지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326" y="2665661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승인 없이 구현하려는 성질이 있다. 설계 문서에 인간 승인 서명이 없으면 첫 줄도 작성하지 않는다.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4805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97176" y="2332434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추적성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91260" y="2329309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54661" y="2341959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97176" y="2491085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없이 기능 커밋 금지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97176" y="2665661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PR의 결정 근거가 사라지면 재설계 비용이 폭증한다. 모든 기능 커밋은 CHANGELOG 항목을 동반해야 한다.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6326" y="369034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브랜치 보호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78855" y="3687217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42256" y="3699867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6326" y="3848993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main/develop 직접 push 금지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6326" y="402356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 브랜치에 직접 쓰면 병렬 에이전트 간 충돌이 발생한다. 모든 변경은 worktree PR을 통해서만 머지된다.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44805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97176" y="369034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일관성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069705" y="3687217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133106" y="3699867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597176" y="3848993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번호 4곳 불일치 금지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97176" y="402356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pyproject.toml · CHANGELOG · __version__ · API 응답의 4곳이 불일치하면 배포 검증이 실패한다. 기능 커밋 전 동기화를 강제한다.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77000" y="847576"/>
            <a:ext cx="2209800" cy="1584722"/>
          </a:xfrm>
          <a:prstGeom prst="roundRect">
            <a:avLst>
              <a:gd name="adj" fmla="val 480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51575" y="996702"/>
            <a:ext cx="403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123361" y="1234827"/>
            <a:ext cx="7008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규칙 추가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수록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1575" y="1559570"/>
            <a:ext cx="18978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17개 규칙은 CLAUDE.md 425줄에 명시. 하나라도 위반하면 CI가 머지를 차단한다.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51575" y="1902172"/>
            <a:ext cx="1860649" cy="3810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53076" y="1978372"/>
            <a:ext cx="1690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타이포그래피 4개 · 레이아웃 5개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4개 · 운영 4개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477000" y="2508498"/>
            <a:ext cx="2209800" cy="2349401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651575" y="2657624"/>
            <a:ext cx="38100" cy="15240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53076" y="2671911"/>
            <a:ext cx="6747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CAN: 허용 공간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51575" y="2873425"/>
            <a:ext cx="189786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명확할수록 허용 공간이 넓어진다. 금지 규칙이 경계를 정하면, 그 안에서 LLM은 구체적 숫자, DAG, 인과 서술로 자유롭게 표현한다.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651575" y="4451598"/>
            <a:ext cx="1860649" cy="257175"/>
          </a:xfrm>
          <a:prstGeom prst="roundRect">
            <a:avLst>
              <a:gd name="adj" fmla="val 1975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753076" y="4527798"/>
            <a:ext cx="16908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문제→설계→결과 인과 흐름 시각화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08649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2915" y="4956274"/>
            <a:ext cx="146142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전체 규칙: 제약이 명확할수록 자유가 넓어진다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8492728" y="4961037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35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Development Loop + Socratic Gate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키보드에 손이 닿는 순간 하네스는 실패하기 때문에 스캐폴딩이 구현보다 앞서야 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Socratic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82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정제: 5W로 전제 검증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478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383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93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Frontier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93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Code/Devin GAP 리서치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42900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95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305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Design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305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+ Trade-off 결정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0101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006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116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Implement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116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테스트 비율 목표 구현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58701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77927" y="2790825"/>
            <a:ext cx="5354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시 ①로 복귀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753594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2820" y="2781300"/>
            <a:ext cx="54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949476"/>
            <a:ext cx="1327249" cy="498277"/>
          </a:xfrm>
          <a:prstGeom prst="roundRect">
            <a:avLst>
              <a:gd name="adj" fmla="val 1019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226" y="3047851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CHANGELOG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68226" y="3177927"/>
            <a:ext cx="1127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이력 기록: 다음 Frontier 입력으로 연결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8478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383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493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Release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493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Semver 태깅 · 39회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42900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1950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3052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E2E Verify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3052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테스트 + Hook 회귀 검사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101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006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116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4-Persona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116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Architect/Security/QA/Perf 리뷰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654850" y="838051"/>
            <a:ext cx="2031950" cy="1657796"/>
          </a:xfrm>
          <a:prstGeom prst="roundRect">
            <a:avLst>
              <a:gd name="adj" fmla="val 459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16775" y="974527"/>
            <a:ext cx="1742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(①)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6775" y="1149102"/>
            <a:ext cx="17422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반드시 통과해야 하는 5가지 질문: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16775" y="1333054"/>
            <a:ext cx="1708100" cy="6762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기능이 필요한가?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실패 모드가 있는가?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Trade-off는 무엇인가?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가능한가?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CHANGELOG에 이유를 쓸 수 있는가?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16775" y="2110829"/>
            <a:ext cx="174226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5가지를 답하지 못하면 코드 작성 불가이며 루프가 ①로 되돌아간다.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4850" y="2597348"/>
            <a:ext cx="2031950" cy="1616125"/>
          </a:xfrm>
          <a:prstGeom prst="roundRect">
            <a:avLst>
              <a:gd name="adj" fmla="val 3143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91325" y="2695724"/>
            <a:ext cx="17941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8단계인가?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91325" y="2895600"/>
            <a:ext cx="179418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5단계(Plan→Implement→Test→Merge→Deploy)면 충분하지 않은가?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791325" y="3344466"/>
            <a:ext cx="847725" cy="770632"/>
          </a:xfrm>
          <a:prstGeom prst="roundRect">
            <a:avLst>
              <a:gd name="adj" fmla="val 494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80175" y="3407866"/>
            <a:ext cx="6834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 부재 시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880175" y="3518892"/>
            <a:ext cx="68342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Audit·Socratic Gate 없으면 불필요한 구현이 50%에 달하며 잘못된 전제로 PR이 병합된다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702451" y="3344466"/>
            <a:ext cx="847874" cy="770632"/>
          </a:xfrm>
          <a:prstGeom prst="roundRect">
            <a:avLst>
              <a:gd name="adj" fmla="val 494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791301" y="3407866"/>
            <a:ext cx="6835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8단계 추가 비용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7791301" y="3518892"/>
            <a:ext cx="683577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 Socratic+Frontier로 착수가 느리지만, 회귀 없는 39회 릴리스가 증거다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57200" y="4978450"/>
            <a:ext cx="156161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21 Skills · LEARNINGS.md 패턴 축적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35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Mining: 4개 하네스 GAP 분석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구현하기 전에 먼저 읽었고, 3/4 수렴 규칙으로 차용 여부를 결정했다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23652"/>
            <a:ext cx="261043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패턴: LLM이 tool_use를 반환하는 한 루프를 유지하는 구조를 직접 확인했다. GEODE AgenticLoop 50 라운드 설계의 직접 근거가 됐다.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2500461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176" y="2563862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루프 계속 조건 + end_turn 종료 패턴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365599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20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02075" y="1123652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P1 제약 기반 설계, P4 래칫(되돌아가지 않음), P6 컨텍스트 예산 명시: 이 세 원칙이 CLAUDE.md 규칙 체계의 뼈대가 됐다.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075" y="2500461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03575" y="2563862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P1/P4/P6 → CANNOT 규칙 3종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6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3675" y="3201888"/>
            <a:ext cx="261043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Session Key, Lane Queue, Plugin 4-계층 디스패치 구조에서 에이전트 요청을 분리된 채널로 라우팅하는 아이디어를 여기서 얻었다.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3675" y="4578697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5176" y="4642098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SessionKey 격리 + LaneQueue 우선순위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365599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020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02075" y="3201888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격리, .owner 파일 보호, Dumb Platform 원칙으로 Git 충돌 없이 여러 에이전트가 병렬 작업할 수 있는 구조의 실증 사례였다.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02075" y="4578697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3575" y="4642098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Worktree 의무화 → CANNOT Git 규칙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299299" y="834777"/>
            <a:ext cx="2387501" cy="1529655"/>
          </a:xfrm>
          <a:prstGeom prst="roundRect">
            <a:avLst>
              <a:gd name="adj" fmla="val 498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61224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575524" y="985540"/>
            <a:ext cx="5600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 수렴 규칙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61224" y="1199852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3개 이상이 동일한 패턴을 사용하면 GEODE도 채택한다. 1-2개만 사용하면 독자 설계로 간다. 단순 다수결이지만 프론티어의 수렴은 신뢰할 수 있는 신호다.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61224" y="1808857"/>
            <a:ext cx="2063651" cy="41910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62725" y="1885057"/>
            <a:ext cx="324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56822" y="1894136"/>
            <a:ext cx="62452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 시 채택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미달 시 독자 설계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99299" y="2440632"/>
            <a:ext cx="2387501" cy="2474416"/>
          </a:xfrm>
          <a:prstGeom prst="roundRect">
            <a:avLst>
              <a:gd name="adj" fmla="val 319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61224" y="2577108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75524" y="2591395"/>
            <a:ext cx="7708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→ 설계 영역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61224" y="2792909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어느 것도 해결하지 않은 문제 3가지: 장기 자율 실행(비용 폭주 방지), LLM 비용 제어(토큰 예산 강제), 도메인 포터빌리티(게임→보험 교체). 이것이 GEODE가 독자 설계한 영역이다.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978450"/>
            <a:ext cx="178856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Frontier Mining: 읽고 차용하고, 없으면 설계했다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35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Review: 구현 전 맹점 제거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설계하면 Confirmation Bias로 실패하기 때문에 4인격이 독립 관점으로 리뷰하여 서로의 맹점을 보완한다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834777"/>
            <a:ext cx="0" cy="469404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936278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069628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219051" y="936278"/>
            <a:ext cx="483224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의존성 역전 여부, 인터페이스 일관성, v0.40 생존 가능성. 체크 항목: 상위 레이어가 하위를 직접 임포트하는가? 플러그인 교체 시 코어 수정이 발생하는가?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67582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1367582"/>
            <a:ext cx="0" cy="42207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901" y="1469082"/>
            <a:ext cx="505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1602432"/>
            <a:ext cx="505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57300" y="1469082"/>
            <a:ext cx="479323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비용, 지연 시간, 캐시 히트율 관점. 체크 항목: 이 LLM 호출을 줄일 수 있는가? 컨텍스트를 재사용하는가? 배치 처리가 가능한가?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1853059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1853059"/>
            <a:ext cx="0" cy="46940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01" y="1954560"/>
            <a:ext cx="647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01" y="2087910"/>
            <a:ext cx="6479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397050" y="1954560"/>
            <a:ext cx="465068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인젝션, 권한 에스컬레이션, Trust Model 위반. 체크 항목: 이 경로가 샌드박스를 우회하는가? 외부 입력이 직접 shell로 전달되는가?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385864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6250" y="2385864"/>
            <a:ext cx="0" cy="422077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2487364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901" y="2620714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19051" y="2487364"/>
            <a:ext cx="483224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케이스, 회귀 가능성, 커버리지. 체크 항목: 이 코드가 3,201 테스트를 통과하는가? 새로운 경로가 기존 픽스처를 깨는가?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97650" y="834777"/>
            <a:ext cx="2489150" cy="1424880"/>
          </a:xfrm>
          <a:prstGeom prst="roundRect">
            <a:avLst>
              <a:gd name="adj" fmla="val 53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9575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73875" y="985540"/>
            <a:ext cx="7127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보안 케이스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9575" y="1187053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리뷰가 실제로 막은 사례. 초기 설계에서 에이전트가 환경변수를 직접 읽어 LLM 프롬프트에 삽입하는 경로가 있었다. API 키 유출 벡터. CANNOT 규칙에 ".env 직접 참조 금지" 추가로 차단했다.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59575" y="1783259"/>
            <a:ext cx="2165300" cy="339923"/>
          </a:xfrm>
          <a:prstGeom prst="roundRect">
            <a:avLst>
              <a:gd name="adj" fmla="val 149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61075" y="1846659"/>
            <a:ext cx="200154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agent reads .env → injects into prompt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env vars injected at harness boundary only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197650" y="2335857"/>
            <a:ext cx="2489150" cy="2579191"/>
          </a:xfrm>
          <a:prstGeom prst="roundRect">
            <a:avLst>
              <a:gd name="adj" fmla="val 306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59575" y="2472333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73875" y="2486620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근거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9575" y="2688134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4인격은 별도 LLM 세션이 아니다. 동일 컨텍스트에서 역할을 명시적으로 전환하는 프롬프트 패턴이다. 비용은 1회 추론이고, 효과는 4가지 시각의 독립 체크다. Confirmation Bias를 구조적으로 제거한다.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4978450"/>
            <a:ext cx="203843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Beck × Karpathy × Steinberger × Cherny: 4인격 1세션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457456" y="4978450"/>
            <a:ext cx="2339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26b / 35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Velocity: Phase 0-5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누적될수록 다음 스캐폴딩이 빨라지는 복리 구조, 36일 만에 </a:t>
            </a:r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속도 상승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9421" y="165779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39421" y="175304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1447651" y="168473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76102" y="1559421"/>
            <a:ext cx="43947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12578" y="1645146"/>
            <a:ext cx="42042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Bootstrap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12578" y="1765697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초안, 첫 CANNOT 규칙, 단일 Skill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162190" y="170542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기준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39421" y="210368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9421" y="219893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7651" y="213062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76102" y="2000548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12578" y="2086273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도입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12578" y="2216348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5-질문 게이트 → 회귀 이슈 60% 감소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162190" y="215131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39421" y="2554337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9421" y="2649587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447651" y="25812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76102" y="2451199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12578" y="2536924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+ 8-Step Loop 확립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812578" y="2667000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→ 설계 결정 자동화 시작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62190" y="2601962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39421" y="300498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9421" y="3100239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447651" y="303192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76102" y="2901851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12578" y="2987576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+ Hook 자율 실행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12578" y="3117652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직접 코드 생성 시작 → PR 500+ 돌파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162190" y="3052614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39421" y="3455640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9421" y="3550890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4-5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447651" y="34825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76102" y="3352502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812578" y="3438227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이식: Domain Portability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812578" y="3568303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하네스 → REODE 209 모듈 · 3,274 Tests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62190" y="3503265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39421" y="3906292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9421" y="4001542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36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447651" y="393323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676102" y="3803154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812578" y="3888879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v0.31.0: Long-Running Safety 완성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812578" y="4018955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Provider-aware Compaction + Cost Guard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162190" y="3953917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807250" y="1055043"/>
            <a:ext cx="1879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53618" y="1216968"/>
            <a:ext cx="15868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953618" y="1683693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53618" y="1804243"/>
            <a:ext cx="15868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대비 Day 36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07250" y="2153394"/>
            <a:ext cx="1879550" cy="968276"/>
          </a:xfrm>
          <a:prstGeom prst="roundRect">
            <a:avLst>
              <a:gd name="adj" fmla="val 787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69175" y="2294632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커밋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327231" y="2289870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69175" y="2485132"/>
            <a:ext cx="2749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PRs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296126" y="2480370"/>
            <a:ext cx="2333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69175" y="2680395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411914" y="2670870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69175" y="2870895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324106" y="2861370"/>
            <a:ext cx="2047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07250" y="3223171"/>
            <a:ext cx="1879550" cy="602605"/>
          </a:xfrm>
          <a:prstGeom prst="roundRect">
            <a:avLst>
              <a:gd name="adj" fmla="val 84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934200" y="3324671"/>
            <a:ext cx="16581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스캐폴딩을 만든다. 각 Phase가 다음 Phase의 속도를 올리는 복리 구조이기 때문에 이것이 Harness Engineering이다.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807250" y="3927277"/>
            <a:ext cx="1879550" cy="767507"/>
          </a:xfrm>
          <a:prstGeom prst="roundRect">
            <a:avLst>
              <a:gd name="adj" fmla="val 661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6826300" y="3927277"/>
            <a:ext cx="0" cy="767507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6850" y="3978027"/>
            <a:ext cx="1671218" cy="66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초기 투자 vs 복리 가속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0-1에서 Socratic Gate·Frontier Mining에 시간을 썼고, 구현 속도를 포기하고 정확성을 선택했기 때문에 Phase 3부터 회귀 없이 하루 32.2 커밋이 가능해졌다.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57200" y="4987975"/>
            <a:ext cx="167243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commits · Feb 21 to Mar 28, 2026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35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993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 · CHANGELOG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Evolution: v0.6 → v0.31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릴리스, 6 아키텍처 피봇: 각 결정에는 왜(Why)가 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43993" y="1667173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19051" y="165437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7689" y="1781324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7502" y="1590973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83978" y="1676698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도입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83978" y="1806773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로직이 인프라에 강결합 → Port/Adapter 분리. 이후 REODE 이식이 가능해진 기반 결정.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43993" y="2105174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19051" y="20923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77689" y="2219325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47502" y="2028974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83978" y="2114699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Pivot: 도메인 분석 → 하네스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83978" y="2244775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 분석 결과보다 자율 실행 인프라가 재사용 가치가 높다고 판단. 어필 포인트 전환.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3993" y="2543175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9051" y="253037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77689" y="2657326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47502" y="2466975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3978" y="2552700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 제거 → ContextVar 통합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83978" y="2682776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Guard 모듈이 ContextVar 흐름과 충돌 → 통합 TokenTracker로 단순화. 비용 추적 정확도 향상.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3993" y="2981176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19051" y="29683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77689" y="3095327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47502" y="2904976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83978" y="2990701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독립 추출 → 46 Events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83978" y="3120777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→ Priority 핸들러 체인. 재귀 개선 루프와 자동 학습이 Hook에 의존하는 구조로 전환.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3993" y="3419177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19051" y="34063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77689" y="3533329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47502" y="3342977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83978" y="3428702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 → 45 Catalog auto-discovery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583978" y="3558778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3계층(Registry+Catalog+Config) → 2계층. Proxy stub 9개 제거로 도구 추가 비용 대폭 감소.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43993" y="3857179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19051" y="38443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47502" y="3780979"/>
            <a:ext cx="54868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583978" y="3866704"/>
            <a:ext cx="53181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 + Long-Running Safety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583978" y="3987254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Beta tool_use 캐시 규칙 차이를 인지한 압축. 비용 상한 + 수렴 감지 + 다양성 강제로 안정성 달성.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035850" y="1204317"/>
            <a:ext cx="1650950" cy="952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84504" y="1366242"/>
            <a:ext cx="13536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184504" y="1813917"/>
            <a:ext cx="1353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184504" y="1909167"/>
            <a:ext cx="13536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→ v0.31 · 36일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035850" y="2258318"/>
            <a:ext cx="1650950" cy="714077"/>
          </a:xfrm>
          <a:prstGeom prst="roundRect">
            <a:avLst>
              <a:gd name="adj" fmla="val 106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97775" y="2394793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피봇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398520" y="2394793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197775" y="2562969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무회귀 릴리스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302377" y="2562969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39/39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97775" y="2731145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커밋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302377" y="2731145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035850" y="3073896"/>
            <a:ext cx="16509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162800" y="3175397"/>
            <a:ext cx="142499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CHANGELOG는 기록이 아니다. 다음 Frontier Mining의 입력이다.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035850" y="3644801"/>
            <a:ext cx="1650950" cy="900708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7054900" y="3644801"/>
            <a:ext cx="0" cy="900708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5450" y="3695551"/>
            <a:ext cx="1438046" cy="79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판단: WHY를 기록하는 비용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각 릴리스마다 CHANGELOG 작성에 시간이 든다. 이를 포기하면 "왜 이 결정을 했는가"가 휘발되어 v0.14 Token Guard 제거처럼 나중에 같은 실수를 반복하게 된다.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7200" y="4987975"/>
            <a:ext cx="1672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6 major architecture pivots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35</a:t>
            </a:r>
            <a:endParaRPr lang="en-US" sz="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278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Bash 3-Layer + Dual Trust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에이전트는 신뢰 경계가 없으면 시스템을 파괴하기 때문에 PolicyChain이 실행 전 모든 명령을 검문한다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641800" cy="4099322"/>
          </a:xfrm>
          <a:prstGeom prst="roundRect">
            <a:avLst>
              <a:gd name="adj" fmla="val 1859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617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6015"/>
            <a:ext cx="10696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다이어그램</a:t>
            </a:r>
            <a:endParaRPr lang="en-US" sz="800" dirty="0"/>
          </a:p>
        </p:txBody>
      </p:sp>
      <p:pic>
        <p:nvPicPr>
          <p:cNvPr id="9" name="Image 0" descr="/Users/mango/workspace/portfolio/geode/versions/v7/slides/assets/v028-diagram-polic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241078"/>
            <a:ext cx="4317950" cy="20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25951" y="825252"/>
            <a:ext cx="3460849" cy="2109192"/>
          </a:xfrm>
          <a:prstGeom prst="roundRect">
            <a:avLst>
              <a:gd name="adj" fmla="val 361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87876" y="961727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실행 제어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87876" y="1148953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14826" y="1225153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Syntax Validation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514826" y="1345704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-rf / · chmod 777 · curl | bash 패턴 차단. 실행 전 정적 분석.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387876" y="1571030"/>
            <a:ext cx="3136999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14826" y="1647230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PolicyChain Hook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514826" y="1767780"/>
            <a:ext cx="2940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중 BASH_EXEC_PRE에서 PolicyChain 통과 여부 확인. 거부 시 즉시 차단 + 사유 반환.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387876" y="2078831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14826" y="2155031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macOS Seatbelt Sandbox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514826" y="2275582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REODE: 34-패턴 deny-list. 파일시스템 쓰기, 네트워크 외부 접근, 프로세스 fork 제한.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225951" y="3035945"/>
            <a:ext cx="3460849" cy="1437084"/>
          </a:xfrm>
          <a:prstGeom prst="roundRect">
            <a:avLst>
              <a:gd name="adj" fmla="val 53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87876" y="3172420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Model: 두 독립 축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7876" y="3359646"/>
            <a:ext cx="319973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안전과 파이프라인 검증은 독립 축이다. 에이전트는 입력을 차단(Input Gating), 파이프라인은 출력을 검증(Output Validation). 둘 다 통과해야만 결과가 신뢰된다.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387876" y="3696891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89377" y="3773091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89377" y="3893641"/>
            <a:ext cx="13539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HITL 권한 모델: 에이전트 실행 전 차단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994475" y="3696891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095976" y="3773091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095976" y="3893641"/>
            <a:ext cx="13539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등급: 실행 후 출력 검증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387876" y="4229993"/>
            <a:ext cx="319973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0-1: asyncio.gather 병렬 자동 실행 / TIER 3-4: 개별 수동 승인 필수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225951" y="4574530"/>
            <a:ext cx="3460849" cy="350044"/>
          </a:xfrm>
          <a:prstGeom prst="roundRect">
            <a:avLst>
              <a:gd name="adj" fmla="val 145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245001" y="4574530"/>
            <a:ext cx="0" cy="35004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65552" y="4625280"/>
            <a:ext cx="328414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3-Layer 제어 비용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L1 정적 분석 + L2 PolicyChain + L3 Seatbelt 모두 통과 시 지연이 발생하지만, 자율 에이전트가 시스템을 파괴한 사례가 0건인 것이 증거다.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57200" y="4987975"/>
            <a:ext cx="23590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46 Hook Events · 5-Tier Tool Safety · macOS Seatbelt (REODE)</a:t>
            </a:r>
            <a:endParaRPr lang="en-US" sz="500" dirty="0"/>
          </a:p>
        </p:txBody>
      </p:sp>
      <p:sp>
        <p:nvSpPr>
          <p:cNvPr id="35" name="Text 3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35</a:t>
            </a:r>
            <a:endParaRPr lang="en-US" sz="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Trade-off 8선: 포기하지 않은 설계 결정은 결정이 아니다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아키텍처, 에이전트 실행, 인프라 전반. 모든 피봇은 CHANGELOG에 “왜”가 기록되어 있다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76250" y="847576"/>
            <a:ext cx="0" cy="399604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2250" y="910977"/>
            <a:ext cx="3840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2250" y="1050578"/>
            <a:ext cx="38409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호출 단순성을 포기하고 DI를 도입했더니 GEODE→REODE 이식 시 코어 코드 변경 0줄이 됐다.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76250" y="1336030"/>
            <a:ext cx="0" cy="532805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1399431"/>
            <a:ext cx="3840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Context Selection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539032"/>
            <a:ext cx="38409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요약(빠르지만 정보 손실)을 버리고 LLM이 직접 청크를 선별하게 했더니 비용 0.03%로 절감되면서 정보 손실이 사라졌다.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6250" y="1957685"/>
            <a:ext cx="0" cy="54233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250" y="2021086"/>
            <a:ext cx="38409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Safety: 병렬 vs 순차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2250" y="2170212"/>
            <a:ext cx="38409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T3-4 병렬 처리 속도를 포기하고 DANGEROUS 명령은 개별 순차 승인으로 격리했더니 권한 에스컬레이션 경로가 차단됐다.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76250" y="2588865"/>
            <a:ext cx="0" cy="532805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250" y="2652266"/>
            <a:ext cx="3840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4096 Token Guard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2250" y="2791867"/>
            <a:ext cx="38409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자식 출력 전체 반환(완전한 컨텍스트)을 포기하고 4096 guard를 적용했더니 부모 컨텍스트 폭발이 방지되어 MAX_CONCURRENT=5 병렬이 가능해졌다.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65600" y="847576"/>
            <a:ext cx="12650" cy="4067473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75002" y="847576"/>
            <a:ext cx="0" cy="532805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1002" y="910977"/>
            <a:ext cx="3841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PromptAssembler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21002" y="1050578"/>
            <a:ext cx="384111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편집의 즉각성을 포기하고 6-Phase 조립과 SHA-256 추적을 도입했더니 cache_control ephemeral로 2회차 입력 비용이 10%로 줄었다.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75002" y="1469231"/>
            <a:ext cx="0" cy="54233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1002" y="1532632"/>
            <a:ext cx="38411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21002" y="1681758"/>
            <a:ext cx="384111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 집중 도구 관리(단일 조회 포인트)를 포기하고 auto-discovery를 채택했더니 proxy stub 9개가 제거되고 45 MCP 서버를 자동 등록할 수 있게 됐다.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75002" y="2100411"/>
            <a:ext cx="0" cy="54233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1002" y="2163812"/>
            <a:ext cx="38411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Priority 핸들러 순서 보장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21002" y="2312938"/>
            <a:ext cx="384111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핸들러 처리량을 포기하고 Priority 정렬을 넣었더니 Security 핸들러가 Logging보다 항상 먼저 실행되는 것이 보장됐다.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775002" y="2731591"/>
            <a:ext cx="0" cy="54233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1002" y="2794992"/>
            <a:ext cx="38411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200 Turns 상한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1002" y="2944118"/>
            <a:ext cx="384111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자율(무제한 실행)을 포기하고 수렴 감지 + 비용 상한을 도입했더니 파이프라인 폭주가 차단되고 장기 운용 비용이 예측 가능해졌다.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4978450"/>
            <a:ext cx="171675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모든 피봇 CHANGELOG 기록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35</a:t>
            </a:r>
            <a:endParaRPr lang="en-US" sz="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2717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CONSTRAINTS →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→ HOW → Results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금지 규칙 → 어떤 메커니즘으로 → 어떤 결과가 나왔는가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562695"/>
            <a:ext cx="238645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1661071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93675" y="1781621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나열식 슬라이드 금지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3342" y="1689646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64210" y="181019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24659" y="1562695"/>
            <a:ext cx="296301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1134" y="1661071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361134" y="1781621"/>
            <a:ext cx="27438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위반 시 Socratic Gate 재통과 강제: 인과관계 1문장 없으면 PR 차단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70129" y="174992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478" y="1562695"/>
            <a:ext cx="2194322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28954" y="1661071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628954" y="1781621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34장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 DAG 내러티브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2152948"/>
            <a:ext cx="238645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3675" y="2251323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93675" y="2371874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통과 전 코드 작성 금지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923342" y="2232273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964210" y="2352824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24659" y="2152948"/>
            <a:ext cx="296301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61134" y="2251323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361134" y="2371874"/>
            <a:ext cx="27438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5-질문 의무화 → 잘못된 전제로 50 rounds 낭비 사전 차단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70129" y="2292548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478" y="2152948"/>
            <a:ext cx="2194322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28954" y="2251323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628954" y="2371874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39회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릴리스 무회귀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2647950"/>
            <a:ext cx="238645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675" y="2746325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93675" y="2866876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다이어그램 금지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23342" y="2774900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964210" y="289545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24659" y="2647950"/>
            <a:ext cx="296301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61134" y="2746325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361134" y="2866876"/>
            <a:ext cx="27438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화살표 + 분기 + 루프백 필수 → 4-Persona Review의 Architect 검사 통과 시에만 머지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70129" y="283517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478" y="2647950"/>
            <a:ext cx="2194322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28954" y="2746325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628954" y="2866876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흐름도 누적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57200" y="3238202"/>
            <a:ext cx="238645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3675" y="3336578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93675" y="3457129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명시 없는 설계 결정 금지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923342" y="3317528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964210" y="3438079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24659" y="3238202"/>
            <a:ext cx="296301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61134" y="3336578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361134" y="3457129"/>
            <a:ext cx="27438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CHANGELOG에 "포기한 것 / 얻은 것" 쌍 없으면 기능 커밋 자체가 차단됨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270129" y="337780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92478" y="3238202"/>
            <a:ext cx="2194322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628954" y="3336578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628954" y="3457129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피봇 WHY 전부 기록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7200" y="3733205"/>
            <a:ext cx="238645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93675" y="3831580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93675" y="3952131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6개 초과 금지: 밀도 강제 압축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923342" y="3812530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964210" y="393308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224659" y="3733205"/>
            <a:ext cx="296301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361134" y="3831580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361134" y="3952131"/>
            <a:ext cx="27438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시 슬라이드 분리 강제 → 정보 우선순위 결정이 설계자에게 귀환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70129" y="3872805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92478" y="3733205"/>
            <a:ext cx="2194322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628954" y="3831580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628954" y="3952131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34장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슬라이드당 1메시지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57200" y="4978450"/>
            <a:ext cx="1638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23 CANNOT rules · 제약이 품질을 만든다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35</a:t>
            </a:r>
            <a:endParaRPr lang="en-US" sz="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369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총정리: GEODE v0.31.0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36일, 모든 숫자는 Socratic Gate → 8-Step Loop → 4-Persona Review를 통과한 것들이다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801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0801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96855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1936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1936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47989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3071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071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9124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206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4206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801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1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96855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1936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1936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7989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3071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3071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9124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4206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4206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5720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801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801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96855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1936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11936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47989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630711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630711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Rules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9124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42061" y="2510582"/>
            <a:ext cx="11335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42061" y="2840682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27899" y="834777"/>
            <a:ext cx="2158901" cy="2893814"/>
          </a:xfrm>
          <a:prstGeom prst="roundRect">
            <a:avLst>
              <a:gd name="adj" fmla="val 353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89824" y="971252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89824" y="12123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04124" y="1148953"/>
            <a:ext cx="17551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PromptAssembler 6-Phase + SHA-256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89824" y="152429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04124" y="1460897"/>
            <a:ext cx="15304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while(tool_use) · 50R × 200T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89824" y="171197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04124" y="1648569"/>
            <a:ext cx="131705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5-Layer · Cross-LLM α≥0.67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689824" y="189964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04124" y="1836241"/>
            <a:ext cx="155766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46-Event Hook · LangSmith/OTEL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527899" y="3804791"/>
            <a:ext cx="2158901" cy="1119783"/>
          </a:xfrm>
          <a:prstGeom prst="roundRect">
            <a:avLst>
              <a:gd name="adj" fmla="val 680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689824" y="3941266"/>
            <a:ext cx="18717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(이식 증거)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89824" y="4115842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소스 · 103K LoC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689824" y="4290864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세션 · 1,133 LLM 라운드 · 5h 48m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689824" y="4491186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89824" y="4681538"/>
            <a:ext cx="187175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때문에 코어 수정 0줄로 하네스 이식성을 실증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457200" y="4987975"/>
            <a:ext cx="207167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to Mar 28, 2026 · Anthropic / OpenAI / ZhipuAI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35</a:t>
            </a:r>
            <a:endParaRPr lang="en-US" sz="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431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Engineering은 디시플린이다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4축을 한 릴리스라도 건너뛰면 회귀가 쌓이기 때문에 도구가 아닌 매 PR 습관으로 실천했다. v0.6 → v0.31 25버전의 실증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57101"/>
            <a:ext cx="2133600" cy="4067473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576685"/>
            <a:ext cx="1809750" cy="596801"/>
          </a:xfrm>
          <a:prstGeom prst="roundRect">
            <a:avLst>
              <a:gd name="adj" fmla="val 85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476" y="1703636"/>
            <a:ext cx="15350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시스템은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없이 발산한다"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1028" y="2274987"/>
            <a:ext cx="184594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</a:t>
            </a:r>
            <a:endParaRPr lang="en-US" sz="7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수렴시키는 하네스를 만듭니다.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9125" y="2665512"/>
            <a:ext cx="1809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028" y="2771775"/>
            <a:ext cx="18459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디시플린은 일회성 설계가 아니다. 매 PR마다, 매 릴리스마다 4축이 실천되어야 하네스가 살아남는다.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3190429"/>
            <a:ext cx="1809750" cy="466427"/>
          </a:xfrm>
          <a:prstGeom prst="roundRect">
            <a:avLst>
              <a:gd name="adj" fmla="val 108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517" y="3291929"/>
            <a:ext cx="1586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0517" y="3469630"/>
            <a:ext cx="15869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25버전 동안 4축이 유지됨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619125" y="3783657"/>
            <a:ext cx="1809750" cy="421184"/>
          </a:xfrm>
          <a:prstGeom prst="roundRect">
            <a:avLst>
              <a:gd name="adj" fmla="val 1206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8175" y="3783657"/>
            <a:ext cx="0" cy="421184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726" y="3834408"/>
            <a:ext cx="1600021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디시플린 비용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4축 실천은 PR마다 시간이 든다. 이를 포기하면 릴리스 속도는 올라가지만 회귀가 쌓인다. 39/39 무회귀가 그 비용의 수익이다.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692301" y="857101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4226" y="968127"/>
            <a:ext cx="38100" cy="737592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93827" y="1122759"/>
            <a:ext cx="49886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제어: 장기 진화 방향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93827" y="1284684"/>
            <a:ext cx="498860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편집은 drift를 감지할 수 없었기 때문에 SHA-256 캐싱을 도입해 2회차 입력 비용을 10%로 낮췄다. 다음 단계: Semantic diff로 선택적 재생성, Provider별 캐시 효율 최적화.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86117" y="1151186"/>
            <a:ext cx="53875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10219" y="1227386"/>
            <a:ext cx="290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10219" y="1360736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692301" y="1892945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54226" y="2003971"/>
            <a:ext cx="38100" cy="737741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993827" y="2158603"/>
            <a:ext cx="49096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루프: 장기 진화 방향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93827" y="2320528"/>
            <a:ext cx="490966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폭발·수렴 고착을 막기 위해 단일 루프에 3 Brake를 추가했다. 실측 평균 4.2 라운드 종료로 안정성을 확보. 다음 단계: 멀티 에이전트 DAG 오케스트레이션으로 확장.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908727" y="2187029"/>
            <a:ext cx="61614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32054" y="2263229"/>
            <a:ext cx="36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32054" y="2396579"/>
            <a:ext cx="3694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×200 turns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692301" y="2928938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54226" y="3039963"/>
            <a:ext cx="38100" cy="737592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993827" y="3194596"/>
            <a:ext cx="49164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검증: 장기 진화 방향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93827" y="3356521"/>
            <a:ext cx="491649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편향이 ±18점 분산을 냈기 때문에 Cross-LLM α≥0.67로 편향을 구조적으로 제거했다. 다음 단계: CUSUM 드리프트 감지로 실시간 합의도 추적.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915424" y="3223022"/>
            <a:ext cx="609451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38819" y="3299222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α≥0.67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38819" y="3432572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합의도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692301" y="3964781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854226" y="4075807"/>
            <a:ext cx="38100" cy="737741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993827" y="4230439"/>
            <a:ext cx="48384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관측: 장기 진화 방향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993827" y="4392364"/>
            <a:ext cx="48384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단독으로는 모델별 비용 분리가 안 됐기 때문에 자체 TokenTracker를 구축해 46 Hook Events로 관측했다. 다음 단계: 자동 비용 예측 + ML 실행 계획 최적화.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838926" y="4258866"/>
            <a:ext cx="685949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961556" y="4335066"/>
            <a:ext cx="440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61556" y="4468416"/>
            <a:ext cx="4406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57200" y="4987975"/>
            <a:ext cx="24159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Harness Engineering = Context × Loop × Validation × Observation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35</a:t>
            </a:r>
            <a:endParaRPr lang="en-US" sz="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7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57014"/>
            <a:ext cx="590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12905" y="171301"/>
            <a:ext cx="19113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to Mar 28,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124545"/>
            <a:ext cx="6058049" cy="1031974"/>
          </a:xfrm>
          <a:prstGeom prst="roundRect">
            <a:avLst>
              <a:gd name="adj" fmla="val 738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1261021"/>
            <a:ext cx="5797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426" y="1445121"/>
            <a:ext cx="579726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시스템(LLM)은 제어 없이 발산합니다.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426" y="1886843"/>
            <a:ext cx="57972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v0.31.0: 36일, 1,160 커밋, 39 릴리스. 이 숫자들이 명제의 실증이다.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2258020"/>
            <a:ext cx="6058049" cy="831652"/>
          </a:xfrm>
          <a:prstGeom prst="roundRect">
            <a:avLst>
              <a:gd name="adj" fmla="val 916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4426" y="2394496"/>
            <a:ext cx="57972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하네스의 3개 피드백 사이클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4426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31212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Loop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31212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→ CANNOT → 다음 설계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420392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48992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35778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Loop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735778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→ PR → CHANGELOG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424958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53558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40344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Loop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740344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→ Hook → LEARNINGS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57200" y="3191173"/>
            <a:ext cx="6058049" cy="977057"/>
          </a:xfrm>
          <a:prstGeom prst="roundRect">
            <a:avLst>
              <a:gd name="adj" fmla="val 77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4426" y="3327648"/>
            <a:ext cx="5797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Value Propositions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4426" y="356875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84027" y="3505349"/>
            <a:ext cx="294303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CANNOT + 21 Skills로 LLM 자율성과 제어의 균형을 잡는 방법론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44426" y="376535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84027" y="3701951"/>
            <a:ext cx="311867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50R × 200T 장기 실행을 비용 상한 + 수렴 감지로 안정 운용하는 기술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4426" y="39619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84027" y="3898553"/>
            <a:ext cx="279654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 → REODE 이식: 하네스가 도메인을 선택하지 않는 구조</a:t>
            </a:r>
            <a:endParaRPr lang="en-US" sz="700" dirty="0"/>
          </a:p>
        </p:txBody>
      </p:sp>
      <p:pic>
        <p:nvPicPr>
          <p:cNvPr id="31" name="Image 1" descr="/Users/mango/workspace/portfolio/geode/versions/v7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49" y="675680"/>
            <a:ext cx="1396901" cy="139690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718399" y="2199531"/>
            <a:ext cx="1968401" cy="1273076"/>
          </a:xfrm>
          <a:prstGeom prst="roundRect">
            <a:avLst>
              <a:gd name="adj" fmla="val 598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863879" y="2361456"/>
            <a:ext cx="1677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863879" y="2637681"/>
            <a:ext cx="1677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6880324" y="2832943"/>
            <a:ext cx="164455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63879" y="2913906"/>
            <a:ext cx="1677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· REODE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6863879" y="3069431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6863879" y="3215432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to Mar 28, 2026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6718399" y="3599557"/>
            <a:ext cx="1968401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828205" y="3701058"/>
            <a:ext cx="174879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7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질문은 언제든 환영합니다.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6718399" y="4195911"/>
            <a:ext cx="1968401" cy="421184"/>
          </a:xfrm>
          <a:prstGeom prst="roundRect">
            <a:avLst>
              <a:gd name="adj" fmla="val 120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8"/>
          <p:cNvSpPr/>
          <p:nvPr/>
        </p:nvSpPr>
        <p:spPr>
          <a:xfrm>
            <a:off x="6737449" y="4195911"/>
            <a:ext cx="0" cy="421184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840727" y="4246662"/>
            <a:ext cx="1761845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Trade-off:</a:t>
            </a:r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자율성을 높이면 안전 비용이 오른다. 46 Hook + 3 Brake + 5-Tier로 그 비용을 지불했고, 36일 무중단 실행이 수익이다.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457200" y="4975324"/>
            <a:ext cx="20237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/ OpenAI / ZhipuAI · 3 Providers · 187 Modules · 3,201 Tests</a:t>
            </a:r>
            <a:endParaRPr lang="en-US" sz="500" dirty="0"/>
          </a:p>
        </p:txBody>
      </p:sp>
      <p:sp>
        <p:nvSpPr>
          <p:cNvPr id="45" name="Text 41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35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mangowhoiscloud</cp:lastModifiedBy>
  <cp:revision>1</cp:revision>
  <dcterms:created xsi:type="dcterms:W3CDTF">2026-03-28T07:43:50Z</dcterms:created>
  <dcterms:modified xsi:type="dcterms:W3CDTF">2026-03-28T07:43:50Z</dcterms:modified>
</cp:coreProperties>
</file>