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139" d="100"/>
          <a:sy n="139" d="100"/>
        </p:scale>
        <p:origin x="176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16480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versions/v7/slides/assets/bg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7701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84150" y="199876"/>
            <a:ext cx="84251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212509" y="204639"/>
            <a:ext cx="14991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 · 1,174 커밋 · 40 릴리스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1265783"/>
            <a:ext cx="2801689" cy="260152"/>
          </a:xfrm>
          <a:prstGeom prst="roundRect">
            <a:avLst>
              <a:gd name="adj" fmla="val 19527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593675" y="1357759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746075" y="1338709"/>
            <a:ext cx="24238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while(tool_use) → 50 rounds × 200 turns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" y="1652885"/>
            <a:ext cx="6269837" cy="44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457200" y="2150715"/>
            <a:ext cx="626983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자율 실행 하네스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2445990"/>
            <a:ext cx="62698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600"/>
              </a:spcBef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 Autonomous Execution Harness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57200" y="2757041"/>
            <a:ext cx="25301" cy="355550"/>
          </a:xfrm>
          <a:prstGeom prst="roundRect">
            <a:avLst>
              <a:gd name="adj" fmla="val 50196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84002" y="2768054"/>
            <a:ext cx="9914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류지환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84002" y="2968079"/>
            <a:ext cx="9914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3341043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07758" y="345206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07758" y="374734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2019300" y="3341043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2169858" y="345206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2169858" y="374734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3581400" y="3341043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3731958" y="345206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3731958" y="374734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5143500" y="3341043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294058" y="345206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5294058" y="374734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Tools</a:t>
            </a:r>
            <a:endParaRPr lang="en-US" sz="600" dirty="0"/>
          </a:p>
        </p:txBody>
      </p:sp>
      <p:pic>
        <p:nvPicPr>
          <p:cNvPr id="27" name="Image 1" descr="/Users/mango/workspace/portfolio/geode/versions/v7/slides/assets/masc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961" y="1357759"/>
            <a:ext cx="1777901" cy="1777901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6703516" y="3299656"/>
            <a:ext cx="1215086" cy="704427"/>
          </a:xfrm>
          <a:prstGeom prst="roundRect">
            <a:avLst>
              <a:gd name="adj" fmla="val 1622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6856974" y="3447258"/>
            <a:ext cx="8636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Analysis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6856974" y="3782538"/>
            <a:ext cx="86361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Harness</a:t>
            </a:r>
            <a:endParaRPr lang="en-US" sz="700" dirty="0"/>
          </a:p>
        </p:txBody>
      </p:sp>
      <p:sp>
        <p:nvSpPr>
          <p:cNvPr id="31" name="Text 27"/>
          <p:cNvSpPr/>
          <p:nvPr/>
        </p:nvSpPr>
        <p:spPr>
          <a:xfrm>
            <a:off x="457200" y="4930825"/>
            <a:ext cx="23242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 to Mar 28, 2026 · Anthropic / OpenAI / ZhipuAI · 3 Providers</a:t>
            </a:r>
            <a:endParaRPr lang="en-US" sz="600" dirty="0"/>
          </a:p>
        </p:txBody>
      </p:sp>
      <p:sp>
        <p:nvSpPr>
          <p:cNvPr id="32" name="Text 28"/>
          <p:cNvSpPr/>
          <p:nvPr/>
        </p:nvSpPr>
        <p:spPr>
          <a:xfrm>
            <a:off x="8453735" y="4930825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35</a:t>
            </a:r>
            <a:endParaRPr lang="en-US" sz="600" dirty="0"/>
          </a:p>
        </p:txBody>
      </p:sp>
      <p:sp>
        <p:nvSpPr>
          <p:cNvPr id="33" name="Text 25">
            <a:extLst>
              <a:ext uri="{FF2B5EF4-FFF2-40B4-BE49-F238E27FC236}">
                <a16:creationId xmlns:a16="http://schemas.microsoft.com/office/drawing/2014/main" id="{2FBFC266-1F7C-D7B9-11E0-F2ADEE9FF157}"/>
              </a:ext>
            </a:extLst>
          </p:cNvPr>
          <p:cNvSpPr/>
          <p:nvPr/>
        </p:nvSpPr>
        <p:spPr>
          <a:xfrm>
            <a:off x="6731416" y="3625169"/>
            <a:ext cx="1187186" cy="83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cs typeface="Arial" pitchFamily="34" charset="-120"/>
              </a:rPr>
              <a:t>Live-Service Migration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593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HOOK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36일의 피봇 스토리: 과제 → 탈락 → 자율 하네스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에이전트는 재사용이 안 된다. 탈락이 하네스 인프라로의 피봇을 결정했다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776710"/>
            <a:ext cx="2032397" cy="1047601"/>
          </a:xfrm>
          <a:prstGeom prst="roundRect">
            <a:avLst>
              <a:gd name="adj" fmla="val 727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6081" y="19131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76081" y="2046536"/>
            <a:ext cx="179463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Agent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76081" y="2211586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76081" y="237351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넥슨 코딩 과제: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76081" y="2478286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검증 파이프라인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76081" y="258306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분석 에이전트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466999" y="282431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7200" y="3002012"/>
            <a:ext cx="2032397" cy="231577"/>
          </a:xfrm>
          <a:prstGeom prst="roundRect">
            <a:avLst>
              <a:gd name="adj" fmla="val 2193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68226" y="3074938"/>
            <a:ext cx="1846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v0.1 · 3 Provider 초기 설계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489597" y="2056061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819846" y="1776710"/>
            <a:ext cx="1141661" cy="990451"/>
          </a:xfrm>
          <a:prstGeom prst="roundRect">
            <a:avLst>
              <a:gd name="adj" fmla="val 7693"/>
            </a:avLst>
          </a:prstGeom>
          <a:solidFill>
            <a:srgbClr val="1A0A0A"/>
          </a:solidFill>
          <a:ln w="19050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009116" y="1922711"/>
            <a:ext cx="7631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PIVOT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009116" y="2056061"/>
            <a:ext cx="7631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면접 탈락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009116" y="2249686"/>
            <a:ext cx="763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03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2922611" y="2387695"/>
            <a:ext cx="952391" cy="121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600"/>
              </a:spcBef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"도메인 에이전트로는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891988" y="2531197"/>
            <a:ext cx="95239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부족하다"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3384352" y="2767161"/>
            <a:ext cx="12650" cy="177701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060650" y="2944862"/>
            <a:ext cx="659904" cy="231577"/>
          </a:xfrm>
          <a:prstGeom prst="roundRect">
            <a:avLst>
              <a:gd name="adj" fmla="val 21937"/>
            </a:avLst>
          </a:prstGeom>
          <a:solidFill>
            <a:srgbClr val="1A0A0A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167298" y="3017788"/>
            <a:ext cx="4466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피봇 결정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961507" y="2056061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291757" y="1776710"/>
            <a:ext cx="2032397" cy="1028551"/>
          </a:xfrm>
          <a:prstGeom prst="roundRect">
            <a:avLst>
              <a:gd name="adj" fmla="val 7408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410638" y="19131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426540" y="2054487"/>
            <a:ext cx="17946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300"/>
              </a:spcBef>
              <a:buNone/>
            </a:pPr>
            <a:r>
              <a:rPr lang="ko-KR" altLang="en-US" sz="800" b="1" dirty="0" err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에이전틱</a:t>
            </a:r>
            <a:r>
              <a:rPr lang="ko-KR" altLang="en-US" sz="8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 루프 레이어 추가</a:t>
            </a:r>
            <a:endParaRPr lang="en-US" altLang="ko-KR" sz="800" b="1" dirty="0">
              <a:solidFill>
                <a:srgbClr val="FFFFFF"/>
              </a:solidFill>
              <a:latin typeface="Arial" pitchFamily="34" charset="0"/>
              <a:cs typeface="Arial" pitchFamily="34" charset="-120"/>
            </a:endParaRPr>
          </a:p>
          <a:p>
            <a:pPr marL="0" indent="0" algn="ctr">
              <a:spcBef>
                <a:spcPts val="30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자율 수행 </a:t>
            </a:r>
            <a:r>
              <a:rPr lang="ko-KR" altLang="en-US" sz="800" b="1" dirty="0" err="1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하네스로</a:t>
            </a:r>
            <a:r>
              <a:rPr lang="ko-KR" altLang="en-US" sz="8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 확장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410638" y="2221111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04 to Mar 18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4410638" y="238303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410638" y="24782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Plan-first + Compaction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410638" y="257353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3-Brake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5301555" y="280526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291757" y="2982962"/>
            <a:ext cx="2032397" cy="317302"/>
          </a:xfrm>
          <a:prstGeom prst="roundRect">
            <a:avLst>
              <a:gd name="adj" fmla="val 16010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402782" y="3055888"/>
            <a:ext cx="1846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Gateway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402782" y="3141613"/>
            <a:ext cx="1846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6324154" y="2056061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654403" y="1776710"/>
            <a:ext cx="2032397" cy="1047601"/>
          </a:xfrm>
          <a:prstGeom prst="roundRect">
            <a:avLst>
              <a:gd name="adj" fmla="val 7274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773284" y="19131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FORK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773284" y="2046536"/>
            <a:ext cx="17946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제품화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773284" y="2221111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19 to Mar 28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6773284" y="238303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v0.13 → Fork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773284" y="2478286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모듈 · 3,274 테스트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773284" y="258306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패스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664202" y="282431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654403" y="3002012"/>
            <a:ext cx="2032397" cy="231577"/>
          </a:xfrm>
          <a:prstGeom prst="roundRect">
            <a:avLst>
              <a:gd name="adj" fmla="val 2193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765429" y="3074938"/>
            <a:ext cx="1846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패턴 재사용 증명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57200" y="3452664"/>
            <a:ext cx="8229600" cy="536377"/>
          </a:xfrm>
          <a:prstGeom prst="roundRect">
            <a:avLst>
              <a:gd name="adj" fmla="val 947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476250" y="3452664"/>
            <a:ext cx="0" cy="536377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647700" y="3528864"/>
            <a:ext cx="804443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피봇의 결론: 도메인 전문성 vs 인프라 재사용성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47700" y="3677989"/>
            <a:ext cx="8044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에이전트는 </a:t>
            </a: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분석하는가의 문제다. 하네스는 </a:t>
            </a: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오래, 안전하게 실행하는가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 문제다.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47700" y="3808065"/>
            <a:ext cx="8044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분석 결과를 선택했다면 재사용성이 없는 일회성 프로젝트로 끝났을 것이다. 하네스 인프라를 선택했기 때문에 REODE 포크가 가능해졌고, </a:t>
            </a: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 수정 0줄로 83/83 빌드를 통과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했다.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56274"/>
            <a:ext cx="16416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 · 1,174 commits · 40 releases · 36 days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35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9307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THESIS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확률적 시스템(LLM)은 제어 없이 발산한다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4-Axis: 장기 운용에서 컨텍스트·루프·검증·관측 4축이 없으면 열화가 불가피하다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539901" cy="1047750"/>
          </a:xfrm>
          <a:prstGeom prst="roundRect">
            <a:avLst>
              <a:gd name="adj" fmla="val 7273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84052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주장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93675" y="1152227"/>
            <a:ext cx="2312289" cy="29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6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단독 실행은 비결정론, 컨텍스트 손실, 비용 폭발, 루프 고착 4가지 이유로 반드시 발산한다.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93675" y="1510308"/>
            <a:ext cx="231228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Bef>
                <a:spcPts val="5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수렴시키는 것이 하네스의 역할이다. 4개 축이 없으면 자율 실행은 불가능하다.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57200" y="1971526"/>
            <a:ext cx="2539901" cy="1365202"/>
          </a:xfrm>
          <a:prstGeom prst="roundRect">
            <a:avLst>
              <a:gd name="adj" fmla="val 689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3675" y="2108002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운용의 열화: 실제 예시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46075" y="2276177"/>
            <a:ext cx="21145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</a:t>
            </a: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채우면 응답 품질 저하 시작</a:t>
            </a:r>
            <a:endParaRPr lang="en-US" sz="650" dirty="0"/>
          </a:p>
          <a:p>
            <a:pPr marL="342900" indent="-342900" algn="l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</a:t>
            </a: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10턴</a:t>
            </a: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넘으면 인사이트 휘발</a:t>
            </a:r>
            <a:endParaRPr lang="en-US" sz="650" dirty="0"/>
          </a:p>
          <a:p>
            <a:pPr marL="342900" indent="-342900" algn="l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drift로 </a:t>
            </a: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행동 변화</a:t>
            </a: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같은 입력에도 다른 출력 발생</a:t>
            </a:r>
            <a:endParaRPr lang="en-US" sz="650" dirty="0"/>
          </a:p>
          <a:p>
            <a:pPr marL="342900" indent="-342900" algn="l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공백 → CUSUM이 드리프트 미감지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783569" y="3027164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5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4축 자동 보정이 없으면 발산은 불가피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124051" y="847576"/>
            <a:ext cx="2743200" cy="1984474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260527" y="102051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387477" y="984052"/>
            <a:ext cx="10504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1 · Context Control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260527" y="1171277"/>
            <a:ext cx="25196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260527" y="1339453"/>
            <a:ext cx="2519654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 세션 프롬프트를 수동 편집하면 drift가 발생했기 때문에 PromptAssembler 6-Phase + SHA-256으로 자동 조립한다. 80%/95%에서 compaction이 발동해 루프가 컨텍스트 과부하로 중단되지 않는다.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260527" y="2483048"/>
            <a:ext cx="2470249" cy="212527"/>
          </a:xfrm>
          <a:prstGeom prst="roundRect">
            <a:avLst>
              <a:gd name="adj" fmla="val 2390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49377" y="2546449"/>
            <a:ext cx="23383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PromptAssembler · CompactionHook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943451" y="847576"/>
            <a:ext cx="2743349" cy="1984474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79927" y="102051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206877" y="984052"/>
            <a:ext cx="10448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2 · Execution Loop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79927" y="1171277"/>
            <a:ext cx="25198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079927" y="1339453"/>
            <a:ext cx="251980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브레이크 없이 실행하면 비용·수렴·탐색 고착이 발생하기 때문에 3개 자동 브레이크를 설계했다. 실측 평균 4.2 라운드 종료, 상한은 50 라운드.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079927" y="2483048"/>
            <a:ext cx="2470398" cy="212527"/>
          </a:xfrm>
          <a:prstGeom prst="roundRect">
            <a:avLst>
              <a:gd name="adj" fmla="val 2390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168777" y="2546449"/>
            <a:ext cx="233855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AgenticLoop · SafetyBrake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124051" y="2908250"/>
            <a:ext cx="2743200" cy="1984623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260527" y="308118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387477" y="3044726"/>
            <a:ext cx="8264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3 · Verification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260527" y="3231952"/>
            <a:ext cx="25196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260527" y="3400127"/>
            <a:ext cx="2519654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Anchoring 편향으로 점수 분산이 ±18점이었기 때문에 5-Layer 검증(Guardrails→BiasBuster→Cross-LLM→Rights→Ground Truth)으로 신뢰도를 확보했다.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260527" y="4543871"/>
            <a:ext cx="2470249" cy="212527"/>
          </a:xfrm>
          <a:prstGeom prst="roundRect">
            <a:avLst>
              <a:gd name="adj" fmla="val 2390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349377" y="4607272"/>
            <a:ext cx="23383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VerificationPipeline · CrossLLM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5943451" y="2908250"/>
            <a:ext cx="2743349" cy="1984623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79927" y="308118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206877" y="3044726"/>
            <a:ext cx="9243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4 · Observability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079927" y="3231952"/>
            <a:ext cx="25198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6079927" y="3400127"/>
            <a:ext cx="2519806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공백이 있으면 CUSUM이 드리프트를 감지하지 못했기 때문에 46 Hook Events로 신경계를 구성하고 TokenTracker로 실시간 비용을 추적한다.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079927" y="4543871"/>
            <a:ext cx="2470398" cy="212527"/>
          </a:xfrm>
          <a:prstGeom prst="roundRect">
            <a:avLst>
              <a:gd name="adj" fmla="val 2390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168777" y="4607272"/>
            <a:ext cx="233855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HookSystem · TokenTracker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57200" y="4956274"/>
            <a:ext cx="205285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4축은 서로 보완하며, 하나의 결함이 전체 자율 실행을 무너뜨립니다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35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4249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Loop: META → DEV → RUNTIME + 46 Hook 신경계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스캐폴드가 자기 자신을 개발하고, RUNTIME이 자율 실행한다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776" y="1060252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2776" y="1203127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스캐폴드 루프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380976" y="971401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520577" y="988368"/>
            <a:ext cx="3838685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인간이 직접 코딩하면 Harness가 실패하기 때문에 Claude Code가 GEODE를 자체 개발했다. 21 Skills + CANNOT 23-Rule + Socratic Gate로 1,174 커밋을 생성했다.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20577" y="1275011"/>
            <a:ext cx="38386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harness-for-real 해커톤 · "키보드에 손이 닿는 순간 하네스의 실패다"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410944" y="1025426"/>
            <a:ext cx="853380" cy="298252"/>
          </a:xfrm>
          <a:prstGeom prst="roundRect">
            <a:avLst>
              <a:gd name="adj" fmla="val 1703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512445" y="1088827"/>
            <a:ext cx="663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512445" y="1174552"/>
            <a:ext cx="663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425줄 CLAUDE.md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397510" y="1577727"/>
            <a:ext cx="60884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97316"/>
                </a:solidFill>
                <a:ea typeface="Arial" pitchFamily="34" charset="-122"/>
                <a:cs typeface="Arial" pitchFamily="34" charset="-120"/>
              </a:rPr>
              <a:t>↓ Hooking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1834902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2776" y="2047577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2776" y="2190452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루프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380976" y="1958727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520577" y="1975693"/>
            <a:ext cx="410586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없이 머지하면 회귀가 쌓이기 때문에 AgenticLoop가 8-Step Loop로 PR 단위 코드를 작성하며 70% 테스트 비율을 강제한다. 결과: 40/40 릴리스 무회귀.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520577" y="2262336"/>
            <a:ext cx="41058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typecheck+lint backpressure · LEARNINGS.md 패턴 축적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5672882" y="2012752"/>
            <a:ext cx="591443" cy="298252"/>
          </a:xfrm>
          <a:prstGeom prst="roundRect">
            <a:avLst>
              <a:gd name="adj" fmla="val 1703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774382" y="2076152"/>
            <a:ext cx="39621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 Tests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5774382" y="2161877"/>
            <a:ext cx="39621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PRs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397510" y="2565053"/>
            <a:ext cx="60884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97316"/>
                </a:solidFill>
                <a:latin typeface="+mj-lt"/>
                <a:ea typeface="Arial" pitchFamily="34" charset="-122"/>
                <a:cs typeface="Arial" pitchFamily="34" charset="-120"/>
              </a:rPr>
              <a:t>↓ Hooking</a:t>
            </a:r>
            <a:endParaRPr lang="en-US" sz="1200" dirty="0">
              <a:latin typeface="+mj-lt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57200" y="2822228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12776" y="3034903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776" y="3177778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실행 루프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380976" y="2946053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20577" y="2963019"/>
            <a:ext cx="421394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없이 장기 실행하기 위해 Safety Brake·Scheduler·Gateway를 추가했다. 52 Tools + 45 MCP + 46 Hook이 while(tool_use) 50 라운드를 자율 구동한다.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520577" y="3249662"/>
            <a:ext cx="42139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Brake · Scheduler · Gateway: 사람 없이 오래 실행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5778847" y="3000077"/>
            <a:ext cx="485477" cy="298252"/>
          </a:xfrm>
          <a:prstGeom prst="roundRect">
            <a:avLst>
              <a:gd name="adj" fmla="val 1703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880348" y="3063478"/>
            <a:ext cx="288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Tools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5880348" y="3149203"/>
            <a:ext cx="288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MCP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6553200" y="847576"/>
            <a:ext cx="2133600" cy="1841302"/>
          </a:xfrm>
          <a:prstGeom prst="roundRect">
            <a:avLst>
              <a:gd name="adj" fmla="val 4138"/>
            </a:avLst>
          </a:prstGeom>
          <a:solidFill>
            <a:srgbClr val="1E293B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689675" y="984052"/>
            <a:ext cx="50750" cy="15240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816625" y="998339"/>
            <a:ext cx="649649" cy="1190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신경계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671069" y="1212652"/>
            <a:ext cx="18978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671069" y="1536502"/>
            <a:ext cx="189786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8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842075" y="1733252"/>
            <a:ext cx="170824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PIPELINE_START / PIPELINE_END</a:t>
            </a:r>
            <a:endParaRPr lang="en-US" sz="700" dirty="0"/>
          </a:p>
          <a:p>
            <a:pPr marL="342900" indent="-342900" algn="l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NODE_ENTER / NODE_EXIT</a:t>
            </a:r>
            <a:endParaRPr lang="en-US" sz="700" dirty="0"/>
          </a:p>
          <a:p>
            <a:pPr marL="342900" indent="-342900" algn="l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MEMORY_SAVED / TURN_COMPLETE</a:t>
            </a:r>
            <a:endParaRPr lang="en-US" sz="700" dirty="0"/>
          </a:p>
          <a:p>
            <a:pPr marL="342900" indent="-342900" algn="l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CONTEXT_WARNING</a:t>
            </a:r>
            <a:endParaRPr lang="en-US" sz="700" dirty="0"/>
          </a:p>
          <a:p>
            <a:pPr marL="342900" indent="-342900" algn="l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SUBAGENT_STARTED / SUBAGENT_COMPLETED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584978" y="582066"/>
            <a:ext cx="189786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6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기반 핸들러 실행. 핸들러 간 에러 격리로 한 이벤트 실패가 루프를 중단시키지 않는다.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553200" y="2765078"/>
            <a:ext cx="2133600" cy="727174"/>
          </a:xfrm>
          <a:prstGeom prst="roundRect">
            <a:avLst>
              <a:gd name="adj" fmla="val 1047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64226" y="2876104"/>
            <a:ext cx="19497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증강 피드백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664226" y="3031629"/>
            <a:ext cx="1949779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spcBef>
                <a:spcPts val="4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이벤트 → MEMORY.md 인사이트 자동 축적 → 다음 세션 PromptAssembler가 반영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6664226" y="3295501"/>
            <a:ext cx="19497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3-Loop가 서로 강화한다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6553200" y="3568452"/>
            <a:ext cx="2133600" cy="1099691"/>
          </a:xfrm>
          <a:prstGeom prst="roundRect">
            <a:avLst>
              <a:gd name="adj" fmla="val 4619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664226" y="3654177"/>
            <a:ext cx="19497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왜 3중 루프인가?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664226" y="3784253"/>
            <a:ext cx="1949779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DEV+RUNTIME 2중 루프로는 규칙이 진화하지 않는다. 같은 실수가 반복되고 패턴이 코드베이스에 남는다.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6664226" y="4048125"/>
            <a:ext cx="930325" cy="397818"/>
          </a:xfrm>
          <a:prstGeom prst="roundRect">
            <a:avLst>
              <a:gd name="adj" fmla="val 957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740426" y="4098875"/>
            <a:ext cx="793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2중 루프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6740426" y="4197251"/>
            <a:ext cx="793483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위반 반복 · 학습 없음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7645301" y="4048125"/>
            <a:ext cx="930473" cy="397818"/>
          </a:xfrm>
          <a:prstGeom prst="roundRect">
            <a:avLst>
              <a:gd name="adj" fmla="val 957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721501" y="4098875"/>
            <a:ext cx="793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추가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7721501" y="4197251"/>
            <a:ext cx="79363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규칙이 CHANGELOG에서 진화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6664226" y="4496693"/>
            <a:ext cx="19497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비용: META 루프 투자 시간 ↑ · 수익: RUNTIME 품질 복리 ↑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457200" y="4956274"/>
            <a:ext cx="27397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META가 DEV를 낳고, DEV가 RUNTIME을 완성하고, RUNTIME이 META를 강화한다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35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49" y="174575"/>
            <a:ext cx="1475957" cy="155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63453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계층으로 설계하면 LLM 교체 시 전체를 다시 짜야 했기 때문에 Port/Adapter로 6-Layer를</a:t>
            </a:r>
            <a:r>
              <a:rPr lang="ko-KR" alt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수직으로 분할했습니다</a:t>
            </a:r>
            <a:r>
              <a:rPr lang="en-US" altLang="ko-KR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ko-KR" altLang="en-US" sz="800" dirty="0">
                <a:solidFill>
                  <a:srgbClr val="8B949E"/>
                </a:solidFill>
                <a:latin typeface="Arial" pitchFamily="34" charset="0"/>
                <a:cs typeface="Arial" pitchFamily="34" charset="-120"/>
              </a:rPr>
              <a:t>에이전트 팀의 탐색 </a:t>
            </a:r>
            <a:r>
              <a:rPr lang="ko-KR" altLang="en-US" sz="800" dirty="0" err="1">
                <a:solidFill>
                  <a:srgbClr val="8B949E"/>
                </a:solidFill>
                <a:latin typeface="Arial" pitchFamily="34" charset="0"/>
                <a:cs typeface="Arial" pitchFamily="34" charset="-120"/>
              </a:rPr>
              <a:t>스코프를</a:t>
            </a:r>
            <a:r>
              <a:rPr lang="ko-KR" altLang="en-US" sz="800" dirty="0">
                <a:solidFill>
                  <a:srgbClr val="8B949E"/>
                </a:solidFill>
                <a:latin typeface="Arial" pitchFamily="34" charset="0"/>
                <a:cs typeface="Arial" pitchFamily="34" charset="-120"/>
              </a:rPr>
              <a:t> 줄일</a:t>
            </a:r>
            <a:endParaRPr lang="en-US" sz="800" dirty="0"/>
          </a:p>
        </p:txBody>
      </p:sp>
      <p:pic>
        <p:nvPicPr>
          <p:cNvPr id="6" name="Image 0" descr="/Users/mango/workspace/portfolio/geode/versions/v7/slides/assets/v028-diagram-3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54" y="1076175"/>
            <a:ext cx="6258795" cy="32572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50996" y="4426766"/>
            <a:ext cx="1921004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수직 분리 · Hook이 모든 계층을 횡단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527899" y="847576"/>
            <a:ext cx="2158901" cy="495300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664375" y="933301"/>
            <a:ext cx="47545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232005" y="982563"/>
            <a:ext cx="79985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232005" y="1122164"/>
            <a:ext cx="7998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 하위 계층별 분리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6527899" y="1406277"/>
            <a:ext cx="2158901" cy="495300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6664375" y="1492002"/>
            <a:ext cx="31696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076629" y="1541264"/>
            <a:ext cx="6699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076629" y="1680865"/>
            <a:ext cx="6699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계층 횡단 관측 신경계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527899" y="1964978"/>
            <a:ext cx="2158901" cy="892076"/>
          </a:xfrm>
          <a:prstGeom prst="roundRect">
            <a:avLst>
              <a:gd name="adj" fmla="val 569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664375" y="2050703"/>
            <a:ext cx="192366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계층별 역할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791325" y="2206228"/>
            <a:ext cx="175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Gateway: 채널 입력 라우팅</a:t>
            </a:r>
            <a:endParaRPr lang="en-US" sz="600" dirty="0"/>
          </a:p>
          <a:p>
            <a:pPr marL="342900" indent="-342900" algn="l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Orchestrator: AgenticLoop</a:t>
            </a:r>
            <a:endParaRPr lang="en-US" sz="600" dirty="0"/>
          </a:p>
          <a:p>
            <a:pPr marL="342900" indent="-342900" algn="l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Tool/Agent: 52 Tools + Sub</a:t>
            </a:r>
            <a:endParaRPr lang="en-US" sz="600" dirty="0"/>
          </a:p>
          <a:p>
            <a:pPr marL="342900" indent="-342900" algn="l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LLM: 3-Provider Failover</a:t>
            </a:r>
            <a:endParaRPr lang="en-US" sz="600" dirty="0"/>
          </a:p>
          <a:p>
            <a:pPr marL="342900" indent="-342900" algn="l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 Memory: 4-Tier 학습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664375" y="2685604"/>
            <a:ext cx="19236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→ LLM 교체 시 나머지 불변</a:t>
            </a:r>
            <a:endParaRPr lang="en-US" sz="600" dirty="0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58861EE9-F8B7-073D-4969-DF7BC606C253}"/>
              </a:ext>
            </a:extLst>
          </p:cNvPr>
          <p:cNvGrpSpPr/>
          <p:nvPr/>
        </p:nvGrpSpPr>
        <p:grpSpPr>
          <a:xfrm>
            <a:off x="6527899" y="2920454"/>
            <a:ext cx="2158901" cy="1506312"/>
            <a:chOff x="6527899" y="2920454"/>
            <a:chExt cx="2158901" cy="1004441"/>
          </a:xfrm>
        </p:grpSpPr>
        <p:sp>
          <p:nvSpPr>
            <p:cNvPr id="20" name="Text 17"/>
            <p:cNvSpPr/>
            <p:nvPr/>
          </p:nvSpPr>
          <p:spPr>
            <a:xfrm>
              <a:off x="6527899" y="2920454"/>
              <a:ext cx="2158901" cy="1004441"/>
            </a:xfrm>
            <a:prstGeom prst="roundRect">
              <a:avLst>
                <a:gd name="adj" fmla="val 5058"/>
              </a:avLst>
            </a:prstGeom>
            <a:solidFill>
              <a:srgbClr val="1E293B"/>
            </a:solidFill>
            <a:ln w="9525">
              <a:solidFill>
                <a:srgbClr val="818CF8"/>
              </a:solidFill>
            </a:ln>
          </p:spPr>
          <p:txBody>
            <a:bodyPr wrap="square" rtlCol="0" anchor="ctr"/>
            <a:lstStyle/>
            <a:p>
              <a:pPr marL="0" indent="0">
                <a:buNone/>
              </a:pPr>
              <a:endParaRPr lang="en-US" dirty="0"/>
            </a:p>
          </p:txBody>
        </p:sp>
        <p:sp>
          <p:nvSpPr>
            <p:cNvPr id="21" name="Text 18"/>
            <p:cNvSpPr/>
            <p:nvPr/>
          </p:nvSpPr>
          <p:spPr>
            <a:xfrm>
              <a:off x="6664375" y="3006179"/>
              <a:ext cx="1923669" cy="10477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400"/>
                </a:spcAft>
                <a:buNone/>
              </a:pPr>
              <a:r>
                <a:rPr lang="en-US" sz="700" b="1" dirty="0">
                  <a:solidFill>
                    <a:srgbClr val="818CF8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왜 6-Layer인가?</a:t>
              </a:r>
              <a:endParaRPr lang="en-US" sz="700" dirty="0"/>
            </a:p>
          </p:txBody>
        </p:sp>
        <p:sp>
          <p:nvSpPr>
            <p:cNvPr id="22" name="Text 19"/>
            <p:cNvSpPr/>
            <p:nvPr/>
          </p:nvSpPr>
          <p:spPr>
            <a:xfrm>
              <a:off x="6664375" y="3161705"/>
              <a:ext cx="1923669" cy="31968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spcAft>
                  <a:spcPts val="300"/>
                </a:spcAft>
                <a:buNone/>
              </a:pPr>
              <a:r>
                <a:rPr lang="en-US" sz="600" dirty="0">
                  <a:solidFill>
                    <a:srgbClr val="E2E8F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3-Layer(Presentation/Business/Data)는 </a:t>
              </a:r>
              <a:r>
                <a:rPr lang="en-US" sz="600" dirty="0" err="1">
                  <a:solidFill>
                    <a:srgbClr val="E2E8F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에이전트에</a:t>
              </a:r>
              <a:r>
                <a:rPr lang="en-US" sz="600" dirty="0">
                  <a:solidFill>
                    <a:srgbClr val="E2E8F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R" altLang="en-US" sz="600" dirty="0">
                  <a:solidFill>
                    <a:srgbClr val="E2E8F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적합하지 않습니다</a:t>
              </a:r>
              <a:r>
                <a:rPr lang="en-US" sz="600" dirty="0">
                  <a:solidFill>
                    <a:srgbClr val="E2E8F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. 도구·메모리·오케스트레이션이 독립적으로 </a:t>
              </a:r>
              <a:r>
                <a:rPr lang="en-US" sz="600" dirty="0" err="1">
                  <a:solidFill>
                    <a:srgbClr val="E2E8F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교체되어야</a:t>
              </a:r>
              <a:r>
                <a:rPr lang="en-US" sz="600" dirty="0">
                  <a:solidFill>
                    <a:srgbClr val="E2E8F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 </a:t>
              </a:r>
              <a:r>
                <a:rPr lang="ko-KR" altLang="en-US" sz="600" dirty="0">
                  <a:solidFill>
                    <a:srgbClr val="E2E8F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합니다</a:t>
              </a:r>
              <a:r>
                <a:rPr lang="en-US" sz="600" dirty="0">
                  <a:solidFill>
                    <a:srgbClr val="E2E8F0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.</a:t>
              </a:r>
              <a:endParaRPr lang="en-US" sz="600" dirty="0"/>
            </a:p>
          </p:txBody>
        </p:sp>
        <p:sp>
          <p:nvSpPr>
            <p:cNvPr id="23" name="Text 20"/>
            <p:cNvSpPr/>
            <p:nvPr/>
          </p:nvSpPr>
          <p:spPr>
            <a:xfrm>
              <a:off x="6791325" y="3519488"/>
              <a:ext cx="1759000" cy="31968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342900" indent="-342900" algn="l">
                <a:lnSpc>
                  <a:spcPts val="840"/>
                </a:lnSpc>
                <a:buSzPct val="100000"/>
                <a:buChar char="•"/>
              </a:pPr>
              <a:r>
                <a:rPr lang="en-US" sz="600" dirty="0">
                  <a:solidFill>
                    <a:srgbClr val="8B949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LLM 교체 → L4만 변경, 나머지 불변</a:t>
              </a:r>
              <a:endParaRPr lang="en-US" sz="600" dirty="0"/>
            </a:p>
            <a:p>
              <a:pPr marL="342900" indent="-342900" algn="l">
                <a:lnSpc>
                  <a:spcPts val="840"/>
                </a:lnSpc>
                <a:buSzPct val="100000"/>
                <a:buChar char="•"/>
              </a:pPr>
              <a:r>
                <a:rPr lang="en-US" sz="600" dirty="0">
                  <a:solidFill>
                    <a:srgbClr val="8B949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메모리 백엔드 교체 → L5만 변경</a:t>
              </a:r>
              <a:endParaRPr lang="en-US" sz="600" dirty="0"/>
            </a:p>
            <a:p>
              <a:pPr marL="342900" indent="-342900" algn="l">
                <a:lnSpc>
                  <a:spcPts val="840"/>
                </a:lnSpc>
                <a:buSzPct val="100000"/>
                <a:buChar char="•"/>
              </a:pPr>
              <a:r>
                <a:rPr lang="en-US" sz="600" dirty="0">
                  <a:solidFill>
                    <a:srgbClr val="8B949E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도구 추가 → L3만 확장</a:t>
              </a:r>
              <a:endParaRPr lang="en-US" sz="600" dirty="0"/>
            </a:p>
          </p:txBody>
        </p:sp>
      </p:grpSp>
      <p:sp>
        <p:nvSpPr>
          <p:cNvPr id="24" name="Text 21"/>
          <p:cNvSpPr/>
          <p:nvPr/>
        </p:nvSpPr>
        <p:spPr>
          <a:xfrm>
            <a:off x="457200" y="4956274"/>
            <a:ext cx="160290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modules · 3,216 tests · 46 hooks · v0.32.0</a:t>
            </a:r>
            <a:endParaRPr lang="en-US" sz="600" dirty="0"/>
          </a:p>
        </p:txBody>
      </p:sp>
      <p:sp>
        <p:nvSpPr>
          <p:cNvPr id="25" name="Text 22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35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5525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EXECUTION LOOP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AgenticLoop: while(tool_use) 50 rounds × 200-turn Window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while(tool_use) 패턴을 참고했고, 제어 없이 실행하면 무한 소모이기 때문에 5가지 종료 경로로 수렴을 강제했다</a:t>
            </a:r>
            <a:endParaRPr lang="en-US" sz="800" dirty="0"/>
          </a:p>
        </p:txBody>
      </p:sp>
      <p:pic>
        <p:nvPicPr>
          <p:cNvPr id="6" name="Image 0" descr="/Users/mango/workspace/portfolio/geode/versions/v7/slides/assets/v028-diagram-agentic-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779" y="978967"/>
            <a:ext cx="6185748" cy="352338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36657" y="4052483"/>
            <a:ext cx="1971016" cy="46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실행 흐름 · 루프백 + 5 종료 경로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426250" y="838051"/>
            <a:ext cx="2260550" cy="523875"/>
          </a:xfrm>
          <a:prstGeom prst="roundRect">
            <a:avLst>
              <a:gd name="adj" fmla="val 9697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557878" y="923776"/>
            <a:ext cx="49442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557878" y="1190476"/>
            <a:ext cx="49442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Rounds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7174409" y="923776"/>
            <a:ext cx="12650" cy="3524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309161" y="923776"/>
            <a:ext cx="4945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309161" y="1190476"/>
            <a:ext cx="49458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Window</a:t>
            </a:r>
            <a:endParaRPr lang="en-US" sz="600" dirty="0"/>
          </a:p>
        </p:txBody>
      </p:sp>
      <p:sp>
        <p:nvSpPr>
          <p:cNvPr id="14" name="Text 11"/>
          <p:cNvSpPr/>
          <p:nvPr/>
        </p:nvSpPr>
        <p:spPr>
          <a:xfrm>
            <a:off x="7925842" y="923776"/>
            <a:ext cx="12650" cy="3524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8060594" y="923776"/>
            <a:ext cx="4945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060594" y="1190476"/>
            <a:ext cx="49458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Paths</a:t>
            </a:r>
            <a:endParaRPr lang="en-US" sz="600" dirty="0"/>
          </a:p>
        </p:txBody>
      </p:sp>
      <p:sp>
        <p:nvSpPr>
          <p:cNvPr id="17" name="Text 14"/>
          <p:cNvSpPr/>
          <p:nvPr/>
        </p:nvSpPr>
        <p:spPr>
          <a:xfrm>
            <a:off x="6426250" y="1425327"/>
            <a:ext cx="2260550" cy="856804"/>
          </a:xfrm>
          <a:prstGeom prst="roundRect">
            <a:avLst>
              <a:gd name="adj" fmla="val 592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562725" y="1511052"/>
            <a:ext cx="20273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5가지 종료 경로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6689675" y="1666577"/>
            <a:ext cx="1860649" cy="52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end_turn</a:t>
            </a: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LLM이 tool_use 없이 응답</a:t>
            </a:r>
            <a:endParaRPr lang="en-US" sz="600" dirty="0"/>
          </a:p>
          <a:p>
            <a:pPr marL="342900" indent="-342900" algn="l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max_rounds</a:t>
            </a: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50라운드 도달</a:t>
            </a:r>
            <a:endParaRPr lang="en-US" sz="600" dirty="0"/>
          </a:p>
          <a:p>
            <a:pPr marL="342900" indent="-342900" algn="l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convergence</a:t>
            </a: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동일 에러 3회 반복 감지</a:t>
            </a:r>
            <a:endParaRPr lang="en-US" sz="600" dirty="0"/>
          </a:p>
          <a:p>
            <a:pPr marL="342900" indent="-342900" algn="l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force_text</a:t>
            </a: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잔여 2라운드에서 텍스트 강제</a:t>
            </a:r>
            <a:endParaRPr lang="en-US" sz="600" dirty="0"/>
          </a:p>
          <a:p>
            <a:pPr marL="342900" indent="-342900" algn="l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budget_stop</a:t>
            </a: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세션 비용 상한 초과</a:t>
            </a:r>
            <a:endParaRPr lang="en-US" sz="600" dirty="0"/>
          </a:p>
        </p:txBody>
      </p:sp>
      <p:sp>
        <p:nvSpPr>
          <p:cNvPr id="20" name="Text 17"/>
          <p:cNvSpPr/>
          <p:nvPr/>
        </p:nvSpPr>
        <p:spPr>
          <a:xfrm>
            <a:off x="6426250" y="2345531"/>
            <a:ext cx="2260550" cy="749647"/>
          </a:xfrm>
          <a:prstGeom prst="roundRect">
            <a:avLst>
              <a:gd name="adj" fmla="val 677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562725" y="2431256"/>
            <a:ext cx="20273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관리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6562725" y="2586782"/>
            <a:ext cx="2027352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메시지 초과 시 최초 사용자 메시지 보존 + bridge 삽입. 80%에서 compact, 95%에서 emergency prune 자동 발동.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6562725" y="2838004"/>
            <a:ext cx="2027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2회 연속 실패 → Provider 모델 체인 → Cross-Provider Fallback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6426250" y="3158579"/>
            <a:ext cx="2260550" cy="944314"/>
          </a:xfrm>
          <a:prstGeom prst="roundRect">
            <a:avLst>
              <a:gd name="adj" fmla="val 5380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6562725" y="3244304"/>
            <a:ext cx="20273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max 50 rounds?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6562725" y="3399830"/>
            <a:ext cx="2027352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기반: 평균 </a:t>
            </a: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라운드</a:t>
            </a: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 자연 종료(end_turn). 50은 탈출 불가 상황의 안전망이며 긴 분석 작업에서 드물게 30+ 라운드 도달.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6562725" y="3663702"/>
            <a:ext cx="628650" cy="353467"/>
          </a:xfrm>
          <a:prstGeom prst="roundRect">
            <a:avLst>
              <a:gd name="adj" fmla="val 1077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6634163" y="3714452"/>
            <a:ext cx="485775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10"/>
              </a:lnSpc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634163" y="3880693"/>
            <a:ext cx="4857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라운드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7242125" y="3663702"/>
            <a:ext cx="628799" cy="353467"/>
          </a:xfrm>
          <a:prstGeom prst="roundRect">
            <a:avLst>
              <a:gd name="adj" fmla="val 1077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7313561" y="3714452"/>
            <a:ext cx="485927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10"/>
              </a:lnSpc>
              <a:buNone/>
            </a:pPr>
            <a:r>
              <a:rPr lang="en-US" sz="11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313561" y="3880693"/>
            <a:ext cx="48592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심층 분석 시</a:t>
            </a:r>
            <a:endParaRPr lang="en-US" sz="600" dirty="0"/>
          </a:p>
        </p:txBody>
      </p:sp>
      <p:sp>
        <p:nvSpPr>
          <p:cNvPr id="33" name="Text 30"/>
          <p:cNvSpPr/>
          <p:nvPr/>
        </p:nvSpPr>
        <p:spPr>
          <a:xfrm>
            <a:off x="7921675" y="3663702"/>
            <a:ext cx="628650" cy="353467"/>
          </a:xfrm>
          <a:prstGeom prst="roundRect">
            <a:avLst>
              <a:gd name="adj" fmla="val 1077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7993112" y="3714452"/>
            <a:ext cx="485775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10"/>
              </a:lnSpc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993112" y="3880693"/>
            <a:ext cx="4857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안전망 상한</a:t>
            </a:r>
            <a:endParaRPr lang="en-US" sz="600" dirty="0"/>
          </a:p>
        </p:txBody>
      </p:sp>
      <p:sp>
        <p:nvSpPr>
          <p:cNvPr id="36" name="Text 33"/>
          <p:cNvSpPr/>
          <p:nvPr/>
        </p:nvSpPr>
        <p:spPr>
          <a:xfrm>
            <a:off x="457200" y="4956274"/>
            <a:ext cx="256747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while(tool_use) 패턴 참고 · core/orchestration/agentic_loop.py</a:t>
            </a:r>
            <a:endParaRPr lang="en-US" sz="600" dirty="0"/>
          </a:p>
        </p:txBody>
      </p:sp>
      <p:sp>
        <p:nvSpPr>
          <p:cNvPr id="37" name="Text 34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35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9215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LONG-RUNNING SAFETY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자율 실행의 3대 위험과 자동 브레이크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자율성과 안전의 균형: 사람 없이 하네스를 보호하는 3가지 메커니즘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675483" cy="3737521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8405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79698" y="1041202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98475" y="1036439"/>
            <a:ext cx="466576" cy="138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폭발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93675" y="1276052"/>
            <a:ext cx="2402532" cy="655290"/>
          </a:xfrm>
          <a:prstGeom prst="roundRect">
            <a:avLst>
              <a:gd name="adj" fmla="val 7752"/>
            </a:avLst>
          </a:prstGeom>
          <a:solidFill>
            <a:srgbClr val="1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95176" y="1352252"/>
            <a:ext cx="224352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위험: 실제 비용 계산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95176" y="1482328"/>
            <a:ext cx="2301031" cy="324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특성상 비용 폭발은 구조적으로 불가피. </a:t>
            </a:r>
          </a:p>
          <a:p>
            <a:pPr marL="0" indent="0" algn="l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50라운드 × $0.15/turn = 세션당 $7.50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budget 초과 시 자동 정지가 없으면 하룻밤 무인 실행에 </a:t>
            </a: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$500+ 소모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가능.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3675" y="1994743"/>
            <a:ext cx="2402532" cy="674340"/>
          </a:xfrm>
          <a:prstGeom prst="roundRect">
            <a:avLst>
              <a:gd name="adj" fmla="val 7533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04701" y="2080468"/>
            <a:ext cx="222409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브레이크: 인과 흐름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704701" y="2210544"/>
            <a:ext cx="222409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TokenTracker가 매 턴 비용 누적 → budget 상한 도달 시 budget_stop 신호 → PIPELINE_END 강제 발화. 사람 없이 비용 상한을 보장한다.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593675" y="4156621"/>
            <a:ext cx="2402532" cy="292001"/>
          </a:xfrm>
          <a:prstGeom prst="roundRect">
            <a:avLst>
              <a:gd name="adj" fmla="val 173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92051" y="4216896"/>
            <a:ext cx="22498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P3 원칙 적용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692051" y="4302621"/>
            <a:ext cx="22498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budget_stop → PIPELINE_END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3234184" y="847576"/>
            <a:ext cx="2675632" cy="3737521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70659" y="98405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456682" y="1041202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675458" y="1036439"/>
            <a:ext cx="625379" cy="138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무한 루프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370659" y="1276052"/>
            <a:ext cx="2402681" cy="531019"/>
          </a:xfrm>
          <a:prstGeom prst="roundRect">
            <a:avLst>
              <a:gd name="adj" fmla="val 9567"/>
            </a:avLst>
          </a:prstGeom>
          <a:solidFill>
            <a:srgbClr val="1A0D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472160" y="1352252"/>
            <a:ext cx="224367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위험: 수렴 고착의 비용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472160" y="1482328"/>
            <a:ext cx="2243673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동일한 에러를 반복하면 50 rounds 전체를 낭비한다. 동일 요청에 $7.50를 태우고 실패를 반환하는 구조적 낭비다.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370659" y="1934480"/>
            <a:ext cx="2402681" cy="674340"/>
          </a:xfrm>
          <a:prstGeom prst="roundRect">
            <a:avLst>
              <a:gd name="adj" fmla="val 7533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481685" y="1983629"/>
            <a:ext cx="22242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브레이크: 인과 흐름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481685" y="2131993"/>
            <a:ext cx="2224242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에러 </a:t>
            </a: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3회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감지 → 수렴 판정 → Haiku→Sonnet→Opus 상위 모델 에스컬레이션 → 모델 체인 소진 시 Cross-Provider 자동 이동.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370659" y="4156621"/>
            <a:ext cx="2402681" cy="292001"/>
          </a:xfrm>
          <a:prstGeom prst="roundRect">
            <a:avLst>
              <a:gd name="adj" fmla="val 173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469035" y="4216896"/>
            <a:ext cx="22500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P4 원칙 적용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3469035" y="4302621"/>
            <a:ext cx="22500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convergence → model escalation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6011317" y="847576"/>
            <a:ext cx="2675483" cy="3737521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147792" y="98405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233815" y="1041202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452592" y="1036439"/>
            <a:ext cx="606576" cy="138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고착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147792" y="1276052"/>
            <a:ext cx="2402532" cy="531019"/>
          </a:xfrm>
          <a:prstGeom prst="roundRect">
            <a:avLst>
              <a:gd name="adj" fmla="val 9567"/>
            </a:avLst>
          </a:prstGeom>
          <a:solidFill>
            <a:srgbClr val="1A15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249293" y="1352252"/>
            <a:ext cx="224352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위험: 탐색 편향의 결과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249293" y="1482328"/>
            <a:ext cx="224352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도구만 반복 호출하면 탐색 공간이 좁아지고, 다른 접근법으로 해결 가능한 문제를 50 rounds 내내 놓친다.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6147792" y="1934480"/>
            <a:ext cx="2402532" cy="674340"/>
          </a:xfrm>
          <a:prstGeom prst="roundRect">
            <a:avLst>
              <a:gd name="adj" fmla="val 9235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258818" y="2020205"/>
            <a:ext cx="222409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브레이크: 인과 흐름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258818" y="2150281"/>
            <a:ext cx="222409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반복 </a:t>
            </a: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감지 → Hook이 hint 메시지 자동 주입 → LLM이 다른 도구 경로를 탐색. 다양성을 구조적으로 강제한다.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147792" y="4156621"/>
            <a:ext cx="2402532" cy="292001"/>
          </a:xfrm>
          <a:prstGeom prst="roundRect">
            <a:avLst>
              <a:gd name="adj" fmla="val 173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246168" y="4216896"/>
            <a:ext cx="22498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다양성 강제 (Diversity Forcing)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6246168" y="4302621"/>
            <a:ext cx="22498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tool_repeat_5x → hint_inject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457200" y="4686598"/>
            <a:ext cx="8229600" cy="206276"/>
          </a:xfrm>
          <a:prstGeom prst="roundRect">
            <a:avLst>
              <a:gd name="adj" fmla="val 2462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476250" y="4686598"/>
            <a:ext cx="0" cy="206276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622250" y="4737348"/>
            <a:ext cx="80963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자율성 vs 안전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브레이크가 강할수록 자율 실행 범위가 줄어든다. 3가지 임계값(budget 한도, 수렴 횟수 3회, 반복 횟수 5회)은 사용자가 조정 가능하며, 기본값은 실험적으로 도출했다.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57200" y="4956274"/>
            <a:ext cx="23875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자동 브레이크 → 사람 없이 장기 실행 가능 · core/orchestration/safety.py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35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21762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LONG-RUNNING INNOVATION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장시간 운용을 위한 2가지 혁신: Plan-first + Provider-aware Compaction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방향으로 50 rounds 소모를 막기 위해 Plan-first를 도입했고, 컨텍스트 포화가 프로바이더마다 달랐기 때문에 Provider-aware Compaction을 분리했다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864989"/>
            <a:ext cx="9079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Plan-first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101477"/>
            <a:ext cx="3981450" cy="3534370"/>
          </a:xfrm>
          <a:prstGeom prst="roundRect">
            <a:avLst>
              <a:gd name="adj" fmla="val 2156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3675" y="1237952"/>
            <a:ext cx="3708499" cy="276225"/>
          </a:xfrm>
          <a:prstGeom prst="roundRect">
            <a:avLst>
              <a:gd name="adj" fmla="val 18391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17500" y="1333202"/>
            <a:ext cx="2331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1022300" y="1323677"/>
            <a:ext cx="788212" cy="109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요청 수신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93675" y="1577578"/>
            <a:ext cx="3708499" cy="276225"/>
          </a:xfrm>
          <a:prstGeom prst="roundRect">
            <a:avLst>
              <a:gd name="adj" fmla="val 18391"/>
            </a:avLst>
          </a:prstGeom>
          <a:solidFill>
            <a:srgbClr val="1A0D00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7500" y="1663304"/>
            <a:ext cx="6723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복잡도 판별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845719" y="1672828"/>
            <a:ext cx="3392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 steps?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593675" y="1917204"/>
            <a:ext cx="1822549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88696" y="2002929"/>
            <a:ext cx="16325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요청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688696" y="2113955"/>
            <a:ext cx="16325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직접 실행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479625" y="1917204"/>
            <a:ext cx="1822549" cy="368201"/>
          </a:xfrm>
          <a:prstGeom prst="roundRect">
            <a:avLst>
              <a:gd name="adj" fmla="val 13797"/>
            </a:avLst>
          </a:prstGeom>
          <a:solidFill>
            <a:srgbClr val="1A0D00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574646" y="2002929"/>
            <a:ext cx="16325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 요청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2574646" y="2113955"/>
            <a:ext cx="16325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create_plan 자발 호출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93675" y="2348805"/>
            <a:ext cx="3708499" cy="387251"/>
          </a:xfrm>
          <a:prstGeom prst="roundRect">
            <a:avLst>
              <a:gd name="adj" fmla="val 13118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17500" y="2434530"/>
            <a:ext cx="35300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 UI · plan_id 노출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717500" y="2545556"/>
            <a:ext cx="353006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/ 수정 / 거부 선택 → 확인 후 실행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93675" y="2812256"/>
            <a:ext cx="3708499" cy="323552"/>
          </a:xfrm>
          <a:prstGeom prst="roundRect">
            <a:avLst>
              <a:gd name="adj" fmla="val 1570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95176" y="2875657"/>
            <a:ext cx="35756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방향으로 50 rounds를 소모하기 전에 사람이 개입. plan_id로 수정·재승인 가능.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95176" y="2986683"/>
            <a:ext cx="35756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LLM.create_plan() → plan_id → user_approval_gate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565600" y="847576"/>
            <a:ext cx="12650" cy="378827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705201" y="847576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32152" y="864989"/>
            <a:ext cx="19509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Provider-aware Compaction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05201" y="1101477"/>
            <a:ext cx="3981599" cy="3534370"/>
          </a:xfrm>
          <a:prstGeom prst="roundRect">
            <a:avLst>
              <a:gd name="adj" fmla="val 215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41677" y="1237952"/>
            <a:ext cx="3708648" cy="285750"/>
          </a:xfrm>
          <a:prstGeom prst="roundRect">
            <a:avLst>
              <a:gd name="adj" fmla="val 17778"/>
            </a:avLst>
          </a:prstGeom>
          <a:solidFill>
            <a:srgbClr val="1A1500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965502" y="1323677"/>
            <a:ext cx="2073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245001" y="1328440"/>
            <a:ext cx="16698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윈도우 포화 → 프로바이더 분기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841677" y="1587103"/>
            <a:ext cx="1822549" cy="2439591"/>
          </a:xfrm>
          <a:prstGeom prst="roundRect">
            <a:avLst>
              <a:gd name="adj" fmla="val 2787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952702" y="1698129"/>
            <a:ext cx="16325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952702" y="1844129"/>
            <a:ext cx="1632508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서버사이드 compaction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952702" y="2001441"/>
            <a:ext cx="1632508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compact_20260112 + clear_tool_uses. API가 직접 컨텍스트를 압축.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952702" y="3728442"/>
            <a:ext cx="1600498" cy="187226"/>
          </a:xfrm>
          <a:prstGeom prst="roundRect">
            <a:avLst>
              <a:gd name="adj" fmla="val 20350"/>
            </a:avLst>
          </a:prstGeom>
          <a:solidFill>
            <a:srgbClr val="0D2A0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028902" y="3779193"/>
            <a:ext cx="14770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최상 / API 종속적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727627" y="1587103"/>
            <a:ext cx="1822698" cy="2439591"/>
          </a:xfrm>
          <a:prstGeom prst="roundRect">
            <a:avLst>
              <a:gd name="adj" fmla="val 2787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38652" y="1698129"/>
            <a:ext cx="16326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/ GLM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838652" y="1844129"/>
            <a:ext cx="163265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클라이언트사이드 compaction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6838652" y="2001441"/>
            <a:ext cx="1632659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요약 기반 압축. 80% 도달 시 직접 요약 삽입.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6838652" y="3728442"/>
            <a:ext cx="1600646" cy="187226"/>
          </a:xfrm>
          <a:prstGeom prst="roundRect">
            <a:avLst>
              <a:gd name="adj" fmla="val 20350"/>
            </a:avLst>
          </a:prstGeom>
          <a:solidFill>
            <a:srgbClr val="1A15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914852" y="3779193"/>
            <a:ext cx="14772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범용적 / lossy 손실 있음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4841677" y="4090095"/>
            <a:ext cx="3708648" cy="409277"/>
          </a:xfrm>
          <a:prstGeom prst="roundRect">
            <a:avLst>
              <a:gd name="adj" fmla="val 1241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4943177" y="4153495"/>
            <a:ext cx="35757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Anthropic과 OpenAI의 캐시 규칙이 달라서 단일 압축 전략을 쓰면 캐시 히트율이 붕괴한다. context_action.py hook이 프로바이더를 감지해 전략을 자동 분기한다.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943177" y="4350246"/>
            <a:ext cx="35757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context_action.py → provider_strategy()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57200" y="4686598"/>
            <a:ext cx="8229600" cy="206276"/>
          </a:xfrm>
          <a:prstGeom prst="roundRect">
            <a:avLst>
              <a:gd name="adj" fmla="val 2462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476250" y="4686598"/>
            <a:ext cx="0" cy="206276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622250" y="4737348"/>
            <a:ext cx="80963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서버사이드 compaction은 API 종속적이지만 품질 최상. 클라이언트는 범용적이지만 lossy. Plan-first는 자율성을 일부 제한하지만 잘못된 방향의 50 rounds 낭비를 사전 차단한다.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57200" y="4956274"/>
            <a:ext cx="23590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core/context/context_action.py · core/orchestration/plan_manager.py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35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9380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SCHEDULER + GATEWAY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Gateway: 시간 기반 자율 실행과 채널 라우팅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Cron이 메인 컨텍스트를 오염시키는 문제 때문에 격리를 기본값으로 설계했고, 채널마다 어댑터를 새로 짜는 비용을 0으로 만들기 위해 Gateway를 단일 진입점으로 집중했다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0750" cy="15240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866626"/>
            <a:ext cx="13958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TriggerManager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076176"/>
            <a:ext cx="3981450" cy="676573"/>
          </a:xfrm>
          <a:prstGeom prst="roundRect">
            <a:avLst>
              <a:gd name="adj" fmla="val 750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8226" y="1161901"/>
            <a:ext cx="18072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스케줄 유형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95176" y="1317427"/>
            <a:ext cx="164484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특정 시각 1회 실행</a:t>
            </a:r>
            <a:endParaRPr lang="en-US" sz="700" dirty="0"/>
          </a:p>
          <a:p>
            <a:pPr marL="342900" indent="-342900" algn="l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간격 반복 실행</a:t>
            </a:r>
            <a:endParaRPr lang="en-US" sz="700" dirty="0"/>
          </a:p>
          <a:p>
            <a:pPr marL="342900" indent="-342900" algn="l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cron 표현식 실행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441525" y="1161901"/>
            <a:ext cx="12650" cy="505123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555677" y="1161901"/>
            <a:ext cx="180738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555677" y="1317427"/>
            <a:ext cx="1807387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action_queue 등록 → 트리거 시각 도달 → AgenticLoop 위임. 큐 관리로 동시 실행 충돌을 방지한다.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2555677" y="1581299"/>
            <a:ext cx="180738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4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action_queue → AgenticLoop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457200" y="1828949"/>
            <a:ext cx="3981450" cy="879128"/>
          </a:xfrm>
          <a:prstGeom prst="roundRect">
            <a:avLst>
              <a:gd name="adj" fmla="val 5778"/>
            </a:avLst>
          </a:prstGeom>
          <a:solidFill>
            <a:srgbClr val="0A1A1A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68226" y="1914674"/>
            <a:ext cx="38345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TriggerManager: DRIFT_DETECTED 피드백 루프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568226" y="2131963"/>
            <a:ext cx="848916" cy="206276"/>
          </a:xfrm>
          <a:prstGeom prst="roundRect">
            <a:avLst>
              <a:gd name="adj" fmla="val 24627"/>
            </a:avLst>
          </a:prstGeom>
          <a:solidFill>
            <a:srgbClr val="0D1117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7176" y="2192238"/>
            <a:ext cx="69101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DRIFT_DETECTED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467892" y="2168426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632942" y="2082850"/>
            <a:ext cx="1758851" cy="304651"/>
          </a:xfrm>
          <a:prstGeom prst="roundRect">
            <a:avLst>
              <a:gd name="adj" fmla="val 16675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702793" y="2143125"/>
            <a:ext cx="16191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TriggerManager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702793" y="2241500"/>
            <a:ext cx="16191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F1–F4 평가 함수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442543" y="2168426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07594" y="2131963"/>
            <a:ext cx="720030" cy="206276"/>
          </a:xfrm>
          <a:prstGeom prst="roundRect">
            <a:avLst>
              <a:gd name="adj" fmla="val 24627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87833" y="2192238"/>
            <a:ext cx="559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파이프라인 재분석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568226" y="2450902"/>
            <a:ext cx="38345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정의 자동화: weekly_discovery_scan · calibration_drift_scan · outcome_tracker · auto_generate_report · pending_analysis_worker + 5개 더. 드리프트 감지 즉시 자율 트리거.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57200" y="2784277"/>
            <a:ext cx="3981450" cy="990154"/>
          </a:xfrm>
          <a:prstGeom prst="roundRect">
            <a:avLst>
              <a:gd name="adj" fmla="val 5131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68226" y="289693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95176" y="2870002"/>
            <a:ext cx="12479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 (isolated=True)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68226" y="3130153"/>
            <a:ext cx="1100733" cy="231577"/>
          </a:xfrm>
          <a:prstGeom prst="roundRect">
            <a:avLst>
              <a:gd name="adj" fmla="val 21937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57561" y="3203079"/>
            <a:ext cx="92206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트리거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719709" y="3174504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97559" y="3038177"/>
            <a:ext cx="1100733" cy="415677"/>
          </a:xfrm>
          <a:prstGeom prst="roundRect">
            <a:avLst>
              <a:gd name="adj" fmla="val 12221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986894" y="3111103"/>
            <a:ext cx="92206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ConversationContext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1986894" y="3295204"/>
            <a:ext cx="92206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isolated=True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049042" y="3174504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226891" y="3081040"/>
            <a:ext cx="1100733" cy="329952"/>
          </a:xfrm>
          <a:prstGeom prst="roundRect">
            <a:avLst>
              <a:gd name="adj" fmla="val 1539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316227" y="3153966"/>
            <a:ext cx="92206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3316227" y="3252341"/>
            <a:ext cx="92206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실행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568226" y="3517255"/>
            <a:ext cx="38345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태스크가 메인 대화의 컨텍스트를 덮어쓰는 버그가 있었기 때문에 isolated=True를 기본값으로 바꿨다. 결과 주입이 필요하면 systemEvent로 메인에 선택적으로 전달한다.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565600" y="847576"/>
            <a:ext cx="12650" cy="3683496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705201" y="847576"/>
            <a:ext cx="50750" cy="15240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4832152" y="861864"/>
            <a:ext cx="1314748" cy="163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Gateway: 채널 무관 라우팅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705201" y="1076176"/>
            <a:ext cx="3981599" cy="3454896"/>
          </a:xfrm>
          <a:prstGeom prst="roundRect">
            <a:avLst>
              <a:gd name="adj" fmla="val 1470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816227" y="1161901"/>
            <a:ext cx="892225" cy="339477"/>
          </a:xfrm>
          <a:prstGeom prst="roundRect">
            <a:avLst>
              <a:gd name="adj" fmla="val 1496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881689" y="1234827"/>
            <a:ext cx="76130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881689" y="1342727"/>
            <a:ext cx="7613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메시지 이벤트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5771852" y="1161901"/>
            <a:ext cx="892373" cy="339477"/>
          </a:xfrm>
          <a:prstGeom prst="roundRect">
            <a:avLst>
              <a:gd name="adj" fmla="val 1496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837313" y="1234827"/>
            <a:ext cx="7614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837313" y="1342727"/>
            <a:ext cx="761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 알림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6727627" y="1161901"/>
            <a:ext cx="892373" cy="339477"/>
          </a:xfrm>
          <a:prstGeom prst="roundRect">
            <a:avLst>
              <a:gd name="adj" fmla="val 1496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793087" y="1234827"/>
            <a:ext cx="7614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793087" y="1342727"/>
            <a:ext cx="761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입력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7683401" y="1161901"/>
            <a:ext cx="892373" cy="339477"/>
          </a:xfrm>
          <a:prstGeom prst="roundRect">
            <a:avLst>
              <a:gd name="adj" fmla="val 1496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748861" y="1234827"/>
            <a:ext cx="7614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7748861" y="1342727"/>
            <a:ext cx="761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API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4778631" y="1552129"/>
            <a:ext cx="38347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816227" y="1745754"/>
            <a:ext cx="3759547" cy="377726"/>
          </a:xfrm>
          <a:prstGeom prst="roundRect">
            <a:avLst>
              <a:gd name="adj" fmla="val 13449"/>
            </a:avLst>
          </a:prstGeom>
          <a:solidFill>
            <a:srgbClr val="1A1A2E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4904933" y="1831479"/>
            <a:ext cx="35821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ChannelBinding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4904933" y="1952030"/>
            <a:ext cx="35821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채널별 어댑터 → 표준 메시지 변환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778631" y="2174230"/>
            <a:ext cx="38347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816227" y="2367855"/>
            <a:ext cx="1847999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4927253" y="2453580"/>
            <a:ext cx="16584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key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4927253" y="2564606"/>
            <a:ext cx="16584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채널:사용자 조합으로 세션 식별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6727627" y="2367855"/>
            <a:ext cx="1848148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6838652" y="2453580"/>
            <a:ext cx="165861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LaneQueue</a:t>
            </a:r>
            <a:endParaRPr lang="en-US" sz="600" dirty="0"/>
          </a:p>
        </p:txBody>
      </p:sp>
      <p:sp>
        <p:nvSpPr>
          <p:cNvPr id="67" name="Text 65"/>
          <p:cNvSpPr/>
          <p:nvPr/>
        </p:nvSpPr>
        <p:spPr>
          <a:xfrm>
            <a:off x="6838652" y="2564606"/>
            <a:ext cx="165861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 간 처리 순서 보장</a:t>
            </a:r>
            <a:endParaRPr lang="en-US" sz="600" dirty="0"/>
          </a:p>
        </p:txBody>
      </p:sp>
      <p:sp>
        <p:nvSpPr>
          <p:cNvPr id="68" name="Text 66"/>
          <p:cNvSpPr/>
          <p:nvPr/>
        </p:nvSpPr>
        <p:spPr>
          <a:xfrm>
            <a:off x="4778631" y="2786807"/>
            <a:ext cx="38347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816227" y="2980432"/>
            <a:ext cx="3759547" cy="463451"/>
          </a:xfrm>
          <a:prstGeom prst="roundRect">
            <a:avLst>
              <a:gd name="adj" fmla="val 10961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4904933" y="3066157"/>
            <a:ext cx="35821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serve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4904933" y="3186708"/>
            <a:ext cx="358213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채널별 AgenticLoop 인스턴스를 따로 관리하면 세션이 분산됐기 때문에 Gateway를 단일 진입점으로 집중했다. 채널 추가 시 어댑터 1개만 구현하면 된다.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4816227" y="3494633"/>
            <a:ext cx="1847999" cy="440978"/>
          </a:xfrm>
          <a:prstGeom prst="roundRect">
            <a:avLst>
              <a:gd name="adj" fmla="val 11520"/>
            </a:avLst>
          </a:prstGeom>
          <a:solidFill>
            <a:srgbClr val="0D1117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4914602" y="3567559"/>
            <a:ext cx="168427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Webhook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4914602" y="3678585"/>
            <a:ext cx="168427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geode serve /webhook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4914602" y="3776960"/>
            <a:ext cx="168427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8765 · 외부 이벤트 인입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6727627" y="3494633"/>
            <a:ext cx="1848148" cy="440978"/>
          </a:xfrm>
          <a:prstGeom prst="roundRect">
            <a:avLst>
              <a:gd name="adj" fmla="val 11520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6826002" y="3567559"/>
            <a:ext cx="16844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ConfigWatcher</a:t>
            </a:r>
            <a:endParaRPr lang="en-US" sz="600" dirty="0"/>
          </a:p>
        </p:txBody>
      </p:sp>
      <p:sp>
        <p:nvSpPr>
          <p:cNvPr id="78" name="Text 76"/>
          <p:cNvSpPr/>
          <p:nvPr/>
        </p:nvSpPr>
        <p:spPr>
          <a:xfrm>
            <a:off x="6826002" y="3678585"/>
            <a:ext cx="16844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게이트웨이 바인딩 hot-reload</a:t>
            </a:r>
            <a:endParaRPr lang="en-US" sz="600" dirty="0"/>
          </a:p>
        </p:txBody>
      </p:sp>
      <p:sp>
        <p:nvSpPr>
          <p:cNvPr id="79" name="Text 77"/>
          <p:cNvSpPr/>
          <p:nvPr/>
        </p:nvSpPr>
        <p:spPr>
          <a:xfrm>
            <a:off x="6826002" y="3776960"/>
            <a:ext cx="16844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재시작 없이 설정 반영</a:t>
            </a:r>
            <a:endParaRPr lang="en-US" sz="600" dirty="0"/>
          </a:p>
        </p:txBody>
      </p:sp>
      <p:sp>
        <p:nvSpPr>
          <p:cNvPr id="80" name="Text 78"/>
          <p:cNvSpPr/>
          <p:nvPr/>
        </p:nvSpPr>
        <p:spPr>
          <a:xfrm>
            <a:off x="457200" y="4581823"/>
            <a:ext cx="8229600" cy="311051"/>
          </a:xfrm>
          <a:prstGeom prst="roundRect">
            <a:avLst>
              <a:gd name="adj" fmla="val 1633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1" name="Shape 79"/>
          <p:cNvSpPr/>
          <p:nvPr/>
        </p:nvSpPr>
        <p:spPr>
          <a:xfrm>
            <a:off x="476250" y="4581823"/>
            <a:ext cx="0" cy="311051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/>
          <p:nvPr/>
        </p:nvSpPr>
        <p:spPr>
          <a:xfrm>
            <a:off x="622250" y="4632573"/>
            <a:ext cx="809635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Cron 격리로 메인 오염을 막았지만, 격리 세션은 이전 학습을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공유하지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않</a:t>
            </a:r>
            <a:r>
              <a:rPr lang="ko-KR" alt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습니다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systemEvent 주입으로 필요할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때만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연계</a:t>
            </a:r>
            <a:r>
              <a:rPr lang="ko-KR" alt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합니다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Gateway 단일화는 채널 다양성을 포기했지만 어댑터 1개로 신규 채널을 추가할 수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있게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alt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됐습니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457200" y="4956274"/>
            <a:ext cx="4368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core/scheduler/ · core/gateway/ · isolated=True → fresh ConversationContext · /webhook port 8765 · ConfigWatcher hot-reload</a:t>
            </a:r>
            <a:endParaRPr lang="en-US" sz="600" dirty="0"/>
          </a:p>
        </p:txBody>
      </p:sp>
      <p:sp>
        <p:nvSpPr>
          <p:cNvPr id="84" name="Text 82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35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901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822058" y="1818977"/>
            <a:ext cx="549988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1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22058" y="2123702"/>
            <a:ext cx="5499884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Execute-</a:t>
            </a:r>
            <a:r>
              <a:rPr lang="en-US" sz="2800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Flow로</a:t>
            </a: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살펴보는</a:t>
            </a:r>
            <a:endParaRPr lang="en-US" sz="2800" dirty="0"/>
          </a:p>
          <a:p>
            <a:pPr marL="0" indent="0" algn="ctr">
              <a:lnSpc>
                <a:spcPts val="3080"/>
              </a:lnSpc>
              <a:spcAft>
                <a:spcPts val="14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자율 수행 에이전트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822058" y="3096071"/>
            <a:ext cx="5499884" cy="228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Dispatch </a:t>
            </a:r>
            <a:r>
              <a:rPr lang="en-US" sz="1000" dirty="0">
                <a:solidFill>
                  <a:srgbClr val="4ECDC4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r>
              <a:rPr lang="en-US" sz="1000" dirty="0">
                <a:solidFill>
                  <a:srgbClr val="4ECDC4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Hook </a:t>
            </a:r>
            <a:r>
              <a:rPr lang="en-US" sz="1000" dirty="0">
                <a:solidFill>
                  <a:srgbClr val="4ECDC4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r>
              <a:rPr lang="en-US" sz="1000" dirty="0">
                <a:solidFill>
                  <a:srgbClr val="4ECDC4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Sub-Agent </a:t>
            </a:r>
            <a:r>
              <a:rPr lang="en-US" sz="1000" dirty="0">
                <a:solidFill>
                  <a:srgbClr val="4ECDC4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r>
              <a:rPr lang="en-US" sz="1000" dirty="0">
                <a:solidFill>
                  <a:srgbClr val="4ECDC4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Failover </a:t>
            </a:r>
            <a:r>
              <a:rPr lang="en-US" sz="1000" dirty="0">
                <a:solidFill>
                  <a:srgbClr val="4ECDC4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r>
              <a:rPr lang="en-US" sz="1000" dirty="0">
                <a:solidFill>
                  <a:srgbClr val="4ECDC4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Compression </a:t>
            </a:r>
            <a:r>
              <a:rPr lang="en-US" sz="1000" dirty="0">
                <a:solidFill>
                  <a:srgbClr val="4ECDC4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r>
              <a:rPr lang="en-US" sz="1000" dirty="0">
                <a:solidFill>
                  <a:srgbClr val="4ECDC4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Memory </a:t>
            </a:r>
            <a:r>
              <a:rPr lang="en-US" sz="1000" dirty="0">
                <a:solidFill>
                  <a:srgbClr val="4ECDC4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r>
              <a:rPr lang="en-US" sz="1000" dirty="0">
                <a:solidFill>
                  <a:srgbClr val="4ECDC4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Prompt </a:t>
            </a:r>
            <a:r>
              <a:rPr lang="en-US" sz="1000" dirty="0">
                <a:solidFill>
                  <a:srgbClr val="4ECDC4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r>
              <a:rPr lang="en-US" sz="1000" dirty="0">
                <a:solidFill>
                  <a:srgbClr val="4ECDC4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MCP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114949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4987975"/>
            <a:ext cx="30224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4ECDC4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S10 – S17</a:t>
            </a:r>
            <a:endParaRPr lang="en-US" sz="500" dirty="0"/>
          </a:p>
        </p:txBody>
      </p:sp>
      <p:sp>
        <p:nvSpPr>
          <p:cNvPr id="8" name="Text 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4ECDC4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35</a:t>
            </a:r>
            <a:endParaRPr lang="en-US" sz="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①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Dispatch: LLM tool_use → ToolExecutor 단일 진입점 → 4-Route 분기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tool_use 블록을 반환하는 순간, 모든 실행 경로는 ToolExecutor 하나로 수렴한다.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793950" y="752177"/>
            <a:ext cx="3555950" cy="415826"/>
          </a:xfrm>
          <a:prstGeom prst="roundRect">
            <a:avLst>
              <a:gd name="adj" fmla="val 12217"/>
            </a:avLst>
          </a:prstGeom>
          <a:solidFill>
            <a:srgbClr val="4ECDC4">
              <a:alpha val="12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027085" y="837902"/>
            <a:ext cx="308968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</a:t>
            </a: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ToolExecutor.execute()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27085" y="996553"/>
            <a:ext cx="308968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진입점 · tool_use 블록 수신 · 도구 유형 판별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3943796" y="1231405"/>
            <a:ext cx="1520763" cy="10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도구 유형 판별 → 4경로 분기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1418630"/>
            <a:ext cx="2000250" cy="566291"/>
          </a:xfrm>
          <a:prstGeom prst="roundRect">
            <a:avLst>
              <a:gd name="adj" fmla="val 897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1437680"/>
            <a:ext cx="200025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452688" y="1418630"/>
            <a:ext cx="0" cy="566291"/>
          </a:xfrm>
          <a:prstGeom prst="line">
            <a:avLst/>
          </a:prstGeom>
          <a:noFill/>
          <a:ln w="9525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2108174"/>
            <a:ext cx="2000250" cy="0"/>
          </a:xfrm>
          <a:prstGeom prst="line">
            <a:avLst/>
          </a:prstGeom>
          <a:noFill/>
          <a:ln w="9525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61963" y="1418630"/>
            <a:ext cx="0" cy="566291"/>
          </a:xfrm>
          <a:prstGeom prst="line">
            <a:avLst/>
          </a:prstGeom>
          <a:noFill/>
          <a:ln w="9525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68226" y="1520130"/>
            <a:ext cx="18137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Path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68226" y="1672530"/>
            <a:ext cx="1813762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run_bash 계열: 3-layer safety + PolicyChain 통과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568226" y="1826270"/>
            <a:ext cx="181376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명령 허용 목록 → PolicyChain → 실행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533650" y="1418630"/>
            <a:ext cx="2000250" cy="566291"/>
          </a:xfrm>
          <a:prstGeom prst="roundRect">
            <a:avLst>
              <a:gd name="adj" fmla="val 897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533650" y="1437680"/>
            <a:ext cx="2000250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4529138" y="1418630"/>
            <a:ext cx="0" cy="566291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2533650" y="2108174"/>
            <a:ext cx="2000250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2538413" y="1418630"/>
            <a:ext cx="0" cy="566291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2644676" y="1520130"/>
            <a:ext cx="18137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644676" y="1672530"/>
            <a:ext cx="1813762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핸들러 매칭: 52 native tools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2644676" y="1826270"/>
            <a:ext cx="181376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tool_name → handler lookup → 실행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4610100" y="1418630"/>
            <a:ext cx="2000250" cy="566291"/>
          </a:xfrm>
          <a:prstGeom prst="roundRect">
            <a:avLst>
              <a:gd name="adj" fmla="val 897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610100" y="1437680"/>
            <a:ext cx="2000250" cy="0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6605588" y="1418630"/>
            <a:ext cx="0" cy="566291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4610100" y="2108174"/>
            <a:ext cx="2000250" cy="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4614863" y="1418630"/>
            <a:ext cx="0" cy="566291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4721126" y="1520130"/>
            <a:ext cx="18137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Path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721126" y="1672530"/>
            <a:ext cx="1813762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catalog 서버 auto-discovery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4721126" y="1826270"/>
            <a:ext cx="181376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routing → protocol call → 결과 반환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6686550" y="1418630"/>
            <a:ext cx="2000250" cy="566291"/>
          </a:xfrm>
          <a:prstGeom prst="roundRect">
            <a:avLst>
              <a:gd name="adj" fmla="val 897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6686550" y="1437680"/>
            <a:ext cx="2000250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8682038" y="1418630"/>
            <a:ext cx="0" cy="566291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6686550" y="2108174"/>
            <a:ext cx="2000250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6691313" y="1418630"/>
            <a:ext cx="0" cy="566291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6797576" y="1520130"/>
            <a:ext cx="18137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DAG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797576" y="1672530"/>
            <a:ext cx="1813762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analyze_ip → 13-task StateGraph 실행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6797576" y="1826270"/>
            <a:ext cx="181376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 dispatch → 병렬 노드 → 결과 집계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3477369" y="2176338"/>
            <a:ext cx="2639396" cy="6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2개 이상 tool_use 시 ToolCallProcessor가 안전 등급 분류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57200" y="2344513"/>
            <a:ext cx="8229600" cy="1047899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593675" y="2442889"/>
            <a:ext cx="81157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 — 병렬 속도와 안전 격리의 균형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93675" y="2611064"/>
            <a:ext cx="1540520" cy="533846"/>
          </a:xfrm>
          <a:prstGeom prst="roundRect">
            <a:avLst>
              <a:gd name="adj" fmla="val 9516"/>
            </a:avLst>
          </a:prstGeom>
          <a:solidFill>
            <a:srgbClr val="34D399">
              <a:alpha val="8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52654" y="2696789"/>
            <a:ext cx="1422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52654" y="2836390"/>
            <a:ext cx="142256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52654" y="2960215"/>
            <a:ext cx="1422562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asyncio.gather 완전 병렬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2197596" y="2611064"/>
            <a:ext cx="1540669" cy="533846"/>
          </a:xfrm>
          <a:prstGeom prst="roundRect">
            <a:avLst>
              <a:gd name="adj" fmla="val 9516"/>
            </a:avLst>
          </a:prstGeom>
          <a:solidFill>
            <a:srgbClr val="4ECDC4">
              <a:alpha val="6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2256574" y="2696789"/>
            <a:ext cx="14227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2256574" y="2836390"/>
            <a:ext cx="14227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Auto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2256574" y="2960215"/>
            <a:ext cx="1422714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서버당 1회 자동 승인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3801666" y="2611064"/>
            <a:ext cx="1540520" cy="533846"/>
          </a:xfrm>
          <a:prstGeom prst="roundRect">
            <a:avLst>
              <a:gd name="adj" fmla="val 9516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3860645" y="2696789"/>
            <a:ext cx="1422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3860645" y="2836390"/>
            <a:ext cx="142256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EXPENSIVE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3860645" y="2960215"/>
            <a:ext cx="1422562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일괄 승인 후 병렬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5405586" y="2611064"/>
            <a:ext cx="1540669" cy="533846"/>
          </a:xfrm>
          <a:prstGeom prst="roundRect">
            <a:avLst>
              <a:gd name="adj" fmla="val 9516"/>
            </a:avLst>
          </a:prstGeom>
          <a:solidFill>
            <a:srgbClr val="F97316">
              <a:alpha val="8000"/>
            </a:srgbClr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464564" y="2696789"/>
            <a:ext cx="14227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64564" y="2836390"/>
            <a:ext cx="14227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5464564" y="2960215"/>
            <a:ext cx="1422714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개별 HITL 승인 순차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7009656" y="2611064"/>
            <a:ext cx="1540669" cy="533846"/>
          </a:xfrm>
          <a:prstGeom prst="roundRect">
            <a:avLst>
              <a:gd name="adj" fmla="val 9516"/>
            </a:avLst>
          </a:prstGeom>
          <a:solidFill>
            <a:srgbClr val="EF4444">
              <a:alpha val="8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068633" y="2696789"/>
            <a:ext cx="14227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068633" y="2836390"/>
            <a:ext cx="14227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DANGEROUS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7068633" y="2960215"/>
            <a:ext cx="1422714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 + 에스컬레이션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593675" y="3208312"/>
            <a:ext cx="81157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5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T0-1은 asyncio.gather 완전 병렬화, T3-4는 순차 개별 승인 격리. MAX_CONSECUTIVE_FAILURES=2 · max_recovery=3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457200" y="3455813"/>
            <a:ext cx="4076700" cy="398562"/>
          </a:xfrm>
          <a:prstGeom prst="roundRect">
            <a:avLst>
              <a:gd name="adj" fmla="val 12746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581025" y="3541538"/>
            <a:ext cx="39056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Summary · Tier 1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81025" y="3662089"/>
            <a:ext cx="3905631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실행 후 긴 tool_result 전문 대신 압축 요약 삽입 → 컨텍스트 슬롯 절약.</a:t>
            </a:r>
            <a:endParaRPr lang="en-US" sz="600" dirty="0"/>
          </a:p>
        </p:txBody>
      </p:sp>
      <p:sp>
        <p:nvSpPr>
          <p:cNvPr id="69" name="Text 67"/>
          <p:cNvSpPr/>
          <p:nvPr/>
        </p:nvSpPr>
        <p:spPr>
          <a:xfrm>
            <a:off x="4610100" y="3455813"/>
            <a:ext cx="4076700" cy="398562"/>
          </a:xfrm>
          <a:prstGeom prst="roundRect">
            <a:avLst>
              <a:gd name="adj" fmla="val 1274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4733925" y="3541538"/>
            <a:ext cx="39056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Deferred Tool Loading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4733925" y="3662089"/>
            <a:ext cx="3905631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ToolSearch 2-hop으로 필요한 도구만 지연 로딩 → </a:t>
            </a: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토큰 절감.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457200" y="4987975"/>
            <a:ext cx="396422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tool_executor.py · policy.py · error_recovery.py · v0.32.0 · 52 native tools · 45 MCP · 5-Tier safety · Action Summary · Deferred Load 85%↓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8497491" y="4987975"/>
            <a:ext cx="19309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35</a:t>
            </a:r>
            <a:endParaRPr lang="en-US" sz="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4"/>
            <a:ext cx="2130044" cy="135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②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System</a:t>
            </a:r>
            <a:r>
              <a:rPr lang="en-US" altLang="ko-KR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r>
              <a:rPr lang="ko-KR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ko-KR" sz="15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리플</a:t>
            </a:r>
            <a:r>
              <a:rPr lang="en-US" altLang="ko-KR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ko-KR" sz="15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</a:t>
            </a:r>
            <a:r>
              <a:rPr lang="en-US" altLang="ko-KR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도구 실행 중 46개 </a:t>
            </a:r>
            <a:r>
              <a:rPr lang="en-US" sz="15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이벤트</a:t>
            </a: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b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발화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콜백으로는 확장이 불가능했기 때문에 Claude Code·Devin·OpenHands 리서치 후 16카테고리 46이벤트로 개편했다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5029200" cy="1372344"/>
          </a:xfrm>
          <a:prstGeom prst="roundRect">
            <a:avLst>
              <a:gd name="adj" fmla="val 370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81012" y="790426"/>
            <a:ext cx="0" cy="1372344"/>
          </a:xfrm>
          <a:prstGeom prst="line">
            <a:avLst/>
          </a:prstGeom>
          <a:noFill/>
          <a:ln w="47625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57225" y="891927"/>
            <a:ext cx="4770311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문제: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하드코딩 콜백으로는 확장 불가. 프론티어 3종 리서치 후 </a:t>
            </a:r>
            <a:r>
              <a:rPr lang="en-US" sz="7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8카테고리 46이벤트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개편.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657225" y="1093440"/>
            <a:ext cx="4770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리플 패턴 실행 예시: PIPELINE_END 발화 시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57225" y="1236315"/>
            <a:ext cx="4676775" cy="206276"/>
          </a:xfrm>
          <a:prstGeom prst="roundRect">
            <a:avLst>
              <a:gd name="adj" fmla="val 1847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58726" y="1291828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65027" y="1287066"/>
            <a:ext cx="17604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RunLog → runs.jsonl JSONL 기록 (L1 Observe)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657225" y="1467892"/>
            <a:ext cx="4676775" cy="206276"/>
          </a:xfrm>
          <a:prstGeom prst="roundRect">
            <a:avLst>
              <a:gd name="adj" fmla="val 1847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58726" y="1523405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P80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65027" y="1518642"/>
            <a:ext cx="15491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SnapshotManager → 상태 캡처 (L2 React)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657225" y="1699468"/>
            <a:ext cx="4676775" cy="206276"/>
          </a:xfrm>
          <a:prstGeom prst="roundRect">
            <a:avLst>
              <a:gd name="adj" fmla="val 1847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58726" y="1754981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P85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65027" y="1750219"/>
            <a:ext cx="19081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MemoryWriteBack → MEMORY.md 갱신 (L2 React)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657225" y="1956495"/>
            <a:ext cx="4770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400"/>
              </a:spcBef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이벤트가 3개 핸들러를 Priority 순서로 관통.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457200" y="2226171"/>
            <a:ext cx="5029200" cy="2711053"/>
          </a:xfrm>
          <a:prstGeom prst="roundRect">
            <a:avLst>
              <a:gd name="adj" fmla="val 187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06326" y="2337197"/>
            <a:ext cx="48255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EVENT GROUPS (46 total · 16 categories)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06326" y="2527548"/>
            <a:ext cx="2340025" cy="536525"/>
          </a:xfrm>
          <a:prstGeom prst="roundRect">
            <a:avLst>
              <a:gd name="adj" fmla="val 9468"/>
            </a:avLst>
          </a:prstGeom>
          <a:solidFill>
            <a:srgbClr val="0D1117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04701" y="2600474"/>
            <a:ext cx="218613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+ Node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04701" y="2721025"/>
            <a:ext cx="21861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events: PIPELINE_START/END/ERROR · NODE_BOOTSTRAP/ENTER/EXIT/ERROR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606326" y="3114824"/>
            <a:ext cx="2340025" cy="536674"/>
          </a:xfrm>
          <a:prstGeom prst="roundRect">
            <a:avLst>
              <a:gd name="adj" fmla="val 946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04701" y="3187750"/>
            <a:ext cx="218613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+ Verification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704701" y="3308300"/>
            <a:ext cx="21861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events: ANALYST/EVALUATOR/SCORING_COMPLETE · VERIFICATION_PASS/FAIL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606326" y="3702248"/>
            <a:ext cx="2340025" cy="536525"/>
          </a:xfrm>
          <a:prstGeom prst="roundRect">
            <a:avLst>
              <a:gd name="adj" fmla="val 946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04701" y="3775174"/>
            <a:ext cx="218613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704701" y="3895725"/>
            <a:ext cx="218613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events: DRIFT_DETECTED · OUTCOME_COLLECTED · MODEL_PROMOTED · SNAPSHOT_CAPTURED · TRIGGER_FIRED · POST_ANALYSIS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606326" y="4289524"/>
            <a:ext cx="2340025" cy="536674"/>
          </a:xfrm>
          <a:prstGeom prst="roundRect">
            <a:avLst>
              <a:gd name="adj" fmla="val 946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04701" y="4362450"/>
            <a:ext cx="218613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+ Prompt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04701" y="4483001"/>
            <a:ext cx="218613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events: MEMORY_SAVED · RULE_CREATED/UPDATED/DELETED · PROMPT_ASSEMBLED · PROMPT_DRIFT_DETECTED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2997101" y="2527548"/>
            <a:ext cx="2340173" cy="536525"/>
          </a:xfrm>
          <a:prstGeom prst="roundRect">
            <a:avLst>
              <a:gd name="adj" fmla="val 946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095476" y="2600474"/>
            <a:ext cx="218629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095476" y="2721025"/>
            <a:ext cx="21862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events: SUBAGENT_STARTED · SUBAGENT_COMPLETED · SUBAGENT_FAILED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2997101" y="3114824"/>
            <a:ext cx="2340173" cy="536674"/>
          </a:xfrm>
          <a:prstGeom prst="roundRect">
            <a:avLst>
              <a:gd name="adj" fmla="val 946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095476" y="3187750"/>
            <a:ext cx="218629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+ Session + LLM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3095476" y="3308300"/>
            <a:ext cx="218629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events: CONTEXT_WARNING/CRITICAL/OVERFLOW_ACTION · SESSION_START/END · LLM_CALL_START/END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2997101" y="3702248"/>
            <a:ext cx="2340173" cy="536525"/>
          </a:xfrm>
          <a:prstGeom prst="roundRect">
            <a:avLst>
              <a:gd name="adj" fmla="val 946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3095476" y="3775174"/>
            <a:ext cx="218629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Recovery + Approval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3095476" y="3895725"/>
            <a:ext cx="218629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events: TOOL_RECOVERY_ATTEMPTED/SUCCEEDED/FAILED · TOOL_APPROVAL_REQUESTED/GRANTED/DENIED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2997101" y="4289524"/>
            <a:ext cx="2340173" cy="536674"/>
          </a:xfrm>
          <a:prstGeom prst="roundRect">
            <a:avLst>
              <a:gd name="adj" fmla="val 946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3095476" y="4362450"/>
            <a:ext cx="218629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+ MCP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3095476" y="4483001"/>
            <a:ext cx="218629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events: GATEWAY_MESSAGE_RECEIVED/RESPONSE_SENT · MCP_SERVER_STARTED/STOPPED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5600700" y="790426"/>
            <a:ext cx="3086100" cy="1939379"/>
          </a:xfrm>
          <a:prstGeom prst="roundRect">
            <a:avLst>
              <a:gd name="adj" fmla="val 165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749826" y="901452"/>
            <a:ext cx="284360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MATURITY MODEL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749826" y="1079153"/>
            <a:ext cx="2787848" cy="342751"/>
          </a:xfrm>
          <a:prstGeom prst="roundRect">
            <a:avLst>
              <a:gd name="adj" fmla="val 14821"/>
            </a:avLst>
          </a:prstGeom>
          <a:solidFill>
            <a:srgbClr val="F97316">
              <a:alpha val="6000"/>
            </a:srgbClr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860852" y="1139428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Autonomy: 백로그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860852" y="1256854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이력 → 자동 승인 룰 학습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749826" y="1460004"/>
            <a:ext cx="2787848" cy="352276"/>
          </a:xfrm>
          <a:prstGeom prst="roundRect">
            <a:avLst>
              <a:gd name="adj" fmla="val 14421"/>
            </a:avLst>
          </a:prstGeom>
          <a:solidFill>
            <a:srgbClr val="F5C542">
              <a:alpha val="6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5860852" y="1520279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Decide: 현재 프론티어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860852" y="1637705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CONTEXT_OVERFLOW_ACTION 전략 위임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749826" y="1850380"/>
            <a:ext cx="2787848" cy="352276"/>
          </a:xfrm>
          <a:prstGeom prst="roundRect">
            <a:avLst>
              <a:gd name="adj" fmla="val 14421"/>
            </a:avLst>
          </a:prstGeom>
          <a:solidFill>
            <a:srgbClr val="4ECDC4">
              <a:alpha val="6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860852" y="1910655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React: 자동 반응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860852" y="2028081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DRIFT → 스냅샷 · PIPELINE_END → MEMORY.md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749826" y="2240756"/>
            <a:ext cx="2787848" cy="342751"/>
          </a:xfrm>
          <a:prstGeom prst="roundRect">
            <a:avLst>
              <a:gd name="adj" fmla="val 14821"/>
            </a:avLst>
          </a:prstGeom>
          <a:solidFill>
            <a:srgbClr val="34D399">
              <a:alpha val="6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860852" y="2301032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Observe: 기록만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5860852" y="2418457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RunLog: ALL 46 events → runs.jsonl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600700" y="2873127"/>
            <a:ext cx="3086100" cy="578644"/>
          </a:xfrm>
          <a:prstGeom prst="roundRect">
            <a:avLst>
              <a:gd name="adj" fmla="val 877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5624513" y="2873127"/>
            <a:ext cx="0" cy="578644"/>
          </a:xfrm>
          <a:prstGeom prst="line">
            <a:avLst/>
          </a:prstGeom>
          <a:noFill/>
          <a:ln w="4762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/>
          <p:nvPr/>
        </p:nvSpPr>
        <p:spPr>
          <a:xfrm>
            <a:off x="5787926" y="2961978"/>
            <a:ext cx="281445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StuckDetector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787926" y="3114378"/>
            <a:ext cx="281445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NODE_ENTER 후 </a:t>
            </a: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120초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내 NODE_EXIT 없으면 파이프라인 강제 중단. Priority P30→P50→P85 핸들러 순서 보장.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600700" y="3531693"/>
            <a:ext cx="3086100" cy="538757"/>
          </a:xfrm>
          <a:prstGeom prst="roundRect">
            <a:avLst>
              <a:gd name="adj" fmla="val 1353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Shape 63"/>
          <p:cNvSpPr/>
          <p:nvPr/>
        </p:nvSpPr>
        <p:spPr>
          <a:xfrm>
            <a:off x="5619749" y="3531693"/>
            <a:ext cx="15771" cy="538757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/>
          <p:nvPr/>
        </p:nvSpPr>
        <p:spPr>
          <a:xfrm>
            <a:off x="5765750" y="3595093"/>
            <a:ext cx="284998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Observer 오버헤드 vs 확장성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단순 콜백보다 초기 등록 오버헤드가 있지만, 핸들러 간 에러 격리 덕분에 46이벤트가 독립적으로 확장된다.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457200" y="4987975"/>
            <a:ext cx="329795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core/hooks/ · 46 HookEvent enum members · 16 categories · 8 display groups · Priority-chain · StuckDetector 120s</a:t>
            </a:r>
            <a:endParaRPr lang="en-US" sz="500" dirty="0"/>
          </a:p>
        </p:txBody>
      </p:sp>
      <p:sp>
        <p:nvSpPr>
          <p:cNvPr id="68" name="Text 6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35</a:t>
            </a:r>
            <a:endParaRPr lang="en-US" sz="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2021890" cy="1349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③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Sub-Agent: delegate_task → SubAgentManager → IsolatedRunner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45008" y="725239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병렬 서브에이전트 결과 반환 시 부모 컨텍스트가 기하급수적으로 팽창했기 때문에 full inheritance + 4096 guard로 해결했다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04800" y="1891010"/>
            <a:ext cx="1269950" cy="596801"/>
          </a:xfrm>
          <a:prstGeom prst="roundRect">
            <a:avLst>
              <a:gd name="adj" fmla="val 8512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05347" y="1976735"/>
            <a:ext cx="10688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05347" y="2230636"/>
            <a:ext cx="10688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 guard 없을 때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405347" y="2316361"/>
            <a:ext cx="10688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× 8K 부모 유입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304800" y="2564011"/>
            <a:ext cx="1269950" cy="596801"/>
          </a:xfrm>
          <a:prstGeom prst="roundRect">
            <a:avLst>
              <a:gd name="adj" fmla="val 8512"/>
            </a:avLst>
          </a:prstGeom>
          <a:solidFill>
            <a:srgbClr val="161B22"/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05347" y="2649736"/>
            <a:ext cx="10688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250ms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05347" y="2903637"/>
            <a:ext cx="10688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CoalescingQueue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405347" y="2989362"/>
            <a:ext cx="10688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태스크 제거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304800" y="3237012"/>
            <a:ext cx="1269950" cy="610195"/>
          </a:xfrm>
          <a:prstGeom prst="roundRect">
            <a:avLst>
              <a:gd name="adj" fmla="val 920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23850" y="3237012"/>
            <a:ext cx="0" cy="551855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44401" y="3325862"/>
            <a:ext cx="104942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16968" y="3468737"/>
            <a:ext cx="1173931" cy="231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 없음: 부모 컨텍스트 40% 소비, 루프 강제 종료 위험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676251" y="1899047"/>
            <a:ext cx="5791498" cy="463451"/>
          </a:xfrm>
          <a:prstGeom prst="roundRect">
            <a:avLst>
              <a:gd name="adj" fmla="val 10961"/>
            </a:avLst>
          </a:prstGeom>
          <a:solidFill>
            <a:srgbClr val="4ECDC4">
              <a:alpha val="12000"/>
            </a:srgbClr>
          </a:solidFill>
          <a:ln w="19050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819022" y="1994297"/>
            <a:ext cx="55059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 Agent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819022" y="2162473"/>
            <a:ext cx="550595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· MCP · skills · memory 전체 보유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618336" y="2425898"/>
            <a:ext cx="590732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618336" y="2540198"/>
            <a:ext cx="59073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inheritance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676251" y="2708374"/>
            <a:ext cx="1879699" cy="469553"/>
          </a:xfrm>
          <a:prstGeom prst="roundRect">
            <a:avLst>
              <a:gd name="adj" fmla="val 10819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744894" y="2781300"/>
            <a:ext cx="17424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A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754038" y="2920901"/>
            <a:ext cx="17424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744894" y="3019276"/>
            <a:ext cx="17424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부모 능력 그대로 상속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632150" y="2708374"/>
            <a:ext cx="1879699" cy="469553"/>
          </a:xfrm>
          <a:prstGeom prst="roundRect">
            <a:avLst>
              <a:gd name="adj" fmla="val 10819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700793" y="2781300"/>
            <a:ext cx="17424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B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700793" y="2920901"/>
            <a:ext cx="17424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700793" y="3019276"/>
            <a:ext cx="17424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부모 능력 그대로 상속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5588050" y="2708374"/>
            <a:ext cx="1879699" cy="469553"/>
          </a:xfrm>
          <a:prstGeom prst="roundRect">
            <a:avLst>
              <a:gd name="adj" fmla="val 10819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656692" y="2781300"/>
            <a:ext cx="17424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C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656692" y="2920901"/>
            <a:ext cx="17424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5656692" y="3019276"/>
            <a:ext cx="17424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부모 능력 그대로 상속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1618336" y="3241328"/>
            <a:ext cx="59073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5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반환 전 4096-token guard: 구조화 요약 압축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1676251" y="3409504"/>
            <a:ext cx="5791498" cy="371177"/>
          </a:xfrm>
          <a:prstGeom prst="roundRect">
            <a:avLst>
              <a:gd name="adj" fmla="val 13686"/>
            </a:avLst>
          </a:prstGeom>
          <a:solidFill>
            <a:srgbClr val="F59E0B">
              <a:alpha val="8000"/>
            </a:srgbClr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809306" y="3482429"/>
            <a:ext cx="552538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Compressed Summary → Parent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809306" y="3622030"/>
            <a:ext cx="552538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원시 출력 대신 구조화 요약 반환 — 컨텍스트 폭발 방지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7569250" y="1891010"/>
            <a:ext cx="1269950" cy="596801"/>
          </a:xfrm>
          <a:prstGeom prst="roundRect">
            <a:avLst>
              <a:gd name="adj" fmla="val 851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669796" y="1976735"/>
            <a:ext cx="10688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7669796" y="2230636"/>
            <a:ext cx="10688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MAX_CONCURRENT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7669796" y="2316361"/>
            <a:ext cx="10688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 scheduling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7569250" y="2564011"/>
            <a:ext cx="1269950" cy="596801"/>
          </a:xfrm>
          <a:prstGeom prst="roundRect">
            <a:avLst>
              <a:gd name="adj" fmla="val 851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669796" y="2649736"/>
            <a:ext cx="10688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600K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7669796" y="2903637"/>
            <a:ext cx="10688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 3 유효 컨텍스트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7669796" y="2989362"/>
            <a:ext cx="10688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200K × 3 선형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7569250" y="3237012"/>
            <a:ext cx="1269950" cy="551855"/>
          </a:xfrm>
          <a:prstGeom prst="roundRect">
            <a:avLst>
              <a:gd name="adj" fmla="val 920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Shape 46"/>
          <p:cNvSpPr/>
          <p:nvPr/>
        </p:nvSpPr>
        <p:spPr>
          <a:xfrm>
            <a:off x="7588300" y="3237012"/>
            <a:ext cx="0" cy="551855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7708850" y="3325862"/>
            <a:ext cx="104942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7708850" y="3468737"/>
            <a:ext cx="1049426" cy="231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4096 guard 적용: 20K→5K </a:t>
            </a: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절감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57200" y="4987975"/>
            <a:ext cx="314888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SubAgentManager · IsolatedRunner · CoalescingQueue 250ms · MAX_CONCURRENT=5 · 4096 token guard</a:t>
            </a:r>
            <a:endParaRPr lang="en-US" sz="500" dirty="0"/>
          </a:p>
        </p:txBody>
      </p:sp>
      <p:sp>
        <p:nvSpPr>
          <p:cNvPr id="52" name="Text 50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35</a:t>
            </a:r>
            <a:endParaRPr lang="en-US" sz="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754339" cy="138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④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Failover: 호출 실패 → CircuitBreaker → Cross-Provider Fallback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Provider에 의존했기 때문에 Rate Limit·장애 시 파이프라인 전체가 중단됐고, 3-Provider 체인으로 단일 장애점을 제거했다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1422499" cy="1174552"/>
          </a:xfrm>
          <a:prstGeom prst="roundRect">
            <a:avLst>
              <a:gd name="adj" fmla="val 432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99951"/>
            <a:ext cx="1422499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84150" y="923776"/>
            <a:ext cx="1191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84150" y="1088827"/>
            <a:ext cx="11919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Provider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84150" y="1250603"/>
            <a:ext cx="1168598" cy="161925"/>
          </a:xfrm>
          <a:prstGeom prst="roundRect">
            <a:avLst>
              <a:gd name="adj" fmla="val 23529"/>
            </a:avLst>
          </a:prstGeom>
          <a:solidFill>
            <a:srgbClr val="4ECDC4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73001" y="1288703"/>
            <a:ext cx="10107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84150" y="1450628"/>
            <a:ext cx="1168598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82526" y="1498253"/>
            <a:ext cx="9912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84150" y="1669703"/>
            <a:ext cx="1168598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82526" y="1717328"/>
            <a:ext cx="9912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031950" y="1258639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034034" y="1411039"/>
            <a:ext cx="994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285851" y="790426"/>
            <a:ext cx="1422648" cy="1174552"/>
          </a:xfrm>
          <a:prstGeom prst="roundRect">
            <a:avLst>
              <a:gd name="adj" fmla="val 432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285851" y="799951"/>
            <a:ext cx="1422648" cy="0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2412802" y="923776"/>
            <a:ext cx="11921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412802" y="1088827"/>
            <a:ext cx="1192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Provider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412802" y="1250603"/>
            <a:ext cx="1168747" cy="161925"/>
          </a:xfrm>
          <a:prstGeom prst="roundRect">
            <a:avLst>
              <a:gd name="adj" fmla="val 23529"/>
            </a:avLst>
          </a:prstGeom>
          <a:solidFill>
            <a:srgbClr val="818CF8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501652" y="1288703"/>
            <a:ext cx="101086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GPT-5.4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412802" y="1450628"/>
            <a:ext cx="1168747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511177" y="1498253"/>
            <a:ext cx="99143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GPT-5.3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412802" y="1669703"/>
            <a:ext cx="1168747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511177" y="1717328"/>
            <a:ext cx="99143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GPT-4o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860750" y="1258639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862834" y="1411039"/>
            <a:ext cx="994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114651" y="790426"/>
            <a:ext cx="1422499" cy="1174552"/>
          </a:xfrm>
          <a:prstGeom prst="roundRect">
            <a:avLst>
              <a:gd name="adj" fmla="val 432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114651" y="799951"/>
            <a:ext cx="1422499" cy="0"/>
          </a:xfrm>
          <a:prstGeom prst="line">
            <a:avLst/>
          </a:prstGeom>
          <a:noFill/>
          <a:ln w="19050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4241602" y="923776"/>
            <a:ext cx="1191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ZhipuAI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241602" y="1088827"/>
            <a:ext cx="11919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Resort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241602" y="1250603"/>
            <a:ext cx="1168598" cy="161925"/>
          </a:xfrm>
          <a:prstGeom prst="roundRect">
            <a:avLst>
              <a:gd name="adj" fmla="val 23529"/>
            </a:avLst>
          </a:prstGeom>
          <a:solidFill>
            <a:srgbClr val="F5C542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30452" y="1288703"/>
            <a:ext cx="10107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 / 80K ctx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241602" y="1450628"/>
            <a:ext cx="1168598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339977" y="1498253"/>
            <a:ext cx="9912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 tier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241602" y="1669703"/>
            <a:ext cx="1168598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339977" y="1717328"/>
            <a:ext cx="9912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최후 보루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57200" y="2041178"/>
            <a:ext cx="5079950" cy="1174553"/>
          </a:xfrm>
          <a:prstGeom prst="roundRect">
            <a:avLst>
              <a:gd name="adj" fmla="val 17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06326" y="2152204"/>
            <a:ext cx="48773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Breaker 상태 머신 (Provider별 독립)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06326" y="2364730"/>
            <a:ext cx="1284089" cy="365075"/>
          </a:xfrm>
          <a:prstGeom prst="roundRect">
            <a:avLst>
              <a:gd name="adj" fmla="val 13915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06731" y="2450455"/>
            <a:ext cx="10832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706731" y="2558355"/>
            <a:ext cx="10832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처리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1966615" y="2440930"/>
            <a:ext cx="42262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 연속 실패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2122884" y="2539305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457152" y="2364730"/>
            <a:ext cx="1284238" cy="365075"/>
          </a:xfrm>
          <a:prstGeom prst="roundRect">
            <a:avLst>
              <a:gd name="adj" fmla="val 13915"/>
            </a:avLst>
          </a:prstGeom>
          <a:solidFill>
            <a:srgbClr val="EF4444">
              <a:alpha val="12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2557556" y="2450455"/>
            <a:ext cx="10834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2557556" y="2558355"/>
            <a:ext cx="10834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 차단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3817590" y="2440930"/>
            <a:ext cx="2141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 후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3871764" y="2539305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103787" y="2364730"/>
            <a:ext cx="1284238" cy="365075"/>
          </a:xfrm>
          <a:prstGeom prst="roundRect">
            <a:avLst>
              <a:gd name="adj" fmla="val 13915"/>
            </a:avLst>
          </a:prstGeom>
          <a:solidFill>
            <a:srgbClr val="F5C542">
              <a:alpha val="12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4204191" y="2450455"/>
            <a:ext cx="10834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HALF-OPEN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204191" y="2558355"/>
            <a:ext cx="10834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 1회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606326" y="2793206"/>
            <a:ext cx="48773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Retryable: Timeout · RateLimit · Connection → Exponential Backoff ±25% Jitter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606326" y="2942332"/>
            <a:ext cx="48773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Non-Retryable: 잔액 부족 → 즉시 다음 Provider 에스컬레이션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5651450" y="790426"/>
            <a:ext cx="3035350" cy="905321"/>
          </a:xfrm>
          <a:prstGeom prst="roundRect">
            <a:avLst>
              <a:gd name="adj" fmla="val 561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800576" y="901452"/>
            <a:ext cx="27918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추상화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800576" y="1076027"/>
            <a:ext cx="279184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 Provider를 Port/Adapter DI로 추상화했기 때문에 Failover 시에도 메모리가 모델에 종속되지 않는다. 세션 학습이 Provider 전환 후에도 유지된다.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800576" y="1387971"/>
            <a:ext cx="2737098" cy="196751"/>
          </a:xfrm>
          <a:prstGeom prst="roundRect">
            <a:avLst>
              <a:gd name="adj" fmla="val 19365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902077" y="1443484"/>
            <a:ext cx="6064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LLMClientPort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6572845" y="1438721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6738045" y="1443484"/>
            <a:ext cx="13059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 · OpenAI · ZhipuAI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5651450" y="1771948"/>
            <a:ext cx="3035350" cy="769441"/>
          </a:xfrm>
          <a:prstGeom prst="roundRect">
            <a:avLst>
              <a:gd name="adj" fmla="val 6602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5800576" y="1882973"/>
            <a:ext cx="27918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ZhipuAI 선택 근거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800576" y="2057549"/>
            <a:ext cx="279184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altLang="ko-KR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0K context</a:t>
            </a:r>
            <a:r>
              <a:rPr lang="en-US" altLang="ko-KR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r>
              <a:rPr lang="ko-KR" alt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ko-KR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$1/1M</a:t>
            </a:r>
            <a:r>
              <a:rPr lang="ko-KR" altLang="en-US" sz="700" b="1" dirty="0" err="1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Anthropic·OpenAI 양쪽 장애 시에도 비용 없이 운영 연속성을 보장한다. GLM-5 성능이 GPT-4 수준이라 응급 처리에 충분하다.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651450" y="2617589"/>
            <a:ext cx="3035350" cy="1123355"/>
          </a:xfrm>
          <a:prstGeom prst="roundRect">
            <a:avLst>
              <a:gd name="adj" fmla="val 45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8" name="Shape 66"/>
          <p:cNvSpPr/>
          <p:nvPr/>
        </p:nvSpPr>
        <p:spPr>
          <a:xfrm>
            <a:off x="5670500" y="2617589"/>
            <a:ext cx="0" cy="1123355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/>
          <p:nvPr/>
        </p:nvSpPr>
        <p:spPr>
          <a:xfrm>
            <a:off x="5816501" y="2693789"/>
            <a:ext cx="279821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3-Provider 유지 비용 vs 단일 장애점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816501" y="2823865"/>
            <a:ext cx="2798216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어댑터 3개 유지 비용이 있지만, 단일 Provider 장애로 파이프라인 전체가 중단되는 비용이 훨씬 크다. ZhipuAI 무료 tier 덕분에 추가 비용 없이 단일 장애점을 제거했다.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873767" y="3324969"/>
            <a:ext cx="31970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72" name="Text 70"/>
          <p:cNvSpPr/>
          <p:nvPr/>
        </p:nvSpPr>
        <p:spPr>
          <a:xfrm>
            <a:off x="6873767" y="3579019"/>
            <a:ext cx="3197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7289759" y="3324969"/>
            <a:ext cx="211616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000" dirty="0"/>
          </a:p>
        </p:txBody>
      </p:sp>
      <p:sp>
        <p:nvSpPr>
          <p:cNvPr id="74" name="Text 72"/>
          <p:cNvSpPr/>
          <p:nvPr/>
        </p:nvSpPr>
        <p:spPr>
          <a:xfrm>
            <a:off x="7289759" y="3579019"/>
            <a:ext cx="2116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SPOF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457200" y="4978450"/>
            <a:ext cx="343321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Anthropic(Opus·Sonnet·Haiku) · OpenAI(GPT-5.4·5.3·4o) · ZhipuAI(GLM-5 80K) · Provider별 독립 CircuitBreaker 3-state</a:t>
            </a:r>
            <a:endParaRPr lang="en-US" sz="500" dirty="0"/>
          </a:p>
        </p:txBody>
      </p:sp>
      <p:sp>
        <p:nvSpPr>
          <p:cNvPr id="76" name="Text 74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35</a:t>
            </a:r>
            <a:endParaRPr lang="en-US" sz="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742540" cy="139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⑤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Compression: 80% WARNING → 95% CRITICAL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윈도우가 넘치면 루프가 강제 종료됐기 때문에 Lossless Selection을 도입해 정보 손실 없이 비용을 0.03%로 절감했다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52177"/>
            <a:ext cx="914400" cy="1098798"/>
          </a:xfrm>
          <a:prstGeom prst="roundRect">
            <a:avLst>
              <a:gd name="adj" fmla="val 5556"/>
            </a:avLst>
          </a:prstGeom>
          <a:solidFill>
            <a:srgbClr val="4ECDC4">
              <a:alpha val="8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3013" y="1052364"/>
            <a:ext cx="3427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70755" y="1147614"/>
            <a:ext cx="48714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4650" y="1300014"/>
            <a:ext cx="285089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7984" y="1465064"/>
            <a:ext cx="3728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1473101" y="752177"/>
            <a:ext cx="6223248" cy="1098798"/>
          </a:xfrm>
          <a:prstGeom prst="roundRect">
            <a:avLst>
              <a:gd name="adj" fmla="val 462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1473101" y="756940"/>
            <a:ext cx="6223248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7691586" y="752177"/>
            <a:ext cx="0" cy="1098798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1473101" y="1846213"/>
            <a:ext cx="6223248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1492151" y="752177"/>
            <a:ext cx="0" cy="1098798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638151" y="1225451"/>
            <a:ext cx="6040157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사용률 상시 추적. </a:t>
            </a:r>
            <a:r>
              <a:rPr lang="en-US" sz="75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도달 시  이벤트 발화 — 루프는 계속 진행하되 compact 준비 신호를 핸들러에 전달한다.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797850" y="752177"/>
            <a:ext cx="888950" cy="1098798"/>
          </a:xfrm>
          <a:prstGeom prst="roundRect">
            <a:avLst>
              <a:gd name="adj" fmla="val 571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73747" y="1136452"/>
            <a:ext cx="3370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0-79%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42109" y="1295102"/>
            <a:ext cx="415000" cy="98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운영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7972526" y="1427100"/>
            <a:ext cx="5394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모니터링만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914400" y="1876276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57200" y="2015877"/>
            <a:ext cx="914400" cy="1648123"/>
          </a:xfrm>
          <a:prstGeom prst="roundRect">
            <a:avLst>
              <a:gd name="adj" fmla="val 5556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3013" y="2552551"/>
            <a:ext cx="3427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72575" y="2647801"/>
            <a:ext cx="48365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35574" y="2743051"/>
            <a:ext cx="3576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16310" y="2876401"/>
            <a:ext cx="403952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9123" y="3041452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압축 비용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1473101" y="2015877"/>
            <a:ext cx="6223248" cy="1648123"/>
          </a:xfrm>
          <a:prstGeom prst="roundRect">
            <a:avLst>
              <a:gd name="adj" fmla="val 308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1473101" y="2020639"/>
            <a:ext cx="6223248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7691586" y="2015877"/>
            <a:ext cx="0" cy="1648123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1473101" y="3659237"/>
            <a:ext cx="6223248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492151" y="2015877"/>
            <a:ext cx="0" cy="1648123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1638151" y="2593628"/>
            <a:ext cx="60401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Lossy 요약 대신 LLM이 코드로 관련 청크만 선별. 요약이 아니라 </a:t>
            </a: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이기 때문에 정보 손실 0%, LLM 호출 비용 </a:t>
            </a: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0.03%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절감.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638151" y="2787253"/>
            <a:ext cx="2929086" cy="298847"/>
          </a:xfrm>
          <a:prstGeom prst="roundRect">
            <a:avLst>
              <a:gd name="adj" fmla="val 1274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1647676" y="2787253"/>
            <a:ext cx="0" cy="298847"/>
          </a:xfrm>
          <a:prstGeom prst="line">
            <a:avLst/>
          </a:prstGeom>
          <a:noFill/>
          <a:ln w="1905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1746052" y="2838004"/>
            <a:ext cx="27869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Lossy 요약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1746052" y="2936379"/>
            <a:ext cx="2786982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쉽지만 정보 소실 불가피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630638" y="2787253"/>
            <a:ext cx="2929235" cy="298847"/>
          </a:xfrm>
          <a:prstGeom prst="roundRect">
            <a:avLst>
              <a:gd name="adj" fmla="val 1274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4640163" y="2787253"/>
            <a:ext cx="0" cy="298847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4738539" y="2838004"/>
            <a:ext cx="278713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 Selection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738539" y="2936379"/>
            <a:ext cx="2787134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관련 청크만 선별, 내용 100% 유지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7797850" y="2015877"/>
            <a:ext cx="888950" cy="1648123"/>
          </a:xfrm>
          <a:prstGeom prst="roundRect">
            <a:avLst>
              <a:gd name="adj" fmla="val 5715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038951" y="2633514"/>
            <a:ext cx="414882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052887" y="2874764"/>
            <a:ext cx="42879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7930586" y="2960489"/>
            <a:ext cx="637342" cy="748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절감 (깊이3)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914400" y="3689300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7200" y="3828901"/>
            <a:ext cx="914400" cy="1098798"/>
          </a:xfrm>
          <a:prstGeom prst="roundRect">
            <a:avLst>
              <a:gd name="adj" fmla="val 5556"/>
            </a:avLst>
          </a:prstGeom>
          <a:solidFill>
            <a:srgbClr val="EF4444">
              <a:alpha val="8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43013" y="4090987"/>
            <a:ext cx="3427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22177" y="4186238"/>
            <a:ext cx="58429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55614" y="4281488"/>
            <a:ext cx="31742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774650" y="4414838"/>
            <a:ext cx="285089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737245" y="4579888"/>
            <a:ext cx="3541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1473101" y="3828901"/>
            <a:ext cx="6223248" cy="1098798"/>
          </a:xfrm>
          <a:prstGeom prst="roundRect">
            <a:avLst>
              <a:gd name="adj" fmla="val 462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Shape 52"/>
          <p:cNvSpPr/>
          <p:nvPr/>
        </p:nvSpPr>
        <p:spPr>
          <a:xfrm>
            <a:off x="1473101" y="3833664"/>
            <a:ext cx="6223248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7691586" y="3828901"/>
            <a:ext cx="0" cy="1098798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1473101" y="4922937"/>
            <a:ext cx="6223248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1492151" y="3828901"/>
            <a:ext cx="0" cy="1098798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/>
          <p:nvPr/>
        </p:nvSpPr>
        <p:spPr>
          <a:xfrm>
            <a:off x="1638151" y="4302175"/>
            <a:ext cx="6040157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초과 시  이벤트 발생 — 강제 pruning 발동. 최초 사용자 메시지 보존 + bridge 메시지 삽입 후 루프 재개.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797850" y="3828901"/>
            <a:ext cx="888950" cy="1098798"/>
          </a:xfrm>
          <a:prstGeom prst="roundRect">
            <a:avLst>
              <a:gd name="adj" fmla="val 5715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102894" y="4211389"/>
            <a:ext cx="278713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600K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8057128" y="4373761"/>
            <a:ext cx="436557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깊이3 유효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8089463" y="4459486"/>
            <a:ext cx="373928" cy="95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457200" y="4978450"/>
            <a:ext cx="323753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CONTEXT_WARNING 80% · CONTEXT_CRITICAL 95% · Lossless Selection · Emergency Prune · bridge 메시지</a:t>
            </a:r>
            <a:endParaRPr lang="en-US" sz="500" dirty="0"/>
          </a:p>
        </p:txBody>
      </p:sp>
      <p:sp>
        <p:nvSpPr>
          <p:cNvPr id="64" name="Text 62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35</a:t>
            </a:r>
            <a:endParaRPr lang="en-US" sz="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⑥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+ Auto-Learning: 턴 종료 → TURN_COMPLETE hook → MEMORY.md 자동 학습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세션이 끝나면 인사이트가 휘발되는 문제 때문에 PIPELINE_END 이벤트를 설계해 MEMORY.md에 자동 축적하고, 다음 세션 PromptAssembler P4가 이를 주입한다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5029200" cy="1346299"/>
          </a:xfrm>
          <a:prstGeom prst="roundRect">
            <a:avLst>
              <a:gd name="adj" fmla="val 377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14251"/>
            <a:ext cx="48255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AUTO-LEARNING FEEDBACK LOOP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6326" y="1130052"/>
            <a:ext cx="1424583" cy="374600"/>
          </a:xfrm>
          <a:prstGeom prst="roundRect">
            <a:avLst>
              <a:gd name="adj" fmla="val 13561"/>
            </a:avLst>
          </a:prstGeom>
          <a:solidFill>
            <a:srgbClr val="4ECDC4">
              <a:alpha val="12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18381" y="1215777"/>
            <a:ext cx="120047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턴 실행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8381" y="1333202"/>
            <a:ext cx="12004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1 turn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2094309" y="1260128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259360" y="1134814"/>
            <a:ext cx="1424732" cy="365075"/>
          </a:xfrm>
          <a:prstGeom prst="roundRect">
            <a:avLst>
              <a:gd name="adj" fmla="val 13915"/>
            </a:avLst>
          </a:prstGeom>
          <a:solidFill>
            <a:srgbClr val="F97316">
              <a:alpha val="12000"/>
            </a:srgbClr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371414" y="1220539"/>
            <a:ext cx="12006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TURN_COMPLETE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371414" y="1328440"/>
            <a:ext cx="120062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이벤트 발화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3747492" y="1260128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12543" y="1134814"/>
            <a:ext cx="1424732" cy="365075"/>
          </a:xfrm>
          <a:prstGeom prst="roundRect">
            <a:avLst>
              <a:gd name="adj" fmla="val 13915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024597" y="1220539"/>
            <a:ext cx="12006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MEMORY.md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024597" y="1328440"/>
            <a:ext cx="120062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인사이트 자동 축적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932831" y="1568053"/>
            <a:ext cx="21194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→ memory write-back → 다음 세션 Tier 3 주입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606326" y="1717179"/>
            <a:ext cx="4730948" cy="295721"/>
          </a:xfrm>
          <a:prstGeom prst="roundRect">
            <a:avLst>
              <a:gd name="adj" fmla="val 17178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98221" y="1802904"/>
            <a:ext cx="454715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세션 시작 시 PromptAssembler P4 (memory 페이즈)가 MEMORY.md 인사이트를 프롬프트에 자동 주입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57200" y="2212926"/>
            <a:ext cx="5029200" cy="1141214"/>
          </a:xfrm>
          <a:prstGeom prst="roundRect">
            <a:avLst>
              <a:gd name="adj" fmla="val 186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6326" y="2323951"/>
            <a:ext cx="48255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MEMORY 계층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6326" y="2536627"/>
            <a:ext cx="1135112" cy="597098"/>
          </a:xfrm>
          <a:prstGeom prst="roundRect">
            <a:avLst>
              <a:gd name="adj" fmla="val 4475"/>
            </a:avLst>
          </a:prstGeom>
          <a:solidFill>
            <a:srgbClr val="818CF8">
              <a:alpha val="12000"/>
            </a:srgbClr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17352" y="2622352"/>
            <a:ext cx="9313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4: Organization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17352" y="2742902"/>
            <a:ext cx="9313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불변 가이드라인 · CLAUDE.md · 전역 정책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804839" y="2536627"/>
            <a:ext cx="1135261" cy="597098"/>
          </a:xfrm>
          <a:prstGeom prst="roundRect">
            <a:avLst>
              <a:gd name="adj" fmla="val 4475"/>
            </a:avLst>
          </a:prstGeom>
          <a:solidFill>
            <a:srgbClr val="4ECDC4">
              <a:alpha val="8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915864" y="2622352"/>
            <a:ext cx="9314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3: Project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915864" y="2742902"/>
            <a:ext cx="93147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간 인사이트 · LEARNINGS.md 자동 업데이트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003500" y="2536627"/>
            <a:ext cx="1135112" cy="597098"/>
          </a:xfrm>
          <a:prstGeom prst="roundRect">
            <a:avLst>
              <a:gd name="adj" fmla="val 4475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114526" y="2622352"/>
            <a:ext cx="9313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2: Session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114526" y="2742902"/>
            <a:ext cx="9313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TTL 단기 메모리 · 200 turns sliding window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202013" y="2536627"/>
            <a:ext cx="1135261" cy="597098"/>
          </a:xfrm>
          <a:prstGeom prst="roundRect">
            <a:avLst>
              <a:gd name="adj" fmla="val 4475"/>
            </a:avLst>
          </a:prstGeom>
          <a:solidFill>
            <a:srgbClr val="F97316">
              <a:alpha val="8000"/>
            </a:srgbClr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313039" y="2622352"/>
            <a:ext cx="9314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1: Hybrid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313039" y="2742902"/>
            <a:ext cx="9314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L1 고속 캐시 + File L2 영속 저장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5613350" y="790426"/>
            <a:ext cx="3073450" cy="1631454"/>
          </a:xfrm>
          <a:prstGeom prst="roundRect">
            <a:avLst>
              <a:gd name="adj" fmla="val 311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762476" y="914251"/>
            <a:ext cx="28307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Write-back 메커니즘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62476" y="1101477"/>
            <a:ext cx="2775198" cy="358676"/>
          </a:xfrm>
          <a:prstGeom prst="roundRect">
            <a:avLst>
              <a:gd name="adj" fmla="val 1416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5781526" y="1101477"/>
            <a:ext cx="0" cy="358676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5914876" y="1177677"/>
            <a:ext cx="255866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hook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914876" y="1298228"/>
            <a:ext cx="25586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파이프라인 종료 시 L2 React 핸들러 자동 실행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762476" y="1510903"/>
            <a:ext cx="2775198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5781526" y="1510903"/>
            <a:ext cx="0" cy="368201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5914876" y="1587103"/>
            <a:ext cx="25586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추출 + 요약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914876" y="1717179"/>
            <a:ext cx="25586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인사이트·패턴·결정 이유를 구조화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5762476" y="1929854"/>
            <a:ext cx="2775198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5781526" y="1929854"/>
            <a:ext cx="0" cy="368201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5914876" y="2006054"/>
            <a:ext cx="25586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MEMORY.md 누적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914876" y="2136130"/>
            <a:ext cx="25586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 Project 메모리에 append, 세션 간 지속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5613350" y="2498080"/>
            <a:ext cx="3073450" cy="981521"/>
          </a:xfrm>
          <a:prstGeom prst="roundRect">
            <a:avLst>
              <a:gd name="adj" fmla="val 517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762476" y="2609106"/>
            <a:ext cx="28307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4-Tier인가?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62476" y="2783681"/>
            <a:ext cx="283070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Aft>
                <a:spcPts val="4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메모리면 프로젝트 간 격리가 안 되고, 세션 메모리만으로는 인사이트가 휘발된다. 4-Tier로 범위별 TTL과 접근 권한을 분리했다.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762476" y="3082975"/>
            <a:ext cx="655737" cy="285601"/>
          </a:xfrm>
          <a:prstGeom prst="roundRect">
            <a:avLst>
              <a:gd name="adj" fmla="val 1334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5820588" y="3133725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 영구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5820588" y="3232100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정책 불변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6468963" y="3082975"/>
            <a:ext cx="655737" cy="285601"/>
          </a:xfrm>
          <a:prstGeom prst="roundRect">
            <a:avLst>
              <a:gd name="adj" fmla="val 1334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6527075" y="3133725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 장기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527075" y="3232100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간 누적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7175450" y="3082975"/>
            <a:ext cx="655737" cy="285601"/>
          </a:xfrm>
          <a:prstGeom prst="roundRect">
            <a:avLst>
              <a:gd name="adj" fmla="val 1334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233562" y="3133725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 TTL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7233562" y="3232100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단위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7881937" y="3082975"/>
            <a:ext cx="655737" cy="285601"/>
          </a:xfrm>
          <a:prstGeom prst="roundRect">
            <a:avLst>
              <a:gd name="adj" fmla="val 1334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7940049" y="3133725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고속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7940049" y="3232100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캐시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5613350" y="3555802"/>
            <a:ext cx="3073450" cy="712440"/>
          </a:xfrm>
          <a:prstGeom prst="roundRect">
            <a:avLst>
              <a:gd name="adj" fmla="val 713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5762476" y="3654177"/>
            <a:ext cx="28307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Failover 후에도 메모리 유지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762476" y="3797052"/>
            <a:ext cx="2830702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Failover 시 메모리가 함께 사라지는 버그가 있었기 때문에 4-Tier 메모리를 LLMClientPort 추상화 위에 배치했다. 이제 Provider 전환 후에도 세션 학습이 유지된다.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3350" y="4344442"/>
            <a:ext cx="3073450" cy="656481"/>
          </a:xfrm>
          <a:prstGeom prst="roundRect">
            <a:avLst>
              <a:gd name="adj" fmla="val 773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9" name="Shape 67"/>
          <p:cNvSpPr/>
          <p:nvPr/>
        </p:nvSpPr>
        <p:spPr>
          <a:xfrm>
            <a:off x="5632400" y="4344442"/>
            <a:ext cx="0" cy="656481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/>
          <p:nvPr/>
        </p:nvSpPr>
        <p:spPr>
          <a:xfrm>
            <a:off x="5778401" y="4407843"/>
            <a:ext cx="28370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자동 학습 오버헤드 vs 지식 휘발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778401" y="4537918"/>
            <a:ext cx="2837078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PIPELINE_END마다 LLM 호출이 추가되지만, 세션마다 인사이트가 휘발되는 비용이 더 크다. write-back 덕분에 동일 분석 영역에서 세션이 누적될수록 품질이 개선된다.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726502" y="3213574"/>
            <a:ext cx="377265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TURN_COMPLETE · PIPELINE_END hook · 4-Tier: Session→Project→Org→Hybrid · Redis L1 + File L2 · MEMORY.md write-back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35</a:t>
            </a:r>
            <a:endParaRPr lang="en-US" sz="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903018" cy="16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⑦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PromptAssembler: 다음 턴 준비 → 6-Phase 동적 조립 → SHA-256 추적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편집으로는 변경 추적이 불가능하고 캐시 히트율이 떨어졌기 때문에 6-Phase 조립을 도입해 2회차부터 입력 비용을 10%로 낮췄다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52177"/>
            <a:ext cx="1209675" cy="581471"/>
          </a:xfrm>
          <a:prstGeom prst="roundRect">
            <a:avLst>
              <a:gd name="adj" fmla="val 873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71227"/>
            <a:ext cx="1209675" cy="0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662113" y="752177"/>
            <a:ext cx="0" cy="58147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57200" y="1328886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61963" y="752177"/>
            <a:ext cx="0" cy="58147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55575" y="866477"/>
            <a:ext cx="10331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55575" y="1006078"/>
            <a:ext cx="10331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555575" y="1139428"/>
            <a:ext cx="1033183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기반 기본 구조 로드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1666875" y="752177"/>
            <a:ext cx="190500" cy="581471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04975" y="9761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57375" y="752177"/>
            <a:ext cx="1209675" cy="581471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1857375" y="771227"/>
            <a:ext cx="1209675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3062288" y="752177"/>
            <a:ext cx="0" cy="58147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1857375" y="1328886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1862138" y="752177"/>
            <a:ext cx="0" cy="58147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1955750" y="866477"/>
            <a:ext cx="10331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955750" y="1006078"/>
            <a:ext cx="10331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override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955750" y="1139428"/>
            <a:ext cx="1033183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프로젝트별 파라미터 덮어쓰기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067050" y="752177"/>
            <a:ext cx="190500" cy="581471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105150" y="9761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57550" y="752177"/>
            <a:ext cx="1209675" cy="581471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3257550" y="771227"/>
            <a:ext cx="1209675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4462463" y="752177"/>
            <a:ext cx="0" cy="58147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3257550" y="1328886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3262313" y="752177"/>
            <a:ext cx="0" cy="58147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3355925" y="866477"/>
            <a:ext cx="10331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355925" y="1006078"/>
            <a:ext cx="10331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3355925" y="1139428"/>
            <a:ext cx="1033183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Scaffold Skill 동적 주입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467225" y="752177"/>
            <a:ext cx="190500" cy="581471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505325" y="9761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57725" y="752177"/>
            <a:ext cx="1209675" cy="581471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4657725" y="771227"/>
            <a:ext cx="1209675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5862638" y="752177"/>
            <a:ext cx="0" cy="58147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4657725" y="1328886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4662488" y="752177"/>
            <a:ext cx="0" cy="58147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4756100" y="866477"/>
            <a:ext cx="10331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6100" y="1006078"/>
            <a:ext cx="10331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756100" y="1139428"/>
            <a:ext cx="1033183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메모리 인사이트 주입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5867400" y="752177"/>
            <a:ext cx="190500" cy="581471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905500" y="9761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057900" y="752177"/>
            <a:ext cx="1209675" cy="581471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6057900" y="771227"/>
            <a:ext cx="1209675" cy="0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7262813" y="752177"/>
            <a:ext cx="0" cy="58147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6057900" y="1328886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6062663" y="752177"/>
            <a:ext cx="0" cy="58147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6156275" y="866477"/>
            <a:ext cx="10331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156275" y="1006078"/>
            <a:ext cx="10331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6156275" y="1139428"/>
            <a:ext cx="1033183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 초기화 bridge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7267575" y="752177"/>
            <a:ext cx="190500" cy="581471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305675" y="9761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458075" y="752177"/>
            <a:ext cx="1228725" cy="581471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Shape 55"/>
          <p:cNvSpPr/>
          <p:nvPr/>
        </p:nvSpPr>
        <p:spPr>
          <a:xfrm>
            <a:off x="7458075" y="771227"/>
            <a:ext cx="1228725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8677275" y="752177"/>
            <a:ext cx="0" cy="581471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7458075" y="1324124"/>
            <a:ext cx="1228725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7467600" y="752177"/>
            <a:ext cx="0" cy="581471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/>
          <p:nvPr/>
        </p:nvSpPr>
        <p:spPr>
          <a:xfrm>
            <a:off x="7565975" y="866477"/>
            <a:ext cx="10331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565975" y="1006078"/>
            <a:ext cx="10331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assemble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7565975" y="1139428"/>
            <a:ext cx="1033183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메시지 배열 출력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457200" y="1409849"/>
            <a:ext cx="8229600" cy="501402"/>
          </a:xfrm>
          <a:prstGeom prst="roundRect">
            <a:avLst>
              <a:gd name="adj" fmla="val 1013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Shape 63"/>
          <p:cNvSpPr/>
          <p:nvPr/>
        </p:nvSpPr>
        <p:spPr>
          <a:xfrm>
            <a:off x="457200" y="1414611"/>
            <a:ext cx="8229600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8682038" y="1409849"/>
            <a:ext cx="0" cy="501402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5"/>
          <p:cNvSpPr/>
          <p:nvPr/>
        </p:nvSpPr>
        <p:spPr>
          <a:xfrm>
            <a:off x="457200" y="1906488"/>
            <a:ext cx="8229600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476250" y="1409849"/>
            <a:ext cx="0" cy="501402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/>
          <p:nvPr/>
        </p:nvSpPr>
        <p:spPr>
          <a:xfrm>
            <a:off x="622250" y="1552575"/>
            <a:ext cx="15393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변경 추적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622250" y="1682651"/>
            <a:ext cx="15393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 = sha256(prompt) → cache_key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2258318" y="1482775"/>
            <a:ext cx="12650" cy="3555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2397919" y="1598414"/>
            <a:ext cx="546830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조립 후 SHA-256 해시로 동일 프롬프트 재조립 시 캐시 히트 판별. 수동 편집으로는 불가능했던 변경 추적을 코드 레벨에서 보장한다.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7885956" y="1482775"/>
            <a:ext cx="12650" cy="3555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020309" y="1497062"/>
            <a:ext cx="5352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800" dirty="0"/>
          </a:p>
        </p:txBody>
      </p:sp>
      <p:sp>
        <p:nvSpPr>
          <p:cNvPr id="75" name="Text 73"/>
          <p:cNvSpPr/>
          <p:nvPr/>
        </p:nvSpPr>
        <p:spPr>
          <a:xfrm>
            <a:off x="8020309" y="1738313"/>
            <a:ext cx="5352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2회차+ 입력 비용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457200" y="1987451"/>
            <a:ext cx="3467100" cy="896094"/>
          </a:xfrm>
          <a:prstGeom prst="roundRect">
            <a:avLst>
              <a:gd name="adj" fmla="val 5669"/>
            </a:avLst>
          </a:prstGeom>
          <a:solidFill>
            <a:srgbClr val="1E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7" name="Shape 75"/>
          <p:cNvSpPr/>
          <p:nvPr/>
        </p:nvSpPr>
        <p:spPr>
          <a:xfrm>
            <a:off x="457200" y="2006501"/>
            <a:ext cx="3467100" cy="0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3919537" y="1987451"/>
            <a:ext cx="0" cy="896094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Shape 77"/>
          <p:cNvSpPr/>
          <p:nvPr/>
        </p:nvSpPr>
        <p:spPr>
          <a:xfrm>
            <a:off x="457200" y="2878782"/>
            <a:ext cx="3467100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8"/>
          <p:cNvSpPr/>
          <p:nvPr/>
        </p:nvSpPr>
        <p:spPr>
          <a:xfrm>
            <a:off x="461963" y="1987451"/>
            <a:ext cx="0" cy="896094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/>
          <p:nvPr/>
        </p:nvSpPr>
        <p:spPr>
          <a:xfrm>
            <a:off x="593675" y="2101751"/>
            <a:ext cx="3258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수동 편집 3대 문제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593675" y="2266801"/>
            <a:ext cx="3194149" cy="3714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변경 추적 불가: drift 감지 없음</a:t>
            </a:r>
            <a:endParaRPr lang="en-US" sz="650" dirty="0"/>
          </a:p>
          <a:p>
            <a:pPr marL="76200" indent="-76200" algn="l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캐시 히트율 저하: 매 요청 100% 비용</a:t>
            </a:r>
            <a:endParaRPr lang="en-US" sz="650" dirty="0"/>
          </a:p>
          <a:p>
            <a:pPr marL="76200" indent="-76200" algn="l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노드 각자 편집 → 불일치 발생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4000500" y="1987451"/>
            <a:ext cx="3467100" cy="896094"/>
          </a:xfrm>
          <a:prstGeom prst="roundRect">
            <a:avLst>
              <a:gd name="adj" fmla="val 5669"/>
            </a:avLst>
          </a:prstGeom>
          <a:solidFill>
            <a:srgbClr val="0D1A0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4" name="Shape 82"/>
          <p:cNvSpPr/>
          <p:nvPr/>
        </p:nvSpPr>
        <p:spPr>
          <a:xfrm>
            <a:off x="4000500" y="2006501"/>
            <a:ext cx="3467100" cy="0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Shape 83"/>
          <p:cNvSpPr/>
          <p:nvPr/>
        </p:nvSpPr>
        <p:spPr>
          <a:xfrm>
            <a:off x="7462837" y="1987451"/>
            <a:ext cx="0" cy="896094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6" name="Shape 84"/>
          <p:cNvSpPr/>
          <p:nvPr/>
        </p:nvSpPr>
        <p:spPr>
          <a:xfrm>
            <a:off x="4000500" y="2878782"/>
            <a:ext cx="3467100" cy="0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Shape 85"/>
          <p:cNvSpPr/>
          <p:nvPr/>
        </p:nvSpPr>
        <p:spPr>
          <a:xfrm>
            <a:off x="4005262" y="1987451"/>
            <a:ext cx="0" cy="896094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6"/>
          <p:cNvSpPr/>
          <p:nvPr/>
        </p:nvSpPr>
        <p:spPr>
          <a:xfrm>
            <a:off x="4136975" y="2101751"/>
            <a:ext cx="3258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6-Phase 조립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4136975" y="2266801"/>
            <a:ext cx="3194149" cy="3714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SHA-256으로 drift 감지: 동일 해시 → 재조립 스킵</a:t>
            </a:r>
            <a:endParaRPr lang="en-US" sz="650" dirty="0"/>
          </a:p>
          <a:p>
            <a:pPr marL="76200" indent="-76200" algn="l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cache_control ephemeral → 2회차부터 입력 비용 10%</a:t>
            </a:r>
            <a:endParaRPr lang="en-US" sz="650" dirty="0"/>
          </a:p>
          <a:p>
            <a:pPr marL="76200" indent="-76200" algn="l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7노드 동일 프롬프트 1 cache entry 공유</a:t>
            </a:r>
            <a:endParaRPr lang="en-US" sz="650" dirty="0"/>
          </a:p>
        </p:txBody>
      </p:sp>
      <p:sp>
        <p:nvSpPr>
          <p:cNvPr id="90" name="Text 88"/>
          <p:cNvSpPr/>
          <p:nvPr/>
        </p:nvSpPr>
        <p:spPr>
          <a:xfrm>
            <a:off x="7543800" y="1987451"/>
            <a:ext cx="1143000" cy="896094"/>
          </a:xfrm>
          <a:prstGeom prst="roundRect">
            <a:avLst>
              <a:gd name="adj" fmla="val 566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7667625" y="2073176"/>
            <a:ext cx="91325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PROMPT_ASSEMBLE hook</a:t>
            </a:r>
            <a:endParaRPr lang="en-US" sz="650" dirty="0"/>
          </a:p>
        </p:txBody>
      </p:sp>
      <p:sp>
        <p:nvSpPr>
          <p:cNvPr id="92" name="Text 90"/>
          <p:cNvSpPr/>
          <p:nvPr/>
        </p:nvSpPr>
        <p:spPr>
          <a:xfrm>
            <a:off x="7667625" y="2314426"/>
            <a:ext cx="913257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 완료 시 Prompt Change 이벤트 발화 → 관측 레이어에 전달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7667625" y="2712095"/>
            <a:ext cx="9132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nodes × 1 entry</a:t>
            </a:r>
            <a:endParaRPr lang="en-US" sz="600" dirty="0"/>
          </a:p>
        </p:txBody>
      </p:sp>
      <p:sp>
        <p:nvSpPr>
          <p:cNvPr id="94" name="Text 92"/>
          <p:cNvSpPr/>
          <p:nvPr/>
        </p:nvSpPr>
        <p:spPr>
          <a:xfrm>
            <a:off x="457200" y="4987975"/>
            <a:ext cx="321886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 6-Phase · SHA-256 cache_key · cache_control: ephemeral · 21 skills · 7-node prompt sharing</a:t>
            </a:r>
            <a:endParaRPr lang="en-US" sz="500" dirty="0"/>
          </a:p>
        </p:txBody>
      </p:sp>
      <p:sp>
        <p:nvSpPr>
          <p:cNvPr id="95" name="Text 93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35</a:t>
            </a:r>
            <a:endParaRPr lang="en-US" sz="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⑧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+ Cost: 외부 도구 호출 → 45 Catalog + TokenTracker 비용 관측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257줄 삭제 스토리 + 자체 TokenTracker로 while(tool_use) 루프 비용을 /cost CLI로 실시간 관측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4724400" cy="3077021"/>
          </a:xfrm>
          <a:prstGeom prst="roundRect">
            <a:avLst>
              <a:gd name="adj" fmla="val 165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01452"/>
            <a:ext cx="45146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아키텍처 진화: 3계층에서 2계층으로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6326" y="1088678"/>
            <a:ext cx="4426148" cy="730151"/>
          </a:xfrm>
          <a:prstGeom prst="roundRect">
            <a:avLst>
              <a:gd name="adj" fmla="val 6957"/>
            </a:avLst>
          </a:prstGeom>
          <a:solidFill>
            <a:srgbClr val="0D1117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30151" y="1174403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3계층 (병목)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30151" y="1317278"/>
            <a:ext cx="1248966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18004" y="1377553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818004" y="1463278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257줄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2042517" y="1415653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194917" y="1317278"/>
            <a:ext cx="1248966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282770" y="1377553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282770" y="1463278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검색+관리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3507284" y="1415653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659684" y="1317278"/>
            <a:ext cx="1248966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747537" y="1377553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3747537" y="1463278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분산 설정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730151" y="1647379"/>
            <a:ext cx="4262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Registry가 LLM 도구 탐색 막는 병목 · Proxy stub 9개 중복 · auto-discovery 불가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982391" y="1882229"/>
            <a:ext cx="17073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Registry 257줄 삭제 + Proxy stub 9개 제거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06326" y="2050405"/>
            <a:ext cx="4426148" cy="730151"/>
          </a:xfrm>
          <a:prstGeom prst="roundRect">
            <a:avLst>
              <a:gd name="adj" fmla="val 6957"/>
            </a:avLst>
          </a:prstGeom>
          <a:solidFill>
            <a:srgbClr val="0D1117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30151" y="2136130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2계층 (탐색 자유도)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30151" y="2279005"/>
            <a:ext cx="1981349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10680" y="2339280"/>
            <a:ext cx="18202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810680" y="2425005"/>
            <a:ext cx="18202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 전용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2774900" y="2377380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927300" y="2279005"/>
            <a:ext cx="1981349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007830" y="2339280"/>
            <a:ext cx="18202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config.toml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3007830" y="2425005"/>
            <a:ext cx="18202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[mcp.servers] 통합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730151" y="2609106"/>
            <a:ext cx="4262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catalog servers auto-discovery · API key 부재 시 dry-run 자동 전환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06326" y="2843957"/>
            <a:ext cx="4426148" cy="912465"/>
          </a:xfrm>
          <a:prstGeom prst="roundRect">
            <a:avLst>
              <a:gd name="adj" fmla="val 5567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30151" y="2929682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Registry를 삭제했는가?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730151" y="3072557"/>
            <a:ext cx="4262068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Registry가 LLM의 도구 탐색을 막는 병목이었다. 자율 에이전트는 도구를 스스로 찾아야 하는데, Registry가 검색 범위를 제한했다. 삭제 후 LLM이 Catalog를 직접 탐색하여 중앙 제어 없이 45 서버를 자율 발견한다.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730151" y="3371850"/>
            <a:ext cx="2057549" cy="298847"/>
          </a:xfrm>
          <a:prstGeom prst="roundRect">
            <a:avLst>
              <a:gd name="adj" fmla="val 1274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06351" y="3422600"/>
            <a:ext cx="19432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 중앙 제어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806351" y="3520976"/>
            <a:ext cx="1943252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삭제로 도구 목록 감사 불가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851100" y="3371850"/>
            <a:ext cx="2057549" cy="298847"/>
          </a:xfrm>
          <a:prstGeom prst="roundRect">
            <a:avLst>
              <a:gd name="adj" fmla="val 1274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927300" y="3422600"/>
            <a:ext cx="19432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획득: 탐색 자유도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927300" y="3520976"/>
            <a:ext cx="1943252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컨텍스트에 맞게 자율 선택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295900" y="790426"/>
            <a:ext cx="3390900" cy="1596926"/>
          </a:xfrm>
          <a:prstGeom prst="roundRect">
            <a:avLst>
              <a:gd name="adj" fmla="val 318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45026" y="901452"/>
            <a:ext cx="3154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TokenTracker: 자체 비용 추적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445026" y="1088678"/>
            <a:ext cx="315450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Aft>
                <a:spcPts val="5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LangSmith는 모델별 캐시 히트율·프로바이더별 비용 분리가 불가능했기 때문에 자체 TokenTracker를 구축했다. ContextVar 싱글톤으로 18개 모델 가격을 실시간 추적한다.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445026" y="1400621"/>
            <a:ext cx="3092648" cy="336352"/>
          </a:xfrm>
          <a:prstGeom prst="roundRect">
            <a:avLst>
              <a:gd name="adj" fmla="val 1132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5464076" y="1400621"/>
            <a:ext cx="0" cy="336352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5584627" y="1464022"/>
            <a:ext cx="290857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ContextVar 싱글톤으로 호출마다 입출력 토큰 + cache_creation/cache_read 기록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445026" y="1775073"/>
            <a:ext cx="3092648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Shape 47"/>
          <p:cNvSpPr/>
          <p:nvPr/>
        </p:nvSpPr>
        <p:spPr>
          <a:xfrm>
            <a:off x="5464076" y="1775073"/>
            <a:ext cx="0" cy="231577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5584627" y="1838474"/>
            <a:ext cx="29085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18개 모델 가격 레지스트리: 실시간 비용 산출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445026" y="2044750"/>
            <a:ext cx="3092648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5464076" y="2044750"/>
            <a:ext cx="0" cy="231577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/>
          <p:nvPr/>
        </p:nvSpPr>
        <p:spPr>
          <a:xfrm>
            <a:off x="5584627" y="2108150"/>
            <a:ext cx="29085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UsageStore: 월별 JSONL 영속 저장 · ProjectJournal 프로젝트별 이력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295900" y="2463552"/>
            <a:ext cx="3390900" cy="904429"/>
          </a:xfrm>
          <a:prstGeom prst="roundRect">
            <a:avLst>
              <a:gd name="adj" fmla="val 561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445026" y="2574578"/>
            <a:ext cx="3154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/cost CLI 대시보드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445026" y="2749153"/>
            <a:ext cx="3092648" cy="507802"/>
          </a:xfrm>
          <a:prstGeom prst="roundRect">
            <a:avLst>
              <a:gd name="adj" fmla="val 1000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5550625" y="2838004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5550625" y="2968079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비용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547625" y="2838004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일간 / 월간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547625" y="2968079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집계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7544625" y="2838004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소진율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7544625" y="2968079"/>
            <a:ext cx="8874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경고 / 95% PRUNE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5295900" y="3444180"/>
            <a:ext cx="3390900" cy="1483519"/>
          </a:xfrm>
          <a:prstGeom prst="roundRect">
            <a:avLst>
              <a:gd name="adj" fmla="val 342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4" name="Shape 62"/>
          <p:cNvSpPr/>
          <p:nvPr/>
        </p:nvSpPr>
        <p:spPr>
          <a:xfrm>
            <a:off x="5319713" y="3444180"/>
            <a:ext cx="0" cy="1483519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/>
          <p:nvPr/>
        </p:nvSpPr>
        <p:spPr>
          <a:xfrm>
            <a:off x="5483126" y="3533031"/>
            <a:ext cx="312535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MCP-first + Fixture Fallback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483126" y="3679031"/>
            <a:ext cx="312535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 signal 도구: 라이브 환경에서는 MCP 직접 호출, 오프라인/CI에서는 fixture 데이터로 자동 전환하여 라이브 수집과 테스트를 동시에 보장한다.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483126" y="4008834"/>
            <a:ext cx="1493937" cy="415677"/>
          </a:xfrm>
          <a:prstGeom prst="roundRect">
            <a:avLst>
              <a:gd name="adj" fmla="val 91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5532855" y="4072235"/>
            <a:ext cx="1394478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5532855" y="4275386"/>
            <a:ext cx="1394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7053263" y="4008834"/>
            <a:ext cx="1493937" cy="415677"/>
          </a:xfrm>
          <a:prstGeom prst="roundRect">
            <a:avLst>
              <a:gd name="adj" fmla="val 91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7102992" y="4072235"/>
            <a:ext cx="1394478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7102992" y="4275386"/>
            <a:ext cx="1394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 registry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457200" y="4978450"/>
            <a:ext cx="3186380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257줄 삭제 · Proxy stub 9개 제거 · 45 catalog auto-discovery · TokenTracker ContextVar · /cost CLI</a:t>
            </a:r>
            <a:endParaRPr lang="en-US" sz="500" dirty="0"/>
          </a:p>
        </p:txBody>
      </p:sp>
      <p:sp>
        <p:nvSpPr>
          <p:cNvPr id="74" name="Text 72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35</a:t>
            </a:r>
            <a:endParaRPr lang="en-US" sz="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8571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Game IP Pipeline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Pipeline: 9-Node DAG + 5-Layer 검증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Confirmation Bias·Anchoring 편향이 있기 때문에 병렬 전문가 4명 + Cross-LLM + PSM으로 극복했다</a:t>
            </a:r>
            <a:endParaRPr lang="en-US" sz="700" dirty="0"/>
          </a:p>
        </p:txBody>
      </p:sp>
      <p:pic>
        <p:nvPicPr>
          <p:cNvPr id="6" name="Image 0" descr="/Users/mango/workspace/portfolio/geode/versions/v7/slides/assets/v028-diagram-pipeline-d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90426"/>
            <a:ext cx="5587901" cy="26034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3457277"/>
            <a:ext cx="3340596" cy="1063675"/>
          </a:xfrm>
          <a:prstGeom prst="roundRect">
            <a:avLst>
              <a:gd name="adj" fmla="val 477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81025" y="3555653"/>
            <a:ext cx="315480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Formula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81025" y="3689003"/>
            <a:ext cx="315480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= 0.25·PSM + 0.20·Quality + 0.18·Recovery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81025" y="3822204"/>
            <a:ext cx="315480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+ 0.12·Growth + 0.20·Momentum + 0.05·Dev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581025" y="3980706"/>
            <a:ext cx="315480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= base × (0.7 + 0.3·conf/100)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3873996" y="3457277"/>
            <a:ext cx="2209354" cy="507802"/>
          </a:xfrm>
          <a:prstGeom prst="roundRect">
            <a:avLst>
              <a:gd name="adj" fmla="val 100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985022" y="3543002"/>
            <a:ext cx="20270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기준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3985022" y="3673078"/>
            <a:ext cx="202704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≥80 · A ≥60 · B ≥40 · C &lt;40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3985022" y="3793629"/>
            <a:ext cx="202704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D-E-F 코드 결정 트리 (LLM 아님)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3873996" y="4015829"/>
            <a:ext cx="2209354" cy="505123"/>
          </a:xfrm>
          <a:prstGeom prst="roundRect">
            <a:avLst>
              <a:gd name="adj" fmla="val 10057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3985022" y="4101554"/>
            <a:ext cx="202704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Clean Context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3985022" y="4222105"/>
            <a:ext cx="2027048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analyses: []</a:t>
            </a: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전달로 앵커링 편향을 차단한다. 7개 병렬 LLM 호출에서 독립 평가 보장.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197650" y="790426"/>
            <a:ext cx="25389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Fixture Results: Golden Set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6197650" y="968127"/>
            <a:ext cx="2489150" cy="520750"/>
          </a:xfrm>
          <a:prstGeom prst="roundRect">
            <a:avLst>
              <a:gd name="adj" fmla="val 97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305882" y="1053852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305882" y="1307902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81.2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6689527" y="1085552"/>
            <a:ext cx="8813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Berserk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689527" y="1199852"/>
            <a:ext cx="8813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0.89 · bias: 0/6</a:t>
            </a:r>
            <a:endParaRPr lang="en-US" sz="600" dirty="0"/>
          </a:p>
        </p:txBody>
      </p:sp>
      <p:sp>
        <p:nvSpPr>
          <p:cNvPr id="25" name="Text 22"/>
          <p:cNvSpPr/>
          <p:nvPr/>
        </p:nvSpPr>
        <p:spPr>
          <a:xfrm>
            <a:off x="6689527" y="1285577"/>
            <a:ext cx="8813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conversion_failure</a:t>
            </a:r>
            <a:endParaRPr lang="en-US" sz="600" dirty="0"/>
          </a:p>
        </p:txBody>
      </p:sp>
      <p:sp>
        <p:nvSpPr>
          <p:cNvPr id="26" name="Text 23"/>
          <p:cNvSpPr/>
          <p:nvPr/>
        </p:nvSpPr>
        <p:spPr>
          <a:xfrm>
            <a:off x="6197650" y="1552277"/>
            <a:ext cx="2489150" cy="520750"/>
          </a:xfrm>
          <a:prstGeom prst="roundRect">
            <a:avLst>
              <a:gd name="adj" fmla="val 9755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6305882" y="1638002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6305882" y="1892052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68.4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6689527" y="1669703"/>
            <a:ext cx="8513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Cowboy Bebop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689527" y="1784003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0.85 · range: 63-75</a:t>
            </a:r>
            <a:endParaRPr lang="en-US" sz="600" dirty="0"/>
          </a:p>
        </p:txBody>
      </p:sp>
      <p:sp>
        <p:nvSpPr>
          <p:cNvPr id="31" name="Text 28"/>
          <p:cNvSpPr/>
          <p:nvPr/>
        </p:nvSpPr>
        <p:spPr>
          <a:xfrm>
            <a:off x="6689527" y="1869728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undermarketed</a:t>
            </a:r>
            <a:endParaRPr lang="en-US" sz="600" dirty="0"/>
          </a:p>
        </p:txBody>
      </p:sp>
      <p:sp>
        <p:nvSpPr>
          <p:cNvPr id="32" name="Text 29"/>
          <p:cNvSpPr/>
          <p:nvPr/>
        </p:nvSpPr>
        <p:spPr>
          <a:xfrm>
            <a:off x="6197650" y="2136428"/>
            <a:ext cx="2489150" cy="520750"/>
          </a:xfrm>
          <a:prstGeom prst="roundRect">
            <a:avLst>
              <a:gd name="adj" fmla="val 9755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0"/>
          <p:cNvSpPr/>
          <p:nvPr/>
        </p:nvSpPr>
        <p:spPr>
          <a:xfrm>
            <a:off x="6305882" y="2222153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6305882" y="2476202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51.7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6689527" y="2253853"/>
            <a:ext cx="8513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in Shell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689527" y="2368153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0.72 · range: 48-60</a:t>
            </a:r>
            <a:endParaRPr lang="en-US" sz="600" dirty="0"/>
          </a:p>
        </p:txBody>
      </p:sp>
      <p:sp>
        <p:nvSpPr>
          <p:cNvPr id="37" name="Text 34"/>
          <p:cNvSpPr/>
          <p:nvPr/>
        </p:nvSpPr>
        <p:spPr>
          <a:xfrm>
            <a:off x="6689527" y="2453878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discovery_failure</a:t>
            </a:r>
            <a:endParaRPr lang="en-US" sz="600" dirty="0"/>
          </a:p>
        </p:txBody>
      </p:sp>
      <p:sp>
        <p:nvSpPr>
          <p:cNvPr id="38" name="Text 35"/>
          <p:cNvSpPr/>
          <p:nvPr/>
        </p:nvSpPr>
        <p:spPr>
          <a:xfrm>
            <a:off x="6197650" y="2720578"/>
            <a:ext cx="2489150" cy="1826271"/>
          </a:xfrm>
          <a:prstGeom prst="roundRect">
            <a:avLst>
              <a:gd name="adj" fmla="val 229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6321475" y="2818954"/>
            <a:ext cx="22863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검증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6321475" y="2993529"/>
            <a:ext cx="22415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321475" y="2993529"/>
            <a:ext cx="22863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Guardrails: 스키마·범위·근거·일관성</a:t>
            </a:r>
            <a:endParaRPr lang="en-US" sz="700" dirty="0"/>
          </a:p>
        </p:txBody>
      </p:sp>
      <p:sp>
        <p:nvSpPr>
          <p:cNvPr id="42" name="Text 39"/>
          <p:cNvSpPr/>
          <p:nvPr/>
        </p:nvSpPr>
        <p:spPr>
          <a:xfrm>
            <a:off x="6321475" y="3136404"/>
            <a:ext cx="22863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BiasBuster: 6종 편향 (arXiv:2403.00811)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6321475" y="3279279"/>
            <a:ext cx="22863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Cross-LLM: Claude×GPT α≥0.67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6321475" y="3412629"/>
            <a:ext cx="22863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Rights Risk · L5 Calibration 80/100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6321475" y="3708440"/>
            <a:ext cx="2241500" cy="450949"/>
          </a:xfrm>
          <a:prstGeom prst="roundRect">
            <a:avLst>
              <a:gd name="adj" fmla="val 844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43"/>
          <p:cNvSpPr/>
          <p:nvPr/>
        </p:nvSpPr>
        <p:spPr>
          <a:xfrm>
            <a:off x="6410325" y="3771840"/>
            <a:ext cx="21050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판단</a:t>
            </a:r>
            <a:endParaRPr lang="en-US" sz="600" dirty="0"/>
          </a:p>
        </p:txBody>
      </p:sp>
      <p:sp>
        <p:nvSpPr>
          <p:cNvPr id="47" name="Text 44"/>
          <p:cNvSpPr/>
          <p:nvPr/>
        </p:nvSpPr>
        <p:spPr>
          <a:xfrm>
            <a:off x="6410325" y="3882866"/>
            <a:ext cx="2105076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Anchoring 편향으로 점수 분산이 ±18점. L3 Cross-LLM α≥0.67 강제로 편향 0/6 달성.</a:t>
            </a:r>
            <a:endParaRPr lang="en-US" sz="600" dirty="0"/>
          </a:p>
        </p:txBody>
      </p:sp>
      <p:sp>
        <p:nvSpPr>
          <p:cNvPr id="48" name="Text 45"/>
          <p:cNvSpPr/>
          <p:nvPr/>
        </p:nvSpPr>
        <p:spPr>
          <a:xfrm>
            <a:off x="457200" y="4987975"/>
            <a:ext cx="343048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rubric axes (8+3+3) · 6 cause classes · PSM Rosenbaum Gamma · conf gate ≥0.7 · max 5 iterations · Clean Context</a:t>
            </a:r>
            <a:endParaRPr lang="en-US" sz="500" dirty="0"/>
          </a:p>
        </p:txBody>
      </p:sp>
      <p:sp>
        <p:nvSpPr>
          <p:cNvPr id="49" name="Text 4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35</a:t>
            </a:r>
            <a:endParaRPr lang="en-US" sz="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9432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Domain Portability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Portability: GEODE ↔ REODE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12725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2-Protocol 직교 설계로 에이전트 코어 수정 0줄 달성: 241소스 103K LoC, 83/83 build pass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80901"/>
            <a:ext cx="2933700" cy="1120676"/>
          </a:xfrm>
          <a:prstGeom prst="roundRect">
            <a:avLst>
              <a:gd name="adj" fmla="val 453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99951"/>
            <a:ext cx="2933700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96801" y="933301"/>
            <a:ext cx="27075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6801" y="1104751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저평가 분석 에이전트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96801" y="1272927"/>
            <a:ext cx="265449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6801" y="1272927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모듈 · 3,216 테스트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96801" y="1415802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Tools + 45 MCP · 21 Skills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6801" y="1549152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릴리스 무회귀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6801" y="1692027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GameIPAdapter implements DomainPort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57200" y="1977777"/>
            <a:ext cx="2933700" cy="1594248"/>
          </a:xfrm>
          <a:prstGeom prst="roundRect">
            <a:avLst>
              <a:gd name="adj" fmla="val 173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6326" y="2101602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2-Protocol 직교 설계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06326" y="2269778"/>
            <a:ext cx="2635448" cy="26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6326" y="2269778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PipelineTemplate L1: 실행 흐름 정의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606326" y="2425303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LanguageAdapter L2: 언어·포맷 변환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06326" y="2618929"/>
            <a:ext cx="2635448" cy="361950"/>
          </a:xfrm>
          <a:prstGeom prst="roundRect">
            <a:avLst>
              <a:gd name="adj" fmla="val 14035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20626" y="2695129"/>
            <a:ext cx="24549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_domain_ctx: ContextVar[DomainPort]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20626" y="2799904"/>
            <a:ext cx="24549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set_domain() / get_domain_or_none()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06326" y="3044279"/>
            <a:ext cx="268815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변경 시 코어 수정 비용을 0으로 만들기 위해 @runtime_checkable Protocol을 설계했다. 상속 없이 메서드만 구현하면 즉시 호환되고 파이프라인 노드는 get_domain_or_none()으로 fallback한다.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505200" y="787587"/>
            <a:ext cx="2133600" cy="1497955"/>
          </a:xfrm>
          <a:prstGeom prst="roundRect">
            <a:avLst>
              <a:gd name="adj" fmla="val 5087"/>
            </a:avLst>
          </a:prstGeom>
          <a:solidFill>
            <a:srgbClr val="1E293B"/>
          </a:solidFill>
          <a:ln w="19050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45688" y="946237"/>
            <a:ext cx="185262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7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45688" y="1149388"/>
            <a:ext cx="185262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2-Protocol 직교 설계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663851" y="1371439"/>
            <a:ext cx="1816298" cy="346025"/>
          </a:xfrm>
          <a:prstGeom prst="roundRect">
            <a:avLst>
              <a:gd name="adj" fmla="val 14681"/>
            </a:avLst>
          </a:prstGeom>
          <a:solidFill>
            <a:srgbClr val="0D2B1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749219" y="1447639"/>
            <a:ext cx="1645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PipelineTemplate L1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749219" y="1555540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 정의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663851" y="1780865"/>
            <a:ext cx="1816298" cy="346025"/>
          </a:xfrm>
          <a:prstGeom prst="roundRect">
            <a:avLst>
              <a:gd name="adj" fmla="val 14681"/>
            </a:avLst>
          </a:prstGeom>
          <a:solidFill>
            <a:srgbClr val="2B1A0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749219" y="1857065"/>
            <a:ext cx="1645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LanguageAdapter L2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749219" y="1964966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언어·포맷 변환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505200" y="2361742"/>
            <a:ext cx="2133600" cy="806202"/>
          </a:xfrm>
          <a:prstGeom prst="roundRect">
            <a:avLst>
              <a:gd name="adj" fmla="val 6301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635972" y="2498217"/>
            <a:ext cx="1872055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0줄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635972" y="2815667"/>
            <a:ext cx="187205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코어 수정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635972" y="2945743"/>
            <a:ext cx="187205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core/graph.py · core/verification/ 무변경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3505200" y="3244144"/>
            <a:ext cx="2133600" cy="634305"/>
          </a:xfrm>
          <a:prstGeom prst="roundRect">
            <a:avLst>
              <a:gd name="adj" fmla="val 800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3524250" y="3244144"/>
            <a:ext cx="0" cy="634305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3644801" y="3294894"/>
            <a:ext cx="1930348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Protocol 추상화 비용 vs 이식 속도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DomainPort 인터페이스 설계에 3일을 썼다. 그 대가로 GEODE → REODE 피봇 시 코어 수정이 0줄이었고, 3일 투자가 수주의 재작성을 막았다.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753100" y="780901"/>
            <a:ext cx="2933700" cy="977801"/>
          </a:xfrm>
          <a:prstGeom prst="roundRect">
            <a:avLst>
              <a:gd name="adj" fmla="val 519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5753100" y="799951"/>
            <a:ext cx="2933700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5892701" y="933301"/>
            <a:ext cx="27075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892701" y="1104751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5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코드 마이그레이션 에이전트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892701" y="1272927"/>
            <a:ext cx="265449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892701" y="1272927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모듈 · 3,274 테스트 · 34 Tools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5892701" y="1415802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OpenRewrite 70% + LLM 30%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892701" y="1549152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5-Gate Migration Scorecard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753100" y="1834903"/>
            <a:ext cx="2933700" cy="2043546"/>
          </a:xfrm>
          <a:prstGeom prst="roundRect">
            <a:avLst>
              <a:gd name="adj" fmla="val 1732"/>
            </a:avLst>
          </a:prstGeom>
          <a:solidFill>
            <a:srgbClr val="0D1E2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902226" y="2022735"/>
            <a:ext cx="26881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실증 수치: Java 마이그레이션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89556" y="2222760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</a:t>
            </a:r>
            <a:endParaRPr lang="en-US" sz="2000" dirty="0"/>
          </a:p>
        </p:txBody>
      </p:sp>
      <p:sp>
        <p:nvSpPr>
          <p:cNvPr id="51" name="Text 49"/>
          <p:cNvSpPr/>
          <p:nvPr/>
        </p:nvSpPr>
        <p:spPr>
          <a:xfrm>
            <a:off x="5889556" y="2476810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 파일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7258031" y="2222760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103K</a:t>
            </a:r>
            <a:endParaRPr lang="en-US" sz="2000" dirty="0"/>
          </a:p>
        </p:txBody>
      </p:sp>
      <p:sp>
        <p:nvSpPr>
          <p:cNvPr id="53" name="Text 51"/>
          <p:cNvSpPr/>
          <p:nvPr/>
        </p:nvSpPr>
        <p:spPr>
          <a:xfrm>
            <a:off x="7258031" y="2476810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5889556" y="2638735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5889556" y="2892784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7258031" y="2638735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1,133</a:t>
            </a:r>
            <a:endParaRPr lang="en-US" sz="2000" dirty="0"/>
          </a:p>
        </p:txBody>
      </p:sp>
      <p:sp>
        <p:nvSpPr>
          <p:cNvPr id="57" name="Text 55"/>
          <p:cNvSpPr/>
          <p:nvPr/>
        </p:nvSpPr>
        <p:spPr>
          <a:xfrm>
            <a:off x="7258031" y="2892784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라운드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5902226" y="3164437"/>
            <a:ext cx="2635448" cy="406301"/>
          </a:xfrm>
          <a:prstGeom prst="roundRect">
            <a:avLst>
              <a:gd name="adj" fmla="val 12503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6002173" y="3250162"/>
            <a:ext cx="24355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</a:t>
            </a:r>
            <a:r>
              <a:rPr lang="en-US" sz="800" b="1" dirty="0" err="1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compile+test</a:t>
            </a: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FE/BE</a:t>
            </a:r>
            <a:r>
              <a:rPr lang="ko-KR" alt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ko-KR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E2E</a:t>
            </a: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패스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002173" y="3399288"/>
            <a:ext cx="2435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5h 48m 자율 실행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241555" y="4983212"/>
            <a:ext cx="3364989" cy="104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· ContextVar DI · core/graph.py 0줄 수정 · 241소스 103K LoC · 33세션 1,133라운드 · 83/83 build pass</a:t>
            </a:r>
            <a:endParaRPr lang="en-US" sz="500" dirty="0"/>
          </a:p>
        </p:txBody>
      </p:sp>
      <p:sp>
        <p:nvSpPr>
          <p:cNvPr id="62" name="Text 60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35</a:t>
            </a:r>
            <a:endParaRPr lang="en-US" sz="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87843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Pattern Evolution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 → GEODE → REODE: 패턴 진화 증거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 → 5-Layer · LLMClientPort → Port/Adapter · Event Bus → HookSystem: 같은 문제를 세 번 더 잘 풀었다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2445841" cy="358527"/>
          </a:xfrm>
          <a:prstGeom prst="roundRect">
            <a:avLst>
              <a:gd name="adj" fmla="val 14169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1946" y="863352"/>
            <a:ext cx="22163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71946" y="990302"/>
            <a:ext cx="221634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원형 패턴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2953792" y="898178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34D399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31641" y="790426"/>
            <a:ext cx="2880568" cy="358527"/>
          </a:xfrm>
          <a:prstGeom prst="rect">
            <a:avLst/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242041" y="863352"/>
            <a:ext cx="26597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42041" y="990302"/>
            <a:ext cx="26597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심화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6062960" y="898178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40810" y="790426"/>
            <a:ext cx="2445990" cy="358527"/>
          </a:xfrm>
          <a:prstGeom prst="rect">
            <a:avLst/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355555" y="863352"/>
            <a:ext cx="2216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355555" y="990302"/>
            <a:ext cx="2216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실증 적용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457200" y="1212354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3675" y="1310729"/>
            <a:ext cx="50750" cy="180975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5927" y="1348829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레이어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863328" y="1310729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 3-Layer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863328" y="1405979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 → 3겹 필터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3823246" y="1344067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F5C542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091732" y="1310729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5-Layer Verification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091732" y="1405979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BiasBuster 6종 + Cross-LLM α≥0.67 → 99.8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6423422" y="1344067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691908" y="1310729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5-Gate Migration Scorecard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6691908" y="1405979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마이그레이션 품질 5관문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457200" y="1653480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93675" y="1751856"/>
            <a:ext cx="50750" cy="180975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5927" y="1789956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추상화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863328" y="1751856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LLMClientPort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863328" y="1847106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 종속 위험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823246" y="1785193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091732" y="1751856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DI + ContextVar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91732" y="1847106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Anthropic·OpenAI·ZhipuAI 3-Provider 추상화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6423422" y="1785193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691908" y="1751856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691908" y="1847106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 수정 0줄로 Java 도메인 교체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57200" y="2094607"/>
            <a:ext cx="8229600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93675" y="2192982"/>
            <a:ext cx="50750" cy="19050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45927" y="2235845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이벤트 시스템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863328" y="2197745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Bus 3-Tier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863328" y="2292995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 확장 불가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3823246" y="2231082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F97316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091732" y="2197745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HookSystem 46 Events 8 Categories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091732" y="2292995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핸들러 · StuckDetector 120s · 에러 격리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6423422" y="2231082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691908" y="2192982"/>
            <a:ext cx="18955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HookSystem 상속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691908" y="2297757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lifecycle 동일 패턴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57200" y="2545259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93675" y="2643634"/>
            <a:ext cx="50750" cy="180975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45927" y="2681734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장애 복원력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863328" y="2643634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Breaker + Jitter Backoff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1863328" y="2738884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 장애 시 전체 중단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3823246" y="2676971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EF4444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4091732" y="2643634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3-Provider Failover (CB ×3)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4091732" y="2738884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 실패→60s OPEN→Half-Open · Exp. Backoff ±25% Jitter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423422" y="2676971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691908" y="2643634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LLM Failover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691908" y="2738884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CB 패턴 마이그레이션 내성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57200" y="4531221"/>
            <a:ext cx="8229600" cy="367903"/>
          </a:xfrm>
          <a:prstGeom prst="roundRect">
            <a:avLst>
              <a:gd name="adj" fmla="val 1380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2" name="Shape 60"/>
          <p:cNvSpPr/>
          <p:nvPr/>
        </p:nvSpPr>
        <p:spPr>
          <a:xfrm>
            <a:off x="476250" y="4531221"/>
            <a:ext cx="0" cy="367903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/>
          <p:nvPr/>
        </p:nvSpPr>
        <p:spPr>
          <a:xfrm>
            <a:off x="622250" y="4581971"/>
            <a:ext cx="809635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재사용 비용 vs 재설계 비용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Eco²에서 검증된 4개 패턴을 재사용하면 Eco² 제약(Swiss Cheese 3-Layer 한계, 단일 Provider 종속)도 함께 온다. 그러나 패턴을 버리면 REODE 출시에 수주가 더 필요했다. 검증된 패턴을 확장하는 길을 선택했고, REODE는 GEODE 포크로 </a:t>
            </a: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빌드를 5h 48m 안에 달성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했다.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457200" y="4987975"/>
            <a:ext cx="347010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Cheese→5-Layer · LLMClientPort→Port/Adapter · Event Bus→HookSystem · Circuit Breaker→3-Provider Failover</a:t>
            </a:r>
            <a:endParaRPr lang="en-US" sz="500" dirty="0"/>
          </a:p>
        </p:txBody>
      </p:sp>
      <p:sp>
        <p:nvSpPr>
          <p:cNvPr id="65" name="Text 63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35</a:t>
            </a:r>
            <a:endParaRPr lang="en-US" sz="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901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790877" y="1818977"/>
            <a:ext cx="35620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16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90877" y="2136428"/>
            <a:ext cx="3562097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코드가 아닌</a:t>
            </a:r>
            <a:endParaRPr lang="en-US" sz="2800" dirty="0"/>
          </a:p>
          <a:p>
            <a:pPr marL="0" indent="0" algn="ctr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제어 계층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90877" y="3096071"/>
            <a:ext cx="3562097" cy="228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23 </a:t>
            </a:r>
            <a:r>
              <a:rPr lang="en-US" sz="1000" dirty="0">
                <a:solidFill>
                  <a:srgbClr val="818CF8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r>
              <a:rPr lang="en-US" sz="1000" dirty="0">
                <a:solidFill>
                  <a:srgbClr val="818CF8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CAN 허용 </a:t>
            </a:r>
            <a:r>
              <a:rPr lang="en-US" sz="1000" dirty="0">
                <a:solidFill>
                  <a:srgbClr val="818CF8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r>
              <a:rPr lang="en-US" sz="1000" dirty="0">
                <a:solidFill>
                  <a:srgbClr val="818CF8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8-Step </a:t>
            </a:r>
            <a:r>
              <a:rPr lang="en-US" sz="1000" dirty="0">
                <a:solidFill>
                  <a:srgbClr val="818CF8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r>
              <a:rPr lang="en-US" sz="1000" dirty="0">
                <a:solidFill>
                  <a:srgbClr val="818CF8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Frontier Mining </a:t>
            </a:r>
            <a:r>
              <a:rPr lang="en-US" sz="1000" dirty="0">
                <a:solidFill>
                  <a:srgbClr val="818CF8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r>
              <a:rPr lang="en-US" sz="1000" dirty="0">
                <a:solidFill>
                  <a:srgbClr val="818CF8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4-Persona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114949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4987975"/>
            <a:ext cx="30224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18CF8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S21 – S25</a:t>
            </a:r>
            <a:endParaRPr lang="en-US" sz="500" dirty="0"/>
          </a:p>
        </p:txBody>
      </p:sp>
      <p:sp>
        <p:nvSpPr>
          <p:cNvPr id="8" name="Text 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18CF8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35</a:t>
            </a:r>
            <a:endParaRPr lang="en-US" sz="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Mirror Table: Scaffold ↔ Runtime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Runtime을 설계했기 때문에 동형 구조가 나왔다. 의도한 것이 아닌 좋은 설계의 부산물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8051"/>
            <a:ext cx="2768798" cy="3121521"/>
          </a:xfrm>
          <a:prstGeom prst="roundRect">
            <a:avLst>
              <a:gd name="adj" fmla="val 275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979289"/>
            <a:ext cx="11805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 (빌드 타임)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19125" y="1253877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46075" y="134272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23 CANNOT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46075" y="1482328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발산하지 않도록 23개 금지 규칙을 CLAUDE.md에 주입했다. 위반하면 CI가 </a:t>
            </a:r>
            <a:r>
              <a:rPr lang="en-US" sz="700" dirty="0" err="1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머지를</a:t>
            </a: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 err="1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</a:t>
            </a: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9125" y="1856929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6075" y="1945779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 → 8-Step Loop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46075" y="2085380"/>
            <a:ext cx="2317998" cy="21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리서치 없이 구현하면 중복 설계가 발생했기 때문에 8-Step Loop가 모든 PR에 Socratic </a:t>
            </a:r>
            <a:r>
              <a:rPr lang="en-US" sz="700" dirty="0" err="1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Gate를</a:t>
            </a: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 err="1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강제</a:t>
            </a: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9125" y="2459980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6075" y="2548830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 + 4-Persona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46075" y="2688431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독자 설계만 하면 이미 해결된 문제를 재발명했기 때문에 4개 하네스를 리서치하고 3/4 수렴 규칙으로 채택 </a:t>
            </a:r>
            <a:r>
              <a:rPr lang="en-US" sz="700" dirty="0" err="1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여부를</a:t>
            </a: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 err="1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</a:t>
            </a: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19125" y="3063032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6075" y="3151882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40 Releases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46075" y="3291483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이유가 사라지면 같은 실수를 반복하기 때문에 v0.6 → v0.32 40회 릴리스의 모든 피봇 </a:t>
            </a:r>
            <a:r>
              <a:rPr lang="en-US" sz="700" dirty="0" err="1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WHY를</a:t>
            </a:r>
            <a:r>
              <a:rPr lang="ko-KR" alt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 err="1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CHANGELOG에</a:t>
            </a: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 err="1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기록</a:t>
            </a: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480941" y="2655838"/>
            <a:ext cx="204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⟺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14151" y="2925663"/>
            <a:ext cx="1344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동형</a:t>
            </a:r>
            <a:endParaRPr lang="en-US" sz="6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936950" y="838051"/>
            <a:ext cx="2768798" cy="3240173"/>
          </a:xfrm>
          <a:prstGeom prst="roundRect">
            <a:avLst>
              <a:gd name="adj" fmla="val 275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098875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213175" y="979289"/>
            <a:ext cx="10769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(실행 타임)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098875" y="1253877"/>
            <a:ext cx="2444948" cy="57257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25826" y="134272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 (PolicyChain)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225826" y="1482328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규칙은 빌드 타임에 검문하고, 46 Hook Events는 실행 타임에 정책 위반을 즉시 차단한다. 같은 원칙, 다른 계층.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098875" y="1902649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225826" y="1991499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50 rounds × 200 turns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225826" y="2131100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Scaffold가 설계한 50R×200T 루프 구조가 Runtime에서 그대로 실행된다. 실측 평균 종료: 4.2 라운드.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098875" y="2523988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225826" y="2612838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3-Provider Failover + 5-Tier Safety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225826" y="2752439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Mining에서 3/4 수렴으로 선택한 3-Provider Failover + 5-Tier Safety가 Runtime에서 단일 장애점 0을 달성했다.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98875" y="3250103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225826" y="3338953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 Tests · 187 Modules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225826" y="3478554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없이 커밋을 허용하면 회귀가 누적됐기 때문에 70% 테스트 비율을 CANNOT으로 강제했다. 결과: 3,216 Tests, 40/40 무회귀.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807250" y="838051"/>
            <a:ext cx="1879550" cy="3240173"/>
          </a:xfrm>
          <a:prstGeom prst="roundRect">
            <a:avLst>
              <a:gd name="adj" fmla="val 405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905914" y="1313402"/>
            <a:ext cx="15868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구조적 동형인가?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905914" y="1513427"/>
            <a:ext cx="158681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설계가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아닌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발견이었</a:t>
            </a:r>
            <a:r>
              <a:rPr lang="ko-KR" alt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습니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Scaffold가 성숙하면서 Runtime과 자연스럽게 동형 구조가 됐고, 의도한 것이 아니라 좋은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설계의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부산물</a:t>
            </a:r>
            <a:r>
              <a:rPr lang="ko-KR" alt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</a:t>
            </a:r>
            <a:r>
              <a:rPr lang="ko-KR" alt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가깝습니다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905914" y="2122431"/>
            <a:ext cx="1555700" cy="535484"/>
          </a:xfrm>
          <a:prstGeom prst="roundRect">
            <a:avLst>
              <a:gd name="adj" fmla="val 948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007414" y="2198631"/>
            <a:ext cx="1379753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규칙 위반 → 빌드 실패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7007414" y="2330493"/>
            <a:ext cx="1379753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규칙 위반 → 실행 차단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7007414" y="2475154"/>
            <a:ext cx="1379753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원칙, 다른 계층에서 작동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6905914" y="2738877"/>
            <a:ext cx="155570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6905914" y="2819840"/>
            <a:ext cx="158681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6905914" y="2940391"/>
            <a:ext cx="1586814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동형 유지 비용: Scaffold 변경 시 Runtime도 동기화 필요. 수익: 설계 결정이 코드로 직접 흐른다.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57200" y="4978450"/>
            <a:ext cx="99872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1,174 커밋 · 36일</a:t>
            </a:r>
            <a:endParaRPr lang="en-US" sz="500" dirty="0"/>
          </a:p>
        </p:txBody>
      </p:sp>
      <p:sp>
        <p:nvSpPr>
          <p:cNvPr id="49" name="Text 47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35</a:t>
            </a:r>
            <a:endParaRPr lang="en-US" sz="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CANNOT: 6 핵심 규칙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LLM에게 자유를 주되 발산을 막는 헌법: 금지 규칙이 명확할수록 허용 공간이 넓어진다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5" y="974527"/>
            <a:ext cx="381643" cy="12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격리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1026563" y="971401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108252" y="984052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606326" y="1133177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없이 코드 작업 금지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06326" y="1307753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에이전트가 main 브랜치에 직접 쓰면 병렬 작업 충돌이 발생한다. 각 태스크는 반드시 독립 worktree에서 실행돼야 한다.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448050" y="847576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7176" y="974527"/>
            <a:ext cx="522505" cy="1459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게이트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133713" y="971401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187970" y="984052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3597176" y="1133177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lint/type/test 실패 상태 커밋 금지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97176" y="1307753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실패한 상태의 커밋은 다음 에이전트를 오염시킨다. CI가 3종 체크를 모두 통과한 후에만 머지를 허용한다.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57200" y="2205484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06325" y="2332434"/>
            <a:ext cx="629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과잉 구현 방지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299228" y="2329309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362629" y="2341959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606326" y="2491085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승인 없이 구현 착수 금지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06326" y="2665661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LLM은 승인 없이 구현하려는 성질이 있다. 설계 문서에 인간 승인 서명이 없으면 첫 줄도 작성하지 않는다.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448050" y="2205484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597176" y="2332434"/>
            <a:ext cx="338280" cy="158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추적성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964412" y="2329309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036957" y="2341959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597176" y="2491085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없이 기능 커밋 금지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597176" y="2665661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PR의 결정 근거가 사라지면 재설계 비용이 폭증한다. 모든 기능 커밋은 CHANGELOG 항목을 동반해야 한다.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57200" y="3563392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06326" y="3690342"/>
            <a:ext cx="4801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브랜치 보호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115431" y="3687217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187976" y="3699867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606326" y="3848993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main/develop 직접 push 금지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06326" y="4023568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보호 브랜치에 직접 쓰면 병렬 에이전트 간 충돌이 발생한다. 모든 변경은 worktree PR을 통해서만 머지된다.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448050" y="3563392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597176" y="3690342"/>
            <a:ext cx="47252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버전 일관성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161145" y="3687217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224546" y="3699867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3597176" y="3848993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버전 번호 4곳 불일치 금지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597176" y="4023568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pyproject.toml · CHANGELOG · __version__ · API 응답의 4곳이 불일치하면 배포 검증이 실패한다. 기능 커밋 전 동기화를 강제한다.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477000" y="847576"/>
            <a:ext cx="2209800" cy="1584722"/>
          </a:xfrm>
          <a:prstGeom prst="roundRect">
            <a:avLst>
              <a:gd name="adj" fmla="val 480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51575" y="996702"/>
            <a:ext cx="403497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2800" dirty="0"/>
          </a:p>
        </p:txBody>
      </p:sp>
      <p:sp>
        <p:nvSpPr>
          <p:cNvPr id="44" name="Text 42"/>
          <p:cNvSpPr/>
          <p:nvPr/>
        </p:nvSpPr>
        <p:spPr>
          <a:xfrm>
            <a:off x="7123360" y="1234828"/>
            <a:ext cx="905071" cy="247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 규칙 추가</a:t>
            </a:r>
            <a:endParaRPr lang="en-US" sz="700" dirty="0"/>
          </a:p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수록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651575" y="1559570"/>
            <a:ext cx="18978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 17개 규칙은 CLAUDE.md 425줄에 명시. 하나라도 위반하면 CI가 머지를 차단한다.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651575" y="1902172"/>
            <a:ext cx="1860649" cy="381000"/>
          </a:xfrm>
          <a:prstGeom prst="roundRect">
            <a:avLst>
              <a:gd name="adj" fmla="val 1333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753076" y="1978372"/>
            <a:ext cx="1690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타이포그래피 4개 · 레이아웃 5개</a:t>
            </a:r>
            <a:endParaRPr lang="en-US" sz="600" dirty="0"/>
          </a:p>
          <a:p>
            <a:pPr marL="0" indent="0" algn="l">
              <a:lnSpc>
                <a:spcPts val="90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내러티브 4개 · 운영 4개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477000" y="2508498"/>
            <a:ext cx="2209800" cy="2349401"/>
          </a:xfrm>
          <a:prstGeom prst="roundRect">
            <a:avLst>
              <a:gd name="adj" fmla="val 3448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651575" y="2657624"/>
            <a:ext cx="38100" cy="15240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753076" y="2671911"/>
            <a:ext cx="854732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CAN: 허용 공간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633287" y="2882569"/>
            <a:ext cx="1997124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제약이 명확할수록 허용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공간이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넓어</a:t>
            </a:r>
            <a:r>
              <a:rPr lang="ko-KR" alt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집니다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</a:p>
          <a:p>
            <a:pPr marL="0" indent="0" algn="l">
              <a:lnSpc>
                <a:spcPts val="1050"/>
              </a:lnSpc>
              <a:buNone/>
            </a:pP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금지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규칙이 경계를 정하면, 그 안에서 LLM은 구체적 숫자, DAG, 인과 서술로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자유롭게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ko-KR" alt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행동합니다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651575" y="4451598"/>
            <a:ext cx="1860649" cy="257175"/>
          </a:xfrm>
          <a:prstGeom prst="roundRect">
            <a:avLst>
              <a:gd name="adj" fmla="val 1975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753076" y="4527798"/>
            <a:ext cx="169080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문제→설계→결과 인과 흐름 시각화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08649"/>
            <a:ext cx="17290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02915" y="4956274"/>
            <a:ext cx="1461424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전체 규칙: 제약이 명확할수록 자유가 넓어진다</a:t>
            </a:r>
            <a:endParaRPr lang="en-US" sz="500" dirty="0"/>
          </a:p>
        </p:txBody>
      </p:sp>
      <p:sp>
        <p:nvSpPr>
          <p:cNvPr id="56" name="Text 54"/>
          <p:cNvSpPr/>
          <p:nvPr/>
        </p:nvSpPr>
        <p:spPr>
          <a:xfrm>
            <a:off x="8492728" y="4961037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35</a:t>
            </a:r>
            <a:endParaRPr lang="en-US" sz="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Development Loop + Socratic Gate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키보드에 손이 닿는 순간 하네스는 실패하기 때문에 스캐폴딩이 구현보다 앞서야 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822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Socratic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6822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요구사항 정제: 5W로 전제 검증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84785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3835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4937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Frontier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14937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Code/Devin GAP 리서치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342900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950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73052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Design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73052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인터페이스 + Trade-off 결정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501015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0065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31167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Implement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31167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테스트 비율 목표 구현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58701" y="2828925"/>
            <a:ext cx="2568476" cy="95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150495" y="2790825"/>
            <a:ext cx="653623" cy="10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시 ①로 복귀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753594" y="2828925"/>
            <a:ext cx="2568476" cy="95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2820" y="2781300"/>
            <a:ext cx="546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57200" y="2949476"/>
            <a:ext cx="1327249" cy="498277"/>
          </a:xfrm>
          <a:prstGeom prst="roundRect">
            <a:avLst>
              <a:gd name="adj" fmla="val 1019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68226" y="3047851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⑧ CHANGELOG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568226" y="3177927"/>
            <a:ext cx="11273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이력 기록: 다음 Frontier 입력으로 연결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184785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3835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14937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 Release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4937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+ Semver 태깅 · 39회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42900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950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73052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E2E Verify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373052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 테스트 + Hook 회귀 검사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501015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0065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31167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4-Persona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31167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Architect/Security/QA/Perf 리뷰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654850" y="838051"/>
            <a:ext cx="2031950" cy="1657796"/>
          </a:xfrm>
          <a:prstGeom prst="roundRect">
            <a:avLst>
              <a:gd name="adj" fmla="val 459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16775" y="974527"/>
            <a:ext cx="1742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(①)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816775" y="1149102"/>
            <a:ext cx="1742262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반드시 통과해야 하는 5가지 질문: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816775" y="1333054"/>
            <a:ext cx="1708100" cy="6762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marL="76200" indent="-76200" algn="l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 기능이 필요한가?</a:t>
            </a:r>
            <a:endParaRPr lang="en-US" sz="700" dirty="0"/>
          </a:p>
          <a:p>
            <a:pPr marL="76200" indent="-76200" algn="l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실패 모드가 있는가?</a:t>
            </a:r>
            <a:endParaRPr lang="en-US" sz="700" dirty="0"/>
          </a:p>
          <a:p>
            <a:pPr marL="76200" indent="-76200" algn="l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Trade-off는 무엇인가?</a:t>
            </a:r>
            <a:endParaRPr lang="en-US" sz="700" dirty="0"/>
          </a:p>
          <a:p>
            <a:pPr marL="76200" indent="-76200" algn="l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가능한가?</a:t>
            </a:r>
            <a:endParaRPr lang="en-US" sz="700" dirty="0"/>
          </a:p>
          <a:p>
            <a:pPr marL="76200" indent="-76200" algn="l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CHANGELOG에 이유를 쓸 수 있는가?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816775" y="2110829"/>
            <a:ext cx="174226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Bef>
                <a:spcPts val="4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5가지를 답하지 못하면 코드 작성 불가이며 루프가 ①로 되돌아간다.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654850" y="2597348"/>
            <a:ext cx="2031950" cy="1616125"/>
          </a:xfrm>
          <a:prstGeom prst="roundRect">
            <a:avLst>
              <a:gd name="adj" fmla="val 3143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791325" y="2695724"/>
            <a:ext cx="179418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8단계인가?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791325" y="2895600"/>
            <a:ext cx="179418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5단계(Plan→Implement→Test→Merge→Deploy)면 충분하지 않은가?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791325" y="3344466"/>
            <a:ext cx="847725" cy="770632"/>
          </a:xfrm>
          <a:prstGeom prst="roundRect">
            <a:avLst>
              <a:gd name="adj" fmla="val 494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880175" y="3407866"/>
            <a:ext cx="6834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 부재 시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6880175" y="3518892"/>
            <a:ext cx="683425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Audit·Socratic Gate 없으면 불필요한 구현이 50%에 달하며 잘못된 전제로 PR이 병합된다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7702451" y="3344466"/>
            <a:ext cx="847874" cy="770632"/>
          </a:xfrm>
          <a:prstGeom prst="roundRect">
            <a:avLst>
              <a:gd name="adj" fmla="val 494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791301" y="3407866"/>
            <a:ext cx="68357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8단계 추가 비용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7791301" y="3518892"/>
            <a:ext cx="683577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①② Socratic+Frontier로 착수가 느리지만, 회귀 없는 39회 릴리스가 증거다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57200" y="4978450"/>
            <a:ext cx="156161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21 Skills · LEARNINGS.md 패턴 축적</a:t>
            </a:r>
            <a:endParaRPr lang="en-US" sz="500" dirty="0"/>
          </a:p>
        </p:txBody>
      </p:sp>
      <p:sp>
        <p:nvSpPr>
          <p:cNvPr id="55" name="Text 53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35</a:t>
            </a:r>
            <a:endParaRPr lang="en-US" sz="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Mining: 4개 하네스 GAP 분석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구현하기 전에 먼저 읽었고, 3/4 수렴 규칙으로 차용 여부를 결정했다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58602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93675" y="1123652"/>
            <a:ext cx="261043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패턴: LLM이 tool_use를 반환하는 한 루프를 유지하는 구조를 직접 확인했다. GEODE AgenticLoop 50 라운드 설계의 직접 근거가 됐다.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93675" y="2500461"/>
            <a:ext cx="2559248" cy="212527"/>
          </a:xfrm>
          <a:prstGeom prst="roundRect">
            <a:avLst>
              <a:gd name="adj" fmla="val 2390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95176" y="2563862"/>
            <a:ext cx="24033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루프 계속 조건 + end_turn 종료 패턴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3365599" y="834777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02075" y="958602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autoresearch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502075" y="1123652"/>
            <a:ext cx="261043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P1 제약 기반 설계, P4 래칫(되돌아가지 않음), P6 컨텍스트 예산 명시: 이 세 원칙이 CLAUDE.md 규칙 체계의 뼈대가 됐다.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502075" y="2500461"/>
            <a:ext cx="2559248" cy="212527"/>
          </a:xfrm>
          <a:prstGeom prst="roundRect">
            <a:avLst>
              <a:gd name="adj" fmla="val 2390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603575" y="2563862"/>
            <a:ext cx="24033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P1/P4/P6 → CANNOT 규칙 3종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457200" y="2913013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3675" y="3036838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93675" y="3201888"/>
            <a:ext cx="261043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Gateway, Session Key, Lane Queue, Plugin 4-계층 디스패치 구조에서 에이전트 요청을 분리된 채널로 라우팅하는 아이디어를 여기서 얻었다.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93675" y="4578697"/>
            <a:ext cx="2559248" cy="212527"/>
          </a:xfrm>
          <a:prstGeom prst="roundRect">
            <a:avLst>
              <a:gd name="adj" fmla="val 2390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95176" y="4642098"/>
            <a:ext cx="24033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SessionKey 격리 + LaneQueue 우선순위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3365599" y="2913013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502075" y="3036838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CLI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502075" y="3201888"/>
            <a:ext cx="261043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격리, .owner 파일 보호, Dumb Platform 원칙으로 Git 충돌 없이 여러 에이전트가 병렬 작업할 수 있는 구조의 실증 사례였다.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502075" y="4578697"/>
            <a:ext cx="2559248" cy="212527"/>
          </a:xfrm>
          <a:prstGeom prst="roundRect">
            <a:avLst>
              <a:gd name="adj" fmla="val 2390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03575" y="4642098"/>
            <a:ext cx="24033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Worktree 의무화 → CANNOT Git 규칙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299299" y="834777"/>
            <a:ext cx="2387501" cy="1529655"/>
          </a:xfrm>
          <a:prstGeom prst="roundRect">
            <a:avLst>
              <a:gd name="adj" fmla="val 498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461224" y="971252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575524" y="985540"/>
            <a:ext cx="646712" cy="129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3/4 수렴 규칙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461224" y="1199852"/>
            <a:ext cx="210492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하네스 중 3개 이상이 동일한 패턴을 사용하면 GEODE도 채택한다. 1-2개만 사용하면 독자 설계로 간다. 단순 다수결이지만 프론티어의 수렴은 신뢰할 수 있는 신호다.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461224" y="1808857"/>
            <a:ext cx="2063651" cy="419100"/>
          </a:xfrm>
          <a:prstGeom prst="roundRect">
            <a:avLst>
              <a:gd name="adj" fmla="val 1212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562725" y="1885057"/>
            <a:ext cx="3242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3/4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956822" y="1894136"/>
            <a:ext cx="624524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수렴 시 채택</a:t>
            </a:r>
            <a:endParaRPr lang="en-US" sz="700" dirty="0"/>
          </a:p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미달 시 독자 설계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6299299" y="2440632"/>
            <a:ext cx="2387501" cy="2474416"/>
          </a:xfrm>
          <a:prstGeom prst="roundRect">
            <a:avLst>
              <a:gd name="adj" fmla="val 319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461224" y="2577108"/>
            <a:ext cx="38100" cy="15240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575524" y="2591395"/>
            <a:ext cx="10058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→ 설계 영역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461224" y="2792909"/>
            <a:ext cx="210492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하네스 중 어느 것도 해결하지 않은 문제 3가지: 장기 자율 실행(비용 폭주 방지), LLM 비용 제어(토큰 예산 강제), 도메인 포터빌리티(게임→보험 교체). 이것이 GEODE가 독자 설계한 영역이다.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57200" y="4978450"/>
            <a:ext cx="178856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Frontier Mining: 읽고 차용하고, 없으면 설계했다</a:t>
            </a:r>
            <a:endParaRPr lang="en-US" sz="500" dirty="0"/>
          </a:p>
        </p:txBody>
      </p:sp>
      <p:sp>
        <p:nvSpPr>
          <p:cNvPr id="38" name="Text 36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35</a:t>
            </a:r>
            <a:endParaRPr lang="en-US" sz="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4-Persona Review: 구현 전 맹점 제거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혼자 설계하면 Confirmation Bias로 실패하기 때문에 4인격이 독립 관점으로 리뷰하여 서로의 맹점을 보완한다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76250" y="834777"/>
            <a:ext cx="0" cy="469404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34901" y="936278"/>
            <a:ext cx="4663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34901" y="1069628"/>
            <a:ext cx="4663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1219051" y="936278"/>
            <a:ext cx="4832247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의존성 역전 여부, 인터페이스 일관성, v0.40 생존 가능성. 체크 항목: 상위 레이어가 하위를 직접 임포트하는가? 플러그인 교체 시 코어 수정이 발생하는가?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57200" y="1367582"/>
            <a:ext cx="5638949" cy="422077"/>
          </a:xfrm>
          <a:prstGeom prst="roundRect">
            <a:avLst>
              <a:gd name="adj" fmla="val 1203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76250" y="1367582"/>
            <a:ext cx="0" cy="422077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34901" y="1469082"/>
            <a:ext cx="50535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4901" y="1602432"/>
            <a:ext cx="50535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Simplicity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257300" y="1469082"/>
            <a:ext cx="4793233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 비용, 지연 시간, 캐시 히트율 관점. 체크 항목: 이 LLM 호출을 줄일 수 있는가? 컨텍스트를 재사용하는가? 배치 처리가 가능한가?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57200" y="1853059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76250" y="1853059"/>
            <a:ext cx="0" cy="469404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34901" y="1954560"/>
            <a:ext cx="64790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Steinberger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4901" y="2087910"/>
            <a:ext cx="6479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1397050" y="1954560"/>
            <a:ext cx="4650688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인젝션, 권한 에스컬레이션, Trust Model 위반. 체크 항목: 이 경로가 샌드박스를 우회하는가? 외부 입력이 직접 shell로 전달되는가?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7200" y="2385864"/>
            <a:ext cx="5638949" cy="422077"/>
          </a:xfrm>
          <a:prstGeom prst="roundRect">
            <a:avLst>
              <a:gd name="adj" fmla="val 1203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76250" y="2385864"/>
            <a:ext cx="0" cy="422077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34901" y="2487364"/>
            <a:ext cx="4663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Cherny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4901" y="2620714"/>
            <a:ext cx="4663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219051" y="2487364"/>
            <a:ext cx="4832247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엣지 케이스, 회귀 가능성, 커버리지. 체크 항목: 이 코드가 3,216 테스트를 통과하는가? 새로운 경로가 기존 픽스처를 깨는가?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197650" y="834777"/>
            <a:ext cx="2489150" cy="1424880"/>
          </a:xfrm>
          <a:prstGeom prst="roundRect">
            <a:avLst>
              <a:gd name="adj" fmla="val 534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359575" y="971252"/>
            <a:ext cx="38100" cy="152400"/>
          </a:xfrm>
          <a:prstGeom prst="roundRect">
            <a:avLst>
              <a:gd name="adj" fmla="val 66667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473875" y="985540"/>
            <a:ext cx="912953" cy="125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.env 보안 케이스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359575" y="1187053"/>
            <a:ext cx="2208606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Steinberger 리뷰가 실제로 막은 사례. 초기 설계에서 에이전트가 환경변수를 직접 읽어 LLM 프롬프트에 삽입하는 경로가 있었다. API 키 유출 벡터. CANNOT 규칙에 ".env 직접 참조 금지"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추가로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359575" y="1783259"/>
            <a:ext cx="2165300" cy="339923"/>
          </a:xfrm>
          <a:prstGeom prst="roundRect">
            <a:avLst>
              <a:gd name="adj" fmla="val 1494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461075" y="1846659"/>
            <a:ext cx="2001545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agent reads .env → injects into prompt</a:t>
            </a:r>
            <a:endParaRPr lang="en-US" sz="600" dirty="0"/>
          </a:p>
          <a:p>
            <a:pPr marL="0" indent="0" algn="l">
              <a:lnSpc>
                <a:spcPts val="84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env vars injected at harness boundary only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6197650" y="2335857"/>
            <a:ext cx="2489150" cy="1065313"/>
          </a:xfrm>
          <a:prstGeom prst="roundRect">
            <a:avLst>
              <a:gd name="adj" fmla="val 3061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359575" y="2472333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473875" y="2486620"/>
            <a:ext cx="528904" cy="13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근거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359575" y="2688134"/>
            <a:ext cx="2208606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r>
              <a:rPr lang="en-US" altLang="ko-KR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-Persona</a:t>
            </a:r>
            <a:r>
              <a:rPr lang="ko-KR" alt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는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컨텍스트에서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역할을 명시적으로 전환하는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프롬프트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</a:p>
          <a:p>
            <a:pPr marL="0" indent="0" algn="l">
              <a:lnSpc>
                <a:spcPts val="1050"/>
              </a:lnSpc>
              <a:buNone/>
            </a:pP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비용은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1회 추론이고, 효과는 4가지 시각의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체</a:t>
            </a:r>
            <a:r>
              <a:rPr lang="ko-KR" alt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크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</a:p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 Bias를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구조적으로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제거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57200" y="4978450"/>
            <a:ext cx="203843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Beck × Karpathy × Steinberger × Cherny: 4인격 1세션</a:t>
            </a:r>
            <a:endParaRPr lang="en-US" sz="500" dirty="0"/>
          </a:p>
        </p:txBody>
      </p:sp>
      <p:sp>
        <p:nvSpPr>
          <p:cNvPr id="37" name="Text 35"/>
          <p:cNvSpPr/>
          <p:nvPr/>
        </p:nvSpPr>
        <p:spPr>
          <a:xfrm>
            <a:off x="8457456" y="4978450"/>
            <a:ext cx="23393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26b / 35</a:t>
            </a:r>
            <a:endParaRPr lang="en-US" sz="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Velocity: Phase 0-5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누적될수록 다음 스캐폴딩이 빨라지는 복리 구조, 36일 만에 </a:t>
            </a: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속도 상승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9421" y="1657796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39421" y="1753046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600" dirty="0"/>
          </a:p>
        </p:txBody>
      </p:sp>
      <p:sp>
        <p:nvSpPr>
          <p:cNvPr id="8" name="Text 6"/>
          <p:cNvSpPr/>
          <p:nvPr/>
        </p:nvSpPr>
        <p:spPr>
          <a:xfrm>
            <a:off x="1447651" y="1684734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676102" y="1559421"/>
            <a:ext cx="4394746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12578" y="1645146"/>
            <a:ext cx="42042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Bootstrap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812578" y="1765697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초안, 첫 CANNOT 규칙, 단일 Skill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6162190" y="1705421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 기준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439421" y="2103686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39421" y="2198936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1-2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447651" y="2130623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76102" y="2000548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812578" y="2086273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도입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812578" y="2216348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5-질문 게이트 → 회귀 이슈 60% 감소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6162190" y="2151311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2.5×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439421" y="2554337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39421" y="2649587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447651" y="2581275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676102" y="2451199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812578" y="2536924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 + 8-Step Loop 확립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812578" y="2667000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 → 설계 결정 자동화 시작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162190" y="2601962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5×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39421" y="3004989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39421" y="3100239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447651" y="303192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676102" y="2901851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812578" y="2987576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+ Hook 자율 실행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812578" y="3117652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직접 코드 생성 시작 → PR 500+ 돌파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162190" y="3052614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8×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39421" y="3455640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39421" y="3550890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4-5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1447651" y="3482578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676102" y="3352502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812578" y="3438227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이식: Domain Portability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1812578" y="3568303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v0.13 하네스 → REODE 209 모듈 · 3,274 Tests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162190" y="3503265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12×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39421" y="3906292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439421" y="4001542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36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1447651" y="393323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676102" y="3803154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812578" y="3888879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v0.32.0: Long-Running Safety 완성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812578" y="4018955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Plan-first + Provider-aware Compaction + Cost Guard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6162190" y="3953917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807250" y="1055043"/>
            <a:ext cx="1879550" cy="996851"/>
          </a:xfrm>
          <a:prstGeom prst="roundRect">
            <a:avLst>
              <a:gd name="adj" fmla="val 764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953618" y="1216968"/>
            <a:ext cx="158681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endParaRPr lang="en-US" sz="3000" dirty="0"/>
          </a:p>
        </p:txBody>
      </p:sp>
      <p:sp>
        <p:nvSpPr>
          <p:cNvPr id="50" name="Text 48"/>
          <p:cNvSpPr/>
          <p:nvPr/>
        </p:nvSpPr>
        <p:spPr>
          <a:xfrm>
            <a:off x="6953618" y="1683693"/>
            <a:ext cx="158681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Velocity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953618" y="1804243"/>
            <a:ext cx="15868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 대비 Day 36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6807250" y="2153394"/>
            <a:ext cx="1879550" cy="968276"/>
          </a:xfrm>
          <a:prstGeom prst="roundRect">
            <a:avLst>
              <a:gd name="adj" fmla="val 787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969175" y="2294632"/>
            <a:ext cx="338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일일 커밋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327231" y="2289870"/>
            <a:ext cx="2015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32.2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969175" y="2485132"/>
            <a:ext cx="27491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PRs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8296126" y="2480370"/>
            <a:ext cx="23332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969175" y="2680395"/>
            <a:ext cx="37799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8411914" y="2670870"/>
            <a:ext cx="11522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969175" y="2870895"/>
            <a:ext cx="15696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기간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8324106" y="2861370"/>
            <a:ext cx="2047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6807250" y="3223171"/>
            <a:ext cx="1879550" cy="602605"/>
          </a:xfrm>
          <a:prstGeom prst="roundRect">
            <a:avLst>
              <a:gd name="adj" fmla="val 843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6934200" y="3324671"/>
            <a:ext cx="165816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스캐폴딩을 만든다. 각 Phase가 다음 Phase의 속도를 올리는 복리 구조이기 때문에 이것이 Harness Engineering이다.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6807250" y="3927277"/>
            <a:ext cx="1879550" cy="767507"/>
          </a:xfrm>
          <a:prstGeom prst="roundRect">
            <a:avLst>
              <a:gd name="adj" fmla="val 661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4" name="Shape 62"/>
          <p:cNvSpPr/>
          <p:nvPr/>
        </p:nvSpPr>
        <p:spPr>
          <a:xfrm>
            <a:off x="6826300" y="3927277"/>
            <a:ext cx="0" cy="767507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3"/>
          <p:cNvSpPr/>
          <p:nvPr/>
        </p:nvSpPr>
        <p:spPr>
          <a:xfrm>
            <a:off x="6946850" y="3978027"/>
            <a:ext cx="1671218" cy="666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초기 투자 vs 복리 가속</a:t>
            </a: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Phase 0-1에서 Socratic Gate·Frontier Mining에 시간을 썼고, 구현 속도를 포기하고 정확성을 선택했기 때문에 Phase 3부터 회귀 없이 하루 32.2 커밋이 가능해졌다.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457200" y="4987975"/>
            <a:ext cx="167243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1,174 commits · Feb 21 to Mar 28, 2026</a:t>
            </a:r>
            <a:endParaRPr lang="en-US" sz="500" dirty="0"/>
          </a:p>
        </p:txBody>
      </p:sp>
      <p:sp>
        <p:nvSpPr>
          <p:cNvPr id="67" name="Text 65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35</a:t>
            </a:r>
            <a:endParaRPr lang="en-US" sz="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01"/>
            <a:ext cx="50750" cy="177701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23676"/>
            <a:ext cx="17941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 · CHANGELOG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17302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Evolution: v0.6 → v0.32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74477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릴리스, 6 아키텍처 피봇: 각 결정에는 왜(Why)가 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43993" y="1438573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219051" y="1425773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77689" y="1552724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447502" y="1362373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583978" y="1448098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도입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83978" y="1578173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로직이 인프라에 강결합 → Port/Adapter 분리. 이후 REODE 이식이 가능해진 기반 결정.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443993" y="1863923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v0.10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219051" y="1851124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277689" y="1978075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447502" y="1787723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83978" y="1873448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Pivot: 도메인 분석 → 하네스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583978" y="2003524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GameIP 분석 결과보다 자율 실행 인프라가 재사용 가치가 높다고 판단. 어필 포인트 전환.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43993" y="2289274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v0.14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219051" y="2276475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277689" y="2403425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447502" y="2213074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583978" y="2298799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Guard 제거 → ContextVar 통합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583978" y="2428875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Guard 모듈이 ContextVar 흐름과 충돌 → 통합 TokenTracker로 단순화. 비용 추적 정확도 향상.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443993" y="2714625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v0.18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219051" y="2701826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277689" y="2828776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447502" y="2638425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583978" y="2724150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System 독립 추출 → 46 Events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583978" y="2854226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 → Priority 핸들러 체인. 재귀 개선 루프와 자동 학습이 Hook에 의존하는 구조로 전환.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43993" y="3139976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v0.24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219051" y="312717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277689" y="3254127"/>
            <a:ext cx="9525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447502" y="3063776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583978" y="3149501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삭제 → 45 Catalog auto-discovery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583978" y="3279577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3계층(Registry+Catalog+Config) → 2계층. Proxy stub 9개 제거로 도구 추가 비용 대폭 감소.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43993" y="3565327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219051" y="355252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277689" y="3679478"/>
            <a:ext cx="9525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447502" y="3489127"/>
            <a:ext cx="5486846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1583978" y="3574852"/>
            <a:ext cx="53181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Summary + Gateway Webhook + ConfigWatcher hot-reload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583978" y="3695402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tool_result 압축 요약 · /webhook port 8765 외부 인입 · TOOL_APPROVAL 3종 훅 · 재시작 없는 바인딩 반영.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43993" y="3981152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219051" y="3968353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447502" y="3904952"/>
            <a:ext cx="5486846" cy="406301"/>
          </a:xfrm>
          <a:prstGeom prst="roundRect">
            <a:avLst>
              <a:gd name="adj" fmla="val 12503"/>
            </a:avLst>
          </a:prstGeom>
          <a:solidFill>
            <a:srgbClr val="161B22"/>
          </a:solidFill>
          <a:ln w="19050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593503" y="4000202"/>
            <a:ext cx="529874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 Harness: Autonomous Safety 3조건 + Plan-first + Provider-aware Compaction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593503" y="4130278"/>
            <a:ext cx="52987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budget_stop · 수렴 3회 에스컬레이션 · 다양성 강제 5회. create_plan + plan_id HITL UI. Anthropic compact_20260112 vs OpenAI LLM 요약 자동 분기.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7035850" y="1166217"/>
            <a:ext cx="1650950" cy="9525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184504" y="1328142"/>
            <a:ext cx="135364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800" dirty="0"/>
          </a:p>
        </p:txBody>
      </p:sp>
      <p:sp>
        <p:nvSpPr>
          <p:cNvPr id="49" name="Text 47"/>
          <p:cNvSpPr/>
          <p:nvPr/>
        </p:nvSpPr>
        <p:spPr>
          <a:xfrm>
            <a:off x="7184504" y="1775817"/>
            <a:ext cx="1353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184504" y="1871067"/>
            <a:ext cx="13536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 → v0.32 · 36일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7035850" y="2220218"/>
            <a:ext cx="1650950" cy="714077"/>
          </a:xfrm>
          <a:prstGeom prst="roundRect">
            <a:avLst>
              <a:gd name="adj" fmla="val 1067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197775" y="2356693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피봇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398520" y="2356693"/>
            <a:ext cx="1288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6회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7197775" y="2524869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무회귀 릴리스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8302377" y="2524869"/>
            <a:ext cx="226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40/40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7197775" y="2693045"/>
            <a:ext cx="338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커밋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8302377" y="2693045"/>
            <a:ext cx="226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1,174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7035850" y="3035796"/>
            <a:ext cx="1650950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7162800" y="3137297"/>
            <a:ext cx="142499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CHANGELOG는 기록이 아니다. 다음 Frontier Mining의 입력이다.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7035850" y="3606701"/>
            <a:ext cx="1650950" cy="900708"/>
          </a:xfrm>
          <a:prstGeom prst="roundRect">
            <a:avLst>
              <a:gd name="adj" fmla="val 564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7054900" y="3606701"/>
            <a:ext cx="0" cy="900708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0"/>
          <p:cNvSpPr/>
          <p:nvPr/>
        </p:nvSpPr>
        <p:spPr>
          <a:xfrm>
            <a:off x="7175450" y="3657451"/>
            <a:ext cx="1438046" cy="799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판단: WHY를 기록하는 비용</a:t>
            </a: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각 릴리스마다 CHANGELOG 작성에 시간이 든다. 이를 포기하면 "왜 이 결정을 했는가"가 휘발되어 v0.14 Token Guard 제거처럼 나중에 같은 실수를 반복하게 된다.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457200" y="4987975"/>
            <a:ext cx="167228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40 releases · 6 major architecture pivots</a:t>
            </a:r>
            <a:endParaRPr lang="en-US" sz="500" dirty="0"/>
          </a:p>
        </p:txBody>
      </p:sp>
      <p:sp>
        <p:nvSpPr>
          <p:cNvPr id="64" name="Text 62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35</a:t>
            </a:r>
            <a:endParaRPr lang="en-US" sz="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2784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· SECURITY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Security: Bash 3-Layer + Dual Trust Model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에이전트는 신뢰 경계가 없으면 시스템을 파괴하기 때문에 PolicyChain이 실행 전 모든 명령을 검문한다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25252"/>
            <a:ext cx="4641800" cy="2631180"/>
          </a:xfrm>
          <a:prstGeom prst="roundRect">
            <a:avLst>
              <a:gd name="adj" fmla="val 1859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9617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976015"/>
            <a:ext cx="10696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PolicyChain 다이어그램</a:t>
            </a:r>
            <a:endParaRPr lang="en-US" sz="800" dirty="0"/>
          </a:p>
        </p:txBody>
      </p:sp>
      <p:pic>
        <p:nvPicPr>
          <p:cNvPr id="9" name="Image 0" descr="/Users/mango/workspace/portfolio/geode/versions/v7/slides/assets/v028-diagram-policy-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" y="1241078"/>
            <a:ext cx="4317950" cy="200650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225951" y="825252"/>
            <a:ext cx="3460849" cy="2109192"/>
          </a:xfrm>
          <a:prstGeom prst="roundRect">
            <a:avLst>
              <a:gd name="adj" fmla="val 361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387876" y="961727"/>
            <a:ext cx="31997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3-Layer 실행 제어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387876" y="1148953"/>
            <a:ext cx="3136999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514826" y="1225153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Syntax Validation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5514826" y="1345704"/>
            <a:ext cx="29407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-rf / · chmod 777 · curl | bash 패턴 차단. 실행 전 정적 분석.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5387876" y="1571030"/>
            <a:ext cx="3136999" cy="444401"/>
          </a:xfrm>
          <a:prstGeom prst="roundRect">
            <a:avLst>
              <a:gd name="adj" fmla="val 1143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5514826" y="1647230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PolicyChain Hook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5514826" y="1767780"/>
            <a:ext cx="294076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 중 BASH_EXEC_PRE에서 PolicyChain 통과 여부 확인. 거부 시 즉시 차단 + 사유 반환.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5387876" y="2078831"/>
            <a:ext cx="3136999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5514826" y="2155031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macOS Seatbelt Sandbox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5514826" y="2275582"/>
            <a:ext cx="29407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REODE: 34-패턴 deny-list. 파일시스템 쓰기, 네트워크 외부 접근, 프로세스 fork 제한.</a:t>
            </a:r>
            <a:endParaRPr lang="en-US" sz="600" dirty="0"/>
          </a:p>
        </p:txBody>
      </p:sp>
      <p:sp>
        <p:nvSpPr>
          <p:cNvPr id="22" name="Text 19"/>
          <p:cNvSpPr/>
          <p:nvPr/>
        </p:nvSpPr>
        <p:spPr>
          <a:xfrm>
            <a:off x="5387876" y="3172420"/>
            <a:ext cx="31997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Trust Model: 두 독립 축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5387876" y="3359646"/>
            <a:ext cx="319973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안전과 파이프라인 검증은 독립 축이다. 에이전트는 입력을 차단(Input Gating), 파이프라인은 출력을 검증(Output Validation)</a:t>
            </a:r>
            <a:r>
              <a:rPr lang="ko-KR" alt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까지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통과해</a:t>
            </a:r>
            <a:r>
              <a:rPr lang="ko-KR" alt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야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700" dirty="0" err="1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5387876" y="3696891"/>
            <a:ext cx="1530400" cy="444401"/>
          </a:xfrm>
          <a:prstGeom prst="roundRect">
            <a:avLst>
              <a:gd name="adj" fmla="val 1143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489377" y="3773091"/>
            <a:ext cx="135394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Gating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5489377" y="3893641"/>
            <a:ext cx="13539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HITL 권한 모델: 에이전트 실행 전 차단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6994475" y="3696891"/>
            <a:ext cx="1530400" cy="444401"/>
          </a:xfrm>
          <a:prstGeom prst="roundRect">
            <a:avLst>
              <a:gd name="adj" fmla="val 1143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7095976" y="3773091"/>
            <a:ext cx="135394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Validation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7095976" y="3893641"/>
            <a:ext cx="13539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 등급: 실행 후 출력 검증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5387876" y="4204693"/>
            <a:ext cx="319973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0-1: asyncio.gather 병렬 자동 실행 / TIER 3-4: 개별 수동 승인 필수</a:t>
            </a:r>
            <a:endParaRPr lang="en-US" sz="600" dirty="0"/>
          </a:p>
        </p:txBody>
      </p:sp>
      <p:sp>
        <p:nvSpPr>
          <p:cNvPr id="31" name="Text 28"/>
          <p:cNvSpPr/>
          <p:nvPr/>
        </p:nvSpPr>
        <p:spPr>
          <a:xfrm>
            <a:off x="5225950" y="4414838"/>
            <a:ext cx="3460849" cy="350044"/>
          </a:xfrm>
          <a:prstGeom prst="roundRect">
            <a:avLst>
              <a:gd name="adj" fmla="val 145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Shape 29"/>
          <p:cNvSpPr/>
          <p:nvPr/>
        </p:nvSpPr>
        <p:spPr>
          <a:xfrm>
            <a:off x="5245000" y="4414838"/>
            <a:ext cx="0" cy="350044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/>
          <p:nvPr/>
        </p:nvSpPr>
        <p:spPr>
          <a:xfrm>
            <a:off x="5365551" y="4465588"/>
            <a:ext cx="3284143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3-Layer 제어 비용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L1 정적 분석 + L2 PolicyChain + L3 Seatbelt 모두 통과 시 지연이 발생하지만, 자율 에이전트가 시스템을 파괴한 사례가 0건.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457200" y="4987975"/>
            <a:ext cx="235904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46 Hook Events · 5-Tier Tool Safety · macOS Seatbelt (REODE)</a:t>
            </a:r>
            <a:endParaRPr lang="en-US" sz="500" dirty="0"/>
          </a:p>
        </p:txBody>
      </p:sp>
      <p:sp>
        <p:nvSpPr>
          <p:cNvPr id="35" name="Text 32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35</a:t>
            </a:r>
            <a:endParaRPr lang="en-US" sz="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8202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TRADE-OFFS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포기하지 않은 설계 결정은 결정이 아니다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아키텍처, 에이전트 실행, 인프라 전반. 모든 피봇은 CHANGELOG에 “왜”가 기록되어 있다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76250" y="847576"/>
            <a:ext cx="0" cy="399604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22250" y="910977"/>
            <a:ext cx="38409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DI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22250" y="1050578"/>
            <a:ext cx="3840962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호출 단순성을 포기하고 DI를 도입했더니 GEODE→REODE 이식 시 코어 코드 변경 0줄이 됐다.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76250" y="1336030"/>
            <a:ext cx="0" cy="532805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22250" y="1399431"/>
            <a:ext cx="38409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 Context Selection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22250" y="1539032"/>
            <a:ext cx="38409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요약(빠르지만 정보 손실)을 버리고 LLM이 직접 청크를 선별하게 했더니 비용 0.03%로 절감되면서 정보 손실이 사라졌다.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476250" y="1957685"/>
            <a:ext cx="0" cy="54233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22250" y="2021086"/>
            <a:ext cx="38409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Safety: 병렬 vs 순차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22250" y="2170212"/>
            <a:ext cx="38409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T3-4 병렬 처리 속도를 포기하고 DANGEROUS 명령은 개별 순차 승인으로 격리했더니 권한 에스컬레이션 경로가 차단됐다.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76250" y="2588865"/>
            <a:ext cx="0" cy="532805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22250" y="2652266"/>
            <a:ext cx="38409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4096 Token Guard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22250" y="2791867"/>
            <a:ext cx="38409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자식 출력 전체 반환(완전한 컨텍스트)을 포기하고 4096 guard를 적용했더니 부모 컨텍스트 폭발이 방지되어 MAX_CONCURRENT=5 병렬이 가능해졌다.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565600" y="847576"/>
            <a:ext cx="12650" cy="4067473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775002" y="847576"/>
            <a:ext cx="0" cy="532805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921002" y="910977"/>
            <a:ext cx="38411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PromptAssembler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921002" y="1050578"/>
            <a:ext cx="384111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편집의 즉각성을 포기하고 6-Phase 조립과 SHA-256 추적을 도입했더니 cache_control ephemeral로 2회차 입력 비용이 10%로 줄었다.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4775002" y="1469231"/>
            <a:ext cx="0" cy="542330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921002" y="1532632"/>
            <a:ext cx="38411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삭제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921002" y="1681758"/>
            <a:ext cx="384111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중앙 집중 도구 관리(단일 조회 포인트)를 포기하고 auto-discovery를 채택했더니 proxy stub 9개가 제거되고 45 MCP 서버를 자동 등록할 수 있게 됐다.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775002" y="2100411"/>
            <a:ext cx="0" cy="54233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4921002" y="2163812"/>
            <a:ext cx="38411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Priority 핸들러 순서 보장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921002" y="2312938"/>
            <a:ext cx="384111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병렬 핸들러 처리량을 포기하고 Priority 정렬을 넣었더니 Security 핸들러가 Logging보다 항상 먼저 실행되는 것이 보장됐다.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775002" y="2731591"/>
            <a:ext cx="0" cy="54233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4921002" y="2794992"/>
            <a:ext cx="38411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 × 200 Turns 상한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921002" y="2944118"/>
            <a:ext cx="384111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완전 자율(무제한 실행)을 포기하고 수렴 감지 + 비용 상한을 도입했더니 파이프라인 폭주가 차단되고 장기 운용 비용이 예측 가능해졌다.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57200" y="4978450"/>
            <a:ext cx="171675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40 releases · 모든 피봇 CHANGELOG 기록</a:t>
            </a:r>
            <a:endParaRPr lang="en-US" sz="500" dirty="0"/>
          </a:p>
        </p:txBody>
      </p:sp>
      <p:sp>
        <p:nvSpPr>
          <p:cNvPr id="32" name="Text 30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35</a:t>
            </a:r>
            <a:endParaRPr lang="en-US" sz="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27173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CONSTRAINTS → 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→ HOW → Results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금지 규칙 → 어떤 메커니즘으로 → 어떤 결과가 나왔는가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562695"/>
            <a:ext cx="238645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1661071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93675" y="1781621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나열식 슬라이드 금지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923342" y="1689646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964210" y="181019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24659" y="1562695"/>
            <a:ext cx="296301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361134" y="1661071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361134" y="1781621"/>
            <a:ext cx="27438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위반 시 Socratic Gate 재통과 강제: 인과관계 1문장 없으면 PR 차단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270129" y="174992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478" y="1562695"/>
            <a:ext cx="2194322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628954" y="1661071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6628954" y="1781621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34장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전체 DAG 내러티브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57200" y="2152948"/>
            <a:ext cx="238645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93675" y="2251323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593675" y="2371874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통과 전 코드 작성 금지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923342" y="2232273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964210" y="2352824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24659" y="2152948"/>
            <a:ext cx="296301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361134" y="2251323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361134" y="2371874"/>
            <a:ext cx="27438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5-질문 의무화 → 잘못된 전제로 50 rounds 낭비 사전 차단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270129" y="2292548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478" y="2152948"/>
            <a:ext cx="2194322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628954" y="2251323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6628954" y="2371874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39회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릴리스 무회귀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57200" y="2647950"/>
            <a:ext cx="238645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93675" y="2746325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593675" y="2866876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박스형 다이어그램 금지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2923342" y="2774900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964210" y="289545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224659" y="2647950"/>
            <a:ext cx="296301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361134" y="2746325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3361134" y="2866876"/>
            <a:ext cx="27438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화살표 + 분기 + 루프백 필수 → 4-Persona Review의 Architect 검사 통과 시에만 머지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270129" y="283517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92478" y="2647950"/>
            <a:ext cx="2194322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628954" y="2746325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6628954" y="2866876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흐름도 누적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57200" y="3238202"/>
            <a:ext cx="238645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93675" y="3336578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593675" y="3457129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 명시 없는 설계 결정 금지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2923342" y="3317528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2964210" y="3438079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3224659" y="3238202"/>
            <a:ext cx="296301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361134" y="3336578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3361134" y="3457129"/>
            <a:ext cx="27438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CHANGELOG에 "포기한 것 / 얻은 것" 쌍 없으면 기능 커밋 자체가 차단됨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270129" y="3377803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492478" y="3238202"/>
            <a:ext cx="2194322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628954" y="3336578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6628954" y="3457129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6회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피봇 WHY 전부 기록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457200" y="3733205"/>
            <a:ext cx="238645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93675" y="3831580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593675" y="3952131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 6개 초과 금지: 밀도 강제 압축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2923342" y="3812530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2964210" y="393308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224659" y="3733205"/>
            <a:ext cx="296301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3361134" y="3831580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3361134" y="3952131"/>
            <a:ext cx="27438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초과 시 슬라이드 분리 강제 → 정보 우선순위 결정이 설계자에게 귀환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6270129" y="3872805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492478" y="3733205"/>
            <a:ext cx="2194322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628954" y="3831580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6628954" y="3952131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34장</a:t>
            </a: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슬라이드당 1메시지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57200" y="4978450"/>
            <a:ext cx="163888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23 CANNOT rules · 제약이 품질을 만든다</a:t>
            </a:r>
            <a:endParaRPr lang="en-US" sz="500" dirty="0"/>
          </a:p>
        </p:txBody>
      </p:sp>
      <p:sp>
        <p:nvSpPr>
          <p:cNvPr id="67" name="Text 65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35</a:t>
            </a:r>
            <a:endParaRPr lang="en-US" sz="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3694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· SUMMARY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 총정리: GEODE v0.32.0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36일, 모든 숫자는 Socratic Gate → 8-Step Loop → 4-Persona Review를 통과한 것들이다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1435150" cy="653951"/>
          </a:xfrm>
          <a:prstGeom prst="roundRect">
            <a:avLst>
              <a:gd name="adj" fmla="val 776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2053" y="920502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82053" y="131727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Version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968550" y="834777"/>
            <a:ext cx="1435150" cy="653951"/>
          </a:xfrm>
          <a:prstGeom prst="roundRect">
            <a:avLst>
              <a:gd name="adj" fmla="val 776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093403" y="920502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1,174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093403" y="131727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3479899" y="834777"/>
            <a:ext cx="1435150" cy="653951"/>
          </a:xfrm>
          <a:prstGeom prst="roundRect">
            <a:avLst>
              <a:gd name="adj" fmla="val 776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604753" y="920502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604753" y="131727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PRs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4991249" y="834777"/>
            <a:ext cx="1435150" cy="653951"/>
          </a:xfrm>
          <a:prstGeom prst="roundRect">
            <a:avLst>
              <a:gd name="adj" fmla="val 776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116102" y="920502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116102" y="131727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57200" y="1552129"/>
            <a:ext cx="1435150" cy="580727"/>
          </a:xfrm>
          <a:prstGeom prst="roundRect">
            <a:avLst>
              <a:gd name="adj" fmla="val 874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82053" y="1625054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82053" y="1974205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1968550" y="1552129"/>
            <a:ext cx="1435150" cy="580727"/>
          </a:xfrm>
          <a:prstGeom prst="roundRect">
            <a:avLst>
              <a:gd name="adj" fmla="val 874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093403" y="1625054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093403" y="1974205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479899" y="1552129"/>
            <a:ext cx="1435150" cy="580727"/>
          </a:xfrm>
          <a:prstGeom prst="roundRect">
            <a:avLst>
              <a:gd name="adj" fmla="val 874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04753" y="1625054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604753" y="1974205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991249" y="1552129"/>
            <a:ext cx="1435150" cy="580727"/>
          </a:xfrm>
          <a:prstGeom prst="roundRect">
            <a:avLst>
              <a:gd name="adj" fmla="val 874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116102" y="1625054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116102" y="1974205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Tools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57200" y="2196257"/>
            <a:ext cx="1435150" cy="561677"/>
          </a:xfrm>
          <a:prstGeom prst="roundRect">
            <a:avLst>
              <a:gd name="adj" fmla="val 904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82053" y="2269182"/>
            <a:ext cx="118544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82053" y="258975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Catalog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968550" y="2196257"/>
            <a:ext cx="1435150" cy="561677"/>
          </a:xfrm>
          <a:prstGeom prst="roundRect">
            <a:avLst>
              <a:gd name="adj" fmla="val 904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093403" y="2269182"/>
            <a:ext cx="118544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2093403" y="258975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479899" y="2196257"/>
            <a:ext cx="1435150" cy="561677"/>
          </a:xfrm>
          <a:prstGeom prst="roundRect">
            <a:avLst>
              <a:gd name="adj" fmla="val 904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604753" y="2269182"/>
            <a:ext cx="118544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3604753" y="258975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Rules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991249" y="2196257"/>
            <a:ext cx="1435150" cy="561677"/>
          </a:xfrm>
          <a:prstGeom prst="roundRect">
            <a:avLst>
              <a:gd name="adj" fmla="val 904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116102" y="2269182"/>
            <a:ext cx="11854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5116102" y="2599283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Duration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527899" y="834777"/>
            <a:ext cx="2158901" cy="2970014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64375" y="933152"/>
            <a:ext cx="19236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4-Axis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664375" y="1174254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778675" y="1110853"/>
            <a:ext cx="1807083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PromptAssembler 6-Phase + SHA-256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664375" y="1486198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778675" y="1422797"/>
            <a:ext cx="1530495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while(tool_use) · 50R × 200T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664375" y="1673870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778675" y="1610469"/>
            <a:ext cx="1317057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5-Layer · Cross-LLM α≥0.67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664375" y="1861542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778675" y="1798141"/>
            <a:ext cx="155766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46-Event Hook · LangSmith/OTEL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527899" y="3880991"/>
            <a:ext cx="2158901" cy="1043583"/>
          </a:xfrm>
          <a:prstGeom prst="roundRect">
            <a:avLst>
              <a:gd name="adj" fmla="val 4868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664375" y="3979366"/>
            <a:ext cx="19236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(이식 증거)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664375" y="4153942"/>
            <a:ext cx="1923669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 소스 · 103K LoC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664375" y="4328964"/>
            <a:ext cx="1923669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세션 · 1,133 LLM 라운드 · 5h 48m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664375" y="4529286"/>
            <a:ext cx="19236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compile+test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664375" y="4719638"/>
            <a:ext cx="192366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때문에 코어 수정 0줄로 하네스 이식성을 실증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457200" y="4987975"/>
            <a:ext cx="2071679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Feb 21 to Mar 28, 2026 · Anthropic / OpenAI / ZhipuAI</a:t>
            </a:r>
            <a:endParaRPr lang="en-US" sz="500" dirty="0"/>
          </a:p>
        </p:txBody>
      </p:sp>
      <p:sp>
        <p:nvSpPr>
          <p:cNvPr id="59" name="Text 57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35</a:t>
            </a:r>
            <a:endParaRPr lang="en-US" sz="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4319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· DISCIPLINE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Engineering은 디시플린이다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5707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4축을 한 릴리스라도 건너뛰면 회귀가 쌓이기 때문에 도구가 아닌 매 PR </a:t>
            </a:r>
            <a:r>
              <a:rPr lang="en-US" sz="800" dirty="0" err="1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습관으로</a:t>
            </a: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800" dirty="0" err="1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실천</a:t>
            </a: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v0.6 → v0.32 26버전의 실증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57101"/>
            <a:ext cx="2133600" cy="4067473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1576685"/>
            <a:ext cx="1809750" cy="596801"/>
          </a:xfrm>
          <a:prstGeom prst="roundRect">
            <a:avLst>
              <a:gd name="adj" fmla="val 85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56476" y="1703636"/>
            <a:ext cx="15350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"확률적 시스템은</a:t>
            </a:r>
            <a:endParaRPr lang="en-US" sz="900" dirty="0"/>
          </a:p>
          <a:p>
            <a:pPr marL="0" indent="0" algn="ctr">
              <a:lnSpc>
                <a:spcPts val="1350"/>
              </a:lnSpc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제어 없이 발산한다"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028" y="2274987"/>
            <a:ext cx="1845945" cy="284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</a:t>
            </a:r>
            <a:endParaRPr lang="en-US" sz="700" dirty="0"/>
          </a:p>
          <a:p>
            <a:pPr marL="0" indent="0" algn="ctr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수렴시키는 하네스를 만듭니다.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619125" y="2665512"/>
            <a:ext cx="18097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01028" y="2771775"/>
            <a:ext cx="184594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디시플린은 일회성 설계가 아니다. 매 PR마다, 매 릴리스마다 4축이 실천되어야 하네스가 살아남는다.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9125" y="3190429"/>
            <a:ext cx="1809750" cy="466427"/>
          </a:xfrm>
          <a:prstGeom prst="roundRect">
            <a:avLst>
              <a:gd name="adj" fmla="val 1089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0517" y="3291929"/>
            <a:ext cx="15869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 → v0.32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0517" y="3469630"/>
            <a:ext cx="15869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26버전 동안 4축이 유지됨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619125" y="3783657"/>
            <a:ext cx="1809750" cy="421184"/>
          </a:xfrm>
          <a:prstGeom prst="roundRect">
            <a:avLst>
              <a:gd name="adj" fmla="val 12061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38175" y="3783657"/>
            <a:ext cx="0" cy="421184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58726" y="3834408"/>
            <a:ext cx="1600021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디시플린 비용</a:t>
            </a: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4축 실천은 PR마다 시간이 든다. 이를 포기하면 릴리스 속도는 올라가지만 회귀가 쌓인다. 40/40 무회귀가 그 비용의 수익이다.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692301" y="857101"/>
            <a:ext cx="5994499" cy="959644"/>
          </a:xfrm>
          <a:prstGeom prst="roundRect">
            <a:avLst>
              <a:gd name="adj" fmla="val 79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854226" y="968127"/>
            <a:ext cx="38100" cy="737592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93827" y="1122759"/>
            <a:ext cx="49886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제어: 장기 진화 방향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993827" y="1284684"/>
            <a:ext cx="4988606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편집은 drift를 감지할 수 없었기 때문에 SHA-256 캐싱을 도입해 2회차 입력 비용을 10%로 낮췄다. 다음 단계: Semantic diff로 선택적 재생성, Provider별 캐시 효율 최적화.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986117" y="1151186"/>
            <a:ext cx="538758" cy="371475"/>
          </a:xfrm>
          <a:prstGeom prst="roundRect">
            <a:avLst>
              <a:gd name="adj" fmla="val 13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110219" y="1227386"/>
            <a:ext cx="2905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110219" y="1360736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절감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2692301" y="1892945"/>
            <a:ext cx="5994499" cy="959793"/>
          </a:xfrm>
          <a:prstGeom prst="roundRect">
            <a:avLst>
              <a:gd name="adj" fmla="val 793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854226" y="2003971"/>
            <a:ext cx="38100" cy="737741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993827" y="2158603"/>
            <a:ext cx="49096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루프: 장기 진화 방향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993827" y="2320528"/>
            <a:ext cx="4909667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폭발·수렴 고착을 막기 위해 단일 루프에 3 Brake를 추가했다. 실측 평균 4.2 라운드 종료로 안정성을 확보. 다음 단계: 멀티 에이전트 DAG 오케스트레이션으로 확장.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908727" y="2187029"/>
            <a:ext cx="616148" cy="371475"/>
          </a:xfrm>
          <a:prstGeom prst="roundRect">
            <a:avLst>
              <a:gd name="adj" fmla="val 13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032054" y="2263229"/>
            <a:ext cx="3694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032054" y="2396579"/>
            <a:ext cx="3694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×200 turns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2692301" y="2928938"/>
            <a:ext cx="5994499" cy="959644"/>
          </a:xfrm>
          <a:prstGeom prst="roundRect">
            <a:avLst>
              <a:gd name="adj" fmla="val 79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2854226" y="3039963"/>
            <a:ext cx="38100" cy="737592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993827" y="3194596"/>
            <a:ext cx="491649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검증: 장기 진화 방향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993827" y="3356521"/>
            <a:ext cx="4916498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편향이 ±18점 분산을 냈기 때문에 Cross-LLM α≥0.67로 편향을 구조적으로 제거했다. 다음 단계: CUSUM 드리프트 감지로 실시간 합의도 추적.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7915424" y="3223022"/>
            <a:ext cx="609451" cy="371475"/>
          </a:xfrm>
          <a:prstGeom prst="roundRect">
            <a:avLst>
              <a:gd name="adj" fmla="val 13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038819" y="3299222"/>
            <a:ext cx="3626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α≥0.67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038819" y="3432572"/>
            <a:ext cx="3626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합의도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692301" y="3964781"/>
            <a:ext cx="5994499" cy="959793"/>
          </a:xfrm>
          <a:prstGeom prst="roundRect">
            <a:avLst>
              <a:gd name="adj" fmla="val 793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854226" y="4075807"/>
            <a:ext cx="38100" cy="737741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993827" y="4230439"/>
            <a:ext cx="48384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관측: 장기 진화 방향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993827" y="4392364"/>
            <a:ext cx="483847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 단독으로는 모델별 비용 분리가 안 됐기 때문에 자체 TokenTracker를 구축해 46 Hook Events로 관측했다. 다음 단계: 자동 비용 예측 + ML 실행 계획 최적화.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838926" y="4258866"/>
            <a:ext cx="685949" cy="371475"/>
          </a:xfrm>
          <a:prstGeom prst="roundRect">
            <a:avLst>
              <a:gd name="adj" fmla="val 13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961556" y="4335066"/>
            <a:ext cx="4406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961556" y="4468416"/>
            <a:ext cx="44068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457200" y="4987975"/>
            <a:ext cx="241597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Harness Engineering = Context × Loop × Validation × Observation</a:t>
            </a:r>
            <a:endParaRPr lang="en-US" sz="500" dirty="0"/>
          </a:p>
        </p:txBody>
      </p:sp>
      <p:sp>
        <p:nvSpPr>
          <p:cNvPr id="47" name="Text 45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35</a:t>
            </a:r>
            <a:endParaRPr lang="en-US" sz="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versions/v7/slides/assets/bg-c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84150" y="157014"/>
            <a:ext cx="5900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812905" y="171301"/>
            <a:ext cx="19113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Feb 21 to Mar 28, 2026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1124545"/>
            <a:ext cx="6058049" cy="1031974"/>
          </a:xfrm>
          <a:prstGeom prst="roundRect">
            <a:avLst>
              <a:gd name="adj" fmla="val 7384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644426" y="1261021"/>
            <a:ext cx="57972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Thesis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4426" y="1445121"/>
            <a:ext cx="5797269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"확률적 시스템(LLM)은 제어 없이 발산합니다.</a:t>
            </a:r>
            <a:endParaRPr lang="en-US" sz="900" dirty="0"/>
          </a:p>
          <a:p>
            <a:pPr marL="0" indent="0" algn="l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 수렴시키는 하네스를 만듭니다."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4426" y="1886843"/>
            <a:ext cx="5797269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spcBef>
                <a:spcPts val="6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v0.32.0: 36일, 1,174 커밋, 40 릴리스. 이 숫자들이 명제의 실증이다.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457200" y="2258020"/>
            <a:ext cx="6058049" cy="831652"/>
          </a:xfrm>
          <a:prstGeom prst="roundRect">
            <a:avLst>
              <a:gd name="adj" fmla="val 916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644426" y="2394496"/>
            <a:ext cx="57972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Loop: 하네스의 3개 피드백 사이클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44426" y="2594521"/>
            <a:ext cx="1674465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731212" y="2670721"/>
            <a:ext cx="15008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Loop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731212" y="2791271"/>
            <a:ext cx="15008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→ CANNOT → 다음 설계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2420392" y="2702421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648992" y="2594521"/>
            <a:ext cx="1674465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2735778" y="2670721"/>
            <a:ext cx="15008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Loop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2735778" y="2791271"/>
            <a:ext cx="15008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→ PR → CHANGELOG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4424958" y="2702421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653558" y="2594521"/>
            <a:ext cx="1674465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740344" y="2670721"/>
            <a:ext cx="15008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Loop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4740344" y="2791271"/>
            <a:ext cx="15008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→ Hook → LEARNINGS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457200" y="3191173"/>
            <a:ext cx="6058049" cy="977057"/>
          </a:xfrm>
          <a:prstGeom prst="roundRect">
            <a:avLst>
              <a:gd name="adj" fmla="val 77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44426" y="3327648"/>
            <a:ext cx="57972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Value Propositions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644426" y="3568750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784027" y="3505349"/>
            <a:ext cx="3248477" cy="147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Scaffold: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 CANNOT + 21 Skills로 LLM 자율성과 제어의 균형을 잡는 방법론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44426" y="3765352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784027" y="3701951"/>
            <a:ext cx="3452644" cy="147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Autonomous: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50R × 200T 장기 실행을 비용 상한 + 수렴 감지로 안정 운용하는 기술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644426" y="3961954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7"/>
          <p:cNvSpPr/>
          <p:nvPr/>
        </p:nvSpPr>
        <p:spPr>
          <a:xfrm>
            <a:off x="784026" y="3898553"/>
            <a:ext cx="3312485" cy="101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Portable:</a:t>
            </a: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GEODE → REODE 이식: 하네스가 도메인을 선택하지 않는 구조</a:t>
            </a:r>
            <a:endParaRPr lang="en-US" sz="700" dirty="0"/>
          </a:p>
        </p:txBody>
      </p:sp>
      <p:pic>
        <p:nvPicPr>
          <p:cNvPr id="31" name="Image 1" descr="/Users/mango/workspace/portfolio/geode/versions/v7/slides/assets/masc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4149" y="675680"/>
            <a:ext cx="1396901" cy="1396901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6718399" y="2199531"/>
            <a:ext cx="1968401" cy="1273076"/>
          </a:xfrm>
          <a:prstGeom prst="roundRect">
            <a:avLst>
              <a:gd name="adj" fmla="val 598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9"/>
          <p:cNvSpPr/>
          <p:nvPr/>
        </p:nvSpPr>
        <p:spPr>
          <a:xfrm>
            <a:off x="6863879" y="2361456"/>
            <a:ext cx="16774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류지환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6863879" y="2637681"/>
            <a:ext cx="16774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</a:t>
            </a:r>
            <a:endParaRPr lang="en-US" sz="800" dirty="0"/>
          </a:p>
        </p:txBody>
      </p:sp>
      <p:sp>
        <p:nvSpPr>
          <p:cNvPr id="35" name="Shape 31"/>
          <p:cNvSpPr/>
          <p:nvPr/>
        </p:nvSpPr>
        <p:spPr>
          <a:xfrm>
            <a:off x="6880324" y="2832943"/>
            <a:ext cx="1644551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2"/>
          <p:cNvSpPr/>
          <p:nvPr/>
        </p:nvSpPr>
        <p:spPr>
          <a:xfrm>
            <a:off x="6863879" y="2913906"/>
            <a:ext cx="16774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GEODE · REODE</a:t>
            </a:r>
            <a:endParaRPr lang="en-US" sz="700" dirty="0"/>
          </a:p>
        </p:txBody>
      </p:sp>
      <p:sp>
        <p:nvSpPr>
          <p:cNvPr id="37" name="Text 33"/>
          <p:cNvSpPr/>
          <p:nvPr/>
        </p:nvSpPr>
        <p:spPr>
          <a:xfrm>
            <a:off x="6863879" y="3069431"/>
            <a:ext cx="16774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 · 1,174 commits</a:t>
            </a:r>
            <a:endParaRPr lang="en-US" sz="700" dirty="0"/>
          </a:p>
        </p:txBody>
      </p:sp>
      <p:sp>
        <p:nvSpPr>
          <p:cNvPr id="38" name="Text 34"/>
          <p:cNvSpPr/>
          <p:nvPr/>
        </p:nvSpPr>
        <p:spPr>
          <a:xfrm>
            <a:off x="6863879" y="3215432"/>
            <a:ext cx="16774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 to Mar 28, 2026</a:t>
            </a:r>
            <a:endParaRPr lang="en-US" sz="700" dirty="0"/>
          </a:p>
        </p:txBody>
      </p:sp>
      <p:sp>
        <p:nvSpPr>
          <p:cNvPr id="39" name="Text 35"/>
          <p:cNvSpPr/>
          <p:nvPr/>
        </p:nvSpPr>
        <p:spPr>
          <a:xfrm>
            <a:off x="6718399" y="3599557"/>
            <a:ext cx="1968401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6"/>
          <p:cNvSpPr/>
          <p:nvPr/>
        </p:nvSpPr>
        <p:spPr>
          <a:xfrm>
            <a:off x="6828205" y="3701058"/>
            <a:ext cx="1748790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감사합니다.</a:t>
            </a:r>
            <a:endParaRPr lang="en-US" sz="700" dirty="0"/>
          </a:p>
          <a:p>
            <a:pPr marL="0" indent="0" algn="ctr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질문은 언제든 환영합니다.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718399" y="4195911"/>
            <a:ext cx="1968401" cy="421184"/>
          </a:xfrm>
          <a:prstGeom prst="roundRect">
            <a:avLst>
              <a:gd name="adj" fmla="val 1206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Shape 38"/>
          <p:cNvSpPr/>
          <p:nvPr/>
        </p:nvSpPr>
        <p:spPr>
          <a:xfrm>
            <a:off x="6737449" y="4195911"/>
            <a:ext cx="0" cy="421184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9"/>
          <p:cNvSpPr/>
          <p:nvPr/>
        </p:nvSpPr>
        <p:spPr>
          <a:xfrm>
            <a:off x="6840727" y="4246662"/>
            <a:ext cx="1761845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40"/>
              </a:lnSpc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Trade-off:</a:t>
            </a: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자율성을 높이면 안전 비용이 오른다. 46 Hook + 3 Brake + 5-Tier로 그 </a:t>
            </a:r>
            <a:r>
              <a:rPr lang="en-US" sz="600" dirty="0" err="1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비용을</a:t>
            </a: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600" dirty="0" err="1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</a:t>
            </a:r>
            <a:r>
              <a:rPr lang="ko-KR" alt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</a:t>
            </a: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</a:p>
          <a:p>
            <a:pPr marL="0" indent="0" algn="ctr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36일 </a:t>
            </a:r>
            <a:r>
              <a:rPr lang="en-US" sz="600" dirty="0" err="1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무중단</a:t>
            </a: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600" dirty="0" err="1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</a:t>
            </a:r>
            <a:r>
              <a:rPr lang="ko-KR" alt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그 과실</a:t>
            </a: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600" dirty="0"/>
          </a:p>
        </p:txBody>
      </p:sp>
      <p:sp>
        <p:nvSpPr>
          <p:cNvPr id="44" name="Text 40"/>
          <p:cNvSpPr/>
          <p:nvPr/>
        </p:nvSpPr>
        <p:spPr>
          <a:xfrm>
            <a:off x="457200" y="4975324"/>
            <a:ext cx="202370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/ OpenAI / ZhipuAI · 3 Providers · 187 Modules · 3,216 Tests</a:t>
            </a:r>
            <a:endParaRPr lang="en-US" sz="500" dirty="0"/>
          </a:p>
        </p:txBody>
      </p:sp>
      <p:sp>
        <p:nvSpPr>
          <p:cNvPr id="45" name="Text 41"/>
          <p:cNvSpPr/>
          <p:nvPr/>
        </p:nvSpPr>
        <p:spPr>
          <a:xfrm>
            <a:off x="8492728" y="4975324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35</a:t>
            </a:r>
            <a:endParaRPr lang="en-US" sz="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8426</Words>
  <Application>Microsoft Macintosh PowerPoint</Application>
  <PresentationFormat>화면 슬라이드 쇼(16:9)</PresentationFormat>
  <Paragraphs>1273</Paragraphs>
  <Slides>35</Slides>
  <Notes>35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38" baseType="lpstr">
      <vt:lpstr>Arial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GEODE v0.30 — Autonomous Execution Harness</dc:title>
  <dc:subject>PptxGenJS Presentation</dc:subject>
  <dc:creator>mangowhoiscloud</dc:creator>
  <cp:lastModifiedBy>mng polar</cp:lastModifiedBy>
  <cp:revision>33</cp:revision>
  <dcterms:created xsi:type="dcterms:W3CDTF">2026-03-28T08:03:30Z</dcterms:created>
  <dcterms:modified xsi:type="dcterms:W3CDTF">2026-03-28T11:01:32Z</dcterms:modified>
</cp:coreProperties>
</file>