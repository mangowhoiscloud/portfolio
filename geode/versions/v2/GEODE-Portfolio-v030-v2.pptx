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7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12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2/slides/assets/bg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350" y="1084362"/>
            <a:ext cx="553938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96826" y="1144637"/>
            <a:ext cx="28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1303139" y="1084362"/>
            <a:ext cx="1272778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39614" y="1144637"/>
            <a:ext cx="10198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Execution Agent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664768" y="1084362"/>
            <a:ext cx="954732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01243" y="1144637"/>
            <a:ext cx="6954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36-day SOLO build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60350" y="1417588"/>
            <a:ext cx="7979765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60350" y="1859310"/>
            <a:ext cx="7979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 — Harness Engineer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0350" y="2065586"/>
            <a:ext cx="79797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{ observe → learn → act }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60350" y="2297311"/>
            <a:ext cx="5460950" cy="622250"/>
          </a:xfrm>
          <a:prstGeom prst="roundRect">
            <a:avLst>
              <a:gd name="adj" fmla="val 81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60350" y="2302073"/>
            <a:ext cx="54609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116538" y="2297311"/>
            <a:ext cx="0" cy="62225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60350" y="2914799"/>
            <a:ext cx="54609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84163" y="2297311"/>
            <a:ext cx="0" cy="622250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60375" y="2421136"/>
            <a:ext cx="5200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0375" y="2643336"/>
            <a:ext cx="5200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60350" y="3097262"/>
            <a:ext cx="812750" cy="542627"/>
          </a:xfrm>
          <a:prstGeom prst="roundRect">
            <a:avLst>
              <a:gd name="adj" fmla="val 936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04331" y="3208288"/>
            <a:ext cx="5247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04331" y="3462189"/>
            <a:ext cx="5247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1561951" y="3097262"/>
            <a:ext cx="870347" cy="542627"/>
          </a:xfrm>
          <a:prstGeom prst="roundRect">
            <a:avLst>
              <a:gd name="adj" fmla="val 936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705356" y="3208288"/>
            <a:ext cx="583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705356" y="3462189"/>
            <a:ext cx="58353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2521148" y="3097262"/>
            <a:ext cx="870347" cy="542627"/>
          </a:xfrm>
          <a:prstGeom prst="roundRect">
            <a:avLst>
              <a:gd name="adj" fmla="val 936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664553" y="3208288"/>
            <a:ext cx="583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2664553" y="3462189"/>
            <a:ext cx="58353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3480346" y="3097262"/>
            <a:ext cx="812750" cy="542627"/>
          </a:xfrm>
          <a:prstGeom prst="roundRect">
            <a:avLst>
              <a:gd name="adj" fmla="val 9362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624326" y="3208288"/>
            <a:ext cx="5247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624326" y="3462189"/>
            <a:ext cx="5247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4381946" y="3097262"/>
            <a:ext cx="813197" cy="542627"/>
          </a:xfrm>
          <a:prstGeom prst="roundRect">
            <a:avLst>
              <a:gd name="adj" fmla="val 9362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525923" y="3208288"/>
            <a:ext cx="525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525923" y="3462189"/>
            <a:ext cx="5252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660350" y="3754189"/>
            <a:ext cx="7979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tools +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Scaffold Skills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Releases · Feb 21 — Mar 28, 2026</a:t>
            </a:r>
            <a:endParaRPr lang="en-US" sz="600" dirty="0"/>
          </a:p>
        </p:txBody>
      </p:sp>
      <p:pic>
        <p:nvPicPr>
          <p:cNvPr id="35" name="Image 1" descr="/Users/mango/workspace/portfolio/geode/versions/v2/slides/assets/masc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349" y="3873698"/>
            <a:ext cx="1092101" cy="1092101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60350" y="5000625"/>
            <a:ext cx="129125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Harness Engineering</a:t>
            </a:r>
            <a:endParaRPr lang="en-US" sz="500" dirty="0"/>
          </a:p>
        </p:txBody>
      </p:sp>
      <p:sp>
        <p:nvSpPr>
          <p:cNvPr id="37" name="Text 33"/>
          <p:cNvSpPr/>
          <p:nvPr/>
        </p:nvSpPr>
        <p:spPr>
          <a:xfrm>
            <a:off x="828957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31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4031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—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합격 → 면접 탈락 → 자율 피봇 → 하네스 완성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탈락이 오히려 설계의 깊이를 증명했습니다. 도메인 파이프라인에서 범용 자율 실행 하네스로 — 36일 피봇.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283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879277"/>
            <a:ext cx="1892350" cy="25301"/>
          </a:xfrm>
          <a:prstGeom prst="rect">
            <a:avLst/>
          </a:prstGeom>
          <a:solidFill>
            <a:srgbClr val="F5C542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76500" y="815727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28900" y="879277"/>
            <a:ext cx="1892350" cy="25301"/>
          </a:xfrm>
          <a:prstGeom prst="rect">
            <a:avLst/>
          </a:prstGeom>
          <a:solidFill>
            <a:srgbClr val="F97316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21250" y="8283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48200" y="879277"/>
            <a:ext cx="1892350" cy="25301"/>
          </a:xfrm>
          <a:prstGeom prst="rect">
            <a:avLst/>
          </a:prstGeom>
          <a:solidFill>
            <a:srgbClr val="4ECDC4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40550" y="8283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67500" y="879277"/>
            <a:ext cx="1892350" cy="25301"/>
          </a:xfrm>
          <a:prstGeom prst="rect">
            <a:avLst/>
          </a:prstGeom>
          <a:solidFill>
            <a:srgbClr val="818CF8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59850" y="8283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1018877"/>
            <a:ext cx="1615083" cy="3582144"/>
          </a:xfrm>
          <a:prstGeom prst="roundRect">
            <a:avLst>
              <a:gd name="adj" fmla="val 31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1037927"/>
            <a:ext cx="1615083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067520" y="1018877"/>
            <a:ext cx="0" cy="3582144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4596259"/>
            <a:ext cx="1615083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1963" y="1018877"/>
            <a:ext cx="0" cy="3582144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3675" y="1171277"/>
            <a:ext cx="517178" cy="136327"/>
          </a:xfrm>
          <a:prstGeom prst="roundRect">
            <a:avLst>
              <a:gd name="adj" fmla="val 3726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9400" y="1206103"/>
            <a:ext cx="35264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— v0.8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1174254" y="1206103"/>
            <a:ext cx="27355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2026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593675" y="1371005"/>
            <a:ext cx="13689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과제 합격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3675" y="1558230"/>
            <a:ext cx="136897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넥슨 네비게이터실 Game IP 가치추론 DAG 전형. LangGraph StateGraph 9-Node 파이프라인으로 S/A/B/C 등급 판별.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3675" y="2154436"/>
            <a:ext cx="13421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3675" y="2154436"/>
            <a:ext cx="13689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14축 루브릭 + PSM 인과추론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93675" y="2278261"/>
            <a:ext cx="13689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Cross-LLM 검증 (69.4→99.8)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93675" y="4188470"/>
            <a:ext cx="1342132" cy="288727"/>
          </a:xfrm>
          <a:prstGeom prst="roundRect">
            <a:avLst>
              <a:gd name="adj" fmla="val 175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2526" y="4251871"/>
            <a:ext cx="11877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StateGraph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82526" y="4337596"/>
            <a:ext cx="118772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종속 파이프라인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2161133" y="1018877"/>
            <a:ext cx="1413867" cy="3582144"/>
          </a:xfrm>
          <a:prstGeom prst="roundRect">
            <a:avLst>
              <a:gd name="adj" fmla="val 3593"/>
            </a:avLst>
          </a:prstGeom>
          <a:solidFill>
            <a:srgbClr val="1E0D0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161133" y="1037927"/>
            <a:ext cx="1413867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570238" y="1018877"/>
            <a:ext cx="0" cy="3582144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2161133" y="4596259"/>
            <a:ext cx="1413867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165896" y="1018877"/>
            <a:ext cx="0" cy="3582144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297609" y="1171277"/>
            <a:ext cx="361801" cy="136327"/>
          </a:xfrm>
          <a:prstGeom prst="roundRect">
            <a:avLst>
              <a:gd name="adj" fmla="val 3726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383334" y="1206103"/>
            <a:ext cx="1941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2722811" y="1201341"/>
            <a:ext cx="34732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초 2026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2297609" y="1371005"/>
            <a:ext cx="11637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97609" y="1558230"/>
            <a:ext cx="11637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게임 </a:t>
            </a:r>
            <a:r>
              <a:rPr lang="en-US" altLang="ko-KR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파이프라인은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넥슨</a:t>
            </a: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수요에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종속, 재사용 불가. 범용 자율 실행 하네스로 방향 전환.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297609" y="4188470"/>
            <a:ext cx="1140916" cy="288727"/>
          </a:xfrm>
          <a:prstGeom prst="roundRect">
            <a:avLst>
              <a:gd name="adj" fmla="val 175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386459" y="4251871"/>
            <a:ext cx="982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DomainPort 설계 시작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386459" y="4337596"/>
            <a:ext cx="9824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인간적인 피봇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3663851" y="1018877"/>
            <a:ext cx="1615083" cy="3582144"/>
          </a:xfrm>
          <a:prstGeom prst="roundRect">
            <a:avLst>
              <a:gd name="adj" fmla="val 31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3663851" y="1037927"/>
            <a:ext cx="1615083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5274171" y="1018877"/>
            <a:ext cx="0" cy="3582144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663851" y="4596259"/>
            <a:ext cx="1615083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3668613" y="1018877"/>
            <a:ext cx="0" cy="3582144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3800326" y="1171277"/>
            <a:ext cx="587722" cy="136327"/>
          </a:xfrm>
          <a:prstGeom prst="roundRect">
            <a:avLst>
              <a:gd name="adj" fmla="val 37263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886051" y="1206103"/>
            <a:ext cx="4245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v0.10 — v0.16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4451449" y="1201341"/>
            <a:ext cx="34732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초 2026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3800326" y="1371005"/>
            <a:ext cx="136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Autonomous Pivot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800326" y="1663005"/>
            <a:ext cx="136897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종속 파이프라인을 범용 하네스로 전환. DomainPort Protocol 설계로 코어를 도메인에서 분리.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800326" y="2126010"/>
            <a:ext cx="13421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800326" y="2126010"/>
            <a:ext cx="13689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8-Category 분류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800326" y="2249835"/>
            <a:ext cx="13689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DI로 도메인 교체 가능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3800326" y="4188470"/>
            <a:ext cx="1342132" cy="288727"/>
          </a:xfrm>
          <a:prstGeom prst="roundRect">
            <a:avLst>
              <a:gd name="adj" fmla="val 175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889177" y="4251871"/>
            <a:ext cx="11877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DomainPort Protocol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3889177" y="4337596"/>
            <a:ext cx="118772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 하네스 전환점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5367784" y="1018877"/>
            <a:ext cx="1615083" cy="3582144"/>
          </a:xfrm>
          <a:prstGeom prst="roundRect">
            <a:avLst>
              <a:gd name="adj" fmla="val 31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367784" y="1037927"/>
            <a:ext cx="1615083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6978104" y="1018877"/>
            <a:ext cx="0" cy="35821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367784" y="4596259"/>
            <a:ext cx="1615083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5372546" y="1018877"/>
            <a:ext cx="0" cy="35821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5504259" y="1171277"/>
            <a:ext cx="587722" cy="136327"/>
          </a:xfrm>
          <a:prstGeom prst="roundRect">
            <a:avLst>
              <a:gd name="adj" fmla="val 372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589984" y="1206103"/>
            <a:ext cx="4245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 — v0.31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6155382" y="1201341"/>
            <a:ext cx="40334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중후 2026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5504259" y="1371005"/>
            <a:ext cx="13689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Harness 완성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504259" y="1558230"/>
            <a:ext cx="136897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→ DEV → RUNTIME 3중 루프 완성. 46 Hook Events, 21 Skills, 52 Tools.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504259" y="2021235"/>
            <a:ext cx="13421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504259" y="2021235"/>
            <a:ext cx="13689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· 3,201 테스트 무회귀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504259" y="2145060"/>
            <a:ext cx="13689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자율 실행 하네스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504259" y="4188470"/>
            <a:ext cx="1342132" cy="288727"/>
          </a:xfrm>
          <a:prstGeom prst="roundRect">
            <a:avLst>
              <a:gd name="adj" fmla="val 175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593110" y="4251871"/>
            <a:ext cx="11877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tool_use: loop()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593110" y="4337596"/>
            <a:ext cx="118772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Hooks · 21 Skills 완성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7071717" y="1018877"/>
            <a:ext cx="1615083" cy="3582144"/>
          </a:xfrm>
          <a:prstGeom prst="roundRect">
            <a:avLst>
              <a:gd name="adj" fmla="val 314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7071717" y="1037927"/>
            <a:ext cx="1615083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8682038" y="1018877"/>
            <a:ext cx="0" cy="3582144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7071717" y="4596259"/>
            <a:ext cx="1615083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7076480" y="1018877"/>
            <a:ext cx="0" cy="3582144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7208193" y="1171277"/>
            <a:ext cx="615553" cy="136327"/>
          </a:xfrm>
          <a:prstGeom prst="roundRect">
            <a:avLst>
              <a:gd name="adj" fmla="val 37263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7293918" y="1206103"/>
            <a:ext cx="4529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FORK: REODE</a:t>
            </a:r>
            <a:endParaRPr lang="en-US" sz="500" dirty="0"/>
          </a:p>
        </p:txBody>
      </p:sp>
      <p:sp>
        <p:nvSpPr>
          <p:cNvPr id="83" name="Text 81"/>
          <p:cNvSpPr/>
          <p:nvPr/>
        </p:nvSpPr>
        <p:spPr>
          <a:xfrm>
            <a:off x="7887146" y="1206103"/>
            <a:ext cx="2734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7208193" y="1371005"/>
            <a:ext cx="13689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— 범용성 실증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208193" y="1558230"/>
            <a:ext cx="136897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8→22, Spring 4.3→6.1. 241소스 103K LoC 레거시 마이그레이션 에이전트.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208193" y="2021235"/>
            <a:ext cx="13421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7208193" y="2021235"/>
            <a:ext cx="13689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7208193" y="2145060"/>
            <a:ext cx="13689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 0줄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7208193" y="4102745"/>
            <a:ext cx="1342132" cy="374452"/>
          </a:xfrm>
          <a:prstGeom prst="roundRect">
            <a:avLst>
              <a:gd name="adj" fmla="val 135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7297043" y="4166146"/>
            <a:ext cx="1187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DomainPort: 0 core changes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7297043" y="4337596"/>
            <a:ext cx="118772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범용성 검증 완료</a:t>
            </a:r>
            <a:endParaRPr lang="en-US" sz="500" dirty="0"/>
          </a:p>
        </p:txBody>
      </p:sp>
      <p:sp>
        <p:nvSpPr>
          <p:cNvPr id="92" name="Text 90"/>
          <p:cNvSpPr/>
          <p:nvPr/>
        </p:nvSpPr>
        <p:spPr>
          <a:xfrm>
            <a:off x="457200" y="4677073"/>
            <a:ext cx="8229600" cy="250627"/>
          </a:xfrm>
          <a:prstGeom prst="roundRect">
            <a:avLst>
              <a:gd name="adj" fmla="val 20269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540068" y="4749998"/>
            <a:ext cx="80638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 → 자율 피봇이 가장 인간적 내러티브. 도메인 종속에서 범용 하네스로, 36일.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457200" y="4991100"/>
            <a:ext cx="235175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합격(v0.6) → 면접 탈락(Pivot) → 범용 하네스(v0.31) → REODE fork 실증 — 36일</a:t>
            </a:r>
            <a:endParaRPr lang="en-US" sz="500" dirty="0"/>
          </a:p>
        </p:txBody>
      </p:sp>
      <p:sp>
        <p:nvSpPr>
          <p:cNvPr id="95" name="Text 93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31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9813"/>
            <a:ext cx="23746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— HARNESS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4-Axis Framework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6347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LLM을 신뢰 가능한 시스템으로 수렴시키는 4개 제어 축. 루프가 데이터를 생산하고, 관측이 포착하고, 검증이 확인하고, 컨텍스트가 다음 반복을 제어한다.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44451"/>
            <a:ext cx="1981200" cy="373112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092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069777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0626" y="1212652"/>
            <a:ext cx="6375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Control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46342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56492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주입 설계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0626" y="172045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6-Phase: template → override → skill → memory → bootstrap 순서로 동적 조립. LLM이 보는 것이 곧 결과.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243095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0151" y="252933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prompt caching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30151" y="267220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노드 동일 프롬프트 공유 → 입력 비용 </a:t>
            </a: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절감. 200 turns sliding window.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901" y="844451"/>
            <a:ext cx="1981349" cy="373112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6376" y="98092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3327" y="1069777"/>
            <a:ext cx="535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03327" y="1212652"/>
            <a:ext cx="535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676376" y="1463427"/>
            <a:ext cx="1708398" cy="758130"/>
          </a:xfrm>
          <a:prstGeom prst="roundRect">
            <a:avLst>
              <a:gd name="adj" fmla="val 6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03327" y="156492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03327" y="1720453"/>
            <a:ext cx="1483587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while(tool_use), 최대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라운드. 자연 종료·수렴 감지(동일 에러 4회)·강제 텍스트 등 5가지 경로로 종료.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76376" y="2297757"/>
            <a:ext cx="1708398" cy="817215"/>
          </a:xfrm>
          <a:prstGeom prst="roundRect">
            <a:avLst>
              <a:gd name="adj" fmla="val 6216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12852" y="2396133"/>
            <a:ext cx="1464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tools × 50 rounds 자율 실행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12852" y="2643783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안전 등급. TIER 0-1 병렬, TIER 2 비용 일괄 승인, TIER 3-4 HITL 순차. 3-Provider Failover.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44451"/>
            <a:ext cx="1981200" cy="373112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59226" y="98092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6176" y="1069777"/>
            <a:ext cx="3802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6176" y="1212652"/>
            <a:ext cx="380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59226" y="146342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86176" y="156492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비결정론 → 신뢰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86176" y="172045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 → GEODE 5-Layer로 진화: 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69.4 → 99.8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정확도. 단일 LLM 평가의 Confirmation Bias 제거.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59226" y="243095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95701" y="252933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5-Layer + Cross-LLM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5701" y="267220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→ BiasBuster(6종) → Claude×GPT 교차검증(α≥0.67) → Confidence Gate(0.7).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05451" y="844451"/>
            <a:ext cx="1981349" cy="3731121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41927" y="98092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68877" y="1069777"/>
            <a:ext cx="449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8877" y="1212652"/>
            <a:ext cx="4493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41927" y="1463427"/>
            <a:ext cx="1708398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68877" y="156492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증명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68877" y="1720453"/>
            <a:ext cx="1483587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-Event Hook Observer가 파이프라인 전 생명주기를 포착. LEARNINGS.md에 자동 축적. 루프가 작동함을 증명해야 신뢰 가능.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41927" y="2430959"/>
            <a:ext cx="1708398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978402" y="2529334"/>
            <a:ext cx="14641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 / OTEL / CUSUM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78402" y="2672209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18개 모델 가격 레지스트리. 컨텍스트 80% 경고, 95% 위험 시 adaptive pruning 발동.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07641" y="4638973"/>
            <a:ext cx="64636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44117" y="4699248"/>
            <a:ext cx="380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330202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495401" y="4638973"/>
            <a:ext cx="486370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631877" y="4699248"/>
            <a:ext cx="2176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057971" y="4708773"/>
            <a:ext cx="4926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data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617119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82318" y="4638973"/>
            <a:ext cx="96634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918793" y="4699248"/>
            <a:ext cx="7072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24859" y="4708773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93357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58557" y="4638973"/>
            <a:ext cx="912912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495032" y="4699248"/>
            <a:ext cx="652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47668" y="4708773"/>
            <a:ext cx="3067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724650" y="470401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21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889849" y="4638973"/>
            <a:ext cx="646361" cy="225326"/>
          </a:xfrm>
          <a:prstGeom prst="roundRect">
            <a:avLst>
              <a:gd name="adj" fmla="val 2254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026325" y="4699248"/>
            <a:ext cx="380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78450"/>
            <a:ext cx="133330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축이 순환하며 LLM의 발산을 수렴으로 제어한다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31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9813"/>
            <a:ext cx="23746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— HARNESS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META, DEV, RUNTIME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082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세 루프의 공유 기본 단위. RUNTIME이 DEV를 먹이고, DEV가 META를 먹인다. Hook 46 events가 루프 간 신호를 전달한다.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19001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60090"/>
            <a:ext cx="10621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093440"/>
            <a:ext cx="10621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Evolution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93675" y="1191816"/>
            <a:ext cx="10621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736527" y="930027"/>
            <a:ext cx="1761976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47552" y="1015752"/>
            <a:ext cx="1570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47552" y="1136303"/>
            <a:ext cx="15707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결과 · DRIFT_DETECTED · 세션 회고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549253" y="106174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41390" y="930027"/>
            <a:ext cx="1762125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52416" y="1015752"/>
            <a:ext cx="1570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52416" y="1136303"/>
            <a:ext cx="15708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· anti-pattern 식별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554266" y="106174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46403" y="930027"/>
            <a:ext cx="2224088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57429" y="1015752"/>
            <a:ext cx="20420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Scaffold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857429" y="1136303"/>
            <a:ext cx="20420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23 CANNOT 규칙 · 21 Skills · CI 래칫 ≥3,201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071991" y="1025277"/>
            <a:ext cx="478334" cy="187226"/>
          </a:xfrm>
          <a:prstGeom prst="roundRect">
            <a:avLst>
              <a:gd name="adj" fmla="val 20350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60841" y="1076027"/>
            <a:ext cx="306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625501" y="1482179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27002" y="1502718"/>
            <a:ext cx="39375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· TURN_COMPLETE → LEARNINGS.md 업데이트 → CLAUDE.md CANNOT 규칙 추가 · 스킬 생성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7200" y="1672530"/>
            <a:ext cx="8229600" cy="685502"/>
          </a:xfrm>
          <a:prstGeom prst="roundRect">
            <a:avLst>
              <a:gd name="adj" fmla="val 926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3675" y="1856482"/>
            <a:ext cx="10621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3675" y="1989832"/>
            <a:ext cx="10621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per-PR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93675" y="2088207"/>
            <a:ext cx="10621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736527" y="1783556"/>
            <a:ext cx="1365647" cy="463451"/>
          </a:xfrm>
          <a:prstGeom prst="roundRect">
            <a:avLst>
              <a:gd name="adj" fmla="val 10961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47552" y="1869281"/>
            <a:ext cx="11664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47552" y="1989832"/>
            <a:ext cx="11664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5Q · GAP Audit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152924" y="1958132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45061" y="1783556"/>
            <a:ext cx="1365796" cy="463451"/>
          </a:xfrm>
          <a:prstGeom prst="roundRect">
            <a:avLst>
              <a:gd name="adj" fmla="val 10961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56087" y="1869281"/>
            <a:ext cx="1166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56087" y="1989832"/>
            <a:ext cx="11666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 · ruff+mypy+pytest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61607" y="1958132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53744" y="1783556"/>
            <a:ext cx="1365647" cy="463451"/>
          </a:xfrm>
          <a:prstGeom prst="roundRect">
            <a:avLst>
              <a:gd name="adj" fmla="val 10961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64770" y="1869281"/>
            <a:ext cx="11664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64770" y="1989832"/>
            <a:ext cx="11664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리뷰 · CI 5/5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370141" y="1958132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62279" y="1783556"/>
            <a:ext cx="1365796" cy="463451"/>
          </a:xfrm>
          <a:prstGeom prst="roundRect">
            <a:avLst>
              <a:gd name="adj" fmla="val 10961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73304" y="1869281"/>
            <a:ext cx="1166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73304" y="1989832"/>
            <a:ext cx="11666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PR→main · #500+ PRs · progress.md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029575" y="1921669"/>
            <a:ext cx="520750" cy="187226"/>
          </a:xfrm>
          <a:prstGeom prst="roundRect">
            <a:avLst>
              <a:gd name="adj" fmla="val 20350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118425" y="1972419"/>
            <a:ext cx="3499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625501" y="2421434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27002" y="2441972"/>
            <a:ext cx="41318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→ GEODE.md + MEMORY.md + LEARNINGS.md 로드 · VERIFICATION_FAIL → 새 DEV PR 트리거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2611785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3675" y="2752874"/>
            <a:ext cx="10621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3675" y="2886224"/>
            <a:ext cx="10621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while(tool_use)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3675" y="2984599"/>
            <a:ext cx="10621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736527" y="2722811"/>
            <a:ext cx="1353294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847552" y="2808536"/>
            <a:ext cx="11538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47552" y="2929086"/>
            <a:ext cx="11538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 · SESSION_START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140571" y="2854523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32708" y="2722811"/>
            <a:ext cx="1466552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443734" y="2808536"/>
            <a:ext cx="12693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443734" y="2929086"/>
            <a:ext cx="12693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native + 45 MCP · 4-경로 디스패치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850011" y="2854523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42148" y="2722811"/>
            <a:ext cx="1353294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53174" y="2808536"/>
            <a:ext cx="11538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153174" y="2929086"/>
            <a:ext cx="11538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· conf ≥0.7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446193" y="2854523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38330" y="2722811"/>
            <a:ext cx="1353294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749355" y="2808536"/>
            <a:ext cx="11538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749355" y="2929086"/>
            <a:ext cx="11538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events · 메모리 저장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093125" y="2818061"/>
            <a:ext cx="457200" cy="187226"/>
          </a:xfrm>
          <a:prstGeom prst="roundRect">
            <a:avLst>
              <a:gd name="adj" fmla="val 2035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181975" y="2868811"/>
            <a:ext cx="2850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57200" y="4978450"/>
            <a:ext cx="268026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워크플로우가 시스템을 만든다. 시스템이 워크플로우를 증명한다. 46 Hook events가 세 루프를 연결한다.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31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9813"/>
            <a:ext cx="17269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Architecture: 187 Modules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6347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runtime.py 1,476줄에서 187개 모듈 6개 레이어로. Trade-off: 6-layer 복잡도를 감수한 이유는 DomainPort로 도메인을 코어에서 분리해 피봇 비용 0으로 만들기 위함.</a:t>
            </a:r>
            <a:endParaRPr lang="en-US" sz="700" dirty="0"/>
          </a:p>
        </p:txBody>
      </p:sp>
      <p:pic>
        <p:nvPicPr>
          <p:cNvPr id="6" name="Image 0" descr="/Users/mango/workspace/portfolio/geode/versions/v2/slides/assets/v028-diagram-3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6188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46899" y="831652"/>
            <a:ext cx="2539901" cy="1602879"/>
          </a:xfrm>
          <a:prstGeom prst="roundRect">
            <a:avLst>
              <a:gd name="adj" fmla="val 31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83375" y="942677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Module Counts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83375" y="1133177"/>
            <a:ext cx="6023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CLI + Agent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300740" y="1133177"/>
            <a:ext cx="2545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+ 8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283375" y="1279178"/>
            <a:ext cx="7684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Infra + Gateway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8251329" y="1279178"/>
            <a:ext cx="3049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+ 13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283375" y="1425178"/>
            <a:ext cx="4534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Memory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451354" y="1425178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83375" y="1571179"/>
            <a:ext cx="6702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Orchestration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8451354" y="157117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283375" y="1717179"/>
            <a:ext cx="6407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Tools + MCP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8251329" y="1717179"/>
            <a:ext cx="3049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+ 18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283375" y="1863179"/>
            <a:ext cx="760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Domain Plugins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8451354" y="1863179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283375" y="2013942"/>
            <a:ext cx="22669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283375" y="2148780"/>
            <a:ext cx="2937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126611" y="2069455"/>
            <a:ext cx="43218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146899" y="2510730"/>
            <a:ext cx="2539901" cy="812155"/>
          </a:xfrm>
          <a:prstGeom prst="roundRect">
            <a:avLst>
              <a:gd name="adj" fmla="val 625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83375" y="2621756"/>
            <a:ext cx="2312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— Cross-cutting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83375" y="2799457"/>
            <a:ext cx="231228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(7 모듈)는 L0-L5 전 레이어에서 import 가능한 횡단 관심사. 종속 사이클 해소를 위해 분리 추출.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283375" y="3116610"/>
            <a:ext cx="2312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events · </a:t>
            </a: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146899" y="3399086"/>
            <a:ext cx="2539901" cy="634454"/>
          </a:xfrm>
          <a:prstGeom prst="roundRect">
            <a:avLst>
              <a:gd name="adj" fmla="val 8007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283375" y="3510111"/>
            <a:ext cx="23122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283375" y="3656112"/>
            <a:ext cx="231228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복잡도 vs 도메인 피봇 능력. 복잡도를 감수한 결과: GEODE → REODE 코어 수정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57200" y="5000625"/>
            <a:ext cx="35642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— new domain swap without touching infrastructure code · 187 modules · 46 Hook events · 3,201 tests</a:t>
            </a:r>
            <a:endParaRPr lang="en-US" sz="500" dirty="0"/>
          </a:p>
        </p:txBody>
      </p:sp>
      <p:sp>
        <p:nvSpPr>
          <p:cNvPr id="32" name="Text 29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31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9813"/>
            <a:ext cx="17269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— while(tool_use)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6347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tool_use를 반환하는 한 최대 50 라운드까지 루프를 계속하고, 5가지 경로로 종료한다. Trade-off: 무한 루프 위험 vs 자율성 — 5가지 종료 경로로 제어.</a:t>
            </a:r>
            <a:endParaRPr lang="en-US" sz="700" dirty="0"/>
          </a:p>
        </p:txBody>
      </p:sp>
      <p:pic>
        <p:nvPicPr>
          <p:cNvPr id="6" name="Image 0" descr="/Users/mango/workspace/portfolio/geode/versions/v2/slides/assets/v028-diagram-agentic-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" y="1698575"/>
            <a:ext cx="5079950" cy="236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19800" y="831652"/>
            <a:ext cx="2667000" cy="1287661"/>
          </a:xfrm>
          <a:prstGeom prst="roundRect">
            <a:avLst>
              <a:gd name="adj" fmla="val 394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68926" y="955477"/>
            <a:ext cx="24161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168926" y="1155502"/>
            <a:ext cx="364034" cy="117277"/>
          </a:xfrm>
          <a:prstGeom prst="roundRect">
            <a:avLst>
              <a:gd name="adj" fmla="val 32487"/>
            </a:avLst>
          </a:prstGeom>
          <a:solidFill>
            <a:srgbClr val="34D399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245126" y="1180802"/>
            <a:ext cx="2158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6634460" y="1155502"/>
            <a:ext cx="13248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end_turn 반환 — 자연 완료.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168926" y="1336179"/>
            <a:ext cx="346323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45126" y="1361480"/>
            <a:ext cx="1978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616750" y="1336179"/>
            <a:ext cx="12740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잔여 2라운드에서 텍스트 강제 추출.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168926" y="1516856"/>
            <a:ext cx="543818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45126" y="1542157"/>
            <a:ext cx="39924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6814245" y="1516856"/>
            <a:ext cx="11799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4회 반복 → 조기 종료.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168926" y="1697534"/>
            <a:ext cx="427434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245126" y="1722834"/>
            <a:ext cx="2805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llm_error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6697861" y="1697534"/>
            <a:ext cx="16262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→ Cross-Provider Fallback.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168926" y="1878211"/>
            <a:ext cx="441573" cy="117277"/>
          </a:xfrm>
          <a:prstGeom prst="roundRect">
            <a:avLst>
              <a:gd name="adj" fmla="val 32487"/>
            </a:avLst>
          </a:prstGeom>
          <a:solidFill>
            <a:srgbClr val="8B949E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45126" y="1903512"/>
            <a:ext cx="29495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6712000" y="1878211"/>
            <a:ext cx="1244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 인터럽트 또는 billing 에러.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019800" y="2195513"/>
            <a:ext cx="2667000" cy="926306"/>
          </a:xfrm>
          <a:prstGeom prst="roundRect">
            <a:avLst>
              <a:gd name="adj" fmla="val 54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68926" y="2319338"/>
            <a:ext cx="24161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 3단계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168926" y="2519363"/>
            <a:ext cx="434578" cy="117277"/>
          </a:xfrm>
          <a:prstGeom prst="roundRect">
            <a:avLst>
              <a:gd name="adj" fmla="val 32487"/>
            </a:avLst>
          </a:prstGeom>
          <a:solidFill>
            <a:srgbClr val="818CF8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245126" y="2544663"/>
            <a:ext cx="2878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turns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6705005" y="2519363"/>
            <a:ext cx="17542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— 최초 메시지 보존, 중간 제거.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168926" y="2700040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245126" y="2725341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549926" y="2700040"/>
            <a:ext cx="13931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80% → compact 압축 발동.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168926" y="2880717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245126" y="2906018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6549926" y="2880717"/>
            <a:ext cx="14170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→ emergency prune 자동 발동.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019800" y="3198019"/>
            <a:ext cx="2667000" cy="596503"/>
          </a:xfrm>
          <a:prstGeom prst="roundRect">
            <a:avLst>
              <a:gd name="adj" fmla="val 8516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168926" y="3296394"/>
            <a:ext cx="24161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6168926" y="3429744"/>
            <a:ext cx="241612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무한 루프 위험 vs 자율성. 5가지 종료 경로로 제어하되, Provider Fallback이 루프를 살려 자율성 극대화.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57200" y="4991100"/>
            <a:ext cx="373819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Code의 while(tool_use) 패턴 참조 — DEFAULT_MAX_ROUNDS=50 · WRAP_UP_HEADROOM=2 · 200-turn sliding window</a:t>
            </a:r>
            <a:endParaRPr lang="en-US" sz="500" dirty="0"/>
          </a:p>
        </p:txBody>
      </p:sp>
      <p:sp>
        <p:nvSpPr>
          <p:cNvPr id="39" name="Text 36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31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9813"/>
            <a:ext cx="899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73001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편향을 병렬 전문가 4명 + 교차 검증 + PSM으로 극복합니다.</a:t>
            </a:r>
            <a:endParaRPr lang="en-US" sz="700" dirty="0"/>
          </a:p>
        </p:txBody>
      </p:sp>
      <p:pic>
        <p:nvPicPr>
          <p:cNvPr id="6" name="Image 0" descr="/Users/mango/workspace/portfolio/geode/versions/v2/slides/assets/v028-diagram-pipeline-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41177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20827"/>
            <a:ext cx="5587901" cy="698004"/>
          </a:xfrm>
          <a:prstGeom prst="roundRect">
            <a:avLst>
              <a:gd name="adj" fmla="val 727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3675" y="3619202"/>
            <a:ext cx="31595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93675" y="3752552"/>
            <a:ext cx="315951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93675" y="3885754"/>
            <a:ext cx="315951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93675" y="4044255"/>
            <a:ext cx="31595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843635" y="3619202"/>
            <a:ext cx="21062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843635" y="3762077"/>
            <a:ext cx="21062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≥80 · A ≥60 · B ≥40 · C &lt;40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843635" y="3895427"/>
            <a:ext cx="210629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축 코드 결정 트리 (LLM 아님)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457200" y="4295031"/>
            <a:ext cx="5587901" cy="606028"/>
          </a:xfrm>
          <a:prstGeom prst="roundRect">
            <a:avLst>
              <a:gd name="adj" fmla="val 8382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3675" y="4393406"/>
            <a:ext cx="54212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Clean Context: 앵커링 편향 차단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93675" y="4536281"/>
            <a:ext cx="542124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"Analyst A의 S급 평가가 Analyst B를 편향시킵니다." 각 분석가에게 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전달 — 다른 분석가 점수 완전 차단. 7개 병렬 LLM 호출에서 독립 평가 보장.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172051" y="841177"/>
            <a:ext cx="25650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 — Golden Set 검증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172051" y="1041202"/>
            <a:ext cx="2514749" cy="546050"/>
          </a:xfrm>
          <a:prstGeom prst="roundRect">
            <a:avLst>
              <a:gd name="adj" fmla="val 930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293083" y="1139577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293083" y="1393627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689527" y="1176040"/>
            <a:ext cx="1312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689527" y="1290340"/>
            <a:ext cx="13128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689527" y="1385590"/>
            <a:ext cx="13128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 → marketing_boost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6172051" y="1663452"/>
            <a:ext cx="2514749" cy="546050"/>
          </a:xfrm>
          <a:prstGeom prst="roundRect">
            <a:avLst>
              <a:gd name="adj" fmla="val 930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293083" y="1761827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293083" y="2015877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89527" y="1798290"/>
            <a:ext cx="1366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689527" y="1912590"/>
            <a:ext cx="1366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689527" y="2007840"/>
            <a:ext cx="13666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 → community_activation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172051" y="2285702"/>
            <a:ext cx="2514749" cy="546050"/>
          </a:xfrm>
          <a:prstGeom prst="roundRect">
            <a:avLst>
              <a:gd name="adj" fmla="val 9303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293083" y="2384078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293083" y="2638127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689527" y="2420541"/>
            <a:ext cx="1359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the Shell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89527" y="2534841"/>
            <a:ext cx="1359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689527" y="2630091"/>
            <a:ext cx="13595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 → platform_expansion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6172051" y="2907953"/>
            <a:ext cx="2514749" cy="2029271"/>
          </a:xfrm>
          <a:prstGeom prst="roundRect">
            <a:avLst>
              <a:gd name="adj" fmla="val 250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295876" y="3018979"/>
            <a:ext cx="2312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295876" y="3206204"/>
            <a:ext cx="2267099" cy="55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295876" y="3206204"/>
            <a:ext cx="23124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— 스키마·범위·근거·일관성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295876" y="3361730"/>
            <a:ext cx="23124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 — 6종 편향 탐지 (arXiv:2403.00811)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295876" y="3517255"/>
            <a:ext cx="23124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295876" y="3663255"/>
            <a:ext cx="23124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57200" y="5000625"/>
            <a:ext cx="32399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loopback ≥0.7 · max 5 iterations</a:t>
            </a:r>
            <a:endParaRPr lang="en-US" sz="500" dirty="0"/>
          </a:p>
        </p:txBody>
      </p:sp>
      <p:sp>
        <p:nvSpPr>
          <p:cNvPr id="45" name="Text 42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31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9813"/>
            <a:ext cx="899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이식성: GEODE ↔ REODE — 코어 수정 0줄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73001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코어를 손대지 않고 도메인만 교체. DomainPort Protocol이 도메인을 코어에서 분리합니다. Trade-off: Protocol 15 methods vs single method — 유연성 vs 구현 부담.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41177"/>
            <a:ext cx="2900214" cy="1247626"/>
          </a:xfrm>
          <a:prstGeom prst="roundRect">
            <a:avLst>
              <a:gd name="adj" fmla="val 407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60227"/>
            <a:ext cx="2900214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6801" y="993577"/>
            <a:ext cx="2673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801" y="1165027"/>
            <a:ext cx="26734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6801" y="1346002"/>
            <a:ext cx="2621012" cy="628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01" y="1346002"/>
            <a:ext cx="26734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· 3,201 테스트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6801" y="1520577"/>
            <a:ext cx="26734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 + 45 MCP · 21 Skills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6801" y="1685627"/>
            <a:ext cx="26734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 무회귀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6801" y="1860203"/>
            <a:ext cx="26734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177653"/>
            <a:ext cx="2900214" cy="2750046"/>
          </a:xfrm>
          <a:prstGeom prst="roundRect">
            <a:avLst>
              <a:gd name="adj" fmla="val 184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6326" y="2301478"/>
            <a:ext cx="26540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(2-Protocol 직교 설계)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6326" y="2469654"/>
            <a:ext cx="2601962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326" y="2469654"/>
            <a:ext cx="26540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 — 실행 흐름 정의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6326" y="2625179"/>
            <a:ext cx="26540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 — 언어·포맷 변환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6326" y="2818805"/>
            <a:ext cx="2601962" cy="361950"/>
          </a:xfrm>
          <a:prstGeom prst="roundRect">
            <a:avLst>
              <a:gd name="adj" fmla="val 14035"/>
            </a:avLst>
          </a:prstGeom>
          <a:solidFill>
            <a:srgbClr val="06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626" y="2895005"/>
            <a:ext cx="24208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0626" y="2999780"/>
            <a:ext cx="24208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3244155"/>
            <a:ext cx="265400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 — 상속 없이 메서드 구현하면 즉시 호환. Pipeline 노드는 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get_domain_or_none()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조회 후 fallback.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84364" y="1397496"/>
            <a:ext cx="2175272" cy="1453604"/>
          </a:xfrm>
          <a:prstGeom prst="roundRect">
            <a:avLst>
              <a:gd name="adj" fmla="val 5242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24435" y="1556147"/>
            <a:ext cx="18951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24435" y="1759297"/>
            <a:ext cx="189513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43015" y="1981349"/>
            <a:ext cx="1857970" cy="323850"/>
          </a:xfrm>
          <a:prstGeom prst="roundRect">
            <a:avLst>
              <a:gd name="adj" fmla="val 15686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27966" y="2057549"/>
            <a:ext cx="16880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27966" y="2152799"/>
            <a:ext cx="168806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643015" y="2368600"/>
            <a:ext cx="1857970" cy="323850"/>
          </a:xfrm>
          <a:prstGeom prst="roundRect">
            <a:avLst>
              <a:gd name="adj" fmla="val 15686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27966" y="2444800"/>
            <a:ext cx="16880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27966" y="2540050"/>
            <a:ext cx="168806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484364" y="2939951"/>
            <a:ext cx="2175272" cy="746075"/>
          </a:xfrm>
          <a:prstGeom prst="roundRect">
            <a:avLst>
              <a:gd name="adj" fmla="val 6809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14720" y="3063776"/>
            <a:ext cx="191456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14720" y="3381226"/>
            <a:ext cx="19145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14720" y="3486001"/>
            <a:ext cx="191456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3484364" y="3774877"/>
            <a:ext cx="2175272" cy="596503"/>
          </a:xfrm>
          <a:prstGeom prst="roundRect">
            <a:avLst>
              <a:gd name="adj" fmla="val 8516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33490" y="3873252"/>
            <a:ext cx="19145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33490" y="4006602"/>
            <a:ext cx="191456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15 methods vs single method. 구현 부담을 감수했더니: GEODE → REODE 피봇 비용 0.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86586" y="841177"/>
            <a:ext cx="2900214" cy="1073051"/>
          </a:xfrm>
          <a:prstGeom prst="roundRect">
            <a:avLst>
              <a:gd name="adj" fmla="val 473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786586" y="860227"/>
            <a:ext cx="2900214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926187" y="993577"/>
            <a:ext cx="2673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26187" y="1165027"/>
            <a:ext cx="26734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926187" y="1346002"/>
            <a:ext cx="2621012" cy="453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26187" y="1346002"/>
            <a:ext cx="26734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26187" y="1520577"/>
            <a:ext cx="26734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OpenRewrite 70% + LLM 30%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26187" y="1685627"/>
            <a:ext cx="26734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86586" y="2003078"/>
            <a:ext cx="2900214" cy="2924621"/>
          </a:xfrm>
          <a:prstGeom prst="roundRect">
            <a:avLst>
              <a:gd name="adj" fmla="val 175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35712" y="2126903"/>
            <a:ext cx="2654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 — Java 마이그레이션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23275" y="2339578"/>
            <a:ext cx="1268632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5923275" y="2618929"/>
            <a:ext cx="12686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281330" y="2339578"/>
            <a:ext cx="126878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281330" y="2618929"/>
            <a:ext cx="12687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923275" y="2812554"/>
            <a:ext cx="1268632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923275" y="3091904"/>
            <a:ext cx="12686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281330" y="2812554"/>
            <a:ext cx="1268784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281330" y="3091904"/>
            <a:ext cx="12687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935712" y="3285530"/>
            <a:ext cx="2601962" cy="396776"/>
          </a:xfrm>
          <a:prstGeom prst="roundRect">
            <a:avLst>
              <a:gd name="adj" fmla="val 12803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35994" y="3371255"/>
            <a:ext cx="24013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35994" y="3520380"/>
            <a:ext cx="24013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5935712" y="3745706"/>
            <a:ext cx="2654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Scorecard: 테스트 삭제·skipTests·JDK 다운그레이드·@SuppressWarnings 주입 차단. macOS Seatbelt 34-패턴 deny-list.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457200" y="4991100"/>
            <a:ext cx="34653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· ContextVar DI · core/graph.py 0줄 수정 · REODE: 241 소스 103K LoC · 33 세션 1,133 라운드 · 83/83 빌드 패스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31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9813"/>
            <a:ext cx="26550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RESULTS FIRST — PATTERN REUSE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 → GEODE → REODE: 패턴 재사용 증거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73001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프로젝트에 걸쳐 동일 패턴이 진화했습니다. Trade-off: 프레임워크 재사용 vs 바닥부터 재설계 — 재사용 선택 이유는 아래 4개 패턴이 증명합니다.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41177"/>
            <a:ext cx="2445841" cy="345877"/>
          </a:xfrm>
          <a:prstGeom prst="roundRect">
            <a:avLst>
              <a:gd name="adj" fmla="val 1468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946" y="914102"/>
            <a:ext cx="2216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946" y="1028402"/>
            <a:ext cx="22163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원형 패턴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953792" y="9426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1641" y="841177"/>
            <a:ext cx="2880568" cy="345877"/>
          </a:xfrm>
          <a:prstGeom prst="rect">
            <a:avLst/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2041" y="914102"/>
            <a:ext cx="2659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42041" y="1028402"/>
            <a:ext cx="2659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심화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062960" y="9426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40810" y="841177"/>
            <a:ext cx="2445990" cy="345877"/>
          </a:xfrm>
          <a:prstGeom prst="rect">
            <a:avLst/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5555" y="914102"/>
            <a:ext cx="221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5555" y="1028402"/>
            <a:ext cx="221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적용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7200" y="1250454"/>
            <a:ext cx="8229600" cy="463451"/>
          </a:xfrm>
          <a:prstGeom prst="roundRect">
            <a:avLst>
              <a:gd name="adj" fmla="val 1096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675" y="1348829"/>
            <a:ext cx="50750" cy="2667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1429792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레이어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117378" y="1391692"/>
            <a:ext cx="17985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117378" y="1486942"/>
            <a:ext cx="17985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 → 3겹 필터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982194" y="1425029"/>
            <a:ext cx="196132" cy="1143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5C542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75981" y="1348829"/>
            <a:ext cx="21582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5-Layer Verification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75981" y="1444079"/>
            <a:ext cx="21582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BiasBuster(6종) + Cross-LLM α≥0.67 + Confidence Gate → 69.4→99.8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493371" y="1425029"/>
            <a:ext cx="196132" cy="1143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87158" y="1391692"/>
            <a:ext cx="1798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787158" y="1486942"/>
            <a:ext cx="1798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품질 5관문 차단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1777305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675" y="1875681"/>
            <a:ext cx="50750" cy="1905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5927" y="1918543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추상화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17378" y="1875681"/>
            <a:ext cx="17985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LLMClientPort 추상화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117378" y="1980456"/>
            <a:ext cx="17985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종속 위험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982194" y="1913781"/>
            <a:ext cx="196132" cy="1143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75981" y="1880443"/>
            <a:ext cx="21582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 + ContextVar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275981" y="1975693"/>
            <a:ext cx="21582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Anthropic·OpenAI·ZhipuAI 3-Provider 독립 추상화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493371" y="1913781"/>
            <a:ext cx="196132" cy="1143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87158" y="1880443"/>
            <a:ext cx="1798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787158" y="1975693"/>
            <a:ext cx="1798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Java 도메인 교체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57200" y="2227957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3675" y="2326332"/>
            <a:ext cx="50750" cy="1905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5927" y="2369195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시스템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117378" y="2331095"/>
            <a:ext cx="17985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3-Tier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117378" y="2426345"/>
            <a:ext cx="17985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콜백으로 확장 불가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982194" y="2364432"/>
            <a:ext cx="196132" cy="1143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75981" y="2331095"/>
            <a:ext cx="21582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46 Events, 8 Categories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275981" y="2426345"/>
            <a:ext cx="21582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기반 핸들러 · StuckDetector 120s · 에러 격리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493371" y="2364432"/>
            <a:ext cx="196132" cy="1143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87158" y="2326332"/>
            <a:ext cx="17984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HookSystem 상속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787158" y="2431107"/>
            <a:ext cx="1798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 이벤트 동일 패턴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2678609"/>
            <a:ext cx="8229600" cy="463451"/>
          </a:xfrm>
          <a:prstGeom prst="roundRect">
            <a:avLst>
              <a:gd name="adj" fmla="val 1096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3675" y="2776984"/>
            <a:ext cx="50750" cy="26670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5927" y="2857946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복원력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117378" y="2819846"/>
            <a:ext cx="17985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+ Jitter Backoff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117378" y="2915096"/>
            <a:ext cx="17985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장애 시 전체 중단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982194" y="2853184"/>
            <a:ext cx="196132" cy="1143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75981" y="2776984"/>
            <a:ext cx="21582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(CB ×3)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275981" y="2872234"/>
            <a:ext cx="21582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연속 실패 → 60s OPEN → Half-Open 프로브. Exp. Backoff ±25% Jitter.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493371" y="2853184"/>
            <a:ext cx="196132" cy="1143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787158" y="2819846"/>
            <a:ext cx="1798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LLM Failover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787158" y="2915096"/>
            <a:ext cx="1798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CB 패턴으로 마이그레이션 내성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648498"/>
            <a:ext cx="8229600" cy="250627"/>
          </a:xfrm>
          <a:prstGeom prst="roundRect">
            <a:avLst>
              <a:gd name="adj" fmla="val 20269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40068" y="4721423"/>
            <a:ext cx="80638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프레임워크 재사용 vs 바닥부터 재설계: 재사용으로 REODE 출시 기간을 단축하고, Eco²에서 검증된 패턴으로 품질을 보장했습니다.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5000625"/>
            <a:ext cx="361401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→ 5-Layer · LLMClientPort → Port/Adapter · Event Bus → HookSystem · Circuit Breaker → 3-Provider Failover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31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3029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 — STRUCTURAL ISOMORPHISM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Builds Harness — 3 Mirror Pairs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72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SCAFFOLD과 GEODE가 동일한 아키텍처 원시형을 공유한다. 빌더와 결과물의 구조적 거울.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80901"/>
            <a:ext cx="3632150" cy="4096048"/>
          </a:xfrm>
          <a:prstGeom prst="roundRect">
            <a:avLst>
              <a:gd name="adj" fmla="val 174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17377"/>
            <a:ext cx="3359200" cy="339626"/>
          </a:xfrm>
          <a:prstGeom prst="roundRect">
            <a:avLst>
              <a:gd name="adj" fmla="val 14958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9288" y="977652"/>
            <a:ext cx="314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9288" y="1111002"/>
            <a:ext cx="31479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GEODE를 빌드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333202"/>
            <a:ext cx="3359200" cy="1084957"/>
          </a:xfrm>
          <a:prstGeom prst="roundRect">
            <a:avLst>
              <a:gd name="adj" fmla="val 468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200" y="1333202"/>
            <a:ext cx="0" cy="1084957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9676" y="1434703"/>
            <a:ext cx="31479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425줄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9676" y="1596628"/>
            <a:ext cx="314797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읽고 내면화하는 빌더 SOT. 23 CANNOT 규칙으로 과잉 구현을 소스에서 차단.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2494359"/>
            <a:ext cx="3359200" cy="1084957"/>
          </a:xfrm>
          <a:prstGeom prst="roundRect">
            <a:avLst>
              <a:gd name="adj" fmla="val 468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3200" y="2494359"/>
            <a:ext cx="0" cy="1084957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9676" y="2595860"/>
            <a:ext cx="31479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9676" y="2748260"/>
            <a:ext cx="314797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→ type → test(≥2,900) → security → gate. PR 머지 전 5/5 통과 필수.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3675" y="3655516"/>
            <a:ext cx="3359200" cy="1084957"/>
          </a:xfrm>
          <a:prstGeom prst="roundRect">
            <a:avLst>
              <a:gd name="adj" fmla="val 468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3200" y="3655516"/>
            <a:ext cx="0" cy="1084957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9676" y="3757017"/>
            <a:ext cx="31479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/ CAN — 23 Rules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9676" y="3909417"/>
            <a:ext cx="314797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· Planning · Quality · Docs · PR 5개 도메인. 경계 밖은 자유.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165550" y="1499741"/>
            <a:ext cx="812750" cy="633264"/>
          </a:xfrm>
          <a:prstGeom prst="roundRect">
            <a:avLst>
              <a:gd name="adj" fmla="val 10027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44862" y="1610767"/>
            <a:ext cx="654126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44862" y="1752898"/>
            <a:ext cx="654126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(tool_use)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244862" y="1945779"/>
            <a:ext cx="65412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원시형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165550" y="3570833"/>
            <a:ext cx="812750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22092" y="3608933"/>
            <a:ext cx="699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 ↔ SOT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165550" y="3783509"/>
            <a:ext cx="812750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222092" y="3821609"/>
            <a:ext cx="699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↔ Layer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165550" y="3996184"/>
            <a:ext cx="812750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222092" y="4034284"/>
            <a:ext cx="699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↔ Chain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054501" y="780901"/>
            <a:ext cx="3632299" cy="4096048"/>
          </a:xfrm>
          <a:prstGeom prst="roundRect">
            <a:avLst>
              <a:gd name="adj" fmla="val 174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90976" y="917377"/>
            <a:ext cx="3359348" cy="339626"/>
          </a:xfrm>
          <a:prstGeom prst="roundRect">
            <a:avLst>
              <a:gd name="adj" fmla="val 14958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96588" y="977652"/>
            <a:ext cx="31481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96588" y="1111002"/>
            <a:ext cx="31481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runtime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190976" y="1333202"/>
            <a:ext cx="3359348" cy="1084957"/>
          </a:xfrm>
          <a:prstGeom prst="roundRect">
            <a:avLst>
              <a:gd name="adj" fmla="val 468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200501" y="1333202"/>
            <a:ext cx="0" cy="1084957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336977" y="1434703"/>
            <a:ext cx="31481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GEODE.md — 에이전트 정체성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36977" y="1596628"/>
            <a:ext cx="314812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시 자동 로드. 런타임 CANNOT 4규칙. 왜: LLM이 역할을 잊지 않도록.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90976" y="2494359"/>
            <a:ext cx="3359348" cy="1084957"/>
          </a:xfrm>
          <a:prstGeom prst="roundRect">
            <a:avLst>
              <a:gd name="adj" fmla="val 468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200501" y="2494359"/>
            <a:ext cx="0" cy="1084957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336977" y="2595860"/>
            <a:ext cx="31481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Verification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36977" y="2748260"/>
            <a:ext cx="314812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→ BiasBuster → Cross-LLM(α≥0.67) → Confidence≥0.7 → Rights.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90976" y="3655516"/>
            <a:ext cx="3359348" cy="1084957"/>
          </a:xfrm>
          <a:prstGeom prst="roundRect">
            <a:avLst>
              <a:gd name="adj" fmla="val 468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200501" y="3655516"/>
            <a:ext cx="0" cy="1084957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336977" y="3757017"/>
            <a:ext cx="31481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— 6 Layer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36977" y="3909417"/>
            <a:ext cx="314812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→ Org → Mode → Agent(STANDARD/WRITE/DANGEROUS) → Node-scope → Sub-agent.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978450"/>
            <a:ext cx="169975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하네스를 빌드하는 하네스는 자신의 구조를 공유한다 — 3쌍의 거울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31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36327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1928"/>
            <a:ext cx="301241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/ CAN — 23 Hard Rules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79103"/>
            <a:ext cx="30124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엄격함이 속도를 가능하게 한다. 제약이 없으면 LLM은 발산한다.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856786" y="342751"/>
            <a:ext cx="830014" cy="441127"/>
          </a:xfrm>
          <a:prstGeom prst="roundRect">
            <a:avLst>
              <a:gd name="adj" fmla="val 11516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87690" y="415677"/>
            <a:ext cx="568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87690" y="644277"/>
            <a:ext cx="5682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· 0 regressions</a:t>
            </a:r>
            <a:endParaRPr lang="en-US" sz="500" dirty="0"/>
          </a:p>
        </p:txBody>
      </p:sp>
      <p:sp>
        <p:nvSpPr>
          <p:cNvPr id="9" name="Text 7"/>
          <p:cNvSpPr/>
          <p:nvPr/>
        </p:nvSpPr>
        <p:spPr>
          <a:xfrm>
            <a:off x="457200" y="834628"/>
            <a:ext cx="1065014" cy="4093071"/>
          </a:xfrm>
          <a:prstGeom prst="roundRect">
            <a:avLst>
              <a:gd name="adj" fmla="val 47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844153"/>
            <a:ext cx="1065014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58701" y="942529"/>
            <a:ext cx="8792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85651" y="1088529"/>
            <a:ext cx="735062" cy="1130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main/develop 직접 push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세션 worktree 삭제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미동기화 브랜치 생성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push to main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squash 없이 merge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585615" y="834628"/>
            <a:ext cx="1065014" cy="4093071"/>
          </a:xfrm>
          <a:prstGeom prst="roundRect">
            <a:avLst>
              <a:gd name="adj" fmla="val 47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585615" y="844153"/>
            <a:ext cx="106501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687116" y="942529"/>
            <a:ext cx="8792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814066" y="1088529"/>
            <a:ext cx="735062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 없이 구현 시작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미통과 PR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TODO: FIXME 병합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PR에 2개 이상 기능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714030" y="834628"/>
            <a:ext cx="1065014" cy="4093071"/>
          </a:xfrm>
          <a:prstGeom prst="roundRect">
            <a:avLst>
              <a:gd name="adj" fmla="val 47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714030" y="844153"/>
            <a:ext cx="1065014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815530" y="942529"/>
            <a:ext cx="8792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942481" y="1088529"/>
            <a:ext cx="735062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커밋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XXXX 자리표시자 커밋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테스트 무단 실행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커버리지 하락 머지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 --ignore-errors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842445" y="834628"/>
            <a:ext cx="1065014" cy="4093071"/>
          </a:xfrm>
          <a:prstGeom prst="roundRect">
            <a:avLst>
              <a:gd name="adj" fmla="val 47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842445" y="844153"/>
            <a:ext cx="1065014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943945" y="942529"/>
            <a:ext cx="8792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70896" y="1088529"/>
            <a:ext cx="735062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커밋 시 CHANGELOG 누락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4곳 불일치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없이 아키텍처 변경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plans/ 미반영 PR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970859" y="834628"/>
            <a:ext cx="1065014" cy="4093071"/>
          </a:xfrm>
          <a:prstGeom prst="roundRect">
            <a:avLst>
              <a:gd name="adj" fmla="val 477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970859" y="844153"/>
            <a:ext cx="1065014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72360" y="942529"/>
            <a:ext cx="8792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199311" y="1088529"/>
            <a:ext cx="735062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미통과 PR 머지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근거 없이 PR 오픈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없이 self-merge</a:t>
            </a:r>
            <a:endParaRPr lang="en-US" sz="600" dirty="0"/>
          </a:p>
          <a:p>
            <a:pPr marL="342900" indent="-342900" algn="l">
              <a:lnSpc>
                <a:spcPts val="99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500줄 초과 단일 PR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112073" y="834628"/>
            <a:ext cx="2574727" cy="1028105"/>
          </a:xfrm>
          <a:prstGeom prst="roundRect">
            <a:avLst>
              <a:gd name="adj" fmla="val 494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48549" y="945654"/>
            <a:ext cx="23478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— 5 Freedoms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375499" y="1104305"/>
            <a:ext cx="2174825" cy="64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2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버그/문서 수정: Plan 없이 바로</a:t>
            </a:r>
            <a:endParaRPr lang="en-US" sz="600" dirty="0"/>
          </a:p>
          <a:p>
            <a:pPr marL="342900" indent="-342900" algn="l">
              <a:lnSpc>
                <a:spcPts val="102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발견: 현재 완료 후 다음</a:t>
            </a:r>
            <a:endParaRPr lang="en-US" sz="600" dirty="0"/>
          </a:p>
          <a:p>
            <a:pPr marL="342900" indent="-342900" algn="l">
              <a:lnSpc>
                <a:spcPts val="102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선별 실행: 최종만 전체</a:t>
            </a:r>
            <a:endParaRPr lang="en-US" sz="600" dirty="0"/>
          </a:p>
          <a:p>
            <a:pPr marL="342900" indent="-342900" algn="l">
              <a:lnSpc>
                <a:spcPts val="102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메시지: 한글/영어 자유</a:t>
            </a:r>
            <a:endParaRPr lang="en-US" sz="600" dirty="0"/>
          </a:p>
          <a:p>
            <a:pPr marL="342900" indent="-342900" algn="l">
              <a:lnSpc>
                <a:spcPts val="102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선택: 더 빠른 도구 가능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112073" y="1926134"/>
            <a:ext cx="2574727" cy="3001566"/>
          </a:xfrm>
          <a:prstGeom prst="roundRect">
            <a:avLst>
              <a:gd name="adj" fmla="val 197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131123" y="1926134"/>
            <a:ext cx="0" cy="3001566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77124" y="2027634"/>
            <a:ext cx="23283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엄격함 vs 속도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277124" y="2195810"/>
            <a:ext cx="232838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규칙이 많을수록 느려진다고 가정했지만, 결과는 반대였다.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277124" y="2392412"/>
            <a:ext cx="232838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23개 CANNOT이 LLM의 발산 충동을 소스에서 차단하여, CI 수정 비용과 리뷰 비용을 0으로 수렴시켰다.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606540" y="2760315"/>
            <a:ext cx="525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606540" y="2988915"/>
            <a:ext cx="5252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7893987" y="2760315"/>
            <a:ext cx="334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893987" y="2988915"/>
            <a:ext cx="3345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457200" y="4978450"/>
            <a:ext cx="24167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CANNOT에 없는 것은 자유 — 23개 경계가 에이전트의 과잉 구현 충동을 구조적으로 제거한다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97491" y="4983212"/>
            <a:ext cx="193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31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36327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Engineering Loop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99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 커밋, 500+ PRs, 0 regressions — GAP Audit + Socratic Gate가 과잉 구현을 소스에서 차단한다.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55452"/>
            <a:ext cx="892373" cy="450652"/>
          </a:xfrm>
          <a:prstGeom prst="roundRect">
            <a:avLst>
              <a:gd name="adj" fmla="val 11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64977"/>
            <a:ext cx="892373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87138" y="837902"/>
            <a:ext cx="8324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7138" y="980777"/>
            <a:ext cx="832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87138" y="1066502"/>
            <a:ext cx="8324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 브랜치</a:t>
            </a:r>
            <a:endParaRPr lang="en-US" sz="500" dirty="0"/>
          </a:p>
        </p:txBody>
      </p:sp>
      <p:sp>
        <p:nvSpPr>
          <p:cNvPr id="11" name="Text 9"/>
          <p:cNvSpPr/>
          <p:nvPr/>
        </p:nvSpPr>
        <p:spPr>
          <a:xfrm>
            <a:off x="1387673" y="933152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505248" y="755452"/>
            <a:ext cx="892522" cy="450652"/>
          </a:xfrm>
          <a:prstGeom prst="roundRect">
            <a:avLst>
              <a:gd name="adj" fmla="val 11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505248" y="764977"/>
            <a:ext cx="89252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35184" y="837902"/>
            <a:ext cx="832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35184" y="980777"/>
            <a:ext cx="8326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535184" y="1066502"/>
            <a:ext cx="83264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있는가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2435870" y="933152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53444" y="755452"/>
            <a:ext cx="892373" cy="450652"/>
          </a:xfrm>
          <a:prstGeom prst="roundRect">
            <a:avLst>
              <a:gd name="adj" fmla="val 11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53444" y="764977"/>
            <a:ext cx="892373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583382" y="837902"/>
            <a:ext cx="8324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83382" y="980777"/>
            <a:ext cx="832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583382" y="1066502"/>
            <a:ext cx="83249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5Q Gate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483918" y="933152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01492" y="755452"/>
            <a:ext cx="892522" cy="450652"/>
          </a:xfrm>
          <a:prstGeom prst="roundRect">
            <a:avLst>
              <a:gd name="adj" fmla="val 11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601492" y="764977"/>
            <a:ext cx="892522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31429" y="837902"/>
            <a:ext cx="832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31429" y="980777"/>
            <a:ext cx="8326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631429" y="1066502"/>
            <a:ext cx="8326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532114" y="933152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649688" y="755452"/>
            <a:ext cx="892522" cy="450652"/>
          </a:xfrm>
          <a:prstGeom prst="roundRect">
            <a:avLst>
              <a:gd name="adj" fmla="val 11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9688" y="764977"/>
            <a:ext cx="892522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679625" y="837902"/>
            <a:ext cx="832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79625" y="980777"/>
            <a:ext cx="8326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Verify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679625" y="1066502"/>
            <a:ext cx="8326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5580311" y="933152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97885" y="755452"/>
            <a:ext cx="892522" cy="450652"/>
          </a:xfrm>
          <a:prstGeom prst="roundRect">
            <a:avLst>
              <a:gd name="adj" fmla="val 11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697885" y="764977"/>
            <a:ext cx="89252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727822" y="837902"/>
            <a:ext cx="832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27822" y="980777"/>
            <a:ext cx="8326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Docs-Sync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727822" y="1066502"/>
            <a:ext cx="8326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6628507" y="933152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746081" y="755452"/>
            <a:ext cx="892522" cy="450652"/>
          </a:xfrm>
          <a:prstGeom prst="roundRect">
            <a:avLst>
              <a:gd name="adj" fmla="val 11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746081" y="764977"/>
            <a:ext cx="892522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776018" y="837902"/>
            <a:ext cx="832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76018" y="980777"/>
            <a:ext cx="8326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CI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776018" y="1066502"/>
            <a:ext cx="8326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5-Job Gate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7676704" y="933152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794278" y="755452"/>
            <a:ext cx="892522" cy="450652"/>
          </a:xfrm>
          <a:prstGeom prst="roundRect">
            <a:avLst>
              <a:gd name="adj" fmla="val 112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7794278" y="764977"/>
            <a:ext cx="892522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824215" y="837902"/>
            <a:ext cx="832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24215" y="980777"/>
            <a:ext cx="8326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824215" y="1066502"/>
            <a:ext cx="8326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457200" y="1269504"/>
            <a:ext cx="4648200" cy="3680371"/>
          </a:xfrm>
          <a:prstGeom prst="roundRect">
            <a:avLst>
              <a:gd name="adj" fmla="val 138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06326" y="1393329"/>
            <a:ext cx="44369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1+2: GAP Audit + Socratic 5-Question Gate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6326" y="1583680"/>
            <a:ext cx="271016" cy="145852"/>
          </a:xfrm>
          <a:prstGeom prst="roundRect">
            <a:avLst>
              <a:gd name="adj" fmla="val 26122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82526" y="1608981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978843" y="1583680"/>
            <a:ext cx="40569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코드에 이미 있는가? grep/Explore 실측 — 있으면 제거. 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없이 바로 구현하면 빠르지만, GAP Audit 없으면 50% 이상이 이미 있는 코드.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06326" y="1843980"/>
            <a:ext cx="271016" cy="145852"/>
          </a:xfrm>
          <a:prstGeom prst="roundRect">
            <a:avLst>
              <a:gd name="adj" fmla="val 26122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82526" y="1869281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978843" y="1843980"/>
            <a:ext cx="24820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이걸 안 하면 무엇이 깨지는가? 실제 장애 시나리오 — 답 없으면 제거.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06326" y="2040582"/>
            <a:ext cx="271016" cy="145852"/>
          </a:xfrm>
          <a:prstGeom prst="roundRect">
            <a:avLst>
              <a:gd name="adj" fmla="val 26122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82526" y="2065883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78843" y="2040582"/>
            <a:ext cx="16381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효과를 어떻게 측정하는가? 측정 불가 시 보류.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06326" y="2237184"/>
            <a:ext cx="271016" cy="145852"/>
          </a:xfrm>
          <a:prstGeom prst="roundRect">
            <a:avLst>
              <a:gd name="adj" fmla="val 26122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82526" y="2262485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978843" y="2237184"/>
            <a:ext cx="1377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구현은? 최소 변경만 채택.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06326" y="2433786"/>
            <a:ext cx="271016" cy="145852"/>
          </a:xfrm>
          <a:prstGeom prst="roundRect">
            <a:avLst>
              <a:gd name="adj" fmla="val 26122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82526" y="2459087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978843" y="2433786"/>
            <a:ext cx="2052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프론티어 3종 이상에서 동일 패턴인가? 1종만이면 재검증.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206901" y="1269504"/>
            <a:ext cx="3479899" cy="609302"/>
          </a:xfrm>
          <a:prstGeom prst="roundRect">
            <a:avLst>
              <a:gd name="adj" fmla="val 8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343376" y="1380530"/>
            <a:ext cx="3271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CI 5-Job Ratchet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343376" y="1539180"/>
            <a:ext cx="3206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343376" y="1548705"/>
            <a:ext cx="76200" cy="76200"/>
          </a:xfrm>
          <a:prstGeom prst="roundRect">
            <a:avLst>
              <a:gd name="adj" fmla="val 33333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495776" y="1539180"/>
            <a:ext cx="13430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ruff ·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mypy ·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≥2,900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343376" y="1682055"/>
            <a:ext cx="76200" cy="76200"/>
          </a:xfrm>
          <a:prstGeom prst="roundRect">
            <a:avLst>
              <a:gd name="adj" fmla="val 33333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495776" y="1672530"/>
            <a:ext cx="16830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bandit -r core/ · </a:t>
            </a: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4/4 all pass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206901" y="1955006"/>
            <a:ext cx="3479899" cy="2994868"/>
          </a:xfrm>
          <a:prstGeom prst="roundRect">
            <a:avLst>
              <a:gd name="adj" fmla="val 169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5225951" y="1955006"/>
            <a:ext cx="0" cy="2994868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5371951" y="2056507"/>
            <a:ext cx="32516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즉시 구현 vs 복리 가속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371951" y="2224683"/>
            <a:ext cx="325165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 + Socratic Gate에 2주 투자 때문에 초기 속도가 느렸지만, 루프가 자리잡힌 이후 커밋 속도가 4/day → 67/day로 복리 가속됐다.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371951" y="2567285"/>
            <a:ext cx="31878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5473452" y="2630686"/>
            <a:ext cx="10682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4/6 fail → Step 3 재귀 복구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622256" y="2630686"/>
            <a:ext cx="469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457200" y="5000625"/>
            <a:ext cx="269620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 blocks duplicate · Socratic Gate blocks unnecessary · CI Ratchet blocks regression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31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36327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 — FRONTIER MINING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Pattern Mining — 자체 발명 vs 검증된 채택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09451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· Devin · OpenHands · SWE-agent 4개 하네스 리서치 후 3/4 수렴 패턴만 채택.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627"/>
            <a:ext cx="48361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프론티어 하네스 — 수렴 패턴 추출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971104"/>
            <a:ext cx="2338983" cy="1946523"/>
          </a:xfrm>
          <a:prstGeom prst="roundRect">
            <a:avLst>
              <a:gd name="adj" fmla="val 261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6725" y="971104"/>
            <a:ext cx="0" cy="1946523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03200" y="1072604"/>
            <a:ext cx="21073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3200" y="1225004"/>
            <a:ext cx="210735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루프 패턴 채택. 최대 50 라운드, 5가지 종료 경로. CANNOT/CAN 제약 방법론을 하네스 SOT에 적용.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03200" y="1688009"/>
            <a:ext cx="1382613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051" y="1726109"/>
            <a:ext cx="12290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AgenticLoop · CANNOT 방법론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57200" y="2981027"/>
            <a:ext cx="2338983" cy="1946672"/>
          </a:xfrm>
          <a:prstGeom prst="roundRect">
            <a:avLst>
              <a:gd name="adj" fmla="val 261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725" y="2981027"/>
            <a:ext cx="0" cy="1946672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03200" y="3082528"/>
            <a:ext cx="21073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3200" y="3234928"/>
            <a:ext cx="210735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Planner-Executor 분리 패턴. 장기 Task 상태 보존과 SubAgent 위임 구조. Token Guard 설계에 영향.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3200" y="3564731"/>
            <a:ext cx="1192262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2051" y="3602831"/>
            <a:ext cx="10348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SubAgent 위임 · 상태 보존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859584" y="971104"/>
            <a:ext cx="2338983" cy="1946523"/>
          </a:xfrm>
          <a:prstGeom prst="roundRect">
            <a:avLst>
              <a:gd name="adj" fmla="val 261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869109" y="971104"/>
            <a:ext cx="0" cy="1946523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005584" y="1072604"/>
            <a:ext cx="21073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OpenHands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005584" y="1225004"/>
            <a:ext cx="210735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기반 Hook 시스템. 파이프라인 생명주기 관측과 핸들러 Priority 체인. 46-Event Bus 설계의 직접 영감.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005584" y="1554807"/>
            <a:ext cx="1205954" cy="161925"/>
          </a:xfrm>
          <a:prstGeom prst="roundRect">
            <a:avLst>
              <a:gd name="adj" fmla="val 23529"/>
            </a:avLst>
          </a:prstGeom>
          <a:solidFill>
            <a:srgbClr val="F97316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94434" y="1592907"/>
            <a:ext cx="10488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Hook Bus · Priority 핸들러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859584" y="2981027"/>
            <a:ext cx="2338983" cy="1946672"/>
          </a:xfrm>
          <a:prstGeom prst="roundRect">
            <a:avLst>
              <a:gd name="adj" fmla="val 261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869109" y="2981027"/>
            <a:ext cx="0" cy="1946672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005584" y="3082528"/>
            <a:ext cx="21073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SWE-agent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05584" y="3234928"/>
            <a:ext cx="210735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+ Exponential Backoff 장애 복원 패턴. 5회 연속 실패 시 60s OPEN 전환, ±25% Jitter 재시도.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005584" y="3564731"/>
            <a:ext cx="1341388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94434" y="3602831"/>
            <a:ext cx="11869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CircuitBreaker · Jitter Backoff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300067" y="777627"/>
            <a:ext cx="3386733" cy="1120229"/>
          </a:xfrm>
          <a:prstGeom prst="roundRect">
            <a:avLst>
              <a:gd name="adj" fmla="val 453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49193" y="901452"/>
            <a:ext cx="31502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 수렴 규칙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49193" y="1088678"/>
            <a:ext cx="315025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프론티어 중 3개 이상에서 동일 패턴이 발견될 때만 채택. 1-2개는 재검증. Socratic Q5와 동일 기준.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49193" y="1443930"/>
            <a:ext cx="1512540" cy="330101"/>
          </a:xfrm>
          <a:prstGeom prst="roundRect">
            <a:avLst>
              <a:gd name="adj" fmla="val 11542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11792" y="1494681"/>
            <a:ext cx="13873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11792" y="1647081"/>
            <a:ext cx="138734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 임계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7025134" y="1443930"/>
            <a:ext cx="1512540" cy="330101"/>
          </a:xfrm>
          <a:prstGeom prst="roundRect">
            <a:avLst>
              <a:gd name="adj" fmla="val 11542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087733" y="1494681"/>
            <a:ext cx="13873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87733" y="1647081"/>
            <a:ext cx="138734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재검증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5300067" y="1974056"/>
            <a:ext cx="3386733" cy="850404"/>
          </a:xfrm>
          <a:prstGeom prst="roundRect">
            <a:avLst>
              <a:gd name="adj" fmla="val 59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49193" y="2097881"/>
            <a:ext cx="31502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채택 사례: Token Guard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49193" y="2285107"/>
            <a:ext cx="315025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v0.15.0: max_turns 하드 캡 20 때문에 긴 작업이 중단됐고, 프론티어 3종이 모두 압축 방식을 채택했기 때문에 컨텍스트 압축으로 전환했고, max_turns 200으로 확장됐다.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449193" y="2614910"/>
            <a:ext cx="31502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max_turns: 20 → 200 · compact@80% · prune@95%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300067" y="2900660"/>
            <a:ext cx="3386733" cy="2027039"/>
          </a:xfrm>
          <a:prstGeom prst="roundRect">
            <a:avLst>
              <a:gd name="adj" fmla="val 25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319117" y="2900660"/>
            <a:ext cx="0" cy="2027039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477768" y="3014960"/>
            <a:ext cx="31308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자체 발명 vs 검증된 패턴 채택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477768" y="3183136"/>
            <a:ext cx="3130820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발명하면 창의적이지만 검증 비용이 크고, 프론티어 패턴은 이미 실전에서 검증됐다. 3/4 수렴 규칙 때문에 자체 발명 충동을 구조적으로 억제했고, 결과적으로 39 releases 동안 0 P0 장애가 나왔다.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978450"/>
            <a:ext cx="25299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· Devin · OpenHands · SWE-agent — 프론티어 리서치 후 3/4 수렴 패턴만 채택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31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36327"/>
            <a:ext cx="2528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 — 4-PERSONA 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Parallel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99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관점으로는 사각지대가 생긴다. 4명의 엔지니어가 동시에 PR을 리뷰한다.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68102"/>
            <a:ext cx="1307009" cy="4159597"/>
          </a:xfrm>
          <a:prstGeom prst="roundRect">
            <a:avLst>
              <a:gd name="adj" fmla="val 388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77627"/>
            <a:ext cx="1307009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84150" y="901452"/>
            <a:ext cx="1074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066502"/>
            <a:ext cx="10741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/ Simplicity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150" y="1228279"/>
            <a:ext cx="1074170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테스트가 설계를 드라이브하는가? Red-Green-Refactor 사이클이 지켜졌는가?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84150" y="1729383"/>
            <a:ext cx="1053108" cy="444401"/>
          </a:xfrm>
          <a:prstGeom prst="roundRect">
            <a:avLst>
              <a:gd name="adj" fmla="val 8573"/>
            </a:avLst>
          </a:prstGeom>
          <a:solidFill>
            <a:srgbClr val="34D399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1780133"/>
            <a:ext cx="86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묻는 것: "이 코드가 가장 단순한 형태인가? 테스트가 먼저인가?"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827609" y="768102"/>
            <a:ext cx="1307157" cy="4159597"/>
          </a:xfrm>
          <a:prstGeom prst="roundRect">
            <a:avLst>
              <a:gd name="adj" fmla="val 38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827609" y="777627"/>
            <a:ext cx="1307157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954560" y="901452"/>
            <a:ext cx="1074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54560" y="1066502"/>
            <a:ext cx="10743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Systems / Efficiency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954560" y="1228279"/>
            <a:ext cx="107432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효율이 최적화됐는가? 모델 선택이 작업 복잡도에 맞는가?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954560" y="1729383"/>
            <a:ext cx="1053257" cy="444401"/>
          </a:xfrm>
          <a:prstGeom prst="roundRect">
            <a:avLst>
              <a:gd name="adj" fmla="val 8573"/>
            </a:avLst>
          </a:prstGeom>
          <a:solidFill>
            <a:srgbClr val="4ECDC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56061" y="1780133"/>
            <a:ext cx="867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묻는 것: "캐시 히트율은? 더 작은 모델로 동일한 결과가 나오는가?"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198168" y="768102"/>
            <a:ext cx="1307157" cy="4159597"/>
          </a:xfrm>
          <a:prstGeom prst="roundRect">
            <a:avLst>
              <a:gd name="adj" fmla="val 38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198168" y="777627"/>
            <a:ext cx="1307157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325118" y="901452"/>
            <a:ext cx="1074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25118" y="1066502"/>
            <a:ext cx="10743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/ Threat Model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325118" y="1228279"/>
            <a:ext cx="107432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비밀값이 노출되는가? DANGEROUS 등급 도구가 적절히 차단됐는가?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25118" y="1729383"/>
            <a:ext cx="1053257" cy="330101"/>
          </a:xfrm>
          <a:prstGeom prst="roundRect">
            <a:avLst>
              <a:gd name="adj" fmla="val 11542"/>
            </a:avLst>
          </a:prstGeom>
          <a:solidFill>
            <a:srgbClr val="F97316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26619" y="1780133"/>
            <a:ext cx="86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묻는 것: "공격 표면이 확대됐는가? injection 벡터는?"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68726" y="768102"/>
            <a:ext cx="1307157" cy="4159597"/>
          </a:xfrm>
          <a:prstGeom prst="roundRect">
            <a:avLst>
              <a:gd name="adj" fmla="val 38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68726" y="777627"/>
            <a:ext cx="1307157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695676" y="901452"/>
            <a:ext cx="1074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95676" y="1066502"/>
            <a:ext cx="10743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TypeSystem / Contracts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695676" y="1228279"/>
            <a:ext cx="107432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계약이 전파됐는가? Any 오염이나 mypy 우회가 없는가?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95676" y="1729383"/>
            <a:ext cx="1053257" cy="444401"/>
          </a:xfrm>
          <a:prstGeom prst="roundRect">
            <a:avLst>
              <a:gd name="adj" fmla="val 8573"/>
            </a:avLst>
          </a:prstGeom>
          <a:solidFill>
            <a:srgbClr val="818C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97177" y="1780133"/>
            <a:ext cx="867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묻는 것: "인터페이스가 명확한가? 암묵적 의존이 없는가?"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977384" y="768102"/>
            <a:ext cx="2709416" cy="1101030"/>
          </a:xfrm>
          <a:prstGeom prst="roundRect">
            <a:avLst>
              <a:gd name="adj" fmla="val 4614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26510" y="891927"/>
            <a:ext cx="24593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케이스: .env atomic write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26510" y="1079153"/>
            <a:ext cx="245938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Steinberger가 .env 직접 쓰기의 경쟁 조건을 지적했다. tmp 파일 원자적 교체로 수정 — 머지 전 P0 차단.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126510" y="1408956"/>
            <a:ext cx="2411164" cy="187226"/>
          </a:xfrm>
          <a:prstGeom prst="roundRect">
            <a:avLst>
              <a:gd name="adj" fmla="val 20350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28011" y="1459706"/>
            <a:ext cx="22523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 → os.replace(tmp, .env)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126510" y="1659582"/>
            <a:ext cx="24593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관점이었다면 머지 후 발견. 4-Persona 때문에 머지 전 차단됐다.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977384" y="1945332"/>
            <a:ext cx="2709416" cy="2982367"/>
          </a:xfrm>
          <a:prstGeom prst="roundRect">
            <a:avLst>
              <a:gd name="adj" fmla="val 18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996434" y="1945332"/>
            <a:ext cx="0" cy="2982367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55085" y="2059632"/>
            <a:ext cx="24399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리뷰 비용 vs P0 발견 비용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155085" y="2227808"/>
            <a:ext cx="243995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관점 병렬 리뷰 비용이 크지만, 머지 후 P0 발견 비용이 훨씬 크다.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55085" y="2424410"/>
            <a:ext cx="243995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PRs 동안 P0 hotfix bypass 0건 — 4-Persona 리뷰가 소스에서 차단했다.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55085" y="2779663"/>
            <a:ext cx="1157883" cy="355550"/>
          </a:xfrm>
          <a:prstGeom prst="roundRect">
            <a:avLst>
              <a:gd name="adj" fmla="val 1071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21230" y="2830413"/>
            <a:ext cx="1025592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21230" y="3008263"/>
            <a:ext cx="10255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 병렬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7389168" y="2779663"/>
            <a:ext cx="1158032" cy="355550"/>
          </a:xfrm>
          <a:prstGeom prst="roundRect">
            <a:avLst>
              <a:gd name="adj" fmla="val 1071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455311" y="2830413"/>
            <a:ext cx="1025744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455311" y="3008263"/>
            <a:ext cx="10257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bypass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457200" y="4978450"/>
            <a:ext cx="305081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.claude/skills/: kent-beck-review · karpathy-patterns · steinberger-security · cherny-types — 4 스킬 병렬 실행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31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36327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 — VELOCITY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Iteration Velocity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99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36일, 1,160 커밋, 39 releases — 워크플로우가 완성될수록 속도는 복리로 증가했다.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43992" y="4178350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16475"/>
            <a:ext cx="757386" cy="342900"/>
          </a:xfrm>
          <a:prstGeom prst="roundRect">
            <a:avLst>
              <a:gd name="adj" fmla="val 11111"/>
            </a:avLst>
          </a:prstGeom>
          <a:solidFill>
            <a:srgbClr val="818CF8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23554" y="3949750"/>
            <a:ext cx="2717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77987" y="4187875"/>
            <a:ext cx="757535" cy="571500"/>
          </a:xfrm>
          <a:prstGeom prst="roundRect">
            <a:avLst>
              <a:gd name="adj" fmla="val 6667"/>
            </a:avLst>
          </a:prstGeom>
          <a:solidFill>
            <a:srgbClr val="818CF8">
              <a:alpha val="3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39876" y="3657749"/>
            <a:ext cx="280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98923" y="3895874"/>
            <a:ext cx="757386" cy="863501"/>
          </a:xfrm>
          <a:prstGeom prst="roundRect">
            <a:avLst>
              <a:gd name="adj" fmla="val 5030"/>
            </a:avLst>
          </a:prstGeom>
          <a:solidFill>
            <a:srgbClr val="818CF8">
              <a:alpha val="4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60663" y="3187750"/>
            <a:ext cx="280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19710" y="3425875"/>
            <a:ext cx="757535" cy="1333500"/>
          </a:xfrm>
          <a:prstGeom prst="roundRect">
            <a:avLst>
              <a:gd name="adj" fmla="val 502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81599" y="3302050"/>
            <a:ext cx="280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0646" y="3540175"/>
            <a:ext cx="757386" cy="1219200"/>
          </a:xfrm>
          <a:prstGeom prst="roundRect">
            <a:avLst>
              <a:gd name="adj" fmla="val 5030"/>
            </a:avLst>
          </a:prstGeom>
          <a:solidFill>
            <a:srgbClr val="818CF8">
              <a:alpha val="5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2386" y="3302050"/>
            <a:ext cx="280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61433" y="3540175"/>
            <a:ext cx="757386" cy="1219200"/>
          </a:xfrm>
          <a:prstGeom prst="roundRect">
            <a:avLst>
              <a:gd name="adj" fmla="val 503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9626" y="4797475"/>
            <a:ext cx="7725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Ph.0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49626" y="4883200"/>
            <a:ext cx="7725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1270412" y="4797475"/>
            <a:ext cx="7726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Ph.1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270412" y="4883200"/>
            <a:ext cx="77268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091349" y="4797475"/>
            <a:ext cx="7725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Ph.2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091349" y="4883200"/>
            <a:ext cx="7725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912135" y="4797475"/>
            <a:ext cx="7726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Ph.3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912135" y="4883200"/>
            <a:ext cx="77268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3733072" y="4797475"/>
            <a:ext cx="7725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Ph.4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733072" y="4883200"/>
            <a:ext cx="7725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4553859" y="4797475"/>
            <a:ext cx="7725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Ph.5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553859" y="4883200"/>
            <a:ext cx="7725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Maturation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445770" y="768102"/>
            <a:ext cx="3241030" cy="3442395"/>
          </a:xfrm>
          <a:prstGeom prst="roundRect">
            <a:avLst>
              <a:gd name="adj" fmla="val 1567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94896" y="891927"/>
            <a:ext cx="30016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Identity Pivot — 2일, 6 releases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94896" y="1079153"/>
            <a:ext cx="300163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v0.13.0: "Undervalued IP" 전용 에이전트 때문에 도메인 확장이 불가능했고, DomainPort Protocol을 설계했고, 범용 에이전트로 전환됐다.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594896" y="1396305"/>
            <a:ext cx="300163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v0.15.0: 하드 캡 20 때문에 긴 작업이 중단됐고, 컨텍스트 압축으로 전환했고, max_turns 200으로 확장됐다.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94896" y="1726109"/>
            <a:ext cx="2942779" cy="355402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96396" y="1860947"/>
            <a:ext cx="611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4/day → 67/day =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397377" y="1789509"/>
            <a:ext cx="583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16.7x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5770" y="4286696"/>
            <a:ext cx="3241030" cy="663178"/>
          </a:xfrm>
          <a:prstGeom prst="roundRect">
            <a:avLst>
              <a:gd name="adj" fmla="val 76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464820" y="4286696"/>
            <a:ext cx="0" cy="663178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623471" y="4400996"/>
            <a:ext cx="29822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워크플로우 투자 vs 즉시 구현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23471" y="4569172"/>
            <a:ext cx="298220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Loop 완성에 3주 투자 때문에 초반 속도가 낮았지만, 루프가 자리잡힌 후 복리 가속이 됐다. 즉시 구현이었다면 Phase 5의 467커밋은 없었다.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5000625"/>
            <a:ext cx="271001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 commits · 500+ merged PRs · 39 releases · 0 hotfix bypasses · 0 regressions — v0.31.0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31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36327"/>
            <a:ext cx="22325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— CHANGELOG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결정 타임라인 — v0.6 → v0.31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09451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releases — 각 결정은 문제 인식에서 시작해 before/after 전환으로 끝났다.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64977"/>
            <a:ext cx="3911650" cy="1353741"/>
          </a:xfrm>
          <a:prstGeom prst="roundRect">
            <a:avLst>
              <a:gd name="adj" fmla="val 375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764977"/>
            <a:ext cx="0" cy="1353741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2250" y="1232446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77950" y="1237208"/>
            <a:ext cx="10885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도입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22250" y="1384846"/>
            <a:ext cx="3692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도메인 의존 때문에 확장이 불가능했고, Port/Adapter DI를 설계했고, GameIP → REODE 동일 코어 재사용이 됐다.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2169468"/>
            <a:ext cx="3911650" cy="1353741"/>
          </a:xfrm>
          <a:prstGeom prst="roundRect">
            <a:avLst>
              <a:gd name="adj" fmla="val 375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2169468"/>
            <a:ext cx="0" cy="135374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2250" y="2636937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77950" y="2641699"/>
            <a:ext cx="12057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Pivot — 범용 에이전트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2250" y="2789337"/>
            <a:ext cx="3692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"Undervalued IP" 전용 제약 때문에 범용화 불가였고, GEODE.md를 분리했고, 4/day → 67/day 속도가 나왔다.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3573959"/>
            <a:ext cx="3911650" cy="1353741"/>
          </a:xfrm>
          <a:prstGeom prst="roundRect">
            <a:avLst>
              <a:gd name="adj" fmla="val 375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3573959"/>
            <a:ext cx="0" cy="135374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2250" y="4041428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77950" y="4046190"/>
            <a:ext cx="1371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 철폐 — 압축으로 전환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22250" y="4193828"/>
            <a:ext cx="3692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max_turns 20 하드 캡 때문에 긴 작업이 중단됐고, compact@80% + prune@95%로 전환했고, max_turns 200으로 확장됐다.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59350" y="764977"/>
            <a:ext cx="25301" cy="4162723"/>
          </a:xfrm>
          <a:prstGeom prst="roundRect">
            <a:avLst>
              <a:gd name="adj" fmla="val 50196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5150" y="764977"/>
            <a:ext cx="3911650" cy="1740098"/>
          </a:xfrm>
          <a:prstGeom prst="roundRect">
            <a:avLst>
              <a:gd name="adj" fmla="val 291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94200" y="764977"/>
            <a:ext cx="0" cy="1740098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40201" y="1363712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95900" y="1368475"/>
            <a:ext cx="14564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Extract — cross-cutting 분리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40201" y="1516112"/>
            <a:ext cx="3692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때문에 26개 파일 순환 의존이 생겼고, core/hooks/를 분리했고, 46-Event Bus + 의존성 0이 됐다.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940201" y="1820614"/>
            <a:ext cx="36920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core/hooks/ → 46 events · 17 handlers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75150" y="2555825"/>
            <a:ext cx="3911650" cy="1740247"/>
          </a:xfrm>
          <a:prstGeom prst="roundRect">
            <a:avLst>
              <a:gd name="adj" fmla="val 291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94200" y="2555825"/>
            <a:ext cx="0" cy="174024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40201" y="3154561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95900" y="3159323"/>
            <a:ext cx="12633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Simplify — Registry 삭제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40201" y="3306961"/>
            <a:ext cx="3692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MCPRegistry(257줄) 때문에 탐색 병목이 생겼고, Catalog 검색 전용 축소 + config.toml 통합했고, Proxy stub 9개 제거됐다.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940201" y="3611463"/>
            <a:ext cx="36920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3계층 → 2계층 · 45 catalog auto-discovery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775150" y="4346823"/>
            <a:ext cx="3911650" cy="580876"/>
          </a:xfrm>
          <a:prstGeom prst="roundRect">
            <a:avLst>
              <a:gd name="adj" fmla="val 87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775150" y="4356348"/>
            <a:ext cx="391165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902101" y="4442073"/>
            <a:ext cx="37309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원칙: 모든 아키텍처 결정의 공통 패턴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902101" y="4584948"/>
            <a:ext cx="37309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인식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프론티어 3/4 검증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변경 채택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통과 후 머지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02101" y="4756249"/>
            <a:ext cx="37309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v0.31: 187 modules · 3,201 tests · 39 releases · 0 regressions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" y="4978450"/>
            <a:ext cx="207198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CHANGELOG.md 39 releases — 각 릴리스는 하나의 아키텍처 결정을 담는다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31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2422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 —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단일 진입점 → 4경로 분기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ToolExecutor가 모든 도구 호출을 받아 유형과 5-Tier 안전 등급으로 라우팅한다.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334000" cy="542776"/>
          </a:xfrm>
          <a:prstGeom prst="roundRect">
            <a:avLst>
              <a:gd name="adj" fmla="val 93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90426"/>
            <a:ext cx="0" cy="542776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04726"/>
            <a:ext cx="5081207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tool_use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블록을 반환하면 </a:t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ToolCallProcessor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도구 수를 먼저 판단합니다. 단일 도구는 즉시 실행, 2개 이상이면 </a:t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안전 등급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분류 후 Tier에 따라 병렬 또는 순차 실행합니다.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22053"/>
            <a:ext cx="5334000" cy="3515171"/>
          </a:xfrm>
          <a:prstGeom prst="roundRect">
            <a:avLst>
              <a:gd name="adj" fmla="val 144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545878"/>
            <a:ext cx="51103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DECISION TREE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9125" y="1749028"/>
            <a:ext cx="5010150" cy="336352"/>
          </a:xfrm>
          <a:prstGeom prst="roundRect">
            <a:avLst>
              <a:gd name="adj" fmla="val 1510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8228" y="1821954"/>
            <a:ext cx="48319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ToolExecutor.execute()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8228" y="1936254"/>
            <a:ext cx="483194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— 모든 tool_use 디스패치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619125" y="2174230"/>
            <a:ext cx="1204913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4515" y="2272605"/>
            <a:ext cx="10541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94515" y="2367855"/>
            <a:ext cx="105413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run_bash?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694515" y="2434530"/>
            <a:ext cx="105413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safety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1887438" y="2174230"/>
            <a:ext cx="1205061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62827" y="2272605"/>
            <a:ext cx="10542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62827" y="2367855"/>
            <a:ext cx="105428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핸들러?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1962827" y="2444055"/>
            <a:ext cx="105428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native tools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3155900" y="2174230"/>
            <a:ext cx="1204913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31291" y="2272605"/>
            <a:ext cx="10541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31291" y="2367855"/>
            <a:ext cx="105413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서버?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3231291" y="2444055"/>
            <a:ext cx="105413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catalog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424214" y="2174230"/>
            <a:ext cx="1205061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99603" y="2272605"/>
            <a:ext cx="10542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499603" y="2367855"/>
            <a:ext cx="105428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analyze_ip?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499603" y="2434530"/>
            <a:ext cx="105428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13-task graph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69024" y="2697956"/>
            <a:ext cx="51103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2개 이상 tool_use — 5-Tier 안전 등급 분류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19125" y="2872532"/>
            <a:ext cx="961430" cy="383977"/>
          </a:xfrm>
          <a:prstGeom prst="roundRect">
            <a:avLst>
              <a:gd name="adj" fmla="val 13230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0992" y="2945457"/>
            <a:ext cx="8576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70992" y="3040707"/>
            <a:ext cx="8576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670992" y="3107382"/>
            <a:ext cx="8576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병렬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1631305" y="2872532"/>
            <a:ext cx="961430" cy="383977"/>
          </a:xfrm>
          <a:prstGeom prst="roundRect">
            <a:avLst>
              <a:gd name="adj" fmla="val 1323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83172" y="2945457"/>
            <a:ext cx="8576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83172" y="3040707"/>
            <a:ext cx="8576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1683172" y="3107382"/>
            <a:ext cx="8576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2643485" y="2872532"/>
            <a:ext cx="961430" cy="383977"/>
          </a:xfrm>
          <a:prstGeom prst="roundRect">
            <a:avLst>
              <a:gd name="adj" fmla="val 13230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695352" y="2945457"/>
            <a:ext cx="8576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95352" y="3040707"/>
            <a:ext cx="8576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2695352" y="3107382"/>
            <a:ext cx="8576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승인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3655665" y="2872532"/>
            <a:ext cx="961430" cy="383977"/>
          </a:xfrm>
          <a:prstGeom prst="roundRect">
            <a:avLst>
              <a:gd name="adj" fmla="val 13230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707532" y="2945457"/>
            <a:ext cx="8576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07532" y="3040707"/>
            <a:ext cx="8576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3707532" y="3107382"/>
            <a:ext cx="8576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4667845" y="2872532"/>
            <a:ext cx="961430" cy="383977"/>
          </a:xfrm>
          <a:prstGeom prst="roundRect">
            <a:avLst>
              <a:gd name="adj" fmla="val 13230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19712" y="2945457"/>
            <a:ext cx="8576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19712" y="3040707"/>
            <a:ext cx="8576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4719712" y="3107382"/>
            <a:ext cx="8576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HITL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5905500" y="790426"/>
            <a:ext cx="2781300" cy="1415802"/>
          </a:xfrm>
          <a:prstGeom prst="roundRect">
            <a:avLst>
              <a:gd name="adj" fmla="val 358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67425" y="914251"/>
            <a:ext cx="25065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 Chain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67425" y="1104751"/>
            <a:ext cx="25065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시 자동 복구 체인 실행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6067425" y="1244352"/>
            <a:ext cx="736550" cy="171450"/>
          </a:xfrm>
          <a:prstGeom prst="roundRect">
            <a:avLst>
              <a:gd name="adj" fmla="val 22222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63590" y="1282452"/>
            <a:ext cx="544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Retry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892826" y="1277689"/>
            <a:ext cx="10963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 재시도 (1s backoff)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67425" y="1466552"/>
            <a:ext cx="736550" cy="171450"/>
          </a:xfrm>
          <a:prstGeom prst="roundRect">
            <a:avLst>
              <a:gd name="adj" fmla="val 22222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63590" y="1504652"/>
            <a:ext cx="544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Alt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892826" y="1499890"/>
            <a:ext cx="8596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카테고리 대체 도구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067425" y="1688753"/>
            <a:ext cx="736550" cy="171450"/>
          </a:xfrm>
          <a:prstGeom prst="roundRect">
            <a:avLst>
              <a:gd name="adj" fmla="val 22222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63590" y="1726853"/>
            <a:ext cx="544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Fallback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892826" y="1722090"/>
            <a:ext cx="7813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저렴한 도구로 강등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067425" y="1910953"/>
            <a:ext cx="736550" cy="171450"/>
          </a:xfrm>
          <a:prstGeom prst="roundRect">
            <a:avLst>
              <a:gd name="adj" fmla="val 22222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163590" y="1949053"/>
            <a:ext cx="544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Escalate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892826" y="1944291"/>
            <a:ext cx="8877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사용자에게 에스컬레이션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905500" y="2295079"/>
            <a:ext cx="2781300" cy="2642146"/>
          </a:xfrm>
          <a:prstGeom prst="roundRect">
            <a:avLst>
              <a:gd name="adj" fmla="val 192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5929313" y="2295079"/>
            <a:ext cx="0" cy="2642146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6105525" y="2409379"/>
            <a:ext cx="24774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105525" y="2587079"/>
            <a:ext cx="247745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실행 속도 때문에 Tier 0-1은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완전 병렬화하고, 안전 등급 보장 때문에 Tier 3-4는 순차 개별 승인으로 격리했다.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105525" y="2929682"/>
            <a:ext cx="24774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MAX_CONSECUTIVE_FAILURES = 2 · max_recovery = 3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457200" y="4987975"/>
            <a:ext cx="27847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· policy.py · error_recovery.py — 52 native tools · 45 MCP catalog · 5-Tier safety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31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2664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 — HOOK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하드코딩 콜백 → 46-Event Bus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재귀 개선·자기 증강을 위한 실시간 추적 — Claude Code · Devin · OpenHands 리서치 후 개편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876800" cy="799505"/>
          </a:xfrm>
          <a:prstGeom prst="roundRect">
            <a:avLst>
              <a:gd name="adj" fmla="val 63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90426"/>
            <a:ext cx="0" cy="799505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891927"/>
            <a:ext cx="461486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DAG 노드 상태·검증 결과·드리프트를 실시간 추적하려면 하드코딩 콜백으로는 확장이 불가능했다. 프론티어 3종 리서치 후 </a:t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카테고리 46개 이벤트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239887"/>
            <a:ext cx="461486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500"/>
              </a:spcBef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패턴: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하나의 이벤트가 L1(관측)과 L2(반응)를 동시에 지나간다. PIPELINE_END 하나가 runs.jsonl 기록과 MEMORY.md 업데이트를 동시에 발동.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40681"/>
            <a:ext cx="4876800" cy="3287018"/>
          </a:xfrm>
          <a:prstGeom prst="roundRect">
            <a:avLst>
              <a:gd name="adj" fmla="val 154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6326" y="1751707"/>
            <a:ext cx="46701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EVENT CATEGORIES — 46 total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6326" y="1942058"/>
            <a:ext cx="2263825" cy="680591"/>
          </a:xfrm>
          <a:prstGeom prst="roundRect">
            <a:avLst>
              <a:gd name="adj" fmla="val 7464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7352" y="2014984"/>
            <a:ext cx="20826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Lifecycle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17352" y="2110234"/>
            <a:ext cx="208260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START · END · ERROR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606326" y="2673400"/>
            <a:ext cx="2263825" cy="680591"/>
          </a:xfrm>
          <a:prstGeom prst="roundRect">
            <a:avLst>
              <a:gd name="adj" fmla="val 74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7352" y="2746325"/>
            <a:ext cx="20826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Execution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17352" y="2841575"/>
            <a:ext cx="208260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ENTER · EXIT · RETRY · ERROR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606326" y="3404741"/>
            <a:ext cx="2263825" cy="680591"/>
          </a:xfrm>
          <a:prstGeom prst="roundRect">
            <a:avLst>
              <a:gd name="adj" fmla="val 74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7352" y="3477667"/>
            <a:ext cx="20826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Analysis/Verification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17352" y="3572917"/>
            <a:ext cx="208260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 — COMPLETE · FAIL · ESCALATE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606326" y="4136082"/>
            <a:ext cx="2263825" cy="680591"/>
          </a:xfrm>
          <a:prstGeom prst="roundRect">
            <a:avLst>
              <a:gd name="adj" fmla="val 74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7352" y="4209008"/>
            <a:ext cx="20826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Storage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17352" y="4304258"/>
            <a:ext cx="208260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SAVE · LOAD · UPDATE · PURGE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920901" y="1942058"/>
            <a:ext cx="2263973" cy="680591"/>
          </a:xfrm>
          <a:prstGeom prst="roundRect">
            <a:avLst>
              <a:gd name="adj" fmla="val 74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31927" y="2014984"/>
            <a:ext cx="2082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031927" y="2110234"/>
            <a:ext cx="208276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ASSEMBLE · CACHE · UPDATE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2920901" y="2673400"/>
            <a:ext cx="2263973" cy="680591"/>
          </a:xfrm>
          <a:prstGeom prst="roundRect">
            <a:avLst>
              <a:gd name="adj" fmla="val 74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031927" y="2746325"/>
            <a:ext cx="2082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031927" y="2841575"/>
            <a:ext cx="208276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 — SPAWN · COMPLETE · FAIL · TIMEOUT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2920901" y="3404741"/>
            <a:ext cx="2263973" cy="680591"/>
          </a:xfrm>
          <a:prstGeom prst="roundRect">
            <a:avLst>
              <a:gd name="adj" fmla="val 74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31927" y="3477667"/>
            <a:ext cx="2082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Overflow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031927" y="3572917"/>
            <a:ext cx="208276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80% · 95% · OVERFLOW_ACTION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2920901" y="4136082"/>
            <a:ext cx="2263973" cy="680591"/>
          </a:xfrm>
          <a:prstGeom prst="roundRect">
            <a:avLst>
              <a:gd name="adj" fmla="val 74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031927" y="4209008"/>
            <a:ext cx="2082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HITL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031927" y="4304258"/>
            <a:ext cx="208276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REQUESTED · GRANTED · DENIED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5448300" y="790426"/>
            <a:ext cx="3238500" cy="2675632"/>
          </a:xfrm>
          <a:prstGeom prst="roundRect">
            <a:avLst>
              <a:gd name="adj" fmla="val 18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10225" y="901452"/>
            <a:ext cx="29729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10225" y="1066502"/>
            <a:ext cx="2914650" cy="330101"/>
          </a:xfrm>
          <a:prstGeom prst="roundRect">
            <a:avLst>
              <a:gd name="adj" fmla="val 15389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21251" y="1126778"/>
            <a:ext cx="2746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 — 백로그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21251" y="1231553"/>
            <a:ext cx="2746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610225" y="1434703"/>
            <a:ext cx="2914650" cy="349151"/>
          </a:xfrm>
          <a:prstGeom prst="roundRect">
            <a:avLst>
              <a:gd name="adj" fmla="val 14550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721251" y="1494979"/>
            <a:ext cx="2746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 — 현재 프론티어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21251" y="1599754"/>
            <a:ext cx="27464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10225" y="1821954"/>
            <a:ext cx="2914650" cy="349151"/>
          </a:xfrm>
          <a:prstGeom prst="roundRect">
            <a:avLst>
              <a:gd name="adj" fmla="val 14550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721251" y="1882229"/>
            <a:ext cx="2746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 — 자동 반응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721251" y="1987004"/>
            <a:ext cx="27464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610225" y="2209205"/>
            <a:ext cx="2914650" cy="339626"/>
          </a:xfrm>
          <a:prstGeom prst="roundRect">
            <a:avLst>
              <a:gd name="adj" fmla="val 14958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721251" y="2269480"/>
            <a:ext cx="2746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 — 기록만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721251" y="2374255"/>
            <a:ext cx="2746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46 events → runs.jsonl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48300" y="3516809"/>
            <a:ext cx="3238500" cy="616595"/>
          </a:xfrm>
          <a:prstGeom prst="roundRect">
            <a:avLst>
              <a:gd name="adj" fmla="val 82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5472113" y="3516809"/>
            <a:ext cx="0" cy="616595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648325" y="3618309"/>
            <a:ext cx="29437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48325" y="3783360"/>
            <a:ext cx="294379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기반 핸들러 순서 보장 (P30 → P50 → P85).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48300" y="4184154"/>
            <a:ext cx="3238500" cy="743545"/>
          </a:xfrm>
          <a:prstGeom prst="roundRect">
            <a:avLst>
              <a:gd name="adj" fmla="val 68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5472113" y="4184154"/>
            <a:ext cx="0" cy="743545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648325" y="4285655"/>
            <a:ext cx="29437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Observer 오버헤드 vs 확장성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648325" y="4441180"/>
            <a:ext cx="294379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핸들러 등록 오버헤드 때문에 단순 콜백보다 초기 지연이 있지만, 핸들러 간 에러 격리와 Priority 체인 덕분에 46개 이벤트가 독립적으로 확장된다.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648325" y="4740473"/>
            <a:ext cx="29437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core/hooks/ · 46 events · 17 handlers registered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57200" y="4978450"/>
            <a:ext cx="278804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v0.30.1: core/hooks/ 추출 — 26개 파일 순환 의존 해소 · 46 HookEvent enum members · 17 handlers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31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2495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 — SUB-AGENT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컨텍스트 폭발 방지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서브에이전트가 부모 컨텍스트에 결과를 반환할 때 토큰이 기하급수적으로 증가했다.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953000" cy="682228"/>
          </a:xfrm>
          <a:prstGeom prst="roundRect">
            <a:avLst>
              <a:gd name="adj" fmla="val 744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90426"/>
            <a:ext cx="0" cy="68222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04726"/>
            <a:ext cx="4692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컨텍스트 폭발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091952"/>
            <a:ext cx="469258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서브에이전트가 각자 완전한 실행 컨텍스트를 부모에게 반환하면, 3개 에이전트만으로도 부모 컨텍스트가 200K 토큰을 초과했다.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561505"/>
            <a:ext cx="4953000" cy="3366195"/>
          </a:xfrm>
          <a:prstGeom prst="roundRect">
            <a:avLst>
              <a:gd name="adj" fmla="val 150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685330"/>
            <a:ext cx="47217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선택적 상속 + 4096 Guard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9125" y="1910655"/>
            <a:ext cx="4629150" cy="387251"/>
          </a:xfrm>
          <a:prstGeom prst="roundRect">
            <a:avLst>
              <a:gd name="adj" fmla="val 13118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2038" y="2009031"/>
            <a:ext cx="4443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Agent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2038" y="2123331"/>
            <a:ext cx="44433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MCP · skills · memory 전체 보유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2520186" y="2374106"/>
            <a:ext cx="8268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상속 (full inheritance)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21050" y="2516981"/>
            <a:ext cx="25301" cy="2286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2821781"/>
            <a:ext cx="1500783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7363" y="2920157"/>
            <a:ext cx="13043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7363" y="3015407"/>
            <a:ext cx="13043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183309" y="2821781"/>
            <a:ext cx="1500783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81547" y="2920157"/>
            <a:ext cx="13043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281547" y="3015407"/>
            <a:ext cx="13043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747492" y="2821781"/>
            <a:ext cx="1500783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45731" y="2920157"/>
            <a:ext cx="13043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5731" y="3015407"/>
            <a:ext cx="13043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572834" y="3266182"/>
            <a:ext cx="47217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반환 전 4096-token guard — 구조화 요약으로 압축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619125" y="3428107"/>
            <a:ext cx="4629150" cy="342900"/>
          </a:xfrm>
          <a:prstGeom prst="roundRect">
            <a:avLst>
              <a:gd name="adj" fmla="val 14815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2038" y="3513832"/>
            <a:ext cx="44433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Summary → Parent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12038" y="3609082"/>
            <a:ext cx="44433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원시 출력이 아닌 구조화 요약 반환 — 컨텍스트 폭발 방지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524500" y="790426"/>
            <a:ext cx="3162300" cy="1717179"/>
          </a:xfrm>
          <a:prstGeom prst="roundRect">
            <a:avLst>
              <a:gd name="adj" fmla="val 295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86425" y="914251"/>
            <a:ext cx="28952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제어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86425" y="1114276"/>
            <a:ext cx="2838450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695950" y="1114276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819775" y="1190476"/>
            <a:ext cx="26426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 = 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19775" y="1311027"/>
            <a:ext cx="2642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scheduling — 동시 실행 서브에이전트 최대 5개 제한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86425" y="1555403"/>
            <a:ext cx="2838450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695950" y="1555403"/>
            <a:ext cx="0" cy="37772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819775" y="1631603"/>
            <a:ext cx="26426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250ms dedup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19775" y="1752154"/>
            <a:ext cx="2642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 내 동일 태스크 중복 제거 — 토큰 낭비 방지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86425" y="1996529"/>
            <a:ext cx="2838450" cy="387251"/>
          </a:xfrm>
          <a:prstGeom prst="roundRect">
            <a:avLst>
              <a:gd name="adj" fmla="val 1311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695950" y="1996529"/>
            <a:ext cx="0" cy="387251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819775" y="2072729"/>
            <a:ext cx="2642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 = 유효 컨텍스트 600K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819775" y="2202805"/>
            <a:ext cx="2642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독립된 200K window — 깊이당 선형 확장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24500" y="2596455"/>
            <a:ext cx="3162300" cy="2331244"/>
          </a:xfrm>
          <a:prstGeom prst="roundRect">
            <a:avLst>
              <a:gd name="adj" fmla="val 21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548313" y="2596455"/>
            <a:ext cx="0" cy="2331244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724525" y="2710755"/>
            <a:ext cx="28660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full inheritance vs sandbox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724525" y="2888456"/>
            <a:ext cx="28660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격리 sandbox는 안전하지만, 부모의 tools·skills·memory를 재설정해야 해서 위임의 의미를 잃는다.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724525" y="3218259"/>
            <a:ext cx="28660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inheritance + 4096 Guard 때문에 서브에이전트가 부모의 능력을 그대로 쓰면서도 컨텍스트 폭발을 방지했다. 위임이지 파견이 아니다.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724525" y="3586163"/>
            <a:ext cx="885825" cy="371326"/>
          </a:xfrm>
          <a:prstGeom prst="roundRect">
            <a:avLst>
              <a:gd name="adj" fmla="val 1026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793391" y="3649563"/>
            <a:ext cx="748094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793391" y="3827413"/>
            <a:ext cx="74809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concurrent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6686550" y="3586163"/>
            <a:ext cx="885825" cy="371326"/>
          </a:xfrm>
          <a:prstGeom prst="roundRect">
            <a:avLst>
              <a:gd name="adj" fmla="val 1026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755416" y="3649563"/>
            <a:ext cx="748094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755416" y="3827413"/>
            <a:ext cx="74809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7648575" y="3586163"/>
            <a:ext cx="885825" cy="371326"/>
          </a:xfrm>
          <a:prstGeom prst="roundRect">
            <a:avLst>
              <a:gd name="adj" fmla="val 1026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717441" y="3649563"/>
            <a:ext cx="748094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717441" y="3827413"/>
            <a:ext cx="74809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depth-3 context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457200" y="4978450"/>
            <a:ext cx="279275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inheritance + 4096-token guard + CoalescingQueue 250ms — 위임의 의미를 살리는 서브에이전트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31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2657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 — LLM FAILOVER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LLM 장애 복원력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의존 때문에 Rate Limit·장애 시 파이프라인이 전체 중단됐다.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1405533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99951"/>
            <a:ext cx="1405533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84150" y="923776"/>
            <a:ext cx="11746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088827"/>
            <a:ext cx="11746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Provider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150" y="1250603"/>
            <a:ext cx="1151632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001" y="1288703"/>
            <a:ext cx="9934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84150" y="1450628"/>
            <a:ext cx="1151632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2526" y="1498253"/>
            <a:ext cx="973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84150" y="1669703"/>
            <a:ext cx="1151632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2526" y="1717328"/>
            <a:ext cx="9739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007694" y="1277689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011643" y="1411039"/>
            <a:ext cx="82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2243435" y="790426"/>
            <a:ext cx="1405682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243435" y="799951"/>
            <a:ext cx="1405682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370386" y="923776"/>
            <a:ext cx="1174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70386" y="1088827"/>
            <a:ext cx="11748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Provider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370386" y="1250603"/>
            <a:ext cx="1151781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459236" y="1288703"/>
            <a:ext cx="9935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370386" y="1450628"/>
            <a:ext cx="1151781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68761" y="1498253"/>
            <a:ext cx="9741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370386" y="1669703"/>
            <a:ext cx="1151781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468761" y="1717328"/>
            <a:ext cx="9741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794078" y="1277689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98027" y="1411039"/>
            <a:ext cx="82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029819" y="790426"/>
            <a:ext cx="1405682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029819" y="799951"/>
            <a:ext cx="140568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156770" y="923776"/>
            <a:ext cx="11748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56770" y="1088827"/>
            <a:ext cx="11748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156770" y="1250603"/>
            <a:ext cx="1151781" cy="161925"/>
          </a:xfrm>
          <a:prstGeom prst="roundRect">
            <a:avLst>
              <a:gd name="adj" fmla="val 23529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245620" y="1288703"/>
            <a:ext cx="9935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/ 80K ctx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156770" y="1450628"/>
            <a:ext cx="1151781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255145" y="1498253"/>
            <a:ext cx="9741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tier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156770" y="1669703"/>
            <a:ext cx="1151781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255145" y="1717328"/>
            <a:ext cx="9741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2041178"/>
            <a:ext cx="4978301" cy="2886521"/>
          </a:xfrm>
          <a:prstGeom prst="roundRect">
            <a:avLst>
              <a:gd name="adj" fmla="val 17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9125" y="2165003"/>
            <a:ext cx="47475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State Machine (Provider별 독립)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9125" y="2377529"/>
            <a:ext cx="1241673" cy="342900"/>
          </a:xfrm>
          <a:prstGeom prst="roundRect">
            <a:avLst>
              <a:gd name="adj" fmla="val 148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19955" y="2463254"/>
            <a:ext cx="10400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19955" y="2558504"/>
            <a:ext cx="104001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처리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1936998" y="2452092"/>
            <a:ext cx="4226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연속 실패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099667" y="255046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427536" y="2377529"/>
            <a:ext cx="1241822" cy="342900"/>
          </a:xfrm>
          <a:prstGeom prst="roundRect">
            <a:avLst>
              <a:gd name="adj" fmla="val 14815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28364" y="2463254"/>
            <a:ext cx="10401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528364" y="2558504"/>
            <a:ext cx="104016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차단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3745557" y="2452092"/>
            <a:ext cx="214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805982" y="255046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031754" y="2377529"/>
            <a:ext cx="1241822" cy="342900"/>
          </a:xfrm>
          <a:prstGeom prst="roundRect">
            <a:avLst>
              <a:gd name="adj" fmla="val 14815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132582" y="2463254"/>
            <a:ext cx="10401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132582" y="2558504"/>
            <a:ext cx="104016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619125" y="2783830"/>
            <a:ext cx="47475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Retryable: Timeout · RateLimit · Connection — Exponential Backoff ±25% Jitter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19125" y="2932956"/>
            <a:ext cx="47475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Non-Retryable: 잔액 부족 — 즉시 다음 Provider로 에스컬레이션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549801" y="790426"/>
            <a:ext cx="3136999" cy="961430"/>
          </a:xfrm>
          <a:prstGeom prst="roundRect">
            <a:avLst>
              <a:gd name="adj" fmla="val 52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711726" y="914251"/>
            <a:ext cx="28694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711726" y="1101477"/>
            <a:ext cx="286941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Provider를 Port/Adapter DI로 추상화했기 때문에 Failover 시에도 메모리가 모델에 종속되지 않는다. 세션 학습 내용이 Provider 전환 후에도 유지된다.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711726" y="1431280"/>
            <a:ext cx="2813149" cy="196751"/>
          </a:xfrm>
          <a:prstGeom prst="roundRect">
            <a:avLst>
              <a:gd name="adj" fmla="val 1936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813227" y="1486793"/>
            <a:ext cx="4924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LLMClientPort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397526" y="1482030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588026" y="1486793"/>
            <a:ext cx="17412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AnthropicAdapter · OpenAIAdapter · ZhipuAdapter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549801" y="1840706"/>
            <a:ext cx="3136999" cy="1000571"/>
          </a:xfrm>
          <a:prstGeom prst="roundRect">
            <a:avLst>
              <a:gd name="adj" fmla="val 5077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711726" y="1964531"/>
            <a:ext cx="28694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선택 근거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711726" y="2151757"/>
            <a:ext cx="286941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 window + 무료 tier — Anthropic·OpenAI 양쪽 장애 시 최후 보루로 비용 없이 운영 연속성을 보장한다.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11726" y="2468910"/>
            <a:ext cx="286941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성능이 GPT-4 수준 때문에 응급 처리에 충분하고, 무료 tier 때문에 비용 부담 없이 항상 준비 상태를 유지한다.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549801" y="2930128"/>
            <a:ext cx="3136999" cy="1997571"/>
          </a:xfrm>
          <a:prstGeom prst="roundRect">
            <a:avLst>
              <a:gd name="adj" fmla="val 25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5573613" y="2930128"/>
            <a:ext cx="0" cy="199757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5749826" y="3044428"/>
            <a:ext cx="28402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 Provider 유지 비용 vs 단일 장애점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749826" y="3212604"/>
            <a:ext cx="284026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Provider 어댑터 유지 비용이 있지만, 단일 Provider 장애로 파이프라인 전체가 중단되는 비용이 훨씬 크다.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749826" y="3542407"/>
            <a:ext cx="28402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ZhipuAI는 80K context지만 무료 tier로 최후 보루 — 비용 없이 단일 장애점을 제거했다.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315739" y="3892451"/>
            <a:ext cx="2662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6315739" y="4121051"/>
            <a:ext cx="26626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7791210" y="3892451"/>
            <a:ext cx="176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7791210" y="4121051"/>
            <a:ext cx="1762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SPOF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457200" y="4978450"/>
            <a:ext cx="31274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Anthropic(Opus·Sonnet·Haiku) · OpenAI(GPT-5.4·5.3·4o) · ZhipuAI(GLM-5) — Provider별 독립 CircuitBreaker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31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196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5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Memory — 압축 3-Phase &amp; 4-Tier 자동 학습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60202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손실 없이 컨텍스트 비용 절감 — Lossless Selection으로 0.03%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8967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압축 3-Phase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85552"/>
            <a:ext cx="4800749" cy="479673"/>
          </a:xfrm>
          <a:prstGeom prst="roundRect">
            <a:avLst>
              <a:gd name="adj" fmla="val 10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90315"/>
            <a:ext cx="480074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253186" y="1085552"/>
            <a:ext cx="0" cy="4796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560463"/>
            <a:ext cx="480074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6250" y="1085552"/>
            <a:ext cx="0" cy="479673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2250" y="1196578"/>
            <a:ext cx="45892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MONITOR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22250" y="1329928"/>
            <a:ext cx="458920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 사용률 상시 추적. 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도달 시 compact 경고 발동, 루프 계속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832050" y="1654076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857226"/>
            <a:ext cx="4800749" cy="479673"/>
          </a:xfrm>
          <a:prstGeom prst="roundRect">
            <a:avLst>
              <a:gd name="adj" fmla="val 10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1861989"/>
            <a:ext cx="480074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253186" y="1857226"/>
            <a:ext cx="0" cy="4796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332137"/>
            <a:ext cx="480074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6250" y="1857226"/>
            <a:ext cx="0" cy="479673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2250" y="1968252"/>
            <a:ext cx="45892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SELECT (Lossless)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22250" y="2101602"/>
            <a:ext cx="458920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 대신 LLM이 코드로 관련 청크만 선별.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손실 0%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비용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절감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32050" y="2425750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628900"/>
            <a:ext cx="4800749" cy="479673"/>
          </a:xfrm>
          <a:prstGeom prst="roundRect">
            <a:avLst>
              <a:gd name="adj" fmla="val 1059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2633663"/>
            <a:ext cx="480074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253186" y="2628900"/>
            <a:ext cx="0" cy="479673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103811"/>
            <a:ext cx="480074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76250" y="2628900"/>
            <a:ext cx="0" cy="479673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2250" y="2739926"/>
            <a:ext cx="45892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EMERGENCY PRUNE (95%)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22250" y="2873276"/>
            <a:ext cx="458920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초과 시 강제 pruning 발동. 최초 사용자 메시지 보존 + bridge 삽입 후 재개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222724"/>
            <a:ext cx="4800749" cy="432048"/>
          </a:xfrm>
          <a:prstGeom prst="roundRect">
            <a:avLst>
              <a:gd name="adj" fmla="val 11758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675" y="3321100"/>
            <a:ext cx="46183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93675" y="3432125"/>
            <a:ext cx="461835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손실 vs 크래시 방지 — lossy 요약 대신 lossless selection으로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 비용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84899" y="872877"/>
            <a:ext cx="33679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계층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84899" y="1085552"/>
            <a:ext cx="3301901" cy="442317"/>
          </a:xfrm>
          <a:prstGeom prst="roundRect">
            <a:avLst>
              <a:gd name="adj" fmla="val 1148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21375" y="1183928"/>
            <a:ext cx="30895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— Organization (불변)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521375" y="1314004"/>
            <a:ext cx="308952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불변 가이드라인. CLAUDE.md + 전역 정책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384899" y="1616720"/>
            <a:ext cx="3301901" cy="442317"/>
          </a:xfrm>
          <a:prstGeom prst="roundRect">
            <a:avLst>
              <a:gd name="adj" fmla="val 1148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21375" y="1715095"/>
            <a:ext cx="30895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Project (분석 이력)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21375" y="1845171"/>
            <a:ext cx="308952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인사이트 축적. LEARNINGS.md 자동 업데이트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84899" y="2147888"/>
            <a:ext cx="3301901" cy="432792"/>
          </a:xfrm>
          <a:prstGeom prst="roundRect">
            <a:avLst>
              <a:gd name="adj" fmla="val 1173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521375" y="2246263"/>
            <a:ext cx="3089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Session (TTL)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521375" y="2366814"/>
            <a:ext cx="308952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범위 단기 메모리. 200 turns sliding window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384899" y="2669530"/>
            <a:ext cx="3301901" cy="432792"/>
          </a:xfrm>
          <a:prstGeom prst="roundRect">
            <a:avLst>
              <a:gd name="adj" fmla="val 1173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21375" y="2767905"/>
            <a:ext cx="30895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Hybrid (Redis L1 + File L2)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521375" y="2888456"/>
            <a:ext cx="308952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 캐시(Redis) + 영속 파일(L2) 이중 구조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84899" y="3191173"/>
            <a:ext cx="3301901" cy="588169"/>
          </a:xfrm>
          <a:prstGeom prst="roundRect">
            <a:avLst>
              <a:gd name="adj" fmla="val 8637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521375" y="3289548"/>
            <a:ext cx="30895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Auto-Learning 피드백 루프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21375" y="3432423"/>
            <a:ext cx="308952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→ MEMORY.md 인사이트 자동 축적 → 다음 세션 Tier 3 주입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7200" y="4987975"/>
            <a:ext cx="204025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N6+N9: Context Compression + 4-Tier Memory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31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196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5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— 6-Phase 조립 + SHA-256 + 캐시 절감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60202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편집의 변경 추적 불가 문제 → 동적 조립으로 2회차부터 입력 비용 10%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55443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6-Phase 조립 파이프라인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60103"/>
            <a:ext cx="725984" cy="658564"/>
          </a:xfrm>
          <a:prstGeom prst="roundRect">
            <a:avLst>
              <a:gd name="adj" fmla="val 77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79153"/>
            <a:ext cx="725984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78421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713905"/>
            <a:ext cx="725984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963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5575" y="1187053"/>
            <a:ext cx="5398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55575" y="1298079"/>
            <a:ext cx="53981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55575" y="1422350"/>
            <a:ext cx="539817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기반 기본 구조 로드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46584" y="134168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398984" y="1060103"/>
            <a:ext cx="726132" cy="658564"/>
          </a:xfrm>
          <a:prstGeom prst="roundRect">
            <a:avLst>
              <a:gd name="adj" fmla="val 77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398984" y="1079153"/>
            <a:ext cx="726132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120354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398984" y="1713905"/>
            <a:ext cx="726132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403747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497360" y="1187053"/>
            <a:ext cx="5399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497360" y="1298079"/>
            <a:ext cx="53996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497360" y="1422350"/>
            <a:ext cx="53996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프로젝트별 파라미터 덮어쓰기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188518" y="134168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340918" y="1060103"/>
            <a:ext cx="726132" cy="658564"/>
          </a:xfrm>
          <a:prstGeom prst="roundRect">
            <a:avLst>
              <a:gd name="adj" fmla="val 77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340918" y="1079153"/>
            <a:ext cx="726132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062287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340918" y="1713905"/>
            <a:ext cx="726132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345680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439293" y="1187053"/>
            <a:ext cx="5399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439293" y="1298079"/>
            <a:ext cx="53996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439293" y="1422350"/>
            <a:ext cx="53996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Scaffold Skill 동적 주입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130451" y="134168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82851" y="1060103"/>
            <a:ext cx="726132" cy="658564"/>
          </a:xfrm>
          <a:prstGeom prst="roundRect">
            <a:avLst>
              <a:gd name="adj" fmla="val 77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82851" y="1079153"/>
            <a:ext cx="726132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004221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282851" y="1713905"/>
            <a:ext cx="726132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287613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381226" y="1187053"/>
            <a:ext cx="5399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381226" y="1298079"/>
            <a:ext cx="53996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381226" y="1422350"/>
            <a:ext cx="53996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 인사이트 주입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072384" y="134168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224784" y="1060103"/>
            <a:ext cx="726132" cy="658564"/>
          </a:xfrm>
          <a:prstGeom prst="roundRect">
            <a:avLst>
              <a:gd name="adj" fmla="val 77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224784" y="1079153"/>
            <a:ext cx="726132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946154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224784" y="1713905"/>
            <a:ext cx="726132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229546" y="1060103"/>
            <a:ext cx="0" cy="65856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323159" y="1187053"/>
            <a:ext cx="5399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323159" y="1298079"/>
            <a:ext cx="53996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323159" y="1422350"/>
            <a:ext cx="53996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초기화 bridge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014317" y="134168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166717" y="1060103"/>
            <a:ext cx="726132" cy="658564"/>
          </a:xfrm>
          <a:prstGeom prst="roundRect">
            <a:avLst>
              <a:gd name="adj" fmla="val 771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66717" y="1079153"/>
            <a:ext cx="726132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888087" y="1060103"/>
            <a:ext cx="0" cy="65856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166717" y="1713905"/>
            <a:ext cx="726132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171480" y="1060103"/>
            <a:ext cx="0" cy="65856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265093" y="1187053"/>
            <a:ext cx="5399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265093" y="1298079"/>
            <a:ext cx="53996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65093" y="1422350"/>
            <a:ext cx="53996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메시지 배열 조합 출력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57200" y="1832818"/>
            <a:ext cx="5435650" cy="644723"/>
          </a:xfrm>
          <a:prstGeom prst="roundRect">
            <a:avLst>
              <a:gd name="adj" fmla="val 787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57200" y="1837581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5888087" y="1832818"/>
            <a:ext cx="0" cy="64472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57200" y="2472779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476250" y="1832818"/>
            <a:ext cx="0" cy="644723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622250" y="1943844"/>
            <a:ext cx="5236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22250" y="2086719"/>
            <a:ext cx="523680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후 SHA-256 해시를 생성. 동일 프롬프트 재조립 시 캐시 히트 판별 — 수동 편집으로는 불가능했던 변경 추적을 코드 레벨에서 보장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2250" y="2261741"/>
            <a:ext cx="5236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= sha256(assembled_prompt) → cache_key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57200" y="2591693"/>
            <a:ext cx="5435650" cy="432048"/>
          </a:xfrm>
          <a:prstGeom prst="roundRect">
            <a:avLst>
              <a:gd name="adj" fmla="val 11758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93675" y="2690068"/>
            <a:ext cx="52659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93675" y="2801094"/>
            <a:ext cx="526595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복잡도 vs 캐시 안정성 — 6-Phase 파이프라인 도입으로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2회차부터 비용 10%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19800" y="872877"/>
            <a:ext cx="27203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cache_control: ephemeral 효과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019800" y="1085552"/>
            <a:ext cx="2667000" cy="787301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132335" y="1209377"/>
            <a:ext cx="2441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74" name="Text 72"/>
          <p:cNvSpPr/>
          <p:nvPr/>
        </p:nvSpPr>
        <p:spPr>
          <a:xfrm>
            <a:off x="6132335" y="1552277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2회차+ 입력 비용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6132335" y="1663303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(vs 1회차 100%)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6019800" y="1961704"/>
            <a:ext cx="2667000" cy="613470"/>
          </a:xfrm>
          <a:prstGeom prst="roundRect">
            <a:avLst>
              <a:gd name="adj" fmla="val 828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6156275" y="2072729"/>
            <a:ext cx="24419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7-Node 공유 구조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156275" y="2215604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파이프라인 내 7개 노드가 동일 시스템 프롬프트를 공유. ephemeral 마킹 1회로 전체 캐시 적용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019800" y="2664023"/>
            <a:ext cx="2667000" cy="634454"/>
          </a:xfrm>
          <a:prstGeom prst="roundRect">
            <a:avLst>
              <a:gd name="adj" fmla="val 800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156275" y="2775049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156275" y="2921050"/>
            <a:ext cx="2394049" cy="2664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편집: 변경 추적 불가, 캐시 미스</a:t>
            </a:r>
            <a:endParaRPr lang="en-US" sz="700" dirty="0"/>
          </a:p>
          <a:p>
            <a:pPr marL="76200" indent="-76200" algn="l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6-Phase 조립: SHA-256 추적 + 90% 절감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6019800" y="3387328"/>
            <a:ext cx="266700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6156275" y="3498354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Scaffold Skills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6156275" y="3631704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skill 페이즈에서 태스크 유형에 따라 필요한 스킬만 동적 선택 주입. 프롬프트 크기 최적화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457200" y="4987975"/>
            <a:ext cx="239168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N8: PromptAssembler 6-Phase + SHA-256 + cache_control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31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196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5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Ecosystem — Registry 삭제 → Catalog 전용 → 45 Servers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60202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확장 병목임을 인지 → 257줄 삭제, Proxy stub 9개 제거, config.toml 통합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50262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진화: 3계층 → 2계층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85552"/>
            <a:ext cx="4927699" cy="869900"/>
          </a:xfrm>
          <a:prstGeom prst="roundRect">
            <a:avLst>
              <a:gd name="adj" fmla="val 584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675" y="1196578"/>
            <a:ext cx="47478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3계층 구조 (병목)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1364754"/>
            <a:ext cx="1407616" cy="329952"/>
          </a:xfrm>
          <a:prstGeom prst="roundRect">
            <a:avLst>
              <a:gd name="adj" fmla="val 15396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942" y="1437680"/>
            <a:ext cx="12350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679942" y="1536055"/>
            <a:ext cx="12350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257줄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064693" y="1482030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217093" y="1364754"/>
            <a:ext cx="1407765" cy="329952"/>
          </a:xfrm>
          <a:prstGeom prst="roundRect">
            <a:avLst>
              <a:gd name="adj" fmla="val 15396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03358" y="1437680"/>
            <a:ext cx="12352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303358" y="1536055"/>
            <a:ext cx="12352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검색+관리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688259" y="1482030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659" y="1364754"/>
            <a:ext cx="1407765" cy="329952"/>
          </a:xfrm>
          <a:prstGeom prst="roundRect">
            <a:avLst>
              <a:gd name="adj" fmla="val 15396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26924" y="1437680"/>
            <a:ext cx="12352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926924" y="1536055"/>
            <a:ext cx="12352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설정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93675" y="1745456"/>
            <a:ext cx="474784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4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LLM의 도구 탐색을 막는 병목. Proxy stub 9개 중복. auto-discovery 불가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084040" y="2044303"/>
            <a:ext cx="17073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Registry 257줄 삭제 + Proxy stub 9개 제거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237929"/>
            <a:ext cx="4927699" cy="869900"/>
          </a:xfrm>
          <a:prstGeom prst="roundRect">
            <a:avLst>
              <a:gd name="adj" fmla="val 584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3675" y="2348954"/>
            <a:ext cx="47478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2계층 구조 (탐색 자유도)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3675" y="2517130"/>
            <a:ext cx="2219474" cy="329952"/>
          </a:xfrm>
          <a:prstGeom prst="roundRect">
            <a:avLst>
              <a:gd name="adj" fmla="val 15396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1824" y="2590056"/>
            <a:ext cx="20631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71824" y="2688431"/>
            <a:ext cx="20631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전용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876550" y="2634407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028950" y="2517130"/>
            <a:ext cx="2219474" cy="329952"/>
          </a:xfrm>
          <a:prstGeom prst="roundRect">
            <a:avLst>
              <a:gd name="adj" fmla="val 15396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107098" y="2590056"/>
            <a:ext cx="20631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107098" y="2688431"/>
            <a:ext cx="20631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[mcp.servers] 통합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93675" y="2897832"/>
            <a:ext cx="474784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 servers auto-discovery. API key 부재 시 dry-run 자동 전환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57200" y="3196679"/>
            <a:ext cx="4927699" cy="432048"/>
          </a:xfrm>
          <a:prstGeom prst="roundRect">
            <a:avLst>
              <a:gd name="adj" fmla="val 11758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3675" y="3295055"/>
            <a:ext cx="47478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93675" y="3406080"/>
            <a:ext cx="474784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제어(Registry) vs 탐색 자유도(direct config) — Registry 삭제로 LLM이 catalog 직접 탐색 가능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511850" y="872877"/>
            <a:ext cx="3174950" cy="7620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19305" y="996702"/>
            <a:ext cx="2960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619305" y="1339602"/>
            <a:ext cx="29600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 Servers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619305" y="1425327"/>
            <a:ext cx="29600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auto-discovery 관리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511850" y="1723727"/>
            <a:ext cx="317495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511850" y="1728490"/>
            <a:ext cx="31749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682038" y="1723727"/>
            <a:ext cx="0" cy="603945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511850" y="2322909"/>
            <a:ext cx="31749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5530900" y="1723727"/>
            <a:ext cx="0" cy="603945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676900" y="1834753"/>
            <a:ext cx="293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MCP-first + Fixture Fallback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676900" y="1968103"/>
            <a:ext cx="293089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signal 도구: 라이브 환경에서는 MCP 직접 호출, 오프라인/CI에서는 fixture 데이터로 자동 전환 — 라이브 수집과 테스트 양립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511850" y="2416522"/>
            <a:ext cx="3174950" cy="910382"/>
          </a:xfrm>
          <a:prstGeom prst="roundRect">
            <a:avLst>
              <a:gd name="adj" fmla="val 55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511850" y="2421285"/>
            <a:ext cx="31749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8682038" y="2416522"/>
            <a:ext cx="0" cy="91038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511850" y="3322141"/>
            <a:ext cx="31749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530900" y="2416522"/>
            <a:ext cx="0" cy="91038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676900" y="2527548"/>
            <a:ext cx="29308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HITL 권한 모델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76900" y="2683073"/>
            <a:ext cx="2873425" cy="53280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SAFE: 자동 실행</a:t>
            </a:r>
            <a:endParaRPr lang="en-US" sz="700" dirty="0"/>
          </a:p>
          <a:p>
            <a:pPr marL="76200" indent="-76200" algn="l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EXPENSIVE: 비용 일괄 승인</a:t>
            </a:r>
            <a:endParaRPr lang="en-US" sz="700" dirty="0"/>
          </a:p>
          <a:p>
            <a:pPr marL="76200" indent="-76200" algn="l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WRITE: 개별 승인</a:t>
            </a:r>
            <a:endParaRPr lang="en-US" sz="700" dirty="0"/>
          </a:p>
          <a:p>
            <a:pPr marL="76200" indent="-76200" algn="l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DANGEROUS: 강제 차단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511850" y="3415754"/>
            <a:ext cx="3174950" cy="445294"/>
          </a:xfrm>
          <a:prstGeom prst="roundRect">
            <a:avLst>
              <a:gd name="adj" fmla="val 11408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648325" y="3514130"/>
            <a:ext cx="296004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config.toml [mcp.servers]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648325" y="3663702"/>
            <a:ext cx="296004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stub 9개 제거 → 직접 연결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457200" y="4978450"/>
            <a:ext cx="24899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N10: MCP Registry→Catalog 단순화, 45 servers auto-discovery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31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196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502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Tracking — TokenTracker ContextVar + 18-Model Registry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0677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LangSmith만으로는 모델별 비용 추적 불가 → 자체 TokenTracker 구축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63352"/>
            <a:ext cx="50262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흐름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63377"/>
            <a:ext cx="4927699" cy="606772"/>
          </a:xfrm>
          <a:prstGeom prst="roundRect">
            <a:avLst>
              <a:gd name="adj" fmla="val 837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68139"/>
            <a:ext cx="492769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380137" y="1063377"/>
            <a:ext cx="0" cy="60677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665387"/>
            <a:ext cx="492769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6250" y="1063377"/>
            <a:ext cx="0" cy="60677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2250" y="1161752"/>
            <a:ext cx="47186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 (요청별 격리)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22250" y="1304627"/>
            <a:ext cx="471869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LLM 호출마다 ContextVar로 독립 추적 컨텍스트 생성. 비동기 병렬 호출 간 데이터 혼입 없음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2250" y="1466999"/>
            <a:ext cx="47186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model, input_tokens, output_tokens, cache_creation, cache_read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95600" y="1746349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936849"/>
            <a:ext cx="4927699" cy="463897"/>
          </a:xfrm>
          <a:prstGeom prst="roundRect">
            <a:avLst>
              <a:gd name="adj" fmla="val 10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1941612"/>
            <a:ext cx="492769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380137" y="1936849"/>
            <a:ext cx="0" cy="463897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395984"/>
            <a:ext cx="492769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6250" y="1936849"/>
            <a:ext cx="0" cy="463897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2250" y="2035225"/>
            <a:ext cx="47186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18-Model 가격 레지스트리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2250" y="2178100"/>
            <a:ext cx="471869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Anthropic(Opus/Sonnet/Haiku) + OpenAI(GPT-5.4/5.3/4o) + ZhipuAI 포함 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모델 단가 등록. 실시간 비용 산출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895600" y="2476946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667446"/>
            <a:ext cx="4927699" cy="454372"/>
          </a:xfrm>
          <a:prstGeom prst="roundRect">
            <a:avLst>
              <a:gd name="adj" fmla="val 1118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2672209"/>
            <a:ext cx="492769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380137" y="2667446"/>
            <a:ext cx="0" cy="45437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3117056"/>
            <a:ext cx="492769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76250" y="2667446"/>
            <a:ext cx="0" cy="45437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22250" y="2765822"/>
            <a:ext cx="4718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UsageStore + ProjectJournal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2250" y="2899172"/>
            <a:ext cx="471869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UsageStore: 월별 JSONL 영속 저장. ProjectJournal: 프로젝트별 실행 이력과 누적 비용 추적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3223320"/>
            <a:ext cx="4927699" cy="432048"/>
          </a:xfrm>
          <a:prstGeom prst="roundRect">
            <a:avLst>
              <a:gd name="adj" fmla="val 11758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3675" y="3321695"/>
            <a:ext cx="47478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93675" y="3432721"/>
            <a:ext cx="474784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LangSmith만으로는 모델별 비용 추적 불가 → ContextVar 싱글톤 자체 구축으로 캐시 히트율까지 실측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11850" y="863352"/>
            <a:ext cx="3174950" cy="1047750"/>
          </a:xfrm>
          <a:prstGeom prst="roundRect">
            <a:avLst>
              <a:gd name="adj" fmla="val 484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48325" y="987177"/>
            <a:ext cx="29600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geode /cost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48325" y="1177677"/>
            <a:ext cx="3265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8283625" y="1168152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$0.42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48325" y="1320552"/>
            <a:ext cx="2333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8283625" y="1311027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$3.17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48325" y="1463427"/>
            <a:ext cx="3265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8230344" y="1453902"/>
            <a:ext cx="3263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$41.83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648325" y="1639639"/>
            <a:ext cx="2902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648325" y="1692027"/>
            <a:ext cx="4198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Hit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283625" y="1682502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87.3%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511850" y="1999952"/>
            <a:ext cx="3174950" cy="923330"/>
          </a:xfrm>
          <a:prstGeom prst="roundRect">
            <a:avLst>
              <a:gd name="adj" fmla="val 55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48325" y="2110978"/>
            <a:ext cx="29600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Pruning 임계값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648325" y="2279154"/>
            <a:ext cx="457200" cy="234851"/>
          </a:xfrm>
          <a:prstGeom prst="roundRect">
            <a:avLst>
              <a:gd name="adj" fmla="val 2163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756999" y="2339429"/>
            <a:ext cx="2398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94375" y="2338834"/>
            <a:ext cx="117420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경고 발동. 루프는 계속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648325" y="2577405"/>
            <a:ext cx="457200" cy="234851"/>
          </a:xfrm>
          <a:prstGeom prst="roundRect">
            <a:avLst>
              <a:gd name="adj" fmla="val 21631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56999" y="2637681"/>
            <a:ext cx="2398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94375" y="2637086"/>
            <a:ext cx="1069464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prune 자동 발동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511850" y="3012132"/>
            <a:ext cx="3174950" cy="777180"/>
          </a:xfrm>
          <a:prstGeom prst="roundRect">
            <a:avLst>
              <a:gd name="adj" fmla="val 65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511850" y="3016895"/>
            <a:ext cx="31749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8682038" y="3012132"/>
            <a:ext cx="0" cy="77718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511850" y="3784550"/>
            <a:ext cx="31749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5530900" y="3012132"/>
            <a:ext cx="0" cy="77718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5676900" y="3123158"/>
            <a:ext cx="29308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자체 구축했는가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676900" y="3278684"/>
            <a:ext cx="2873425" cy="39960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LangSmith: 트레이싱 강점, 모델별 단가 계산 미지원</a:t>
            </a:r>
            <a:endParaRPr lang="en-US" sz="700" dirty="0"/>
          </a:p>
          <a:p>
            <a:pPr marL="76200" indent="-76200" algn="l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cache_creation/cache_read 별도 추적 필요</a:t>
            </a:r>
            <a:endParaRPr lang="en-US" sz="700" dirty="0"/>
          </a:p>
          <a:p>
            <a:pPr marL="76200" indent="-76200" algn="l">
              <a:lnSpc>
                <a:spcPts val="1050"/>
              </a:lnSpc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36-day 총 비용 실시간 파악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57200" y="4987975"/>
            <a:ext cx="240595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N11: TokenTracker ContextVar, 18-Model Registry, /cost CLI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31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1634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—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502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Bash 3-Layer + PolicyChain 6-Layer + Dual Trust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0677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safe-first 검사하면 파이프 주입 통과 — Input Gating + Output Validation 이중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50702"/>
            <a:ext cx="21046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실행 제어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0727"/>
            <a:ext cx="2063353" cy="548283"/>
          </a:xfrm>
          <a:prstGeom prst="roundRect">
            <a:avLst>
              <a:gd name="adj" fmla="val 926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55489"/>
            <a:ext cx="2063353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515791" y="1050727"/>
            <a:ext cx="0" cy="548283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594247"/>
            <a:ext cx="2063353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6250" y="1050727"/>
            <a:ext cx="0" cy="548283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09600" y="1149102"/>
            <a:ext cx="18228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Input Sanitization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09600" y="1269653"/>
            <a:ext cx="182287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명령 파싱 전 파이프 주입 패턴 차단. allow-list 방식으로 허용된 명령만 통과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662410"/>
            <a:ext cx="2063353" cy="548283"/>
          </a:xfrm>
          <a:prstGeom prst="roundRect">
            <a:avLst>
              <a:gd name="adj" fmla="val 926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1667173"/>
            <a:ext cx="2063353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515791" y="1662410"/>
            <a:ext cx="0" cy="548283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205930"/>
            <a:ext cx="2063353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6250" y="1662410"/>
            <a:ext cx="0" cy="548283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9600" y="1760786"/>
            <a:ext cx="18228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Sandbox (macOS Seatbelt)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9600" y="1881336"/>
            <a:ext cx="182287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34-패턴 deny-list. 파일시스템/네트워크 접근을 OS 레벨에서 제한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274094"/>
            <a:ext cx="2063353" cy="548283"/>
          </a:xfrm>
          <a:prstGeom prst="roundRect">
            <a:avLst>
              <a:gd name="adj" fmla="val 926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7200" y="2278856"/>
            <a:ext cx="2063353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515791" y="2274094"/>
            <a:ext cx="0" cy="548283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2817614"/>
            <a:ext cx="2063353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76250" y="2274094"/>
            <a:ext cx="0" cy="548283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09600" y="2372469"/>
            <a:ext cx="18228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— Output Validation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09600" y="2493020"/>
            <a:ext cx="182287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결과를 LLM에 반환 전 Secret Redaction 8-패턴으로 재검사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2898577"/>
            <a:ext cx="2063353" cy="712440"/>
          </a:xfrm>
          <a:prstGeom prst="roundRect">
            <a:avLst>
              <a:gd name="adj" fmla="val 7130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81025" y="2996952"/>
            <a:ext cx="1852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 8-패턴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81025" y="3139827"/>
            <a:ext cx="1852017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key, JWT, password, token, secret, credential, private key, certificate — 정규식 기반 마스킹, LLM 컨텍스트에 유출 차단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47504" y="850702"/>
            <a:ext cx="9900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</a:t>
            </a:r>
            <a:endParaRPr lang="en-US" sz="800" dirty="0"/>
          </a:p>
        </p:txBody>
      </p:sp>
      <p:pic>
        <p:nvPicPr>
          <p:cNvPr id="32" name="Image 0" descr="/Users/mango/workspace/portfolio/geode/versions/v2/slides/assets/v028-diagram-policy-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504" y="1041202"/>
            <a:ext cx="4317950" cy="2006501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2647504" y="3123902"/>
            <a:ext cx="4317950" cy="556320"/>
          </a:xfrm>
          <a:prstGeom prst="roundRect">
            <a:avLst>
              <a:gd name="adj" fmla="val 9131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783979" y="3222278"/>
            <a:ext cx="41259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2783979" y="3333304"/>
            <a:ext cx="412590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safe-first 순서로 검사하면 파이프 주입이 Input Sanitization을 통과 — Output Validation을 독립 레이어로 분리하여 이중 차단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092404" y="850702"/>
            <a:ext cx="16262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092404" y="1041202"/>
            <a:ext cx="1594396" cy="728216"/>
          </a:xfrm>
          <a:prstGeom prst="roundRect">
            <a:avLst>
              <a:gd name="adj" fmla="val 697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7216229" y="1152227"/>
            <a:ext cx="1373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216229" y="1285577"/>
            <a:ext cx="1373681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생성한 명령이 허용 리스트에 있는지 실행 전 검증. DANGEROUS 등급은 차단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7092404" y="1845618"/>
            <a:ext cx="1594396" cy="728216"/>
          </a:xfrm>
          <a:prstGeom prst="roundRect">
            <a:avLst>
              <a:gd name="adj" fmla="val 697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7216229" y="1956643"/>
            <a:ext cx="13736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7216229" y="2089993"/>
            <a:ext cx="1373681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실행 결과를 LLM에 반환하기 전 재검사. Secret 누출 차단, 스키마 위반 필터링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092404" y="2650034"/>
            <a:ext cx="1594396" cy="862013"/>
          </a:xfrm>
          <a:prstGeom prst="roundRect">
            <a:avLst>
              <a:gd name="adj" fmla="val 589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216229" y="2761059"/>
            <a:ext cx="13736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이중 모델인가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216229" y="2903934"/>
            <a:ext cx="1373681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도구 실행 도중 context에서 secret을 추출 가능. Input만 막으면 Output 경로로 우회 가능하므로 양방향 차단 필요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57200" y="4987975"/>
            <a:ext cx="257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Bash 3-Layer + Secret Redaction 8-Pattern + PolicyChain 6-Layer</a:t>
            </a:r>
            <a:endParaRPr lang="en-US" sz="500" dirty="0"/>
          </a:p>
        </p:txBody>
      </p:sp>
      <p:sp>
        <p:nvSpPr>
          <p:cNvPr id="47" name="Text 44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31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1634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—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502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Serve — ChannelBinding → LaneQueue → AgenticLoop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0677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vs HITL — serve 모드는 HITL 없이 deny-by-default로 자율 실행 경계 제어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50702"/>
            <a:ext cx="52006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연결 플로우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0727"/>
            <a:ext cx="5098703" cy="599777"/>
          </a:xfrm>
          <a:prstGeom prst="roundRect">
            <a:avLst>
              <a:gd name="adj" fmla="val 847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675" y="1161752"/>
            <a:ext cx="1015901" cy="377726"/>
          </a:xfrm>
          <a:prstGeom prst="roundRect">
            <a:avLst>
              <a:gd name="adj" fmla="val 13449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6763" y="1247477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6763" y="1368028"/>
            <a:ext cx="809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등록 + 인증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685776" y="129346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63626" y="1161752"/>
            <a:ext cx="1015901" cy="377726"/>
          </a:xfrm>
          <a:prstGeom prst="roundRect">
            <a:avLst>
              <a:gd name="adj" fmla="val 13449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66713" y="1247477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66713" y="1368028"/>
            <a:ext cx="809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격리 키 발급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955727" y="129346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33576" y="1161752"/>
            <a:ext cx="1015901" cy="377726"/>
          </a:xfrm>
          <a:prstGeom prst="roundRect">
            <a:avLst>
              <a:gd name="adj" fmla="val 13449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36663" y="1247477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36663" y="1368028"/>
            <a:ext cx="809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큐 배분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225677" y="129346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03527" y="1161752"/>
            <a:ext cx="1015901" cy="377726"/>
          </a:xfrm>
          <a:prstGeom prst="roundRect">
            <a:avLst>
              <a:gd name="adj" fmla="val 13449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06614" y="1247477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06614" y="1368028"/>
            <a:ext cx="809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실행 시작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57200" y="1726704"/>
            <a:ext cx="1217414" cy="604689"/>
          </a:xfrm>
          <a:prstGeom prst="roundRect">
            <a:avLst>
              <a:gd name="adj" fmla="val 84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226" y="1825079"/>
            <a:ext cx="10152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68226" y="1936105"/>
            <a:ext cx="101527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Slack/API/CLI 채널별 독립 바인딩. 채널 인증 실패 시 연결 거부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750814" y="1726704"/>
            <a:ext cx="1217563" cy="604689"/>
          </a:xfrm>
          <a:prstGeom prst="roundRect">
            <a:avLst>
              <a:gd name="adj" fmla="val 84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861840" y="1825079"/>
            <a:ext cx="10154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861840" y="1936105"/>
            <a:ext cx="101542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세션별 격리 컨텍스트. 다중 세션 간 메모리 혼입 방지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044577" y="1726704"/>
            <a:ext cx="1217563" cy="604689"/>
          </a:xfrm>
          <a:prstGeom prst="roundRect">
            <a:avLst>
              <a:gd name="adj" fmla="val 84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55603" y="1825079"/>
            <a:ext cx="10154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155603" y="1936105"/>
            <a:ext cx="1015422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URGENT/NORMAL/BATCH 우선순위. CoalescingQueue 250ms dedup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338340" y="1726704"/>
            <a:ext cx="1217563" cy="604689"/>
          </a:xfrm>
          <a:prstGeom prst="roundRect">
            <a:avLst>
              <a:gd name="adj" fmla="val 84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49366" y="1825079"/>
            <a:ext cx="10154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449366" y="1936105"/>
            <a:ext cx="101542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자율 실행. 5종 종료 경로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57200" y="2432893"/>
            <a:ext cx="5098703" cy="432048"/>
          </a:xfrm>
          <a:prstGeom prst="roundRect">
            <a:avLst>
              <a:gd name="adj" fmla="val 11758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3675" y="2531269"/>
            <a:ext cx="49222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593675" y="2642295"/>
            <a:ext cx="492226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vs HITL — serve 모드는 HITL 없이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deny-by-default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운영. DANGEROUS 등급 자동 차단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82853" y="850702"/>
            <a:ext cx="3064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 — Headless Daemon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82853" y="1053852"/>
            <a:ext cx="3003947" cy="704850"/>
          </a:xfrm>
          <a:prstGeom prst="roundRect">
            <a:avLst>
              <a:gd name="adj" fmla="val 7207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19329" y="1177677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geode serve --headless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819329" y="1320552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Mode: HEADLESS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819329" y="1425327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HITL: DISABLED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819329" y="1530102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Policy: DENY_BY_DEFAULT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82853" y="1847552"/>
            <a:ext cx="3003947" cy="1076623"/>
          </a:xfrm>
          <a:prstGeom prst="roundRect">
            <a:avLst>
              <a:gd name="adj" fmla="val 47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819329" y="1958578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모드 vs Serve 모드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19329" y="2114104"/>
            <a:ext cx="2730996" cy="324148"/>
          </a:xfrm>
          <a:prstGeom prst="roundRect">
            <a:avLst>
              <a:gd name="adj" fmla="val 1567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908179" y="2177504"/>
            <a:ext cx="26043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908179" y="2275880"/>
            <a:ext cx="260436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 대기. HITL 승인 요청. WRITE/DANGEROUS는 pause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5819329" y="2489002"/>
            <a:ext cx="2730996" cy="324148"/>
          </a:xfrm>
          <a:prstGeom prst="roundRect">
            <a:avLst>
              <a:gd name="adj" fmla="val 1567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908179" y="2552402"/>
            <a:ext cx="26043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(Headless)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08179" y="2650778"/>
            <a:ext cx="260436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없음. SAFE/AUTO만 실행. WRITE 이상은 deny-by-default 차단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682853" y="3013025"/>
            <a:ext cx="3003947" cy="613470"/>
          </a:xfrm>
          <a:prstGeom prst="roundRect">
            <a:avLst>
              <a:gd name="adj" fmla="val 828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682853" y="3017788"/>
            <a:ext cx="300394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8682038" y="3013025"/>
            <a:ext cx="0" cy="61347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682853" y="3621732"/>
            <a:ext cx="300394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701903" y="3013025"/>
            <a:ext cx="0" cy="61347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847904" y="3124051"/>
            <a:ext cx="27564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deny-by-default인가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847904" y="3266926"/>
            <a:ext cx="275647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자율 실행 환경에서 사람이 검토 없이 WRITE 권한이 열리면 의도치 않은 파일/DB 수정이 발생. 최소 권한 원칙으로 안전한 자율성 확보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57200" y="4987975"/>
            <a:ext cx="249992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ChannelBinding → Session Key → LaneQueue → AgenticLoop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31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523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CONNECTION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5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→ Results — 제약이 만든 결과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60202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CANNOT 규칙은 특정 실패 패턴을 막기 위해 설계됐고, 그 결과가 숫자로 검증됩니다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064050" cy="583109"/>
          </a:xfrm>
          <a:prstGeom prst="roundRect">
            <a:avLst>
              <a:gd name="adj" fmla="val 871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3903"/>
            <a:ext cx="674638" cy="304651"/>
          </a:xfrm>
          <a:prstGeom prst="roundRect">
            <a:avLst>
              <a:gd name="adj" fmla="val 16675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051" y="1044178"/>
            <a:ext cx="4874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692051" y="1142554"/>
            <a:ext cx="4874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5pt 미만 텍스트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344513" y="107900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22363" y="1013371"/>
            <a:ext cx="29196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가독성 보장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522363" y="1143446"/>
            <a:ext cx="291966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변환 후 모든 텍스트 최소 5pt 유지. 투자자 발표 환경에서도 판독 가능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22750" y="872877"/>
            <a:ext cx="4064050" cy="583109"/>
          </a:xfrm>
          <a:prstGeom prst="roundRect">
            <a:avLst>
              <a:gd name="adj" fmla="val 871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9226" y="1012031"/>
            <a:ext cx="803077" cy="304651"/>
          </a:xfrm>
          <a:prstGeom prst="roundRect">
            <a:avLst>
              <a:gd name="adj" fmla="val 16675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57601" y="1072307"/>
            <a:ext cx="618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857601" y="1170682"/>
            <a:ext cx="618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gradient 금지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638502" y="110728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16352" y="983903"/>
            <a:ext cx="27886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html2pptx 변환 안정성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816352" y="1113979"/>
            <a:ext cx="278865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gradient는 PptxGenJS에서 깨짐. solid color + border로 대체 → </a:t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무회귀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1544836"/>
            <a:ext cx="4064050" cy="526703"/>
          </a:xfrm>
          <a:prstGeom prst="roundRect">
            <a:avLst>
              <a:gd name="adj" fmla="val 964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3675" y="1655862"/>
            <a:ext cx="700534" cy="304651"/>
          </a:xfrm>
          <a:prstGeom prst="roundRect">
            <a:avLst>
              <a:gd name="adj" fmla="val 16675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2051" y="1716137"/>
            <a:ext cx="513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692051" y="1814513"/>
            <a:ext cx="513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나열 금지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1370409" y="1750963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48259" y="1685330"/>
            <a:ext cx="28932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인과관계 서술 강제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548259" y="1815405"/>
            <a:ext cx="289324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슬라이드가 "문제→설계→결과" 흐름으로 강제됨. </a:t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31장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 내러티브 완성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22750" y="1544836"/>
            <a:ext cx="4064050" cy="526703"/>
          </a:xfrm>
          <a:prstGeom prst="roundRect">
            <a:avLst>
              <a:gd name="adj" fmla="val 964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59226" y="1655862"/>
            <a:ext cx="764084" cy="304651"/>
          </a:xfrm>
          <a:prstGeom prst="roundRect">
            <a:avLst>
              <a:gd name="adj" fmla="val 16675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7601" y="1716137"/>
            <a:ext cx="5786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857601" y="1814513"/>
            <a:ext cx="5786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6개 초과 금지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599509" y="1750963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77359" y="1685330"/>
            <a:ext cx="28284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분리 → 깊이 증가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777359" y="1815405"/>
            <a:ext cx="2828425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26장 → V2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31장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과밀 슬라이드 5장 분리로 각 주제 충분한 깊이 확보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" y="2160389"/>
            <a:ext cx="6350198" cy="723602"/>
          </a:xfrm>
          <a:prstGeom prst="roundRect">
            <a:avLst>
              <a:gd name="adj" fmla="val 702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93675" y="2271415"/>
            <a:ext cx="914400" cy="304651"/>
          </a:xfrm>
          <a:prstGeom prst="roundRect">
            <a:avLst>
              <a:gd name="adj" fmla="val 16675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92051" y="2331690"/>
            <a:ext cx="7320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92051" y="2430066"/>
            <a:ext cx="7320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배치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1584275" y="2366516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762125" y="2296567"/>
            <a:ext cx="50069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수준 다이어그램 강제 → 설계 증명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762125" y="2426643"/>
            <a:ext cx="500697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화살표 분기, 루프백, 상태 전이를 포함해야 하므로 실제 아키텍처를 시각화해야 함.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v028 PNG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4개 재활용 + 인과 흐름 슬라이드로 구현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08899" y="2160389"/>
            <a:ext cx="1777901" cy="723602"/>
          </a:xfrm>
          <a:prstGeom prst="roundRect">
            <a:avLst>
              <a:gd name="adj" fmla="val 702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30325" y="2271415"/>
            <a:ext cx="153504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030325" y="2588865"/>
            <a:ext cx="1535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030325" y="2687241"/>
            <a:ext cx="1535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 실패 패턴 기반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57200" y="4987975"/>
            <a:ext cx="181482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23 CANNOT rules → verified outcomes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31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523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CONNECTION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5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— Architecture + Pipeline 설계 결정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60202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결정에 기각된 대안이 있었다. 채택 이유와 결과를 검증한다.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064050" cy="659160"/>
          </a:xfrm>
          <a:prstGeom prst="roundRect">
            <a:avLst>
              <a:gd name="adj" fmla="val 770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93428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7076" y="1018729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928539" y="1013966"/>
            <a:ext cx="12238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StateGraph DAG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04591" y="101396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369790" y="983903"/>
            <a:ext cx="757982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42716" y="1018729"/>
            <a:ext cx="6243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직접 함수 체인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93675" y="1190030"/>
            <a:ext cx="386692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분기/루프백이 있는 파이프라인은 함수 체인으로 상태 관리 불가 → StateGraph로 노드 재진입과 조건 분기 표현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608237"/>
            <a:ext cx="4064050" cy="659160"/>
          </a:xfrm>
          <a:prstGeom prst="roundRect">
            <a:avLst>
              <a:gd name="adj" fmla="val 770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3675" y="1728788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7076" y="175408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928539" y="1744563"/>
            <a:ext cx="8469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 패턴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35051" y="174932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000250" y="1719263"/>
            <a:ext cx="670768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73176" y="1754088"/>
            <a:ext cx="5354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직접 의존성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3675" y="1925389"/>
            <a:ext cx="386692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의존성이면 LLM Provider 교체 시 파이프라인 전체 수정 → Port 추상화로 Provider 교체 시 Adapter만 교체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343596"/>
            <a:ext cx="4064050" cy="659160"/>
          </a:xfrm>
          <a:prstGeom prst="roundRect">
            <a:avLst>
              <a:gd name="adj" fmla="val 770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3675" y="2464147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7076" y="248944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928539" y="2484686"/>
            <a:ext cx="8364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Verification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824782" y="248468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989981" y="2454622"/>
            <a:ext cx="774353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062907" y="2489448"/>
            <a:ext cx="6410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단일 LLM 평가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93675" y="2660749"/>
            <a:ext cx="386692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평가자는 Confirmation Bias. Guardrails→BiasBuster→Cross-LLM→Rights Risk→GT 5단계 체인으로 69.4→99.8 신뢰도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078956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675" y="3199507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7076" y="322480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928539" y="3215283"/>
            <a:ext cx="9982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Selection 압축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983432" y="3220045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148632" y="3189982"/>
            <a:ext cx="672108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221557" y="3224808"/>
            <a:ext cx="5367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Lossy 요약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593675" y="3396109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요약은 코드/수치 정보 손실. LLM이 코드로 관련 청크 선별 → 정보 손실 0%, 비용 0.03%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22750" y="872877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59226" y="993428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22627" y="1018729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94089" y="1013966"/>
            <a:ext cx="11537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6-Phase PromptAssembler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301383" y="101396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466582" y="983903"/>
            <a:ext cx="889695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539508" y="1018729"/>
            <a:ext cx="7587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수동 프롬프트 편집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759226" y="1190030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편집은 변경 추적 불가, 캐시 미스. SHA-256 추적 + ephemeral 캐시 → 2회차부터 입력 비용 10%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622750" y="1492746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59226" y="1613297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822627" y="163859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5094089" y="1629073"/>
            <a:ext cx="12613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4096-token 서브에이전트 Guard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406902" y="1633835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572101" y="1603772"/>
            <a:ext cx="670768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645027" y="1638598"/>
            <a:ext cx="5354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무제한 반환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759226" y="1809899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 결과 무제한 반환 시 부모 컨텍스트 폭발. 4096-token guard로 구조화 요약 강제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622750" y="2112615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59226" y="2233166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822627" y="2258467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94089" y="2248942"/>
            <a:ext cx="10922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5-Tier 병렬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241107" y="225370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406307" y="2223641"/>
            <a:ext cx="604986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479232" y="2258467"/>
            <a:ext cx="4683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순차 실행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759226" y="2429768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순차 실행은 도구 N개 × 지연 선형 증가. SAFE/AUTO는 병렬, WRITE 이상은 순차로 안전성과 속도 균형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622750" y="2732484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759226" y="2853035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822627" y="2878336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094089" y="2868811"/>
            <a:ext cx="9238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× 3,201 테스트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076057" y="287357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41256" y="2843510"/>
            <a:ext cx="736699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314182" y="2878336"/>
            <a:ext cx="6026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테스트 최소화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759226" y="3049637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생성 코드는 미묘한 버그 多. 70% 테스트 비율 강제 → 39 릴리스 무회귀 달성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4987975"/>
            <a:ext cx="187797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Architecture + Pipeline trade-off decisions</a:t>
            </a:r>
            <a:endParaRPr lang="en-US" sz="500" dirty="0"/>
          </a:p>
        </p:txBody>
      </p:sp>
      <p:sp>
        <p:nvSpPr>
          <p:cNvPr id="71" name="Text 6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31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5230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CONNECTION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35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— Agent + Security + Gateway 설계 결정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60202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자율성과 안전성 사이, 각 결정의 기각된 대안과 채택 근거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064050" cy="659160"/>
          </a:xfrm>
          <a:prstGeom prst="roundRect">
            <a:avLst>
              <a:gd name="adj" fmla="val 770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93428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7076" y="1018729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928539" y="1013966"/>
            <a:ext cx="11235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Circuit Breaker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106216" y="101396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71415" y="983903"/>
            <a:ext cx="756791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44341" y="1018729"/>
            <a:ext cx="6231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단일 Provider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93675" y="1190030"/>
            <a:ext cx="386692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Limit·장애 시 파이프라인 전체 중단. Circuit Breaker 5회 실패→60s OPEN→Half-Open으로 자동 복구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608237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3675" y="1728788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7076" y="175408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928539" y="1749326"/>
            <a:ext cx="13745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 ±25% Jitter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52377" y="174932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17577" y="1719263"/>
            <a:ext cx="823764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90502" y="1754088"/>
            <a:ext cx="6914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고정 지연 재시도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3675" y="1925389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지연은 다수 에이전트가 동시 재시도 → Thundering Herd. Jitter로 재시도 분산, RateLimit 회피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228106"/>
            <a:ext cx="4064050" cy="659160"/>
          </a:xfrm>
          <a:prstGeom prst="roundRect">
            <a:avLst>
              <a:gd name="adj" fmla="val 770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3675" y="2348657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7076" y="2373957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928539" y="2364432"/>
            <a:ext cx="13302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(GLM-5) 3번째 Provider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08920" y="2369195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474119" y="2339132"/>
            <a:ext cx="561529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547045" y="2373957"/>
            <a:ext cx="4239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Gemini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93675" y="2545259"/>
            <a:ext cx="386692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Gemini는 API 응답 포맷이 비표준 케이스 多. ZhipuAI는 OpenAI-compatible API로 Adapter 재사용 가능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2963466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675" y="3084016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7076" y="3109317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928539" y="3104555"/>
            <a:ext cx="10529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46-Event Hook Observer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037011" y="3104555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02210" y="3074491"/>
            <a:ext cx="736699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275136" y="3109317"/>
            <a:ext cx="6026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하드코딩 콜백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593675" y="3280618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콜백은 이벤트 추가 시 코어 수정 필요. Priority 핸들러 + 에러 격리로 확장성과 격리 확보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22750" y="872877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59226" y="993428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22627" y="1018729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94089" y="1013966"/>
            <a:ext cx="13773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(Input + Output Gate)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520607" y="1013966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85806" y="983903"/>
            <a:ext cx="708422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758732" y="1018729"/>
            <a:ext cx="5738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Input만 검사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759226" y="1190030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Input만 막으면 Output 경로로 secret 우회 가능. Output Validation 독립 레이어로 양방향 차단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622750" y="1492746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59226" y="1613297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822627" y="163859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5094089" y="1629073"/>
            <a:ext cx="11895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Deny-by-default (serve 모드)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336506" y="1633835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501705" y="1603772"/>
            <a:ext cx="853827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574631" y="1638598"/>
            <a:ext cx="7221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allow-by-default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759226" y="1809899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없는 headless 모드에서 WRITE 허용이면 의도치 않은 파일 수정. 최소 권한 원칙 → SAFE만 허용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622750" y="2112615"/>
            <a:ext cx="4064050" cy="543669"/>
          </a:xfrm>
          <a:prstGeom prst="roundRect">
            <a:avLst>
              <a:gd name="adj" fmla="val 93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59226" y="2233166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822627" y="2258467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094089" y="2253704"/>
            <a:ext cx="11459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MCP-first + fixture fallback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293793" y="225370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458992" y="2223641"/>
            <a:ext cx="670768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531918" y="2258467"/>
            <a:ext cx="5354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라이브 전용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759226" y="2429768"/>
            <a:ext cx="38669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전용이면 CI 환경에서 테스트 불가. fixture fallback으로 오프라인 테스트 + 라이브 수집 양립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622750" y="2732484"/>
            <a:ext cx="4064050" cy="659160"/>
          </a:xfrm>
          <a:prstGeom prst="roundRect">
            <a:avLst>
              <a:gd name="adj" fmla="val 770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759226" y="2853035"/>
            <a:ext cx="258663" cy="136327"/>
          </a:xfrm>
          <a:prstGeom prst="roundRect">
            <a:avLst>
              <a:gd name="adj" fmla="val 1863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822627" y="2878336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094089" y="2868811"/>
            <a:ext cx="11045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GEODE→REODE 패턴 이식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253163" y="287357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418362" y="2843510"/>
            <a:ext cx="802630" cy="155377"/>
          </a:xfrm>
          <a:prstGeom prst="roundRect">
            <a:avLst>
              <a:gd name="adj" fmla="val 1634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491288" y="2878336"/>
            <a:ext cx="669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기각: 처음부터 재설계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759226" y="3049637"/>
            <a:ext cx="386692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기반 Port/Adapter, HookSystem, CircuitBreaker를 REODE에 직접 이식 → 33세션 83/83 패스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4987975"/>
            <a:ext cx="203448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Agent + Security + Gateway trade-off decisions</a:t>
            </a:r>
            <a:endParaRPr lang="en-US" sz="500" dirty="0"/>
          </a:p>
        </p:txBody>
      </p:sp>
      <p:sp>
        <p:nvSpPr>
          <p:cNvPr id="71" name="Text 6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31</a:t>
            </a:r>
            <a:endParaRPr lang="en-US" sz="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6642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820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+ REODE — 36-day 검증 결과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102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시스템을 제어하는 4-Axis 하네스 전체 숫자 검증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2127"/>
            <a:ext cx="51039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25277"/>
            <a:ext cx="1193750" cy="542776"/>
          </a:xfrm>
          <a:prstGeom prst="roundRect">
            <a:avLst>
              <a:gd name="adj" fmla="val 9359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509" y="1123652"/>
            <a:ext cx="99113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8509" y="1403003"/>
            <a:ext cx="9911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1727150" y="1025277"/>
            <a:ext cx="1193899" cy="542776"/>
          </a:xfrm>
          <a:prstGeom prst="roundRect">
            <a:avLst>
              <a:gd name="adj" fmla="val 9359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8458" y="1123652"/>
            <a:ext cx="991285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458" y="1403003"/>
            <a:ext cx="9912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2997250" y="1025277"/>
            <a:ext cx="1193750" cy="542776"/>
          </a:xfrm>
          <a:prstGeom prst="roundRect">
            <a:avLst>
              <a:gd name="adj" fmla="val 9359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98558" y="1123652"/>
            <a:ext cx="99113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98558" y="1403003"/>
            <a:ext cx="9911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4267200" y="1025277"/>
            <a:ext cx="1193899" cy="542776"/>
          </a:xfrm>
          <a:prstGeom prst="roundRect">
            <a:avLst>
              <a:gd name="adj" fmla="val 935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68507" y="1123652"/>
            <a:ext cx="991285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68507" y="1403003"/>
            <a:ext cx="9912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457200" y="1656904"/>
            <a:ext cx="1193750" cy="542776"/>
          </a:xfrm>
          <a:prstGeom prst="roundRect">
            <a:avLst>
              <a:gd name="adj" fmla="val 9359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8509" y="1755279"/>
            <a:ext cx="99113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8509" y="2034629"/>
            <a:ext cx="9911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1727150" y="1656904"/>
            <a:ext cx="1193899" cy="542776"/>
          </a:xfrm>
          <a:prstGeom prst="roundRect">
            <a:avLst>
              <a:gd name="adj" fmla="val 9359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828458" y="1755279"/>
            <a:ext cx="991285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828458" y="2034629"/>
            <a:ext cx="9912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2997250" y="1656904"/>
            <a:ext cx="1193750" cy="542776"/>
          </a:xfrm>
          <a:prstGeom prst="roundRect">
            <a:avLst>
              <a:gd name="adj" fmla="val 9359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98558" y="1755279"/>
            <a:ext cx="99113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098558" y="2034629"/>
            <a:ext cx="9911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4267200" y="1656904"/>
            <a:ext cx="1193899" cy="542776"/>
          </a:xfrm>
          <a:prstGeom prst="roundRect">
            <a:avLst>
              <a:gd name="adj" fmla="val 935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68507" y="1755279"/>
            <a:ext cx="991285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368507" y="2034629"/>
            <a:ext cx="9912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457200" y="2288530"/>
            <a:ext cx="5003899" cy="301526"/>
          </a:xfrm>
          <a:prstGeom prst="roundRect">
            <a:avLst>
              <a:gd name="adj" fmla="val 1684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3675" y="2391668"/>
            <a:ext cx="688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Scaffold Skills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446609" y="2386905"/>
            <a:ext cx="6893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규칙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300139" y="2391668"/>
            <a:ext cx="6601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 Providers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125093" y="2386905"/>
            <a:ext cx="5433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솔로 빌드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35450" y="2391668"/>
            <a:ext cx="9172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– Mar 28, 2026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575399" y="822127"/>
            <a:ext cx="31736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 콜백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75399" y="1034802"/>
            <a:ext cx="3111401" cy="387846"/>
          </a:xfrm>
          <a:prstGeom prst="roundRect">
            <a:avLst>
              <a:gd name="adj" fmla="val 1309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575399" y="1039564"/>
            <a:ext cx="311140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8682038" y="1034802"/>
            <a:ext cx="0" cy="38784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5575399" y="1417886"/>
            <a:ext cx="311140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594449" y="1034802"/>
            <a:ext cx="0" cy="387846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727799" y="1120527"/>
            <a:ext cx="28918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727799" y="1237952"/>
            <a:ext cx="289187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+ SHA-256 + 2회차 비용 10%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575399" y="1486049"/>
            <a:ext cx="3111401" cy="387846"/>
          </a:xfrm>
          <a:prstGeom prst="roundRect">
            <a:avLst>
              <a:gd name="adj" fmla="val 1309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575399" y="1490811"/>
            <a:ext cx="311140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8682038" y="1486049"/>
            <a:ext cx="0" cy="38784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575399" y="1869132"/>
            <a:ext cx="311140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594449" y="1486049"/>
            <a:ext cx="0" cy="387846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727799" y="1571774"/>
            <a:ext cx="28918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727799" y="1689199"/>
            <a:ext cx="289187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while(tool_use) + 52 tools × 50 rounds 자율 실행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575399" y="1937296"/>
            <a:ext cx="3111401" cy="387846"/>
          </a:xfrm>
          <a:prstGeom prst="roundRect">
            <a:avLst>
              <a:gd name="adj" fmla="val 1309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575399" y="1942058"/>
            <a:ext cx="311140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8682038" y="1937296"/>
            <a:ext cx="0" cy="38784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575399" y="2320379"/>
            <a:ext cx="311140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594449" y="1937296"/>
            <a:ext cx="0" cy="387846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727799" y="2023021"/>
            <a:ext cx="28918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727799" y="2140446"/>
            <a:ext cx="289187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Verification + Cross-LLM (α≥0.67) + PolicyChain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575399" y="2388543"/>
            <a:ext cx="3111401" cy="387846"/>
          </a:xfrm>
          <a:prstGeom prst="roundRect">
            <a:avLst>
              <a:gd name="adj" fmla="val 1309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5575399" y="2393305"/>
            <a:ext cx="311140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682038" y="2388543"/>
            <a:ext cx="0" cy="38784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5575399" y="2771626"/>
            <a:ext cx="311140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594449" y="2388543"/>
            <a:ext cx="0" cy="38784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5727799" y="2474268"/>
            <a:ext cx="28918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727799" y="2591693"/>
            <a:ext cx="289187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46-Event Hook Observer + TokenTracker + LangSmith OTEL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575399" y="2865239"/>
            <a:ext cx="3111401" cy="759172"/>
          </a:xfrm>
          <a:prstGeom prst="roundRect">
            <a:avLst>
              <a:gd name="adj" fmla="val 6691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699224" y="2963614"/>
            <a:ext cx="29210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실증 검증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94270" y="3119140"/>
            <a:ext cx="505358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694270" y="3309640"/>
            <a:ext cx="5053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mvn compile+test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6291343" y="3119140"/>
            <a:ext cx="492758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291343" y="3309640"/>
            <a:ext cx="4927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Modules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6876322" y="3119140"/>
            <a:ext cx="453744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3,274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876322" y="3309640"/>
            <a:ext cx="4537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Tests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5699224" y="3427065"/>
            <a:ext cx="2921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241소스 103K LoC → 33세션 / 1,133 LLM 라운드 / 5h 48m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57200" y="4987975"/>
            <a:ext cx="17727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All numbers from SOT-NUMBERS.md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31</a:t>
            </a:r>
            <a:endParaRPr lang="en-US" sz="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2/slides/assets/bg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701" y="228600"/>
            <a:ext cx="5359747" cy="661541"/>
          </a:xfrm>
          <a:prstGeom prst="roundRect">
            <a:avLst>
              <a:gd name="adj" fmla="val 767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58701" y="233362"/>
            <a:ext cx="5359747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5913686" y="228600"/>
            <a:ext cx="0" cy="661541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58701" y="885379"/>
            <a:ext cx="5359747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82513" y="228600"/>
            <a:ext cx="0" cy="661541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58726" y="365075"/>
            <a:ext cx="509775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시스템은 제어 없이 발산합니다.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726" y="611386"/>
            <a:ext cx="509775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만들었습니다.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8701" y="1004441"/>
            <a:ext cx="5359747" cy="486668"/>
          </a:xfrm>
          <a:prstGeom prst="roundRect">
            <a:avLst>
              <a:gd name="adj" fmla="val 1043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5176" y="1115467"/>
            <a:ext cx="355550" cy="234851"/>
          </a:xfrm>
          <a:prstGeom prst="roundRect">
            <a:avLst>
              <a:gd name="adj" fmla="val 21631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91964" y="1175742"/>
            <a:ext cx="1619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227" y="1115467"/>
            <a:ext cx="40381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실행 + 제어 공존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227" y="1264593"/>
            <a:ext cx="403815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50 rounds 자율 실행과 5-Tier 안전 등급을 동시에. HITL 없이도 deny-by-default로 경계 유지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58701" y="1567309"/>
            <a:ext cx="5359747" cy="486668"/>
          </a:xfrm>
          <a:prstGeom prst="roundRect">
            <a:avLst>
              <a:gd name="adj" fmla="val 1043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95176" y="1678335"/>
            <a:ext cx="355550" cy="234851"/>
          </a:xfrm>
          <a:prstGeom prst="roundRect">
            <a:avLst>
              <a:gd name="adj" fmla="val 21631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91964" y="1738610"/>
            <a:ext cx="1619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227" y="1678335"/>
            <a:ext cx="41204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패턴은 재사용된다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2227" y="1827461"/>
            <a:ext cx="4120435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Port/Adapter + HookSystem + CircuitBreaker → REODE 83/83 실증. 하네스 설계가 도메인을 초월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58701" y="2130177"/>
            <a:ext cx="5359747" cy="486668"/>
          </a:xfrm>
          <a:prstGeom prst="roundRect">
            <a:avLst>
              <a:gd name="adj" fmla="val 1043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95176" y="2241203"/>
            <a:ext cx="355550" cy="234851"/>
          </a:xfrm>
          <a:prstGeom prst="roundRect">
            <a:avLst>
              <a:gd name="adj" fmla="val 21631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91964" y="2301478"/>
            <a:ext cx="1619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227" y="2241203"/>
            <a:ext cx="33999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측정되지 않으면 존재하지 않는다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52227" y="2390329"/>
            <a:ext cx="339997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46-Event Hook + TokenTracker + 3,201 Tests. 모든 자율 실행은 관측 가능하고 검증됩니다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096149" y="228600"/>
            <a:ext cx="2489150" cy="1624757"/>
          </a:xfrm>
          <a:prstGeom prst="roundRect">
            <a:avLst>
              <a:gd name="adj" fmla="val 31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210462" y="365075"/>
            <a:ext cx="22605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232624" y="549176"/>
            <a:ext cx="2216200" cy="1167705"/>
          </a:xfrm>
          <a:prstGeom prst="roundRect">
            <a:avLst>
              <a:gd name="adj" fmla="val 4350"/>
            </a:avLst>
          </a:prstGeom>
          <a:noFill/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290611" y="647551"/>
            <a:ext cx="205983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500"/>
              </a:spcAft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Loop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6331000" y="777627"/>
            <a:ext cx="2019449" cy="710803"/>
          </a:xfrm>
          <a:prstGeom prst="roundRect">
            <a:avLst>
              <a:gd name="adj" fmla="val 7147"/>
            </a:avLst>
          </a:prstGeom>
          <a:noFill/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379765" y="863352"/>
            <a:ext cx="188495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Loop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416725" y="980777"/>
            <a:ext cx="1847999" cy="304502"/>
          </a:xfrm>
          <a:prstGeom prst="roundRect">
            <a:avLst>
              <a:gd name="adj" fmla="val 16683"/>
            </a:avLst>
          </a:prstGeom>
          <a:noFill/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472629" y="1053703"/>
            <a:ext cx="173619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Loop</a:t>
            </a:r>
            <a:endParaRPr lang="en-US" sz="500" dirty="0"/>
          </a:p>
        </p:txBody>
      </p:sp>
      <p:sp>
        <p:nvSpPr>
          <p:cNvPr id="33" name="Text 30"/>
          <p:cNvSpPr/>
          <p:nvPr/>
        </p:nvSpPr>
        <p:spPr>
          <a:xfrm>
            <a:off x="6472629" y="1145679"/>
            <a:ext cx="173619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→ act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6398245" y="1336030"/>
            <a:ext cx="188495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× 50</a:t>
            </a:r>
            <a:endParaRPr lang="en-US" sz="500" dirty="0"/>
          </a:p>
        </p:txBody>
      </p:sp>
      <p:sp>
        <p:nvSpPr>
          <p:cNvPr id="35" name="Text 32"/>
          <p:cNvSpPr/>
          <p:nvPr/>
        </p:nvSpPr>
        <p:spPr>
          <a:xfrm>
            <a:off x="6310805" y="1551831"/>
            <a:ext cx="205983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× LEARNINGS.md</a:t>
            </a:r>
            <a:endParaRPr lang="en-US" sz="500" dirty="0"/>
          </a:p>
        </p:txBody>
      </p:sp>
      <p:pic>
        <p:nvPicPr>
          <p:cNvPr id="36" name="Image 1" descr="/Users/mango/workspace/portfolio/geode/versions/v2/slides/assets/masc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450" y="1967657"/>
            <a:ext cx="914400" cy="9144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096149" y="2996357"/>
            <a:ext cx="2489150" cy="507802"/>
          </a:xfrm>
          <a:prstGeom prst="roundRect">
            <a:avLst>
              <a:gd name="adj" fmla="val 100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6210462" y="3107382"/>
            <a:ext cx="22605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210462" y="3288357"/>
            <a:ext cx="22605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github.com/mangowhoiscloud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558701" y="4975324"/>
            <a:ext cx="18594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V2 — v0.31.0 · 36 days · Feb 21–Mar 28, 2026</a:t>
            </a:r>
            <a:endParaRPr lang="en-US" sz="500" dirty="0"/>
          </a:p>
        </p:txBody>
      </p:sp>
      <p:sp>
        <p:nvSpPr>
          <p:cNvPr id="41" name="Text 37"/>
          <p:cNvSpPr/>
          <p:nvPr/>
        </p:nvSpPr>
        <p:spPr>
          <a:xfrm>
            <a:off x="8391227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31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7168</Words>
  <Application>Microsoft Macintosh PowerPoint</Application>
  <PresentationFormat>화면 슬라이드 쇼(16:9)</PresentationFormat>
  <Paragraphs>1186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mng polar</cp:lastModifiedBy>
  <cp:revision>2</cp:revision>
  <dcterms:created xsi:type="dcterms:W3CDTF">2026-03-27T21:04:53Z</dcterms:created>
  <dcterms:modified xsi:type="dcterms:W3CDTF">2026-03-28T03:17:54Z</dcterms:modified>
</cp:coreProperties>
</file>