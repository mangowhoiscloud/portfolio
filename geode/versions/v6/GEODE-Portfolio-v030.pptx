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ango/workspace/portfolio/geode/versions/v6/slides/assets/bg-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77701"/>
            <a:ext cx="50750" cy="177701"/>
          </a:xfrm>
          <a:prstGeom prst="roundRect">
            <a:avLst>
              <a:gd name="adj" fmla="val 50049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1"/>
          <p:cNvSpPr/>
          <p:nvPr/>
        </p:nvSpPr>
        <p:spPr>
          <a:xfrm>
            <a:off x="584150" y="199876"/>
            <a:ext cx="84251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v0.31.0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442895" y="204639"/>
            <a:ext cx="126878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36일 · 1,160 커밋 · 39 릴리스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457200" y="1265783"/>
            <a:ext cx="2801689" cy="260152"/>
          </a:xfrm>
          <a:prstGeom prst="roundRect">
            <a:avLst>
              <a:gd name="adj" fmla="val 19527"/>
            </a:avLst>
          </a:prstGeom>
          <a:solidFill>
            <a:srgbClr val="161B22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593675" y="1357759"/>
            <a:ext cx="76200" cy="76200"/>
          </a:xfrm>
          <a:prstGeom prst="roundRect">
            <a:avLst>
              <a:gd name="adj" fmla="val 1200000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746075" y="1338709"/>
            <a:ext cx="242386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while(tool_use) → 50 rounds × 200 turns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457200" y="1652885"/>
            <a:ext cx="6269837" cy="447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</a:t>
            </a:r>
            <a:endParaRPr lang="en-US" sz="3200" dirty="0"/>
          </a:p>
        </p:txBody>
      </p:sp>
      <p:sp>
        <p:nvSpPr>
          <p:cNvPr id="10" name="Text 7"/>
          <p:cNvSpPr/>
          <p:nvPr/>
        </p:nvSpPr>
        <p:spPr>
          <a:xfrm>
            <a:off x="457200" y="2150715"/>
            <a:ext cx="6269837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4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장기 자율 실행 하네스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2445990"/>
            <a:ext cx="626983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Long-Running Autonomous Execution Harness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457200" y="2757041"/>
            <a:ext cx="25301" cy="355550"/>
          </a:xfrm>
          <a:prstGeom prst="roundRect">
            <a:avLst>
              <a:gd name="adj" fmla="val 50196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584002" y="2768054"/>
            <a:ext cx="99143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류지환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584002" y="2968079"/>
            <a:ext cx="99143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Harness Engineer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3341043"/>
            <a:ext cx="1460599" cy="603052"/>
          </a:xfrm>
          <a:prstGeom prst="roundRect">
            <a:avLst>
              <a:gd name="adj" fmla="val 12636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3"/>
          <p:cNvSpPr/>
          <p:nvPr/>
        </p:nvSpPr>
        <p:spPr>
          <a:xfrm>
            <a:off x="607758" y="3452068"/>
            <a:ext cx="1159484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187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607758" y="3747343"/>
            <a:ext cx="115948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Modules</a:t>
            </a:r>
            <a:endParaRPr lang="en-US" sz="600" dirty="0"/>
          </a:p>
        </p:txBody>
      </p:sp>
      <p:sp>
        <p:nvSpPr>
          <p:cNvPr id="18" name="Text 15"/>
          <p:cNvSpPr/>
          <p:nvPr/>
        </p:nvSpPr>
        <p:spPr>
          <a:xfrm>
            <a:off x="2019300" y="3341043"/>
            <a:ext cx="1460599" cy="603052"/>
          </a:xfrm>
          <a:prstGeom prst="roundRect">
            <a:avLst>
              <a:gd name="adj" fmla="val 12636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6"/>
          <p:cNvSpPr/>
          <p:nvPr/>
        </p:nvSpPr>
        <p:spPr>
          <a:xfrm>
            <a:off x="2169858" y="3452068"/>
            <a:ext cx="1159484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3,201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2169858" y="3747343"/>
            <a:ext cx="115948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Tests</a:t>
            </a:r>
            <a:endParaRPr lang="en-US" sz="600" dirty="0"/>
          </a:p>
        </p:txBody>
      </p:sp>
      <p:sp>
        <p:nvSpPr>
          <p:cNvPr id="21" name="Text 18"/>
          <p:cNvSpPr/>
          <p:nvPr/>
        </p:nvSpPr>
        <p:spPr>
          <a:xfrm>
            <a:off x="3581400" y="3341043"/>
            <a:ext cx="1460599" cy="603052"/>
          </a:xfrm>
          <a:prstGeom prst="roundRect">
            <a:avLst>
              <a:gd name="adj" fmla="val 12636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19"/>
          <p:cNvSpPr/>
          <p:nvPr/>
        </p:nvSpPr>
        <p:spPr>
          <a:xfrm>
            <a:off x="3731958" y="3452068"/>
            <a:ext cx="1159484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3731958" y="3747343"/>
            <a:ext cx="115948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 Events</a:t>
            </a:r>
            <a:endParaRPr lang="en-US" sz="600" dirty="0"/>
          </a:p>
        </p:txBody>
      </p:sp>
      <p:sp>
        <p:nvSpPr>
          <p:cNvPr id="24" name="Text 21"/>
          <p:cNvSpPr/>
          <p:nvPr/>
        </p:nvSpPr>
        <p:spPr>
          <a:xfrm>
            <a:off x="5143500" y="3341043"/>
            <a:ext cx="1460599" cy="603052"/>
          </a:xfrm>
          <a:prstGeom prst="roundRect">
            <a:avLst>
              <a:gd name="adj" fmla="val 12636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2"/>
          <p:cNvSpPr/>
          <p:nvPr/>
        </p:nvSpPr>
        <p:spPr>
          <a:xfrm>
            <a:off x="5294058" y="3452068"/>
            <a:ext cx="1159484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</a:t>
            </a:r>
            <a:endParaRPr lang="en-US" sz="2000" dirty="0"/>
          </a:p>
        </p:txBody>
      </p:sp>
      <p:sp>
        <p:nvSpPr>
          <p:cNvPr id="26" name="Text 23"/>
          <p:cNvSpPr/>
          <p:nvPr/>
        </p:nvSpPr>
        <p:spPr>
          <a:xfrm>
            <a:off x="5294058" y="3747343"/>
            <a:ext cx="115948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Native Tools</a:t>
            </a:r>
            <a:endParaRPr lang="en-US" sz="600" dirty="0"/>
          </a:p>
        </p:txBody>
      </p:sp>
      <p:pic>
        <p:nvPicPr>
          <p:cNvPr id="27" name="Image 1" descr="/Users/mango/workspace/portfolio/geode/versions/v6/slides/assets/masco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8899" y="1430387"/>
            <a:ext cx="1777901" cy="1777901"/>
          </a:xfrm>
          <a:prstGeom prst="rect">
            <a:avLst/>
          </a:prstGeom>
        </p:spPr>
      </p:pic>
      <p:sp>
        <p:nvSpPr>
          <p:cNvPr id="28" name="Text 24"/>
          <p:cNvSpPr/>
          <p:nvPr/>
        </p:nvSpPr>
        <p:spPr>
          <a:xfrm>
            <a:off x="7212509" y="3309789"/>
            <a:ext cx="1170533" cy="469702"/>
          </a:xfrm>
          <a:prstGeom prst="roundRect">
            <a:avLst>
              <a:gd name="adj" fmla="val 16223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5"/>
          <p:cNvSpPr/>
          <p:nvPr/>
        </p:nvSpPr>
        <p:spPr>
          <a:xfrm>
            <a:off x="7365967" y="3420814"/>
            <a:ext cx="86361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IP Analysis</a:t>
            </a:r>
            <a:endParaRPr lang="en-US" sz="800" dirty="0"/>
          </a:p>
        </p:txBody>
      </p:sp>
      <p:sp>
        <p:nvSpPr>
          <p:cNvPr id="30" name="Text 26"/>
          <p:cNvSpPr/>
          <p:nvPr/>
        </p:nvSpPr>
        <p:spPr>
          <a:xfrm>
            <a:off x="7365967" y="3573214"/>
            <a:ext cx="86361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Harness</a:t>
            </a:r>
            <a:endParaRPr lang="en-US" sz="700" dirty="0"/>
          </a:p>
        </p:txBody>
      </p:sp>
      <p:sp>
        <p:nvSpPr>
          <p:cNvPr id="31" name="Text 27"/>
          <p:cNvSpPr/>
          <p:nvPr/>
        </p:nvSpPr>
        <p:spPr>
          <a:xfrm>
            <a:off x="457200" y="4930825"/>
            <a:ext cx="230272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Feb 21 – Mar 28, 2026 · Anthropic / OpenAI / ZhipuAI · 3 Providers</a:t>
            </a:r>
            <a:endParaRPr lang="en-US" sz="600" dirty="0"/>
          </a:p>
        </p:txBody>
      </p:sp>
      <p:sp>
        <p:nvSpPr>
          <p:cNvPr id="32" name="Text 28"/>
          <p:cNvSpPr/>
          <p:nvPr/>
        </p:nvSpPr>
        <p:spPr>
          <a:xfrm>
            <a:off x="8453735" y="4930825"/>
            <a:ext cx="23772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/ 34</a:t>
            </a:r>
            <a:endParaRPr lang="en-US" sz="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52400"/>
            <a:ext cx="50750" cy="177701"/>
          </a:xfrm>
          <a:prstGeom prst="roundRect">
            <a:avLst>
              <a:gd name="adj" fmla="val 50049"/>
            </a:avLst>
          </a:prstGeom>
          <a:solidFill>
            <a:srgbClr val="F5C54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74575"/>
            <a:ext cx="85936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0 · HOOK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36일의 피봇 스토리: 과제 → 탈락 → 자율 하네스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47551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면접 탈락이 아키텍처 피봇의 계기가 되었습니다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629073"/>
            <a:ext cx="2032397" cy="1047601"/>
          </a:xfrm>
          <a:prstGeom prst="roundRect">
            <a:avLst>
              <a:gd name="adj" fmla="val 7274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76081" y="1765548"/>
            <a:ext cx="179463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576081" y="1898898"/>
            <a:ext cx="179463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IP Agent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76081" y="2063948"/>
            <a:ext cx="179463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Feb 21</a:t>
            </a:r>
            <a:endParaRPr lang="en-US" sz="600" dirty="0"/>
          </a:p>
        </p:txBody>
      </p:sp>
      <p:sp>
        <p:nvSpPr>
          <p:cNvPr id="10" name="Text 8"/>
          <p:cNvSpPr/>
          <p:nvPr/>
        </p:nvSpPr>
        <p:spPr>
          <a:xfrm>
            <a:off x="576081" y="2225873"/>
            <a:ext cx="179463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넥슨 코딩 과제: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576081" y="2330648"/>
            <a:ext cx="179463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5-Layer 검증 파이프라인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576081" y="2435423"/>
            <a:ext cx="179463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도메인 분석 에이전트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1466999" y="2676674"/>
            <a:ext cx="12650" cy="177701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457200" y="2854375"/>
            <a:ext cx="2032397" cy="231577"/>
          </a:xfrm>
          <a:prstGeom prst="roundRect">
            <a:avLst>
              <a:gd name="adj" fmla="val 21937"/>
            </a:avLst>
          </a:prstGeom>
          <a:solidFill>
            <a:srgbClr val="1E293B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568226" y="2927300"/>
            <a:ext cx="18465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AgenticLoop v0.1 · 3 Provider 초기 설계</a:t>
            </a:r>
            <a:endParaRPr lang="en-US" sz="600" dirty="0"/>
          </a:p>
        </p:txBody>
      </p:sp>
      <p:sp>
        <p:nvSpPr>
          <p:cNvPr id="16" name="Text 14"/>
          <p:cNvSpPr/>
          <p:nvPr/>
        </p:nvSpPr>
        <p:spPr>
          <a:xfrm>
            <a:off x="2489597" y="1908423"/>
            <a:ext cx="336855" cy="209550"/>
          </a:xfrm>
          <a:prstGeom prst="rect">
            <a:avLst/>
          </a:prstGeom>
          <a:noFill/>
          <a:ln/>
        </p:spPr>
        <p:txBody>
          <a:bodyPr wrap="square" lIns="76200" tIns="0" rIns="7620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819846" y="1629073"/>
            <a:ext cx="1141661" cy="990451"/>
          </a:xfrm>
          <a:prstGeom prst="roundRect">
            <a:avLst>
              <a:gd name="adj" fmla="val 7693"/>
            </a:avLst>
          </a:prstGeom>
          <a:solidFill>
            <a:srgbClr val="1A0A0A"/>
          </a:solidFill>
          <a:ln w="19050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3009116" y="1775073"/>
            <a:ext cx="76312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PIVOT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3009116" y="1908423"/>
            <a:ext cx="76312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면접 탈락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009116" y="2102048"/>
            <a:ext cx="76312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 03</a:t>
            </a:r>
            <a:endParaRPr lang="en-US" sz="600" dirty="0"/>
          </a:p>
        </p:txBody>
      </p:sp>
      <p:sp>
        <p:nvSpPr>
          <p:cNvPr id="21" name="Text 19"/>
          <p:cNvSpPr/>
          <p:nvPr/>
        </p:nvSpPr>
        <p:spPr>
          <a:xfrm>
            <a:off x="3009116" y="2263973"/>
            <a:ext cx="76312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buNone/>
            </a:pPr>
            <a:r>
              <a:rPr lang="en-US" sz="7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"도메인 에이전트로는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3009116" y="2368748"/>
            <a:ext cx="76312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부족하다"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3384352" y="2619524"/>
            <a:ext cx="12650" cy="177701"/>
          </a:xfrm>
          <a:prstGeom prst="rect">
            <a:avLst/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3060650" y="2797225"/>
            <a:ext cx="659904" cy="231577"/>
          </a:xfrm>
          <a:prstGeom prst="roundRect">
            <a:avLst>
              <a:gd name="adj" fmla="val 21937"/>
            </a:avLst>
          </a:prstGeom>
          <a:solidFill>
            <a:srgbClr val="1A0A0A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3167298" y="2870150"/>
            <a:ext cx="44660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자율 피봇 결정</a:t>
            </a:r>
            <a:endParaRPr lang="en-US" sz="600" dirty="0"/>
          </a:p>
        </p:txBody>
      </p:sp>
      <p:sp>
        <p:nvSpPr>
          <p:cNvPr id="26" name="Text 24"/>
          <p:cNvSpPr/>
          <p:nvPr/>
        </p:nvSpPr>
        <p:spPr>
          <a:xfrm>
            <a:off x="3961507" y="1908423"/>
            <a:ext cx="336855" cy="209550"/>
          </a:xfrm>
          <a:prstGeom prst="rect">
            <a:avLst/>
          </a:prstGeom>
          <a:noFill/>
          <a:ln/>
        </p:spPr>
        <p:txBody>
          <a:bodyPr wrap="square" lIns="76200" tIns="0" rIns="7620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291757" y="1629073"/>
            <a:ext cx="2032397" cy="1028551"/>
          </a:xfrm>
          <a:prstGeom prst="roundRect">
            <a:avLst>
              <a:gd name="adj" fmla="val 7408"/>
            </a:avLst>
          </a:prstGeom>
          <a:solidFill>
            <a:srgbClr val="161B22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4410638" y="1765548"/>
            <a:ext cx="179463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4410638" y="1898898"/>
            <a:ext cx="179463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하네스 강화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4410638" y="2073473"/>
            <a:ext cx="179463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 04 – Mar 18</a:t>
            </a:r>
            <a:endParaRPr lang="en-US" sz="600" dirty="0"/>
          </a:p>
        </p:txBody>
      </p:sp>
      <p:sp>
        <p:nvSpPr>
          <p:cNvPr id="31" name="Text 29"/>
          <p:cNvSpPr/>
          <p:nvPr/>
        </p:nvSpPr>
        <p:spPr>
          <a:xfrm>
            <a:off x="4410638" y="2235398"/>
            <a:ext cx="179463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 Hook Events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4410638" y="2330648"/>
            <a:ext cx="179463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Plan-first + Compaction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4410638" y="2425898"/>
            <a:ext cx="179463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 3-Brake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5301555" y="2657624"/>
            <a:ext cx="12650" cy="177701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4291757" y="2835325"/>
            <a:ext cx="2032397" cy="317302"/>
          </a:xfrm>
          <a:prstGeom prst="roundRect">
            <a:avLst>
              <a:gd name="adj" fmla="val 16010"/>
            </a:avLst>
          </a:prstGeom>
          <a:solidFill>
            <a:srgbClr val="1E293B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4402782" y="2908250"/>
            <a:ext cx="18465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Scheduler + Gateway</a:t>
            </a:r>
            <a:endParaRPr lang="en-US" sz="600" dirty="0"/>
          </a:p>
        </p:txBody>
      </p:sp>
      <p:sp>
        <p:nvSpPr>
          <p:cNvPr id="37" name="Text 35"/>
          <p:cNvSpPr/>
          <p:nvPr/>
        </p:nvSpPr>
        <p:spPr>
          <a:xfrm>
            <a:off x="4402782" y="2993975"/>
            <a:ext cx="18465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Cron 세션 격리</a:t>
            </a:r>
            <a:endParaRPr lang="en-US" sz="600" dirty="0"/>
          </a:p>
        </p:txBody>
      </p:sp>
      <p:sp>
        <p:nvSpPr>
          <p:cNvPr id="38" name="Text 36"/>
          <p:cNvSpPr/>
          <p:nvPr/>
        </p:nvSpPr>
        <p:spPr>
          <a:xfrm>
            <a:off x="6324154" y="1908423"/>
            <a:ext cx="336855" cy="209550"/>
          </a:xfrm>
          <a:prstGeom prst="rect">
            <a:avLst/>
          </a:prstGeom>
          <a:noFill/>
          <a:ln/>
        </p:spPr>
        <p:txBody>
          <a:bodyPr wrap="square" lIns="76200" tIns="0" rIns="7620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654403" y="1629073"/>
            <a:ext cx="2032397" cy="1047601"/>
          </a:xfrm>
          <a:prstGeom prst="roundRect">
            <a:avLst>
              <a:gd name="adj" fmla="val 7274"/>
            </a:avLst>
          </a:prstGeom>
          <a:solidFill>
            <a:srgbClr val="161B22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6773284" y="1765548"/>
            <a:ext cx="179463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 · FORK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6773284" y="1898898"/>
            <a:ext cx="179463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REODE 제품화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6773284" y="2073473"/>
            <a:ext cx="179463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 19 – Mar 28</a:t>
            </a:r>
            <a:endParaRPr lang="en-US" sz="600" dirty="0"/>
          </a:p>
        </p:txBody>
      </p:sp>
      <p:sp>
        <p:nvSpPr>
          <p:cNvPr id="43" name="Text 41"/>
          <p:cNvSpPr/>
          <p:nvPr/>
        </p:nvSpPr>
        <p:spPr>
          <a:xfrm>
            <a:off x="6773284" y="2235398"/>
            <a:ext cx="179463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v0.13 → Fork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6773284" y="2330648"/>
            <a:ext cx="179463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209 모듈 · 3,274 테스트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6773284" y="2435423"/>
            <a:ext cx="179463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83/83 mvn 패스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7664202" y="2676674"/>
            <a:ext cx="12650" cy="177701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6654403" y="2854375"/>
            <a:ext cx="2032397" cy="231577"/>
          </a:xfrm>
          <a:prstGeom prst="roundRect">
            <a:avLst>
              <a:gd name="adj" fmla="val 21937"/>
            </a:avLst>
          </a:prstGeom>
          <a:solidFill>
            <a:srgbClr val="1E293B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6765429" y="2927300"/>
            <a:ext cx="18465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하네스 패턴 재사용 증명</a:t>
            </a:r>
            <a:endParaRPr lang="en-US" sz="600" dirty="0"/>
          </a:p>
        </p:txBody>
      </p:sp>
      <p:sp>
        <p:nvSpPr>
          <p:cNvPr id="49" name="Text 47"/>
          <p:cNvSpPr/>
          <p:nvPr/>
        </p:nvSpPr>
        <p:spPr>
          <a:xfrm>
            <a:off x="457200" y="3305026"/>
            <a:ext cx="8229600" cy="831652"/>
          </a:xfrm>
          <a:prstGeom prst="roundRect">
            <a:avLst>
              <a:gd name="adj" fmla="val 9162"/>
            </a:avLst>
          </a:prstGeom>
          <a:solidFill>
            <a:srgbClr val="1E293B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Text 48"/>
          <p:cNvSpPr/>
          <p:nvPr/>
        </p:nvSpPr>
        <p:spPr>
          <a:xfrm>
            <a:off x="644426" y="3416052"/>
            <a:ext cx="50750" cy="609600"/>
          </a:xfrm>
          <a:prstGeom prst="roundRect">
            <a:avLst>
              <a:gd name="adj" fmla="val 50049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Text 49"/>
          <p:cNvSpPr/>
          <p:nvPr/>
        </p:nvSpPr>
        <p:spPr>
          <a:xfrm>
            <a:off x="822127" y="3522464"/>
            <a:ext cx="592099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피봇의 결론 — Trade-off: 도메인 전문성 vs 인프라 재사용성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822127" y="3684389"/>
            <a:ext cx="592099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도메인 에이전트는 </a:t>
            </a:r>
            <a:pPr algn="l" indent="0" marL="0">
              <a:spcBef>
                <a:spcPts val="300"/>
              </a:spcBef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무엇을</a:t>
            </a:r>
            <a:pPr algn="l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분석하는가의 문제입니다. 하네스는 </a:t>
            </a:r>
            <a:pPr algn="l" indent="0" marL="0">
              <a:spcBef>
                <a:spcPts val="300"/>
              </a:spcBef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어떻게 오래, 안전하게 실행하는가</a:t>
            </a:r>
            <a:pPr algn="l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의 문제입니다.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822127" y="3814465"/>
            <a:ext cx="592099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도메인 분석 결과를 선택했다면 재사용성이 없는 일회성 프로젝트로 끝났다. 하네스 인프라를 선택했고 REODE 포크가 가능해졌다 — </a:t>
            </a:r>
            <a:pPr algn="l" indent="0" marL="0">
              <a:spcBef>
                <a:spcPts val="200"/>
              </a:spcBef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코어 수정 0줄, 83/83 빌드 패스</a:t>
            </a:r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457200" y="4956274"/>
            <a:ext cx="164161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v0.31.0 · 1,160 commits · 39 releases · 36 days</a:t>
            </a:r>
            <a:endParaRPr lang="en-US" sz="600" dirty="0"/>
          </a:p>
        </p:txBody>
      </p:sp>
      <p:sp>
        <p:nvSpPr>
          <p:cNvPr id="55" name="Text 53"/>
          <p:cNvSpPr/>
          <p:nvPr/>
        </p:nvSpPr>
        <p:spPr>
          <a:xfrm>
            <a:off x="8453735" y="4956274"/>
            <a:ext cx="23772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34</a:t>
            </a:r>
            <a:endParaRPr lang="en-US" sz="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52400"/>
            <a:ext cx="50750" cy="177701"/>
          </a:xfrm>
          <a:prstGeom prst="roundRect">
            <a:avLst>
              <a:gd name="adj" fmla="val 50049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74575"/>
            <a:ext cx="93071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0 · THESIS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확률적 시스템(LLM)은 제어 없이 발산합니다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47551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Harness 4-Axis: 장기 운용에서 모두가 시간에 따라 열화한다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847576"/>
            <a:ext cx="2539901" cy="1047750"/>
          </a:xfrm>
          <a:prstGeom prst="roundRect">
            <a:avLst>
              <a:gd name="adj" fmla="val 7273"/>
            </a:avLst>
          </a:prstGeom>
          <a:solidFill>
            <a:srgbClr val="1E293B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93675" y="984052"/>
            <a:ext cx="231228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주장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593675" y="1152227"/>
            <a:ext cx="2312289" cy="29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단독 실행은 비결정론, 컨텍스트 손실, 비용 폭발, 루프 고착 4가지 이유로 반드시 발산합니다.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93675" y="1510308"/>
            <a:ext cx="2312289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spcBef>
                <a:spcPts val="5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발산을 수렴시키는 것이 하네스의 역할입니다. 4개 축이 없으면 자율 실행은 불가능합니다.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457200" y="1971526"/>
            <a:ext cx="2539901" cy="1104602"/>
          </a:xfrm>
          <a:prstGeom prst="roundRect">
            <a:avLst>
              <a:gd name="adj" fmla="val 6898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593675" y="2108002"/>
            <a:ext cx="231228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장기 운용의 열화 — 실제 예시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746075" y="2276177"/>
            <a:ext cx="21145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975"/>
              </a:lnSpc>
              <a:buSzPct val="100000"/>
              <a:buChar char="•"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컨텍스트 </a:t>
            </a:r>
            <a:pPr algn="l" indent="0" marL="0">
              <a:lnSpc>
                <a:spcPts val="975"/>
              </a:lnSpc>
              <a:buNone/>
            </a:pPr>
            <a:r>
              <a:rPr lang="en-US" sz="65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pPr algn="l" indent="0" marL="0">
              <a:lnSpc>
                <a:spcPts val="975"/>
              </a:lnSpc>
              <a:buNone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채우면 응답 품질 저하 시작</a:t>
            </a:r>
            <a:endParaRPr lang="en-US" sz="650" dirty="0"/>
          </a:p>
          <a:p>
            <a:pPr algn="l" marL="342900" indent="-342900">
              <a:lnSpc>
                <a:spcPts val="975"/>
              </a:lnSpc>
              <a:buSzPct val="100000"/>
              <a:buChar char="•"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세션 </a:t>
            </a:r>
            <a:pPr algn="l" indent="0" marL="0">
              <a:lnSpc>
                <a:spcPts val="975"/>
              </a:lnSpc>
              <a:buNone/>
            </a:pPr>
            <a:r>
              <a:rPr lang="en-US" sz="65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10턴</a:t>
            </a:r>
            <a:pPr algn="l" indent="0" marL="0">
              <a:lnSpc>
                <a:spcPts val="975"/>
              </a:lnSpc>
              <a:buNone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넘으면 인사이트 휘발</a:t>
            </a:r>
            <a:endParaRPr lang="en-US" sz="650" dirty="0"/>
          </a:p>
          <a:p>
            <a:pPr algn="l" marL="342900" indent="-342900">
              <a:lnSpc>
                <a:spcPts val="975"/>
              </a:lnSpc>
              <a:buSzPct val="100000"/>
              <a:buChar char="•"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drift로 </a:t>
            </a:r>
            <a:pPr algn="l" indent="0" marL="0">
              <a:lnSpc>
                <a:spcPts val="975"/>
              </a:lnSpc>
              <a:buNone/>
            </a:pPr>
            <a:r>
              <a:rPr lang="en-US" sz="65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행동 변화</a:t>
            </a:r>
            <a:pPr algn="l" indent="0" marL="0">
              <a:lnSpc>
                <a:spcPts val="975"/>
              </a:lnSpc>
              <a:buNone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같은 입력 다른 출력</a:t>
            </a:r>
            <a:endParaRPr lang="en-US" sz="650" dirty="0"/>
          </a:p>
          <a:p>
            <a:pPr algn="l" marL="342900" indent="-342900">
              <a:lnSpc>
                <a:spcPts val="975"/>
              </a:lnSpc>
              <a:buSzPct val="100000"/>
              <a:buChar char="•"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관측 공백 → CUSUM이 드리프트 미감지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593675" y="2834878"/>
            <a:ext cx="231228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00"/>
              </a:spcBef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4축 자동 보정이 없으면 발산은 불가피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3124051" y="847576"/>
            <a:ext cx="2743200" cy="1984474"/>
          </a:xfrm>
          <a:prstGeom prst="roundRect">
            <a:avLst>
              <a:gd name="adj" fmla="val 3840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3260527" y="1020514"/>
            <a:ext cx="50750" cy="50750"/>
          </a:xfrm>
          <a:prstGeom prst="roundRect">
            <a:avLst>
              <a:gd name="adj" fmla="val 1801773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3387477" y="984052"/>
            <a:ext cx="105048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축 1 · Context Control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3260527" y="1171277"/>
            <a:ext cx="251965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컨텍스트 제어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3260527" y="1339453"/>
            <a:ext cx="2519654" cy="372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PromptAssembler 6-Phase 조립 + SHA-256 캐싱으로 정보 주입을 설계합니다. 장기 세션에서 80%/95% 임계값 compaction이 자동 발동합니다.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3260527" y="2483048"/>
            <a:ext cx="2470249" cy="212527"/>
          </a:xfrm>
          <a:prstGeom prst="roundRect">
            <a:avLst>
              <a:gd name="adj" fmla="val 23903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3349377" y="2546449"/>
            <a:ext cx="233839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18C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PromptAssembler · CompactionHook</a:t>
            </a:r>
            <a:endParaRPr lang="en-US" sz="600" dirty="0"/>
          </a:p>
        </p:txBody>
      </p:sp>
      <p:sp>
        <p:nvSpPr>
          <p:cNvPr id="21" name="Text 19"/>
          <p:cNvSpPr/>
          <p:nvPr/>
        </p:nvSpPr>
        <p:spPr>
          <a:xfrm>
            <a:off x="5943451" y="847576"/>
            <a:ext cx="2743349" cy="1984474"/>
          </a:xfrm>
          <a:prstGeom prst="roundRect">
            <a:avLst>
              <a:gd name="adj" fmla="val 3840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6079927" y="1020514"/>
            <a:ext cx="50750" cy="50750"/>
          </a:xfrm>
          <a:prstGeom prst="roundRect">
            <a:avLst>
              <a:gd name="adj" fmla="val 1801773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206877" y="984052"/>
            <a:ext cx="104487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축 2 · Execution Loop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6079927" y="1171277"/>
            <a:ext cx="251980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실행 루프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6079927" y="1339453"/>
            <a:ext cx="2519806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while(tool_use) 50 rounds × 200 turns. 비용 초과·수렴 고착·탐색 고착을 3개 자동 브레이크로 차단합니다.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6079927" y="2483048"/>
            <a:ext cx="2470398" cy="212527"/>
          </a:xfrm>
          <a:prstGeom prst="roundRect">
            <a:avLst>
              <a:gd name="adj" fmla="val 23903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6168777" y="2546449"/>
            <a:ext cx="233855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4ECD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AgenticLoop · SafetyBrake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3124051" y="2908250"/>
            <a:ext cx="2743200" cy="1984623"/>
          </a:xfrm>
          <a:prstGeom prst="roundRect">
            <a:avLst>
              <a:gd name="adj" fmla="val 3840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3260527" y="3081189"/>
            <a:ext cx="50750" cy="50750"/>
          </a:xfrm>
          <a:prstGeom prst="roundRect">
            <a:avLst>
              <a:gd name="adj" fmla="val 1801773"/>
            </a:avLst>
          </a:prstGeom>
          <a:solidFill>
            <a:srgbClr val="F5C54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3387477" y="3044726"/>
            <a:ext cx="82642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축 3 · Verification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3260527" y="3231952"/>
            <a:ext cx="251965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검증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3260527" y="3400127"/>
            <a:ext cx="2519654" cy="372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비결정론을 신뢰로 전환. 5-Layer 검증(Guardrails→BiasBuster→Cross-LLM→Rights→Ground Truth)으로 단일 LLM 편향을 차단합니다.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3260527" y="4543871"/>
            <a:ext cx="2470249" cy="212527"/>
          </a:xfrm>
          <a:prstGeom prst="roundRect">
            <a:avLst>
              <a:gd name="adj" fmla="val 23903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3349377" y="4607272"/>
            <a:ext cx="233839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F5C54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VerificationPipeline · CrossLLM</a:t>
            </a:r>
            <a:endParaRPr lang="en-US" sz="600" dirty="0"/>
          </a:p>
        </p:txBody>
      </p:sp>
      <p:sp>
        <p:nvSpPr>
          <p:cNvPr id="35" name="Text 33"/>
          <p:cNvSpPr/>
          <p:nvPr/>
        </p:nvSpPr>
        <p:spPr>
          <a:xfrm>
            <a:off x="5943451" y="2908250"/>
            <a:ext cx="2743349" cy="1984623"/>
          </a:xfrm>
          <a:prstGeom prst="roundRect">
            <a:avLst>
              <a:gd name="adj" fmla="val 3840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6079927" y="3081189"/>
            <a:ext cx="50750" cy="50750"/>
          </a:xfrm>
          <a:prstGeom prst="roundRect">
            <a:avLst>
              <a:gd name="adj" fmla="val 1801773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6206877" y="3044726"/>
            <a:ext cx="92433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축 4 · Observability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6079927" y="3231952"/>
            <a:ext cx="251980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관측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6079927" y="3400127"/>
            <a:ext cx="2519806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 Hook Events가 신경계처럼 전파. TokenTracker로 실시간 비용 관측, CUSUM 드리프트 감지로 열화를 즉시 포착합니다.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6079927" y="4543871"/>
            <a:ext cx="2470398" cy="212527"/>
          </a:xfrm>
          <a:prstGeom prst="roundRect">
            <a:avLst>
              <a:gd name="adj" fmla="val 23903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6168777" y="4607272"/>
            <a:ext cx="233855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HookSystem · TokenTracker</a:t>
            </a:r>
            <a:endParaRPr lang="en-US" sz="600" dirty="0"/>
          </a:p>
        </p:txBody>
      </p:sp>
      <p:sp>
        <p:nvSpPr>
          <p:cNvPr id="42" name="Text 40"/>
          <p:cNvSpPr/>
          <p:nvPr/>
        </p:nvSpPr>
        <p:spPr>
          <a:xfrm>
            <a:off x="457200" y="4956274"/>
            <a:ext cx="199608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4축은 서로 보완 — 하나의 결함이 전체 자율 실행을 무너뜨립니다</a:t>
            </a:r>
            <a:endParaRPr lang="en-US" sz="600" dirty="0"/>
          </a:p>
        </p:txBody>
      </p:sp>
      <p:sp>
        <p:nvSpPr>
          <p:cNvPr id="43" name="Text 41"/>
          <p:cNvSpPr/>
          <p:nvPr/>
        </p:nvSpPr>
        <p:spPr>
          <a:xfrm>
            <a:off x="8453735" y="4956274"/>
            <a:ext cx="23772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34</a:t>
            </a:r>
            <a:endParaRPr lang="en-US" sz="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52400"/>
            <a:ext cx="50750" cy="177701"/>
          </a:xfrm>
          <a:prstGeom prst="roundRect">
            <a:avLst>
              <a:gd name="adj" fmla="val 50049"/>
            </a:avLst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74575"/>
            <a:ext cx="142499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0 · ARCHITECTURE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Triple Loop: META → DEV → RUNTIME + 46 Hook 신경계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47551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스캐폴드가 자기 자신을 개발하고, RUNTIME이 자율 실행합니다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847576"/>
            <a:ext cx="5969050" cy="653951"/>
          </a:xfrm>
          <a:prstGeom prst="roundRect">
            <a:avLst>
              <a:gd name="adj" fmla="val 11652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12776" y="1060252"/>
            <a:ext cx="64759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12776" y="1203127"/>
            <a:ext cx="64759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스캐폴드 루프</a:t>
            </a:r>
            <a:endParaRPr lang="en-US" sz="600" dirty="0"/>
          </a:p>
        </p:txBody>
      </p:sp>
      <p:sp>
        <p:nvSpPr>
          <p:cNvPr id="9" name="Text 7"/>
          <p:cNvSpPr/>
          <p:nvPr/>
        </p:nvSpPr>
        <p:spPr>
          <a:xfrm>
            <a:off x="1380976" y="971401"/>
            <a:ext cx="12650" cy="406301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520577" y="988368"/>
            <a:ext cx="3838685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스스로 GEODE를 개발합니다. 21 Skills + CANNOT 23-Rule + Socratic Gate로 요구사항을 정제하고 1,160 커밋을 생성했습니다.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1520577" y="1275011"/>
            <a:ext cx="383868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harness-for-real 해커톤 · "키보드에 손이 닿는 순간 하네스의 실패다"</a:t>
            </a:r>
            <a:endParaRPr lang="en-US" sz="600" dirty="0"/>
          </a:p>
        </p:txBody>
      </p:sp>
      <p:sp>
        <p:nvSpPr>
          <p:cNvPr id="12" name="Text 10"/>
          <p:cNvSpPr/>
          <p:nvPr/>
        </p:nvSpPr>
        <p:spPr>
          <a:xfrm>
            <a:off x="5410944" y="1025426"/>
            <a:ext cx="853380" cy="298252"/>
          </a:xfrm>
          <a:prstGeom prst="roundRect">
            <a:avLst>
              <a:gd name="adj" fmla="val 17033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5512445" y="1088827"/>
            <a:ext cx="66338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Skills</a:t>
            </a:r>
            <a:endParaRPr lang="en-US" sz="600" dirty="0"/>
          </a:p>
        </p:txBody>
      </p:sp>
      <p:sp>
        <p:nvSpPr>
          <p:cNvPr id="14" name="Text 12"/>
          <p:cNvSpPr/>
          <p:nvPr/>
        </p:nvSpPr>
        <p:spPr>
          <a:xfrm>
            <a:off x="5512445" y="1174552"/>
            <a:ext cx="66338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425줄 CLAUDE.md</a:t>
            </a:r>
            <a:endParaRPr lang="en-US" sz="600" dirty="0"/>
          </a:p>
        </p:txBody>
      </p:sp>
      <p:sp>
        <p:nvSpPr>
          <p:cNvPr id="15" name="Text 13"/>
          <p:cNvSpPr/>
          <p:nvPr/>
        </p:nvSpPr>
        <p:spPr>
          <a:xfrm>
            <a:off x="397510" y="1577727"/>
            <a:ext cx="608843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Hook 이벤트 전파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1834902"/>
            <a:ext cx="5969050" cy="653951"/>
          </a:xfrm>
          <a:prstGeom prst="roundRect">
            <a:avLst>
              <a:gd name="adj" fmla="val 11652"/>
            </a:avLst>
          </a:prstGeom>
          <a:solidFill>
            <a:srgbClr val="161B22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12776" y="2047577"/>
            <a:ext cx="64759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12776" y="2190452"/>
            <a:ext cx="64759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개발 루프</a:t>
            </a:r>
            <a:endParaRPr lang="en-US" sz="600" dirty="0"/>
          </a:p>
        </p:txBody>
      </p:sp>
      <p:sp>
        <p:nvSpPr>
          <p:cNvPr id="19" name="Text 17"/>
          <p:cNvSpPr/>
          <p:nvPr/>
        </p:nvSpPr>
        <p:spPr>
          <a:xfrm>
            <a:off x="1380976" y="1958727"/>
            <a:ext cx="12650" cy="406301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1520577" y="1975693"/>
            <a:ext cx="4105861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AgenticLoop가 PR 단위 코드를 자율 작성합니다. 8-Step Loop(Socratic→Plan→Code→Test→Hook→Review→Merge→Learn)로 70% 테스트 비율을 유지합니다.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1520577" y="2262336"/>
            <a:ext cx="410586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typecheck+lint backpressure · LEARNINGS.md 패턴 축적</a:t>
            </a:r>
            <a:endParaRPr lang="en-US" sz="600" dirty="0"/>
          </a:p>
        </p:txBody>
      </p:sp>
      <p:sp>
        <p:nvSpPr>
          <p:cNvPr id="22" name="Text 20"/>
          <p:cNvSpPr/>
          <p:nvPr/>
        </p:nvSpPr>
        <p:spPr>
          <a:xfrm>
            <a:off x="5672882" y="2012752"/>
            <a:ext cx="591443" cy="298252"/>
          </a:xfrm>
          <a:prstGeom prst="roundRect">
            <a:avLst>
              <a:gd name="adj" fmla="val 17033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5774382" y="2076152"/>
            <a:ext cx="39621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3,201 Tests</a:t>
            </a:r>
            <a:endParaRPr lang="en-US" sz="600" dirty="0"/>
          </a:p>
        </p:txBody>
      </p:sp>
      <p:sp>
        <p:nvSpPr>
          <p:cNvPr id="24" name="Text 22"/>
          <p:cNvSpPr/>
          <p:nvPr/>
        </p:nvSpPr>
        <p:spPr>
          <a:xfrm>
            <a:off x="5774382" y="2161877"/>
            <a:ext cx="39621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500+ PRs</a:t>
            </a:r>
            <a:endParaRPr lang="en-US" sz="600" dirty="0"/>
          </a:p>
        </p:txBody>
      </p:sp>
      <p:sp>
        <p:nvSpPr>
          <p:cNvPr id="25" name="Text 23"/>
          <p:cNvSpPr/>
          <p:nvPr/>
        </p:nvSpPr>
        <p:spPr>
          <a:xfrm>
            <a:off x="397510" y="2565053"/>
            <a:ext cx="608843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Hook 이벤트 전파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7200" y="2822228"/>
            <a:ext cx="5969050" cy="653951"/>
          </a:xfrm>
          <a:prstGeom prst="roundRect">
            <a:avLst>
              <a:gd name="adj" fmla="val 11652"/>
            </a:avLst>
          </a:prstGeom>
          <a:solidFill>
            <a:srgbClr val="161B22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612776" y="3034903"/>
            <a:ext cx="64759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RUNTIME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12776" y="3177778"/>
            <a:ext cx="64759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자율 실행 루프</a:t>
            </a:r>
            <a:endParaRPr lang="en-US" sz="600" dirty="0"/>
          </a:p>
        </p:txBody>
      </p:sp>
      <p:sp>
        <p:nvSpPr>
          <p:cNvPr id="29" name="Text 27"/>
          <p:cNvSpPr/>
          <p:nvPr/>
        </p:nvSpPr>
        <p:spPr>
          <a:xfrm>
            <a:off x="1380976" y="2946053"/>
            <a:ext cx="12650" cy="406301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1520577" y="2963019"/>
            <a:ext cx="4213946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while(tool_use) 50 라운드. 사용자 요청 → AgenticLoop → Tool 실행 → 결과 반환. 52 Tools + 45 MCP + 46 Hook이 완전 자율 실행을 구성합니다.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1520577" y="3249662"/>
            <a:ext cx="421394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 Brake · Scheduler · Gateway — 사람 없이 오래 실행</a:t>
            </a:r>
            <a:endParaRPr lang="en-US" sz="600" dirty="0"/>
          </a:p>
        </p:txBody>
      </p:sp>
      <p:sp>
        <p:nvSpPr>
          <p:cNvPr id="32" name="Text 30"/>
          <p:cNvSpPr/>
          <p:nvPr/>
        </p:nvSpPr>
        <p:spPr>
          <a:xfrm>
            <a:off x="5778847" y="3000077"/>
            <a:ext cx="485477" cy="298252"/>
          </a:xfrm>
          <a:prstGeom prst="roundRect">
            <a:avLst>
              <a:gd name="adj" fmla="val 17033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5880348" y="3063478"/>
            <a:ext cx="28812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 Tools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5880348" y="3149203"/>
            <a:ext cx="28812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 MCP</a:t>
            </a:r>
            <a:endParaRPr lang="en-US" sz="600" dirty="0"/>
          </a:p>
        </p:txBody>
      </p:sp>
      <p:sp>
        <p:nvSpPr>
          <p:cNvPr id="35" name="Text 33"/>
          <p:cNvSpPr/>
          <p:nvPr/>
        </p:nvSpPr>
        <p:spPr>
          <a:xfrm>
            <a:off x="6553200" y="847576"/>
            <a:ext cx="2133600" cy="1746052"/>
          </a:xfrm>
          <a:prstGeom prst="roundRect">
            <a:avLst>
              <a:gd name="adj" fmla="val 4364"/>
            </a:avLst>
          </a:prstGeom>
          <a:solidFill>
            <a:srgbClr val="1E293B"/>
          </a:solidFill>
          <a:ln w="9525">
            <a:solidFill>
              <a:srgbClr val="F9731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6689675" y="984052"/>
            <a:ext cx="50750" cy="152400"/>
          </a:xfrm>
          <a:prstGeom prst="roundRect">
            <a:avLst>
              <a:gd name="adj" fmla="val 50049"/>
            </a:avLst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6816626" y="998339"/>
            <a:ext cx="55651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 신경계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6671069" y="1212652"/>
            <a:ext cx="189786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</a:t>
            </a:r>
            <a:endParaRPr lang="en-US" sz="2200" dirty="0"/>
          </a:p>
        </p:txBody>
      </p:sp>
      <p:sp>
        <p:nvSpPr>
          <p:cNvPr id="39" name="Text 37"/>
          <p:cNvSpPr/>
          <p:nvPr/>
        </p:nvSpPr>
        <p:spPr>
          <a:xfrm>
            <a:off x="6671069" y="1536502"/>
            <a:ext cx="189786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 Events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6842075" y="1733252"/>
            <a:ext cx="1708249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LOOP_START / LOOP_END</a:t>
            </a:r>
            <a:endParaRPr lang="en-US" sz="700" dirty="0"/>
          </a:p>
          <a:p>
            <a:pPr algn="l" marL="342900" indent="-342900">
              <a:buSzPct val="100000"/>
              <a:buChar char="•"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TOOL_BEFORE / TOOL_AFTER</a:t>
            </a:r>
            <a:endParaRPr lang="en-US" sz="700" dirty="0"/>
          </a:p>
          <a:p>
            <a:pPr algn="l" marL="342900" indent="-342900">
              <a:buSzPct val="100000"/>
              <a:buChar char="•"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MEMORY_SAVE / LEARN</a:t>
            </a:r>
            <a:endParaRPr lang="en-US" sz="700" dirty="0"/>
          </a:p>
          <a:p>
            <a:pPr algn="l" marL="342900" indent="-342900">
              <a:buSzPct val="100000"/>
              <a:buChar char="•"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CONTEXT_COMPACT</a:t>
            </a:r>
            <a:endParaRPr lang="en-US" sz="700" dirty="0"/>
          </a:p>
          <a:p>
            <a:pPr algn="l" marL="342900" indent="-342900">
              <a:buSzPct val="100000"/>
              <a:buChar char="•"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AGENT_SPAWN / RETURN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6689675" y="2285702"/>
            <a:ext cx="189786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Priority 기반 핸들러 실행. 핸들러 간 에러 격리로 한 이벤트 실패가 루프를 중단시키지 않습니다.</a:t>
            </a:r>
            <a:endParaRPr lang="en-US" sz="600" dirty="0"/>
          </a:p>
        </p:txBody>
      </p:sp>
      <p:sp>
        <p:nvSpPr>
          <p:cNvPr id="42" name="Text 40"/>
          <p:cNvSpPr/>
          <p:nvPr/>
        </p:nvSpPr>
        <p:spPr>
          <a:xfrm>
            <a:off x="6553200" y="2669828"/>
            <a:ext cx="2133600" cy="727174"/>
          </a:xfrm>
          <a:prstGeom prst="roundRect">
            <a:avLst>
              <a:gd name="adj" fmla="val 10479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6664226" y="2780854"/>
            <a:ext cx="194977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자기 증강 피드백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6664226" y="2936379"/>
            <a:ext cx="1949779" cy="213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spcBef>
                <a:spcPts val="400"/>
              </a:spcBef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PIPELINE_END 이벤트 → MEMORY.md 인사이트 자동 축적 → 다음 세션 PromptAssembler가 반영</a:t>
            </a:r>
            <a:endParaRPr lang="en-US" sz="600" dirty="0"/>
          </a:p>
        </p:txBody>
      </p:sp>
      <p:sp>
        <p:nvSpPr>
          <p:cNvPr id="45" name="Text 43"/>
          <p:cNvSpPr/>
          <p:nvPr/>
        </p:nvSpPr>
        <p:spPr>
          <a:xfrm>
            <a:off x="6664226" y="3200251"/>
            <a:ext cx="194977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3-Loop가 서로 강화합니다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6553200" y="3473202"/>
            <a:ext cx="2133600" cy="1175742"/>
          </a:xfrm>
          <a:prstGeom prst="roundRect">
            <a:avLst>
              <a:gd name="adj" fmla="val 6481"/>
            </a:avLst>
          </a:prstGeom>
          <a:solidFill>
            <a:srgbClr val="1E293B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6664226" y="3584228"/>
            <a:ext cx="194977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 왜 3중 루프인가?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6664226" y="3739753"/>
            <a:ext cx="1949779" cy="213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spcAft>
                <a:spcPts val="400"/>
              </a:spcAft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DEV+RUNTIME 2중 루프로는 규칙이 진화하지 않는다. 같은 실수가 반복되고 패턴이 코드베이스에 남는다.</a:t>
            </a:r>
            <a:endParaRPr lang="en-US" sz="600" dirty="0"/>
          </a:p>
        </p:txBody>
      </p:sp>
      <p:sp>
        <p:nvSpPr>
          <p:cNvPr id="49" name="Text 47"/>
          <p:cNvSpPr/>
          <p:nvPr/>
        </p:nvSpPr>
        <p:spPr>
          <a:xfrm>
            <a:off x="6664226" y="4003625"/>
            <a:ext cx="930325" cy="397818"/>
          </a:xfrm>
          <a:prstGeom prst="roundRect">
            <a:avLst>
              <a:gd name="adj" fmla="val 9577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Text 48"/>
          <p:cNvSpPr/>
          <p:nvPr/>
        </p:nvSpPr>
        <p:spPr>
          <a:xfrm>
            <a:off x="6740426" y="4054376"/>
            <a:ext cx="79348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2중 루프</a:t>
            </a:r>
            <a:endParaRPr lang="en-US" sz="600" dirty="0"/>
          </a:p>
        </p:txBody>
      </p:sp>
      <p:sp>
        <p:nvSpPr>
          <p:cNvPr id="51" name="Text 49"/>
          <p:cNvSpPr/>
          <p:nvPr/>
        </p:nvSpPr>
        <p:spPr>
          <a:xfrm>
            <a:off x="6740426" y="4152751"/>
            <a:ext cx="793483" cy="197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80"/>
              </a:lnSpc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 위반 반복 · 학습 없음</a:t>
            </a:r>
            <a:endParaRPr lang="en-US" sz="600" dirty="0"/>
          </a:p>
        </p:txBody>
      </p:sp>
      <p:sp>
        <p:nvSpPr>
          <p:cNvPr id="52" name="Text 50"/>
          <p:cNvSpPr/>
          <p:nvPr/>
        </p:nvSpPr>
        <p:spPr>
          <a:xfrm>
            <a:off x="7645301" y="4003625"/>
            <a:ext cx="930473" cy="397818"/>
          </a:xfrm>
          <a:prstGeom prst="roundRect">
            <a:avLst>
              <a:gd name="adj" fmla="val 9577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7721501" y="4054376"/>
            <a:ext cx="79363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추가</a:t>
            </a:r>
            <a:endParaRPr lang="en-US" sz="600" dirty="0"/>
          </a:p>
        </p:txBody>
      </p:sp>
      <p:sp>
        <p:nvSpPr>
          <p:cNvPr id="54" name="Text 52"/>
          <p:cNvSpPr/>
          <p:nvPr/>
        </p:nvSpPr>
        <p:spPr>
          <a:xfrm>
            <a:off x="7721501" y="4152751"/>
            <a:ext cx="793635" cy="197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80"/>
              </a:lnSpc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규칙이 CHANGELOG에서 진화</a:t>
            </a:r>
            <a:endParaRPr lang="en-US" sz="600" dirty="0"/>
          </a:p>
        </p:txBody>
      </p:sp>
      <p:sp>
        <p:nvSpPr>
          <p:cNvPr id="55" name="Text 53"/>
          <p:cNvSpPr/>
          <p:nvPr/>
        </p:nvSpPr>
        <p:spPr>
          <a:xfrm>
            <a:off x="6664226" y="4452193"/>
            <a:ext cx="194977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비용: META 루프 투자 시간 ↑ · 수익: RUNTIME 품질 복리 ↑</a:t>
            </a:r>
            <a:endParaRPr lang="en-US" sz="600" dirty="0"/>
          </a:p>
        </p:txBody>
      </p:sp>
      <p:sp>
        <p:nvSpPr>
          <p:cNvPr id="56" name="Text 54"/>
          <p:cNvSpPr/>
          <p:nvPr/>
        </p:nvSpPr>
        <p:spPr>
          <a:xfrm>
            <a:off x="457200" y="4956274"/>
            <a:ext cx="280686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META가 DEV를 낳고, DEV가 RUNTIME을 완성하고, RUNTIME이 META를 강화합니다</a:t>
            </a:r>
            <a:endParaRPr lang="en-US" sz="600" dirty="0"/>
          </a:p>
        </p:txBody>
      </p:sp>
      <p:sp>
        <p:nvSpPr>
          <p:cNvPr id="57" name="Text 55"/>
          <p:cNvSpPr/>
          <p:nvPr/>
        </p:nvSpPr>
        <p:spPr>
          <a:xfrm>
            <a:off x="8453735" y="4956274"/>
            <a:ext cx="23772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34</a:t>
            </a:r>
            <a:endParaRPr lang="en-US" sz="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52400"/>
            <a:ext cx="50750" cy="177701"/>
          </a:xfrm>
          <a:prstGeom prst="roundRect">
            <a:avLst>
              <a:gd name="adj" fmla="val 50049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74575"/>
            <a:ext cx="85056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 · WHAT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6-Layer Architecture: 187 모듈이 수직 분리된 이유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47551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단일 계층 시스템은 테스트와 교체가 불가능 — Port/Adapter로 LLM 종속성을 분리했습니다</a:t>
            </a:r>
            <a:endParaRPr lang="en-US" sz="800" dirty="0"/>
          </a:p>
        </p:txBody>
      </p:sp>
      <p:pic>
        <p:nvPicPr>
          <p:cNvPr id="6" name="Image 0" descr="/Users/mango/workspace/portfolio/geode/versions/v6/slides/assets/v028-diagram-3ti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847576"/>
            <a:ext cx="5334000" cy="2476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714606" y="3374827"/>
            <a:ext cx="142893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6-Layer 수직 분리 · Hook이 모든 계층을 횡단</a:t>
            </a:r>
            <a:endParaRPr lang="en-US" sz="600" dirty="0"/>
          </a:p>
        </p:txBody>
      </p:sp>
      <p:sp>
        <p:nvSpPr>
          <p:cNvPr id="8" name="Text 5"/>
          <p:cNvSpPr/>
          <p:nvPr/>
        </p:nvSpPr>
        <p:spPr>
          <a:xfrm>
            <a:off x="6527899" y="847576"/>
            <a:ext cx="2158901" cy="571500"/>
          </a:xfrm>
          <a:prstGeom prst="roundRect">
            <a:avLst>
              <a:gd name="adj" fmla="val 13333"/>
            </a:avLst>
          </a:prstGeom>
          <a:solidFill>
            <a:srgbClr val="161B22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6689824" y="971401"/>
            <a:ext cx="47545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187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257455" y="1020663"/>
            <a:ext cx="79985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Modules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7257455" y="1160264"/>
            <a:ext cx="79985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core/ 하위 계층별 분리</a:t>
            </a:r>
            <a:endParaRPr lang="en-US" sz="600" dirty="0"/>
          </a:p>
        </p:txBody>
      </p:sp>
      <p:sp>
        <p:nvSpPr>
          <p:cNvPr id="12" name="Text 9"/>
          <p:cNvSpPr/>
          <p:nvPr/>
        </p:nvSpPr>
        <p:spPr>
          <a:xfrm>
            <a:off x="6527899" y="1495276"/>
            <a:ext cx="2158901" cy="571500"/>
          </a:xfrm>
          <a:prstGeom prst="roundRect">
            <a:avLst>
              <a:gd name="adj" fmla="val 13333"/>
            </a:avLst>
          </a:prstGeom>
          <a:solidFill>
            <a:srgbClr val="161B22"/>
          </a:solidFill>
          <a:ln w="9525">
            <a:solidFill>
              <a:srgbClr val="F9731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6689824" y="1619101"/>
            <a:ext cx="316968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7102078" y="1668363"/>
            <a:ext cx="66991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 Events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7102078" y="1807964"/>
            <a:ext cx="66991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계층 횡단 관측 신경계</a:t>
            </a:r>
            <a:endParaRPr lang="en-US" sz="600" dirty="0"/>
          </a:p>
        </p:txBody>
      </p:sp>
      <p:sp>
        <p:nvSpPr>
          <p:cNvPr id="16" name="Text 13"/>
          <p:cNvSpPr/>
          <p:nvPr/>
        </p:nvSpPr>
        <p:spPr>
          <a:xfrm>
            <a:off x="6527899" y="2142976"/>
            <a:ext cx="2158901" cy="993577"/>
          </a:xfrm>
          <a:prstGeom prst="roundRect">
            <a:avLst>
              <a:gd name="adj" fmla="val 7669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4"/>
          <p:cNvSpPr/>
          <p:nvPr/>
        </p:nvSpPr>
        <p:spPr>
          <a:xfrm>
            <a:off x="6689824" y="2266801"/>
            <a:ext cx="187175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계층별 역할</a:t>
            </a:r>
            <a:endParaRPr lang="en-US" sz="700" dirty="0"/>
          </a:p>
        </p:txBody>
      </p:sp>
      <p:sp>
        <p:nvSpPr>
          <p:cNvPr id="18" name="Text 15"/>
          <p:cNvSpPr/>
          <p:nvPr/>
        </p:nvSpPr>
        <p:spPr>
          <a:xfrm>
            <a:off x="6816775" y="2434977"/>
            <a:ext cx="17081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 Gateway: 채널 입력 라우팅</a:t>
            </a:r>
            <a:endParaRPr lang="en-US" sz="600" dirty="0"/>
          </a:p>
          <a:p>
            <a:pPr algn="l" marL="342900" indent="-342900">
              <a:buSzPct val="100000"/>
              <a:buChar char="•"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L2 Orchestrator: AgenticLoop</a:t>
            </a:r>
            <a:endParaRPr lang="en-US" sz="600" dirty="0"/>
          </a:p>
          <a:p>
            <a:pPr algn="l" marL="342900" indent="-342900">
              <a:buSzPct val="100000"/>
              <a:buChar char="•"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L3 Tool/Agent: 52 Tools + Sub</a:t>
            </a:r>
            <a:endParaRPr lang="en-US" sz="600" dirty="0"/>
          </a:p>
          <a:p>
            <a:pPr algn="l" marL="342900" indent="-342900">
              <a:buSzPct val="100000"/>
              <a:buChar char="•"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L4 LLM: 3-Provider Failover</a:t>
            </a:r>
            <a:endParaRPr lang="en-US" sz="600" dirty="0"/>
          </a:p>
          <a:p>
            <a:pPr algn="l" marL="342900" indent="-342900">
              <a:buSzPct val="100000"/>
              <a:buChar char="•"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L5 Memory: 4-Tier 학습</a:t>
            </a:r>
            <a:endParaRPr lang="en-US" sz="600" dirty="0"/>
          </a:p>
        </p:txBody>
      </p:sp>
      <p:sp>
        <p:nvSpPr>
          <p:cNvPr id="19" name="Text 16"/>
          <p:cNvSpPr/>
          <p:nvPr/>
        </p:nvSpPr>
        <p:spPr>
          <a:xfrm>
            <a:off x="6689824" y="2927003"/>
            <a:ext cx="18717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Port/Adapter → LLM 교체 시 나머지 불변</a:t>
            </a:r>
            <a:endParaRPr lang="en-US" sz="600" dirty="0"/>
          </a:p>
        </p:txBody>
      </p:sp>
      <p:sp>
        <p:nvSpPr>
          <p:cNvPr id="20" name="Text 17"/>
          <p:cNvSpPr/>
          <p:nvPr/>
        </p:nvSpPr>
        <p:spPr>
          <a:xfrm>
            <a:off x="6527899" y="3212753"/>
            <a:ext cx="2158901" cy="1105942"/>
          </a:xfrm>
          <a:prstGeom prst="roundRect">
            <a:avLst>
              <a:gd name="adj" fmla="val 6890"/>
            </a:avLst>
          </a:prstGeom>
          <a:solidFill>
            <a:srgbClr val="1E293B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8"/>
          <p:cNvSpPr/>
          <p:nvPr/>
        </p:nvSpPr>
        <p:spPr>
          <a:xfrm>
            <a:off x="6689824" y="3336578"/>
            <a:ext cx="187175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6-Layer인가?</a:t>
            </a:r>
            <a:endParaRPr lang="en-US" sz="700" dirty="0"/>
          </a:p>
        </p:txBody>
      </p:sp>
      <p:sp>
        <p:nvSpPr>
          <p:cNvPr id="22" name="Text 19"/>
          <p:cNvSpPr/>
          <p:nvPr/>
        </p:nvSpPr>
        <p:spPr>
          <a:xfrm>
            <a:off x="6689824" y="3504754"/>
            <a:ext cx="1871752" cy="319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spcAft>
                <a:spcPts val="400"/>
              </a:spcAft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3-Layer(Presentation/Business/Data)는 에이전트에 맞지 않는다. 도구·메모리·오케스트레이션이 독립적으로 교체되어야 한다.</a:t>
            </a:r>
            <a:endParaRPr lang="en-US" sz="600" dirty="0"/>
          </a:p>
        </p:txBody>
      </p:sp>
      <p:sp>
        <p:nvSpPr>
          <p:cNvPr id="23" name="Text 20"/>
          <p:cNvSpPr/>
          <p:nvPr/>
        </p:nvSpPr>
        <p:spPr>
          <a:xfrm>
            <a:off x="6816775" y="3875187"/>
            <a:ext cx="1708100" cy="319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840"/>
              </a:lnSpc>
              <a:buSzPct val="100000"/>
              <a:buChar char="•"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교체 → L4만 변경, 나머지 불변</a:t>
            </a:r>
            <a:endParaRPr lang="en-US" sz="600" dirty="0"/>
          </a:p>
          <a:p>
            <a:pPr algn="l" marL="342900" indent="-342900">
              <a:lnSpc>
                <a:spcPts val="840"/>
              </a:lnSpc>
              <a:buSzPct val="100000"/>
              <a:buChar char="•"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메모리 백엔드 교체 → L5만 변경</a:t>
            </a:r>
            <a:endParaRPr lang="en-US" sz="600" dirty="0"/>
          </a:p>
          <a:p>
            <a:pPr algn="l" marL="342900" indent="-342900">
              <a:lnSpc>
                <a:spcPts val="840"/>
              </a:lnSpc>
              <a:buSzPct val="100000"/>
              <a:buChar char="•"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도구 추가 → L3만 확장</a:t>
            </a:r>
            <a:endParaRPr lang="en-US" sz="600" dirty="0"/>
          </a:p>
        </p:txBody>
      </p:sp>
      <p:sp>
        <p:nvSpPr>
          <p:cNvPr id="24" name="Text 21"/>
          <p:cNvSpPr/>
          <p:nvPr/>
        </p:nvSpPr>
        <p:spPr>
          <a:xfrm>
            <a:off x="457200" y="4956274"/>
            <a:ext cx="160290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187 modules · 3,201 tests · 46 hooks · v0.31.0</a:t>
            </a:r>
            <a:endParaRPr lang="en-US" sz="600" dirty="0"/>
          </a:p>
        </p:txBody>
      </p:sp>
      <p:sp>
        <p:nvSpPr>
          <p:cNvPr id="25" name="Text 22"/>
          <p:cNvSpPr/>
          <p:nvPr/>
        </p:nvSpPr>
        <p:spPr>
          <a:xfrm>
            <a:off x="8453735" y="4956274"/>
            <a:ext cx="23772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34</a:t>
            </a:r>
            <a:endParaRPr lang="en-US" sz="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52400"/>
            <a:ext cx="50750" cy="177701"/>
          </a:xfrm>
          <a:prstGeom prst="roundRect">
            <a:avLst>
              <a:gd name="adj" fmla="val 50049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74575"/>
            <a:ext cx="155250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 · EXECUTION LOOP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AgenticLoop: while(tool_use) 50 rounds × 200-turn Window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38026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패턴을 참고해 설계 — 5가지 경로로만 종료합니다</a:t>
            </a:r>
            <a:endParaRPr lang="en-US" sz="800" dirty="0"/>
          </a:p>
        </p:txBody>
      </p:sp>
      <p:pic>
        <p:nvPicPr>
          <p:cNvPr id="6" name="Image 0" descr="/Users/mango/workspace/portfolio/geode/versions/v6/slides/assets/v028-diagram-agentic-lo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200" y="838051"/>
            <a:ext cx="5079950" cy="2362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648678" y="3251002"/>
            <a:ext cx="145899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AgenticLoop 실행 흐름 · 루프백 + 5 종료 경로</a:t>
            </a:r>
            <a:endParaRPr lang="en-US" sz="600" dirty="0"/>
          </a:p>
        </p:txBody>
      </p:sp>
      <p:sp>
        <p:nvSpPr>
          <p:cNvPr id="8" name="Text 5"/>
          <p:cNvSpPr/>
          <p:nvPr/>
        </p:nvSpPr>
        <p:spPr>
          <a:xfrm>
            <a:off x="6426250" y="838051"/>
            <a:ext cx="2260550" cy="600075"/>
          </a:xfrm>
          <a:prstGeom prst="roundRect">
            <a:avLst>
              <a:gd name="adj" fmla="val 12698"/>
            </a:avLst>
          </a:prstGeom>
          <a:solidFill>
            <a:srgbClr val="161B22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6583497" y="961876"/>
            <a:ext cx="47712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583497" y="1228576"/>
            <a:ext cx="47712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 Rounds</a:t>
            </a:r>
            <a:endParaRPr lang="en-US" sz="600" dirty="0"/>
          </a:p>
        </p:txBody>
      </p:sp>
      <p:sp>
        <p:nvSpPr>
          <p:cNvPr id="11" name="Text 8"/>
          <p:cNvSpPr/>
          <p:nvPr/>
        </p:nvSpPr>
        <p:spPr>
          <a:xfrm>
            <a:off x="7182892" y="961876"/>
            <a:ext cx="12650" cy="352425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7317813" y="961876"/>
            <a:ext cx="47727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7317813" y="1228576"/>
            <a:ext cx="47727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 Window</a:t>
            </a:r>
            <a:endParaRPr lang="en-US" sz="600" dirty="0"/>
          </a:p>
        </p:txBody>
      </p:sp>
      <p:sp>
        <p:nvSpPr>
          <p:cNvPr id="14" name="Text 11"/>
          <p:cNvSpPr/>
          <p:nvPr/>
        </p:nvSpPr>
        <p:spPr>
          <a:xfrm>
            <a:off x="7917359" y="961876"/>
            <a:ext cx="12650" cy="352425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2"/>
          <p:cNvSpPr/>
          <p:nvPr/>
        </p:nvSpPr>
        <p:spPr>
          <a:xfrm>
            <a:off x="8052280" y="961876"/>
            <a:ext cx="47727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8052280" y="1228576"/>
            <a:ext cx="47727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 Paths</a:t>
            </a:r>
            <a:endParaRPr lang="en-US" sz="600" dirty="0"/>
          </a:p>
        </p:txBody>
      </p:sp>
      <p:sp>
        <p:nvSpPr>
          <p:cNvPr id="17" name="Text 14"/>
          <p:cNvSpPr/>
          <p:nvPr/>
        </p:nvSpPr>
        <p:spPr>
          <a:xfrm>
            <a:off x="6426250" y="1514326"/>
            <a:ext cx="2260550" cy="996851"/>
          </a:xfrm>
          <a:prstGeom prst="roundRect">
            <a:avLst>
              <a:gd name="adj" fmla="val 7644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5"/>
          <p:cNvSpPr/>
          <p:nvPr/>
        </p:nvSpPr>
        <p:spPr>
          <a:xfrm>
            <a:off x="6588175" y="1638151"/>
            <a:ext cx="197543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5가지 종료 경로</a:t>
            </a:r>
            <a:endParaRPr lang="en-US" sz="700" dirty="0"/>
          </a:p>
        </p:txBody>
      </p:sp>
      <p:sp>
        <p:nvSpPr>
          <p:cNvPr id="19" name="Text 16"/>
          <p:cNvSpPr/>
          <p:nvPr/>
        </p:nvSpPr>
        <p:spPr>
          <a:xfrm>
            <a:off x="6715125" y="1806327"/>
            <a:ext cx="1809750" cy="581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6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end_turn</a:t>
            </a:r>
            <a:pPr algn="l" indent="0" marL="0">
              <a:spcAft>
                <a:spcPts val="300"/>
              </a:spcAft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LLM이 tool_use 없이 응답</a:t>
            </a:r>
            <a:endParaRPr lang="en-US" sz="6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6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max_rounds</a:t>
            </a:r>
            <a:pPr algn="l" indent="0" marL="0">
              <a:spcAft>
                <a:spcPts val="300"/>
              </a:spcAft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50라운드 도달</a:t>
            </a:r>
            <a:endParaRPr lang="en-US" sz="6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6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convergence</a:t>
            </a:r>
            <a:pPr algn="l" indent="0" marL="0">
              <a:spcAft>
                <a:spcPts val="300"/>
              </a:spcAft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동일 에러 3회 반복 감지</a:t>
            </a:r>
            <a:endParaRPr lang="en-US" sz="6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6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force_text</a:t>
            </a:r>
            <a:pPr algn="l" indent="0" marL="0">
              <a:spcAft>
                <a:spcPts val="300"/>
              </a:spcAft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잔여 2라운드에서 텍스트 강제</a:t>
            </a:r>
            <a:endParaRPr lang="en-US" sz="6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6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budget_stop</a:t>
            </a:r>
            <a:pPr algn="l" indent="0" marL="0">
              <a:spcAft>
                <a:spcPts val="300"/>
              </a:spcAft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세션 비용 상한 초과</a:t>
            </a:r>
            <a:endParaRPr lang="en-US" sz="600" dirty="0"/>
          </a:p>
        </p:txBody>
      </p:sp>
      <p:sp>
        <p:nvSpPr>
          <p:cNvPr id="20" name="Text 17"/>
          <p:cNvSpPr/>
          <p:nvPr/>
        </p:nvSpPr>
        <p:spPr>
          <a:xfrm>
            <a:off x="6426250" y="2587377"/>
            <a:ext cx="2260550" cy="851148"/>
          </a:xfrm>
          <a:prstGeom prst="roundRect">
            <a:avLst>
              <a:gd name="adj" fmla="val 8953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8"/>
          <p:cNvSpPr/>
          <p:nvPr/>
        </p:nvSpPr>
        <p:spPr>
          <a:xfrm>
            <a:off x="6588175" y="2711202"/>
            <a:ext cx="197543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컨텍스트 관리</a:t>
            </a:r>
            <a:endParaRPr lang="en-US" sz="700" dirty="0"/>
          </a:p>
        </p:txBody>
      </p:sp>
      <p:sp>
        <p:nvSpPr>
          <p:cNvPr id="22" name="Text 19"/>
          <p:cNvSpPr/>
          <p:nvPr/>
        </p:nvSpPr>
        <p:spPr>
          <a:xfrm>
            <a:off x="6588175" y="2879378"/>
            <a:ext cx="1975434" cy="213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30개 메시지 초과 시 최초 사용자 메시지 보존 + bridge 삽입. 80%에서 compact, 95%에서 emergency prune 자동 발동.</a:t>
            </a:r>
            <a:endParaRPr lang="en-US" sz="600" dirty="0"/>
          </a:p>
        </p:txBody>
      </p:sp>
      <p:sp>
        <p:nvSpPr>
          <p:cNvPr id="23" name="Text 20"/>
          <p:cNvSpPr/>
          <p:nvPr/>
        </p:nvSpPr>
        <p:spPr>
          <a:xfrm>
            <a:off x="6588175" y="3143250"/>
            <a:ext cx="197543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2회 연속 실패 → Provider 모델 체인 → Cross-Provider Fallback</a:t>
            </a:r>
            <a:endParaRPr lang="en-US" sz="600" dirty="0"/>
          </a:p>
        </p:txBody>
      </p:sp>
      <p:sp>
        <p:nvSpPr>
          <p:cNvPr id="24" name="Text 21"/>
          <p:cNvSpPr/>
          <p:nvPr/>
        </p:nvSpPr>
        <p:spPr>
          <a:xfrm>
            <a:off x="6426250" y="3514725"/>
            <a:ext cx="2260550" cy="1127075"/>
          </a:xfrm>
          <a:prstGeom prst="roundRect">
            <a:avLst>
              <a:gd name="adj" fmla="val 6761"/>
            </a:avLst>
          </a:prstGeom>
          <a:solidFill>
            <a:srgbClr val="1E293B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2"/>
          <p:cNvSpPr/>
          <p:nvPr/>
        </p:nvSpPr>
        <p:spPr>
          <a:xfrm>
            <a:off x="6588175" y="3638550"/>
            <a:ext cx="197543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max 50 rounds?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6588175" y="3794075"/>
            <a:ext cx="1975434" cy="319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spcAft>
                <a:spcPts val="400"/>
              </a:spcAft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실측 기반: 평균 </a:t>
            </a:r>
            <a:pPr algn="l" indent="0" marL="0">
              <a:lnSpc>
                <a:spcPts val="840"/>
              </a:lnSpc>
              <a:spcAft>
                <a:spcPts val="400"/>
              </a:spcAft>
              <a:buNone/>
            </a:pPr>
            <a:r>
              <a:rPr lang="en-US" sz="6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 라운드</a:t>
            </a:r>
            <a:pPr algn="l" indent="0" marL="0">
              <a:lnSpc>
                <a:spcPts val="840"/>
              </a:lnSpc>
              <a:spcAft>
                <a:spcPts val="400"/>
              </a:spcAft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 자연 종료(end_turn). 50은 탈출 불가 상황의 안전망 — 긴 분석 작업에서 드물게 30+ 라운드 도달.</a:t>
            </a:r>
            <a:endParaRPr lang="en-US" sz="600" dirty="0"/>
          </a:p>
        </p:txBody>
      </p:sp>
      <p:sp>
        <p:nvSpPr>
          <p:cNvPr id="27" name="Text 24"/>
          <p:cNvSpPr/>
          <p:nvPr/>
        </p:nvSpPr>
        <p:spPr>
          <a:xfrm>
            <a:off x="6588175" y="4164509"/>
            <a:ext cx="611684" cy="353467"/>
          </a:xfrm>
          <a:prstGeom prst="roundRect">
            <a:avLst>
              <a:gd name="adj" fmla="val 10779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5"/>
          <p:cNvSpPr/>
          <p:nvPr/>
        </p:nvSpPr>
        <p:spPr>
          <a:xfrm>
            <a:off x="6659782" y="4215259"/>
            <a:ext cx="468469" cy="153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1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6659782" y="4381500"/>
            <a:ext cx="46846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평균 라운드</a:t>
            </a:r>
            <a:endParaRPr lang="en-US" sz="600" dirty="0"/>
          </a:p>
        </p:txBody>
      </p:sp>
      <p:sp>
        <p:nvSpPr>
          <p:cNvPr id="30" name="Text 27"/>
          <p:cNvSpPr/>
          <p:nvPr/>
        </p:nvSpPr>
        <p:spPr>
          <a:xfrm>
            <a:off x="7250609" y="4164509"/>
            <a:ext cx="611832" cy="353467"/>
          </a:xfrm>
          <a:prstGeom prst="roundRect">
            <a:avLst>
              <a:gd name="adj" fmla="val 10779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8"/>
          <p:cNvSpPr/>
          <p:nvPr/>
        </p:nvSpPr>
        <p:spPr>
          <a:xfrm>
            <a:off x="7322214" y="4215259"/>
            <a:ext cx="468621" cy="153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1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30+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7322214" y="4381500"/>
            <a:ext cx="46862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심층 분석 시</a:t>
            </a:r>
            <a:endParaRPr lang="en-US" sz="600" dirty="0"/>
          </a:p>
        </p:txBody>
      </p:sp>
      <p:sp>
        <p:nvSpPr>
          <p:cNvPr id="33" name="Text 30"/>
          <p:cNvSpPr/>
          <p:nvPr/>
        </p:nvSpPr>
        <p:spPr>
          <a:xfrm>
            <a:off x="7913191" y="4164509"/>
            <a:ext cx="611684" cy="353467"/>
          </a:xfrm>
          <a:prstGeom prst="roundRect">
            <a:avLst>
              <a:gd name="adj" fmla="val 10779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1"/>
          <p:cNvSpPr/>
          <p:nvPr/>
        </p:nvSpPr>
        <p:spPr>
          <a:xfrm>
            <a:off x="7984799" y="4215259"/>
            <a:ext cx="468469" cy="153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1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7984799" y="4381500"/>
            <a:ext cx="46846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안전망 상한</a:t>
            </a:r>
            <a:endParaRPr lang="en-US" sz="600" dirty="0"/>
          </a:p>
        </p:txBody>
      </p:sp>
      <p:sp>
        <p:nvSpPr>
          <p:cNvPr id="36" name="Text 33"/>
          <p:cNvSpPr/>
          <p:nvPr/>
        </p:nvSpPr>
        <p:spPr>
          <a:xfrm>
            <a:off x="457200" y="4956274"/>
            <a:ext cx="256747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while(tool_use) 패턴 참고 · core/orchestration/agentic_loop.py</a:t>
            </a:r>
            <a:endParaRPr lang="en-US" sz="600" dirty="0"/>
          </a:p>
        </p:txBody>
      </p:sp>
      <p:sp>
        <p:nvSpPr>
          <p:cNvPr id="37" name="Text 34"/>
          <p:cNvSpPr/>
          <p:nvPr/>
        </p:nvSpPr>
        <p:spPr>
          <a:xfrm>
            <a:off x="8453735" y="4956274"/>
            <a:ext cx="23772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 34</a:t>
            </a:r>
            <a:endParaRPr lang="en-US" sz="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58800"/>
            <a:ext cx="50750" cy="177701"/>
          </a:xfrm>
          <a:prstGeom prst="roundRect">
            <a:avLst>
              <a:gd name="adj" fmla="val 50049"/>
            </a:avLst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80975"/>
            <a:ext cx="192154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 · LONG-RUNNING SAFETY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970937" y="152400"/>
            <a:ext cx="715863" cy="190500"/>
          </a:xfrm>
          <a:prstGeom prst="roundRect">
            <a:avLst>
              <a:gd name="adj" fmla="val 26667"/>
            </a:avLst>
          </a:prstGeom>
          <a:solidFill>
            <a:srgbClr val="1A0A0A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8081962" y="200025"/>
            <a:ext cx="50368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SLIDE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393650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장기 자율 실행의 3대 위험과 자동 브레이크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660350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자율성과 안전의 균형 — 사람 없이 하네스를 보호하는 3가지 메커니즘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860375"/>
            <a:ext cx="2675483" cy="3327946"/>
          </a:xfrm>
          <a:prstGeom prst="roundRect">
            <a:avLst>
              <a:gd name="adj" fmla="val 2848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93675" y="996851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679698" y="1054001"/>
            <a:ext cx="5768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898475" y="1049238"/>
            <a:ext cx="38725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비용 폭발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93675" y="1288852"/>
            <a:ext cx="2402532" cy="655290"/>
          </a:xfrm>
          <a:prstGeom prst="roundRect">
            <a:avLst>
              <a:gd name="adj" fmla="val 7752"/>
            </a:avLst>
          </a:prstGeom>
          <a:solidFill>
            <a:srgbClr val="1A0A0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95176" y="1365052"/>
            <a:ext cx="224352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위험 — 실제 비용 계산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95176" y="1495127"/>
            <a:ext cx="2243521" cy="372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spcBef>
                <a:spcPts val="2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while(tool_use) 특성상 비용 폭발은 구조적으로 불가피. </a:t>
            </a:r>
            <a:pPr algn="l" indent="0" marL="0">
              <a:lnSpc>
                <a:spcPts val="980"/>
              </a:lnSpc>
              <a:spcBef>
                <a:spcPts val="200"/>
              </a:spcBef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50라운드 × $0.15/turn = 세션당 $7.50</a:t>
            </a:r>
            <a:pPr algn="l" indent="0" marL="0">
              <a:lnSpc>
                <a:spcPts val="980"/>
              </a:lnSpc>
              <a:spcBef>
                <a:spcPts val="2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budget 초과 시 자동 정지가 없으면 하룻밤 무인 실행에 </a:t>
            </a:r>
            <a:pPr algn="l" indent="0" marL="0">
              <a:lnSpc>
                <a:spcPts val="980"/>
              </a:lnSpc>
              <a:spcBef>
                <a:spcPts val="200"/>
              </a:spcBef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$500+ 소모</a:t>
            </a:r>
            <a:pPr algn="l" indent="0" marL="0">
              <a:lnSpc>
                <a:spcPts val="980"/>
              </a:lnSpc>
              <a:spcBef>
                <a:spcPts val="2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가능.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593675" y="2007543"/>
            <a:ext cx="2402532" cy="674340"/>
          </a:xfrm>
          <a:prstGeom prst="roundRect">
            <a:avLst>
              <a:gd name="adj" fmla="val 7533"/>
            </a:avLst>
          </a:prstGeom>
          <a:solidFill>
            <a:srgbClr val="0D2A0D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704701" y="2093268"/>
            <a:ext cx="222409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자동 브레이크 — 인과 흐름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704701" y="2223343"/>
            <a:ext cx="2224090" cy="372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spcBef>
                <a:spcPts val="2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TokenTracker가 매 턴 비용 누적 → budget 상한 도달 시 budget_stop 신호 → LOOP_END 강제 발화. 사람 없이 비용 상한을 보장합니다.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593675" y="3759845"/>
            <a:ext cx="2402532" cy="292001"/>
          </a:xfrm>
          <a:prstGeom prst="roundRect">
            <a:avLst>
              <a:gd name="adj" fmla="val 17397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92051" y="3820120"/>
            <a:ext cx="224989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Karpathy P3 원칙 적용</a:t>
            </a:r>
            <a:endParaRPr lang="en-US" sz="600" dirty="0"/>
          </a:p>
        </p:txBody>
      </p:sp>
      <p:sp>
        <p:nvSpPr>
          <p:cNvPr id="20" name="Text 18"/>
          <p:cNvSpPr/>
          <p:nvPr/>
        </p:nvSpPr>
        <p:spPr>
          <a:xfrm>
            <a:off x="692051" y="3905845"/>
            <a:ext cx="224989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4ECD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budget_stop → LOOP_END</a:t>
            </a:r>
            <a:endParaRPr lang="en-US" sz="600" dirty="0"/>
          </a:p>
        </p:txBody>
      </p:sp>
      <p:sp>
        <p:nvSpPr>
          <p:cNvPr id="21" name="Text 19"/>
          <p:cNvSpPr/>
          <p:nvPr/>
        </p:nvSpPr>
        <p:spPr>
          <a:xfrm>
            <a:off x="3234184" y="860375"/>
            <a:ext cx="2675632" cy="3327946"/>
          </a:xfrm>
          <a:prstGeom prst="roundRect">
            <a:avLst>
              <a:gd name="adj" fmla="val 2848"/>
            </a:avLst>
          </a:prstGeom>
          <a:solidFill>
            <a:srgbClr val="161B22"/>
          </a:solidFill>
          <a:ln w="9525">
            <a:solidFill>
              <a:srgbClr val="F9731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3370659" y="996851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3456682" y="1054001"/>
            <a:ext cx="5768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3675459" y="1049238"/>
            <a:ext cx="38725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무한 루프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3370659" y="1288852"/>
            <a:ext cx="2402681" cy="531019"/>
          </a:xfrm>
          <a:prstGeom prst="roundRect">
            <a:avLst>
              <a:gd name="adj" fmla="val 9567"/>
            </a:avLst>
          </a:prstGeom>
          <a:solidFill>
            <a:srgbClr val="1A0D0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3472160" y="1365052"/>
            <a:ext cx="224367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위험 — 수렴 고착의 비용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3472160" y="1495127"/>
            <a:ext cx="2243673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spcBef>
                <a:spcPts val="2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LLM이 동일한 에러를 반복하면 50 rounds 전체를 낭비. 동일 요청에 $7.50를 태우고 실패를 반환합니다.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3370659" y="1883271"/>
            <a:ext cx="2402681" cy="674340"/>
          </a:xfrm>
          <a:prstGeom prst="roundRect">
            <a:avLst>
              <a:gd name="adj" fmla="val 7533"/>
            </a:avLst>
          </a:prstGeom>
          <a:solidFill>
            <a:srgbClr val="0D2A0D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3481685" y="1968996"/>
            <a:ext cx="222424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자동 브레이크 — 인과 흐름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3481685" y="2099072"/>
            <a:ext cx="2224242" cy="372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spcBef>
                <a:spcPts val="2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동일 에러 </a:t>
            </a:r>
            <a:pPr algn="l" indent="0" marL="0">
              <a:lnSpc>
                <a:spcPts val="980"/>
              </a:lnSpc>
              <a:spcBef>
                <a:spcPts val="200"/>
              </a:spcBef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3회</a:t>
            </a:r>
            <a:pPr algn="l" indent="0" marL="0">
              <a:lnSpc>
                <a:spcPts val="980"/>
              </a:lnSpc>
              <a:spcBef>
                <a:spcPts val="2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감지 → 수렴 판정 → Haiku→Sonnet→Opus 상위 모델 에스컬레이션 → 모델 체인 소진 시 Cross-Provider 자동 이동.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3370659" y="3759845"/>
            <a:ext cx="2402681" cy="292001"/>
          </a:xfrm>
          <a:prstGeom prst="roundRect">
            <a:avLst>
              <a:gd name="adj" fmla="val 17397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3469035" y="3820120"/>
            <a:ext cx="225004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Karpathy P4 원칙 적용</a:t>
            </a:r>
            <a:endParaRPr lang="en-US" sz="600" dirty="0"/>
          </a:p>
        </p:txBody>
      </p:sp>
      <p:sp>
        <p:nvSpPr>
          <p:cNvPr id="33" name="Text 31"/>
          <p:cNvSpPr/>
          <p:nvPr/>
        </p:nvSpPr>
        <p:spPr>
          <a:xfrm>
            <a:off x="3469035" y="3905845"/>
            <a:ext cx="225004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4ECD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convergence → model escalation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6011317" y="860375"/>
            <a:ext cx="2675483" cy="3327946"/>
          </a:xfrm>
          <a:prstGeom prst="roundRect">
            <a:avLst>
              <a:gd name="adj" fmla="val 2848"/>
            </a:avLst>
          </a:prstGeom>
          <a:solidFill>
            <a:srgbClr val="161B22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6147792" y="996851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F5C54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6233815" y="1054001"/>
            <a:ext cx="5768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D11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6452592" y="1049238"/>
            <a:ext cx="38725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탐색 고착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6147792" y="1288852"/>
            <a:ext cx="2402532" cy="531019"/>
          </a:xfrm>
          <a:prstGeom prst="roundRect">
            <a:avLst>
              <a:gd name="adj" fmla="val 9567"/>
            </a:avLst>
          </a:prstGeom>
          <a:solidFill>
            <a:srgbClr val="1A150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6249293" y="1365052"/>
            <a:ext cx="224352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위험 — 탐색 편향의 결과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6249293" y="1495127"/>
            <a:ext cx="2243521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spcBef>
                <a:spcPts val="2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동일 도구만 반복 호출하면 탐색 공간이 좁아지고, 다른 접근법으로 해결 가능한 문제를 50 rounds 내내 놓칩니다.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6147792" y="1883271"/>
            <a:ext cx="2402532" cy="550069"/>
          </a:xfrm>
          <a:prstGeom prst="roundRect">
            <a:avLst>
              <a:gd name="adj" fmla="val 9235"/>
            </a:avLst>
          </a:prstGeom>
          <a:solidFill>
            <a:srgbClr val="0D2A0D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6258818" y="1968996"/>
            <a:ext cx="222409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자동 브레이크 — 인과 흐름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6258818" y="2099072"/>
            <a:ext cx="2224090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spcBef>
                <a:spcPts val="2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도구 반복 </a:t>
            </a:r>
            <a:pPr algn="l" indent="0" marL="0">
              <a:lnSpc>
                <a:spcPts val="980"/>
              </a:lnSpc>
              <a:spcBef>
                <a:spcPts val="200"/>
              </a:spcBef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5회</a:t>
            </a:r>
            <a:pPr algn="l" indent="0" marL="0">
              <a:lnSpc>
                <a:spcPts val="980"/>
              </a:lnSpc>
              <a:spcBef>
                <a:spcPts val="2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감지 → Hook이 hint 메시지 자동 주입 → LLM이 다른 도구 경로를 탐색. 다양성을 구조적으로 강제합니다.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6147792" y="3759845"/>
            <a:ext cx="2402532" cy="292001"/>
          </a:xfrm>
          <a:prstGeom prst="roundRect">
            <a:avLst>
              <a:gd name="adj" fmla="val 17397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6246168" y="3820120"/>
            <a:ext cx="224989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다양성 강제 (Diversity Forcing)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6246168" y="3905845"/>
            <a:ext cx="224989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4ECD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tool_repeat_5x → hint_inject</a:t>
            </a:r>
            <a:endParaRPr lang="en-US" sz="600" dirty="0"/>
          </a:p>
        </p:txBody>
      </p:sp>
      <p:sp>
        <p:nvSpPr>
          <p:cNvPr id="47" name="Text 45"/>
          <p:cNvSpPr/>
          <p:nvPr/>
        </p:nvSpPr>
        <p:spPr>
          <a:xfrm>
            <a:off x="457200" y="4289822"/>
            <a:ext cx="8229600" cy="603052"/>
          </a:xfrm>
          <a:prstGeom prst="roundRect">
            <a:avLst>
              <a:gd name="adj" fmla="val 12636"/>
            </a:avLst>
          </a:prstGeom>
          <a:solidFill>
            <a:srgbClr val="1E293B"/>
          </a:solidFill>
          <a:ln w="9525">
            <a:solidFill>
              <a:srgbClr val="8B949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644426" y="4400848"/>
            <a:ext cx="50750" cy="381000"/>
          </a:xfrm>
          <a:prstGeom prst="roundRect">
            <a:avLst>
              <a:gd name="adj" fmla="val 50049"/>
            </a:avLst>
          </a:prstGeom>
          <a:solidFill>
            <a:srgbClr val="8B949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822127" y="4457998"/>
            <a:ext cx="621503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 자율성 vs 안전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822127" y="4619923"/>
            <a:ext cx="621503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브레이크가 강할수록 자율 실행 범위가 줄어듭니다. 3가지 임계값(budget 한도, 수렴 횟수 3회, 반복 횟수 5회)은 사용자가 조정 가능합니다. 기본값은 실험적으로 도출했습니다.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457200" y="4956274"/>
            <a:ext cx="238758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자동 브레이크 → 사람 없이 장기 실행 가능 · core/orchestration/safety.py</a:t>
            </a:r>
            <a:endParaRPr lang="en-US" sz="600" dirty="0"/>
          </a:p>
        </p:txBody>
      </p:sp>
      <p:sp>
        <p:nvSpPr>
          <p:cNvPr id="52" name="Text 50"/>
          <p:cNvSpPr/>
          <p:nvPr/>
        </p:nvSpPr>
        <p:spPr>
          <a:xfrm>
            <a:off x="8453735" y="4956274"/>
            <a:ext cx="23772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 34</a:t>
            </a:r>
            <a:endParaRPr lang="en-US" sz="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58800"/>
            <a:ext cx="50750" cy="177701"/>
          </a:xfrm>
          <a:prstGeom prst="roundRect">
            <a:avLst>
              <a:gd name="adj" fmla="val 50049"/>
            </a:avLst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80975"/>
            <a:ext cx="217627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 · LONG-RUNNING INNOVATION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970937" y="152400"/>
            <a:ext cx="715863" cy="190500"/>
          </a:xfrm>
          <a:prstGeom prst="roundRect">
            <a:avLst>
              <a:gd name="adj" fmla="val 26667"/>
            </a:avLst>
          </a:prstGeom>
          <a:solidFill>
            <a:srgbClr val="1A0A0A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8081962" y="200025"/>
            <a:ext cx="50368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SLIDE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393650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장시간 운용을 위한 2가지 혁신: Plan-first + Provider-aware Compaction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660350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복잡한 작업의 사전 계획 + 컨텍스트 포화를 프로바이더별 전략으로 해결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860375"/>
            <a:ext cx="50750" cy="177701"/>
          </a:xfrm>
          <a:prstGeom prst="roundRect">
            <a:avLst>
              <a:gd name="adj" fmla="val 50049"/>
            </a:avLst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84150" y="877788"/>
            <a:ext cx="90794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혁신 1 · Plan-first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1114276"/>
            <a:ext cx="3981450" cy="3226296"/>
          </a:xfrm>
          <a:prstGeom prst="roundRect">
            <a:avLst>
              <a:gd name="adj" fmla="val 2362"/>
            </a:avLst>
          </a:prstGeom>
          <a:solidFill>
            <a:srgbClr val="161B22"/>
          </a:solidFill>
          <a:ln w="9525">
            <a:solidFill>
              <a:srgbClr val="F9731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593675" y="1250752"/>
            <a:ext cx="3708499" cy="276225"/>
          </a:xfrm>
          <a:prstGeom prst="roundRect">
            <a:avLst>
              <a:gd name="adj" fmla="val 18391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717500" y="1346002"/>
            <a:ext cx="23317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</a:t>
            </a:r>
            <a:endParaRPr lang="en-US" sz="600" dirty="0"/>
          </a:p>
        </p:txBody>
      </p:sp>
      <p:sp>
        <p:nvSpPr>
          <p:cNvPr id="13" name="Text 11"/>
          <p:cNvSpPr/>
          <p:nvPr/>
        </p:nvSpPr>
        <p:spPr>
          <a:xfrm>
            <a:off x="1022300" y="1336477"/>
            <a:ext cx="59932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사용자 요청 수신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593675" y="1590377"/>
            <a:ext cx="3708499" cy="276225"/>
          </a:xfrm>
          <a:prstGeom prst="roundRect">
            <a:avLst>
              <a:gd name="adj" fmla="val 18391"/>
            </a:avLst>
          </a:prstGeom>
          <a:solidFill>
            <a:srgbClr val="1A0D00"/>
          </a:solidFill>
          <a:ln w="9525">
            <a:solidFill>
              <a:srgbClr val="F9731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717500" y="1676102"/>
            <a:ext cx="41731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복잡도 판별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3845719" y="1685627"/>
            <a:ext cx="33928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3+ steps?</a:t>
            </a:r>
            <a:endParaRPr lang="en-US" sz="600" dirty="0"/>
          </a:p>
        </p:txBody>
      </p:sp>
      <p:sp>
        <p:nvSpPr>
          <p:cNvPr id="17" name="Text 15"/>
          <p:cNvSpPr/>
          <p:nvPr/>
        </p:nvSpPr>
        <p:spPr>
          <a:xfrm>
            <a:off x="593675" y="1930003"/>
            <a:ext cx="1822549" cy="368201"/>
          </a:xfrm>
          <a:prstGeom prst="roundRect">
            <a:avLst>
              <a:gd name="adj" fmla="val 13797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88696" y="2015728"/>
            <a:ext cx="163250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단순 요청</a:t>
            </a:r>
            <a:endParaRPr lang="en-US" sz="600" dirty="0"/>
          </a:p>
        </p:txBody>
      </p:sp>
      <p:sp>
        <p:nvSpPr>
          <p:cNvPr id="19" name="Text 17"/>
          <p:cNvSpPr/>
          <p:nvPr/>
        </p:nvSpPr>
        <p:spPr>
          <a:xfrm>
            <a:off x="688696" y="2126754"/>
            <a:ext cx="163250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직접 실행</a:t>
            </a:r>
            <a:endParaRPr lang="en-US" sz="600" dirty="0"/>
          </a:p>
        </p:txBody>
      </p:sp>
      <p:sp>
        <p:nvSpPr>
          <p:cNvPr id="20" name="Text 18"/>
          <p:cNvSpPr/>
          <p:nvPr/>
        </p:nvSpPr>
        <p:spPr>
          <a:xfrm>
            <a:off x="2479625" y="1930003"/>
            <a:ext cx="1822549" cy="368201"/>
          </a:xfrm>
          <a:prstGeom prst="roundRect">
            <a:avLst>
              <a:gd name="adj" fmla="val 13797"/>
            </a:avLst>
          </a:prstGeom>
          <a:solidFill>
            <a:srgbClr val="1A0D00"/>
          </a:solidFill>
          <a:ln w="9525">
            <a:solidFill>
              <a:srgbClr val="F9731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2574646" y="2015728"/>
            <a:ext cx="163250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복잡 요청</a:t>
            </a:r>
            <a:endParaRPr lang="en-US" sz="600" dirty="0"/>
          </a:p>
        </p:txBody>
      </p:sp>
      <p:sp>
        <p:nvSpPr>
          <p:cNvPr id="22" name="Text 20"/>
          <p:cNvSpPr/>
          <p:nvPr/>
        </p:nvSpPr>
        <p:spPr>
          <a:xfrm>
            <a:off x="2574646" y="2126754"/>
            <a:ext cx="163250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create_plan 자발 호출</a:t>
            </a:r>
            <a:endParaRPr lang="en-US" sz="600" dirty="0"/>
          </a:p>
        </p:txBody>
      </p:sp>
      <p:sp>
        <p:nvSpPr>
          <p:cNvPr id="23" name="Text 21"/>
          <p:cNvSpPr/>
          <p:nvPr/>
        </p:nvSpPr>
        <p:spPr>
          <a:xfrm>
            <a:off x="593675" y="2361605"/>
            <a:ext cx="3708499" cy="276225"/>
          </a:xfrm>
          <a:prstGeom prst="roundRect">
            <a:avLst>
              <a:gd name="adj" fmla="val 18391"/>
            </a:avLst>
          </a:prstGeom>
          <a:solidFill>
            <a:srgbClr val="0D2A0D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717500" y="2456855"/>
            <a:ext cx="42611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APPROVAL</a:t>
            </a:r>
            <a:endParaRPr lang="en-US" sz="600" dirty="0"/>
          </a:p>
        </p:txBody>
      </p:sp>
      <p:sp>
        <p:nvSpPr>
          <p:cNvPr id="25" name="Text 23"/>
          <p:cNvSpPr/>
          <p:nvPr/>
        </p:nvSpPr>
        <p:spPr>
          <a:xfrm>
            <a:off x="1211461" y="2447330"/>
            <a:ext cx="136472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사용자 계획 승인 대기 → 확인 후 실행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593675" y="2714030"/>
            <a:ext cx="3708499" cy="323552"/>
          </a:xfrm>
          <a:prstGeom prst="roundRect">
            <a:avLst>
              <a:gd name="adj" fmla="val 15701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695176" y="2777430"/>
            <a:ext cx="357560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잘못된 방향으로 50 rounds를 소모하기 전에 사람이 개입할 수 있습니다.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695176" y="2888456"/>
            <a:ext cx="357560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F973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LLM.create_plan() → user_approval_gate</a:t>
            </a:r>
            <a:endParaRPr lang="en-US" sz="600" dirty="0"/>
          </a:p>
        </p:txBody>
      </p:sp>
      <p:sp>
        <p:nvSpPr>
          <p:cNvPr id="29" name="Text 27"/>
          <p:cNvSpPr/>
          <p:nvPr/>
        </p:nvSpPr>
        <p:spPr>
          <a:xfrm>
            <a:off x="4565600" y="860375"/>
            <a:ext cx="12650" cy="3480197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4705201" y="860375"/>
            <a:ext cx="50750" cy="177701"/>
          </a:xfrm>
          <a:prstGeom prst="roundRect">
            <a:avLst>
              <a:gd name="adj" fmla="val 50049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4832152" y="877788"/>
            <a:ext cx="195099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혁신 2 · Provider-aware Compaction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705201" y="1114276"/>
            <a:ext cx="3981599" cy="3226296"/>
          </a:xfrm>
          <a:prstGeom prst="roundRect">
            <a:avLst>
              <a:gd name="adj" fmla="val 2362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4841677" y="1250752"/>
            <a:ext cx="3708648" cy="285750"/>
          </a:xfrm>
          <a:prstGeom prst="roundRect">
            <a:avLst>
              <a:gd name="adj" fmla="val 17778"/>
            </a:avLst>
          </a:prstGeom>
          <a:solidFill>
            <a:srgbClr val="1A1500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4965502" y="1336477"/>
            <a:ext cx="20736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5245001" y="1341239"/>
            <a:ext cx="147113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컨텍스트 윈도우 포화 → 프로바이더 분기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4841677" y="1599902"/>
            <a:ext cx="1822549" cy="2217241"/>
          </a:xfrm>
          <a:prstGeom prst="roundRect">
            <a:avLst>
              <a:gd name="adj" fmla="val 2787"/>
            </a:avLst>
          </a:prstGeom>
          <a:solidFill>
            <a:srgbClr val="0D1117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4952702" y="1710928"/>
            <a:ext cx="163250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4952702" y="1856929"/>
            <a:ext cx="1632508" cy="106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서버사이드 compaction</a:t>
            </a:r>
            <a:endParaRPr lang="en-US" sz="600" dirty="0"/>
          </a:p>
        </p:txBody>
      </p:sp>
      <p:sp>
        <p:nvSpPr>
          <p:cNvPr id="39" name="Text 37"/>
          <p:cNvSpPr/>
          <p:nvPr/>
        </p:nvSpPr>
        <p:spPr>
          <a:xfrm>
            <a:off x="4952702" y="2014240"/>
            <a:ext cx="1632508" cy="197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80"/>
              </a:lnSpc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compact_20260112 + clear_tool_uses. API가 직접 컨텍스트를 압축.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4952702" y="3518892"/>
            <a:ext cx="1600498" cy="187226"/>
          </a:xfrm>
          <a:prstGeom prst="roundRect">
            <a:avLst>
              <a:gd name="adj" fmla="val 20350"/>
            </a:avLst>
          </a:prstGeom>
          <a:solidFill>
            <a:srgbClr val="0D2A0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5028902" y="3569643"/>
            <a:ext cx="147706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품질 최상 / API 종속적</a:t>
            </a:r>
            <a:endParaRPr lang="en-US" sz="600" dirty="0"/>
          </a:p>
        </p:txBody>
      </p:sp>
      <p:sp>
        <p:nvSpPr>
          <p:cNvPr id="42" name="Text 40"/>
          <p:cNvSpPr/>
          <p:nvPr/>
        </p:nvSpPr>
        <p:spPr>
          <a:xfrm>
            <a:off x="6727627" y="1599902"/>
            <a:ext cx="1822698" cy="2217241"/>
          </a:xfrm>
          <a:prstGeom prst="roundRect">
            <a:avLst>
              <a:gd name="adj" fmla="val 2787"/>
            </a:avLst>
          </a:prstGeom>
          <a:solidFill>
            <a:srgbClr val="0D1117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6838652" y="1710928"/>
            <a:ext cx="163265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 / GLM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6838652" y="1856929"/>
            <a:ext cx="1632659" cy="106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클라이언트사이드 compaction</a:t>
            </a:r>
            <a:endParaRPr lang="en-US" sz="600" dirty="0"/>
          </a:p>
        </p:txBody>
      </p:sp>
      <p:sp>
        <p:nvSpPr>
          <p:cNvPr id="45" name="Text 43"/>
          <p:cNvSpPr/>
          <p:nvPr/>
        </p:nvSpPr>
        <p:spPr>
          <a:xfrm>
            <a:off x="6838652" y="2014240"/>
            <a:ext cx="1632659" cy="98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80"/>
              </a:lnSpc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요약 기반 압축. 80% 도달 시 직접 요약 삽입.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6838652" y="3518892"/>
            <a:ext cx="1600646" cy="187226"/>
          </a:xfrm>
          <a:prstGeom prst="roundRect">
            <a:avLst>
              <a:gd name="adj" fmla="val 20350"/>
            </a:avLst>
          </a:prstGeom>
          <a:solidFill>
            <a:srgbClr val="1A150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6914852" y="3569643"/>
            <a:ext cx="147721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범용적 / lossy 손실 있음</a:t>
            </a:r>
            <a:endParaRPr lang="en-US" sz="600" dirty="0"/>
          </a:p>
        </p:txBody>
      </p:sp>
      <p:sp>
        <p:nvSpPr>
          <p:cNvPr id="48" name="Text 46"/>
          <p:cNvSpPr/>
          <p:nvPr/>
        </p:nvSpPr>
        <p:spPr>
          <a:xfrm>
            <a:off x="4841677" y="3880545"/>
            <a:ext cx="3708648" cy="323552"/>
          </a:xfrm>
          <a:prstGeom prst="roundRect">
            <a:avLst>
              <a:gd name="adj" fmla="val 15701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4943177" y="3943945"/>
            <a:ext cx="357575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context_action.py hook이 프로바이더를 감지하여 전략을 자동 선택합니다.</a:t>
            </a:r>
            <a:endParaRPr lang="en-US" sz="600" dirty="0"/>
          </a:p>
        </p:txBody>
      </p:sp>
      <p:sp>
        <p:nvSpPr>
          <p:cNvPr id="50" name="Text 48"/>
          <p:cNvSpPr/>
          <p:nvPr/>
        </p:nvSpPr>
        <p:spPr>
          <a:xfrm>
            <a:off x="4943177" y="4054971"/>
            <a:ext cx="357575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18C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context_action.py → provider_strategy()</a:t>
            </a:r>
            <a:endParaRPr lang="en-US" sz="600" dirty="0"/>
          </a:p>
        </p:txBody>
      </p:sp>
      <p:sp>
        <p:nvSpPr>
          <p:cNvPr id="51" name="Text 49"/>
          <p:cNvSpPr/>
          <p:nvPr/>
        </p:nvSpPr>
        <p:spPr>
          <a:xfrm>
            <a:off x="457200" y="4391323"/>
            <a:ext cx="8229600" cy="501551"/>
          </a:xfrm>
          <a:prstGeom prst="roundRect">
            <a:avLst>
              <a:gd name="adj" fmla="val 15193"/>
            </a:avLst>
          </a:prstGeom>
          <a:solidFill>
            <a:srgbClr val="1E293B"/>
          </a:solidFill>
          <a:ln w="9525">
            <a:solidFill>
              <a:srgbClr val="8B949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644426" y="4489698"/>
            <a:ext cx="50750" cy="304800"/>
          </a:xfrm>
          <a:prstGeom prst="roundRect">
            <a:avLst>
              <a:gd name="adj" fmla="val 50049"/>
            </a:avLst>
          </a:prstGeom>
          <a:solidFill>
            <a:srgbClr val="8B949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822127" y="4589711"/>
            <a:ext cx="693322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</a:t>
            </a:r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서버사이드 compaction은 API 종속적이지만 품질 최상. 클라이언트는 범용적이지만 lossy. Plan-first는 자율성을 일부 제한하지만 잘못된 방향의 50 rounds 낭비를 사전 차단합니다.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457200" y="4956274"/>
            <a:ext cx="235904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core/context/context_action.py · core/orchestration/plan_manager.py</a:t>
            </a:r>
            <a:endParaRPr lang="en-US" sz="600" dirty="0"/>
          </a:p>
        </p:txBody>
      </p:sp>
      <p:sp>
        <p:nvSpPr>
          <p:cNvPr id="55" name="Text 53"/>
          <p:cNvSpPr/>
          <p:nvPr/>
        </p:nvSpPr>
        <p:spPr>
          <a:xfrm>
            <a:off x="8453735" y="4956274"/>
            <a:ext cx="23772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/ 34</a:t>
            </a:r>
            <a:endParaRPr lang="en-US" sz="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58800"/>
            <a:ext cx="50750" cy="177701"/>
          </a:xfrm>
          <a:prstGeom prst="roundRect">
            <a:avLst>
              <a:gd name="adj" fmla="val 50049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80975"/>
            <a:ext cx="193809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 · SCHEDULER + GATEWAY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970937" y="152400"/>
            <a:ext cx="715863" cy="190500"/>
          </a:xfrm>
          <a:prstGeom prst="roundRect">
            <a:avLst>
              <a:gd name="adj" fmla="val 26667"/>
            </a:avLst>
          </a:prstGeom>
          <a:solidFill>
            <a:srgbClr val="0A1A1A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8081962" y="200025"/>
            <a:ext cx="50368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SLIDE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393650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Scheduler + Gateway: 시간 기반 자율 실행과 채널 라우팅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660350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Cron 세션 격리로 메인 대화 오염 방지 · 채널 무관 단일 세션 관리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860375"/>
            <a:ext cx="50750" cy="152400"/>
          </a:xfrm>
          <a:prstGeom prst="roundRect">
            <a:avLst>
              <a:gd name="adj" fmla="val 50049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84150" y="874663"/>
            <a:ext cx="146491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Scheduler — 시간 기반 자율 실행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457200" y="1088975"/>
            <a:ext cx="3981450" cy="939701"/>
          </a:xfrm>
          <a:prstGeom prst="roundRect">
            <a:avLst>
              <a:gd name="adj" fmla="val 8109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581025" y="1212800"/>
            <a:ext cx="179418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스케줄 유형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707975" y="1368326"/>
            <a:ext cx="1632049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</a:t>
            </a:r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특정 시각 1회 실행</a:t>
            </a:r>
            <a:endParaRPr lang="en-US" sz="700" dirty="0"/>
          </a:p>
          <a:p>
            <a:pPr algn="l" marL="342900" indent="-342900">
              <a:buSzPct val="100000"/>
              <a:buChar char="•"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</a:t>
            </a:r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간격 반복 실행</a:t>
            </a:r>
            <a:endParaRPr lang="en-US" sz="700" dirty="0"/>
          </a:p>
          <a:p>
            <a:pPr algn="l" marL="342900" indent="-342900">
              <a:buSzPct val="100000"/>
              <a:buChar char="•"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CRON</a:t>
            </a:r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cron 표현식 실행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581025" y="1733401"/>
            <a:ext cx="179418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NL Parser: "매일 오전 9시에 리포트 생성" → AT/EVERY/CRON으로 파싱</a:t>
            </a:r>
            <a:endParaRPr lang="en-US" sz="600" dirty="0"/>
          </a:p>
        </p:txBody>
      </p:sp>
      <p:sp>
        <p:nvSpPr>
          <p:cNvPr id="14" name="Text 12"/>
          <p:cNvSpPr/>
          <p:nvPr/>
        </p:nvSpPr>
        <p:spPr>
          <a:xfrm>
            <a:off x="2441525" y="1212800"/>
            <a:ext cx="12650" cy="692051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2555677" y="1212800"/>
            <a:ext cx="179433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실행 흐름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2555677" y="1368326"/>
            <a:ext cx="1794331" cy="319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NL 파싱 → action_queue 등록 → 트리거 시각 도달 → AgenticLoop 위임. 큐 관리로 동시 실행 충돌을 방지합니다.</a:t>
            </a:r>
            <a:endParaRPr lang="en-US" sz="600" dirty="0"/>
          </a:p>
        </p:txBody>
      </p:sp>
      <p:sp>
        <p:nvSpPr>
          <p:cNvPr id="17" name="Text 15"/>
          <p:cNvSpPr/>
          <p:nvPr/>
        </p:nvSpPr>
        <p:spPr>
          <a:xfrm>
            <a:off x="2555677" y="1738759"/>
            <a:ext cx="179433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600" dirty="0">
                <a:solidFill>
                  <a:srgbClr val="4ECD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action_queue → AgenticLoop</a:t>
            </a:r>
            <a:endParaRPr lang="en-US" sz="600" dirty="0"/>
          </a:p>
        </p:txBody>
      </p:sp>
      <p:sp>
        <p:nvSpPr>
          <p:cNvPr id="18" name="Text 16"/>
          <p:cNvSpPr/>
          <p:nvPr/>
        </p:nvSpPr>
        <p:spPr>
          <a:xfrm>
            <a:off x="457200" y="2104876"/>
            <a:ext cx="3981450" cy="980629"/>
          </a:xfrm>
          <a:prstGeom prst="roundRect">
            <a:avLst>
              <a:gd name="adj" fmla="val 7771"/>
            </a:avLst>
          </a:prstGeom>
          <a:solidFill>
            <a:srgbClr val="0A1A1A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581025" y="2255639"/>
            <a:ext cx="50750" cy="50750"/>
          </a:xfrm>
          <a:prstGeom prst="roundRect">
            <a:avLst>
              <a:gd name="adj" fmla="val 1801773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707975" y="2228701"/>
            <a:ext cx="124798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Cron 세션 격리 (isolated=True)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581025" y="2488853"/>
            <a:ext cx="1092101" cy="231577"/>
          </a:xfrm>
          <a:prstGeom prst="roundRect">
            <a:avLst>
              <a:gd name="adj" fmla="val 21937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670447" y="2561779"/>
            <a:ext cx="91325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Cron 트리거</a:t>
            </a:r>
            <a:endParaRPr lang="en-US" sz="600" dirty="0"/>
          </a:p>
        </p:txBody>
      </p:sp>
      <p:sp>
        <p:nvSpPr>
          <p:cNvPr id="23" name="Text 21"/>
          <p:cNvSpPr/>
          <p:nvPr/>
        </p:nvSpPr>
        <p:spPr>
          <a:xfrm>
            <a:off x="1723876" y="2533204"/>
            <a:ext cx="129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901726" y="2396877"/>
            <a:ext cx="1092250" cy="415677"/>
          </a:xfrm>
          <a:prstGeom prst="roundRect">
            <a:avLst>
              <a:gd name="adj" fmla="val 12221"/>
            </a:avLst>
          </a:prstGeom>
          <a:solidFill>
            <a:srgbClr val="0D1117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1991146" y="2469803"/>
            <a:ext cx="91340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fresh ConversationContext</a:t>
            </a:r>
            <a:endParaRPr lang="en-US" sz="600" dirty="0"/>
          </a:p>
        </p:txBody>
      </p:sp>
      <p:sp>
        <p:nvSpPr>
          <p:cNvPr id="26" name="Text 24"/>
          <p:cNvSpPr/>
          <p:nvPr/>
        </p:nvSpPr>
        <p:spPr>
          <a:xfrm>
            <a:off x="1991146" y="2653903"/>
            <a:ext cx="91340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isolated=True</a:t>
            </a:r>
            <a:endParaRPr lang="en-US" sz="600" dirty="0"/>
          </a:p>
        </p:txBody>
      </p:sp>
      <p:sp>
        <p:nvSpPr>
          <p:cNvPr id="27" name="Text 25"/>
          <p:cNvSpPr/>
          <p:nvPr/>
        </p:nvSpPr>
        <p:spPr>
          <a:xfrm>
            <a:off x="3044726" y="2533204"/>
            <a:ext cx="129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222575" y="2439739"/>
            <a:ext cx="1092250" cy="329952"/>
          </a:xfrm>
          <a:prstGeom prst="roundRect">
            <a:avLst>
              <a:gd name="adj" fmla="val 15396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3311996" y="2512665"/>
            <a:ext cx="91340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AgenticLoop</a:t>
            </a:r>
            <a:endParaRPr lang="en-US" sz="600" dirty="0"/>
          </a:p>
        </p:txBody>
      </p:sp>
      <p:sp>
        <p:nvSpPr>
          <p:cNvPr id="30" name="Text 28"/>
          <p:cNvSpPr/>
          <p:nvPr/>
        </p:nvSpPr>
        <p:spPr>
          <a:xfrm>
            <a:off x="3311996" y="2611041"/>
            <a:ext cx="91340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독립 실행</a:t>
            </a:r>
            <a:endParaRPr lang="en-US" sz="600" dirty="0"/>
          </a:p>
        </p:txBody>
      </p:sp>
      <p:sp>
        <p:nvSpPr>
          <p:cNvPr id="31" name="Text 29"/>
          <p:cNvSpPr/>
          <p:nvPr/>
        </p:nvSpPr>
        <p:spPr>
          <a:xfrm>
            <a:off x="581025" y="2875955"/>
            <a:ext cx="380847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격리 기본값 — 메인 대화 컨텍스트를 오염시키지 않습니다. systemEvent로 메인에 결과 주입도 가능합니다.</a:t>
            </a:r>
            <a:endParaRPr lang="en-US" sz="600" dirty="0"/>
          </a:p>
        </p:txBody>
      </p:sp>
      <p:sp>
        <p:nvSpPr>
          <p:cNvPr id="32" name="Text 30"/>
          <p:cNvSpPr/>
          <p:nvPr/>
        </p:nvSpPr>
        <p:spPr>
          <a:xfrm>
            <a:off x="4565600" y="860375"/>
            <a:ext cx="12650" cy="3480197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4705201" y="860375"/>
            <a:ext cx="50750" cy="152400"/>
          </a:xfrm>
          <a:prstGeom prst="roundRect">
            <a:avLst>
              <a:gd name="adj" fmla="val 50049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4832152" y="874663"/>
            <a:ext cx="127182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Gateway — 채널 무관 라우팅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4705201" y="1088975"/>
            <a:ext cx="3981599" cy="3251597"/>
          </a:xfrm>
          <a:prstGeom prst="roundRect">
            <a:avLst>
              <a:gd name="adj" fmla="val 2343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4829026" y="1212800"/>
            <a:ext cx="885825" cy="339477"/>
          </a:xfrm>
          <a:prstGeom prst="roundRect">
            <a:avLst>
              <a:gd name="adj" fmla="val 14964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4894552" y="1285726"/>
            <a:ext cx="75477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Discord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4894552" y="1393627"/>
            <a:ext cx="75477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메시지 이벤트</a:t>
            </a:r>
            <a:endParaRPr lang="en-US" sz="600" dirty="0"/>
          </a:p>
        </p:txBody>
      </p:sp>
      <p:sp>
        <p:nvSpPr>
          <p:cNvPr id="39" name="Text 37"/>
          <p:cNvSpPr/>
          <p:nvPr/>
        </p:nvSpPr>
        <p:spPr>
          <a:xfrm>
            <a:off x="5778252" y="1212800"/>
            <a:ext cx="885974" cy="339477"/>
          </a:xfrm>
          <a:prstGeom prst="roundRect">
            <a:avLst>
              <a:gd name="adj" fmla="val 14964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5843777" y="1285726"/>
            <a:ext cx="75492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Slack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5843777" y="1393627"/>
            <a:ext cx="75492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채널 알림</a:t>
            </a:r>
            <a:endParaRPr lang="en-US" sz="600" dirty="0"/>
          </a:p>
        </p:txBody>
      </p:sp>
      <p:sp>
        <p:nvSpPr>
          <p:cNvPr id="42" name="Text 40"/>
          <p:cNvSpPr/>
          <p:nvPr/>
        </p:nvSpPr>
        <p:spPr>
          <a:xfrm>
            <a:off x="6727627" y="1212800"/>
            <a:ext cx="885974" cy="339477"/>
          </a:xfrm>
          <a:prstGeom prst="roundRect">
            <a:avLst>
              <a:gd name="adj" fmla="val 14964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6793151" y="1285726"/>
            <a:ext cx="75492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6793151" y="1393627"/>
            <a:ext cx="75492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직접 입력</a:t>
            </a:r>
            <a:endParaRPr lang="en-US" sz="600" dirty="0"/>
          </a:p>
        </p:txBody>
      </p:sp>
      <p:sp>
        <p:nvSpPr>
          <p:cNvPr id="45" name="Text 43"/>
          <p:cNvSpPr/>
          <p:nvPr/>
        </p:nvSpPr>
        <p:spPr>
          <a:xfrm>
            <a:off x="7677001" y="1212800"/>
            <a:ext cx="885974" cy="339477"/>
          </a:xfrm>
          <a:prstGeom prst="roundRect">
            <a:avLst>
              <a:gd name="adj" fmla="val 14964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7742526" y="1285726"/>
            <a:ext cx="75492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7742526" y="1393627"/>
            <a:ext cx="75492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외부 API</a:t>
            </a:r>
            <a:endParaRPr lang="en-US" sz="600" dirty="0"/>
          </a:p>
        </p:txBody>
      </p:sp>
      <p:sp>
        <p:nvSpPr>
          <p:cNvPr id="48" name="Text 46"/>
          <p:cNvSpPr/>
          <p:nvPr/>
        </p:nvSpPr>
        <p:spPr>
          <a:xfrm>
            <a:off x="4791687" y="1615678"/>
            <a:ext cx="380862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4829026" y="1821954"/>
            <a:ext cx="3733949" cy="377726"/>
          </a:xfrm>
          <a:prstGeom prst="roundRect">
            <a:avLst>
              <a:gd name="adj" fmla="val 13449"/>
            </a:avLst>
          </a:prstGeom>
          <a:solidFill>
            <a:srgbClr val="1A1A2E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Text 48"/>
          <p:cNvSpPr/>
          <p:nvPr/>
        </p:nvSpPr>
        <p:spPr>
          <a:xfrm>
            <a:off x="4917988" y="1907679"/>
            <a:ext cx="355602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ChannelBinding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4917988" y="2028230"/>
            <a:ext cx="355602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채널별 어댑터 → 표준 메시지 변환</a:t>
            </a:r>
            <a:endParaRPr lang="en-US" sz="600" dirty="0"/>
          </a:p>
        </p:txBody>
      </p:sp>
      <p:sp>
        <p:nvSpPr>
          <p:cNvPr id="52" name="Text 50"/>
          <p:cNvSpPr/>
          <p:nvPr/>
        </p:nvSpPr>
        <p:spPr>
          <a:xfrm>
            <a:off x="4791687" y="2263080"/>
            <a:ext cx="380862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4829026" y="2469356"/>
            <a:ext cx="1835200" cy="368201"/>
          </a:xfrm>
          <a:prstGeom prst="roundRect">
            <a:avLst>
              <a:gd name="adj" fmla="val 13797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Text 52"/>
          <p:cNvSpPr/>
          <p:nvPr/>
        </p:nvSpPr>
        <p:spPr>
          <a:xfrm>
            <a:off x="4940052" y="2555081"/>
            <a:ext cx="164541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key</a:t>
            </a:r>
            <a:endParaRPr lang="en-US" sz="600" dirty="0"/>
          </a:p>
        </p:txBody>
      </p:sp>
      <p:sp>
        <p:nvSpPr>
          <p:cNvPr id="55" name="Text 53"/>
          <p:cNvSpPr/>
          <p:nvPr/>
        </p:nvSpPr>
        <p:spPr>
          <a:xfrm>
            <a:off x="4940052" y="2666107"/>
            <a:ext cx="164541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채널:사용자 조합으로 세션 식별</a:t>
            </a:r>
            <a:endParaRPr lang="en-US" sz="600" dirty="0"/>
          </a:p>
        </p:txBody>
      </p:sp>
      <p:sp>
        <p:nvSpPr>
          <p:cNvPr id="56" name="Text 54"/>
          <p:cNvSpPr/>
          <p:nvPr/>
        </p:nvSpPr>
        <p:spPr>
          <a:xfrm>
            <a:off x="6727627" y="2469356"/>
            <a:ext cx="1835348" cy="368201"/>
          </a:xfrm>
          <a:prstGeom prst="roundRect">
            <a:avLst>
              <a:gd name="adj" fmla="val 13797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6838652" y="2555081"/>
            <a:ext cx="164556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LaneQueue</a:t>
            </a:r>
            <a:endParaRPr lang="en-US" sz="600" dirty="0"/>
          </a:p>
        </p:txBody>
      </p:sp>
      <p:sp>
        <p:nvSpPr>
          <p:cNvPr id="58" name="Text 56"/>
          <p:cNvSpPr/>
          <p:nvPr/>
        </p:nvSpPr>
        <p:spPr>
          <a:xfrm>
            <a:off x="6838652" y="2666107"/>
            <a:ext cx="164556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채널 간 처리 순서 보장</a:t>
            </a:r>
            <a:endParaRPr lang="en-US" sz="600" dirty="0"/>
          </a:p>
        </p:txBody>
      </p:sp>
      <p:sp>
        <p:nvSpPr>
          <p:cNvPr id="59" name="Text 57"/>
          <p:cNvSpPr/>
          <p:nvPr/>
        </p:nvSpPr>
        <p:spPr>
          <a:xfrm>
            <a:off x="4791687" y="2900958"/>
            <a:ext cx="380862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4829026" y="3107234"/>
            <a:ext cx="3733949" cy="377726"/>
          </a:xfrm>
          <a:prstGeom prst="roundRect">
            <a:avLst>
              <a:gd name="adj" fmla="val 13449"/>
            </a:avLst>
          </a:prstGeom>
          <a:solidFill>
            <a:srgbClr val="0A1A1A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Text 59"/>
          <p:cNvSpPr/>
          <p:nvPr/>
        </p:nvSpPr>
        <p:spPr>
          <a:xfrm>
            <a:off x="4917988" y="3192959"/>
            <a:ext cx="355602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serve</a:t>
            </a:r>
            <a:endParaRPr lang="en-US" sz="700" dirty="0"/>
          </a:p>
        </p:txBody>
      </p:sp>
      <p:sp>
        <p:nvSpPr>
          <p:cNvPr id="62" name="Text 60"/>
          <p:cNvSpPr/>
          <p:nvPr/>
        </p:nvSpPr>
        <p:spPr>
          <a:xfrm>
            <a:off x="4917988" y="3313509"/>
            <a:ext cx="355602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AgenticLoop 단일 진입점 — 채널 추가 시 어댑터 1개만 구현하면 됩니다</a:t>
            </a:r>
            <a:endParaRPr lang="en-US" sz="600" dirty="0"/>
          </a:p>
        </p:txBody>
      </p:sp>
      <p:sp>
        <p:nvSpPr>
          <p:cNvPr id="63" name="Text 61"/>
          <p:cNvSpPr/>
          <p:nvPr/>
        </p:nvSpPr>
        <p:spPr>
          <a:xfrm>
            <a:off x="457200" y="4391323"/>
            <a:ext cx="8229600" cy="501551"/>
          </a:xfrm>
          <a:prstGeom prst="roundRect">
            <a:avLst>
              <a:gd name="adj" fmla="val 15193"/>
            </a:avLst>
          </a:prstGeom>
          <a:solidFill>
            <a:srgbClr val="1E293B"/>
          </a:solidFill>
          <a:ln w="9525">
            <a:solidFill>
              <a:srgbClr val="8B949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4" name="Text 62"/>
          <p:cNvSpPr/>
          <p:nvPr/>
        </p:nvSpPr>
        <p:spPr>
          <a:xfrm>
            <a:off x="644426" y="4489698"/>
            <a:ext cx="50750" cy="304800"/>
          </a:xfrm>
          <a:prstGeom prst="roundRect">
            <a:avLst>
              <a:gd name="adj" fmla="val 50049"/>
            </a:avLst>
          </a:prstGeom>
          <a:solidFill>
            <a:srgbClr val="8B949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822127" y="4589711"/>
            <a:ext cx="685701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</a:t>
            </a:r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Cron은 격리가 기본 — 메인 대화 오염 방지. 단, systemEvent로 메인 주입도 가능하여 격리와 연계를 선택할 수 있습니다. Gateway는 채널 추가 시 어댑터 1개만 구현하면 됩니다.</a:t>
            </a:r>
            <a:endParaRPr lang="en-US" sz="700" dirty="0"/>
          </a:p>
        </p:txBody>
      </p:sp>
      <p:sp>
        <p:nvSpPr>
          <p:cNvPr id="66" name="Text 64"/>
          <p:cNvSpPr/>
          <p:nvPr/>
        </p:nvSpPr>
        <p:spPr>
          <a:xfrm>
            <a:off x="457200" y="4956274"/>
            <a:ext cx="266477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core/scheduler/ · core/gateway/ · isolated=True → fresh ConversationContext</a:t>
            </a:r>
            <a:endParaRPr lang="en-US" sz="600" dirty="0"/>
          </a:p>
        </p:txBody>
      </p:sp>
      <p:sp>
        <p:nvSpPr>
          <p:cNvPr id="67" name="Text 65"/>
          <p:cNvSpPr/>
          <p:nvPr/>
        </p:nvSpPr>
        <p:spPr>
          <a:xfrm>
            <a:off x="8453735" y="4956274"/>
            <a:ext cx="23772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/ 34</a:t>
            </a:r>
            <a:endParaRPr lang="en-US" sz="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1430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44363"/>
            <a:ext cx="166833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HE-1 DEEP DIVE — 실행 흐름 ①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55550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 Dispatch: LLM tool_use → ToolExecutor 단일 진입점 → 4-Route 분기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22250"/>
            <a:ext cx="839419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LLM이 tool_use 블록을 반환하는 순간, 모든 실행 경로는 ToolExecutor 하나로 수렴한다.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790426"/>
            <a:ext cx="5486400" cy="1501378"/>
          </a:xfrm>
          <a:prstGeom prst="roundRect">
            <a:avLst>
              <a:gd name="adj" fmla="val 3384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06326" y="901452"/>
            <a:ext cx="529191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DISPATCH FLOW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06326" y="1079153"/>
            <a:ext cx="1396901" cy="345877"/>
          </a:xfrm>
          <a:prstGeom prst="roundRect">
            <a:avLst>
              <a:gd name="adj" fmla="val 14687"/>
            </a:avLst>
          </a:prstGeom>
          <a:solidFill>
            <a:srgbClr val="1E293B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731562" y="1152079"/>
            <a:ext cx="114642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731562" y="1266379"/>
            <a:ext cx="114642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tool_use 반환</a:t>
            </a:r>
            <a:endParaRPr lang="en-US" sz="600" dirty="0"/>
          </a:p>
        </p:txBody>
      </p:sp>
      <p:sp>
        <p:nvSpPr>
          <p:cNvPr id="11" name="Text 9"/>
          <p:cNvSpPr/>
          <p:nvPr/>
        </p:nvSpPr>
        <p:spPr>
          <a:xfrm>
            <a:off x="2079427" y="1180654"/>
            <a:ext cx="129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282726" y="1079153"/>
            <a:ext cx="3511748" cy="345877"/>
          </a:xfrm>
          <a:prstGeom prst="roundRect">
            <a:avLst>
              <a:gd name="adj" fmla="val 14687"/>
            </a:avLst>
          </a:prstGeom>
          <a:solidFill>
            <a:srgbClr val="4ECDC4">
              <a:alpha val="12000"/>
            </a:srgbClr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2386813" y="1152079"/>
            <a:ext cx="330357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ToolExecutor.execute()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2386813" y="1266379"/>
            <a:ext cx="330357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단일 진입점 — 모든 도구 디스패치</a:t>
            </a:r>
            <a:endParaRPr lang="en-US" sz="600" dirty="0"/>
          </a:p>
        </p:txBody>
      </p:sp>
      <p:sp>
        <p:nvSpPr>
          <p:cNvPr id="15" name="Text 13"/>
          <p:cNvSpPr/>
          <p:nvPr/>
        </p:nvSpPr>
        <p:spPr>
          <a:xfrm>
            <a:off x="554444" y="1488430"/>
            <a:ext cx="529191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도구 유형 판별 → 4경로 분기</a:t>
            </a:r>
            <a:endParaRPr lang="en-US" sz="600" dirty="0"/>
          </a:p>
        </p:txBody>
      </p:sp>
      <p:sp>
        <p:nvSpPr>
          <p:cNvPr id="16" name="Text 14"/>
          <p:cNvSpPr/>
          <p:nvPr/>
        </p:nvSpPr>
        <p:spPr>
          <a:xfrm>
            <a:off x="606326" y="1637556"/>
            <a:ext cx="1249412" cy="543223"/>
          </a:xfrm>
          <a:prstGeom prst="roundRect">
            <a:avLst>
              <a:gd name="adj" fmla="val 9352"/>
            </a:avLst>
          </a:prstGeom>
          <a:solidFill>
            <a:srgbClr val="0D1117"/>
          </a:solidFill>
          <a:ln w="9525">
            <a:solidFill>
              <a:srgbClr val="F9731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81271" y="1735931"/>
            <a:ext cx="109952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Bash Path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692051" y="1869281"/>
            <a:ext cx="1099521" cy="213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spcBef>
                <a:spcPts val="300"/>
              </a:spcBef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run_bash 계열 — 3-layer safety + PolicyChain</a:t>
            </a:r>
            <a:endParaRPr lang="en-US" sz="600" dirty="0"/>
          </a:p>
        </p:txBody>
      </p:sp>
      <p:sp>
        <p:nvSpPr>
          <p:cNvPr id="19" name="Text 17"/>
          <p:cNvSpPr/>
          <p:nvPr/>
        </p:nvSpPr>
        <p:spPr>
          <a:xfrm>
            <a:off x="1919139" y="1637556"/>
            <a:ext cx="1249561" cy="543223"/>
          </a:xfrm>
          <a:prstGeom prst="roundRect">
            <a:avLst>
              <a:gd name="adj" fmla="val 9352"/>
            </a:avLst>
          </a:prstGeom>
          <a:solidFill>
            <a:srgbClr val="0D1117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1994083" y="1735931"/>
            <a:ext cx="109967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Native Tool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2004864" y="1869281"/>
            <a:ext cx="1099673" cy="213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spcBef>
                <a:spcPts val="300"/>
              </a:spcBef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registry 핸들러 매칭 — 52 native tools</a:t>
            </a:r>
            <a:endParaRPr lang="en-US" sz="600" dirty="0"/>
          </a:p>
        </p:txBody>
      </p:sp>
      <p:sp>
        <p:nvSpPr>
          <p:cNvPr id="22" name="Text 20"/>
          <p:cNvSpPr/>
          <p:nvPr/>
        </p:nvSpPr>
        <p:spPr>
          <a:xfrm>
            <a:off x="3232100" y="1637556"/>
            <a:ext cx="1249412" cy="543223"/>
          </a:xfrm>
          <a:prstGeom prst="roundRect">
            <a:avLst>
              <a:gd name="adj" fmla="val 9352"/>
            </a:avLst>
          </a:prstGeom>
          <a:solidFill>
            <a:srgbClr val="0D1117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3307046" y="1735931"/>
            <a:ext cx="109952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Path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3317825" y="1869281"/>
            <a:ext cx="1099521" cy="106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spcBef>
                <a:spcPts val="300"/>
              </a:spcBef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 catalog 서버 auto-discovery</a:t>
            </a:r>
            <a:endParaRPr lang="en-US" sz="600" dirty="0"/>
          </a:p>
        </p:txBody>
      </p:sp>
      <p:sp>
        <p:nvSpPr>
          <p:cNvPr id="25" name="Text 23"/>
          <p:cNvSpPr/>
          <p:nvPr/>
        </p:nvSpPr>
        <p:spPr>
          <a:xfrm>
            <a:off x="4544913" y="1637556"/>
            <a:ext cx="1249561" cy="543223"/>
          </a:xfrm>
          <a:prstGeom prst="roundRect">
            <a:avLst>
              <a:gd name="adj" fmla="val 9352"/>
            </a:avLst>
          </a:prstGeom>
          <a:solidFill>
            <a:srgbClr val="0D1117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4619857" y="1735931"/>
            <a:ext cx="109967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LangGraph DAG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4630638" y="1869281"/>
            <a:ext cx="1099673" cy="213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spcBef>
                <a:spcPts val="300"/>
              </a:spcBef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analyze_ip → 13-task StateGraph 실행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457200" y="2368004"/>
            <a:ext cx="5486400" cy="2569220"/>
          </a:xfrm>
          <a:prstGeom prst="roundRect">
            <a:avLst>
              <a:gd name="adj" fmla="val 1977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606326" y="2479030"/>
            <a:ext cx="529191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5-TIER SAFETY — 2개 이상 tool_use 시 ToolCallProcessor 분류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606326" y="2666256"/>
            <a:ext cx="997000" cy="533846"/>
          </a:xfrm>
          <a:prstGeom prst="roundRect">
            <a:avLst>
              <a:gd name="adj" fmla="val 9516"/>
            </a:avLst>
          </a:prstGeom>
          <a:solidFill>
            <a:srgbClr val="34D399">
              <a:alpha val="12000"/>
            </a:srgbClr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670740" y="2751981"/>
            <a:ext cx="86817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T0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670740" y="2891582"/>
            <a:ext cx="86817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</a:t>
            </a:r>
            <a:endParaRPr lang="en-US" sz="600" dirty="0"/>
          </a:p>
        </p:txBody>
      </p:sp>
      <p:sp>
        <p:nvSpPr>
          <p:cNvPr id="33" name="Text 31"/>
          <p:cNvSpPr/>
          <p:nvPr/>
        </p:nvSpPr>
        <p:spPr>
          <a:xfrm>
            <a:off x="670740" y="3015407"/>
            <a:ext cx="868171" cy="98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780"/>
              </a:lnSpc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asyncio.gather 완전 병렬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1654076" y="2666256"/>
            <a:ext cx="997148" cy="533846"/>
          </a:xfrm>
          <a:prstGeom prst="roundRect">
            <a:avLst>
              <a:gd name="adj" fmla="val 9516"/>
            </a:avLst>
          </a:prstGeom>
          <a:solidFill>
            <a:srgbClr val="4ECDC4">
              <a:alpha val="8000"/>
            </a:srgbClr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1718489" y="2751981"/>
            <a:ext cx="86832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T1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1718489" y="2891582"/>
            <a:ext cx="86832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Auto</a:t>
            </a:r>
            <a:endParaRPr lang="en-US" sz="600" dirty="0"/>
          </a:p>
        </p:txBody>
      </p:sp>
      <p:sp>
        <p:nvSpPr>
          <p:cNvPr id="37" name="Text 35"/>
          <p:cNvSpPr/>
          <p:nvPr/>
        </p:nvSpPr>
        <p:spPr>
          <a:xfrm>
            <a:off x="1718489" y="3015407"/>
            <a:ext cx="868323" cy="98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780"/>
              </a:lnSpc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서버당 1회 자동 승인</a:t>
            </a:r>
            <a:endParaRPr lang="en-US" sz="600" dirty="0"/>
          </a:p>
        </p:txBody>
      </p:sp>
      <p:sp>
        <p:nvSpPr>
          <p:cNvPr id="38" name="Text 36"/>
          <p:cNvSpPr/>
          <p:nvPr/>
        </p:nvSpPr>
        <p:spPr>
          <a:xfrm>
            <a:off x="2701975" y="2666256"/>
            <a:ext cx="997000" cy="533846"/>
          </a:xfrm>
          <a:prstGeom prst="roundRect">
            <a:avLst>
              <a:gd name="adj" fmla="val 9516"/>
            </a:avLst>
          </a:prstGeom>
          <a:solidFill>
            <a:srgbClr val="F5C542">
              <a:alpha val="8000"/>
            </a:srgbClr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2766389" y="2751981"/>
            <a:ext cx="86817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T2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2766389" y="2891582"/>
            <a:ext cx="86817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EXPENSIVE</a:t>
            </a:r>
            <a:endParaRPr lang="en-US" sz="600" dirty="0"/>
          </a:p>
        </p:txBody>
      </p:sp>
      <p:sp>
        <p:nvSpPr>
          <p:cNvPr id="41" name="Text 39"/>
          <p:cNvSpPr/>
          <p:nvPr/>
        </p:nvSpPr>
        <p:spPr>
          <a:xfrm>
            <a:off x="2766389" y="3015407"/>
            <a:ext cx="868171" cy="98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780"/>
              </a:lnSpc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비용 일괄 승인 후 병렬</a:t>
            </a:r>
            <a:endParaRPr lang="en-US" sz="600" dirty="0"/>
          </a:p>
        </p:txBody>
      </p:sp>
      <p:sp>
        <p:nvSpPr>
          <p:cNvPr id="42" name="Text 40"/>
          <p:cNvSpPr/>
          <p:nvPr/>
        </p:nvSpPr>
        <p:spPr>
          <a:xfrm>
            <a:off x="3749725" y="2666256"/>
            <a:ext cx="997000" cy="533846"/>
          </a:xfrm>
          <a:prstGeom prst="roundRect">
            <a:avLst>
              <a:gd name="adj" fmla="val 9516"/>
            </a:avLst>
          </a:prstGeom>
          <a:solidFill>
            <a:srgbClr val="F97316">
              <a:alpha val="8000"/>
            </a:srgbClr>
          </a:solidFill>
          <a:ln w="9525">
            <a:solidFill>
              <a:srgbClr val="F9731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3814139" y="2751981"/>
            <a:ext cx="86817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T3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3814139" y="2891582"/>
            <a:ext cx="86817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</a:t>
            </a:r>
            <a:endParaRPr lang="en-US" sz="600" dirty="0"/>
          </a:p>
        </p:txBody>
      </p:sp>
      <p:sp>
        <p:nvSpPr>
          <p:cNvPr id="45" name="Text 43"/>
          <p:cNvSpPr/>
          <p:nvPr/>
        </p:nvSpPr>
        <p:spPr>
          <a:xfrm>
            <a:off x="3814139" y="3015407"/>
            <a:ext cx="868171" cy="98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780"/>
              </a:lnSpc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개별 HITL 승인 순차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4797475" y="2666256"/>
            <a:ext cx="997000" cy="533846"/>
          </a:xfrm>
          <a:prstGeom prst="roundRect">
            <a:avLst>
              <a:gd name="adj" fmla="val 9516"/>
            </a:avLst>
          </a:prstGeom>
          <a:solidFill>
            <a:srgbClr val="EF4444">
              <a:alpha val="8000"/>
            </a:srgbClr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4861889" y="2751981"/>
            <a:ext cx="86817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T4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4861889" y="2891582"/>
            <a:ext cx="86817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DANGEROUS</a:t>
            </a:r>
            <a:endParaRPr lang="en-US" sz="600" dirty="0"/>
          </a:p>
        </p:txBody>
      </p:sp>
      <p:sp>
        <p:nvSpPr>
          <p:cNvPr id="49" name="Text 47"/>
          <p:cNvSpPr/>
          <p:nvPr/>
        </p:nvSpPr>
        <p:spPr>
          <a:xfrm>
            <a:off x="4861889" y="3015407"/>
            <a:ext cx="868171" cy="98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780"/>
              </a:lnSpc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차단 + 사용자 에스컬레이션</a:t>
            </a:r>
            <a:endParaRPr lang="en-US" sz="600" dirty="0"/>
          </a:p>
        </p:txBody>
      </p:sp>
      <p:sp>
        <p:nvSpPr>
          <p:cNvPr id="50" name="Text 48"/>
          <p:cNvSpPr/>
          <p:nvPr/>
        </p:nvSpPr>
        <p:spPr>
          <a:xfrm>
            <a:off x="6057900" y="790426"/>
            <a:ext cx="2628900" cy="1425029"/>
          </a:xfrm>
          <a:prstGeom prst="roundRect">
            <a:avLst>
              <a:gd name="adj" fmla="val 3565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Text 49"/>
          <p:cNvSpPr/>
          <p:nvPr/>
        </p:nvSpPr>
        <p:spPr>
          <a:xfrm>
            <a:off x="6207026" y="901452"/>
            <a:ext cx="23772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8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 Recovery Chain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6207026" y="1079153"/>
            <a:ext cx="237726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연속 2회 실패 → 자동 복구 체인</a:t>
            </a:r>
            <a:endParaRPr lang="en-US" sz="600" dirty="0"/>
          </a:p>
        </p:txBody>
      </p:sp>
      <p:sp>
        <p:nvSpPr>
          <p:cNvPr id="53" name="Text 51"/>
          <p:cNvSpPr/>
          <p:nvPr/>
        </p:nvSpPr>
        <p:spPr>
          <a:xfrm>
            <a:off x="6207026" y="1228279"/>
            <a:ext cx="698450" cy="180975"/>
          </a:xfrm>
          <a:prstGeom prst="roundRect">
            <a:avLst>
              <a:gd name="adj" fmla="val 21053"/>
            </a:avLst>
          </a:prstGeom>
          <a:solidFill>
            <a:srgbClr val="34D399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Text 52"/>
          <p:cNvSpPr/>
          <p:nvPr/>
        </p:nvSpPr>
        <p:spPr>
          <a:xfrm>
            <a:off x="6290669" y="1266379"/>
            <a:ext cx="53116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Retry</a:t>
            </a:r>
            <a:endParaRPr lang="en-US" sz="700" dirty="0"/>
          </a:p>
        </p:txBody>
      </p:sp>
      <p:sp>
        <p:nvSpPr>
          <p:cNvPr id="55" name="Text 53"/>
          <p:cNvSpPr/>
          <p:nvPr/>
        </p:nvSpPr>
        <p:spPr>
          <a:xfrm>
            <a:off x="6994327" y="1266379"/>
            <a:ext cx="103606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1s backoff 동일 도구 재시도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6207026" y="1460004"/>
            <a:ext cx="698450" cy="180975"/>
          </a:xfrm>
          <a:prstGeom prst="roundRect">
            <a:avLst>
              <a:gd name="adj" fmla="val 21053"/>
            </a:avLst>
          </a:prstGeom>
          <a:solidFill>
            <a:srgbClr val="4ECDC4">
              <a:alpha val="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6290669" y="1498104"/>
            <a:ext cx="53116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Alt Tool</a:t>
            </a:r>
            <a:endParaRPr lang="en-US" sz="700" dirty="0"/>
          </a:p>
        </p:txBody>
      </p:sp>
      <p:sp>
        <p:nvSpPr>
          <p:cNvPr id="58" name="Text 56"/>
          <p:cNvSpPr/>
          <p:nvPr/>
        </p:nvSpPr>
        <p:spPr>
          <a:xfrm>
            <a:off x="6994327" y="1498104"/>
            <a:ext cx="85967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동일 카테고리 대체 도구</a:t>
            </a:r>
            <a:endParaRPr lang="en-US" sz="700" dirty="0"/>
          </a:p>
        </p:txBody>
      </p:sp>
      <p:sp>
        <p:nvSpPr>
          <p:cNvPr id="59" name="Text 57"/>
          <p:cNvSpPr/>
          <p:nvPr/>
        </p:nvSpPr>
        <p:spPr>
          <a:xfrm>
            <a:off x="6207026" y="1691729"/>
            <a:ext cx="698450" cy="180975"/>
          </a:xfrm>
          <a:prstGeom prst="roundRect">
            <a:avLst>
              <a:gd name="adj" fmla="val 21053"/>
            </a:avLst>
          </a:prstGeom>
          <a:solidFill>
            <a:srgbClr val="F5C542">
              <a:alpha val="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6290669" y="1729829"/>
            <a:ext cx="53116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Fallback</a:t>
            </a:r>
            <a:endParaRPr lang="en-US" sz="700" dirty="0"/>
          </a:p>
        </p:txBody>
      </p:sp>
      <p:sp>
        <p:nvSpPr>
          <p:cNvPr id="61" name="Text 59"/>
          <p:cNvSpPr/>
          <p:nvPr/>
        </p:nvSpPr>
        <p:spPr>
          <a:xfrm>
            <a:off x="6994327" y="1729829"/>
            <a:ext cx="78133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더 저렴한 도구로 강등</a:t>
            </a:r>
            <a:endParaRPr lang="en-US" sz="700" dirty="0"/>
          </a:p>
        </p:txBody>
      </p:sp>
      <p:sp>
        <p:nvSpPr>
          <p:cNvPr id="62" name="Text 60"/>
          <p:cNvSpPr/>
          <p:nvPr/>
        </p:nvSpPr>
        <p:spPr>
          <a:xfrm>
            <a:off x="6207026" y="1923455"/>
            <a:ext cx="698450" cy="180975"/>
          </a:xfrm>
          <a:prstGeom prst="roundRect">
            <a:avLst>
              <a:gd name="adj" fmla="val 21053"/>
            </a:avLst>
          </a:prstGeom>
          <a:solidFill>
            <a:srgbClr val="EF4444">
              <a:alpha val="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Text 61"/>
          <p:cNvSpPr/>
          <p:nvPr/>
        </p:nvSpPr>
        <p:spPr>
          <a:xfrm>
            <a:off x="6290669" y="1961555"/>
            <a:ext cx="53116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Escalate</a:t>
            </a:r>
            <a:endParaRPr lang="en-US" sz="700" dirty="0"/>
          </a:p>
        </p:txBody>
      </p:sp>
      <p:sp>
        <p:nvSpPr>
          <p:cNvPr id="64" name="Text 62"/>
          <p:cNvSpPr/>
          <p:nvPr/>
        </p:nvSpPr>
        <p:spPr>
          <a:xfrm>
            <a:off x="6994327" y="1961555"/>
            <a:ext cx="73094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사용자 에스컬레이션</a:t>
            </a:r>
            <a:endParaRPr lang="en-US" sz="700" dirty="0"/>
          </a:p>
        </p:txBody>
      </p:sp>
      <p:sp>
        <p:nvSpPr>
          <p:cNvPr id="65" name="Text 63"/>
          <p:cNvSpPr/>
          <p:nvPr/>
        </p:nvSpPr>
        <p:spPr>
          <a:xfrm>
            <a:off x="6057900" y="2291655"/>
            <a:ext cx="2628900" cy="2645569"/>
          </a:xfrm>
          <a:prstGeom prst="roundRect">
            <a:avLst>
              <a:gd name="adj" fmla="val 1932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6" name="Shape 64"/>
          <p:cNvSpPr/>
          <p:nvPr/>
        </p:nvSpPr>
        <p:spPr>
          <a:xfrm>
            <a:off x="6081713" y="2291655"/>
            <a:ext cx="0" cy="2645569"/>
          </a:xfrm>
          <a:prstGeom prst="line">
            <a:avLst/>
          </a:prstGeom>
          <a:noFill/>
          <a:ln w="47625">
            <a:solidFill>
              <a:srgbClr val="4ECDC4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245126" y="2393156"/>
            <a:ext cx="234811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</a:t>
            </a:r>
            <a:endParaRPr lang="en-US" sz="800" dirty="0"/>
          </a:p>
        </p:txBody>
      </p:sp>
      <p:sp>
        <p:nvSpPr>
          <p:cNvPr id="68" name="Text 66"/>
          <p:cNvSpPr/>
          <p:nvPr/>
        </p:nvSpPr>
        <p:spPr>
          <a:xfrm>
            <a:off x="6245126" y="2570857"/>
            <a:ext cx="2348115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병렬 실행 속도 때문에 T0-1은 </a:t>
            </a:r>
            <a:pPr algn="l" indent="0" marL="0">
              <a:lnSpc>
                <a:spcPts val="1050"/>
              </a:lnSpc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asyncio.gather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로 완전 병렬화하고, 안전 등급 보장 때문에 T3-4는 순차 개별 승인으로 격리했다.</a:t>
            </a:r>
            <a:endParaRPr lang="en-US" sz="700" dirty="0"/>
          </a:p>
        </p:txBody>
      </p:sp>
      <p:sp>
        <p:nvSpPr>
          <p:cNvPr id="69" name="Text 67"/>
          <p:cNvSpPr/>
          <p:nvPr/>
        </p:nvSpPr>
        <p:spPr>
          <a:xfrm>
            <a:off x="6245126" y="2913459"/>
            <a:ext cx="234811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MAX_CONSECUTIVE_FAILURES = 2 · max_recovery = 3</a:t>
            </a:r>
            <a:endParaRPr lang="en-US" sz="600" dirty="0"/>
          </a:p>
        </p:txBody>
      </p:sp>
      <p:sp>
        <p:nvSpPr>
          <p:cNvPr id="70" name="Text 68"/>
          <p:cNvSpPr/>
          <p:nvPr/>
        </p:nvSpPr>
        <p:spPr>
          <a:xfrm>
            <a:off x="457200" y="4987975"/>
            <a:ext cx="2827818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tool_executor.py · policy.py · error_recovery.py — v0.31.0 · 52 native tools · 45 MCP · 5-Tier safety</a:t>
            </a:r>
            <a:endParaRPr lang="en-US" sz="500" dirty="0"/>
          </a:p>
        </p:txBody>
      </p:sp>
      <p:sp>
        <p:nvSpPr>
          <p:cNvPr id="71" name="Text 69"/>
          <p:cNvSpPr/>
          <p:nvPr/>
        </p:nvSpPr>
        <p:spPr>
          <a:xfrm>
            <a:off x="8492728" y="4987975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34</a:t>
            </a:r>
            <a:endParaRPr lang="en-US" sz="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1430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44363"/>
            <a:ext cx="166833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HE-1 DEEP DIVE — 실행 흐름 ②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55550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 System: 도구 실행 중 46개 이벤트 발화 → 리플 패턴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22250"/>
            <a:ext cx="839419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하드코딩 콜백으로는 확장 불가 → Claude Code·Devin·OpenHands 리서치 후 8카테고리 46이벤트로 개편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790426"/>
            <a:ext cx="5029200" cy="1372344"/>
          </a:xfrm>
          <a:prstGeom prst="roundRect">
            <a:avLst>
              <a:gd name="adj" fmla="val 3702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481012" y="790426"/>
            <a:ext cx="0" cy="1372344"/>
          </a:xfrm>
          <a:prstGeom prst="line">
            <a:avLst/>
          </a:prstGeom>
          <a:noFill/>
          <a:ln w="47625">
            <a:solidFill>
              <a:srgbClr val="F9731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7225" y="891927"/>
            <a:ext cx="4770311" cy="1381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8"/>
              </a:lnSpc>
              <a:spcAft>
                <a:spcPts val="500"/>
              </a:spcAft>
              <a:buNone/>
            </a:pPr>
            <a:r>
              <a:rPr lang="en-US" sz="75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문제:</a:t>
            </a:r>
            <a:pPr algn="l" indent="0" marL="0">
              <a:lnSpc>
                <a:spcPts val="1088"/>
              </a:lnSpc>
              <a:spcAft>
                <a:spcPts val="500"/>
              </a:spcAft>
              <a:buNone/>
            </a:pP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하드코딩 콜백으로는 확장 불가. 프론티어 3종 리서치 후 </a:t>
            </a:r>
            <a:pPr algn="l" indent="0" marL="0">
              <a:lnSpc>
                <a:spcPts val="1088"/>
              </a:lnSpc>
              <a:spcAft>
                <a:spcPts val="500"/>
              </a:spcAft>
              <a:buNone/>
            </a:pPr>
            <a:r>
              <a:rPr lang="en-US" sz="75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8카테고리 46이벤트</a:t>
            </a:r>
            <a:pPr algn="l" indent="0" marL="0">
              <a:lnSpc>
                <a:spcPts val="1088"/>
              </a:lnSpc>
              <a:spcAft>
                <a:spcPts val="500"/>
              </a:spcAft>
              <a:buNone/>
            </a:pP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로 개편.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657225" y="1093440"/>
            <a:ext cx="477031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리플 패턴 실행 예시 — PIPELINE_END 발화 시: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657225" y="1236315"/>
            <a:ext cx="4676775" cy="206276"/>
          </a:xfrm>
          <a:prstGeom prst="roundRect">
            <a:avLst>
              <a:gd name="adj" fmla="val 18470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758726" y="1291828"/>
            <a:ext cx="33670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P50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65027" y="1287066"/>
            <a:ext cx="176047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RunLog → runs.jsonl JSONL 기록 (L1 Observe)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657225" y="1467892"/>
            <a:ext cx="4676775" cy="206276"/>
          </a:xfrm>
          <a:prstGeom prst="roundRect">
            <a:avLst>
              <a:gd name="adj" fmla="val 18470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58726" y="1523405"/>
            <a:ext cx="33670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P80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165027" y="1518642"/>
            <a:ext cx="154916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SnapshotManager → 상태 캡처 (L2 React)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657225" y="1699468"/>
            <a:ext cx="4676775" cy="206276"/>
          </a:xfrm>
          <a:prstGeom prst="roundRect">
            <a:avLst>
              <a:gd name="adj" fmla="val 18470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758726" y="1754981"/>
            <a:ext cx="33670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P85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65027" y="1750219"/>
            <a:ext cx="190818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MemoryWriteBack → MEMORY.md 갱신 (L2 React)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657225" y="1956495"/>
            <a:ext cx="477031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65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하나의 이벤트가 3개 핸들러를 Priority 순서로 관통.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457200" y="2226171"/>
            <a:ext cx="5029200" cy="2711053"/>
          </a:xfrm>
          <a:prstGeom prst="roundRect">
            <a:avLst>
              <a:gd name="adj" fmla="val 1874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606326" y="2337197"/>
            <a:ext cx="482556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EVENT CATEGORIES — 46 total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606326" y="2527548"/>
            <a:ext cx="2340025" cy="536525"/>
          </a:xfrm>
          <a:prstGeom prst="roundRect">
            <a:avLst>
              <a:gd name="adj" fmla="val 9468"/>
            </a:avLst>
          </a:prstGeom>
          <a:solidFill>
            <a:srgbClr val="0D1117"/>
          </a:solidFill>
          <a:ln w="9525">
            <a:solidFill>
              <a:srgbClr val="F9731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704701" y="2600474"/>
            <a:ext cx="218613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 Lifecycle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704701" y="2721025"/>
            <a:ext cx="218613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events — START · END · ERROR</a:t>
            </a:r>
            <a:endParaRPr lang="en-US" sz="600" dirty="0"/>
          </a:p>
        </p:txBody>
      </p:sp>
      <p:sp>
        <p:nvSpPr>
          <p:cNvPr id="25" name="Text 23"/>
          <p:cNvSpPr/>
          <p:nvPr/>
        </p:nvSpPr>
        <p:spPr>
          <a:xfrm>
            <a:off x="606326" y="3114824"/>
            <a:ext cx="2340025" cy="536674"/>
          </a:xfrm>
          <a:prstGeom prst="roundRect">
            <a:avLst>
              <a:gd name="adj" fmla="val 9466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704701" y="3187750"/>
            <a:ext cx="218613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 Execution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704701" y="3308300"/>
            <a:ext cx="218613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events — ENTER · EXIT · RETRY · ERROR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606326" y="3702248"/>
            <a:ext cx="2340025" cy="536525"/>
          </a:xfrm>
          <a:prstGeom prst="roundRect">
            <a:avLst>
              <a:gd name="adj" fmla="val 9468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704701" y="3775174"/>
            <a:ext cx="218613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 / Verify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704701" y="3895725"/>
            <a:ext cx="218613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events — COMPLETE · FAIL · ESCALATE</a:t>
            </a:r>
            <a:endParaRPr lang="en-US" sz="600" dirty="0"/>
          </a:p>
        </p:txBody>
      </p:sp>
      <p:sp>
        <p:nvSpPr>
          <p:cNvPr id="31" name="Text 29"/>
          <p:cNvSpPr/>
          <p:nvPr/>
        </p:nvSpPr>
        <p:spPr>
          <a:xfrm>
            <a:off x="606326" y="4289524"/>
            <a:ext cx="2340025" cy="536674"/>
          </a:xfrm>
          <a:prstGeom prst="roundRect">
            <a:avLst>
              <a:gd name="adj" fmla="val 9466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704701" y="4362450"/>
            <a:ext cx="218613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 Storage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704701" y="4483001"/>
            <a:ext cx="218613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events — SAVE · LOAD · UPDATE · PURGE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2997101" y="2527548"/>
            <a:ext cx="2340173" cy="536525"/>
          </a:xfrm>
          <a:prstGeom prst="roundRect">
            <a:avLst>
              <a:gd name="adj" fmla="val 9468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3095476" y="2600474"/>
            <a:ext cx="218629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Change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3095476" y="2721025"/>
            <a:ext cx="218629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events — ASSEMBLE · CACHE · UPDATE</a:t>
            </a:r>
            <a:endParaRPr lang="en-US" sz="600" dirty="0"/>
          </a:p>
        </p:txBody>
      </p:sp>
      <p:sp>
        <p:nvSpPr>
          <p:cNvPr id="37" name="Text 35"/>
          <p:cNvSpPr/>
          <p:nvPr/>
        </p:nvSpPr>
        <p:spPr>
          <a:xfrm>
            <a:off x="2997101" y="3114824"/>
            <a:ext cx="2340173" cy="536674"/>
          </a:xfrm>
          <a:prstGeom prst="roundRect">
            <a:avLst>
              <a:gd name="adj" fmla="val 9466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3095476" y="3187750"/>
            <a:ext cx="218629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Sub-Agent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3095476" y="3308300"/>
            <a:ext cx="218629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events — SPAWN · COMPLETE · FAIL · TIMEOUT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2997101" y="3702248"/>
            <a:ext cx="2340173" cy="536525"/>
          </a:xfrm>
          <a:prstGeom prst="roundRect">
            <a:avLst>
              <a:gd name="adj" fmla="val 9468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3095476" y="3775174"/>
            <a:ext cx="218629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Overflow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3095476" y="3895725"/>
            <a:ext cx="218629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events — 80% · 95% · OVERFLOW_ACTION</a:t>
            </a:r>
            <a:endParaRPr lang="en-US" sz="600" dirty="0"/>
          </a:p>
        </p:txBody>
      </p:sp>
      <p:sp>
        <p:nvSpPr>
          <p:cNvPr id="43" name="Text 41"/>
          <p:cNvSpPr/>
          <p:nvPr/>
        </p:nvSpPr>
        <p:spPr>
          <a:xfrm>
            <a:off x="2997101" y="4289524"/>
            <a:ext cx="2340173" cy="536674"/>
          </a:xfrm>
          <a:prstGeom prst="roundRect">
            <a:avLst>
              <a:gd name="adj" fmla="val 9466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3095476" y="4362450"/>
            <a:ext cx="218629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 HITL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3095476" y="4483001"/>
            <a:ext cx="218629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events — REQUESTED · GRANTED · DENIED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5600700" y="790426"/>
            <a:ext cx="3086100" cy="2872234"/>
          </a:xfrm>
          <a:prstGeom prst="roundRect">
            <a:avLst>
              <a:gd name="adj" fmla="val 1769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5749826" y="901452"/>
            <a:ext cx="284360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8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 MATURITY MODEL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5749826" y="1079153"/>
            <a:ext cx="2787848" cy="342751"/>
          </a:xfrm>
          <a:prstGeom prst="roundRect">
            <a:avLst>
              <a:gd name="adj" fmla="val 14821"/>
            </a:avLst>
          </a:prstGeom>
          <a:solidFill>
            <a:srgbClr val="F97316">
              <a:alpha val="6000"/>
            </a:srgbClr>
          </a:solidFill>
          <a:ln w="9525">
            <a:solidFill>
              <a:srgbClr val="F9731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5860852" y="1139428"/>
            <a:ext cx="261711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L4 Autonomy — 백로그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5860852" y="1256854"/>
            <a:ext cx="261711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승인 이력 → 자동 승인 룰 학습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5749826" y="1460004"/>
            <a:ext cx="2787848" cy="352276"/>
          </a:xfrm>
          <a:prstGeom prst="roundRect">
            <a:avLst>
              <a:gd name="adj" fmla="val 14421"/>
            </a:avLst>
          </a:prstGeom>
          <a:solidFill>
            <a:srgbClr val="F5C542">
              <a:alpha val="6000"/>
            </a:srgbClr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5860852" y="1520279"/>
            <a:ext cx="261711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L3 Decide — 현재 프론티어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5860852" y="1637705"/>
            <a:ext cx="261711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7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pPr algn="l" indent="0" marL="0">
              <a:spcBef>
                <a:spcPts val="1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CONTEXT_OVERFLOW_ACTION 전략 위임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5749826" y="1850380"/>
            <a:ext cx="2787848" cy="352276"/>
          </a:xfrm>
          <a:prstGeom prst="roundRect">
            <a:avLst>
              <a:gd name="adj" fmla="val 14421"/>
            </a:avLst>
          </a:prstGeom>
          <a:solidFill>
            <a:srgbClr val="4ECDC4">
              <a:alpha val="6000"/>
            </a:srgbClr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5860852" y="1910655"/>
            <a:ext cx="261711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L2 React — 자동 반응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5860852" y="2028081"/>
            <a:ext cx="261711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7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pPr algn="l" indent="0" marL="0">
              <a:spcBef>
                <a:spcPts val="1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DRIFT → 스냅샷 · PIPELINE_END → MEMORY.md</a:t>
            </a:r>
            <a:endParaRPr lang="en-US" sz="700" dirty="0"/>
          </a:p>
        </p:txBody>
      </p:sp>
      <p:sp>
        <p:nvSpPr>
          <p:cNvPr id="57" name="Text 55"/>
          <p:cNvSpPr/>
          <p:nvPr/>
        </p:nvSpPr>
        <p:spPr>
          <a:xfrm>
            <a:off x="5749826" y="2240756"/>
            <a:ext cx="2787848" cy="342751"/>
          </a:xfrm>
          <a:prstGeom prst="roundRect">
            <a:avLst>
              <a:gd name="adj" fmla="val 14821"/>
            </a:avLst>
          </a:prstGeom>
          <a:solidFill>
            <a:srgbClr val="34D399">
              <a:alpha val="6000"/>
            </a:srgbClr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Text 56"/>
          <p:cNvSpPr/>
          <p:nvPr/>
        </p:nvSpPr>
        <p:spPr>
          <a:xfrm>
            <a:off x="5860852" y="2301032"/>
            <a:ext cx="261711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 Observe — 기록만</a:t>
            </a:r>
            <a:endParaRPr lang="en-US" sz="700" dirty="0"/>
          </a:p>
        </p:txBody>
      </p:sp>
      <p:sp>
        <p:nvSpPr>
          <p:cNvPr id="59" name="Text 57"/>
          <p:cNvSpPr/>
          <p:nvPr/>
        </p:nvSpPr>
        <p:spPr>
          <a:xfrm>
            <a:off x="5860852" y="2418457"/>
            <a:ext cx="261711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7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pPr algn="l" indent="0" marL="0">
              <a:spcBef>
                <a:spcPts val="1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RunLog: ALL 46 events → runs.jsonl</a:t>
            </a:r>
            <a:endParaRPr lang="en-US" sz="700" dirty="0"/>
          </a:p>
        </p:txBody>
      </p:sp>
      <p:sp>
        <p:nvSpPr>
          <p:cNvPr id="60" name="Text 58"/>
          <p:cNvSpPr/>
          <p:nvPr/>
        </p:nvSpPr>
        <p:spPr>
          <a:xfrm>
            <a:off x="5600700" y="3726061"/>
            <a:ext cx="3086100" cy="578644"/>
          </a:xfrm>
          <a:prstGeom prst="roundRect">
            <a:avLst>
              <a:gd name="adj" fmla="val 8779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Shape 59"/>
          <p:cNvSpPr/>
          <p:nvPr/>
        </p:nvSpPr>
        <p:spPr>
          <a:xfrm>
            <a:off x="5624513" y="3726061"/>
            <a:ext cx="0" cy="578644"/>
          </a:xfrm>
          <a:prstGeom prst="line">
            <a:avLst/>
          </a:prstGeom>
          <a:noFill/>
          <a:ln w="47625">
            <a:solidFill>
              <a:srgbClr val="EF4444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787926" y="3814911"/>
            <a:ext cx="281445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8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StuckDetector</a:t>
            </a:r>
            <a:endParaRPr lang="en-US" sz="800" dirty="0"/>
          </a:p>
        </p:txBody>
      </p:sp>
      <p:sp>
        <p:nvSpPr>
          <p:cNvPr id="63" name="Text 61"/>
          <p:cNvSpPr/>
          <p:nvPr/>
        </p:nvSpPr>
        <p:spPr>
          <a:xfrm>
            <a:off x="5787926" y="3967311"/>
            <a:ext cx="2814459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NODE_ENTER 후 </a:t>
            </a:r>
            <a:pPr algn="l" indent="0" marL="0">
              <a:lnSpc>
                <a:spcPts val="980"/>
              </a:lnSpc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120초</a:t>
            </a:r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내 NODE_EXIT 없으면 파이프라인 강제 중단. Priority P30→P50→P85 핸들러 순서 보장.</a:t>
            </a:r>
            <a:endParaRPr lang="en-US" sz="700" dirty="0"/>
          </a:p>
        </p:txBody>
      </p:sp>
      <p:sp>
        <p:nvSpPr>
          <p:cNvPr id="64" name="Text 62"/>
          <p:cNvSpPr/>
          <p:nvPr/>
        </p:nvSpPr>
        <p:spPr>
          <a:xfrm>
            <a:off x="5600700" y="4368105"/>
            <a:ext cx="3086100" cy="569119"/>
          </a:xfrm>
          <a:prstGeom prst="roundRect">
            <a:avLst>
              <a:gd name="adj" fmla="val 8926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Shape 63"/>
          <p:cNvSpPr/>
          <p:nvPr/>
        </p:nvSpPr>
        <p:spPr>
          <a:xfrm>
            <a:off x="5624513" y="4368105"/>
            <a:ext cx="0" cy="569119"/>
          </a:xfrm>
          <a:prstGeom prst="line">
            <a:avLst/>
          </a:prstGeom>
          <a:noFill/>
          <a:ln w="47625">
            <a:solidFill>
              <a:srgbClr val="F97316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787926" y="4456956"/>
            <a:ext cx="281445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 Observer 오버헤드 vs 확장성</a:t>
            </a:r>
            <a:endParaRPr lang="en-US" sz="700" dirty="0"/>
          </a:p>
        </p:txBody>
      </p:sp>
      <p:sp>
        <p:nvSpPr>
          <p:cNvPr id="67" name="Text 65"/>
          <p:cNvSpPr/>
          <p:nvPr/>
        </p:nvSpPr>
        <p:spPr>
          <a:xfrm>
            <a:off x="5787926" y="4599831"/>
            <a:ext cx="2814459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단순 콜백보다 초기 등록 오버헤드가 있지만, 핸들러 간 에러 격리 덕분에 46이벤트가 독립적으로 확장된다.</a:t>
            </a:r>
            <a:endParaRPr lang="en-US" sz="700" dirty="0"/>
          </a:p>
        </p:txBody>
      </p:sp>
      <p:sp>
        <p:nvSpPr>
          <p:cNvPr id="68" name="Text 66"/>
          <p:cNvSpPr/>
          <p:nvPr/>
        </p:nvSpPr>
        <p:spPr>
          <a:xfrm>
            <a:off x="457200" y="4987975"/>
            <a:ext cx="273324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core/hooks/ · 46 HookEvent enum members · 8 categories · Priority-chain · StuckDetector 120s</a:t>
            </a:r>
            <a:endParaRPr lang="en-US" sz="500" dirty="0"/>
          </a:p>
        </p:txBody>
      </p:sp>
      <p:sp>
        <p:nvSpPr>
          <p:cNvPr id="69" name="Text 67"/>
          <p:cNvSpPr/>
          <p:nvPr/>
        </p:nvSpPr>
        <p:spPr>
          <a:xfrm>
            <a:off x="8497491" y="4987975"/>
            <a:ext cx="193096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34</a:t>
            </a:r>
            <a:endParaRPr lang="en-US" sz="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1430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44363"/>
            <a:ext cx="166833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HE-1 DEEP DIVE — 실행 흐름 ③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55550"/>
            <a:ext cx="8394192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Sub-Agent: delegate_task → SubAgentManager → IsolatedRunner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12725"/>
            <a:ext cx="839419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병렬 서브에이전트가 결과를 반환할 때 부모 컨텍스트가 기하급수적으로 팽창했다 — full inheritance + 4096 guard로 해결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780901"/>
            <a:ext cx="5054501" cy="912465"/>
          </a:xfrm>
          <a:prstGeom prst="roundRect">
            <a:avLst>
              <a:gd name="adj" fmla="val 5567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481012" y="780901"/>
            <a:ext cx="0" cy="912465"/>
          </a:xfrm>
          <a:prstGeom prst="line">
            <a:avLst/>
          </a:prstGeom>
          <a:noFill/>
          <a:ln w="47625">
            <a:solidFill>
              <a:srgbClr val="EF444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7225" y="882402"/>
            <a:ext cx="479611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문제: 컨텍스트 폭발 — 실제 수치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657225" y="1056977"/>
            <a:ext cx="4796117" cy="128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5"/>
              </a:lnSpc>
              <a:spcAft>
                <a:spcPts val="400"/>
              </a:spcAft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서브에이전트 5개가 각 8K 토큰 반환 → </a:t>
            </a:r>
            <a:pPr algn="l" indent="0" marL="0">
              <a:lnSpc>
                <a:spcPts val="1015"/>
              </a:lnSpc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40K 토큰</a:t>
            </a:r>
            <a:pPr algn="l" indent="0" marL="0">
              <a:lnSpc>
                <a:spcPts val="1015"/>
              </a:lnSpc>
              <a:spcAft>
                <a:spcPts val="400"/>
              </a:spcAft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부모에 유입 → 압축 없이는 컨텍스트 </a:t>
            </a:r>
            <a:pPr algn="l" indent="0" marL="0">
              <a:lnSpc>
                <a:spcPts val="1015"/>
              </a:lnSpc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40% 소비</a:t>
            </a:r>
            <a:pPr algn="l" indent="0" marL="0">
              <a:lnSpc>
                <a:spcPts val="1015"/>
              </a:lnSpc>
              <a:spcAft>
                <a:spcPts val="400"/>
              </a:spcAft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657225" y="1236464"/>
            <a:ext cx="2312938" cy="355402"/>
          </a:xfrm>
          <a:prstGeom prst="roundRect">
            <a:avLst>
              <a:gd name="adj" fmla="val 10720"/>
            </a:avLst>
          </a:prstGeom>
          <a:solidFill>
            <a:srgbClr val="0D1117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734439" y="1296739"/>
            <a:ext cx="215851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 없음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734439" y="1426815"/>
            <a:ext cx="215851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5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5×8K = 40K → 부모 40% 소비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3046363" y="1236464"/>
            <a:ext cx="2312938" cy="355402"/>
          </a:xfrm>
          <a:prstGeom prst="roundRect">
            <a:avLst>
              <a:gd name="adj" fmla="val 10720"/>
            </a:avLst>
          </a:prstGeom>
          <a:solidFill>
            <a:srgbClr val="0D1117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123576" y="1296739"/>
            <a:ext cx="215851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4096 guard 적용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3123576" y="1426815"/>
            <a:ext cx="215851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5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20K→5K </a:t>
            </a:r>
            <a:pPr algn="ctr" indent="0" marL="0">
              <a:spcBef>
                <a:spcPts val="200"/>
              </a:spcBef>
              <a:buNone/>
            </a:pPr>
            <a:r>
              <a:rPr lang="en-US" sz="6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75% 절감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457200" y="1769566"/>
            <a:ext cx="5054501" cy="3167658"/>
          </a:xfrm>
          <a:prstGeom prst="roundRect">
            <a:avLst>
              <a:gd name="adj" fmla="val 1604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19125" y="1880592"/>
            <a:ext cx="482526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SOLUTION: full inheritance + 4096 Guard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619125" y="2071092"/>
            <a:ext cx="4730651" cy="384125"/>
          </a:xfrm>
          <a:prstGeom prst="roundRect">
            <a:avLst>
              <a:gd name="adj" fmla="val 13225"/>
            </a:avLst>
          </a:prstGeom>
          <a:solidFill>
            <a:srgbClr val="4ECDC4">
              <a:alpha val="12000"/>
            </a:srgbClr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711023" y="2156817"/>
            <a:ext cx="454685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Parent Agent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711023" y="2283768"/>
            <a:ext cx="454685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tools · MCP · skills · memory 전체 보유</a:t>
            </a:r>
            <a:endParaRPr lang="en-US" sz="600" dirty="0"/>
          </a:p>
        </p:txBody>
      </p:sp>
      <p:sp>
        <p:nvSpPr>
          <p:cNvPr id="21" name="Text 19"/>
          <p:cNvSpPr/>
          <p:nvPr/>
        </p:nvSpPr>
        <p:spPr>
          <a:xfrm>
            <a:off x="2212330" y="2531418"/>
            <a:ext cx="157512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full inheritance (위임이지 파견이 아니다)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619125" y="2712393"/>
            <a:ext cx="1534567" cy="377726"/>
          </a:xfrm>
          <a:prstGeom prst="roundRect">
            <a:avLst>
              <a:gd name="adj" fmla="val 13449"/>
            </a:avLst>
          </a:prstGeom>
          <a:solidFill>
            <a:srgbClr val="0D1117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704122" y="2798118"/>
            <a:ext cx="136457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Sub-Agent A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704122" y="2918668"/>
            <a:ext cx="136457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독립 200K window</a:t>
            </a:r>
            <a:endParaRPr lang="en-US" sz="600" dirty="0"/>
          </a:p>
        </p:txBody>
      </p:sp>
      <p:sp>
        <p:nvSpPr>
          <p:cNvPr id="25" name="Text 23"/>
          <p:cNvSpPr/>
          <p:nvPr/>
        </p:nvSpPr>
        <p:spPr>
          <a:xfrm>
            <a:off x="2217093" y="2712393"/>
            <a:ext cx="1534716" cy="377726"/>
          </a:xfrm>
          <a:prstGeom prst="roundRect">
            <a:avLst>
              <a:gd name="adj" fmla="val 13449"/>
            </a:avLst>
          </a:prstGeom>
          <a:solidFill>
            <a:srgbClr val="0D1117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2302088" y="2798118"/>
            <a:ext cx="1364724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Sub-Agent B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2302088" y="2918668"/>
            <a:ext cx="136472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독립 200K window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3815209" y="2712393"/>
            <a:ext cx="1534567" cy="377726"/>
          </a:xfrm>
          <a:prstGeom prst="roundRect">
            <a:avLst>
              <a:gd name="adj" fmla="val 13449"/>
            </a:avLst>
          </a:prstGeom>
          <a:solidFill>
            <a:srgbClr val="0D1117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3900206" y="2798118"/>
            <a:ext cx="136457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Sub-Agent C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3900206" y="2918668"/>
            <a:ext cx="136457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독립 200K window</a:t>
            </a:r>
            <a:endParaRPr lang="en-US" sz="600" dirty="0"/>
          </a:p>
        </p:txBody>
      </p:sp>
      <p:sp>
        <p:nvSpPr>
          <p:cNvPr id="31" name="Text 29"/>
          <p:cNvSpPr/>
          <p:nvPr/>
        </p:nvSpPr>
        <p:spPr>
          <a:xfrm>
            <a:off x="2224832" y="3166318"/>
            <a:ext cx="154947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반환 전 4096-token guard — 구조화 요약 압축</a:t>
            </a:r>
            <a:endParaRPr lang="en-US" sz="600" dirty="0"/>
          </a:p>
        </p:txBody>
      </p:sp>
      <p:sp>
        <p:nvSpPr>
          <p:cNvPr id="32" name="Text 30"/>
          <p:cNvSpPr/>
          <p:nvPr/>
        </p:nvSpPr>
        <p:spPr>
          <a:xfrm>
            <a:off x="619125" y="3328243"/>
            <a:ext cx="4730651" cy="339477"/>
          </a:xfrm>
          <a:prstGeom prst="roundRect">
            <a:avLst>
              <a:gd name="adj" fmla="val 14964"/>
            </a:avLst>
          </a:prstGeom>
          <a:solidFill>
            <a:srgbClr val="F59E0B">
              <a:alpha val="8000"/>
            </a:srgbClr>
          </a:solidFill>
          <a:ln w="9525">
            <a:solidFill>
              <a:srgbClr val="F59E0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711023" y="3401169"/>
            <a:ext cx="4546854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Compressed Summary → Parent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711023" y="3509070"/>
            <a:ext cx="454685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원시 출력이 아닌 구조화 요약 반환 — 컨텍스트 폭발 방지</a:t>
            </a:r>
            <a:endParaRPr lang="en-US" sz="600" dirty="0"/>
          </a:p>
        </p:txBody>
      </p:sp>
      <p:sp>
        <p:nvSpPr>
          <p:cNvPr id="35" name="Text 33"/>
          <p:cNvSpPr/>
          <p:nvPr/>
        </p:nvSpPr>
        <p:spPr>
          <a:xfrm>
            <a:off x="5626001" y="780901"/>
            <a:ext cx="3060799" cy="1621631"/>
          </a:xfrm>
          <a:prstGeom prst="roundRect">
            <a:avLst>
              <a:gd name="adj" fmla="val 3133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5775127" y="891927"/>
            <a:ext cx="281779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동시성 제어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5775127" y="1079153"/>
            <a:ext cx="2762548" cy="358676"/>
          </a:xfrm>
          <a:prstGeom prst="roundRect">
            <a:avLst>
              <a:gd name="adj" fmla="val 14163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Shape 36"/>
          <p:cNvSpPr/>
          <p:nvPr/>
        </p:nvSpPr>
        <p:spPr>
          <a:xfrm>
            <a:off x="5794177" y="1079153"/>
            <a:ext cx="0" cy="358676"/>
          </a:xfrm>
          <a:prstGeom prst="line">
            <a:avLst/>
          </a:prstGeom>
          <a:noFill/>
          <a:ln w="38100">
            <a:solidFill>
              <a:srgbClr val="4ECDC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927527" y="1155353"/>
            <a:ext cx="254576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MAX_CONCURRENT = 5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5927527" y="1275904"/>
            <a:ext cx="254576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DAG scheduling — 동시 실행 서브에이전트 최대 5개</a:t>
            </a:r>
            <a:endParaRPr lang="en-US" sz="600" dirty="0"/>
          </a:p>
        </p:txBody>
      </p:sp>
      <p:sp>
        <p:nvSpPr>
          <p:cNvPr id="41" name="Text 39"/>
          <p:cNvSpPr/>
          <p:nvPr/>
        </p:nvSpPr>
        <p:spPr>
          <a:xfrm>
            <a:off x="5775127" y="1501229"/>
            <a:ext cx="2762548" cy="358676"/>
          </a:xfrm>
          <a:prstGeom prst="roundRect">
            <a:avLst>
              <a:gd name="adj" fmla="val 14163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Shape 40"/>
          <p:cNvSpPr/>
          <p:nvPr/>
        </p:nvSpPr>
        <p:spPr>
          <a:xfrm>
            <a:off x="5794177" y="1501229"/>
            <a:ext cx="0" cy="358676"/>
          </a:xfrm>
          <a:prstGeom prst="line">
            <a:avLst/>
          </a:prstGeom>
          <a:noFill/>
          <a:ln w="38100">
            <a:solidFill>
              <a:srgbClr val="F59E0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927527" y="1577429"/>
            <a:ext cx="254576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CoalescingQueue 250ms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5927527" y="1697980"/>
            <a:ext cx="254576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250ms 내 동일 태스크 중복 제거 — 토큰 낭비 방지</a:t>
            </a:r>
            <a:endParaRPr lang="en-US" sz="600" dirty="0"/>
          </a:p>
        </p:txBody>
      </p:sp>
      <p:sp>
        <p:nvSpPr>
          <p:cNvPr id="45" name="Text 43"/>
          <p:cNvSpPr/>
          <p:nvPr/>
        </p:nvSpPr>
        <p:spPr>
          <a:xfrm>
            <a:off x="5775127" y="1923306"/>
            <a:ext cx="2762548" cy="368201"/>
          </a:xfrm>
          <a:prstGeom prst="roundRect">
            <a:avLst>
              <a:gd name="adj" fmla="val 13797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Shape 44"/>
          <p:cNvSpPr/>
          <p:nvPr/>
        </p:nvSpPr>
        <p:spPr>
          <a:xfrm>
            <a:off x="5794177" y="1923306"/>
            <a:ext cx="0" cy="368201"/>
          </a:xfrm>
          <a:prstGeom prst="line">
            <a:avLst/>
          </a:prstGeom>
          <a:noFill/>
          <a:ln w="38100">
            <a:solidFill>
              <a:srgbClr val="818CF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927527" y="1999506"/>
            <a:ext cx="254576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깊이 3 = 유효 컨텍스트 600K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5927527" y="2129582"/>
            <a:ext cx="254576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서브에이전트 독립 200K window — 깊이당 선형 확장</a:t>
            </a:r>
            <a:endParaRPr lang="en-US" sz="600" dirty="0"/>
          </a:p>
        </p:txBody>
      </p:sp>
      <p:sp>
        <p:nvSpPr>
          <p:cNvPr id="49" name="Text 47"/>
          <p:cNvSpPr/>
          <p:nvPr/>
        </p:nvSpPr>
        <p:spPr>
          <a:xfrm>
            <a:off x="5626001" y="2478732"/>
            <a:ext cx="969466" cy="587127"/>
          </a:xfrm>
          <a:prstGeom prst="roundRect">
            <a:avLst>
              <a:gd name="adj" fmla="val 8652"/>
            </a:avLst>
          </a:prstGeom>
          <a:solidFill>
            <a:srgbClr val="161B22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Text 48"/>
          <p:cNvSpPr/>
          <p:nvPr/>
        </p:nvSpPr>
        <p:spPr>
          <a:xfrm>
            <a:off x="5729552" y="2589758"/>
            <a:ext cx="762363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000" dirty="0"/>
          </a:p>
        </p:txBody>
      </p:sp>
      <p:sp>
        <p:nvSpPr>
          <p:cNvPr id="51" name="Text 49"/>
          <p:cNvSpPr/>
          <p:nvPr/>
        </p:nvSpPr>
        <p:spPr>
          <a:xfrm>
            <a:off x="5729552" y="2869109"/>
            <a:ext cx="76236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 concurrent</a:t>
            </a:r>
            <a:endParaRPr lang="en-US" sz="600" dirty="0"/>
          </a:p>
        </p:txBody>
      </p:sp>
      <p:sp>
        <p:nvSpPr>
          <p:cNvPr id="52" name="Text 50"/>
          <p:cNvSpPr/>
          <p:nvPr/>
        </p:nvSpPr>
        <p:spPr>
          <a:xfrm>
            <a:off x="6671667" y="2478732"/>
            <a:ext cx="969466" cy="587127"/>
          </a:xfrm>
          <a:prstGeom prst="roundRect">
            <a:avLst>
              <a:gd name="adj" fmla="val 8652"/>
            </a:avLst>
          </a:prstGeom>
          <a:solidFill>
            <a:srgbClr val="161B22"/>
          </a:solidFill>
          <a:ln w="9525">
            <a:solidFill>
              <a:srgbClr val="F59E0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6775219" y="2589758"/>
            <a:ext cx="762363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4096</a:t>
            </a:r>
            <a:endParaRPr lang="en-US" sz="2000" dirty="0"/>
          </a:p>
        </p:txBody>
      </p:sp>
      <p:sp>
        <p:nvSpPr>
          <p:cNvPr id="54" name="Text 52"/>
          <p:cNvSpPr/>
          <p:nvPr/>
        </p:nvSpPr>
        <p:spPr>
          <a:xfrm>
            <a:off x="6775219" y="2869109"/>
            <a:ext cx="76236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 guard</a:t>
            </a:r>
            <a:endParaRPr lang="en-US" sz="600" dirty="0"/>
          </a:p>
        </p:txBody>
      </p:sp>
      <p:sp>
        <p:nvSpPr>
          <p:cNvPr id="55" name="Text 53"/>
          <p:cNvSpPr/>
          <p:nvPr/>
        </p:nvSpPr>
        <p:spPr>
          <a:xfrm>
            <a:off x="7717334" y="2478732"/>
            <a:ext cx="969466" cy="587127"/>
          </a:xfrm>
          <a:prstGeom prst="roundRect">
            <a:avLst>
              <a:gd name="adj" fmla="val 8652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6" name="Text 54"/>
          <p:cNvSpPr/>
          <p:nvPr/>
        </p:nvSpPr>
        <p:spPr>
          <a:xfrm>
            <a:off x="7820885" y="2589758"/>
            <a:ext cx="762363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600K</a:t>
            </a:r>
            <a:endParaRPr lang="en-US" sz="2000" dirty="0"/>
          </a:p>
        </p:txBody>
      </p:sp>
      <p:sp>
        <p:nvSpPr>
          <p:cNvPr id="57" name="Text 55"/>
          <p:cNvSpPr/>
          <p:nvPr/>
        </p:nvSpPr>
        <p:spPr>
          <a:xfrm>
            <a:off x="7820885" y="2869109"/>
            <a:ext cx="76236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depth-3 ctx</a:t>
            </a:r>
            <a:endParaRPr lang="en-US" sz="600" dirty="0"/>
          </a:p>
        </p:txBody>
      </p:sp>
      <p:sp>
        <p:nvSpPr>
          <p:cNvPr id="58" name="Text 56"/>
          <p:cNvSpPr/>
          <p:nvPr/>
        </p:nvSpPr>
        <p:spPr>
          <a:xfrm>
            <a:off x="5626001" y="3142059"/>
            <a:ext cx="3060799" cy="1795165"/>
          </a:xfrm>
          <a:prstGeom prst="roundRect">
            <a:avLst>
              <a:gd name="adj" fmla="val 2830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Shape 57"/>
          <p:cNvSpPr/>
          <p:nvPr/>
        </p:nvSpPr>
        <p:spPr>
          <a:xfrm>
            <a:off x="5649813" y="3142059"/>
            <a:ext cx="0" cy="1795165"/>
          </a:xfrm>
          <a:prstGeom prst="line">
            <a:avLst/>
          </a:prstGeom>
          <a:noFill/>
          <a:ln w="47625">
            <a:solidFill>
              <a:srgbClr val="4ECDC4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813227" y="3243560"/>
            <a:ext cx="278865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 full inheritance vs sandbox</a:t>
            </a:r>
            <a:endParaRPr lang="en-US" sz="700" dirty="0"/>
          </a:p>
        </p:txBody>
      </p:sp>
      <p:sp>
        <p:nvSpPr>
          <p:cNvPr id="61" name="Text 59"/>
          <p:cNvSpPr/>
          <p:nvPr/>
        </p:nvSpPr>
        <p:spPr>
          <a:xfrm>
            <a:off x="5813227" y="3389561"/>
            <a:ext cx="2788652" cy="399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완전 격리 sandbox는 안전하지만 부모의 tools·skills·memory를 재설정해야 해서 위임의 의미를 잃는다. full inheritance + 4096 guard가 서브에이전트에게 부모의 능력을 그대로 주면서 컨텍스트 폭발을 방지했다.</a:t>
            </a:r>
            <a:endParaRPr lang="en-US" sz="700" dirty="0"/>
          </a:p>
        </p:txBody>
      </p:sp>
      <p:sp>
        <p:nvSpPr>
          <p:cNvPr id="62" name="Text 60"/>
          <p:cNvSpPr/>
          <p:nvPr/>
        </p:nvSpPr>
        <p:spPr>
          <a:xfrm>
            <a:off x="457200" y="4987975"/>
            <a:ext cx="3148885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SubAgentManager · IsolatedRunner · CoalescingQueue 250ms · MAX_CONCURRENT=5 · 4096 token guard</a:t>
            </a:r>
            <a:endParaRPr lang="en-US" sz="500" dirty="0"/>
          </a:p>
        </p:txBody>
      </p:sp>
      <p:sp>
        <p:nvSpPr>
          <p:cNvPr id="63" name="Text 61"/>
          <p:cNvSpPr/>
          <p:nvPr/>
        </p:nvSpPr>
        <p:spPr>
          <a:xfrm>
            <a:off x="8492728" y="4987975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34</a:t>
            </a:r>
            <a:endParaRPr lang="en-US" sz="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1430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44363"/>
            <a:ext cx="166833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HE-1 DEEP DIVE — 실행 흐름 ④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55550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Failover: 호출 실패 → CircuitBreaker → Cross-Provider Fallback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22250"/>
            <a:ext cx="839419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단일 Provider 의존 때문에 Rate Limit·장애 시 파이프라인 전체가 중단됐다 — 3-Provider 체인으로 단일 장애점 제거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790426"/>
            <a:ext cx="1422499" cy="1174552"/>
          </a:xfrm>
          <a:prstGeom prst="roundRect">
            <a:avLst>
              <a:gd name="adj" fmla="val 4325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457200" y="799951"/>
            <a:ext cx="1422499" cy="0"/>
          </a:xfrm>
          <a:prstGeom prst="line">
            <a:avLst/>
          </a:prstGeom>
          <a:noFill/>
          <a:ln w="19050">
            <a:solidFill>
              <a:srgbClr val="4ECD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84150" y="923776"/>
            <a:ext cx="119197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84150" y="1088827"/>
            <a:ext cx="119197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Provider</a:t>
            </a:r>
            <a:endParaRPr lang="en-US" sz="600" dirty="0"/>
          </a:p>
        </p:txBody>
      </p:sp>
      <p:sp>
        <p:nvSpPr>
          <p:cNvPr id="10" name="Text 8"/>
          <p:cNvSpPr/>
          <p:nvPr/>
        </p:nvSpPr>
        <p:spPr>
          <a:xfrm>
            <a:off x="584150" y="1250603"/>
            <a:ext cx="1168598" cy="161925"/>
          </a:xfrm>
          <a:prstGeom prst="roundRect">
            <a:avLst>
              <a:gd name="adj" fmla="val 23529"/>
            </a:avLst>
          </a:prstGeom>
          <a:solidFill>
            <a:srgbClr val="4ECDC4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73001" y="1288703"/>
            <a:ext cx="101071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Opus</a:t>
            </a:r>
            <a:endParaRPr lang="en-US" sz="600" dirty="0"/>
          </a:p>
        </p:txBody>
      </p:sp>
      <p:sp>
        <p:nvSpPr>
          <p:cNvPr id="12" name="Text 10"/>
          <p:cNvSpPr/>
          <p:nvPr/>
        </p:nvSpPr>
        <p:spPr>
          <a:xfrm>
            <a:off x="584150" y="1450628"/>
            <a:ext cx="1168598" cy="180975"/>
          </a:xfrm>
          <a:prstGeom prst="roundRect">
            <a:avLst>
              <a:gd name="adj" fmla="val 21053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82526" y="1498253"/>
            <a:ext cx="99128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Sonnet</a:t>
            </a:r>
            <a:endParaRPr lang="en-US" sz="600" dirty="0"/>
          </a:p>
        </p:txBody>
      </p:sp>
      <p:sp>
        <p:nvSpPr>
          <p:cNvPr id="14" name="Text 12"/>
          <p:cNvSpPr/>
          <p:nvPr/>
        </p:nvSpPr>
        <p:spPr>
          <a:xfrm>
            <a:off x="584150" y="1669703"/>
            <a:ext cx="1168598" cy="180975"/>
          </a:xfrm>
          <a:prstGeom prst="roundRect">
            <a:avLst>
              <a:gd name="adj" fmla="val 21053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682526" y="1717328"/>
            <a:ext cx="99128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Haiku</a:t>
            </a:r>
            <a:endParaRPr lang="en-US" sz="600" dirty="0"/>
          </a:p>
        </p:txBody>
      </p:sp>
      <p:sp>
        <p:nvSpPr>
          <p:cNvPr id="16" name="Text 14"/>
          <p:cNvSpPr/>
          <p:nvPr/>
        </p:nvSpPr>
        <p:spPr>
          <a:xfrm>
            <a:off x="2031950" y="1258639"/>
            <a:ext cx="10368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2034034" y="1411039"/>
            <a:ext cx="9943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</a:t>
            </a:r>
            <a:endParaRPr lang="en-US" sz="600" dirty="0"/>
          </a:p>
        </p:txBody>
      </p:sp>
      <p:sp>
        <p:nvSpPr>
          <p:cNvPr id="18" name="Text 16"/>
          <p:cNvSpPr/>
          <p:nvPr/>
        </p:nvSpPr>
        <p:spPr>
          <a:xfrm>
            <a:off x="2285851" y="790426"/>
            <a:ext cx="1422648" cy="1174552"/>
          </a:xfrm>
          <a:prstGeom prst="roundRect">
            <a:avLst>
              <a:gd name="adj" fmla="val 4325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2285851" y="799951"/>
            <a:ext cx="1422648" cy="0"/>
          </a:xfrm>
          <a:prstGeom prst="line">
            <a:avLst/>
          </a:prstGeom>
          <a:noFill/>
          <a:ln w="19050">
            <a:solidFill>
              <a:srgbClr val="818CF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412802" y="923776"/>
            <a:ext cx="119212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2412802" y="1088827"/>
            <a:ext cx="119212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Secondary Provider</a:t>
            </a:r>
            <a:endParaRPr lang="en-US" sz="600" dirty="0"/>
          </a:p>
        </p:txBody>
      </p:sp>
      <p:sp>
        <p:nvSpPr>
          <p:cNvPr id="22" name="Text 20"/>
          <p:cNvSpPr/>
          <p:nvPr/>
        </p:nvSpPr>
        <p:spPr>
          <a:xfrm>
            <a:off x="2412802" y="1250603"/>
            <a:ext cx="1168747" cy="161925"/>
          </a:xfrm>
          <a:prstGeom prst="roundRect">
            <a:avLst>
              <a:gd name="adj" fmla="val 23529"/>
            </a:avLst>
          </a:prstGeom>
          <a:solidFill>
            <a:srgbClr val="818CF8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2501652" y="1288703"/>
            <a:ext cx="101086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GPT-5.4</a:t>
            </a:r>
            <a:endParaRPr lang="en-US" sz="600" dirty="0"/>
          </a:p>
        </p:txBody>
      </p:sp>
      <p:sp>
        <p:nvSpPr>
          <p:cNvPr id="24" name="Text 22"/>
          <p:cNvSpPr/>
          <p:nvPr/>
        </p:nvSpPr>
        <p:spPr>
          <a:xfrm>
            <a:off x="2412802" y="1450628"/>
            <a:ext cx="1168747" cy="180975"/>
          </a:xfrm>
          <a:prstGeom prst="roundRect">
            <a:avLst>
              <a:gd name="adj" fmla="val 21053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2511177" y="1498253"/>
            <a:ext cx="99143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GPT-5.3</a:t>
            </a:r>
            <a:endParaRPr lang="en-US" sz="600" dirty="0"/>
          </a:p>
        </p:txBody>
      </p:sp>
      <p:sp>
        <p:nvSpPr>
          <p:cNvPr id="26" name="Text 24"/>
          <p:cNvSpPr/>
          <p:nvPr/>
        </p:nvSpPr>
        <p:spPr>
          <a:xfrm>
            <a:off x="2412802" y="1669703"/>
            <a:ext cx="1168747" cy="180975"/>
          </a:xfrm>
          <a:prstGeom prst="roundRect">
            <a:avLst>
              <a:gd name="adj" fmla="val 21053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2511177" y="1717328"/>
            <a:ext cx="99143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GPT-4o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3860750" y="1258639"/>
            <a:ext cx="10368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3862834" y="1411039"/>
            <a:ext cx="9943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</a:t>
            </a:r>
            <a:endParaRPr lang="en-US" sz="600" dirty="0"/>
          </a:p>
        </p:txBody>
      </p:sp>
      <p:sp>
        <p:nvSpPr>
          <p:cNvPr id="30" name="Text 28"/>
          <p:cNvSpPr/>
          <p:nvPr/>
        </p:nvSpPr>
        <p:spPr>
          <a:xfrm>
            <a:off x="4114651" y="790426"/>
            <a:ext cx="1422499" cy="1174552"/>
          </a:xfrm>
          <a:prstGeom prst="roundRect">
            <a:avLst>
              <a:gd name="adj" fmla="val 4325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Shape 29"/>
          <p:cNvSpPr/>
          <p:nvPr/>
        </p:nvSpPr>
        <p:spPr>
          <a:xfrm>
            <a:off x="4114651" y="799951"/>
            <a:ext cx="1422499" cy="0"/>
          </a:xfrm>
          <a:prstGeom prst="line">
            <a:avLst/>
          </a:prstGeom>
          <a:noFill/>
          <a:ln w="19050">
            <a:solidFill>
              <a:srgbClr val="F5C54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241602" y="923776"/>
            <a:ext cx="119197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ZhipuAI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241602" y="1088827"/>
            <a:ext cx="119197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 Resort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4241602" y="1250603"/>
            <a:ext cx="1168598" cy="161925"/>
          </a:xfrm>
          <a:prstGeom prst="roundRect">
            <a:avLst>
              <a:gd name="adj" fmla="val 23529"/>
            </a:avLst>
          </a:prstGeom>
          <a:solidFill>
            <a:srgbClr val="F5C542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4330452" y="1288703"/>
            <a:ext cx="101071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GLM-5 / 80K ctx</a:t>
            </a:r>
            <a:endParaRPr lang="en-US" sz="600" dirty="0"/>
          </a:p>
        </p:txBody>
      </p:sp>
      <p:sp>
        <p:nvSpPr>
          <p:cNvPr id="36" name="Text 34"/>
          <p:cNvSpPr/>
          <p:nvPr/>
        </p:nvSpPr>
        <p:spPr>
          <a:xfrm>
            <a:off x="4241602" y="1450628"/>
            <a:ext cx="1168598" cy="180975"/>
          </a:xfrm>
          <a:prstGeom prst="roundRect">
            <a:avLst>
              <a:gd name="adj" fmla="val 21053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4339977" y="1498253"/>
            <a:ext cx="99128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무료 tier</a:t>
            </a:r>
            <a:endParaRPr lang="en-US" sz="600" dirty="0"/>
          </a:p>
        </p:txBody>
      </p:sp>
      <p:sp>
        <p:nvSpPr>
          <p:cNvPr id="38" name="Text 36"/>
          <p:cNvSpPr/>
          <p:nvPr/>
        </p:nvSpPr>
        <p:spPr>
          <a:xfrm>
            <a:off x="4241602" y="1669703"/>
            <a:ext cx="1168598" cy="180975"/>
          </a:xfrm>
          <a:prstGeom prst="roundRect">
            <a:avLst>
              <a:gd name="adj" fmla="val 21053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4339977" y="1717328"/>
            <a:ext cx="99128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최후 보루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457200" y="2041178"/>
            <a:ext cx="5079950" cy="2886521"/>
          </a:xfrm>
          <a:prstGeom prst="roundRect">
            <a:avLst>
              <a:gd name="adj" fmla="val 1760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606326" y="2152204"/>
            <a:ext cx="487733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Circuit Breaker 상태 머신 (Provider별 독립)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606326" y="2364730"/>
            <a:ext cx="1284089" cy="365075"/>
          </a:xfrm>
          <a:prstGeom prst="roundRect">
            <a:avLst>
              <a:gd name="adj" fmla="val 13915"/>
            </a:avLst>
          </a:prstGeom>
          <a:solidFill>
            <a:srgbClr val="34D399">
              <a:alpha val="12000"/>
            </a:srgbClr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706731" y="2450455"/>
            <a:ext cx="108327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CLOSED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706731" y="2558355"/>
            <a:ext cx="108327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정상 처리</a:t>
            </a:r>
            <a:endParaRPr lang="en-US" sz="600" dirty="0"/>
          </a:p>
        </p:txBody>
      </p:sp>
      <p:sp>
        <p:nvSpPr>
          <p:cNvPr id="45" name="Text 43"/>
          <p:cNvSpPr/>
          <p:nvPr/>
        </p:nvSpPr>
        <p:spPr>
          <a:xfrm>
            <a:off x="1966615" y="2440930"/>
            <a:ext cx="42262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5회 연속 실패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2122884" y="2539305"/>
            <a:ext cx="10368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2457152" y="2364730"/>
            <a:ext cx="1284238" cy="365075"/>
          </a:xfrm>
          <a:prstGeom prst="roundRect">
            <a:avLst>
              <a:gd name="adj" fmla="val 13915"/>
            </a:avLst>
          </a:prstGeom>
          <a:solidFill>
            <a:srgbClr val="EF4444">
              <a:alpha val="12000"/>
            </a:srgbClr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2557556" y="2450455"/>
            <a:ext cx="108343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2557556" y="2558355"/>
            <a:ext cx="108343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60s 차단</a:t>
            </a:r>
            <a:endParaRPr lang="en-US" sz="600" dirty="0"/>
          </a:p>
        </p:txBody>
      </p:sp>
      <p:sp>
        <p:nvSpPr>
          <p:cNvPr id="50" name="Text 48"/>
          <p:cNvSpPr/>
          <p:nvPr/>
        </p:nvSpPr>
        <p:spPr>
          <a:xfrm>
            <a:off x="3817590" y="2440930"/>
            <a:ext cx="21419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60s 후</a:t>
            </a:r>
            <a:endParaRPr lang="en-US" sz="600" dirty="0"/>
          </a:p>
        </p:txBody>
      </p:sp>
      <p:sp>
        <p:nvSpPr>
          <p:cNvPr id="51" name="Text 49"/>
          <p:cNvSpPr/>
          <p:nvPr/>
        </p:nvSpPr>
        <p:spPr>
          <a:xfrm>
            <a:off x="3871764" y="2539305"/>
            <a:ext cx="10368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4103787" y="2364730"/>
            <a:ext cx="1284238" cy="365075"/>
          </a:xfrm>
          <a:prstGeom prst="roundRect">
            <a:avLst>
              <a:gd name="adj" fmla="val 13915"/>
            </a:avLst>
          </a:prstGeom>
          <a:solidFill>
            <a:srgbClr val="F5C542">
              <a:alpha val="12000"/>
            </a:srgbClr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4204191" y="2450455"/>
            <a:ext cx="108343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HALF-OPEN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4204191" y="2558355"/>
            <a:ext cx="108343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프로브 1회</a:t>
            </a:r>
            <a:endParaRPr lang="en-US" sz="600" dirty="0"/>
          </a:p>
        </p:txBody>
      </p:sp>
      <p:sp>
        <p:nvSpPr>
          <p:cNvPr id="55" name="Text 53"/>
          <p:cNvSpPr/>
          <p:nvPr/>
        </p:nvSpPr>
        <p:spPr>
          <a:xfrm>
            <a:off x="606326" y="2793206"/>
            <a:ext cx="487733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Retryable: Timeout · RateLimit · Connection — Exponential Backoff ±25% Jitter</a:t>
            </a:r>
            <a:endParaRPr lang="en-US" sz="600" dirty="0"/>
          </a:p>
        </p:txBody>
      </p:sp>
      <p:sp>
        <p:nvSpPr>
          <p:cNvPr id="56" name="Text 54"/>
          <p:cNvSpPr/>
          <p:nvPr/>
        </p:nvSpPr>
        <p:spPr>
          <a:xfrm>
            <a:off x="606326" y="2942332"/>
            <a:ext cx="487733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Non-Retryable: 잔액 부족 — 즉시 다음 Provider 에스컬레이션</a:t>
            </a:r>
            <a:endParaRPr lang="en-US" sz="600" dirty="0"/>
          </a:p>
        </p:txBody>
      </p:sp>
      <p:sp>
        <p:nvSpPr>
          <p:cNvPr id="57" name="Text 55"/>
          <p:cNvSpPr/>
          <p:nvPr/>
        </p:nvSpPr>
        <p:spPr>
          <a:xfrm>
            <a:off x="5651450" y="790426"/>
            <a:ext cx="3035350" cy="905321"/>
          </a:xfrm>
          <a:prstGeom prst="roundRect">
            <a:avLst>
              <a:gd name="adj" fmla="val 5611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Text 56"/>
          <p:cNvSpPr/>
          <p:nvPr/>
        </p:nvSpPr>
        <p:spPr>
          <a:xfrm>
            <a:off x="5800576" y="901452"/>
            <a:ext cx="279184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Port/Adapter 추상화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5800576" y="1076027"/>
            <a:ext cx="2791840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3개 Provider를 Port/Adapter DI로 추상화했기 때문에 Failover 시에도 메모리가 모델에 종속되지 않는다. 세션 학습이 Provider 전환 후에도 유지된다.</a:t>
            </a:r>
            <a:endParaRPr lang="en-US" sz="700" dirty="0"/>
          </a:p>
        </p:txBody>
      </p:sp>
      <p:sp>
        <p:nvSpPr>
          <p:cNvPr id="60" name="Text 58"/>
          <p:cNvSpPr/>
          <p:nvPr/>
        </p:nvSpPr>
        <p:spPr>
          <a:xfrm>
            <a:off x="5800576" y="1387971"/>
            <a:ext cx="2737098" cy="196751"/>
          </a:xfrm>
          <a:prstGeom prst="roundRect">
            <a:avLst>
              <a:gd name="adj" fmla="val 19365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Text 59"/>
          <p:cNvSpPr/>
          <p:nvPr/>
        </p:nvSpPr>
        <p:spPr>
          <a:xfrm>
            <a:off x="5902077" y="1443484"/>
            <a:ext cx="60646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LLMClientPort</a:t>
            </a:r>
            <a:endParaRPr lang="en-US" sz="600" dirty="0"/>
          </a:p>
        </p:txBody>
      </p:sp>
      <p:sp>
        <p:nvSpPr>
          <p:cNvPr id="62" name="Text 60"/>
          <p:cNvSpPr/>
          <p:nvPr/>
        </p:nvSpPr>
        <p:spPr>
          <a:xfrm>
            <a:off x="6572845" y="1438721"/>
            <a:ext cx="9077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700" dirty="0"/>
          </a:p>
        </p:txBody>
      </p:sp>
      <p:sp>
        <p:nvSpPr>
          <p:cNvPr id="63" name="Text 61"/>
          <p:cNvSpPr/>
          <p:nvPr/>
        </p:nvSpPr>
        <p:spPr>
          <a:xfrm>
            <a:off x="6738045" y="1443484"/>
            <a:ext cx="130597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Anthropic · OpenAI · ZhipuAI</a:t>
            </a:r>
            <a:endParaRPr lang="en-US" sz="600" dirty="0"/>
          </a:p>
        </p:txBody>
      </p:sp>
      <p:sp>
        <p:nvSpPr>
          <p:cNvPr id="64" name="Text 62"/>
          <p:cNvSpPr/>
          <p:nvPr/>
        </p:nvSpPr>
        <p:spPr>
          <a:xfrm>
            <a:off x="5651450" y="1771948"/>
            <a:ext cx="3035350" cy="645170"/>
          </a:xfrm>
          <a:prstGeom prst="roundRect">
            <a:avLst>
              <a:gd name="adj" fmla="val 7874"/>
            </a:avLst>
          </a:prstGeom>
          <a:solidFill>
            <a:srgbClr val="161B22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5800576" y="1882973"/>
            <a:ext cx="279184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ZhipuAI 선택 근거</a:t>
            </a:r>
            <a:endParaRPr lang="en-US" sz="800" dirty="0"/>
          </a:p>
        </p:txBody>
      </p:sp>
      <p:sp>
        <p:nvSpPr>
          <p:cNvPr id="66" name="Text 64"/>
          <p:cNvSpPr/>
          <p:nvPr/>
        </p:nvSpPr>
        <p:spPr>
          <a:xfrm>
            <a:off x="5800576" y="2057549"/>
            <a:ext cx="2791840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80K context + 무료 tier</a:t>
            </a:r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Anthropic·OpenAI 양쪽 장애 시 비용 없이 운영 연속성을 보장한다. GLM-5 성능이 GPT-4 수준이라 응급 처리에 충분하다.</a:t>
            </a:r>
            <a:endParaRPr lang="en-US" sz="700" dirty="0"/>
          </a:p>
        </p:txBody>
      </p:sp>
      <p:sp>
        <p:nvSpPr>
          <p:cNvPr id="67" name="Text 65"/>
          <p:cNvSpPr/>
          <p:nvPr/>
        </p:nvSpPr>
        <p:spPr>
          <a:xfrm>
            <a:off x="5651450" y="2493318"/>
            <a:ext cx="3035350" cy="2434382"/>
          </a:xfrm>
          <a:prstGeom prst="roundRect">
            <a:avLst>
              <a:gd name="adj" fmla="val 2087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Shape 66"/>
          <p:cNvSpPr/>
          <p:nvPr/>
        </p:nvSpPr>
        <p:spPr>
          <a:xfrm>
            <a:off x="5675263" y="2493318"/>
            <a:ext cx="0" cy="2434382"/>
          </a:xfrm>
          <a:prstGeom prst="line">
            <a:avLst/>
          </a:prstGeom>
          <a:noFill/>
          <a:ln w="47625">
            <a:solidFill>
              <a:srgbClr val="4ECDC4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5838676" y="2594818"/>
            <a:ext cx="276269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 3-Provider 유지 비용 vs 단일 장애점</a:t>
            </a:r>
            <a:endParaRPr lang="en-US" sz="700" dirty="0"/>
          </a:p>
        </p:txBody>
      </p:sp>
      <p:sp>
        <p:nvSpPr>
          <p:cNvPr id="70" name="Text 68"/>
          <p:cNvSpPr/>
          <p:nvPr/>
        </p:nvSpPr>
        <p:spPr>
          <a:xfrm>
            <a:off x="5838676" y="2750344"/>
            <a:ext cx="2762694" cy="399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어댑터 3개 유지 비용이 있지만, 단일 Provider 장애로 파이프라인 전체가 중단되는 비용이 훨씬 크다. ZhipuAI 무료 tier 덕분에 추가 비용 없이 단일 장애점을 제거했다.</a:t>
            </a:r>
            <a:endParaRPr lang="en-US" sz="700" dirty="0"/>
          </a:p>
        </p:txBody>
      </p:sp>
      <p:sp>
        <p:nvSpPr>
          <p:cNvPr id="71" name="Text 69"/>
          <p:cNvSpPr/>
          <p:nvPr/>
        </p:nvSpPr>
        <p:spPr>
          <a:xfrm>
            <a:off x="6878529" y="3251448"/>
            <a:ext cx="319701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72" name="Text 70"/>
          <p:cNvSpPr/>
          <p:nvPr/>
        </p:nvSpPr>
        <p:spPr>
          <a:xfrm>
            <a:off x="6878529" y="3505498"/>
            <a:ext cx="31970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providers</a:t>
            </a:r>
            <a:endParaRPr lang="en-US" sz="600" dirty="0"/>
          </a:p>
        </p:txBody>
      </p:sp>
      <p:sp>
        <p:nvSpPr>
          <p:cNvPr id="73" name="Text 71"/>
          <p:cNvSpPr/>
          <p:nvPr/>
        </p:nvSpPr>
        <p:spPr>
          <a:xfrm>
            <a:off x="7294522" y="3251448"/>
            <a:ext cx="211616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2000" dirty="0"/>
          </a:p>
        </p:txBody>
      </p:sp>
      <p:sp>
        <p:nvSpPr>
          <p:cNvPr id="74" name="Text 72"/>
          <p:cNvSpPr/>
          <p:nvPr/>
        </p:nvSpPr>
        <p:spPr>
          <a:xfrm>
            <a:off x="7294522" y="3505498"/>
            <a:ext cx="21161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SPOF</a:t>
            </a:r>
            <a:endParaRPr lang="en-US" sz="600" dirty="0"/>
          </a:p>
        </p:txBody>
      </p:sp>
      <p:sp>
        <p:nvSpPr>
          <p:cNvPr id="75" name="Text 73"/>
          <p:cNvSpPr/>
          <p:nvPr/>
        </p:nvSpPr>
        <p:spPr>
          <a:xfrm>
            <a:off x="457200" y="4978450"/>
            <a:ext cx="3476327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Anthropic(Opus·Sonnet·Haiku) · OpenAI(GPT-5.4·5.3·4o) · ZhipuAI(GLM-5 80K) — Provider별 독립 CircuitBreaker 3-state</a:t>
            </a:r>
            <a:endParaRPr lang="en-US" sz="500" dirty="0"/>
          </a:p>
        </p:txBody>
      </p:sp>
      <p:sp>
        <p:nvSpPr>
          <p:cNvPr id="76" name="Text 74"/>
          <p:cNvSpPr/>
          <p:nvPr/>
        </p:nvSpPr>
        <p:spPr>
          <a:xfrm>
            <a:off x="8492728" y="4983212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34</a:t>
            </a:r>
            <a:endParaRPr lang="en-US" sz="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1430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44363"/>
            <a:ext cx="166833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HE-1 DEEP DIVE — 실행 흐름 ⑤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55550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Compression: 80% WARNING → 95% CRITICAL → 3-Phase 압축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22250"/>
            <a:ext cx="839419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컨텍스트 윈도우가 넘치면 루프가 강제 종료됐다 — Lossless Selection으로 정보 손실 없이 비용 0.03%로 절감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790426"/>
            <a:ext cx="471520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컨텍스트 압축 3-Phase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990451"/>
            <a:ext cx="4622750" cy="603945"/>
          </a:xfrm>
          <a:prstGeom prst="roundRect">
            <a:avLst>
              <a:gd name="adj" fmla="val 8411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457200" y="995214"/>
            <a:ext cx="4622750" cy="0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75188" y="990451"/>
            <a:ext cx="0" cy="603945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1589633"/>
            <a:ext cx="4622750" cy="0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6250" y="990451"/>
            <a:ext cx="0" cy="603945"/>
          </a:xfrm>
          <a:prstGeom prst="line">
            <a:avLst/>
          </a:prstGeom>
          <a:noFill/>
          <a:ln w="38100">
            <a:solidFill>
              <a:srgbClr val="21262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4901" y="1101477"/>
            <a:ext cx="438184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 — MONITOR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634901" y="1234827"/>
            <a:ext cx="4381842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spcBef>
                <a:spcPts val="3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컨텍스트 사용률 상시 추적. </a:t>
            </a:r>
            <a:pPr algn="l" indent="0" marL="0">
              <a:lnSpc>
                <a:spcPts val="980"/>
              </a:lnSpc>
              <a:spcBef>
                <a:spcPts val="300"/>
              </a:spcBef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pPr algn="l" indent="0" marL="0">
              <a:lnSpc>
                <a:spcPts val="980"/>
              </a:lnSpc>
              <a:spcBef>
                <a:spcPts val="3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도달 시 CONTEXT_WARNING 이벤트 발화 — 루프는 계속 진행하되 compact 준비 신호를 핸들러에게 전달한다.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2743051" y="1670596"/>
            <a:ext cx="5191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457200" y="1861096"/>
            <a:ext cx="4622750" cy="966192"/>
          </a:xfrm>
          <a:prstGeom prst="roundRect">
            <a:avLst>
              <a:gd name="adj" fmla="val 5258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457200" y="1865858"/>
            <a:ext cx="4622750" cy="0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075188" y="1861096"/>
            <a:ext cx="0" cy="966192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2822525"/>
            <a:ext cx="4622750" cy="0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6250" y="1861096"/>
            <a:ext cx="0" cy="966192"/>
          </a:xfrm>
          <a:prstGeom prst="line">
            <a:avLst/>
          </a:prstGeom>
          <a:noFill/>
          <a:ln w="38100">
            <a:solidFill>
              <a:srgbClr val="21262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4901" y="1972121"/>
            <a:ext cx="438184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 — LOSSLESS SELECT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634901" y="2105471"/>
            <a:ext cx="4381842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spcBef>
                <a:spcPts val="3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Lossy 요약 대신 LLM이 코드로 관련 청크만 선별한다. 요약이 아니라 선택이기 때문에 </a:t>
            </a:r>
            <a:pPr algn="l" indent="0" marL="0">
              <a:lnSpc>
                <a:spcPts val="980"/>
              </a:lnSpc>
              <a:spcBef>
                <a:spcPts val="300"/>
              </a:spcBef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정보 손실 0%</a:t>
            </a:r>
            <a:pPr algn="l" indent="0" marL="0">
              <a:lnSpc>
                <a:spcPts val="980"/>
              </a:lnSpc>
              <a:spcBef>
                <a:spcPts val="3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LLM 호출 비용 </a:t>
            </a:r>
            <a:pPr algn="l" indent="0" marL="0">
              <a:lnSpc>
                <a:spcPts val="980"/>
              </a:lnSpc>
              <a:spcBef>
                <a:spcPts val="300"/>
              </a:spcBef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0.03%</a:t>
            </a:r>
            <a:pPr algn="l" indent="0" marL="0">
              <a:lnSpc>
                <a:spcPts val="980"/>
              </a:lnSpc>
              <a:spcBef>
                <a:spcPts val="3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로 절감. 깊이 3이면 서브에이전트 독립 200K window로 유효 컨텍스트 600K 선형 확장.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634901" y="2417415"/>
            <a:ext cx="2116187" cy="298847"/>
          </a:xfrm>
          <a:prstGeom prst="roundRect">
            <a:avLst>
              <a:gd name="adj" fmla="val 12749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Shape 21"/>
          <p:cNvSpPr/>
          <p:nvPr/>
        </p:nvSpPr>
        <p:spPr>
          <a:xfrm>
            <a:off x="644426" y="2417415"/>
            <a:ext cx="0" cy="298847"/>
          </a:xfrm>
          <a:prstGeom prst="line">
            <a:avLst/>
          </a:prstGeom>
          <a:noFill/>
          <a:ln w="19050">
            <a:solidFill>
              <a:srgbClr val="EF444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42801" y="2468166"/>
            <a:ext cx="195782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Lossy 요약</a:t>
            </a:r>
            <a:endParaRPr lang="en-US" sz="600" dirty="0"/>
          </a:p>
        </p:txBody>
      </p:sp>
      <p:sp>
        <p:nvSpPr>
          <p:cNvPr id="25" name="Text 23"/>
          <p:cNvSpPr/>
          <p:nvPr/>
        </p:nvSpPr>
        <p:spPr>
          <a:xfrm>
            <a:off x="742801" y="2566541"/>
            <a:ext cx="1957825" cy="98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80"/>
              </a:lnSpc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구현 쉽지만 정보 소실 불가피</a:t>
            </a:r>
            <a:endParaRPr lang="en-US" sz="600" dirty="0"/>
          </a:p>
        </p:txBody>
      </p:sp>
      <p:sp>
        <p:nvSpPr>
          <p:cNvPr id="26" name="Text 24"/>
          <p:cNvSpPr/>
          <p:nvPr/>
        </p:nvSpPr>
        <p:spPr>
          <a:xfrm>
            <a:off x="2814489" y="2417415"/>
            <a:ext cx="2116336" cy="298847"/>
          </a:xfrm>
          <a:prstGeom prst="roundRect">
            <a:avLst>
              <a:gd name="adj" fmla="val 12749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Shape 25"/>
          <p:cNvSpPr/>
          <p:nvPr/>
        </p:nvSpPr>
        <p:spPr>
          <a:xfrm>
            <a:off x="2824014" y="2417415"/>
            <a:ext cx="0" cy="298847"/>
          </a:xfrm>
          <a:prstGeom prst="line">
            <a:avLst/>
          </a:prstGeom>
          <a:noFill/>
          <a:ln w="19050">
            <a:solidFill>
              <a:srgbClr val="34D39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922389" y="2468166"/>
            <a:ext cx="195797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Lossless Selection</a:t>
            </a:r>
            <a:endParaRPr lang="en-US" sz="600" dirty="0"/>
          </a:p>
        </p:txBody>
      </p:sp>
      <p:sp>
        <p:nvSpPr>
          <p:cNvPr id="29" name="Text 27"/>
          <p:cNvSpPr/>
          <p:nvPr/>
        </p:nvSpPr>
        <p:spPr>
          <a:xfrm>
            <a:off x="2922389" y="2566541"/>
            <a:ext cx="1957977" cy="98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80"/>
              </a:lnSpc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관련 청크만 선별 — 내용 유지</a:t>
            </a:r>
            <a:endParaRPr lang="en-US" sz="600" dirty="0"/>
          </a:p>
        </p:txBody>
      </p:sp>
      <p:sp>
        <p:nvSpPr>
          <p:cNvPr id="30" name="Text 28"/>
          <p:cNvSpPr/>
          <p:nvPr/>
        </p:nvSpPr>
        <p:spPr>
          <a:xfrm>
            <a:off x="2743051" y="2903488"/>
            <a:ext cx="5191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457200" y="3093988"/>
            <a:ext cx="4622750" cy="603945"/>
          </a:xfrm>
          <a:prstGeom prst="roundRect">
            <a:avLst>
              <a:gd name="adj" fmla="val 8411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Shape 30"/>
          <p:cNvSpPr/>
          <p:nvPr/>
        </p:nvSpPr>
        <p:spPr>
          <a:xfrm>
            <a:off x="457200" y="3098750"/>
            <a:ext cx="4622750" cy="0"/>
          </a:xfrm>
          <a:prstGeom prst="line">
            <a:avLst/>
          </a:prstGeom>
          <a:noFill/>
          <a:ln w="9525">
            <a:solidFill>
              <a:srgbClr val="EF4444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75188" y="3093988"/>
            <a:ext cx="0" cy="603945"/>
          </a:xfrm>
          <a:prstGeom prst="line">
            <a:avLst/>
          </a:prstGeom>
          <a:noFill/>
          <a:ln w="9525">
            <a:solidFill>
              <a:srgbClr val="EF4444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57200" y="3693170"/>
            <a:ext cx="4622750" cy="0"/>
          </a:xfrm>
          <a:prstGeom prst="line">
            <a:avLst/>
          </a:prstGeom>
          <a:noFill/>
          <a:ln w="9525">
            <a:solidFill>
              <a:srgbClr val="EF4444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76250" y="3093988"/>
            <a:ext cx="0" cy="603945"/>
          </a:xfrm>
          <a:prstGeom prst="line">
            <a:avLst/>
          </a:prstGeom>
          <a:noFill/>
          <a:ln w="38100">
            <a:solidFill>
              <a:srgbClr val="EF444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34901" y="3205014"/>
            <a:ext cx="438184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 — EMERGENCY PRUNE (95%)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634901" y="3338364"/>
            <a:ext cx="4381842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spcBef>
                <a:spcPts val="300"/>
              </a:spcBef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95%</a:t>
            </a:r>
            <a:pPr algn="l" indent="0" marL="0">
              <a:lnSpc>
                <a:spcPts val="980"/>
              </a:lnSpc>
              <a:spcBef>
                <a:spcPts val="3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초과 시 CONTEXT_CRITICAL 이벤트 — 강제 pruning 발동. 최초 사용자 메시지 보존 + bridge 메시지 삽입 후 루프 재개.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457200" y="3774132"/>
            <a:ext cx="4622750" cy="588169"/>
          </a:xfrm>
          <a:prstGeom prst="roundRect">
            <a:avLst>
              <a:gd name="adj" fmla="val 8637"/>
            </a:avLst>
          </a:prstGeom>
          <a:solidFill>
            <a:srgbClr val="1E293B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593675" y="3872508"/>
            <a:ext cx="443679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 정보 손실 vs 크래시 방지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593675" y="4015383"/>
            <a:ext cx="4436796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spcBef>
                <a:spcPts val="3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Lossy 요약은 구현이 쉽지만 정보가 사라진다. Lossless Selection은 LLM 호출 비용이 있지만 0.03%의 비용으로 정보 손실을 막았다.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5206901" y="790426"/>
            <a:ext cx="3479899" cy="1596182"/>
          </a:xfrm>
          <a:prstGeom prst="roundRect">
            <a:avLst>
              <a:gd name="adj" fmla="val 3183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5356027" y="914251"/>
            <a:ext cx="324528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임계값 단계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5356027" y="1114276"/>
            <a:ext cx="3181648" cy="349002"/>
          </a:xfrm>
          <a:prstGeom prst="roundRect">
            <a:avLst>
              <a:gd name="adj" fmla="val 14556"/>
            </a:avLst>
          </a:prstGeom>
          <a:solidFill>
            <a:srgbClr val="34D399">
              <a:alpha val="8000"/>
            </a:srgbClr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5492502" y="1187202"/>
            <a:ext cx="599173" cy="203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6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0-79%</a:t>
            </a:r>
            <a:endParaRPr lang="en-US" sz="1600" dirty="0"/>
          </a:p>
        </p:txBody>
      </p:sp>
      <p:sp>
        <p:nvSpPr>
          <p:cNvPr id="45" name="Text 43"/>
          <p:cNvSpPr/>
          <p:nvPr/>
        </p:nvSpPr>
        <p:spPr>
          <a:xfrm>
            <a:off x="6181427" y="1236315"/>
            <a:ext cx="87196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정상 운영 — 모니터링만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5356027" y="1514029"/>
            <a:ext cx="3181648" cy="349002"/>
          </a:xfrm>
          <a:prstGeom prst="roundRect">
            <a:avLst>
              <a:gd name="adj" fmla="val 14556"/>
            </a:avLst>
          </a:prstGeom>
          <a:solidFill>
            <a:srgbClr val="F5C542">
              <a:alpha val="8000"/>
            </a:srgbClr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5492502" y="1586954"/>
            <a:ext cx="569875" cy="203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6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6152704" y="1636068"/>
            <a:ext cx="138764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WARNING — Lossless Select 준비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5356027" y="1913781"/>
            <a:ext cx="3181648" cy="349002"/>
          </a:xfrm>
          <a:prstGeom prst="roundRect">
            <a:avLst>
              <a:gd name="adj" fmla="val 14556"/>
            </a:avLst>
          </a:prstGeom>
          <a:solidFill>
            <a:srgbClr val="F97316">
              <a:alpha val="8000"/>
            </a:srgbClr>
          </a:solidFill>
          <a:ln w="9525">
            <a:solidFill>
              <a:srgbClr val="F9731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Text 48"/>
          <p:cNvSpPr/>
          <p:nvPr/>
        </p:nvSpPr>
        <p:spPr>
          <a:xfrm>
            <a:off x="5492502" y="1986707"/>
            <a:ext cx="569875" cy="203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6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95%</a:t>
            </a:r>
            <a:endParaRPr lang="en-US" sz="1600" dirty="0"/>
          </a:p>
        </p:txBody>
      </p:sp>
      <p:sp>
        <p:nvSpPr>
          <p:cNvPr id="51" name="Text 49"/>
          <p:cNvSpPr/>
          <p:nvPr/>
        </p:nvSpPr>
        <p:spPr>
          <a:xfrm>
            <a:off x="6152704" y="2035820"/>
            <a:ext cx="145823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CRITICAL — Emergency Prune 발동</a:t>
            </a:r>
            <a:endParaRPr lang="en-US" sz="700" dirty="0"/>
          </a:p>
        </p:txBody>
      </p:sp>
      <p:sp>
        <p:nvSpPr>
          <p:cNvPr id="52" name="Text 50"/>
          <p:cNvSpPr/>
          <p:nvPr/>
        </p:nvSpPr>
        <p:spPr>
          <a:xfrm>
            <a:off x="5206901" y="2462808"/>
            <a:ext cx="3479899" cy="1690539"/>
          </a:xfrm>
          <a:prstGeom prst="roundRect">
            <a:avLst>
              <a:gd name="adj" fmla="val 3005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5356027" y="2586633"/>
            <a:ext cx="324528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깊이별 유효 컨텍스트 선형 확장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5356027" y="2810321"/>
            <a:ext cx="67355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깊이 1</a:t>
            </a:r>
            <a:endParaRPr lang="en-US" sz="700" dirty="0"/>
          </a:p>
        </p:txBody>
      </p:sp>
      <p:sp>
        <p:nvSpPr>
          <p:cNvPr id="55" name="Text 53"/>
          <p:cNvSpPr/>
          <p:nvPr/>
        </p:nvSpPr>
        <p:spPr>
          <a:xfrm>
            <a:off x="6117878" y="2773859"/>
            <a:ext cx="2419796" cy="177701"/>
          </a:xfrm>
          <a:prstGeom prst="roundRect">
            <a:avLst>
              <a:gd name="adj" fmla="val 21441"/>
            </a:avLst>
          </a:prstGeom>
          <a:solidFill>
            <a:srgbClr val="818CF8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6" name="Text 54"/>
          <p:cNvSpPr/>
          <p:nvPr/>
        </p:nvSpPr>
        <p:spPr>
          <a:xfrm>
            <a:off x="6206728" y="2815084"/>
            <a:ext cx="21677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200K</a:t>
            </a:r>
            <a:endParaRPr lang="en-US" sz="700" dirty="0"/>
          </a:p>
        </p:txBody>
      </p:sp>
      <p:sp>
        <p:nvSpPr>
          <p:cNvPr id="57" name="Text 55"/>
          <p:cNvSpPr/>
          <p:nvPr/>
        </p:nvSpPr>
        <p:spPr>
          <a:xfrm>
            <a:off x="5356027" y="3038773"/>
            <a:ext cx="67355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깊이 2</a:t>
            </a:r>
            <a:endParaRPr lang="en-US" sz="700" dirty="0"/>
          </a:p>
        </p:txBody>
      </p:sp>
      <p:sp>
        <p:nvSpPr>
          <p:cNvPr id="58" name="Text 56"/>
          <p:cNvSpPr/>
          <p:nvPr/>
        </p:nvSpPr>
        <p:spPr>
          <a:xfrm>
            <a:off x="6117878" y="3002310"/>
            <a:ext cx="2419796" cy="177701"/>
          </a:xfrm>
          <a:prstGeom prst="roundRect">
            <a:avLst>
              <a:gd name="adj" fmla="val 21441"/>
            </a:avLst>
          </a:prstGeom>
          <a:solidFill>
            <a:srgbClr val="818CF8">
              <a:alpha val="19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Text 57"/>
          <p:cNvSpPr/>
          <p:nvPr/>
        </p:nvSpPr>
        <p:spPr>
          <a:xfrm>
            <a:off x="6206728" y="3043535"/>
            <a:ext cx="21677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400K</a:t>
            </a:r>
            <a:endParaRPr lang="en-US" sz="700" dirty="0"/>
          </a:p>
        </p:txBody>
      </p:sp>
      <p:sp>
        <p:nvSpPr>
          <p:cNvPr id="60" name="Text 58"/>
          <p:cNvSpPr/>
          <p:nvPr/>
        </p:nvSpPr>
        <p:spPr>
          <a:xfrm>
            <a:off x="5356027" y="3267224"/>
            <a:ext cx="67355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깊이 3</a:t>
            </a:r>
            <a:endParaRPr lang="en-US" sz="700" dirty="0"/>
          </a:p>
        </p:txBody>
      </p:sp>
      <p:sp>
        <p:nvSpPr>
          <p:cNvPr id="61" name="Text 59"/>
          <p:cNvSpPr/>
          <p:nvPr/>
        </p:nvSpPr>
        <p:spPr>
          <a:xfrm>
            <a:off x="6117878" y="3230761"/>
            <a:ext cx="2419796" cy="177701"/>
          </a:xfrm>
          <a:prstGeom prst="roundRect">
            <a:avLst>
              <a:gd name="adj" fmla="val 21441"/>
            </a:avLst>
          </a:prstGeom>
          <a:solidFill>
            <a:srgbClr val="818CF8">
              <a:alpha val="27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6206728" y="3267224"/>
            <a:ext cx="69663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600K ← 선형 확장</a:t>
            </a:r>
            <a:endParaRPr lang="en-US" sz="700" dirty="0"/>
          </a:p>
        </p:txBody>
      </p:sp>
      <p:sp>
        <p:nvSpPr>
          <p:cNvPr id="63" name="Text 61"/>
          <p:cNvSpPr/>
          <p:nvPr/>
        </p:nvSpPr>
        <p:spPr>
          <a:xfrm>
            <a:off x="5356027" y="3484662"/>
            <a:ext cx="3245281" cy="213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spcBef>
                <a:spcPts val="6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서브에이전트는 부모와 독립된 200K window를 가지기 때문에 깊이가 1 증가할 때마다 200K씩 선형으로 확장된다.</a:t>
            </a:r>
            <a:endParaRPr lang="en-US" sz="600" dirty="0"/>
          </a:p>
        </p:txBody>
      </p:sp>
      <p:sp>
        <p:nvSpPr>
          <p:cNvPr id="64" name="Text 62"/>
          <p:cNvSpPr/>
          <p:nvPr/>
        </p:nvSpPr>
        <p:spPr>
          <a:xfrm>
            <a:off x="5206901" y="4229546"/>
            <a:ext cx="3479899" cy="698153"/>
          </a:xfrm>
          <a:prstGeom prst="roundRect">
            <a:avLst>
              <a:gd name="adj" fmla="val 7276"/>
            </a:avLst>
          </a:prstGeom>
          <a:solidFill>
            <a:srgbClr val="0D2B1E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5324210" y="4340572"/>
            <a:ext cx="3245281" cy="279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22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0.03%</a:t>
            </a:r>
            <a:endParaRPr lang="en-US" sz="2200" dirty="0"/>
          </a:p>
        </p:txBody>
      </p:sp>
      <p:sp>
        <p:nvSpPr>
          <p:cNvPr id="66" name="Text 64"/>
          <p:cNvSpPr/>
          <p:nvPr/>
        </p:nvSpPr>
        <p:spPr>
          <a:xfrm>
            <a:off x="5324210" y="4645223"/>
            <a:ext cx="324528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Lossless Select 압축 비용</a:t>
            </a:r>
            <a:endParaRPr lang="en-US" sz="600" dirty="0"/>
          </a:p>
        </p:txBody>
      </p:sp>
      <p:sp>
        <p:nvSpPr>
          <p:cNvPr id="67" name="Text 65"/>
          <p:cNvSpPr/>
          <p:nvPr/>
        </p:nvSpPr>
        <p:spPr>
          <a:xfrm>
            <a:off x="5324210" y="4730948"/>
            <a:ext cx="324528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(Lossy 요약 대비 정보 손실 없음)</a:t>
            </a:r>
            <a:endParaRPr lang="en-US" sz="600" dirty="0"/>
          </a:p>
        </p:txBody>
      </p:sp>
      <p:sp>
        <p:nvSpPr>
          <p:cNvPr id="68" name="Text 66"/>
          <p:cNvSpPr/>
          <p:nvPr/>
        </p:nvSpPr>
        <p:spPr>
          <a:xfrm>
            <a:off x="457200" y="4978450"/>
            <a:ext cx="3237539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CONTEXT_WARNING 80% · CONTEXT_CRITICAL 95% · Lossless Selection · Emergency Prune · bridge 메시지</a:t>
            </a:r>
            <a:endParaRPr lang="en-US" sz="500" dirty="0"/>
          </a:p>
        </p:txBody>
      </p:sp>
      <p:sp>
        <p:nvSpPr>
          <p:cNvPr id="69" name="Text 67"/>
          <p:cNvSpPr/>
          <p:nvPr/>
        </p:nvSpPr>
        <p:spPr>
          <a:xfrm>
            <a:off x="8492728" y="4983212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34</a:t>
            </a:r>
            <a:endParaRPr lang="en-US" sz="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1430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44363"/>
            <a:ext cx="166833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HE-1 DEEP DIVE — 실행 흐름 ⑥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55550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 + Auto-Learning: 턴 종료 → TURN_COMPLETE hook → MEMORY.md 자동 학습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22250"/>
            <a:ext cx="839419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분석 세션이 끝나면 인사이트가 휘발됐다 — PIPELINE_END 이벤트가 MEMORY.md에 자동 축적, 다음 세션에 반영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790426"/>
            <a:ext cx="5029200" cy="1346299"/>
          </a:xfrm>
          <a:prstGeom prst="roundRect">
            <a:avLst>
              <a:gd name="adj" fmla="val 3773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06326" y="914251"/>
            <a:ext cx="482556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AUTO-LEARNING FEEDBACK LOOP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06326" y="1130052"/>
            <a:ext cx="1424583" cy="374600"/>
          </a:xfrm>
          <a:prstGeom prst="roundRect">
            <a:avLst>
              <a:gd name="adj" fmla="val 13561"/>
            </a:avLst>
          </a:prstGeom>
          <a:solidFill>
            <a:srgbClr val="4ECDC4">
              <a:alpha val="12000"/>
            </a:srgbClr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718381" y="1215777"/>
            <a:ext cx="120047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턴 실행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718381" y="1333202"/>
            <a:ext cx="120047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AgenticLoop 1 turn</a:t>
            </a:r>
            <a:endParaRPr lang="en-US" sz="600" dirty="0"/>
          </a:p>
        </p:txBody>
      </p:sp>
      <p:sp>
        <p:nvSpPr>
          <p:cNvPr id="11" name="Text 9"/>
          <p:cNvSpPr/>
          <p:nvPr/>
        </p:nvSpPr>
        <p:spPr>
          <a:xfrm>
            <a:off x="2094309" y="1260128"/>
            <a:ext cx="10368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2259360" y="1134814"/>
            <a:ext cx="1424732" cy="365075"/>
          </a:xfrm>
          <a:prstGeom prst="roundRect">
            <a:avLst>
              <a:gd name="adj" fmla="val 13915"/>
            </a:avLst>
          </a:prstGeom>
          <a:solidFill>
            <a:srgbClr val="F97316">
              <a:alpha val="12000"/>
            </a:srgbClr>
          </a:solidFill>
          <a:ln w="9525">
            <a:solidFill>
              <a:srgbClr val="F9731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2371414" y="1220539"/>
            <a:ext cx="120062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TURN_COMPLETE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2371414" y="1328440"/>
            <a:ext cx="120062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 이벤트 발화</a:t>
            </a:r>
            <a:endParaRPr lang="en-US" sz="600" dirty="0"/>
          </a:p>
        </p:txBody>
      </p:sp>
      <p:sp>
        <p:nvSpPr>
          <p:cNvPr id="15" name="Text 13"/>
          <p:cNvSpPr/>
          <p:nvPr/>
        </p:nvSpPr>
        <p:spPr>
          <a:xfrm>
            <a:off x="3747492" y="1260128"/>
            <a:ext cx="10368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3912543" y="1134814"/>
            <a:ext cx="1424732" cy="365075"/>
          </a:xfrm>
          <a:prstGeom prst="roundRect">
            <a:avLst>
              <a:gd name="adj" fmla="val 13915"/>
            </a:avLst>
          </a:prstGeom>
          <a:solidFill>
            <a:srgbClr val="34D399">
              <a:alpha val="12000"/>
            </a:srgbClr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4024597" y="1220539"/>
            <a:ext cx="120062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MEMORY.md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4024597" y="1328440"/>
            <a:ext cx="120062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인사이트 자동 축적</a:t>
            </a:r>
            <a:endParaRPr lang="en-US" sz="600" dirty="0"/>
          </a:p>
        </p:txBody>
      </p:sp>
      <p:sp>
        <p:nvSpPr>
          <p:cNvPr id="19" name="Text 17"/>
          <p:cNvSpPr/>
          <p:nvPr/>
        </p:nvSpPr>
        <p:spPr>
          <a:xfrm>
            <a:off x="1932831" y="1568053"/>
            <a:ext cx="211949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PIPELINE_END → memory write-back → 다음 세션 Tier 3 주입</a:t>
            </a:r>
            <a:endParaRPr lang="en-US" sz="600" dirty="0"/>
          </a:p>
        </p:txBody>
      </p:sp>
      <p:sp>
        <p:nvSpPr>
          <p:cNvPr id="20" name="Text 18"/>
          <p:cNvSpPr/>
          <p:nvPr/>
        </p:nvSpPr>
        <p:spPr>
          <a:xfrm>
            <a:off x="606326" y="1717179"/>
            <a:ext cx="4730948" cy="295721"/>
          </a:xfrm>
          <a:prstGeom prst="roundRect">
            <a:avLst>
              <a:gd name="adj" fmla="val 17178"/>
            </a:avLst>
          </a:prstGeom>
          <a:solidFill>
            <a:srgbClr val="0D1117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698221" y="1802904"/>
            <a:ext cx="4547158" cy="124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다음 세션 시작 시 PromptAssembler P4 (memory 페이즈)가 MEMORY.md 인사이트를 프롬프트에 자동 주입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457200" y="2212925"/>
            <a:ext cx="5029200" cy="2724299"/>
          </a:xfrm>
          <a:prstGeom prst="roundRect">
            <a:avLst>
              <a:gd name="adj" fmla="val 1865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06326" y="2323951"/>
            <a:ext cx="482556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4-TIER MEMORY 계층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606326" y="2536627"/>
            <a:ext cx="1135112" cy="2289572"/>
          </a:xfrm>
          <a:prstGeom prst="roundRect">
            <a:avLst>
              <a:gd name="adj" fmla="val 4475"/>
            </a:avLst>
          </a:prstGeom>
          <a:solidFill>
            <a:srgbClr val="818CF8">
              <a:alpha val="12000"/>
            </a:srgbClr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717352" y="2622352"/>
            <a:ext cx="93132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4 — Organization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717352" y="2838152"/>
            <a:ext cx="93132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불변 가이드라인 · CLAUDE.md · 전역 정책</a:t>
            </a:r>
            <a:endParaRPr lang="en-US" sz="600" dirty="0"/>
          </a:p>
        </p:txBody>
      </p:sp>
      <p:sp>
        <p:nvSpPr>
          <p:cNvPr id="27" name="Text 25"/>
          <p:cNvSpPr/>
          <p:nvPr/>
        </p:nvSpPr>
        <p:spPr>
          <a:xfrm>
            <a:off x="1804839" y="2536627"/>
            <a:ext cx="1135261" cy="2289572"/>
          </a:xfrm>
          <a:prstGeom prst="roundRect">
            <a:avLst>
              <a:gd name="adj" fmla="val 4475"/>
            </a:avLst>
          </a:prstGeom>
          <a:solidFill>
            <a:srgbClr val="4ECDC4">
              <a:alpha val="8000"/>
            </a:srgbClr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1915864" y="2622352"/>
            <a:ext cx="931474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3 — Project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1915864" y="2742902"/>
            <a:ext cx="931474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세션 간 인사이트 · LEARNINGS.md 자동 업데이트</a:t>
            </a:r>
            <a:endParaRPr lang="en-US" sz="600" dirty="0"/>
          </a:p>
        </p:txBody>
      </p:sp>
      <p:sp>
        <p:nvSpPr>
          <p:cNvPr id="30" name="Text 28"/>
          <p:cNvSpPr/>
          <p:nvPr/>
        </p:nvSpPr>
        <p:spPr>
          <a:xfrm>
            <a:off x="3003500" y="2536627"/>
            <a:ext cx="1135112" cy="2289572"/>
          </a:xfrm>
          <a:prstGeom prst="roundRect">
            <a:avLst>
              <a:gd name="adj" fmla="val 4475"/>
            </a:avLst>
          </a:prstGeom>
          <a:solidFill>
            <a:srgbClr val="F5C542">
              <a:alpha val="8000"/>
            </a:srgbClr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3114526" y="2622352"/>
            <a:ext cx="93132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2 — Session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3114526" y="2742902"/>
            <a:ext cx="93132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TTL 단기 메모리 · 200 turns sliding window</a:t>
            </a:r>
            <a:endParaRPr lang="en-US" sz="600" dirty="0"/>
          </a:p>
        </p:txBody>
      </p:sp>
      <p:sp>
        <p:nvSpPr>
          <p:cNvPr id="33" name="Text 31"/>
          <p:cNvSpPr/>
          <p:nvPr/>
        </p:nvSpPr>
        <p:spPr>
          <a:xfrm>
            <a:off x="4202013" y="2536627"/>
            <a:ext cx="1135261" cy="2289572"/>
          </a:xfrm>
          <a:prstGeom prst="roundRect">
            <a:avLst>
              <a:gd name="adj" fmla="val 4475"/>
            </a:avLst>
          </a:prstGeom>
          <a:solidFill>
            <a:srgbClr val="F97316">
              <a:alpha val="8000"/>
            </a:srgbClr>
          </a:solidFill>
          <a:ln w="9525">
            <a:solidFill>
              <a:srgbClr val="F9731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4313039" y="2622352"/>
            <a:ext cx="931474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1 — Hybrid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4313039" y="2742902"/>
            <a:ext cx="93147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Redis L1 고속 캐시 + File L2 영속 저장</a:t>
            </a:r>
            <a:endParaRPr lang="en-US" sz="600" dirty="0"/>
          </a:p>
        </p:txBody>
      </p:sp>
      <p:sp>
        <p:nvSpPr>
          <p:cNvPr id="36" name="Text 34"/>
          <p:cNvSpPr/>
          <p:nvPr/>
        </p:nvSpPr>
        <p:spPr>
          <a:xfrm>
            <a:off x="5613350" y="790426"/>
            <a:ext cx="3073450" cy="1631454"/>
          </a:xfrm>
          <a:prstGeom prst="roundRect">
            <a:avLst>
              <a:gd name="adj" fmla="val 3114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5762476" y="914251"/>
            <a:ext cx="283070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 Write-back 메커니즘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5762476" y="1101477"/>
            <a:ext cx="2775198" cy="358676"/>
          </a:xfrm>
          <a:prstGeom prst="roundRect">
            <a:avLst>
              <a:gd name="adj" fmla="val 14163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Shape 37"/>
          <p:cNvSpPr/>
          <p:nvPr/>
        </p:nvSpPr>
        <p:spPr>
          <a:xfrm>
            <a:off x="5781526" y="1101477"/>
            <a:ext cx="0" cy="358676"/>
          </a:xfrm>
          <a:prstGeom prst="line">
            <a:avLst/>
          </a:prstGeom>
          <a:noFill/>
          <a:ln w="38100">
            <a:solidFill>
              <a:srgbClr val="F9731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914876" y="1177677"/>
            <a:ext cx="255866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PIPELINE_END hook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5914876" y="1298228"/>
            <a:ext cx="255866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파이프라인 종료 시 L2 React 핸들러 자동 실행</a:t>
            </a:r>
            <a:endParaRPr lang="en-US" sz="600" dirty="0"/>
          </a:p>
        </p:txBody>
      </p:sp>
      <p:sp>
        <p:nvSpPr>
          <p:cNvPr id="42" name="Text 40"/>
          <p:cNvSpPr/>
          <p:nvPr/>
        </p:nvSpPr>
        <p:spPr>
          <a:xfrm>
            <a:off x="5762476" y="1510903"/>
            <a:ext cx="2775198" cy="368201"/>
          </a:xfrm>
          <a:prstGeom prst="roundRect">
            <a:avLst>
              <a:gd name="adj" fmla="val 13797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Shape 41"/>
          <p:cNvSpPr/>
          <p:nvPr/>
        </p:nvSpPr>
        <p:spPr>
          <a:xfrm>
            <a:off x="5781526" y="1510903"/>
            <a:ext cx="0" cy="368201"/>
          </a:xfrm>
          <a:prstGeom prst="line">
            <a:avLst/>
          </a:prstGeom>
          <a:noFill/>
          <a:ln w="38100">
            <a:solidFill>
              <a:srgbClr val="4ECDC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914876" y="1587103"/>
            <a:ext cx="255866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패턴 추출 + 요약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5914876" y="1717179"/>
            <a:ext cx="255866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LLM이 인사이트·패턴·결정 이유를 구조화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5762476" y="1929854"/>
            <a:ext cx="2775198" cy="368201"/>
          </a:xfrm>
          <a:prstGeom prst="roundRect">
            <a:avLst>
              <a:gd name="adj" fmla="val 13797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Shape 45"/>
          <p:cNvSpPr/>
          <p:nvPr/>
        </p:nvSpPr>
        <p:spPr>
          <a:xfrm>
            <a:off x="5781526" y="1929854"/>
            <a:ext cx="0" cy="368201"/>
          </a:xfrm>
          <a:prstGeom prst="line">
            <a:avLst/>
          </a:prstGeom>
          <a:noFill/>
          <a:ln w="38100">
            <a:solidFill>
              <a:srgbClr val="34D399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914876" y="2006054"/>
            <a:ext cx="255866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MEMORY.md 누적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5914876" y="2136130"/>
            <a:ext cx="255866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3 Project 메모리에 append — 세션 간 지속</a:t>
            </a:r>
            <a:endParaRPr lang="en-US" sz="600" dirty="0"/>
          </a:p>
        </p:txBody>
      </p:sp>
      <p:sp>
        <p:nvSpPr>
          <p:cNvPr id="50" name="Text 48"/>
          <p:cNvSpPr/>
          <p:nvPr/>
        </p:nvSpPr>
        <p:spPr>
          <a:xfrm>
            <a:off x="5613350" y="2498080"/>
            <a:ext cx="3073450" cy="981521"/>
          </a:xfrm>
          <a:prstGeom prst="roundRect">
            <a:avLst>
              <a:gd name="adj" fmla="val 5176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Text 49"/>
          <p:cNvSpPr/>
          <p:nvPr/>
        </p:nvSpPr>
        <p:spPr>
          <a:xfrm>
            <a:off x="5762476" y="2609106"/>
            <a:ext cx="283070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4-Tier인가?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5762476" y="2783681"/>
            <a:ext cx="2830702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spcAft>
                <a:spcPts val="400"/>
              </a:spcAft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단일 메모리면 프로젝트 간 격리가 안 되고, 세션 메모리만으로는 인사이트가 휘발된다. 4-Tier로 범위별 TTL과 접근 권한을 분리했다.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5762476" y="3082975"/>
            <a:ext cx="655737" cy="285601"/>
          </a:xfrm>
          <a:prstGeom prst="roundRect">
            <a:avLst>
              <a:gd name="adj" fmla="val 13340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Text 52"/>
          <p:cNvSpPr/>
          <p:nvPr/>
        </p:nvSpPr>
        <p:spPr>
          <a:xfrm>
            <a:off x="5820588" y="3133725"/>
            <a:ext cx="53951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T4 영구</a:t>
            </a:r>
            <a:endParaRPr lang="en-US" sz="600" dirty="0"/>
          </a:p>
        </p:txBody>
      </p:sp>
      <p:sp>
        <p:nvSpPr>
          <p:cNvPr id="55" name="Text 53"/>
          <p:cNvSpPr/>
          <p:nvPr/>
        </p:nvSpPr>
        <p:spPr>
          <a:xfrm>
            <a:off x="5820588" y="3232100"/>
            <a:ext cx="53951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정책 불변</a:t>
            </a:r>
            <a:endParaRPr lang="en-US" sz="600" dirty="0"/>
          </a:p>
        </p:txBody>
      </p:sp>
      <p:sp>
        <p:nvSpPr>
          <p:cNvPr id="56" name="Text 54"/>
          <p:cNvSpPr/>
          <p:nvPr/>
        </p:nvSpPr>
        <p:spPr>
          <a:xfrm>
            <a:off x="6468963" y="3082975"/>
            <a:ext cx="655737" cy="285601"/>
          </a:xfrm>
          <a:prstGeom prst="roundRect">
            <a:avLst>
              <a:gd name="adj" fmla="val 13340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6527075" y="3133725"/>
            <a:ext cx="53951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T3 장기</a:t>
            </a:r>
            <a:endParaRPr lang="en-US" sz="600" dirty="0"/>
          </a:p>
        </p:txBody>
      </p:sp>
      <p:sp>
        <p:nvSpPr>
          <p:cNvPr id="58" name="Text 56"/>
          <p:cNvSpPr/>
          <p:nvPr/>
        </p:nvSpPr>
        <p:spPr>
          <a:xfrm>
            <a:off x="6527075" y="3232100"/>
            <a:ext cx="53951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세션 간 누적</a:t>
            </a:r>
            <a:endParaRPr lang="en-US" sz="600" dirty="0"/>
          </a:p>
        </p:txBody>
      </p:sp>
      <p:sp>
        <p:nvSpPr>
          <p:cNvPr id="59" name="Text 57"/>
          <p:cNvSpPr/>
          <p:nvPr/>
        </p:nvSpPr>
        <p:spPr>
          <a:xfrm>
            <a:off x="7175450" y="3082975"/>
            <a:ext cx="655737" cy="285601"/>
          </a:xfrm>
          <a:prstGeom prst="roundRect">
            <a:avLst>
              <a:gd name="adj" fmla="val 13340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7233562" y="3133725"/>
            <a:ext cx="53951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T2 TTL</a:t>
            </a:r>
            <a:endParaRPr lang="en-US" sz="600" dirty="0"/>
          </a:p>
        </p:txBody>
      </p:sp>
      <p:sp>
        <p:nvSpPr>
          <p:cNvPr id="61" name="Text 59"/>
          <p:cNvSpPr/>
          <p:nvPr/>
        </p:nvSpPr>
        <p:spPr>
          <a:xfrm>
            <a:off x="7233562" y="3232100"/>
            <a:ext cx="53951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세션 단위</a:t>
            </a:r>
            <a:endParaRPr lang="en-US" sz="600" dirty="0"/>
          </a:p>
        </p:txBody>
      </p:sp>
      <p:sp>
        <p:nvSpPr>
          <p:cNvPr id="62" name="Text 60"/>
          <p:cNvSpPr/>
          <p:nvPr/>
        </p:nvSpPr>
        <p:spPr>
          <a:xfrm>
            <a:off x="7881937" y="3082975"/>
            <a:ext cx="655737" cy="285601"/>
          </a:xfrm>
          <a:prstGeom prst="roundRect">
            <a:avLst>
              <a:gd name="adj" fmla="val 13340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Text 61"/>
          <p:cNvSpPr/>
          <p:nvPr/>
        </p:nvSpPr>
        <p:spPr>
          <a:xfrm>
            <a:off x="7940049" y="3133725"/>
            <a:ext cx="53951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T1 고속</a:t>
            </a:r>
            <a:endParaRPr lang="en-US" sz="600" dirty="0"/>
          </a:p>
        </p:txBody>
      </p:sp>
      <p:sp>
        <p:nvSpPr>
          <p:cNvPr id="64" name="Text 62"/>
          <p:cNvSpPr/>
          <p:nvPr/>
        </p:nvSpPr>
        <p:spPr>
          <a:xfrm>
            <a:off x="7940049" y="3232100"/>
            <a:ext cx="53951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Redis 캐시</a:t>
            </a:r>
            <a:endParaRPr lang="en-US" sz="600" dirty="0"/>
          </a:p>
        </p:txBody>
      </p:sp>
      <p:sp>
        <p:nvSpPr>
          <p:cNvPr id="65" name="Text 63"/>
          <p:cNvSpPr/>
          <p:nvPr/>
        </p:nvSpPr>
        <p:spPr>
          <a:xfrm>
            <a:off x="5613350" y="3555802"/>
            <a:ext cx="3073450" cy="588169"/>
          </a:xfrm>
          <a:prstGeom prst="roundRect">
            <a:avLst>
              <a:gd name="adj" fmla="val 8637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6" name="Text 64"/>
          <p:cNvSpPr/>
          <p:nvPr/>
        </p:nvSpPr>
        <p:spPr>
          <a:xfrm>
            <a:off x="5762476" y="3654177"/>
            <a:ext cx="283070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 Failover 후에도 메모리 유지</a:t>
            </a:r>
            <a:endParaRPr lang="en-US" sz="700" dirty="0"/>
          </a:p>
        </p:txBody>
      </p:sp>
      <p:sp>
        <p:nvSpPr>
          <p:cNvPr id="67" name="Text 65"/>
          <p:cNvSpPr/>
          <p:nvPr/>
        </p:nvSpPr>
        <p:spPr>
          <a:xfrm>
            <a:off x="5762476" y="3797052"/>
            <a:ext cx="2830702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4-Tier 메모리가 LLMClientPort 추상화 위에 있기 때문에 Provider 전환 후에도 세션 학습 내용이 사라지지 않는다.</a:t>
            </a:r>
            <a:endParaRPr lang="en-US" sz="700" dirty="0"/>
          </a:p>
        </p:txBody>
      </p:sp>
      <p:sp>
        <p:nvSpPr>
          <p:cNvPr id="68" name="Text 66"/>
          <p:cNvSpPr/>
          <p:nvPr/>
        </p:nvSpPr>
        <p:spPr>
          <a:xfrm>
            <a:off x="5613350" y="4220170"/>
            <a:ext cx="3073450" cy="732830"/>
          </a:xfrm>
          <a:prstGeom prst="roundRect">
            <a:avLst>
              <a:gd name="adj" fmla="val 6932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Shape 67"/>
          <p:cNvSpPr/>
          <p:nvPr/>
        </p:nvSpPr>
        <p:spPr>
          <a:xfrm>
            <a:off x="5637163" y="4220170"/>
            <a:ext cx="0" cy="732830"/>
          </a:xfrm>
          <a:prstGeom prst="line">
            <a:avLst/>
          </a:prstGeom>
          <a:noFill/>
          <a:ln w="47625">
            <a:solidFill>
              <a:srgbClr val="4ECDC4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800576" y="4309021"/>
            <a:ext cx="280155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 자동 학습 오버헤드 vs 지식 휘발</a:t>
            </a:r>
            <a:endParaRPr lang="en-US" sz="700" dirty="0"/>
          </a:p>
        </p:txBody>
      </p:sp>
      <p:sp>
        <p:nvSpPr>
          <p:cNvPr id="71" name="Text 69"/>
          <p:cNvSpPr/>
          <p:nvPr/>
        </p:nvSpPr>
        <p:spPr>
          <a:xfrm>
            <a:off x="5800576" y="4464546"/>
            <a:ext cx="2801556" cy="399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PIPELINE_END마다 LLM 호출이 추가되지만, 세션마다 인사이트가 휘발되는 비용이 더 크다. write-back 덕분에 동일 분석 영역에서 세션이 누적될수록 품질이 개선된다.</a:t>
            </a:r>
            <a:endParaRPr lang="en-US" sz="700" dirty="0"/>
          </a:p>
        </p:txBody>
      </p:sp>
      <p:sp>
        <p:nvSpPr>
          <p:cNvPr id="72" name="Text 70"/>
          <p:cNvSpPr/>
          <p:nvPr/>
        </p:nvSpPr>
        <p:spPr>
          <a:xfrm>
            <a:off x="457200" y="4987975"/>
            <a:ext cx="3772650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TURN_COMPLETE · PIPELINE_END hook · 4-Tier: Session→Project→Org→Hybrid · Redis L1 + File L2 · MEMORY.md write-back</a:t>
            </a:r>
            <a:endParaRPr lang="en-US" sz="500" dirty="0"/>
          </a:p>
        </p:txBody>
      </p:sp>
      <p:sp>
        <p:nvSpPr>
          <p:cNvPr id="73" name="Text 71"/>
          <p:cNvSpPr/>
          <p:nvPr/>
        </p:nvSpPr>
        <p:spPr>
          <a:xfrm>
            <a:off x="8492728" y="4987975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34</a:t>
            </a:r>
            <a:endParaRPr lang="en-US" sz="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1430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44363"/>
            <a:ext cx="166833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HE-1 DEEP DIVE — 실행 흐름 ⑦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55550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PromptAssembler: 다음 턴 준비 → 6-Phase 동적 조립 → SHA-256 추적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22250"/>
            <a:ext cx="839419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수동 편집으로는 변경 추적이 불가능하고 캐시 히트율이 떨어졌다 — 6-Phase 조립으로 2회차부터 입력 비용 10%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790426"/>
            <a:ext cx="554436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6-Phase 조립 파이프라인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990451"/>
            <a:ext cx="747117" cy="654844"/>
          </a:xfrm>
          <a:prstGeom prst="roundRect">
            <a:avLst>
              <a:gd name="adj" fmla="val 7758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457200" y="1009501"/>
            <a:ext cx="747117" cy="0"/>
          </a:xfrm>
          <a:prstGeom prst="line">
            <a:avLst/>
          </a:prstGeom>
          <a:noFill/>
          <a:ln w="38100">
            <a:solidFill>
              <a:srgbClr val="818CF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99555" y="990451"/>
            <a:ext cx="0" cy="654844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1640532"/>
            <a:ext cx="747117" cy="0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1963" y="990451"/>
            <a:ext cx="0" cy="654844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2925" y="1117402"/>
            <a:ext cx="58718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542925" y="1237952"/>
            <a:ext cx="58718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template</a:t>
            </a:r>
            <a:endParaRPr lang="en-US" sz="600" dirty="0"/>
          </a:p>
        </p:txBody>
      </p:sp>
      <p:sp>
        <p:nvSpPr>
          <p:cNvPr id="14" name="Text 12"/>
          <p:cNvSpPr/>
          <p:nvPr/>
        </p:nvSpPr>
        <p:spPr>
          <a:xfrm>
            <a:off x="542925" y="1348978"/>
            <a:ext cx="587181" cy="197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80"/>
              </a:lnSpc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역할 기반 기본 구조 로드</a:t>
            </a:r>
            <a:endParaRPr lang="en-US" sz="600" dirty="0"/>
          </a:p>
        </p:txBody>
      </p:sp>
      <p:sp>
        <p:nvSpPr>
          <p:cNvPr id="15" name="Text 13"/>
          <p:cNvSpPr/>
          <p:nvPr/>
        </p:nvSpPr>
        <p:spPr>
          <a:xfrm>
            <a:off x="1255068" y="1270248"/>
            <a:ext cx="9077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1394817" y="990451"/>
            <a:ext cx="747266" cy="654844"/>
          </a:xfrm>
          <a:prstGeom prst="roundRect">
            <a:avLst>
              <a:gd name="adj" fmla="val 7758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Shape 15"/>
          <p:cNvSpPr/>
          <p:nvPr/>
        </p:nvSpPr>
        <p:spPr>
          <a:xfrm>
            <a:off x="1394817" y="1009501"/>
            <a:ext cx="747266" cy="0"/>
          </a:xfrm>
          <a:prstGeom prst="line">
            <a:avLst/>
          </a:prstGeom>
          <a:noFill/>
          <a:ln w="38100">
            <a:solidFill>
              <a:srgbClr val="4ECDC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137321" y="990451"/>
            <a:ext cx="0" cy="654844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394817" y="1640532"/>
            <a:ext cx="747266" cy="0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399580" y="990451"/>
            <a:ext cx="0" cy="654844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480542" y="1117402"/>
            <a:ext cx="58733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1480542" y="1237952"/>
            <a:ext cx="58733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override</a:t>
            </a:r>
            <a:endParaRPr lang="en-US" sz="600" dirty="0"/>
          </a:p>
        </p:txBody>
      </p:sp>
      <p:sp>
        <p:nvSpPr>
          <p:cNvPr id="23" name="Text 21"/>
          <p:cNvSpPr/>
          <p:nvPr/>
        </p:nvSpPr>
        <p:spPr>
          <a:xfrm>
            <a:off x="1480542" y="1348978"/>
            <a:ext cx="587332" cy="197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80"/>
              </a:lnSpc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프로젝트별 파라미터 덮어쓰기</a:t>
            </a:r>
            <a:endParaRPr lang="en-US" sz="600" dirty="0"/>
          </a:p>
        </p:txBody>
      </p:sp>
      <p:sp>
        <p:nvSpPr>
          <p:cNvPr id="24" name="Text 22"/>
          <p:cNvSpPr/>
          <p:nvPr/>
        </p:nvSpPr>
        <p:spPr>
          <a:xfrm>
            <a:off x="2192834" y="1270248"/>
            <a:ext cx="9077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2332583" y="990451"/>
            <a:ext cx="747117" cy="654844"/>
          </a:xfrm>
          <a:prstGeom prst="roundRect">
            <a:avLst>
              <a:gd name="adj" fmla="val 7758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Shape 24"/>
          <p:cNvSpPr/>
          <p:nvPr/>
        </p:nvSpPr>
        <p:spPr>
          <a:xfrm>
            <a:off x="2332583" y="1009501"/>
            <a:ext cx="747117" cy="0"/>
          </a:xfrm>
          <a:prstGeom prst="line">
            <a:avLst/>
          </a:prstGeom>
          <a:noFill/>
          <a:ln w="38100">
            <a:solidFill>
              <a:srgbClr val="F5C54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074938" y="990451"/>
            <a:ext cx="0" cy="654844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32583" y="1640532"/>
            <a:ext cx="747117" cy="0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37346" y="990451"/>
            <a:ext cx="0" cy="654844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418308" y="1117402"/>
            <a:ext cx="58718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P3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418308" y="1237952"/>
            <a:ext cx="58718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</a:t>
            </a:r>
            <a:endParaRPr lang="en-US" sz="600" dirty="0"/>
          </a:p>
        </p:txBody>
      </p:sp>
      <p:sp>
        <p:nvSpPr>
          <p:cNvPr id="32" name="Text 30"/>
          <p:cNvSpPr/>
          <p:nvPr/>
        </p:nvSpPr>
        <p:spPr>
          <a:xfrm>
            <a:off x="2418308" y="1348978"/>
            <a:ext cx="587181" cy="197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80"/>
              </a:lnSpc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21개 Scaffold Skill 동적 주입</a:t>
            </a:r>
            <a:endParaRPr lang="en-US" sz="600" dirty="0"/>
          </a:p>
        </p:txBody>
      </p:sp>
      <p:sp>
        <p:nvSpPr>
          <p:cNvPr id="33" name="Text 31"/>
          <p:cNvSpPr/>
          <p:nvPr/>
        </p:nvSpPr>
        <p:spPr>
          <a:xfrm>
            <a:off x="3130451" y="1270248"/>
            <a:ext cx="9077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3270200" y="990451"/>
            <a:ext cx="747266" cy="654844"/>
          </a:xfrm>
          <a:prstGeom prst="roundRect">
            <a:avLst>
              <a:gd name="adj" fmla="val 7758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Shape 33"/>
          <p:cNvSpPr/>
          <p:nvPr/>
        </p:nvSpPr>
        <p:spPr>
          <a:xfrm>
            <a:off x="3270200" y="1009501"/>
            <a:ext cx="747266" cy="0"/>
          </a:xfrm>
          <a:prstGeom prst="line">
            <a:avLst/>
          </a:prstGeom>
          <a:noFill/>
          <a:ln w="38100">
            <a:solidFill>
              <a:srgbClr val="F9731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012704" y="990451"/>
            <a:ext cx="0" cy="654844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270200" y="1640532"/>
            <a:ext cx="747266" cy="0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74963" y="990451"/>
            <a:ext cx="0" cy="654844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355925" y="1117402"/>
            <a:ext cx="58733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P4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3355925" y="1237952"/>
            <a:ext cx="58733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</a:t>
            </a:r>
            <a:endParaRPr lang="en-US" sz="600" dirty="0"/>
          </a:p>
        </p:txBody>
      </p:sp>
      <p:sp>
        <p:nvSpPr>
          <p:cNvPr id="41" name="Text 39"/>
          <p:cNvSpPr/>
          <p:nvPr/>
        </p:nvSpPr>
        <p:spPr>
          <a:xfrm>
            <a:off x="3355925" y="1348978"/>
            <a:ext cx="587332" cy="197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80"/>
              </a:lnSpc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4-Tier 메모리 인사이트 주입</a:t>
            </a:r>
            <a:endParaRPr lang="en-US" sz="600" dirty="0"/>
          </a:p>
        </p:txBody>
      </p:sp>
      <p:sp>
        <p:nvSpPr>
          <p:cNvPr id="42" name="Text 40"/>
          <p:cNvSpPr/>
          <p:nvPr/>
        </p:nvSpPr>
        <p:spPr>
          <a:xfrm>
            <a:off x="4068217" y="1270248"/>
            <a:ext cx="9077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4207966" y="990451"/>
            <a:ext cx="747117" cy="654844"/>
          </a:xfrm>
          <a:prstGeom prst="roundRect">
            <a:avLst>
              <a:gd name="adj" fmla="val 7758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Shape 42"/>
          <p:cNvSpPr/>
          <p:nvPr/>
        </p:nvSpPr>
        <p:spPr>
          <a:xfrm>
            <a:off x="4207966" y="1009501"/>
            <a:ext cx="747117" cy="0"/>
          </a:xfrm>
          <a:prstGeom prst="line">
            <a:avLst/>
          </a:prstGeom>
          <a:noFill/>
          <a:ln w="38100">
            <a:solidFill>
              <a:srgbClr val="34D39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950321" y="990451"/>
            <a:ext cx="0" cy="654844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207966" y="1640532"/>
            <a:ext cx="747117" cy="0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212729" y="990451"/>
            <a:ext cx="0" cy="654844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293691" y="1117402"/>
            <a:ext cx="58718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P5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4293691" y="1237952"/>
            <a:ext cx="58718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bootstrap</a:t>
            </a:r>
            <a:endParaRPr lang="en-US" sz="600" dirty="0"/>
          </a:p>
        </p:txBody>
      </p:sp>
      <p:sp>
        <p:nvSpPr>
          <p:cNvPr id="50" name="Text 48"/>
          <p:cNvSpPr/>
          <p:nvPr/>
        </p:nvSpPr>
        <p:spPr>
          <a:xfrm>
            <a:off x="4293691" y="1348978"/>
            <a:ext cx="587181" cy="197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80"/>
              </a:lnSpc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window 초기화 bridge</a:t>
            </a:r>
            <a:endParaRPr lang="en-US" sz="600" dirty="0"/>
          </a:p>
        </p:txBody>
      </p:sp>
      <p:sp>
        <p:nvSpPr>
          <p:cNvPr id="51" name="Text 49"/>
          <p:cNvSpPr/>
          <p:nvPr/>
        </p:nvSpPr>
        <p:spPr>
          <a:xfrm>
            <a:off x="5005834" y="1270248"/>
            <a:ext cx="9077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700" dirty="0"/>
          </a:p>
        </p:txBody>
      </p:sp>
      <p:sp>
        <p:nvSpPr>
          <p:cNvPr id="52" name="Text 50"/>
          <p:cNvSpPr/>
          <p:nvPr/>
        </p:nvSpPr>
        <p:spPr>
          <a:xfrm>
            <a:off x="5145584" y="990451"/>
            <a:ext cx="747266" cy="654844"/>
          </a:xfrm>
          <a:prstGeom prst="roundRect">
            <a:avLst>
              <a:gd name="adj" fmla="val 7758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Shape 51"/>
          <p:cNvSpPr/>
          <p:nvPr/>
        </p:nvSpPr>
        <p:spPr>
          <a:xfrm>
            <a:off x="5145584" y="1009501"/>
            <a:ext cx="747266" cy="0"/>
          </a:xfrm>
          <a:prstGeom prst="line">
            <a:avLst/>
          </a:prstGeom>
          <a:noFill/>
          <a:ln w="38100">
            <a:solidFill>
              <a:srgbClr val="4ECDC4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888087" y="990451"/>
            <a:ext cx="0" cy="654844"/>
          </a:xfrm>
          <a:prstGeom prst="line">
            <a:avLst/>
          </a:prstGeom>
          <a:noFill/>
          <a:ln w="9525">
            <a:solidFill>
              <a:srgbClr val="4ECDC4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145584" y="1640532"/>
            <a:ext cx="747266" cy="0"/>
          </a:xfrm>
          <a:prstGeom prst="line">
            <a:avLst/>
          </a:prstGeom>
          <a:noFill/>
          <a:ln w="9525">
            <a:solidFill>
              <a:srgbClr val="4ECDC4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150346" y="990451"/>
            <a:ext cx="0" cy="654844"/>
          </a:xfrm>
          <a:prstGeom prst="line">
            <a:avLst/>
          </a:prstGeom>
          <a:noFill/>
          <a:ln w="9525">
            <a:solidFill>
              <a:srgbClr val="4ECDC4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231309" y="1117402"/>
            <a:ext cx="58733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P6</a:t>
            </a:r>
            <a:endParaRPr lang="en-US" sz="700" dirty="0"/>
          </a:p>
        </p:txBody>
      </p:sp>
      <p:sp>
        <p:nvSpPr>
          <p:cNvPr id="58" name="Text 56"/>
          <p:cNvSpPr/>
          <p:nvPr/>
        </p:nvSpPr>
        <p:spPr>
          <a:xfrm>
            <a:off x="5231309" y="1237952"/>
            <a:ext cx="58733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assemble</a:t>
            </a:r>
            <a:endParaRPr lang="en-US" sz="600" dirty="0"/>
          </a:p>
        </p:txBody>
      </p:sp>
      <p:sp>
        <p:nvSpPr>
          <p:cNvPr id="59" name="Text 57"/>
          <p:cNvSpPr/>
          <p:nvPr/>
        </p:nvSpPr>
        <p:spPr>
          <a:xfrm>
            <a:off x="5231309" y="1348978"/>
            <a:ext cx="587332" cy="197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80"/>
              </a:lnSpc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최종 메시지 배열 출력</a:t>
            </a:r>
            <a:endParaRPr lang="en-US" sz="600" dirty="0"/>
          </a:p>
        </p:txBody>
      </p:sp>
      <p:sp>
        <p:nvSpPr>
          <p:cNvPr id="60" name="Text 58"/>
          <p:cNvSpPr/>
          <p:nvPr/>
        </p:nvSpPr>
        <p:spPr>
          <a:xfrm>
            <a:off x="457200" y="1721495"/>
            <a:ext cx="5435650" cy="644723"/>
          </a:xfrm>
          <a:prstGeom prst="roundRect">
            <a:avLst>
              <a:gd name="adj" fmla="val 7879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Shape 59"/>
          <p:cNvSpPr/>
          <p:nvPr/>
        </p:nvSpPr>
        <p:spPr>
          <a:xfrm>
            <a:off x="457200" y="1726257"/>
            <a:ext cx="5435650" cy="0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5888087" y="1721495"/>
            <a:ext cx="0" cy="644723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457200" y="2361456"/>
            <a:ext cx="5435650" cy="0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476250" y="1721495"/>
            <a:ext cx="0" cy="644723"/>
          </a:xfrm>
          <a:prstGeom prst="line">
            <a:avLst/>
          </a:prstGeom>
          <a:noFill/>
          <a:ln w="38100">
            <a:solidFill>
              <a:srgbClr val="21262D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34901" y="1832521"/>
            <a:ext cx="521100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SHA-256 변경 추적</a:t>
            </a:r>
            <a:endParaRPr lang="en-US" sz="700" dirty="0"/>
          </a:p>
        </p:txBody>
      </p:sp>
      <p:sp>
        <p:nvSpPr>
          <p:cNvPr id="66" name="Text 64"/>
          <p:cNvSpPr/>
          <p:nvPr/>
        </p:nvSpPr>
        <p:spPr>
          <a:xfrm>
            <a:off x="634901" y="1975396"/>
            <a:ext cx="5211000" cy="124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spcBef>
                <a:spcPts val="3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조립 후 SHA-256 해시 생성 — 동일 프롬프트 재조립 시 캐시 히트 판별. 수동 편집으로는 불가능했던 변경 추적을 코드 레벨에서 보장한다.</a:t>
            </a:r>
            <a:endParaRPr lang="en-US" sz="700" dirty="0"/>
          </a:p>
        </p:txBody>
      </p:sp>
      <p:sp>
        <p:nvSpPr>
          <p:cNvPr id="67" name="Text 65"/>
          <p:cNvSpPr/>
          <p:nvPr/>
        </p:nvSpPr>
        <p:spPr>
          <a:xfrm>
            <a:off x="634901" y="2150418"/>
            <a:ext cx="521100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700" dirty="0">
                <a:solidFill>
                  <a:srgbClr val="4ECD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hash = sha256(assembled_prompt) → cache_key</a:t>
            </a:r>
            <a:endParaRPr lang="en-US" sz="700" dirty="0"/>
          </a:p>
        </p:txBody>
      </p:sp>
      <p:sp>
        <p:nvSpPr>
          <p:cNvPr id="68" name="Text 66"/>
          <p:cNvSpPr/>
          <p:nvPr/>
        </p:nvSpPr>
        <p:spPr>
          <a:xfrm>
            <a:off x="457200" y="2442418"/>
            <a:ext cx="5435650" cy="2494806"/>
          </a:xfrm>
          <a:prstGeom prst="roundRect">
            <a:avLst>
              <a:gd name="adj" fmla="val 2036"/>
            </a:avLst>
          </a:prstGeom>
          <a:solidFill>
            <a:srgbClr val="1E293B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Text 67"/>
          <p:cNvSpPr/>
          <p:nvPr/>
        </p:nvSpPr>
        <p:spPr>
          <a:xfrm>
            <a:off x="606326" y="2553444"/>
            <a:ext cx="52401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 조립 복잡도(6단계) vs 비용 절감(90%) + 재현성</a:t>
            </a:r>
            <a:endParaRPr lang="en-US" sz="700" dirty="0"/>
          </a:p>
        </p:txBody>
      </p:sp>
      <p:sp>
        <p:nvSpPr>
          <p:cNvPr id="70" name="Text 68"/>
          <p:cNvSpPr/>
          <p:nvPr/>
        </p:nvSpPr>
        <p:spPr>
          <a:xfrm>
            <a:off x="606326" y="2708970"/>
            <a:ext cx="256823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— 수동 편집 3대 문제</a:t>
            </a:r>
            <a:endParaRPr lang="en-US" sz="700" dirty="0"/>
          </a:p>
        </p:txBody>
      </p:sp>
      <p:sp>
        <p:nvSpPr>
          <p:cNvPr id="71" name="Text 69"/>
          <p:cNvSpPr/>
          <p:nvPr/>
        </p:nvSpPr>
        <p:spPr>
          <a:xfrm>
            <a:off x="606326" y="2851845"/>
            <a:ext cx="2517874" cy="342900"/>
          </a:xfrm>
          <a:prstGeom prst="rect">
            <a:avLst/>
          </a:prstGeom>
          <a:noFill/>
          <a:ln/>
        </p:spPr>
        <p:txBody>
          <a:bodyPr wrap="square" lIns="76200" tIns="0" rIns="0" bIns="0" rtlCol="0" anchor="t"/>
          <a:lstStyle/>
          <a:p>
            <a:pPr algn="l" marL="76200" indent="-76200">
              <a:lnSpc>
                <a:spcPts val="900"/>
              </a:lnSpc>
              <a:buSzPct val="100000"/>
              <a:buChar char="•"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변경 추적 불가 — drift 감지 없음</a:t>
            </a:r>
            <a:endParaRPr lang="en-US" sz="600" dirty="0"/>
          </a:p>
          <a:p>
            <a:pPr algn="l" marL="76200" indent="-76200">
              <a:lnSpc>
                <a:spcPts val="900"/>
              </a:lnSpc>
              <a:buSzPct val="100000"/>
              <a:buChar char="•"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캐시 히트율 저하 — 매 요청 100% 비용</a:t>
            </a:r>
            <a:endParaRPr lang="en-US" sz="600" dirty="0"/>
          </a:p>
          <a:p>
            <a:pPr algn="l" marL="76200" indent="-76200">
              <a:lnSpc>
                <a:spcPts val="900"/>
              </a:lnSpc>
              <a:buSzPct val="100000"/>
              <a:buChar char="•"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노드 간 프롬프트 불일치 — 7 노드 각자 편집</a:t>
            </a:r>
            <a:endParaRPr lang="en-US" sz="600" dirty="0"/>
          </a:p>
        </p:txBody>
      </p:sp>
      <p:sp>
        <p:nvSpPr>
          <p:cNvPr id="72" name="Text 70"/>
          <p:cNvSpPr/>
          <p:nvPr/>
        </p:nvSpPr>
        <p:spPr>
          <a:xfrm>
            <a:off x="3225701" y="2708970"/>
            <a:ext cx="256838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— 6-Phase 조립</a:t>
            </a:r>
            <a:endParaRPr lang="en-US" sz="700" dirty="0"/>
          </a:p>
        </p:txBody>
      </p:sp>
      <p:sp>
        <p:nvSpPr>
          <p:cNvPr id="73" name="Text 71"/>
          <p:cNvSpPr/>
          <p:nvPr/>
        </p:nvSpPr>
        <p:spPr>
          <a:xfrm>
            <a:off x="3225701" y="2851845"/>
            <a:ext cx="2518023" cy="342900"/>
          </a:xfrm>
          <a:prstGeom prst="rect">
            <a:avLst/>
          </a:prstGeom>
          <a:noFill/>
          <a:ln/>
        </p:spPr>
        <p:txBody>
          <a:bodyPr wrap="square" lIns="76200" tIns="0" rIns="0" bIns="0" rtlCol="0" anchor="t"/>
          <a:lstStyle/>
          <a:p>
            <a:pPr algn="l" marL="76200" indent="-76200">
              <a:lnSpc>
                <a:spcPts val="900"/>
              </a:lnSpc>
              <a:buSzPct val="100000"/>
              <a:buChar char="•"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SHA-256으로 drift 감지 — 동일 해시면 재조립 스킵</a:t>
            </a:r>
            <a:endParaRPr lang="en-US" sz="600" dirty="0"/>
          </a:p>
          <a:p>
            <a:pPr algn="l" marL="76200" indent="-76200">
              <a:lnSpc>
                <a:spcPts val="900"/>
              </a:lnSpc>
              <a:buSzPct val="100000"/>
              <a:buChar char="•"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캐시 100% 유지 — 2회차부터 입력 비용 10%</a:t>
            </a:r>
            <a:endParaRPr lang="en-US" sz="600" dirty="0"/>
          </a:p>
          <a:p>
            <a:pPr algn="l" marL="76200" indent="-76200">
              <a:lnSpc>
                <a:spcPts val="900"/>
              </a:lnSpc>
              <a:buSzPct val="100000"/>
              <a:buChar char="•"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7노드 동일 프롬프트 1 cache entry 공유</a:t>
            </a:r>
            <a:endParaRPr lang="en-US" sz="600" dirty="0"/>
          </a:p>
        </p:txBody>
      </p:sp>
      <p:sp>
        <p:nvSpPr>
          <p:cNvPr id="74" name="Text 72"/>
          <p:cNvSpPr/>
          <p:nvPr/>
        </p:nvSpPr>
        <p:spPr>
          <a:xfrm>
            <a:off x="6019800" y="790426"/>
            <a:ext cx="2667000" cy="799951"/>
          </a:xfrm>
          <a:prstGeom prst="roundRect">
            <a:avLst>
              <a:gd name="adj" fmla="val 6350"/>
            </a:avLst>
          </a:prstGeom>
          <a:solidFill>
            <a:srgbClr val="161B22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Text 73"/>
          <p:cNvSpPr/>
          <p:nvPr/>
        </p:nvSpPr>
        <p:spPr>
          <a:xfrm>
            <a:off x="6132335" y="926902"/>
            <a:ext cx="244193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24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2400" dirty="0"/>
          </a:p>
        </p:txBody>
      </p:sp>
      <p:sp>
        <p:nvSpPr>
          <p:cNvPr id="76" name="Text 74"/>
          <p:cNvSpPr/>
          <p:nvPr/>
        </p:nvSpPr>
        <p:spPr>
          <a:xfrm>
            <a:off x="6132335" y="1269802"/>
            <a:ext cx="244193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2회차+ 입력 비용</a:t>
            </a:r>
            <a:endParaRPr lang="en-US" sz="600" dirty="0"/>
          </a:p>
        </p:txBody>
      </p:sp>
      <p:sp>
        <p:nvSpPr>
          <p:cNvPr id="77" name="Text 75"/>
          <p:cNvSpPr/>
          <p:nvPr/>
        </p:nvSpPr>
        <p:spPr>
          <a:xfrm>
            <a:off x="6132335" y="1368177"/>
            <a:ext cx="244193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1회차 100%</a:t>
            </a:r>
            <a:endParaRPr lang="en-US" sz="600" dirty="0"/>
          </a:p>
        </p:txBody>
      </p:sp>
      <p:sp>
        <p:nvSpPr>
          <p:cNvPr id="78" name="Text 76"/>
          <p:cNvSpPr/>
          <p:nvPr/>
        </p:nvSpPr>
        <p:spPr>
          <a:xfrm>
            <a:off x="6019800" y="1666577"/>
            <a:ext cx="2667000" cy="854571"/>
          </a:xfrm>
          <a:prstGeom prst="roundRect">
            <a:avLst>
              <a:gd name="adj" fmla="val 5944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Text 77"/>
          <p:cNvSpPr/>
          <p:nvPr/>
        </p:nvSpPr>
        <p:spPr>
          <a:xfrm>
            <a:off x="6156275" y="1777603"/>
            <a:ext cx="244193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cache_control: ephemeral</a:t>
            </a:r>
            <a:endParaRPr lang="en-US" sz="700" dirty="0"/>
          </a:p>
        </p:txBody>
      </p:sp>
      <p:sp>
        <p:nvSpPr>
          <p:cNvPr id="80" name="Text 78"/>
          <p:cNvSpPr/>
          <p:nvPr/>
        </p:nvSpPr>
        <p:spPr>
          <a:xfrm>
            <a:off x="6156275" y="1910953"/>
            <a:ext cx="2441930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동일 파이프라인 내 7개 노드가 동일 시스템 프롬프트를 공유. ephemeral 마킹 1회로 전체 캐시 적용.</a:t>
            </a:r>
            <a:endParaRPr lang="en-US" sz="700" dirty="0"/>
          </a:p>
        </p:txBody>
      </p:sp>
      <p:sp>
        <p:nvSpPr>
          <p:cNvPr id="81" name="Text 79"/>
          <p:cNvSpPr/>
          <p:nvPr/>
        </p:nvSpPr>
        <p:spPr>
          <a:xfrm>
            <a:off x="6156275" y="2222897"/>
            <a:ext cx="2394049" cy="187226"/>
          </a:xfrm>
          <a:prstGeom prst="roundRect">
            <a:avLst>
              <a:gd name="adj" fmla="val 20350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2" name="Text 80"/>
          <p:cNvSpPr/>
          <p:nvPr/>
        </p:nvSpPr>
        <p:spPr>
          <a:xfrm>
            <a:off x="6245126" y="2273647"/>
            <a:ext cx="226067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4ECD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nodes × same system prompt → 1 cache entry</a:t>
            </a:r>
            <a:endParaRPr lang="en-US" sz="600" dirty="0"/>
          </a:p>
        </p:txBody>
      </p:sp>
      <p:sp>
        <p:nvSpPr>
          <p:cNvPr id="83" name="Text 81"/>
          <p:cNvSpPr/>
          <p:nvPr/>
        </p:nvSpPr>
        <p:spPr>
          <a:xfrm>
            <a:off x="6019800" y="2597348"/>
            <a:ext cx="2667000" cy="603945"/>
          </a:xfrm>
          <a:prstGeom prst="roundRect">
            <a:avLst>
              <a:gd name="adj" fmla="val 8411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4" name="Text 82"/>
          <p:cNvSpPr/>
          <p:nvPr/>
        </p:nvSpPr>
        <p:spPr>
          <a:xfrm>
            <a:off x="6156275" y="2708374"/>
            <a:ext cx="244193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P3 — 21 Scaffold Skills</a:t>
            </a:r>
            <a:endParaRPr lang="en-US" sz="700" dirty="0"/>
          </a:p>
        </p:txBody>
      </p:sp>
      <p:sp>
        <p:nvSpPr>
          <p:cNvPr id="85" name="Text 83"/>
          <p:cNvSpPr/>
          <p:nvPr/>
        </p:nvSpPr>
        <p:spPr>
          <a:xfrm>
            <a:off x="6156275" y="2841724"/>
            <a:ext cx="2441930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태스크 유형에 따라 필요한 스킬만 동적 선택 주입 — 프롬프트 크기 최적화.</a:t>
            </a:r>
            <a:endParaRPr lang="en-US" sz="700" dirty="0"/>
          </a:p>
        </p:txBody>
      </p:sp>
      <p:sp>
        <p:nvSpPr>
          <p:cNvPr id="86" name="Text 84"/>
          <p:cNvSpPr/>
          <p:nvPr/>
        </p:nvSpPr>
        <p:spPr>
          <a:xfrm>
            <a:off x="6019800" y="3277493"/>
            <a:ext cx="2667000" cy="1659731"/>
          </a:xfrm>
          <a:prstGeom prst="roundRect">
            <a:avLst>
              <a:gd name="adj" fmla="val 3061"/>
            </a:avLst>
          </a:prstGeom>
          <a:solidFill>
            <a:srgbClr val="1E293B"/>
          </a:solidFill>
          <a:ln w="9525">
            <a:solidFill>
              <a:srgbClr val="F9731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7" name="Text 85"/>
          <p:cNvSpPr/>
          <p:nvPr/>
        </p:nvSpPr>
        <p:spPr>
          <a:xfrm>
            <a:off x="6156275" y="3388519"/>
            <a:ext cx="244193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PROMPT_ASSEMBLE hook</a:t>
            </a:r>
            <a:endParaRPr lang="en-US" sz="700" dirty="0"/>
          </a:p>
        </p:txBody>
      </p:sp>
      <p:sp>
        <p:nvSpPr>
          <p:cNvPr id="88" name="Text 86"/>
          <p:cNvSpPr/>
          <p:nvPr/>
        </p:nvSpPr>
        <p:spPr>
          <a:xfrm>
            <a:off x="6156275" y="3521869"/>
            <a:ext cx="2441930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P6 완료 시 Prompt Change 카테고리 이벤트 발화 — 캐시 상태와 조립 결과를 관측 레이어에 전달.</a:t>
            </a:r>
            <a:endParaRPr lang="en-US" sz="700" dirty="0"/>
          </a:p>
        </p:txBody>
      </p:sp>
      <p:sp>
        <p:nvSpPr>
          <p:cNvPr id="89" name="Text 87"/>
          <p:cNvSpPr/>
          <p:nvPr/>
        </p:nvSpPr>
        <p:spPr>
          <a:xfrm>
            <a:off x="457200" y="4987975"/>
            <a:ext cx="3218867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PromptAssembler 6-Phase · SHA-256 cache_key · cache_control: ephemeral · 21 skills · 7-node prompt sharing</a:t>
            </a:r>
            <a:endParaRPr lang="en-US" sz="500" dirty="0"/>
          </a:p>
        </p:txBody>
      </p:sp>
      <p:sp>
        <p:nvSpPr>
          <p:cNvPr id="90" name="Text 88"/>
          <p:cNvSpPr/>
          <p:nvPr/>
        </p:nvSpPr>
        <p:spPr>
          <a:xfrm>
            <a:off x="8492728" y="4987975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34</a:t>
            </a:r>
            <a:endParaRPr lang="en-US" sz="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1430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44363"/>
            <a:ext cx="166833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HE-1 DEEP DIVE — 실행 흐름 ⑧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55550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+ Cost: 외부 도구 호출 → 45 Catalog + TokenTracker 비용 관측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22250"/>
            <a:ext cx="839419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MCPRegistry 257줄 삭제 스토리 + 자체 TokenTracker — while(tool_use) 루프 비용을 /cost CLI로 실시간 관측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790426"/>
            <a:ext cx="4724400" cy="3077021"/>
          </a:xfrm>
          <a:prstGeom prst="roundRect">
            <a:avLst>
              <a:gd name="adj" fmla="val 1651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06326" y="901452"/>
            <a:ext cx="451467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아키텍처 진화: 3계층 → 2계층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06326" y="1088678"/>
            <a:ext cx="4426148" cy="730151"/>
          </a:xfrm>
          <a:prstGeom prst="roundRect">
            <a:avLst>
              <a:gd name="adj" fmla="val 6957"/>
            </a:avLst>
          </a:prstGeom>
          <a:solidFill>
            <a:srgbClr val="0D1117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730151" y="1174403"/>
            <a:ext cx="426206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— 3계층 (병목)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730151" y="1317278"/>
            <a:ext cx="1248966" cy="292001"/>
          </a:xfrm>
          <a:prstGeom prst="roundRect">
            <a:avLst>
              <a:gd name="adj" fmla="val 17397"/>
            </a:avLst>
          </a:prstGeom>
          <a:solidFill>
            <a:srgbClr val="1E293B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818004" y="1377553"/>
            <a:ext cx="107325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MCPRegistry</a:t>
            </a:r>
            <a:endParaRPr lang="en-US" sz="600" dirty="0"/>
          </a:p>
        </p:txBody>
      </p:sp>
      <p:sp>
        <p:nvSpPr>
          <p:cNvPr id="12" name="Text 10"/>
          <p:cNvSpPr/>
          <p:nvPr/>
        </p:nvSpPr>
        <p:spPr>
          <a:xfrm>
            <a:off x="818004" y="1463278"/>
            <a:ext cx="107325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257줄</a:t>
            </a:r>
            <a:endParaRPr lang="en-US" sz="600" dirty="0"/>
          </a:p>
        </p:txBody>
      </p:sp>
      <p:sp>
        <p:nvSpPr>
          <p:cNvPr id="13" name="Text 11"/>
          <p:cNvSpPr/>
          <p:nvPr/>
        </p:nvSpPr>
        <p:spPr>
          <a:xfrm>
            <a:off x="2042517" y="1415653"/>
            <a:ext cx="9077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2194917" y="1317278"/>
            <a:ext cx="1248966" cy="292001"/>
          </a:xfrm>
          <a:prstGeom prst="roundRect">
            <a:avLst>
              <a:gd name="adj" fmla="val 17397"/>
            </a:avLst>
          </a:prstGeom>
          <a:solidFill>
            <a:srgbClr val="1E293B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2282770" y="1377553"/>
            <a:ext cx="107325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</a:t>
            </a:r>
            <a:endParaRPr lang="en-US" sz="600" dirty="0"/>
          </a:p>
        </p:txBody>
      </p:sp>
      <p:sp>
        <p:nvSpPr>
          <p:cNvPr id="16" name="Text 14"/>
          <p:cNvSpPr/>
          <p:nvPr/>
        </p:nvSpPr>
        <p:spPr>
          <a:xfrm>
            <a:off x="2282770" y="1463278"/>
            <a:ext cx="107325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검색+관리</a:t>
            </a:r>
            <a:endParaRPr lang="en-US" sz="600" dirty="0"/>
          </a:p>
        </p:txBody>
      </p:sp>
      <p:sp>
        <p:nvSpPr>
          <p:cNvPr id="17" name="Text 15"/>
          <p:cNvSpPr/>
          <p:nvPr/>
        </p:nvSpPr>
        <p:spPr>
          <a:xfrm>
            <a:off x="3507284" y="1415653"/>
            <a:ext cx="9077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3659684" y="1317278"/>
            <a:ext cx="1248966" cy="292001"/>
          </a:xfrm>
          <a:prstGeom prst="roundRect">
            <a:avLst>
              <a:gd name="adj" fmla="val 17397"/>
            </a:avLst>
          </a:prstGeom>
          <a:solidFill>
            <a:srgbClr val="1E293B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3747537" y="1377553"/>
            <a:ext cx="107325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</a:t>
            </a:r>
            <a:endParaRPr lang="en-US" sz="600" dirty="0"/>
          </a:p>
        </p:txBody>
      </p:sp>
      <p:sp>
        <p:nvSpPr>
          <p:cNvPr id="20" name="Text 18"/>
          <p:cNvSpPr/>
          <p:nvPr/>
        </p:nvSpPr>
        <p:spPr>
          <a:xfrm>
            <a:off x="3747537" y="1463278"/>
            <a:ext cx="107325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분산 설정</a:t>
            </a:r>
            <a:endParaRPr lang="en-US" sz="600" dirty="0"/>
          </a:p>
        </p:txBody>
      </p:sp>
      <p:sp>
        <p:nvSpPr>
          <p:cNvPr id="21" name="Text 19"/>
          <p:cNvSpPr/>
          <p:nvPr/>
        </p:nvSpPr>
        <p:spPr>
          <a:xfrm>
            <a:off x="730151" y="1647379"/>
            <a:ext cx="426206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6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Registry가 LLM 도구 탐색 막는 병목 · Proxy stub 9개 중복 · auto-discovery 불가</a:t>
            </a:r>
            <a:endParaRPr lang="en-US" sz="600" dirty="0"/>
          </a:p>
        </p:txBody>
      </p:sp>
      <p:sp>
        <p:nvSpPr>
          <p:cNvPr id="22" name="Text 20"/>
          <p:cNvSpPr/>
          <p:nvPr/>
        </p:nvSpPr>
        <p:spPr>
          <a:xfrm>
            <a:off x="1982391" y="1882229"/>
            <a:ext cx="170734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Registry 257줄 삭제 + Proxy stub 9개 제거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606326" y="2050405"/>
            <a:ext cx="4426148" cy="730151"/>
          </a:xfrm>
          <a:prstGeom prst="roundRect">
            <a:avLst>
              <a:gd name="adj" fmla="val 6957"/>
            </a:avLst>
          </a:prstGeom>
          <a:solidFill>
            <a:srgbClr val="0D1117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730151" y="2136130"/>
            <a:ext cx="426206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— 2계층 (탐색 자유도)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730151" y="2279005"/>
            <a:ext cx="1981349" cy="292001"/>
          </a:xfrm>
          <a:prstGeom prst="roundRect">
            <a:avLst>
              <a:gd name="adj" fmla="val 17397"/>
            </a:avLst>
          </a:prstGeom>
          <a:solidFill>
            <a:srgbClr val="1E293B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810680" y="2339280"/>
            <a:ext cx="182029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</a:t>
            </a:r>
            <a:endParaRPr lang="en-US" sz="600" dirty="0"/>
          </a:p>
        </p:txBody>
      </p:sp>
      <p:sp>
        <p:nvSpPr>
          <p:cNvPr id="27" name="Text 25"/>
          <p:cNvSpPr/>
          <p:nvPr/>
        </p:nvSpPr>
        <p:spPr>
          <a:xfrm>
            <a:off x="810680" y="2425005"/>
            <a:ext cx="182029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검색 전용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2774900" y="2377380"/>
            <a:ext cx="9077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927300" y="2279005"/>
            <a:ext cx="1981349" cy="292001"/>
          </a:xfrm>
          <a:prstGeom prst="roundRect">
            <a:avLst>
              <a:gd name="adj" fmla="val 17397"/>
            </a:avLst>
          </a:prstGeom>
          <a:solidFill>
            <a:srgbClr val="1E293B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3007830" y="2339280"/>
            <a:ext cx="182029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config.toml</a:t>
            </a:r>
            <a:endParaRPr lang="en-US" sz="600" dirty="0"/>
          </a:p>
        </p:txBody>
      </p:sp>
      <p:sp>
        <p:nvSpPr>
          <p:cNvPr id="31" name="Text 29"/>
          <p:cNvSpPr/>
          <p:nvPr/>
        </p:nvSpPr>
        <p:spPr>
          <a:xfrm>
            <a:off x="3007830" y="2425005"/>
            <a:ext cx="182029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[mcp.servers] 통합</a:t>
            </a:r>
            <a:endParaRPr lang="en-US" sz="600" dirty="0"/>
          </a:p>
        </p:txBody>
      </p:sp>
      <p:sp>
        <p:nvSpPr>
          <p:cNvPr id="32" name="Text 30"/>
          <p:cNvSpPr/>
          <p:nvPr/>
        </p:nvSpPr>
        <p:spPr>
          <a:xfrm>
            <a:off x="730151" y="2609106"/>
            <a:ext cx="426206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6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</a:t>
            </a:r>
            <a:pPr algn="l" indent="0" marL="0">
              <a:spcBef>
                <a:spcPts val="300"/>
              </a:spcBef>
              <a:buNone/>
            </a:pPr>
            <a:r>
              <a:rPr lang="en-US" sz="6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catalog servers auto-discovery · API key 부재 시 dry-run 자동 전환</a:t>
            </a:r>
            <a:endParaRPr lang="en-US" sz="600" dirty="0"/>
          </a:p>
        </p:txBody>
      </p:sp>
      <p:sp>
        <p:nvSpPr>
          <p:cNvPr id="33" name="Text 31"/>
          <p:cNvSpPr/>
          <p:nvPr/>
        </p:nvSpPr>
        <p:spPr>
          <a:xfrm>
            <a:off x="606326" y="2843957"/>
            <a:ext cx="4426148" cy="912465"/>
          </a:xfrm>
          <a:prstGeom prst="roundRect">
            <a:avLst>
              <a:gd name="adj" fmla="val 5567"/>
            </a:avLst>
          </a:prstGeom>
          <a:solidFill>
            <a:srgbClr val="1E293B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730151" y="2929682"/>
            <a:ext cx="426206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Registry를 삭제했는가?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730151" y="3072557"/>
            <a:ext cx="4262068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Registry가 LLM의 도구 탐색을 막는 병목이었다. 자율 에이전트는 도구를 스스로 찾아야 하는데, Registry가 검색 범위를 제한했다. 삭제 후 LLM이 Catalog를 직접 탐색 — 중앙 제어 없이 45 서버를 자율 발견한다.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730151" y="3371850"/>
            <a:ext cx="2057549" cy="298847"/>
          </a:xfrm>
          <a:prstGeom prst="roundRect">
            <a:avLst>
              <a:gd name="adj" fmla="val 12749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806351" y="3422600"/>
            <a:ext cx="19432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포기: 중앙 제어</a:t>
            </a:r>
            <a:endParaRPr lang="en-US" sz="600" dirty="0"/>
          </a:p>
        </p:txBody>
      </p:sp>
      <p:sp>
        <p:nvSpPr>
          <p:cNvPr id="38" name="Text 36"/>
          <p:cNvSpPr/>
          <p:nvPr/>
        </p:nvSpPr>
        <p:spPr>
          <a:xfrm>
            <a:off x="806351" y="3520976"/>
            <a:ext cx="1943252" cy="98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80"/>
              </a:lnSpc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Registry 삭제로 도구 목록 감사 불가</a:t>
            </a:r>
            <a:endParaRPr lang="en-US" sz="600" dirty="0"/>
          </a:p>
        </p:txBody>
      </p:sp>
      <p:sp>
        <p:nvSpPr>
          <p:cNvPr id="39" name="Text 37"/>
          <p:cNvSpPr/>
          <p:nvPr/>
        </p:nvSpPr>
        <p:spPr>
          <a:xfrm>
            <a:off x="2851100" y="3371850"/>
            <a:ext cx="2057549" cy="298847"/>
          </a:xfrm>
          <a:prstGeom prst="roundRect">
            <a:avLst>
              <a:gd name="adj" fmla="val 12749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2927300" y="3422600"/>
            <a:ext cx="19432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획득: 탐색 자유도</a:t>
            </a:r>
            <a:endParaRPr lang="en-US" sz="600" dirty="0"/>
          </a:p>
        </p:txBody>
      </p:sp>
      <p:sp>
        <p:nvSpPr>
          <p:cNvPr id="41" name="Text 39"/>
          <p:cNvSpPr/>
          <p:nvPr/>
        </p:nvSpPr>
        <p:spPr>
          <a:xfrm>
            <a:off x="2927300" y="3520976"/>
            <a:ext cx="1943252" cy="98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80"/>
              </a:lnSpc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LLM이 컨텍스트에 맞게 자율 선택</a:t>
            </a:r>
            <a:endParaRPr lang="en-US" sz="600" dirty="0"/>
          </a:p>
        </p:txBody>
      </p:sp>
      <p:sp>
        <p:nvSpPr>
          <p:cNvPr id="42" name="Text 40"/>
          <p:cNvSpPr/>
          <p:nvPr/>
        </p:nvSpPr>
        <p:spPr>
          <a:xfrm>
            <a:off x="5295900" y="790426"/>
            <a:ext cx="3390900" cy="1472654"/>
          </a:xfrm>
          <a:prstGeom prst="roundRect">
            <a:avLst>
              <a:gd name="adj" fmla="val 3450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5445026" y="901452"/>
            <a:ext cx="315450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TokenTracker — 자체 비용 추적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5445026" y="1088678"/>
            <a:ext cx="3154501" cy="124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spcAft>
                <a:spcPts val="500"/>
              </a:spcAft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LangSmith만으로는 모델별 비용 내역·캐시 히트율 추적이 어려워 자체 구축.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5445026" y="1276350"/>
            <a:ext cx="3092648" cy="336352"/>
          </a:xfrm>
          <a:prstGeom prst="roundRect">
            <a:avLst>
              <a:gd name="adj" fmla="val 11327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Shape 44"/>
          <p:cNvSpPr/>
          <p:nvPr/>
        </p:nvSpPr>
        <p:spPr>
          <a:xfrm>
            <a:off x="5464076" y="1276350"/>
            <a:ext cx="0" cy="336352"/>
          </a:xfrm>
          <a:prstGeom prst="line">
            <a:avLst/>
          </a:prstGeom>
          <a:noFill/>
          <a:ln w="38100">
            <a:solidFill>
              <a:srgbClr val="4ECDC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84627" y="1339751"/>
            <a:ext cx="290857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ContextVar 싱글톤으로 호출마다 입출력 토큰 + cache_creation/cache_read 기록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5445026" y="1650802"/>
            <a:ext cx="3092648" cy="231577"/>
          </a:xfrm>
          <a:prstGeom prst="roundRect">
            <a:avLst>
              <a:gd name="adj" fmla="val 16452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Shape 47"/>
          <p:cNvSpPr/>
          <p:nvPr/>
        </p:nvSpPr>
        <p:spPr>
          <a:xfrm>
            <a:off x="5464076" y="1650802"/>
            <a:ext cx="0" cy="231577"/>
          </a:xfrm>
          <a:prstGeom prst="line">
            <a:avLst/>
          </a:prstGeom>
          <a:noFill/>
          <a:ln w="38100">
            <a:solidFill>
              <a:srgbClr val="F5C542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4627" y="1714202"/>
            <a:ext cx="290857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18개 모델 가격 레지스트리 — 실시간 비용 산출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5445026" y="1920478"/>
            <a:ext cx="3092648" cy="231577"/>
          </a:xfrm>
          <a:prstGeom prst="roundRect">
            <a:avLst>
              <a:gd name="adj" fmla="val 16452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Shape 50"/>
          <p:cNvSpPr/>
          <p:nvPr/>
        </p:nvSpPr>
        <p:spPr>
          <a:xfrm>
            <a:off x="5464076" y="1920478"/>
            <a:ext cx="0" cy="231577"/>
          </a:xfrm>
          <a:prstGeom prst="line">
            <a:avLst/>
          </a:prstGeom>
          <a:noFill/>
          <a:ln w="38100">
            <a:solidFill>
              <a:srgbClr val="818CF8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84627" y="1983879"/>
            <a:ext cx="290857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UsageStore: 월별 JSONL 영속 저장 · ProjectJournal 프로젝트별 이력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5295900" y="2339280"/>
            <a:ext cx="3390900" cy="904429"/>
          </a:xfrm>
          <a:prstGeom prst="roundRect">
            <a:avLst>
              <a:gd name="adj" fmla="val 5617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5445026" y="2450306"/>
            <a:ext cx="315450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/cost CLI 대시보드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5445026" y="2624882"/>
            <a:ext cx="3092648" cy="507802"/>
          </a:xfrm>
          <a:prstGeom prst="roundRect">
            <a:avLst>
              <a:gd name="adj" fmla="val 10004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5550625" y="2713732"/>
            <a:ext cx="88745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세션</a:t>
            </a:r>
            <a:endParaRPr lang="en-US" sz="700" dirty="0"/>
          </a:p>
        </p:txBody>
      </p:sp>
      <p:sp>
        <p:nvSpPr>
          <p:cNvPr id="58" name="Text 56"/>
          <p:cNvSpPr/>
          <p:nvPr/>
        </p:nvSpPr>
        <p:spPr>
          <a:xfrm>
            <a:off x="5550625" y="2843808"/>
            <a:ext cx="88745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실시간 비용</a:t>
            </a:r>
            <a:endParaRPr lang="en-US" sz="700" dirty="0"/>
          </a:p>
        </p:txBody>
      </p:sp>
      <p:sp>
        <p:nvSpPr>
          <p:cNvPr id="59" name="Text 57"/>
          <p:cNvSpPr/>
          <p:nvPr/>
        </p:nvSpPr>
        <p:spPr>
          <a:xfrm>
            <a:off x="6547625" y="2713732"/>
            <a:ext cx="88745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일간 / 월간</a:t>
            </a:r>
            <a:endParaRPr lang="en-US" sz="700" dirty="0"/>
          </a:p>
        </p:txBody>
      </p:sp>
      <p:sp>
        <p:nvSpPr>
          <p:cNvPr id="60" name="Text 58"/>
          <p:cNvSpPr/>
          <p:nvPr/>
        </p:nvSpPr>
        <p:spPr>
          <a:xfrm>
            <a:off x="6547625" y="2843808"/>
            <a:ext cx="88745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누적 집계</a:t>
            </a:r>
            <a:endParaRPr lang="en-US" sz="700" dirty="0"/>
          </a:p>
        </p:txBody>
      </p:sp>
      <p:sp>
        <p:nvSpPr>
          <p:cNvPr id="61" name="Text 59"/>
          <p:cNvSpPr/>
          <p:nvPr/>
        </p:nvSpPr>
        <p:spPr>
          <a:xfrm>
            <a:off x="7544625" y="2713732"/>
            <a:ext cx="88745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예산 소진율</a:t>
            </a:r>
            <a:endParaRPr lang="en-US" sz="700" dirty="0"/>
          </a:p>
        </p:txBody>
      </p:sp>
      <p:sp>
        <p:nvSpPr>
          <p:cNvPr id="62" name="Text 60"/>
          <p:cNvSpPr/>
          <p:nvPr/>
        </p:nvSpPr>
        <p:spPr>
          <a:xfrm>
            <a:off x="7544625" y="2843808"/>
            <a:ext cx="8874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 경고 / 95% PRUNE</a:t>
            </a:r>
            <a:endParaRPr lang="en-US" sz="700" dirty="0"/>
          </a:p>
        </p:txBody>
      </p:sp>
      <p:sp>
        <p:nvSpPr>
          <p:cNvPr id="63" name="Text 61"/>
          <p:cNvSpPr/>
          <p:nvPr/>
        </p:nvSpPr>
        <p:spPr>
          <a:xfrm>
            <a:off x="5295900" y="3319909"/>
            <a:ext cx="3390900" cy="1607790"/>
          </a:xfrm>
          <a:prstGeom prst="roundRect">
            <a:avLst>
              <a:gd name="adj" fmla="val 3160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4" name="Shape 62"/>
          <p:cNvSpPr/>
          <p:nvPr/>
        </p:nvSpPr>
        <p:spPr>
          <a:xfrm>
            <a:off x="5319713" y="3319909"/>
            <a:ext cx="0" cy="1607790"/>
          </a:xfrm>
          <a:prstGeom prst="line">
            <a:avLst/>
          </a:prstGeom>
          <a:noFill/>
          <a:ln w="47625">
            <a:solidFill>
              <a:srgbClr val="4ECDC4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5483126" y="3408759"/>
            <a:ext cx="312535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MCP-first + Fixture Fallback</a:t>
            </a:r>
            <a:endParaRPr lang="en-US" sz="700" dirty="0"/>
          </a:p>
        </p:txBody>
      </p:sp>
      <p:sp>
        <p:nvSpPr>
          <p:cNvPr id="66" name="Text 64"/>
          <p:cNvSpPr/>
          <p:nvPr/>
        </p:nvSpPr>
        <p:spPr>
          <a:xfrm>
            <a:off x="5483126" y="3554760"/>
            <a:ext cx="3125355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5개 signal 도구: 라이브 환경에서는 MCP 직접 호출, 오프라인/CI에서는 fixture 데이터로 자동 전환 — 라이브 수집과 테스트를 동시에 보장.</a:t>
            </a:r>
            <a:endParaRPr lang="en-US" sz="700" dirty="0"/>
          </a:p>
        </p:txBody>
      </p:sp>
      <p:sp>
        <p:nvSpPr>
          <p:cNvPr id="67" name="Text 65"/>
          <p:cNvSpPr/>
          <p:nvPr/>
        </p:nvSpPr>
        <p:spPr>
          <a:xfrm>
            <a:off x="5483126" y="3884563"/>
            <a:ext cx="1493937" cy="415677"/>
          </a:xfrm>
          <a:prstGeom prst="roundRect">
            <a:avLst>
              <a:gd name="adj" fmla="val 9166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Text 66"/>
          <p:cNvSpPr/>
          <p:nvPr/>
        </p:nvSpPr>
        <p:spPr>
          <a:xfrm>
            <a:off x="5532855" y="3947964"/>
            <a:ext cx="1394478" cy="203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6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</a:t>
            </a:r>
            <a:endParaRPr lang="en-US" sz="1600" dirty="0"/>
          </a:p>
        </p:txBody>
      </p:sp>
      <p:sp>
        <p:nvSpPr>
          <p:cNvPr id="69" name="Text 67"/>
          <p:cNvSpPr/>
          <p:nvPr/>
        </p:nvSpPr>
        <p:spPr>
          <a:xfrm>
            <a:off x="5532855" y="4151114"/>
            <a:ext cx="139447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servers</a:t>
            </a:r>
            <a:endParaRPr lang="en-US" sz="600" dirty="0"/>
          </a:p>
        </p:txBody>
      </p:sp>
      <p:sp>
        <p:nvSpPr>
          <p:cNvPr id="70" name="Text 68"/>
          <p:cNvSpPr/>
          <p:nvPr/>
        </p:nvSpPr>
        <p:spPr>
          <a:xfrm>
            <a:off x="7053263" y="3884563"/>
            <a:ext cx="1493937" cy="415677"/>
          </a:xfrm>
          <a:prstGeom prst="roundRect">
            <a:avLst>
              <a:gd name="adj" fmla="val 9166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Text 69"/>
          <p:cNvSpPr/>
          <p:nvPr/>
        </p:nvSpPr>
        <p:spPr>
          <a:xfrm>
            <a:off x="7102992" y="3947964"/>
            <a:ext cx="1394478" cy="203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6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600" dirty="0"/>
          </a:p>
        </p:txBody>
      </p:sp>
      <p:sp>
        <p:nvSpPr>
          <p:cNvPr id="72" name="Text 70"/>
          <p:cNvSpPr/>
          <p:nvPr/>
        </p:nvSpPr>
        <p:spPr>
          <a:xfrm>
            <a:off x="7102992" y="4151114"/>
            <a:ext cx="139447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price registry</a:t>
            </a:r>
            <a:endParaRPr lang="en-US" sz="600" dirty="0"/>
          </a:p>
        </p:txBody>
      </p:sp>
      <p:sp>
        <p:nvSpPr>
          <p:cNvPr id="73" name="Text 71"/>
          <p:cNvSpPr/>
          <p:nvPr/>
        </p:nvSpPr>
        <p:spPr>
          <a:xfrm>
            <a:off x="457200" y="4978450"/>
            <a:ext cx="3186380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MCPRegistry 257줄 삭제 · Proxy stub 9개 제거 · 45 catalog auto-discovery · TokenTracker ContextVar · /cost CLI</a:t>
            </a:r>
            <a:endParaRPr lang="en-US" sz="500" dirty="0"/>
          </a:p>
        </p:txBody>
      </p:sp>
      <p:sp>
        <p:nvSpPr>
          <p:cNvPr id="74" name="Text 72"/>
          <p:cNvSpPr/>
          <p:nvPr/>
        </p:nvSpPr>
        <p:spPr>
          <a:xfrm>
            <a:off x="8492728" y="4983212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34</a:t>
            </a:r>
            <a:endParaRPr lang="en-US" sz="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1430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F5C54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49126"/>
            <a:ext cx="193490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HE-2: DOMAIN — Game IP Pipeline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55550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IP Pipeline: 9-Node DAG + 5-Layer 검증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22250"/>
            <a:ext cx="839419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단일 LLM 평가의 Confirmation Bias·Anchoring 편향 — 병렬 전문가 4명 + Cross-LLM + PSM으로 극복</a:t>
            </a:r>
            <a:endParaRPr lang="en-US" sz="700" dirty="0"/>
          </a:p>
        </p:txBody>
      </p:sp>
      <p:pic>
        <p:nvPicPr>
          <p:cNvPr id="6" name="Image 0" descr="/Users/mango/workspace/portfolio/geode/versions/v6/slides/assets/v028-diagram-pipeline-da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790426"/>
            <a:ext cx="5587901" cy="260345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57200" y="3457277"/>
            <a:ext cx="3340596" cy="1063675"/>
          </a:xfrm>
          <a:prstGeom prst="roundRect">
            <a:avLst>
              <a:gd name="adj" fmla="val 4776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581025" y="3555653"/>
            <a:ext cx="315480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Scoring Formula</a:t>
            </a:r>
            <a:endParaRPr lang="en-US" sz="700" dirty="0"/>
          </a:p>
        </p:txBody>
      </p:sp>
      <p:sp>
        <p:nvSpPr>
          <p:cNvPr id="9" name="Text 6"/>
          <p:cNvSpPr/>
          <p:nvPr/>
        </p:nvSpPr>
        <p:spPr>
          <a:xfrm>
            <a:off x="581025" y="3689003"/>
            <a:ext cx="3154805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base = 0.25·PSM + 0.20·Quality + 0.18·Recovery</a:t>
            </a:r>
            <a:endParaRPr lang="en-US" sz="700" dirty="0"/>
          </a:p>
        </p:txBody>
      </p:sp>
      <p:sp>
        <p:nvSpPr>
          <p:cNvPr id="10" name="Text 7"/>
          <p:cNvSpPr/>
          <p:nvPr/>
        </p:nvSpPr>
        <p:spPr>
          <a:xfrm>
            <a:off x="581025" y="3822204"/>
            <a:ext cx="3154805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+ 0.12·Growth + 0.20·Momentum + 0.05·Dev</a:t>
            </a:r>
            <a:endParaRPr lang="en-US" sz="700" dirty="0"/>
          </a:p>
        </p:txBody>
      </p:sp>
      <p:sp>
        <p:nvSpPr>
          <p:cNvPr id="11" name="Text 8"/>
          <p:cNvSpPr/>
          <p:nvPr/>
        </p:nvSpPr>
        <p:spPr>
          <a:xfrm>
            <a:off x="581025" y="3980706"/>
            <a:ext cx="315480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 = base × (0.7 + 0.3·conf/100)</a:t>
            </a:r>
            <a:endParaRPr lang="en-US" sz="600" dirty="0"/>
          </a:p>
        </p:txBody>
      </p:sp>
      <p:sp>
        <p:nvSpPr>
          <p:cNvPr id="12" name="Text 9"/>
          <p:cNvSpPr/>
          <p:nvPr/>
        </p:nvSpPr>
        <p:spPr>
          <a:xfrm>
            <a:off x="3873996" y="3457277"/>
            <a:ext cx="2209354" cy="507802"/>
          </a:xfrm>
          <a:prstGeom prst="roundRect">
            <a:avLst>
              <a:gd name="adj" fmla="val 10004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3985022" y="3543002"/>
            <a:ext cx="202704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기준</a:t>
            </a:r>
            <a:endParaRPr lang="en-US" sz="700" dirty="0"/>
          </a:p>
        </p:txBody>
      </p:sp>
      <p:sp>
        <p:nvSpPr>
          <p:cNvPr id="14" name="Text 11"/>
          <p:cNvSpPr/>
          <p:nvPr/>
        </p:nvSpPr>
        <p:spPr>
          <a:xfrm>
            <a:off x="3985022" y="3673078"/>
            <a:ext cx="202704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≥80 · A ≥60 · B ≥40 · C &lt;40</a:t>
            </a:r>
            <a:endParaRPr lang="en-US" sz="700" dirty="0"/>
          </a:p>
        </p:txBody>
      </p:sp>
      <p:sp>
        <p:nvSpPr>
          <p:cNvPr id="15" name="Text 12"/>
          <p:cNvSpPr/>
          <p:nvPr/>
        </p:nvSpPr>
        <p:spPr>
          <a:xfrm>
            <a:off x="3985022" y="3793629"/>
            <a:ext cx="202704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D-E-F 코드 결정 트리 (LLM 아님)</a:t>
            </a:r>
            <a:endParaRPr lang="en-US" sz="600" dirty="0"/>
          </a:p>
        </p:txBody>
      </p:sp>
      <p:sp>
        <p:nvSpPr>
          <p:cNvPr id="16" name="Text 13"/>
          <p:cNvSpPr/>
          <p:nvPr/>
        </p:nvSpPr>
        <p:spPr>
          <a:xfrm>
            <a:off x="3873996" y="4015829"/>
            <a:ext cx="2209354" cy="505123"/>
          </a:xfrm>
          <a:prstGeom prst="roundRect">
            <a:avLst>
              <a:gd name="adj" fmla="val 10057"/>
            </a:avLst>
          </a:prstGeom>
          <a:solidFill>
            <a:srgbClr val="1E293B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4"/>
          <p:cNvSpPr/>
          <p:nvPr/>
        </p:nvSpPr>
        <p:spPr>
          <a:xfrm>
            <a:off x="3985022" y="4101554"/>
            <a:ext cx="202704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 Clean Context</a:t>
            </a:r>
            <a:endParaRPr lang="en-US" sz="700" dirty="0"/>
          </a:p>
        </p:txBody>
      </p:sp>
      <p:sp>
        <p:nvSpPr>
          <p:cNvPr id="18" name="Text 15"/>
          <p:cNvSpPr/>
          <p:nvPr/>
        </p:nvSpPr>
        <p:spPr>
          <a:xfrm>
            <a:off x="3985022" y="4222105"/>
            <a:ext cx="2027048" cy="213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buNone/>
            </a:pPr>
            <a:r>
              <a:rPr lang="en-US" sz="60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analyses: []</a:t>
            </a:r>
            <a:pPr algn="l" indent="0" marL="0">
              <a:lnSpc>
                <a:spcPts val="840"/>
              </a:lnSpc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전달 — 앵커링 편향 차단. 7개 병렬 LLM 호출에서 독립 평가 보장.</a:t>
            </a:r>
            <a:endParaRPr lang="en-US" sz="600" dirty="0"/>
          </a:p>
        </p:txBody>
      </p:sp>
      <p:sp>
        <p:nvSpPr>
          <p:cNvPr id="19" name="Text 16"/>
          <p:cNvSpPr/>
          <p:nvPr/>
        </p:nvSpPr>
        <p:spPr>
          <a:xfrm>
            <a:off x="6197650" y="790426"/>
            <a:ext cx="253893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Fixture Results — Golden Set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6197650" y="968127"/>
            <a:ext cx="2489150" cy="520750"/>
          </a:xfrm>
          <a:prstGeom prst="roundRect">
            <a:avLst>
              <a:gd name="adj" fmla="val 9755"/>
            </a:avLst>
          </a:prstGeom>
          <a:solidFill>
            <a:srgbClr val="161B22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8"/>
          <p:cNvSpPr/>
          <p:nvPr/>
        </p:nvSpPr>
        <p:spPr>
          <a:xfrm>
            <a:off x="6305882" y="1053852"/>
            <a:ext cx="284937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6305882" y="1307902"/>
            <a:ext cx="28493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81.2</a:t>
            </a:r>
            <a:endParaRPr lang="en-US" sz="700" dirty="0"/>
          </a:p>
        </p:txBody>
      </p:sp>
      <p:sp>
        <p:nvSpPr>
          <p:cNvPr id="23" name="Text 20"/>
          <p:cNvSpPr/>
          <p:nvPr/>
        </p:nvSpPr>
        <p:spPr>
          <a:xfrm>
            <a:off x="6689527" y="1085552"/>
            <a:ext cx="88137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Berserk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6689527" y="1199852"/>
            <a:ext cx="88137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conf: 0.89 · bias: 0/6</a:t>
            </a:r>
            <a:endParaRPr lang="en-US" sz="600" dirty="0"/>
          </a:p>
        </p:txBody>
      </p:sp>
      <p:sp>
        <p:nvSpPr>
          <p:cNvPr id="25" name="Text 22"/>
          <p:cNvSpPr/>
          <p:nvPr/>
        </p:nvSpPr>
        <p:spPr>
          <a:xfrm>
            <a:off x="6689527" y="1285577"/>
            <a:ext cx="88137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cause: conversion_failure</a:t>
            </a:r>
            <a:endParaRPr lang="en-US" sz="600" dirty="0"/>
          </a:p>
        </p:txBody>
      </p:sp>
      <p:sp>
        <p:nvSpPr>
          <p:cNvPr id="26" name="Text 23"/>
          <p:cNvSpPr/>
          <p:nvPr/>
        </p:nvSpPr>
        <p:spPr>
          <a:xfrm>
            <a:off x="6197650" y="1552277"/>
            <a:ext cx="2489150" cy="520750"/>
          </a:xfrm>
          <a:prstGeom prst="roundRect">
            <a:avLst>
              <a:gd name="adj" fmla="val 9755"/>
            </a:avLst>
          </a:prstGeom>
          <a:solidFill>
            <a:srgbClr val="161B22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4"/>
          <p:cNvSpPr/>
          <p:nvPr/>
        </p:nvSpPr>
        <p:spPr>
          <a:xfrm>
            <a:off x="6305882" y="1638002"/>
            <a:ext cx="284937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2000" dirty="0"/>
          </a:p>
        </p:txBody>
      </p:sp>
      <p:sp>
        <p:nvSpPr>
          <p:cNvPr id="28" name="Text 25"/>
          <p:cNvSpPr/>
          <p:nvPr/>
        </p:nvSpPr>
        <p:spPr>
          <a:xfrm>
            <a:off x="6305882" y="1892052"/>
            <a:ext cx="28493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68.4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6689527" y="1669703"/>
            <a:ext cx="85132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Cowboy Bebop</a:t>
            </a:r>
            <a:endParaRPr lang="en-US" sz="800" dirty="0"/>
          </a:p>
        </p:txBody>
      </p:sp>
      <p:sp>
        <p:nvSpPr>
          <p:cNvPr id="30" name="Text 27"/>
          <p:cNvSpPr/>
          <p:nvPr/>
        </p:nvSpPr>
        <p:spPr>
          <a:xfrm>
            <a:off x="6689527" y="1784003"/>
            <a:ext cx="85132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conf: 0.85 · range: 63-75</a:t>
            </a:r>
            <a:endParaRPr lang="en-US" sz="600" dirty="0"/>
          </a:p>
        </p:txBody>
      </p:sp>
      <p:sp>
        <p:nvSpPr>
          <p:cNvPr id="31" name="Text 28"/>
          <p:cNvSpPr/>
          <p:nvPr/>
        </p:nvSpPr>
        <p:spPr>
          <a:xfrm>
            <a:off x="6689527" y="1869728"/>
            <a:ext cx="85132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cause: undermarketed</a:t>
            </a:r>
            <a:endParaRPr lang="en-US" sz="600" dirty="0"/>
          </a:p>
        </p:txBody>
      </p:sp>
      <p:sp>
        <p:nvSpPr>
          <p:cNvPr id="32" name="Text 29"/>
          <p:cNvSpPr/>
          <p:nvPr/>
        </p:nvSpPr>
        <p:spPr>
          <a:xfrm>
            <a:off x="6197650" y="2136428"/>
            <a:ext cx="2489150" cy="520750"/>
          </a:xfrm>
          <a:prstGeom prst="roundRect">
            <a:avLst>
              <a:gd name="adj" fmla="val 9755"/>
            </a:avLst>
          </a:prstGeom>
          <a:solidFill>
            <a:srgbClr val="161B22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0"/>
          <p:cNvSpPr/>
          <p:nvPr/>
        </p:nvSpPr>
        <p:spPr>
          <a:xfrm>
            <a:off x="6305882" y="2222153"/>
            <a:ext cx="284937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2000" dirty="0"/>
          </a:p>
        </p:txBody>
      </p:sp>
      <p:sp>
        <p:nvSpPr>
          <p:cNvPr id="34" name="Text 31"/>
          <p:cNvSpPr/>
          <p:nvPr/>
        </p:nvSpPr>
        <p:spPr>
          <a:xfrm>
            <a:off x="6305882" y="2476202"/>
            <a:ext cx="28493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51.7</a:t>
            </a:r>
            <a:endParaRPr lang="en-US" sz="700" dirty="0"/>
          </a:p>
        </p:txBody>
      </p:sp>
      <p:sp>
        <p:nvSpPr>
          <p:cNvPr id="35" name="Text 32"/>
          <p:cNvSpPr/>
          <p:nvPr/>
        </p:nvSpPr>
        <p:spPr>
          <a:xfrm>
            <a:off x="6689527" y="2253853"/>
            <a:ext cx="85132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Ghost in Shell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6689527" y="2368153"/>
            <a:ext cx="85132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conf: 0.72 · range: 48-60</a:t>
            </a:r>
            <a:endParaRPr lang="en-US" sz="600" dirty="0"/>
          </a:p>
        </p:txBody>
      </p:sp>
      <p:sp>
        <p:nvSpPr>
          <p:cNvPr id="37" name="Text 34"/>
          <p:cNvSpPr/>
          <p:nvPr/>
        </p:nvSpPr>
        <p:spPr>
          <a:xfrm>
            <a:off x="6689527" y="2453878"/>
            <a:ext cx="85132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cause: discovery_failure</a:t>
            </a:r>
            <a:endParaRPr lang="en-US" sz="600" dirty="0"/>
          </a:p>
        </p:txBody>
      </p:sp>
      <p:sp>
        <p:nvSpPr>
          <p:cNvPr id="38" name="Text 35"/>
          <p:cNvSpPr/>
          <p:nvPr/>
        </p:nvSpPr>
        <p:spPr>
          <a:xfrm>
            <a:off x="6197650" y="2720578"/>
            <a:ext cx="2489150" cy="2216646"/>
          </a:xfrm>
          <a:prstGeom prst="roundRect">
            <a:avLst>
              <a:gd name="adj" fmla="val 2292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6"/>
          <p:cNvSpPr/>
          <p:nvPr/>
        </p:nvSpPr>
        <p:spPr>
          <a:xfrm>
            <a:off x="6321475" y="2818954"/>
            <a:ext cx="228633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5-Layer 검증</a:t>
            </a:r>
            <a:endParaRPr lang="en-US" sz="800" dirty="0"/>
          </a:p>
        </p:txBody>
      </p:sp>
      <p:sp>
        <p:nvSpPr>
          <p:cNvPr id="40" name="Text 37"/>
          <p:cNvSpPr/>
          <p:nvPr/>
        </p:nvSpPr>
        <p:spPr>
          <a:xfrm>
            <a:off x="6321475" y="2993529"/>
            <a:ext cx="224150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6321475" y="2993529"/>
            <a:ext cx="228633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 Guardrails — 스키마·범위·근거·일관성</a:t>
            </a:r>
            <a:endParaRPr lang="en-US" sz="700" dirty="0"/>
          </a:p>
        </p:txBody>
      </p:sp>
      <p:sp>
        <p:nvSpPr>
          <p:cNvPr id="42" name="Text 39"/>
          <p:cNvSpPr/>
          <p:nvPr/>
        </p:nvSpPr>
        <p:spPr>
          <a:xfrm>
            <a:off x="6321475" y="3136404"/>
            <a:ext cx="228633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L2 BiasBuster — 6종 편향 (arXiv:2403.00811)</a:t>
            </a:r>
            <a:endParaRPr lang="en-US" sz="700" dirty="0"/>
          </a:p>
        </p:txBody>
      </p:sp>
      <p:sp>
        <p:nvSpPr>
          <p:cNvPr id="43" name="Text 40"/>
          <p:cNvSpPr/>
          <p:nvPr/>
        </p:nvSpPr>
        <p:spPr>
          <a:xfrm>
            <a:off x="6321475" y="3279279"/>
            <a:ext cx="228633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L3 Cross-LLM — Claude×GPT α≥0.67</a:t>
            </a:r>
            <a:endParaRPr lang="en-US" sz="700" dirty="0"/>
          </a:p>
        </p:txBody>
      </p:sp>
      <p:sp>
        <p:nvSpPr>
          <p:cNvPr id="44" name="Text 41"/>
          <p:cNvSpPr/>
          <p:nvPr/>
        </p:nvSpPr>
        <p:spPr>
          <a:xfrm>
            <a:off x="6321475" y="3412629"/>
            <a:ext cx="228633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L4 Rights Risk · L5 Calibration 80/100</a:t>
            </a:r>
            <a:endParaRPr lang="en-US" sz="700" dirty="0"/>
          </a:p>
        </p:txBody>
      </p:sp>
      <p:sp>
        <p:nvSpPr>
          <p:cNvPr id="45" name="Text 42"/>
          <p:cNvSpPr/>
          <p:nvPr/>
        </p:nvSpPr>
        <p:spPr>
          <a:xfrm>
            <a:off x="6321475" y="3571280"/>
            <a:ext cx="2241500" cy="450949"/>
          </a:xfrm>
          <a:prstGeom prst="roundRect">
            <a:avLst>
              <a:gd name="adj" fmla="val 8449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3"/>
          <p:cNvSpPr/>
          <p:nvPr/>
        </p:nvSpPr>
        <p:spPr>
          <a:xfrm>
            <a:off x="6410325" y="3634680"/>
            <a:ext cx="210507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 판단</a:t>
            </a:r>
            <a:endParaRPr lang="en-US" sz="600" dirty="0"/>
          </a:p>
        </p:txBody>
      </p:sp>
      <p:sp>
        <p:nvSpPr>
          <p:cNvPr id="47" name="Text 44"/>
          <p:cNvSpPr/>
          <p:nvPr/>
        </p:nvSpPr>
        <p:spPr>
          <a:xfrm>
            <a:off x="6410325" y="3745706"/>
            <a:ext cx="2105076" cy="213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단일 LLM 평가는 Anchoring 편향으로 점수 분산이 ±18점. L3 Cross-LLM α≥0.67 강제로 편향 0/6 달성.</a:t>
            </a:r>
            <a:endParaRPr lang="en-US" sz="600" dirty="0"/>
          </a:p>
        </p:txBody>
      </p:sp>
      <p:sp>
        <p:nvSpPr>
          <p:cNvPr id="48" name="Text 45"/>
          <p:cNvSpPr/>
          <p:nvPr/>
        </p:nvSpPr>
        <p:spPr>
          <a:xfrm>
            <a:off x="457200" y="4987975"/>
            <a:ext cx="3430482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rubric axes (8+3+3) · 6 cause classes · PSM Rosenbaum Gamma · conf gate ≥0.7 · max 5 iterations · Clean Context</a:t>
            </a:r>
            <a:endParaRPr lang="en-US" sz="500" dirty="0"/>
          </a:p>
        </p:txBody>
      </p:sp>
      <p:sp>
        <p:nvSpPr>
          <p:cNvPr id="49" name="Text 46"/>
          <p:cNvSpPr/>
          <p:nvPr/>
        </p:nvSpPr>
        <p:spPr>
          <a:xfrm>
            <a:off x="8492728" y="4987975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34</a:t>
            </a:r>
            <a:endParaRPr lang="en-US" sz="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1430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F5C54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49126"/>
            <a:ext cx="202097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HE-2: DOMAIN — Domain Portability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55550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Portability: GEODE ↔ REODE — 에이전트 코어 수정 0줄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22250"/>
            <a:ext cx="839419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DomainPort 2-Protocol 직교 설계 — 241소스 103K LoC, 83/83 build pass, core 0줄 변경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790426"/>
            <a:ext cx="2933700" cy="1120676"/>
          </a:xfrm>
          <a:prstGeom prst="roundRect">
            <a:avLst>
              <a:gd name="adj" fmla="val 4533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457200" y="809476"/>
            <a:ext cx="2933700" cy="0"/>
          </a:xfrm>
          <a:prstGeom prst="line">
            <a:avLst/>
          </a:prstGeom>
          <a:noFill/>
          <a:ln w="38100">
            <a:solidFill>
              <a:srgbClr val="F5C54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6801" y="942826"/>
            <a:ext cx="270758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6801" y="1114276"/>
            <a:ext cx="270758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IP 저평가 분석 에이전트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596801" y="1282452"/>
            <a:ext cx="2654498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96801" y="1282452"/>
            <a:ext cx="270758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187 모듈 · 3,201 테스트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596801" y="1425327"/>
            <a:ext cx="270758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 Tools + 45 MCP · 21 Skills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596801" y="1558677"/>
            <a:ext cx="270758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 릴리스 무회귀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596801" y="1701552"/>
            <a:ext cx="270758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GameIPAdapter implements DomainPort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457200" y="1987302"/>
            <a:ext cx="2933700" cy="2940397"/>
          </a:xfrm>
          <a:prstGeom prst="roundRect">
            <a:avLst>
              <a:gd name="adj" fmla="val 1732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06326" y="2111127"/>
            <a:ext cx="268815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DomainPort 2-Protocol 직교 설계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606326" y="2279303"/>
            <a:ext cx="2635448" cy="260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06326" y="2279303"/>
            <a:ext cx="268815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PipelineTemplate L1 — 실행 흐름 정의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606326" y="2434828"/>
            <a:ext cx="268815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LanguageAdapter L2 — 언어·포맷 변환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606326" y="2628454"/>
            <a:ext cx="2635448" cy="361950"/>
          </a:xfrm>
          <a:prstGeom prst="roundRect">
            <a:avLst>
              <a:gd name="adj" fmla="val 14035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720626" y="2704654"/>
            <a:ext cx="245498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F5C54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_domain_ctx: ContextVar[DomainPort]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720626" y="2809429"/>
            <a:ext cx="245498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set_domain() / get_domain_or_none()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606326" y="3053804"/>
            <a:ext cx="268815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00"/>
              </a:lnSpc>
              <a:spcBef>
                <a:spcPts val="5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@runtime_checkable Protocol — 상속 없이 메서드 구현하면 즉시 호환. 파이프라인 노드는 get_domain_or_none()으로 조회 후 fallback.</a:t>
            </a:r>
            <a:endParaRPr lang="en-US" sz="600" dirty="0"/>
          </a:p>
        </p:txBody>
      </p:sp>
      <p:sp>
        <p:nvSpPr>
          <p:cNvPr id="24" name="Text 22"/>
          <p:cNvSpPr/>
          <p:nvPr/>
        </p:nvSpPr>
        <p:spPr>
          <a:xfrm>
            <a:off x="3505200" y="1261170"/>
            <a:ext cx="2133600" cy="1497955"/>
          </a:xfrm>
          <a:prstGeom prst="roundRect">
            <a:avLst>
              <a:gd name="adj" fmla="val 5087"/>
            </a:avLst>
          </a:prstGeom>
          <a:solidFill>
            <a:srgbClr val="1E293B"/>
          </a:solidFill>
          <a:ln w="19050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3645688" y="1419820"/>
            <a:ext cx="185262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700"/>
              </a:spcAft>
              <a:buNone/>
            </a:pPr>
            <a:r>
              <a:rPr lang="en-US" sz="8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DomainPort Protocol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3645688" y="1622971"/>
            <a:ext cx="1852624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2-Protocol 직교 설계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3663851" y="1845022"/>
            <a:ext cx="1816298" cy="346025"/>
          </a:xfrm>
          <a:prstGeom prst="roundRect">
            <a:avLst>
              <a:gd name="adj" fmla="val 14681"/>
            </a:avLst>
          </a:prstGeom>
          <a:solidFill>
            <a:srgbClr val="0D2B1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3749219" y="1921222"/>
            <a:ext cx="164556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PipelineTemplate L1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3749219" y="2029123"/>
            <a:ext cx="164556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실행 흐름 정의</a:t>
            </a:r>
            <a:endParaRPr lang="en-US" sz="600" dirty="0"/>
          </a:p>
        </p:txBody>
      </p:sp>
      <p:sp>
        <p:nvSpPr>
          <p:cNvPr id="30" name="Text 28"/>
          <p:cNvSpPr/>
          <p:nvPr/>
        </p:nvSpPr>
        <p:spPr>
          <a:xfrm>
            <a:off x="3663851" y="2254448"/>
            <a:ext cx="1816298" cy="346025"/>
          </a:xfrm>
          <a:prstGeom prst="roundRect">
            <a:avLst>
              <a:gd name="adj" fmla="val 14681"/>
            </a:avLst>
          </a:prstGeom>
          <a:solidFill>
            <a:srgbClr val="2B1A0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3749219" y="2330648"/>
            <a:ext cx="164556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LanguageAdapter L2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3749219" y="2438549"/>
            <a:ext cx="164556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언어·포맷 변환</a:t>
            </a:r>
            <a:endParaRPr lang="en-US" sz="600" dirty="0"/>
          </a:p>
        </p:txBody>
      </p:sp>
      <p:sp>
        <p:nvSpPr>
          <p:cNvPr id="33" name="Text 31"/>
          <p:cNvSpPr/>
          <p:nvPr/>
        </p:nvSpPr>
        <p:spPr>
          <a:xfrm>
            <a:off x="3505200" y="2835325"/>
            <a:ext cx="2133600" cy="806202"/>
          </a:xfrm>
          <a:prstGeom prst="roundRect">
            <a:avLst>
              <a:gd name="adj" fmla="val 6301"/>
            </a:avLst>
          </a:prstGeom>
          <a:solidFill>
            <a:srgbClr val="F5C542">
              <a:alpha val="8000"/>
            </a:srgbClr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3635972" y="2971800"/>
            <a:ext cx="1872055" cy="279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22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0줄</a:t>
            </a:r>
            <a:endParaRPr lang="en-US" sz="2200" dirty="0"/>
          </a:p>
        </p:txBody>
      </p:sp>
      <p:sp>
        <p:nvSpPr>
          <p:cNvPr id="35" name="Text 33"/>
          <p:cNvSpPr/>
          <p:nvPr/>
        </p:nvSpPr>
        <p:spPr>
          <a:xfrm>
            <a:off x="3635972" y="3289250"/>
            <a:ext cx="187205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에이전트 코어 수정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3635972" y="3419326"/>
            <a:ext cx="187205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core/graph.py · core/verification/ 무변경</a:t>
            </a:r>
            <a:endParaRPr lang="en-US" sz="600" dirty="0"/>
          </a:p>
        </p:txBody>
      </p:sp>
      <p:sp>
        <p:nvSpPr>
          <p:cNvPr id="37" name="Text 35"/>
          <p:cNvSpPr/>
          <p:nvPr/>
        </p:nvSpPr>
        <p:spPr>
          <a:xfrm>
            <a:off x="3505200" y="3717727"/>
            <a:ext cx="2133600" cy="739229"/>
          </a:xfrm>
          <a:prstGeom prst="roundRect">
            <a:avLst>
              <a:gd name="adj" fmla="val 6872"/>
            </a:avLst>
          </a:prstGeom>
          <a:solidFill>
            <a:srgbClr val="1E293B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3654326" y="3816102"/>
            <a:ext cx="187205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 Protocol 추상화 비용 vs 이식 속도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3654326" y="3958977"/>
            <a:ext cx="1872055" cy="399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DomainPort 인터페이스 설계에 3일을 썼다. 그 대가로 GEODE → REODE 피봇에 코어 수정 0줄 — 3일 투자가 수주의 재작성을 막았다.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5753100" y="790426"/>
            <a:ext cx="2933700" cy="977801"/>
          </a:xfrm>
          <a:prstGeom prst="roundRect">
            <a:avLst>
              <a:gd name="adj" fmla="val 5195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Shape 39"/>
          <p:cNvSpPr/>
          <p:nvPr/>
        </p:nvSpPr>
        <p:spPr>
          <a:xfrm>
            <a:off x="5753100" y="809476"/>
            <a:ext cx="2933700" cy="0"/>
          </a:xfrm>
          <a:prstGeom prst="line">
            <a:avLst/>
          </a:prstGeom>
          <a:noFill/>
          <a:ln w="38100">
            <a:solidFill>
              <a:srgbClr val="4ECDC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892701" y="942826"/>
            <a:ext cx="270758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REODE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5892701" y="1114276"/>
            <a:ext cx="270758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Java 코드 마이그레이션 에이전트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5892701" y="1282452"/>
            <a:ext cx="2654498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5892701" y="1282452"/>
            <a:ext cx="270758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209 모듈 · 3,274 테스트 · 34 Tools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5892701" y="1425327"/>
            <a:ext cx="270758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OpenRewrite 70% + LLM 30%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5892701" y="1558677"/>
            <a:ext cx="270758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5-Gate Migration Scorecard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5753100" y="1844427"/>
            <a:ext cx="2933700" cy="3083272"/>
          </a:xfrm>
          <a:prstGeom prst="roundRect">
            <a:avLst>
              <a:gd name="adj" fmla="val 1732"/>
            </a:avLst>
          </a:prstGeom>
          <a:solidFill>
            <a:srgbClr val="0D1E2B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5902226" y="1968252"/>
            <a:ext cx="268815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실증 수치 — Java 마이그레이션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5889556" y="2168277"/>
            <a:ext cx="1292313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241</a:t>
            </a:r>
            <a:endParaRPr lang="en-US" sz="2000" dirty="0"/>
          </a:p>
        </p:txBody>
      </p:sp>
      <p:sp>
        <p:nvSpPr>
          <p:cNvPr id="51" name="Text 49"/>
          <p:cNvSpPr/>
          <p:nvPr/>
        </p:nvSpPr>
        <p:spPr>
          <a:xfrm>
            <a:off x="5889556" y="2422327"/>
            <a:ext cx="129231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소스 파일</a:t>
            </a:r>
            <a:endParaRPr lang="en-US" sz="600" dirty="0"/>
          </a:p>
        </p:txBody>
      </p:sp>
      <p:sp>
        <p:nvSpPr>
          <p:cNvPr id="52" name="Text 50"/>
          <p:cNvSpPr/>
          <p:nvPr/>
        </p:nvSpPr>
        <p:spPr>
          <a:xfrm>
            <a:off x="7258031" y="2168277"/>
            <a:ext cx="1292313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103K</a:t>
            </a:r>
            <a:endParaRPr lang="en-US" sz="2000" dirty="0"/>
          </a:p>
        </p:txBody>
      </p:sp>
      <p:sp>
        <p:nvSpPr>
          <p:cNvPr id="53" name="Text 51"/>
          <p:cNvSpPr/>
          <p:nvPr/>
        </p:nvSpPr>
        <p:spPr>
          <a:xfrm>
            <a:off x="7258031" y="2422327"/>
            <a:ext cx="129231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</a:t>
            </a:r>
            <a:endParaRPr lang="en-US" sz="600" dirty="0"/>
          </a:p>
        </p:txBody>
      </p:sp>
      <p:sp>
        <p:nvSpPr>
          <p:cNvPr id="54" name="Text 52"/>
          <p:cNvSpPr/>
          <p:nvPr/>
        </p:nvSpPr>
        <p:spPr>
          <a:xfrm>
            <a:off x="5889556" y="2584252"/>
            <a:ext cx="1292313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2000" dirty="0"/>
          </a:p>
        </p:txBody>
      </p:sp>
      <p:sp>
        <p:nvSpPr>
          <p:cNvPr id="55" name="Text 53"/>
          <p:cNvSpPr/>
          <p:nvPr/>
        </p:nvSpPr>
        <p:spPr>
          <a:xfrm>
            <a:off x="5889556" y="2838301"/>
            <a:ext cx="129231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세션</a:t>
            </a:r>
            <a:endParaRPr lang="en-US" sz="600" dirty="0"/>
          </a:p>
        </p:txBody>
      </p:sp>
      <p:sp>
        <p:nvSpPr>
          <p:cNvPr id="56" name="Text 54"/>
          <p:cNvSpPr/>
          <p:nvPr/>
        </p:nvSpPr>
        <p:spPr>
          <a:xfrm>
            <a:off x="7258031" y="2584252"/>
            <a:ext cx="1292313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1,133</a:t>
            </a:r>
            <a:endParaRPr lang="en-US" sz="2000" dirty="0"/>
          </a:p>
        </p:txBody>
      </p:sp>
      <p:sp>
        <p:nvSpPr>
          <p:cNvPr id="57" name="Text 55"/>
          <p:cNvSpPr/>
          <p:nvPr/>
        </p:nvSpPr>
        <p:spPr>
          <a:xfrm>
            <a:off x="7258031" y="2838301"/>
            <a:ext cx="129231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라운드</a:t>
            </a:r>
            <a:endParaRPr lang="en-US" sz="600" dirty="0"/>
          </a:p>
        </p:txBody>
      </p:sp>
      <p:sp>
        <p:nvSpPr>
          <p:cNvPr id="58" name="Text 56"/>
          <p:cNvSpPr/>
          <p:nvPr/>
        </p:nvSpPr>
        <p:spPr>
          <a:xfrm>
            <a:off x="5902226" y="3000226"/>
            <a:ext cx="2635448" cy="406301"/>
          </a:xfrm>
          <a:prstGeom prst="roundRect">
            <a:avLst>
              <a:gd name="adj" fmla="val 12503"/>
            </a:avLst>
          </a:prstGeom>
          <a:solidFill>
            <a:srgbClr val="0D2B1E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Text 57"/>
          <p:cNvSpPr/>
          <p:nvPr/>
        </p:nvSpPr>
        <p:spPr>
          <a:xfrm>
            <a:off x="6002173" y="3085951"/>
            <a:ext cx="243555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83/83 mvn compile+test 패스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6002173" y="3235077"/>
            <a:ext cx="243555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5h 48m 자율 실행</a:t>
            </a:r>
            <a:endParaRPr lang="en-US" sz="600" dirty="0"/>
          </a:p>
        </p:txBody>
      </p:sp>
      <p:sp>
        <p:nvSpPr>
          <p:cNvPr id="61" name="Text 59"/>
          <p:cNvSpPr/>
          <p:nvPr/>
        </p:nvSpPr>
        <p:spPr>
          <a:xfrm>
            <a:off x="457200" y="4978450"/>
            <a:ext cx="3194881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DomainPort · ContextVar DI · core/graph.py 0줄 수정 · 241소스 103K LoC · 33세션 1,133라운드 · 83/83 build pass</a:t>
            </a:r>
            <a:endParaRPr lang="en-US" sz="500" dirty="0"/>
          </a:p>
        </p:txBody>
      </p:sp>
      <p:sp>
        <p:nvSpPr>
          <p:cNvPr id="62" name="Text 60"/>
          <p:cNvSpPr/>
          <p:nvPr/>
        </p:nvSpPr>
        <p:spPr>
          <a:xfrm>
            <a:off x="8492728" y="4983212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/ 34</a:t>
            </a:r>
            <a:endParaRPr lang="en-US" sz="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1430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F5C54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49126"/>
            <a:ext cx="195615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HE-2: DOMAIN — Pattern Evolution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55550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Eco² → GEODE → REODE: 패턴 진화 증거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22250"/>
            <a:ext cx="839419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Swiss Cheese → 5-Layer · LLMClientPort → Port/Adapter · Event Bus → HookSystem — 같은 문제를 세 번 더 잘 풀었다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790426"/>
            <a:ext cx="2445841" cy="358527"/>
          </a:xfrm>
          <a:prstGeom prst="roundRect">
            <a:avLst>
              <a:gd name="adj" fmla="val 14169"/>
            </a:avLst>
          </a:prstGeom>
          <a:solidFill>
            <a:srgbClr val="161B22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71946" y="863352"/>
            <a:ext cx="221634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Eco²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71946" y="990302"/>
            <a:ext cx="221634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원형 패턴</a:t>
            </a:r>
            <a:endParaRPr lang="en-US" sz="600" dirty="0"/>
          </a:p>
        </p:txBody>
      </p:sp>
      <p:sp>
        <p:nvSpPr>
          <p:cNvPr id="9" name="Text 7"/>
          <p:cNvSpPr/>
          <p:nvPr/>
        </p:nvSpPr>
        <p:spPr>
          <a:xfrm>
            <a:off x="2953792" y="898178"/>
            <a:ext cx="129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34D399">
                    <a:alpha val="3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131641" y="790426"/>
            <a:ext cx="2880568" cy="358527"/>
          </a:xfrm>
          <a:prstGeom prst="rect">
            <a:avLst/>
          </a:prstGeom>
          <a:solidFill>
            <a:srgbClr val="161B22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3242041" y="863352"/>
            <a:ext cx="265977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v0.31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3242041" y="990302"/>
            <a:ext cx="265977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패턴 심화</a:t>
            </a:r>
            <a:endParaRPr lang="en-US" sz="600" dirty="0"/>
          </a:p>
        </p:txBody>
      </p:sp>
      <p:sp>
        <p:nvSpPr>
          <p:cNvPr id="13" name="Text 11"/>
          <p:cNvSpPr/>
          <p:nvPr/>
        </p:nvSpPr>
        <p:spPr>
          <a:xfrm>
            <a:off x="6062960" y="898178"/>
            <a:ext cx="129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18CF8">
                    <a:alpha val="3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240810" y="790426"/>
            <a:ext cx="2445990" cy="358527"/>
          </a:xfrm>
          <a:prstGeom prst="rect">
            <a:avLst/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6355555" y="863352"/>
            <a:ext cx="22165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REODE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6355555" y="990302"/>
            <a:ext cx="221650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실증 적용</a:t>
            </a:r>
            <a:endParaRPr lang="en-US" sz="600" dirty="0"/>
          </a:p>
        </p:txBody>
      </p:sp>
      <p:sp>
        <p:nvSpPr>
          <p:cNvPr id="17" name="Text 15"/>
          <p:cNvSpPr/>
          <p:nvPr/>
        </p:nvSpPr>
        <p:spPr>
          <a:xfrm>
            <a:off x="457200" y="1212354"/>
            <a:ext cx="8229600" cy="377726"/>
          </a:xfrm>
          <a:prstGeom prst="roundRect">
            <a:avLst>
              <a:gd name="adj" fmla="val 13449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593675" y="1310729"/>
            <a:ext cx="50750" cy="180975"/>
          </a:xfrm>
          <a:prstGeom prst="roundRect">
            <a:avLst>
              <a:gd name="adj" fmla="val 50049"/>
            </a:avLst>
          </a:prstGeom>
          <a:solidFill>
            <a:srgbClr val="F5C54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745927" y="1348829"/>
            <a:ext cx="103621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검증 레이어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863328" y="1310729"/>
            <a:ext cx="189558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Swiss Cheese 3-Layer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1863328" y="1405979"/>
            <a:ext cx="189558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단일 LLM 평가 → 3겹 필터</a:t>
            </a:r>
            <a:endParaRPr lang="en-US" sz="600" dirty="0"/>
          </a:p>
        </p:txBody>
      </p:sp>
      <p:sp>
        <p:nvSpPr>
          <p:cNvPr id="22" name="Text 20"/>
          <p:cNvSpPr/>
          <p:nvPr/>
        </p:nvSpPr>
        <p:spPr>
          <a:xfrm>
            <a:off x="3823246" y="1344067"/>
            <a:ext cx="170325" cy="114300"/>
          </a:xfrm>
          <a:prstGeom prst="rect">
            <a:avLst/>
          </a:prstGeom>
          <a:noFill/>
          <a:ln/>
        </p:spPr>
        <p:txBody>
          <a:bodyPr wrap="square" lIns="38100" tIns="0" rIns="3810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5C542">
                    <a:alpha val="3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➔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091732" y="1310729"/>
            <a:ext cx="227479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5-Layer Verification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4091732" y="1405979"/>
            <a:ext cx="227479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BiasBuster 6종 + Cross-LLM α≥0.67 → 99.8</a:t>
            </a:r>
            <a:endParaRPr lang="en-US" sz="600" dirty="0"/>
          </a:p>
        </p:txBody>
      </p:sp>
      <p:sp>
        <p:nvSpPr>
          <p:cNvPr id="25" name="Text 23"/>
          <p:cNvSpPr/>
          <p:nvPr/>
        </p:nvSpPr>
        <p:spPr>
          <a:xfrm>
            <a:off x="6423422" y="1344067"/>
            <a:ext cx="170325" cy="114300"/>
          </a:xfrm>
          <a:prstGeom prst="rect">
            <a:avLst/>
          </a:prstGeom>
          <a:noFill/>
          <a:ln/>
        </p:spPr>
        <p:txBody>
          <a:bodyPr wrap="square" lIns="38100" tIns="0" rIns="3810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18CF8">
                    <a:alpha val="3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➔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6691908" y="1310729"/>
            <a:ext cx="189558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5-Gate Migration Scorecard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6691908" y="1405979"/>
            <a:ext cx="189558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마이그레이션 품질 5관문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457200" y="1653480"/>
            <a:ext cx="8229600" cy="377726"/>
          </a:xfrm>
          <a:prstGeom prst="roundRect">
            <a:avLst>
              <a:gd name="adj" fmla="val 13449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593675" y="1751856"/>
            <a:ext cx="50750" cy="180975"/>
          </a:xfrm>
          <a:prstGeom prst="roundRect">
            <a:avLst>
              <a:gd name="adj" fmla="val 50049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745927" y="1789956"/>
            <a:ext cx="103621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추상화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1863328" y="1751856"/>
            <a:ext cx="189558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LLMClientPort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1863328" y="1847106"/>
            <a:ext cx="189558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단일 Provider 종속 위험</a:t>
            </a:r>
            <a:endParaRPr lang="en-US" sz="600" dirty="0"/>
          </a:p>
        </p:txBody>
      </p:sp>
      <p:sp>
        <p:nvSpPr>
          <p:cNvPr id="33" name="Text 31"/>
          <p:cNvSpPr/>
          <p:nvPr/>
        </p:nvSpPr>
        <p:spPr>
          <a:xfrm>
            <a:off x="3823246" y="1785193"/>
            <a:ext cx="170325" cy="114300"/>
          </a:xfrm>
          <a:prstGeom prst="rect">
            <a:avLst/>
          </a:prstGeom>
          <a:noFill/>
          <a:ln/>
        </p:spPr>
        <p:txBody>
          <a:bodyPr wrap="square" lIns="38100" tIns="0" rIns="3810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18CF8">
                    <a:alpha val="3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➔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4091732" y="1751856"/>
            <a:ext cx="227479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Port/Adapter DI + ContextVar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4091732" y="1847106"/>
            <a:ext cx="227479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Anthropic·OpenAI·ZhipuAI 3-Provider 추상화</a:t>
            </a:r>
            <a:endParaRPr lang="en-US" sz="600" dirty="0"/>
          </a:p>
        </p:txBody>
      </p:sp>
      <p:sp>
        <p:nvSpPr>
          <p:cNvPr id="36" name="Text 34"/>
          <p:cNvSpPr/>
          <p:nvPr/>
        </p:nvSpPr>
        <p:spPr>
          <a:xfrm>
            <a:off x="6423422" y="1785193"/>
            <a:ext cx="170325" cy="114300"/>
          </a:xfrm>
          <a:prstGeom prst="rect">
            <a:avLst/>
          </a:prstGeom>
          <a:noFill/>
          <a:ln/>
        </p:spPr>
        <p:txBody>
          <a:bodyPr wrap="square" lIns="38100" tIns="0" rIns="3810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18CF8">
                    <a:alpha val="3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➔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6691908" y="1751856"/>
            <a:ext cx="189558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DomainPort Protocol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6691908" y="1847106"/>
            <a:ext cx="189558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코어 수정 0줄로 Java 도메인 교체</a:t>
            </a:r>
            <a:endParaRPr lang="en-US" sz="600" dirty="0"/>
          </a:p>
        </p:txBody>
      </p:sp>
      <p:sp>
        <p:nvSpPr>
          <p:cNvPr id="39" name="Text 37"/>
          <p:cNvSpPr/>
          <p:nvPr/>
        </p:nvSpPr>
        <p:spPr>
          <a:xfrm>
            <a:off x="457200" y="2094607"/>
            <a:ext cx="8229600" cy="387251"/>
          </a:xfrm>
          <a:prstGeom prst="roundRect">
            <a:avLst>
              <a:gd name="adj" fmla="val 13118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593675" y="2192982"/>
            <a:ext cx="50750" cy="190500"/>
          </a:xfrm>
          <a:prstGeom prst="roundRect">
            <a:avLst>
              <a:gd name="adj" fmla="val 50049"/>
            </a:avLst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745927" y="2235845"/>
            <a:ext cx="103621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이벤트 시스템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1863328" y="2197745"/>
            <a:ext cx="189558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 Bus 3-Tier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1863328" y="2292995"/>
            <a:ext cx="189558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하드코딩 콜백 확장 불가</a:t>
            </a:r>
            <a:endParaRPr lang="en-US" sz="600" dirty="0"/>
          </a:p>
        </p:txBody>
      </p:sp>
      <p:sp>
        <p:nvSpPr>
          <p:cNvPr id="44" name="Text 42"/>
          <p:cNvSpPr/>
          <p:nvPr/>
        </p:nvSpPr>
        <p:spPr>
          <a:xfrm>
            <a:off x="3823246" y="2231082"/>
            <a:ext cx="170325" cy="114300"/>
          </a:xfrm>
          <a:prstGeom prst="rect">
            <a:avLst/>
          </a:prstGeom>
          <a:noFill/>
          <a:ln/>
        </p:spPr>
        <p:txBody>
          <a:bodyPr wrap="square" lIns="38100" tIns="0" rIns="3810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97316">
                    <a:alpha val="3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➔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4091732" y="2197745"/>
            <a:ext cx="227479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HookSystem 46 Events 8 Categories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4091732" y="2292995"/>
            <a:ext cx="227479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Priority 핸들러 · StuckDetector 120s · 에러 격리</a:t>
            </a:r>
            <a:endParaRPr lang="en-US" sz="600" dirty="0"/>
          </a:p>
        </p:txBody>
      </p:sp>
      <p:sp>
        <p:nvSpPr>
          <p:cNvPr id="47" name="Text 45"/>
          <p:cNvSpPr/>
          <p:nvPr/>
        </p:nvSpPr>
        <p:spPr>
          <a:xfrm>
            <a:off x="6423422" y="2231082"/>
            <a:ext cx="170325" cy="114300"/>
          </a:xfrm>
          <a:prstGeom prst="rect">
            <a:avLst/>
          </a:prstGeom>
          <a:noFill/>
          <a:ln/>
        </p:spPr>
        <p:txBody>
          <a:bodyPr wrap="square" lIns="38100" tIns="0" rIns="3810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18CF8">
                    <a:alpha val="3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➔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6691908" y="2192982"/>
            <a:ext cx="189558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REODE HookSystem 상속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6691908" y="2297757"/>
            <a:ext cx="189558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Migration lifecycle 동일 패턴</a:t>
            </a:r>
            <a:endParaRPr lang="en-US" sz="600" dirty="0"/>
          </a:p>
        </p:txBody>
      </p:sp>
      <p:sp>
        <p:nvSpPr>
          <p:cNvPr id="50" name="Text 48"/>
          <p:cNvSpPr/>
          <p:nvPr/>
        </p:nvSpPr>
        <p:spPr>
          <a:xfrm>
            <a:off x="457200" y="2545259"/>
            <a:ext cx="8229600" cy="377726"/>
          </a:xfrm>
          <a:prstGeom prst="roundRect">
            <a:avLst>
              <a:gd name="adj" fmla="val 13449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Text 49"/>
          <p:cNvSpPr/>
          <p:nvPr/>
        </p:nvSpPr>
        <p:spPr>
          <a:xfrm>
            <a:off x="593675" y="2643634"/>
            <a:ext cx="50750" cy="180975"/>
          </a:xfrm>
          <a:prstGeom prst="roundRect">
            <a:avLst>
              <a:gd name="adj" fmla="val 50049"/>
            </a:avLst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745927" y="2681734"/>
            <a:ext cx="103621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장애 복원력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1863328" y="2643634"/>
            <a:ext cx="189558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Circuit Breaker + Jitter Backoff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1863328" y="2738884"/>
            <a:ext cx="189558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단일 Provider 장애 시 전체 중단</a:t>
            </a:r>
            <a:endParaRPr lang="en-US" sz="600" dirty="0"/>
          </a:p>
        </p:txBody>
      </p:sp>
      <p:sp>
        <p:nvSpPr>
          <p:cNvPr id="55" name="Text 53"/>
          <p:cNvSpPr/>
          <p:nvPr/>
        </p:nvSpPr>
        <p:spPr>
          <a:xfrm>
            <a:off x="3823246" y="2676971"/>
            <a:ext cx="170325" cy="114300"/>
          </a:xfrm>
          <a:prstGeom prst="rect">
            <a:avLst/>
          </a:prstGeom>
          <a:noFill/>
          <a:ln/>
        </p:spPr>
        <p:txBody>
          <a:bodyPr wrap="square" lIns="38100" tIns="0" rIns="3810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EF4444">
                    <a:alpha val="3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➔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4091732" y="2643634"/>
            <a:ext cx="227479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3-Provider Failover (CB ×3)</a:t>
            </a:r>
            <a:endParaRPr lang="en-US" sz="700" dirty="0"/>
          </a:p>
        </p:txBody>
      </p:sp>
      <p:sp>
        <p:nvSpPr>
          <p:cNvPr id="57" name="Text 55"/>
          <p:cNvSpPr/>
          <p:nvPr/>
        </p:nvSpPr>
        <p:spPr>
          <a:xfrm>
            <a:off x="4091732" y="2738884"/>
            <a:ext cx="227479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5회 실패→60s OPEN→Half-Open · Exp. Backoff ±25% Jitter</a:t>
            </a:r>
            <a:endParaRPr lang="en-US" sz="600" dirty="0"/>
          </a:p>
        </p:txBody>
      </p:sp>
      <p:sp>
        <p:nvSpPr>
          <p:cNvPr id="58" name="Text 56"/>
          <p:cNvSpPr/>
          <p:nvPr/>
        </p:nvSpPr>
        <p:spPr>
          <a:xfrm>
            <a:off x="6423422" y="2676971"/>
            <a:ext cx="170325" cy="114300"/>
          </a:xfrm>
          <a:prstGeom prst="rect">
            <a:avLst/>
          </a:prstGeom>
          <a:noFill/>
          <a:ln/>
        </p:spPr>
        <p:txBody>
          <a:bodyPr wrap="square" lIns="38100" tIns="0" rIns="3810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18CF8">
                    <a:alpha val="3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➔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6691908" y="2643634"/>
            <a:ext cx="189558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REODE LLM Failover</a:t>
            </a:r>
            <a:endParaRPr lang="en-US" sz="700" dirty="0"/>
          </a:p>
        </p:txBody>
      </p:sp>
      <p:sp>
        <p:nvSpPr>
          <p:cNvPr id="60" name="Text 58"/>
          <p:cNvSpPr/>
          <p:nvPr/>
        </p:nvSpPr>
        <p:spPr>
          <a:xfrm>
            <a:off x="6691908" y="2738884"/>
            <a:ext cx="189558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동일 CB 패턴 마이그레이션 내성</a:t>
            </a:r>
            <a:endParaRPr lang="en-US" sz="600" dirty="0"/>
          </a:p>
        </p:txBody>
      </p:sp>
      <p:sp>
        <p:nvSpPr>
          <p:cNvPr id="61" name="Text 59"/>
          <p:cNvSpPr/>
          <p:nvPr/>
        </p:nvSpPr>
        <p:spPr>
          <a:xfrm>
            <a:off x="457200" y="4372124"/>
            <a:ext cx="8229600" cy="527000"/>
          </a:xfrm>
          <a:prstGeom prst="roundRect">
            <a:avLst>
              <a:gd name="adj" fmla="val 9639"/>
            </a:avLst>
          </a:prstGeom>
          <a:solidFill>
            <a:srgbClr val="1E293B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619125" y="4457849"/>
            <a:ext cx="38100" cy="355550"/>
          </a:xfrm>
          <a:prstGeom prst="roundRect">
            <a:avLst>
              <a:gd name="adj" fmla="val 66667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Text 61"/>
          <p:cNvSpPr/>
          <p:nvPr/>
        </p:nvSpPr>
        <p:spPr>
          <a:xfrm>
            <a:off x="758726" y="4502348"/>
            <a:ext cx="7921472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 — 재사용 비용 vs 재설계 비용: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Eco²에서 검증된 4개 패턴을 재사용하면 Eco² 제약(Swiss Cheese 3-Layer 한계, 단일 Provider 종속)도 함께 온다. 그러나 패턴을 버리면 REODE 출시에 수주가 더 필요했다. 검증된 패턴을 확장하는 길을 선택했고, REODE는 GEODE 포크로 </a:t>
            </a:r>
            <a:pPr algn="l" indent="0" marL="0">
              <a:lnSpc>
                <a:spcPts val="1050"/>
              </a:lnSpc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83/83 빌드를 5h 48m 안에 달성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했다.</a:t>
            </a:r>
            <a:endParaRPr lang="en-US" sz="700" dirty="0"/>
          </a:p>
        </p:txBody>
      </p:sp>
      <p:sp>
        <p:nvSpPr>
          <p:cNvPr id="64" name="Text 62"/>
          <p:cNvSpPr/>
          <p:nvPr/>
        </p:nvSpPr>
        <p:spPr>
          <a:xfrm>
            <a:off x="457200" y="4987975"/>
            <a:ext cx="347010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Swiss Cheese→5-Layer · LLMClientPort→Port/Adapter · Event Bus→HookSystem · Circuit Breaker→3-Provider Failover</a:t>
            </a:r>
            <a:endParaRPr lang="en-US" sz="500" dirty="0"/>
          </a:p>
        </p:txBody>
      </p:sp>
      <p:sp>
        <p:nvSpPr>
          <p:cNvPr id="65" name="Text 63"/>
          <p:cNvSpPr/>
          <p:nvPr/>
        </p:nvSpPr>
        <p:spPr>
          <a:xfrm>
            <a:off x="8492728" y="4987975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/ 34</a:t>
            </a:r>
            <a:endParaRPr lang="en-US" sz="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95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57014"/>
            <a:ext cx="103606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HE-0 SCAFFOLD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Mirror Table: Scaffold ↔ Runtime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38026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스캐폴딩이 런타임 아키텍처를 그대로 거울처럼 반영한다 — 같은 구조, 다른 주체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838051"/>
            <a:ext cx="2768798" cy="4076998"/>
          </a:xfrm>
          <a:prstGeom prst="roundRect">
            <a:avLst>
              <a:gd name="adj" fmla="val 2752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19125" y="974527"/>
            <a:ext cx="38100" cy="152400"/>
          </a:xfrm>
          <a:prstGeom prst="roundRect">
            <a:avLst>
              <a:gd name="adj" fmla="val 66667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733425" y="979289"/>
            <a:ext cx="118058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SCAFFOLD (빌드 타임)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19125" y="1253877"/>
            <a:ext cx="2444948" cy="526852"/>
          </a:xfrm>
          <a:prstGeom prst="roundRect">
            <a:avLst>
              <a:gd name="adj" fmla="val 9642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46075" y="1342727"/>
            <a:ext cx="223486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CLAUDE.md 23 CANNOT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746075" y="1482328"/>
            <a:ext cx="223486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Claude에게 주입되는 헌법 — 어길 수 없는 규칙이 LLM 행동을 제어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619125" y="1856929"/>
            <a:ext cx="2444948" cy="422077"/>
          </a:xfrm>
          <a:prstGeom prst="roundRect">
            <a:avLst>
              <a:gd name="adj" fmla="val 12036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746075" y="1945779"/>
            <a:ext cx="223486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Skills → 8-Step Loop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746075" y="2085380"/>
            <a:ext cx="223486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소크라테스 정제 → Frontier 리서치 → 구현 → 검증 반복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619125" y="2355205"/>
            <a:ext cx="2444948" cy="526852"/>
          </a:xfrm>
          <a:prstGeom prst="roundRect">
            <a:avLst>
              <a:gd name="adj" fmla="val 9642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746075" y="2444055"/>
            <a:ext cx="223486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 Mining + 4-Persona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46075" y="2583656"/>
            <a:ext cx="223486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/ Devin / OpenHands 리서치 → GAP 분석 → 설계 결정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619125" y="2958257"/>
            <a:ext cx="2444948" cy="422077"/>
          </a:xfrm>
          <a:prstGeom prst="roundRect">
            <a:avLst>
              <a:gd name="adj" fmla="val 12036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746075" y="3047107"/>
            <a:ext cx="223486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CHANGELOG 39 Releases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746075" y="3186708"/>
            <a:ext cx="223486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v0.6 → v0.31 아키텍처 결정 이력 — 모든 피봇을 문서화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3480941" y="2655838"/>
            <a:ext cx="204936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⟺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514151" y="2925663"/>
            <a:ext cx="13449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동형</a:t>
            </a:r>
            <a:endParaRPr lang="en-US" sz="600" dirty="0"/>
          </a:p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구조</a:t>
            </a:r>
            <a:endParaRPr lang="en-US" sz="600" dirty="0"/>
          </a:p>
        </p:txBody>
      </p:sp>
      <p:sp>
        <p:nvSpPr>
          <p:cNvPr id="23" name="Text 21"/>
          <p:cNvSpPr/>
          <p:nvPr/>
        </p:nvSpPr>
        <p:spPr>
          <a:xfrm>
            <a:off x="3936950" y="838051"/>
            <a:ext cx="2768798" cy="4076998"/>
          </a:xfrm>
          <a:prstGeom prst="roundRect">
            <a:avLst>
              <a:gd name="adj" fmla="val 2752"/>
            </a:avLst>
          </a:prstGeom>
          <a:solidFill>
            <a:srgbClr val="161B22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4098875" y="974527"/>
            <a:ext cx="38100" cy="152400"/>
          </a:xfrm>
          <a:prstGeom prst="roundRect">
            <a:avLst>
              <a:gd name="adj" fmla="val 66667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4213175" y="979289"/>
            <a:ext cx="107690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RUNTIME (실행 타임)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098875" y="1253877"/>
            <a:ext cx="2444948" cy="422077"/>
          </a:xfrm>
          <a:prstGeom prst="roundRect">
            <a:avLst>
              <a:gd name="adj" fmla="val 12036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4225826" y="1342727"/>
            <a:ext cx="223486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 Hook Events (PolicyChain)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4225826" y="1482328"/>
            <a:ext cx="223486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에이전트 행동을 실시간 감시 — 위반 즉시 차단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4098875" y="1752154"/>
            <a:ext cx="2444948" cy="422077"/>
          </a:xfrm>
          <a:prstGeom prst="roundRect">
            <a:avLst>
              <a:gd name="adj" fmla="val 12036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4225826" y="1841004"/>
            <a:ext cx="223486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AgenticLoop 50 rounds × 200 turns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4225826" y="1980605"/>
            <a:ext cx="223486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스캐폴딩이 설계한 루프가 자율 실행으로 구현됨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4098875" y="2250430"/>
            <a:ext cx="2444948" cy="422077"/>
          </a:xfrm>
          <a:prstGeom prst="roundRect">
            <a:avLst>
              <a:gd name="adj" fmla="val 12036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4225826" y="2339280"/>
            <a:ext cx="223486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3-Provider Failover + 5-Tier Safety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4225826" y="2478881"/>
            <a:ext cx="223486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 리서치 결과를 그대로 구현한 내결함성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4098875" y="2748707"/>
            <a:ext cx="2444948" cy="422077"/>
          </a:xfrm>
          <a:prstGeom prst="roundRect">
            <a:avLst>
              <a:gd name="adj" fmla="val 12036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4225826" y="2837557"/>
            <a:ext cx="223486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3,201 Tests · 187 Modules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4225826" y="2977158"/>
            <a:ext cx="223486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각 릴리스가 회귀 없이 축적된 구조적 증거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6807250" y="838051"/>
            <a:ext cx="1879550" cy="4076998"/>
          </a:xfrm>
          <a:prstGeom prst="roundRect">
            <a:avLst>
              <a:gd name="adj" fmla="val 4054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6969175" y="1956495"/>
            <a:ext cx="158681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구조적 동형인가?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6969175" y="2156520"/>
            <a:ext cx="1586814" cy="53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설계가 아닌 발견이었다. Scaffold가 성숙하면서 Runtime과 자연스럽게 동형 구조가 됐다 — 의도한 것이 아니라 좋은 설계의 부산물이다.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6969175" y="2765524"/>
            <a:ext cx="1555700" cy="535484"/>
          </a:xfrm>
          <a:prstGeom prst="roundRect">
            <a:avLst>
              <a:gd name="adj" fmla="val 9487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7070675" y="2841724"/>
            <a:ext cx="1379753" cy="106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 규칙 위반 → 빌드 실패</a:t>
            </a:r>
            <a:endParaRPr lang="en-US" sz="600" dirty="0"/>
          </a:p>
        </p:txBody>
      </p:sp>
      <p:sp>
        <p:nvSpPr>
          <p:cNvPr id="43" name="Text 41"/>
          <p:cNvSpPr/>
          <p:nvPr/>
        </p:nvSpPr>
        <p:spPr>
          <a:xfrm>
            <a:off x="7070675" y="2973586"/>
            <a:ext cx="1379753" cy="106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 규칙 위반 → 실행 차단</a:t>
            </a:r>
            <a:endParaRPr lang="en-US" sz="600" dirty="0"/>
          </a:p>
        </p:txBody>
      </p:sp>
      <p:sp>
        <p:nvSpPr>
          <p:cNvPr id="44" name="Text 42"/>
          <p:cNvSpPr/>
          <p:nvPr/>
        </p:nvSpPr>
        <p:spPr>
          <a:xfrm>
            <a:off x="7070675" y="3118247"/>
            <a:ext cx="1379753" cy="106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spcBef>
                <a:spcPts val="300"/>
              </a:spcBef>
              <a:buNone/>
            </a:pPr>
            <a:r>
              <a:rPr lang="en-US" sz="6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원칙, 다른 계층에서 작동</a:t>
            </a:r>
            <a:endParaRPr lang="en-US" sz="600" dirty="0"/>
          </a:p>
        </p:txBody>
      </p:sp>
      <p:sp>
        <p:nvSpPr>
          <p:cNvPr id="45" name="Shape 43"/>
          <p:cNvSpPr/>
          <p:nvPr/>
        </p:nvSpPr>
        <p:spPr>
          <a:xfrm>
            <a:off x="6969175" y="3381970"/>
            <a:ext cx="1555700" cy="0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969175" y="3462933"/>
            <a:ext cx="1586814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6969175" y="3583484"/>
            <a:ext cx="1586814" cy="213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동형 유지 비용: Scaffold 변경 시 Runtime도 동기화 필요. 수익: 설계 결정이 코드로 직접 흐른다.</a:t>
            </a:r>
            <a:endParaRPr lang="en-US" sz="600" dirty="0"/>
          </a:p>
        </p:txBody>
      </p:sp>
      <p:sp>
        <p:nvSpPr>
          <p:cNvPr id="48" name="Text 46"/>
          <p:cNvSpPr/>
          <p:nvPr/>
        </p:nvSpPr>
        <p:spPr>
          <a:xfrm>
            <a:off x="457200" y="4978450"/>
            <a:ext cx="998723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v0.31.0 · 1,160 커밋 · 36일</a:t>
            </a:r>
            <a:endParaRPr lang="en-US" sz="500" dirty="0"/>
          </a:p>
        </p:txBody>
      </p:sp>
      <p:sp>
        <p:nvSpPr>
          <p:cNvPr id="49" name="Text 47"/>
          <p:cNvSpPr/>
          <p:nvPr/>
        </p:nvSpPr>
        <p:spPr>
          <a:xfrm>
            <a:off x="8492728" y="4978450"/>
            <a:ext cx="197953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/ 34</a:t>
            </a:r>
            <a:endParaRPr lang="en-US" sz="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95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58701" y="157014"/>
            <a:ext cx="103606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HE-0 SCAFFOLD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 — 6 핵심 규칙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47551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LLM에게 자유를 주되 발산을 막는 헌법 — 금지 규칙이 명확할수록 허용 공간이 넓어진다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847576"/>
            <a:ext cx="2927449" cy="1294507"/>
          </a:xfrm>
          <a:prstGeom prst="roundRect">
            <a:avLst>
              <a:gd name="adj" fmla="val 5886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06326" y="974527"/>
            <a:ext cx="30801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격리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971699" y="971401"/>
            <a:ext cx="452735" cy="111026"/>
          </a:xfrm>
          <a:prstGeom prst="roundRect">
            <a:avLst>
              <a:gd name="adj" fmla="val 22878"/>
            </a:avLst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035100" y="984052"/>
            <a:ext cx="3324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0D11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</a:t>
            </a:r>
            <a:endParaRPr lang="en-US" sz="600" dirty="0"/>
          </a:p>
        </p:txBody>
      </p:sp>
      <p:sp>
        <p:nvSpPr>
          <p:cNvPr id="10" name="Text 8"/>
          <p:cNvSpPr/>
          <p:nvPr/>
        </p:nvSpPr>
        <p:spPr>
          <a:xfrm>
            <a:off x="606326" y="1133177"/>
            <a:ext cx="268178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Worktree 없이 코드 작업 금지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606326" y="1307753"/>
            <a:ext cx="2681782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에이전트가 main 브랜치에 직접 쓰면 병렬 작업 충돌이 발생한다. 각 태스크는 반드시 독립 worktree에서 실행돼야 한다.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3448050" y="847576"/>
            <a:ext cx="2927449" cy="1294507"/>
          </a:xfrm>
          <a:prstGeom prst="roundRect">
            <a:avLst>
              <a:gd name="adj" fmla="val 5886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3597176" y="974527"/>
            <a:ext cx="41731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품질 게이트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4069705" y="971401"/>
            <a:ext cx="452735" cy="111026"/>
          </a:xfrm>
          <a:prstGeom prst="roundRect">
            <a:avLst>
              <a:gd name="adj" fmla="val 22878"/>
            </a:avLst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133106" y="984052"/>
            <a:ext cx="3324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0D11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</a:t>
            </a:r>
            <a:endParaRPr lang="en-US" sz="600" dirty="0"/>
          </a:p>
        </p:txBody>
      </p:sp>
      <p:sp>
        <p:nvSpPr>
          <p:cNvPr id="16" name="Text 14"/>
          <p:cNvSpPr/>
          <p:nvPr/>
        </p:nvSpPr>
        <p:spPr>
          <a:xfrm>
            <a:off x="3597176" y="1133177"/>
            <a:ext cx="268178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lint/type/test 실패 상태 커밋 금지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3597176" y="1307753"/>
            <a:ext cx="2681782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실패한 상태의 커밋은 다음 에이전트를 오염시킨다. CI가 3종 체크를 모두 통과한 후에만 머지를 허용한다.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457200" y="2205484"/>
            <a:ext cx="2927449" cy="1294507"/>
          </a:xfrm>
          <a:prstGeom prst="roundRect">
            <a:avLst>
              <a:gd name="adj" fmla="val 5886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06326" y="2332434"/>
            <a:ext cx="52084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과잉 구현 방지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180356" y="2329309"/>
            <a:ext cx="452735" cy="111026"/>
          </a:xfrm>
          <a:prstGeom prst="roundRect">
            <a:avLst>
              <a:gd name="adj" fmla="val 22878"/>
            </a:avLst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1243757" y="2341959"/>
            <a:ext cx="3324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0D11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</a:t>
            </a:r>
            <a:endParaRPr lang="en-US" sz="600" dirty="0"/>
          </a:p>
        </p:txBody>
      </p:sp>
      <p:sp>
        <p:nvSpPr>
          <p:cNvPr id="22" name="Text 20"/>
          <p:cNvSpPr/>
          <p:nvPr/>
        </p:nvSpPr>
        <p:spPr>
          <a:xfrm>
            <a:off x="606326" y="2491085"/>
            <a:ext cx="268178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승인 없이 구현 착수 금지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06326" y="2665661"/>
            <a:ext cx="2681782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LLM은 승인 없이 구현하려는 성질이 있다. 설계 문서에 인간 승인 서명이 없으면 첫 줄도 작성하지 않는다.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3448050" y="2205484"/>
            <a:ext cx="2927449" cy="1294507"/>
          </a:xfrm>
          <a:prstGeom prst="roundRect">
            <a:avLst>
              <a:gd name="adj" fmla="val 5886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3597176" y="2332434"/>
            <a:ext cx="23529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추적성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3891260" y="2329309"/>
            <a:ext cx="452735" cy="111026"/>
          </a:xfrm>
          <a:prstGeom prst="roundRect">
            <a:avLst>
              <a:gd name="adj" fmla="val 22878"/>
            </a:avLst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3954661" y="2341959"/>
            <a:ext cx="3324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0D11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3597176" y="2491085"/>
            <a:ext cx="268178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CHANGELOG 없이 기능 커밋 금지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3597176" y="2665661"/>
            <a:ext cx="2681782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500+ PR의 결정 근거가 사라지면 재설계 비용이 폭증한다. 모든 기능 커밋은 CHANGELOG 항목을 동반해야 한다.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457200" y="3563392"/>
            <a:ext cx="2927449" cy="1294507"/>
          </a:xfrm>
          <a:prstGeom prst="roundRect">
            <a:avLst>
              <a:gd name="adj" fmla="val 5886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606326" y="3690342"/>
            <a:ext cx="61511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html2pptx 제약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1272778" y="3687217"/>
            <a:ext cx="452735" cy="111026"/>
          </a:xfrm>
          <a:prstGeom prst="roundRect">
            <a:avLst>
              <a:gd name="adj" fmla="val 22878"/>
            </a:avLst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1336179" y="3699867"/>
            <a:ext cx="3324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0D11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606326" y="3848993"/>
            <a:ext cx="268178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CSS gradient 금지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606326" y="4023568"/>
            <a:ext cx="2681782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linear-gradient/radial-gradient는 html2pptx가 렌더링하지 못한다. 배경 효과는 solid color + border 조합으로 대체한다.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3448050" y="3563392"/>
            <a:ext cx="2927449" cy="1294507"/>
          </a:xfrm>
          <a:prstGeom prst="roundRect">
            <a:avLst>
              <a:gd name="adj" fmla="val 5886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3597176" y="3690342"/>
            <a:ext cx="49564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내러티브 품질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4146500" y="3687217"/>
            <a:ext cx="452735" cy="111026"/>
          </a:xfrm>
          <a:prstGeom prst="roundRect">
            <a:avLst>
              <a:gd name="adj" fmla="val 22878"/>
            </a:avLst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4209901" y="3699867"/>
            <a:ext cx="3324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0D11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3597176" y="3848993"/>
            <a:ext cx="268178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단순 박스형 배치 금지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3597176" y="4023568"/>
            <a:ext cx="2681782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키워드만 넣은 카드 그리드는 발표가 아니다. 각 박스는 "X 때문에 Y를 선택했고 Z가 나왔다" 수준의 인과 서술을 포함해야 한다.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6477000" y="847576"/>
            <a:ext cx="2209800" cy="1584722"/>
          </a:xfrm>
          <a:prstGeom prst="roundRect">
            <a:avLst>
              <a:gd name="adj" fmla="val 4808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6651575" y="996702"/>
            <a:ext cx="403497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2800" dirty="0"/>
          </a:p>
        </p:txBody>
      </p:sp>
      <p:sp>
        <p:nvSpPr>
          <p:cNvPr id="44" name="Text 42"/>
          <p:cNvSpPr/>
          <p:nvPr/>
        </p:nvSpPr>
        <p:spPr>
          <a:xfrm>
            <a:off x="7123361" y="1234827"/>
            <a:ext cx="700882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 규칙 추가</a:t>
            </a:r>
            <a:endParaRPr lang="en-US" sz="700" dirty="0"/>
          </a:p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CLAUDE.md 수록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6651575" y="1559570"/>
            <a:ext cx="1897862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나머지 17개 규칙은 CLAUDE.md 425줄에 명시. 하나라도 위반하면 CI가 머지를 차단한다.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6651575" y="1902172"/>
            <a:ext cx="1860649" cy="381000"/>
          </a:xfrm>
          <a:prstGeom prst="roundRect">
            <a:avLst>
              <a:gd name="adj" fmla="val 13333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6753076" y="1978372"/>
            <a:ext cx="169080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타이포그래피 4개 · 레이아웃 5개</a:t>
            </a:r>
            <a:endParaRPr lang="en-US" sz="600" dirty="0"/>
          </a:p>
          <a:p>
            <a:pPr algn="l" indent="0" marL="0">
              <a:lnSpc>
                <a:spcPts val="900"/>
              </a:lnSpc>
              <a:buNone/>
            </a:pPr>
            <a:r>
              <a:rPr lang="en-US" sz="6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html2pptx 추가 4개 · 내러티브 4개</a:t>
            </a:r>
            <a:endParaRPr lang="en-US" sz="600" dirty="0"/>
          </a:p>
        </p:txBody>
      </p:sp>
      <p:sp>
        <p:nvSpPr>
          <p:cNvPr id="48" name="Text 46"/>
          <p:cNvSpPr/>
          <p:nvPr/>
        </p:nvSpPr>
        <p:spPr>
          <a:xfrm>
            <a:off x="6477000" y="2508498"/>
            <a:ext cx="2209800" cy="2349401"/>
          </a:xfrm>
          <a:prstGeom prst="roundRect">
            <a:avLst>
              <a:gd name="adj" fmla="val 3448"/>
            </a:avLst>
          </a:prstGeom>
          <a:solidFill>
            <a:srgbClr val="161B22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6651575" y="2657624"/>
            <a:ext cx="38100" cy="152400"/>
          </a:xfrm>
          <a:prstGeom prst="roundRect">
            <a:avLst>
              <a:gd name="adj" fmla="val 66667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Text 48"/>
          <p:cNvSpPr/>
          <p:nvPr/>
        </p:nvSpPr>
        <p:spPr>
          <a:xfrm>
            <a:off x="6753076" y="2671911"/>
            <a:ext cx="77268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 — 허용 공간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6651575" y="2873425"/>
            <a:ext cx="1897862" cy="399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제약이 명확할수록 허용 공간이 넓어진다. 금지 규칙이 경계를 정하면, 그 안에서 LLM은 구체적 숫자, DAG, 인과 서술로 자유롭게 표현한다.</a:t>
            </a:r>
            <a:endParaRPr lang="en-US" sz="700" dirty="0"/>
          </a:p>
        </p:txBody>
      </p:sp>
      <p:sp>
        <p:nvSpPr>
          <p:cNvPr id="52" name="Text 50"/>
          <p:cNvSpPr/>
          <p:nvPr/>
        </p:nvSpPr>
        <p:spPr>
          <a:xfrm>
            <a:off x="6651575" y="4451598"/>
            <a:ext cx="1860649" cy="257175"/>
          </a:xfrm>
          <a:prstGeom prst="roundRect">
            <a:avLst>
              <a:gd name="adj" fmla="val 19753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6753076" y="4527798"/>
            <a:ext cx="169080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문제→설계→결과 인과 흐름 시각화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457200" y="4908649"/>
            <a:ext cx="17290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702915" y="4956274"/>
            <a:ext cx="1526093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 전체 규칙 — 제약이 명확할수록 자유가 넓어진다</a:t>
            </a:r>
            <a:endParaRPr lang="en-US" sz="500" dirty="0"/>
          </a:p>
        </p:txBody>
      </p:sp>
      <p:sp>
        <p:nvSpPr>
          <p:cNvPr id="56" name="Text 54"/>
          <p:cNvSpPr/>
          <p:nvPr/>
        </p:nvSpPr>
        <p:spPr>
          <a:xfrm>
            <a:off x="8492728" y="4961037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/ 34</a:t>
            </a:r>
            <a:endParaRPr lang="en-US" sz="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95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58701" y="157014"/>
            <a:ext cx="103606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HE-0 SCAFFOLD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8-Step Development Loop + Socratic Gate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38026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키보드에 손이 닿는 순간 하네스의 실패 — 스캐폴딩이 구현보다 앞서야 한다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2305348"/>
            <a:ext cx="1327249" cy="412552"/>
          </a:xfrm>
          <a:prstGeom prst="roundRect">
            <a:avLst>
              <a:gd name="adj" fmla="val 12314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68226" y="2403723"/>
            <a:ext cx="112730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Socratic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568226" y="2533799"/>
            <a:ext cx="112730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요구사항 정제 — 5W로 전제 검증</a:t>
            </a:r>
            <a:endParaRPr lang="en-US" sz="600" dirty="0"/>
          </a:p>
        </p:txBody>
      </p:sp>
      <p:sp>
        <p:nvSpPr>
          <p:cNvPr id="9" name="Text 7"/>
          <p:cNvSpPr/>
          <p:nvPr/>
        </p:nvSpPr>
        <p:spPr>
          <a:xfrm>
            <a:off x="1847850" y="2440186"/>
            <a:ext cx="129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038350" y="2305348"/>
            <a:ext cx="1327249" cy="412552"/>
          </a:xfrm>
          <a:prstGeom prst="roundRect">
            <a:avLst>
              <a:gd name="adj" fmla="val 12314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2149376" y="2403723"/>
            <a:ext cx="112730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Frontier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2149376" y="2533799"/>
            <a:ext cx="112730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Code/Devin GAP 리서치</a:t>
            </a:r>
            <a:endParaRPr lang="en-US" sz="600" dirty="0"/>
          </a:p>
        </p:txBody>
      </p:sp>
      <p:sp>
        <p:nvSpPr>
          <p:cNvPr id="13" name="Text 11"/>
          <p:cNvSpPr/>
          <p:nvPr/>
        </p:nvSpPr>
        <p:spPr>
          <a:xfrm>
            <a:off x="3429000" y="2440186"/>
            <a:ext cx="129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619500" y="2305348"/>
            <a:ext cx="1327249" cy="412552"/>
          </a:xfrm>
          <a:prstGeom prst="roundRect">
            <a:avLst>
              <a:gd name="adj" fmla="val 12314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3730526" y="2403723"/>
            <a:ext cx="112730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Design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3730526" y="2533799"/>
            <a:ext cx="112730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인터페이스 + Trade-off 결정</a:t>
            </a:r>
            <a:endParaRPr lang="en-US" sz="600" dirty="0"/>
          </a:p>
        </p:txBody>
      </p:sp>
      <p:sp>
        <p:nvSpPr>
          <p:cNvPr id="17" name="Text 15"/>
          <p:cNvSpPr/>
          <p:nvPr/>
        </p:nvSpPr>
        <p:spPr>
          <a:xfrm>
            <a:off x="5010150" y="2440186"/>
            <a:ext cx="129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200650" y="2305348"/>
            <a:ext cx="1327249" cy="412552"/>
          </a:xfrm>
          <a:prstGeom prst="roundRect">
            <a:avLst>
              <a:gd name="adj" fmla="val 12314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5311676" y="2403723"/>
            <a:ext cx="112730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Implement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5311676" y="2533799"/>
            <a:ext cx="112730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70% 테스트 비율 목표 구현</a:t>
            </a:r>
            <a:endParaRPr lang="en-US" sz="600" dirty="0"/>
          </a:p>
        </p:txBody>
      </p:sp>
      <p:sp>
        <p:nvSpPr>
          <p:cNvPr id="21" name="Text 19"/>
          <p:cNvSpPr/>
          <p:nvPr/>
        </p:nvSpPr>
        <p:spPr>
          <a:xfrm>
            <a:off x="558701" y="2828925"/>
            <a:ext cx="2568476" cy="9525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3177927" y="2790825"/>
            <a:ext cx="53541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실패 시 ①로 복귀</a:t>
            </a:r>
            <a:endParaRPr lang="en-US" sz="600" dirty="0"/>
          </a:p>
        </p:txBody>
      </p:sp>
      <p:sp>
        <p:nvSpPr>
          <p:cNvPr id="23" name="Text 21"/>
          <p:cNvSpPr/>
          <p:nvPr/>
        </p:nvSpPr>
        <p:spPr>
          <a:xfrm>
            <a:off x="3753594" y="2828925"/>
            <a:ext cx="2568476" cy="9525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372820" y="2781300"/>
            <a:ext cx="5465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457200" y="2949476"/>
            <a:ext cx="1327249" cy="498277"/>
          </a:xfrm>
          <a:prstGeom prst="roundRect">
            <a:avLst>
              <a:gd name="adj" fmla="val 10195"/>
            </a:avLst>
          </a:prstGeom>
          <a:solidFill>
            <a:srgbClr val="161B22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568226" y="3047851"/>
            <a:ext cx="112730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⑧ CHANGELOG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568226" y="3177927"/>
            <a:ext cx="112730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결정 이력 기록 → 다음 Frontier 입력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1847850" y="3127177"/>
            <a:ext cx="129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2038350" y="2992338"/>
            <a:ext cx="1327249" cy="412552"/>
          </a:xfrm>
          <a:prstGeom prst="roundRect">
            <a:avLst>
              <a:gd name="adj" fmla="val 12314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2149376" y="3090714"/>
            <a:ext cx="112730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⑦ Release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149376" y="3220789"/>
            <a:ext cx="112730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 + Semver 태깅 · 39회</a:t>
            </a:r>
            <a:endParaRPr lang="en-US" sz="600" dirty="0"/>
          </a:p>
        </p:txBody>
      </p:sp>
      <p:sp>
        <p:nvSpPr>
          <p:cNvPr id="32" name="Text 30"/>
          <p:cNvSpPr/>
          <p:nvPr/>
        </p:nvSpPr>
        <p:spPr>
          <a:xfrm>
            <a:off x="3429000" y="3127177"/>
            <a:ext cx="129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3619500" y="2992338"/>
            <a:ext cx="1327249" cy="412552"/>
          </a:xfrm>
          <a:prstGeom prst="roundRect">
            <a:avLst>
              <a:gd name="adj" fmla="val 12314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3730526" y="3090714"/>
            <a:ext cx="112730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⑥ E2E Verify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3730526" y="3220789"/>
            <a:ext cx="112730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3,201 테스트 + Hook 회귀 검사</a:t>
            </a:r>
            <a:endParaRPr lang="en-US" sz="600" dirty="0"/>
          </a:p>
        </p:txBody>
      </p:sp>
      <p:sp>
        <p:nvSpPr>
          <p:cNvPr id="36" name="Text 34"/>
          <p:cNvSpPr/>
          <p:nvPr/>
        </p:nvSpPr>
        <p:spPr>
          <a:xfrm>
            <a:off x="5010150" y="3127177"/>
            <a:ext cx="129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200650" y="2992338"/>
            <a:ext cx="1327249" cy="412552"/>
          </a:xfrm>
          <a:prstGeom prst="roundRect">
            <a:avLst>
              <a:gd name="adj" fmla="val 12314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5311676" y="3090714"/>
            <a:ext cx="112730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⑤ 4-Persona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5311676" y="3220789"/>
            <a:ext cx="112730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Architect/Security/QA/Perf 리뷰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6654850" y="838051"/>
            <a:ext cx="2031950" cy="1657796"/>
          </a:xfrm>
          <a:prstGeom prst="roundRect">
            <a:avLst>
              <a:gd name="adj" fmla="val 4596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6816775" y="974527"/>
            <a:ext cx="174226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Socratic Gate (①)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6816775" y="1149102"/>
            <a:ext cx="1742262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구현 전 반드시 통과해야 하는 5가지 질문: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6816775" y="1333054"/>
            <a:ext cx="1708100" cy="676275"/>
          </a:xfrm>
          <a:prstGeom prst="rect">
            <a:avLst/>
          </a:prstGeom>
          <a:noFill/>
          <a:ln/>
        </p:spPr>
        <p:txBody>
          <a:bodyPr wrap="square" lIns="76200" tIns="0" rIns="0" bIns="0" rtlCol="0" anchor="t"/>
          <a:lstStyle/>
          <a:p>
            <a:pPr algn="l" marL="76200" indent="-76200">
              <a:spcAft>
                <a:spcPts val="300"/>
              </a:spcAft>
              <a:buSzPct val="100000"/>
              <a:buChar char="•"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이 기능이 필요한가?</a:t>
            </a:r>
            <a:endParaRPr lang="en-US" sz="700" dirty="0"/>
          </a:p>
          <a:p>
            <a:pPr algn="l" marL="76200" indent="-76200">
              <a:spcAft>
                <a:spcPts val="300"/>
              </a:spcAft>
              <a:buSzPct val="100000"/>
              <a:buChar char="•"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어떤 실패 모드가 있는가?</a:t>
            </a:r>
            <a:endParaRPr lang="en-US" sz="700" dirty="0"/>
          </a:p>
          <a:p>
            <a:pPr algn="l" marL="76200" indent="-76200">
              <a:spcAft>
                <a:spcPts val="300"/>
              </a:spcAft>
              <a:buSzPct val="100000"/>
              <a:buChar char="•"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Trade-off는 무엇인가?</a:t>
            </a:r>
            <a:endParaRPr lang="en-US" sz="700" dirty="0"/>
          </a:p>
          <a:p>
            <a:pPr algn="l" marL="76200" indent="-76200">
              <a:spcAft>
                <a:spcPts val="300"/>
              </a:spcAft>
              <a:buSzPct val="100000"/>
              <a:buChar char="•"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테스트 가능한가?</a:t>
            </a:r>
            <a:endParaRPr lang="en-US" sz="700" dirty="0"/>
          </a:p>
          <a:p>
            <a:pPr algn="l" marL="76200" indent="-76200">
              <a:spcAft>
                <a:spcPts val="300"/>
              </a:spcAft>
              <a:buSzPct val="100000"/>
              <a:buChar char="•"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CHANGELOG에 이유를 쓸 수 있는가?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6816775" y="2110829"/>
            <a:ext cx="1742262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spcBef>
                <a:spcPts val="4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5가지를 답하지 못하면 코드 작성 불가 — 루프가 ①로 되돌아간다.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6654850" y="2597348"/>
            <a:ext cx="2031950" cy="1824335"/>
          </a:xfrm>
          <a:prstGeom prst="roundRect">
            <a:avLst>
              <a:gd name="adj" fmla="val 4177"/>
            </a:avLst>
          </a:prstGeom>
          <a:solidFill>
            <a:srgbClr val="1E293B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6816775" y="2733824"/>
            <a:ext cx="174226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8단계인가?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6816775" y="2933700"/>
            <a:ext cx="1742262" cy="372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spcAft>
                <a:spcPts val="400"/>
              </a:spcAft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5단계(Plan→Implement→Test→Merge→Deploy)면 충분하지 않은가?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6816775" y="3408015"/>
            <a:ext cx="822275" cy="877193"/>
          </a:xfrm>
          <a:prstGeom prst="roundRect">
            <a:avLst>
              <a:gd name="adj" fmla="val 4633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6905625" y="3471416"/>
            <a:ext cx="65746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6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5단계 부재 시</a:t>
            </a:r>
            <a:endParaRPr lang="en-US" sz="600" dirty="0"/>
          </a:p>
        </p:txBody>
      </p:sp>
      <p:sp>
        <p:nvSpPr>
          <p:cNvPr id="50" name="Text 48"/>
          <p:cNvSpPr/>
          <p:nvPr/>
        </p:nvSpPr>
        <p:spPr>
          <a:xfrm>
            <a:off x="6905625" y="3582442"/>
            <a:ext cx="657466" cy="639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GAP Audit·Socratic Gate 없으면 불필요한 구현이 50% — 잘못된 전제로 PR이 병합된다</a:t>
            </a:r>
            <a:endParaRPr lang="en-US" sz="600" dirty="0"/>
          </a:p>
        </p:txBody>
      </p:sp>
      <p:sp>
        <p:nvSpPr>
          <p:cNvPr id="51" name="Text 49"/>
          <p:cNvSpPr/>
          <p:nvPr/>
        </p:nvSpPr>
        <p:spPr>
          <a:xfrm>
            <a:off x="7702451" y="3408015"/>
            <a:ext cx="822424" cy="877193"/>
          </a:xfrm>
          <a:prstGeom prst="roundRect">
            <a:avLst>
              <a:gd name="adj" fmla="val 4633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7791301" y="3471416"/>
            <a:ext cx="65761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6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8단계 추가 비용</a:t>
            </a:r>
            <a:endParaRPr lang="en-US" sz="600" dirty="0"/>
          </a:p>
        </p:txBody>
      </p:sp>
      <p:sp>
        <p:nvSpPr>
          <p:cNvPr id="53" name="Text 51"/>
          <p:cNvSpPr/>
          <p:nvPr/>
        </p:nvSpPr>
        <p:spPr>
          <a:xfrm>
            <a:off x="7791301" y="3582442"/>
            <a:ext cx="657618" cy="53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①② Socratic+Frontier로 착수가 느리지만, 회귀 없는 39회 릴리스가 증거다</a:t>
            </a:r>
            <a:endParaRPr lang="en-US" sz="600" dirty="0"/>
          </a:p>
        </p:txBody>
      </p:sp>
      <p:sp>
        <p:nvSpPr>
          <p:cNvPr id="54" name="Text 52"/>
          <p:cNvSpPr/>
          <p:nvPr/>
        </p:nvSpPr>
        <p:spPr>
          <a:xfrm>
            <a:off x="457200" y="4978450"/>
            <a:ext cx="1561615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v0.31.0 · 21 Skills · LEARNINGS.md 패턴 축적</a:t>
            </a:r>
            <a:endParaRPr lang="en-US" sz="500" dirty="0"/>
          </a:p>
        </p:txBody>
      </p:sp>
      <p:sp>
        <p:nvSpPr>
          <p:cNvPr id="55" name="Text 53"/>
          <p:cNvSpPr/>
          <p:nvPr/>
        </p:nvSpPr>
        <p:spPr>
          <a:xfrm>
            <a:off x="8492728" y="4978450"/>
            <a:ext cx="197953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/ 34</a:t>
            </a:r>
            <a:endParaRPr lang="en-US" sz="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95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57014"/>
            <a:ext cx="103606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HE-0 SCAFFOLD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 Mining — 4개 하네스 GAP 분석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47551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직접 구현하기 전에 먼저 읽었다 — 3/4 수렴 규칙으로 차용 여부를 결정했다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834777"/>
            <a:ext cx="2832199" cy="2002036"/>
          </a:xfrm>
          <a:prstGeom prst="roundRect">
            <a:avLst>
              <a:gd name="adj" fmla="val 3806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93675" y="958602"/>
            <a:ext cx="261043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93675" y="1123652"/>
            <a:ext cx="2610433" cy="399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while(tool_use) 패턴 — LLM이 tool_use를 반환하는 한 루프를 유지하는 구조를 직접 확인했다. GEODE AgenticLoop 50 라운드 설계의 직접 근거가 됐다.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593675" y="2500461"/>
            <a:ext cx="2559248" cy="212527"/>
          </a:xfrm>
          <a:prstGeom prst="roundRect">
            <a:avLst>
              <a:gd name="adj" fmla="val 23903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695176" y="2563862"/>
            <a:ext cx="240337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채택: 루프 계속 조건 + end_turn 종료 패턴</a:t>
            </a:r>
            <a:endParaRPr lang="en-US" sz="600" dirty="0"/>
          </a:p>
        </p:txBody>
      </p:sp>
      <p:sp>
        <p:nvSpPr>
          <p:cNvPr id="11" name="Text 9"/>
          <p:cNvSpPr/>
          <p:nvPr/>
        </p:nvSpPr>
        <p:spPr>
          <a:xfrm>
            <a:off x="3365599" y="834777"/>
            <a:ext cx="2832199" cy="2002036"/>
          </a:xfrm>
          <a:prstGeom prst="roundRect">
            <a:avLst>
              <a:gd name="adj" fmla="val 3806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3502075" y="958602"/>
            <a:ext cx="261043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autoresearch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3502075" y="1123652"/>
            <a:ext cx="2610433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Karpathy P1 제약 기반 설계, P4 래칫(되돌아가지 않음), P6 컨텍스트 예산 명시 — 이 세 원칙이 CLAUDE.md 규칙 체계의 뼈대가 됐다.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3502075" y="2500461"/>
            <a:ext cx="2559248" cy="212527"/>
          </a:xfrm>
          <a:prstGeom prst="roundRect">
            <a:avLst>
              <a:gd name="adj" fmla="val 23903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3603575" y="2563862"/>
            <a:ext cx="240337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채택: P1/P4/P6 → CANNOT 규칙 3종</a:t>
            </a:r>
            <a:endParaRPr lang="en-US" sz="600" dirty="0"/>
          </a:p>
        </p:txBody>
      </p:sp>
      <p:sp>
        <p:nvSpPr>
          <p:cNvPr id="16" name="Text 14"/>
          <p:cNvSpPr/>
          <p:nvPr/>
        </p:nvSpPr>
        <p:spPr>
          <a:xfrm>
            <a:off x="457200" y="2913013"/>
            <a:ext cx="2832199" cy="2002036"/>
          </a:xfrm>
          <a:prstGeom prst="roundRect">
            <a:avLst>
              <a:gd name="adj" fmla="val 3806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593675" y="3036838"/>
            <a:ext cx="261043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OpenClaw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593675" y="3201888"/>
            <a:ext cx="2610433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Gateway, Session Key, Lane Queue, Plugin 4-계층 디스패치 구조 — 에이전트 요청을 분리된 채널로 라우팅하는 아이디어를 여기서 얻었다.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593675" y="4578697"/>
            <a:ext cx="2559248" cy="212527"/>
          </a:xfrm>
          <a:prstGeom prst="roundRect">
            <a:avLst>
              <a:gd name="adj" fmla="val 23903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695176" y="4642098"/>
            <a:ext cx="240337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채택: SessionKey 격리 + LaneQueue 우선순위</a:t>
            </a:r>
            <a:endParaRPr lang="en-US" sz="600" dirty="0"/>
          </a:p>
        </p:txBody>
      </p:sp>
      <p:sp>
        <p:nvSpPr>
          <p:cNvPr id="21" name="Text 19"/>
          <p:cNvSpPr/>
          <p:nvPr/>
        </p:nvSpPr>
        <p:spPr>
          <a:xfrm>
            <a:off x="3365599" y="2913013"/>
            <a:ext cx="2832199" cy="2002036"/>
          </a:xfrm>
          <a:prstGeom prst="roundRect">
            <a:avLst>
              <a:gd name="adj" fmla="val 3806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3502075" y="3036838"/>
            <a:ext cx="261043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Codex CLI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3502075" y="3201888"/>
            <a:ext cx="2610433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Worktree 격리, .owner 파일 보호, Dumb Platform 원칙 — Git 충돌 없이 여러 에이전트가 병렬 작업할 수 있는 구조의 실증 사례였다.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3502075" y="4578697"/>
            <a:ext cx="2559248" cy="212527"/>
          </a:xfrm>
          <a:prstGeom prst="roundRect">
            <a:avLst>
              <a:gd name="adj" fmla="val 23903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3603575" y="4642098"/>
            <a:ext cx="240337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채택: Worktree 의무화 → CANNOT Git 규칙</a:t>
            </a:r>
            <a:endParaRPr lang="en-US" sz="600" dirty="0"/>
          </a:p>
        </p:txBody>
      </p:sp>
      <p:sp>
        <p:nvSpPr>
          <p:cNvPr id="26" name="Text 24"/>
          <p:cNvSpPr/>
          <p:nvPr/>
        </p:nvSpPr>
        <p:spPr>
          <a:xfrm>
            <a:off x="6299299" y="834777"/>
            <a:ext cx="2387501" cy="1529655"/>
          </a:xfrm>
          <a:prstGeom prst="roundRect">
            <a:avLst>
              <a:gd name="adj" fmla="val 4982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6461224" y="971252"/>
            <a:ext cx="38100" cy="152400"/>
          </a:xfrm>
          <a:prstGeom prst="roundRect">
            <a:avLst>
              <a:gd name="adj" fmla="val 66667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6575524" y="985540"/>
            <a:ext cx="56000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3/4 수렴 규칙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6461224" y="1199852"/>
            <a:ext cx="2104924" cy="53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4개 하네스 중 3개 이상이 동일한 패턴을 사용하면 GEODE도 채택한다. 1-2개만 사용하면 독자 설계로 간다. 단순 다수결이지만 프론티어의 수렴은 신뢰할 수 있는 신호다.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6461224" y="1808857"/>
            <a:ext cx="2063651" cy="419100"/>
          </a:xfrm>
          <a:prstGeom prst="roundRect">
            <a:avLst>
              <a:gd name="adj" fmla="val 12121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6562725" y="1885057"/>
            <a:ext cx="32425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3/4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6956822" y="1894136"/>
            <a:ext cx="624524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수렴 시 채택</a:t>
            </a:r>
            <a:endParaRPr lang="en-US" sz="700" dirty="0"/>
          </a:p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미달 시 독자 설계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6299299" y="2440632"/>
            <a:ext cx="2387501" cy="2474416"/>
          </a:xfrm>
          <a:prstGeom prst="roundRect">
            <a:avLst>
              <a:gd name="adj" fmla="val 3192"/>
            </a:avLst>
          </a:prstGeom>
          <a:solidFill>
            <a:srgbClr val="161B22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6461224" y="2577108"/>
            <a:ext cx="38100" cy="152400"/>
          </a:xfrm>
          <a:prstGeom prst="roundRect">
            <a:avLst>
              <a:gd name="adj" fmla="val 66667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6575524" y="2591395"/>
            <a:ext cx="77086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GAP → 설계 영역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6461224" y="2792909"/>
            <a:ext cx="2104924" cy="53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4개 하네스 중 어느 것도 해결하지 않은 문제 3가지: 장기 자율 실행(비용 폭주 방지), LLM 비용 제어(토큰 예산 강제), 도메인 포터빌리티(게임→보험 교체). 이것이 GEODE가 독자 설계한 영역이다.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457200" y="4978450"/>
            <a:ext cx="1853232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v0.31.0 · Frontier Mining — 읽고 차용하고, 없으면 설계했다</a:t>
            </a:r>
            <a:endParaRPr lang="en-US" sz="500" dirty="0"/>
          </a:p>
        </p:txBody>
      </p:sp>
      <p:sp>
        <p:nvSpPr>
          <p:cNvPr id="38" name="Text 36"/>
          <p:cNvSpPr/>
          <p:nvPr/>
        </p:nvSpPr>
        <p:spPr>
          <a:xfrm>
            <a:off x="8492728" y="4978450"/>
            <a:ext cx="197953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/ 34</a:t>
            </a:r>
            <a:endParaRPr lang="en-US" sz="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95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57014"/>
            <a:ext cx="103606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HE-0 SCAFFOLD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4-Persona Review — 구현 전 맹점 제거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47551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혼자 설계하면 Confirmation Bias로 실패한다 — 4인격이 독립 관점으로 리뷰하여 서로의 맹점을 보완한다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834777"/>
            <a:ext cx="5638949" cy="469404"/>
          </a:xfrm>
          <a:prstGeom prst="roundRect">
            <a:avLst>
              <a:gd name="adj" fmla="val 10822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476250" y="834777"/>
            <a:ext cx="0" cy="469404"/>
          </a:xfrm>
          <a:prstGeom prst="line">
            <a:avLst/>
          </a:prstGeom>
          <a:noFill/>
          <a:ln w="38100">
            <a:solidFill>
              <a:srgbClr val="818C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4901" y="936278"/>
            <a:ext cx="46634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Beck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34901" y="1069628"/>
            <a:ext cx="46634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</a:t>
            </a:r>
            <a:endParaRPr lang="en-US" sz="600" dirty="0"/>
          </a:p>
        </p:txBody>
      </p:sp>
      <p:sp>
        <p:nvSpPr>
          <p:cNvPr id="10" name="Text 8"/>
          <p:cNvSpPr/>
          <p:nvPr/>
        </p:nvSpPr>
        <p:spPr>
          <a:xfrm>
            <a:off x="1219051" y="936278"/>
            <a:ext cx="4832247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레이어 의존성 역전 여부, 인터페이스 일관성, v0.40 생존 가능성. 체크 항목: 상위 레이어가 하위를 직접 임포트하는가? 플러그인 교체 시 코어 수정이 발생하는가?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457200" y="1367582"/>
            <a:ext cx="5638949" cy="422077"/>
          </a:xfrm>
          <a:prstGeom prst="roundRect">
            <a:avLst>
              <a:gd name="adj" fmla="val 12036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476250" y="1367582"/>
            <a:ext cx="0" cy="422077"/>
          </a:xfrm>
          <a:prstGeom prst="line">
            <a:avLst/>
          </a:prstGeom>
          <a:noFill/>
          <a:ln w="38100">
            <a:solidFill>
              <a:srgbClr val="4ECD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4901" y="1469082"/>
            <a:ext cx="50535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Karpathy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34901" y="1602432"/>
            <a:ext cx="50535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Simplicity</a:t>
            </a:r>
            <a:endParaRPr lang="en-US" sz="600" dirty="0"/>
          </a:p>
        </p:txBody>
      </p:sp>
      <p:sp>
        <p:nvSpPr>
          <p:cNvPr id="15" name="Text 13"/>
          <p:cNvSpPr/>
          <p:nvPr/>
        </p:nvSpPr>
        <p:spPr>
          <a:xfrm>
            <a:off x="1257300" y="1469082"/>
            <a:ext cx="4793233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토큰 비용, 지연 시간, 캐시 히트율 관점. 체크 항목: 이 LLM 호출을 줄일 수 있는가? 컨텍스트를 재사용하는가? 배치 처리가 가능한가?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457200" y="1853059"/>
            <a:ext cx="5638949" cy="469404"/>
          </a:xfrm>
          <a:prstGeom prst="roundRect">
            <a:avLst>
              <a:gd name="adj" fmla="val 10822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Shape 15"/>
          <p:cNvSpPr/>
          <p:nvPr/>
        </p:nvSpPr>
        <p:spPr>
          <a:xfrm>
            <a:off x="476250" y="1853059"/>
            <a:ext cx="0" cy="469404"/>
          </a:xfrm>
          <a:prstGeom prst="line">
            <a:avLst/>
          </a:prstGeom>
          <a:noFill/>
          <a:ln w="38100">
            <a:solidFill>
              <a:srgbClr val="EF444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4901" y="1954560"/>
            <a:ext cx="64790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Steinberger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34901" y="2087910"/>
            <a:ext cx="64790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</a:t>
            </a:r>
            <a:endParaRPr lang="en-US" sz="600" dirty="0"/>
          </a:p>
        </p:txBody>
      </p:sp>
      <p:sp>
        <p:nvSpPr>
          <p:cNvPr id="20" name="Text 18"/>
          <p:cNvSpPr/>
          <p:nvPr/>
        </p:nvSpPr>
        <p:spPr>
          <a:xfrm>
            <a:off x="1397050" y="1954560"/>
            <a:ext cx="4650688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Bash 인젝션, 권한 에스컬레이션, Trust Model 위반. 체크 항목: 이 경로가 샌드박스를 우회하는가? 외부 입력이 직접 shell로 전달되는가?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457200" y="2385864"/>
            <a:ext cx="5638949" cy="422077"/>
          </a:xfrm>
          <a:prstGeom prst="roundRect">
            <a:avLst>
              <a:gd name="adj" fmla="val 12036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Shape 20"/>
          <p:cNvSpPr/>
          <p:nvPr/>
        </p:nvSpPr>
        <p:spPr>
          <a:xfrm>
            <a:off x="476250" y="2385864"/>
            <a:ext cx="0" cy="422077"/>
          </a:xfrm>
          <a:prstGeom prst="line">
            <a:avLst/>
          </a:prstGeom>
          <a:noFill/>
          <a:ln w="38100">
            <a:solidFill>
              <a:srgbClr val="34D39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4901" y="2487364"/>
            <a:ext cx="46634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Cherny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34901" y="2620714"/>
            <a:ext cx="46634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QA</a:t>
            </a:r>
            <a:endParaRPr lang="en-US" sz="600" dirty="0"/>
          </a:p>
        </p:txBody>
      </p:sp>
      <p:sp>
        <p:nvSpPr>
          <p:cNvPr id="25" name="Text 23"/>
          <p:cNvSpPr/>
          <p:nvPr/>
        </p:nvSpPr>
        <p:spPr>
          <a:xfrm>
            <a:off x="1219051" y="2487364"/>
            <a:ext cx="4832247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엣지 케이스, 회귀 가능성, 커버리지. 체크 항목: 이 코드가 3,201 테스트를 통과하는가? 새로운 경로가 기존 픽스처를 깨는가?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6197650" y="834777"/>
            <a:ext cx="2489150" cy="1424880"/>
          </a:xfrm>
          <a:prstGeom prst="roundRect">
            <a:avLst>
              <a:gd name="adj" fmla="val 5348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6359575" y="971252"/>
            <a:ext cx="38100" cy="152400"/>
          </a:xfrm>
          <a:prstGeom prst="roundRect">
            <a:avLst>
              <a:gd name="adj" fmla="val 66667"/>
            </a:avLst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6473875" y="985540"/>
            <a:ext cx="71272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.env 보안 케이스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6359575" y="1187053"/>
            <a:ext cx="2208606" cy="53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Steinberger 리뷰가 실제로 막은 사례. 초기 설계에서 에이전트가 환경변수를 직접 읽어 LLM 프롬프트에 삽입하는 경로가 있었다. API 키 유출 벡터. CANNOT 규칙에 ".env 직접 참조 금지" 추가로 차단했다.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6359575" y="1783259"/>
            <a:ext cx="2165300" cy="339923"/>
          </a:xfrm>
          <a:prstGeom prst="roundRect">
            <a:avLst>
              <a:gd name="adj" fmla="val 14945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6461075" y="1846659"/>
            <a:ext cx="2001545" cy="213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buNone/>
            </a:pPr>
            <a:r>
              <a:rPr lang="en-US" sz="6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Before: agent reads .env → injects into prompt</a:t>
            </a:r>
            <a:endParaRPr lang="en-US" sz="600" dirty="0"/>
          </a:p>
          <a:p>
            <a:pPr algn="l" indent="0" marL="0">
              <a:lnSpc>
                <a:spcPts val="840"/>
              </a:lnSpc>
              <a:buNone/>
            </a:pPr>
            <a:r>
              <a:rPr lang="en-US" sz="6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After: env vars injected at harness boundary only</a:t>
            </a:r>
            <a:endParaRPr lang="en-US" sz="600" dirty="0"/>
          </a:p>
        </p:txBody>
      </p:sp>
      <p:sp>
        <p:nvSpPr>
          <p:cNvPr id="32" name="Text 30"/>
          <p:cNvSpPr/>
          <p:nvPr/>
        </p:nvSpPr>
        <p:spPr>
          <a:xfrm>
            <a:off x="6197650" y="2335857"/>
            <a:ext cx="2489150" cy="2579191"/>
          </a:xfrm>
          <a:prstGeom prst="roundRect">
            <a:avLst>
              <a:gd name="adj" fmla="val 3061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6359575" y="2472333"/>
            <a:ext cx="38100" cy="152400"/>
          </a:xfrm>
          <a:prstGeom prst="roundRect">
            <a:avLst>
              <a:gd name="adj" fmla="val 66667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6473875" y="2486620"/>
            <a:ext cx="38725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 근거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6359575" y="2688134"/>
            <a:ext cx="2208606" cy="53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4인격은 별도 LLM 세션이 아니다. 동일 컨텍스트에서 역할을 명시적으로 전환하는 프롬프트 패턴이다. 비용은 1회 추론이고, 효과는 4가지 시각의 독립 체크다. Confirmation Bias를 구조적으로 제거한다.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457200" y="4978450"/>
            <a:ext cx="2103102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v0.31.0 · Beck × Karpathy × Steinberger × Cherny — 4인격 1세션</a:t>
            </a:r>
            <a:endParaRPr lang="en-US" sz="500" dirty="0"/>
          </a:p>
        </p:txBody>
      </p:sp>
      <p:sp>
        <p:nvSpPr>
          <p:cNvPr id="37" name="Text 35"/>
          <p:cNvSpPr/>
          <p:nvPr/>
        </p:nvSpPr>
        <p:spPr>
          <a:xfrm>
            <a:off x="8457456" y="4978450"/>
            <a:ext cx="233931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24b / 34</a:t>
            </a:r>
            <a:endParaRPr lang="en-US" sz="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95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57014"/>
            <a:ext cx="103606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HE-0 SCAFFOLD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Compound Velocity — Phase 0-5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38026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스캐폴딩이 누적될수록 다음 스캐폴딩이 빨라지는 복리 구조 — 36일 만에 </a:t>
            </a:r>
            <a:pPr algn="l" indent="0" marL="0">
              <a:spcBef>
                <a:spcPts val="300"/>
              </a:spcBef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16.7×</a:t>
            </a:r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속도 상승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39421" y="1657796"/>
            <a:ext cx="90672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0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439421" y="1753046"/>
            <a:ext cx="90672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</a:t>
            </a:r>
            <a:endParaRPr lang="en-US" sz="600" dirty="0"/>
          </a:p>
        </p:txBody>
      </p:sp>
      <p:sp>
        <p:nvSpPr>
          <p:cNvPr id="8" name="Text 6"/>
          <p:cNvSpPr/>
          <p:nvPr/>
        </p:nvSpPr>
        <p:spPr>
          <a:xfrm>
            <a:off x="1447651" y="1684734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676102" y="1559421"/>
            <a:ext cx="4394746" cy="377726"/>
          </a:xfrm>
          <a:prstGeom prst="roundRect">
            <a:avLst>
              <a:gd name="adj" fmla="val 13449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812578" y="1645146"/>
            <a:ext cx="420423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 Bootstrap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1812578" y="1765697"/>
            <a:ext cx="420423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CLAUDE.md 초안, 첫 CANNOT 규칙, 단일 Skill</a:t>
            </a:r>
            <a:endParaRPr lang="en-US" sz="600" dirty="0"/>
          </a:p>
        </p:txBody>
      </p:sp>
      <p:sp>
        <p:nvSpPr>
          <p:cNvPr id="12" name="Text 10"/>
          <p:cNvSpPr/>
          <p:nvPr/>
        </p:nvSpPr>
        <p:spPr>
          <a:xfrm>
            <a:off x="6162190" y="1705421"/>
            <a:ext cx="51810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1× 기준</a:t>
            </a:r>
            <a:endParaRPr lang="en-US" sz="600" dirty="0"/>
          </a:p>
        </p:txBody>
      </p:sp>
      <p:sp>
        <p:nvSpPr>
          <p:cNvPr id="13" name="Text 11"/>
          <p:cNvSpPr/>
          <p:nvPr/>
        </p:nvSpPr>
        <p:spPr>
          <a:xfrm>
            <a:off x="439421" y="2103686"/>
            <a:ext cx="90672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439421" y="2198936"/>
            <a:ext cx="90672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1-2</a:t>
            </a:r>
            <a:endParaRPr lang="en-US" sz="600" dirty="0"/>
          </a:p>
        </p:txBody>
      </p:sp>
      <p:sp>
        <p:nvSpPr>
          <p:cNvPr id="15" name="Text 13"/>
          <p:cNvSpPr/>
          <p:nvPr/>
        </p:nvSpPr>
        <p:spPr>
          <a:xfrm>
            <a:off x="1447651" y="2130623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676102" y="2000548"/>
            <a:ext cx="4394746" cy="387251"/>
          </a:xfrm>
          <a:prstGeom prst="roundRect">
            <a:avLst>
              <a:gd name="adj" fmla="val 13118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1812578" y="2086273"/>
            <a:ext cx="420423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Socratic Gate 도입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1812578" y="2216348"/>
            <a:ext cx="420423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구현 전 5-질문 게이트 → 회귀 이슈 60% 감소</a:t>
            </a:r>
            <a:endParaRPr lang="en-US" sz="600" dirty="0"/>
          </a:p>
        </p:txBody>
      </p:sp>
      <p:sp>
        <p:nvSpPr>
          <p:cNvPr id="19" name="Text 17"/>
          <p:cNvSpPr/>
          <p:nvPr/>
        </p:nvSpPr>
        <p:spPr>
          <a:xfrm>
            <a:off x="6162190" y="2151311"/>
            <a:ext cx="51810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2.5×</a:t>
            </a:r>
            <a:endParaRPr lang="en-US" sz="600" dirty="0"/>
          </a:p>
        </p:txBody>
      </p:sp>
      <p:sp>
        <p:nvSpPr>
          <p:cNvPr id="20" name="Text 18"/>
          <p:cNvSpPr/>
          <p:nvPr/>
        </p:nvSpPr>
        <p:spPr>
          <a:xfrm>
            <a:off x="439421" y="2554337"/>
            <a:ext cx="90672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439421" y="2649587"/>
            <a:ext cx="90672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2</a:t>
            </a:r>
            <a:endParaRPr lang="en-US" sz="600" dirty="0"/>
          </a:p>
        </p:txBody>
      </p:sp>
      <p:sp>
        <p:nvSpPr>
          <p:cNvPr id="22" name="Text 20"/>
          <p:cNvSpPr/>
          <p:nvPr/>
        </p:nvSpPr>
        <p:spPr>
          <a:xfrm>
            <a:off x="1447651" y="2581275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1676102" y="2451199"/>
            <a:ext cx="4394746" cy="387251"/>
          </a:xfrm>
          <a:prstGeom prst="roundRect">
            <a:avLst>
              <a:gd name="adj" fmla="val 13118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1812578" y="2536924"/>
            <a:ext cx="420423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Skills + 8-Step Loop 확립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812578" y="2667000"/>
            <a:ext cx="420423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 Mining → 설계 결정 자동화 시작</a:t>
            </a:r>
            <a:endParaRPr lang="en-US" sz="600" dirty="0"/>
          </a:p>
        </p:txBody>
      </p:sp>
      <p:sp>
        <p:nvSpPr>
          <p:cNvPr id="26" name="Text 24"/>
          <p:cNvSpPr/>
          <p:nvPr/>
        </p:nvSpPr>
        <p:spPr>
          <a:xfrm>
            <a:off x="6162190" y="2601962"/>
            <a:ext cx="51810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5×</a:t>
            </a:r>
            <a:endParaRPr lang="en-US" sz="600" dirty="0"/>
          </a:p>
        </p:txBody>
      </p:sp>
      <p:sp>
        <p:nvSpPr>
          <p:cNvPr id="27" name="Text 25"/>
          <p:cNvSpPr/>
          <p:nvPr/>
        </p:nvSpPr>
        <p:spPr>
          <a:xfrm>
            <a:off x="439421" y="3004989"/>
            <a:ext cx="90672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439421" y="3100239"/>
            <a:ext cx="90672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3</a:t>
            </a:r>
            <a:endParaRPr lang="en-US" sz="600" dirty="0"/>
          </a:p>
        </p:txBody>
      </p:sp>
      <p:sp>
        <p:nvSpPr>
          <p:cNvPr id="29" name="Text 27"/>
          <p:cNvSpPr/>
          <p:nvPr/>
        </p:nvSpPr>
        <p:spPr>
          <a:xfrm>
            <a:off x="1447651" y="3031927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1676102" y="2901851"/>
            <a:ext cx="4394746" cy="387251"/>
          </a:xfrm>
          <a:prstGeom prst="roundRect">
            <a:avLst>
              <a:gd name="adj" fmla="val 13118"/>
            </a:avLst>
          </a:prstGeom>
          <a:solidFill>
            <a:srgbClr val="161B22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1812578" y="2987576"/>
            <a:ext cx="420423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AgenticLoop + Hook 자율 실행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1812578" y="3117652"/>
            <a:ext cx="420423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스캐폴딩이 직접 코드 생성 시작 → PR 500+ 돌파</a:t>
            </a:r>
            <a:endParaRPr lang="en-US" sz="600" dirty="0"/>
          </a:p>
        </p:txBody>
      </p:sp>
      <p:sp>
        <p:nvSpPr>
          <p:cNvPr id="33" name="Text 31"/>
          <p:cNvSpPr/>
          <p:nvPr/>
        </p:nvSpPr>
        <p:spPr>
          <a:xfrm>
            <a:off x="6162190" y="3052614"/>
            <a:ext cx="51810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8×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439421" y="3455640"/>
            <a:ext cx="90672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4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439421" y="3550890"/>
            <a:ext cx="90672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4-5</a:t>
            </a:r>
            <a:endParaRPr lang="en-US" sz="600" dirty="0"/>
          </a:p>
        </p:txBody>
      </p:sp>
      <p:sp>
        <p:nvSpPr>
          <p:cNvPr id="36" name="Text 34"/>
          <p:cNvSpPr/>
          <p:nvPr/>
        </p:nvSpPr>
        <p:spPr>
          <a:xfrm>
            <a:off x="1447651" y="3482578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1676102" y="3352502"/>
            <a:ext cx="4394746" cy="387251"/>
          </a:xfrm>
          <a:prstGeom prst="roundRect">
            <a:avLst>
              <a:gd name="adj" fmla="val 13118"/>
            </a:avLst>
          </a:prstGeom>
          <a:solidFill>
            <a:srgbClr val="161B22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1812578" y="3438227"/>
            <a:ext cx="420423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REODE 이식 — Domain Portability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1812578" y="3568303"/>
            <a:ext cx="420423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v0.13 하네스 → REODE 209 모듈 · 3,274 Tests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6162190" y="3503265"/>
            <a:ext cx="51810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12×</a:t>
            </a:r>
            <a:endParaRPr lang="en-US" sz="600" dirty="0"/>
          </a:p>
        </p:txBody>
      </p:sp>
      <p:sp>
        <p:nvSpPr>
          <p:cNvPr id="41" name="Text 39"/>
          <p:cNvSpPr/>
          <p:nvPr/>
        </p:nvSpPr>
        <p:spPr>
          <a:xfrm>
            <a:off x="439421" y="3906292"/>
            <a:ext cx="90672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5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439421" y="4001542"/>
            <a:ext cx="90672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36</a:t>
            </a:r>
            <a:endParaRPr lang="en-US" sz="600" dirty="0"/>
          </a:p>
        </p:txBody>
      </p:sp>
      <p:sp>
        <p:nvSpPr>
          <p:cNvPr id="43" name="Text 41"/>
          <p:cNvSpPr/>
          <p:nvPr/>
        </p:nvSpPr>
        <p:spPr>
          <a:xfrm>
            <a:off x="1447651" y="3933230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F5C54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1676102" y="3803154"/>
            <a:ext cx="4394746" cy="387251"/>
          </a:xfrm>
          <a:prstGeom prst="roundRect">
            <a:avLst>
              <a:gd name="adj" fmla="val 13118"/>
            </a:avLst>
          </a:prstGeom>
          <a:solidFill>
            <a:srgbClr val="161B22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1812578" y="3888879"/>
            <a:ext cx="420423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v0.31.0 — Long-Running Safety 완성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1812578" y="4018955"/>
            <a:ext cx="420423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Plan-first + Provider-aware Compaction + Cost Guard</a:t>
            </a:r>
            <a:endParaRPr lang="en-US" sz="600" dirty="0"/>
          </a:p>
        </p:txBody>
      </p:sp>
      <p:sp>
        <p:nvSpPr>
          <p:cNvPr id="47" name="Text 45"/>
          <p:cNvSpPr/>
          <p:nvPr/>
        </p:nvSpPr>
        <p:spPr>
          <a:xfrm>
            <a:off x="6162190" y="3953917"/>
            <a:ext cx="51810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16.7×</a:t>
            </a:r>
            <a:endParaRPr lang="en-US" sz="600" dirty="0"/>
          </a:p>
        </p:txBody>
      </p:sp>
      <p:sp>
        <p:nvSpPr>
          <p:cNvPr id="48" name="Text 46"/>
          <p:cNvSpPr/>
          <p:nvPr/>
        </p:nvSpPr>
        <p:spPr>
          <a:xfrm>
            <a:off x="6807250" y="1027658"/>
            <a:ext cx="1879550" cy="996851"/>
          </a:xfrm>
          <a:prstGeom prst="roundRect">
            <a:avLst>
              <a:gd name="adj" fmla="val 7644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6953618" y="1189583"/>
            <a:ext cx="1586814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16.7×</a:t>
            </a:r>
            <a:endParaRPr lang="en-US" sz="3000" dirty="0"/>
          </a:p>
        </p:txBody>
      </p:sp>
      <p:sp>
        <p:nvSpPr>
          <p:cNvPr id="50" name="Text 48"/>
          <p:cNvSpPr/>
          <p:nvPr/>
        </p:nvSpPr>
        <p:spPr>
          <a:xfrm>
            <a:off x="6953618" y="1656308"/>
            <a:ext cx="1586814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Compound Velocity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6953618" y="1776859"/>
            <a:ext cx="158681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0 대비 Day 36</a:t>
            </a:r>
            <a:endParaRPr lang="en-US" sz="600" dirty="0"/>
          </a:p>
        </p:txBody>
      </p:sp>
      <p:sp>
        <p:nvSpPr>
          <p:cNvPr id="52" name="Text 50"/>
          <p:cNvSpPr/>
          <p:nvPr/>
        </p:nvSpPr>
        <p:spPr>
          <a:xfrm>
            <a:off x="6807250" y="2126010"/>
            <a:ext cx="1879550" cy="968276"/>
          </a:xfrm>
          <a:prstGeom prst="roundRect">
            <a:avLst>
              <a:gd name="adj" fmla="val 7870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6969175" y="2267248"/>
            <a:ext cx="33882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일일 커밋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8327231" y="2262485"/>
            <a:ext cx="20159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32.2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6969175" y="2457748"/>
            <a:ext cx="27491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총 PRs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8296126" y="2452985"/>
            <a:ext cx="23332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500+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6969175" y="2653010"/>
            <a:ext cx="377994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Releases</a:t>
            </a:r>
            <a:endParaRPr lang="en-US" sz="700" dirty="0"/>
          </a:p>
        </p:txBody>
      </p:sp>
      <p:sp>
        <p:nvSpPr>
          <p:cNvPr id="58" name="Text 56"/>
          <p:cNvSpPr/>
          <p:nvPr/>
        </p:nvSpPr>
        <p:spPr>
          <a:xfrm>
            <a:off x="8411914" y="2643485"/>
            <a:ext cx="11522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6969175" y="2843510"/>
            <a:ext cx="15696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기간</a:t>
            </a:r>
            <a:endParaRPr lang="en-US" sz="700" dirty="0"/>
          </a:p>
        </p:txBody>
      </p:sp>
      <p:sp>
        <p:nvSpPr>
          <p:cNvPr id="60" name="Text 58"/>
          <p:cNvSpPr/>
          <p:nvPr/>
        </p:nvSpPr>
        <p:spPr>
          <a:xfrm>
            <a:off x="8324106" y="2833985"/>
            <a:ext cx="20478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36일</a:t>
            </a:r>
            <a:endParaRPr lang="en-US" sz="800" dirty="0"/>
          </a:p>
        </p:txBody>
      </p:sp>
      <p:sp>
        <p:nvSpPr>
          <p:cNvPr id="61" name="Text 59"/>
          <p:cNvSpPr/>
          <p:nvPr/>
        </p:nvSpPr>
        <p:spPr>
          <a:xfrm>
            <a:off x="6807250" y="3195786"/>
            <a:ext cx="1879550" cy="602605"/>
          </a:xfrm>
          <a:prstGeom prst="roundRect">
            <a:avLst>
              <a:gd name="adj" fmla="val 8430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6934200" y="3297287"/>
            <a:ext cx="1658163" cy="399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스캐폴딩이 스캐폴딩을 만든다. 각 Phase가 다음 Phase의 속도를 올리는 복리 구조 — 이것이 Harness Engineering이다.</a:t>
            </a:r>
            <a:endParaRPr lang="en-US" sz="700" dirty="0"/>
          </a:p>
        </p:txBody>
      </p:sp>
      <p:sp>
        <p:nvSpPr>
          <p:cNvPr id="63" name="Text 61"/>
          <p:cNvSpPr/>
          <p:nvPr/>
        </p:nvSpPr>
        <p:spPr>
          <a:xfrm>
            <a:off x="6807250" y="3899892"/>
            <a:ext cx="1879550" cy="822127"/>
          </a:xfrm>
          <a:prstGeom prst="roundRect">
            <a:avLst>
              <a:gd name="adj" fmla="val 6179"/>
            </a:avLst>
          </a:prstGeom>
          <a:solidFill>
            <a:srgbClr val="1E293B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4" name="Text 62"/>
          <p:cNvSpPr/>
          <p:nvPr/>
        </p:nvSpPr>
        <p:spPr>
          <a:xfrm>
            <a:off x="6943725" y="4010918"/>
            <a:ext cx="163873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 초기 투자 vs 복리 가속</a:t>
            </a:r>
            <a:endParaRPr lang="en-US" sz="700" dirty="0"/>
          </a:p>
        </p:txBody>
      </p:sp>
      <p:sp>
        <p:nvSpPr>
          <p:cNvPr id="65" name="Text 63"/>
          <p:cNvSpPr/>
          <p:nvPr/>
        </p:nvSpPr>
        <p:spPr>
          <a:xfrm>
            <a:off x="6943725" y="4153793"/>
            <a:ext cx="16387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0-1에서 Socratic Gate·Frontier Mining에 시간을 썼다. 구현 속도를 포기하고 정확성을 선택했다 — Phase 3부터 회귀 없이 하루 32.2 커밋이 가능해진 이유다.</a:t>
            </a:r>
            <a:endParaRPr lang="en-US" sz="600" dirty="0"/>
          </a:p>
        </p:txBody>
      </p:sp>
      <p:sp>
        <p:nvSpPr>
          <p:cNvPr id="66" name="Text 64"/>
          <p:cNvSpPr/>
          <p:nvPr/>
        </p:nvSpPr>
        <p:spPr>
          <a:xfrm>
            <a:off x="457200" y="4987975"/>
            <a:ext cx="1654367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v0.31.0 · 1,160 commits · Feb 21 – Mar 28, 2026</a:t>
            </a:r>
            <a:endParaRPr lang="en-US" sz="500" dirty="0"/>
          </a:p>
        </p:txBody>
      </p:sp>
      <p:sp>
        <p:nvSpPr>
          <p:cNvPr id="67" name="Text 65"/>
          <p:cNvSpPr/>
          <p:nvPr/>
        </p:nvSpPr>
        <p:spPr>
          <a:xfrm>
            <a:off x="8492728" y="4987975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/ 34</a:t>
            </a:r>
            <a:endParaRPr lang="en-US" sz="5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95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57014"/>
            <a:ext cx="199304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HE-0 SCAFFOLD · CHANGELOG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CHANGELOG Evolution: v0.6 → v0.31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38026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 릴리스, 6 아키텍처 피봇 — 각 결정에는 왜(Why)가 있다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43993" y="1667173"/>
            <a:ext cx="67355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v0.6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1219051" y="1654373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1277689" y="1781324"/>
            <a:ext cx="9525" cy="228600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447502" y="1590973"/>
            <a:ext cx="5486846" cy="387251"/>
          </a:xfrm>
          <a:prstGeom prst="roundRect">
            <a:avLst>
              <a:gd name="adj" fmla="val 13118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583978" y="1676698"/>
            <a:ext cx="531817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DomainPort 도입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1583978" y="1806773"/>
            <a:ext cx="531817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도메인 로직이 인프라에 강결합 → Port/Adapter 분리. 이후 REODE 이식이 가능해진 기반 결정.</a:t>
            </a:r>
            <a:endParaRPr lang="en-US" sz="600" dirty="0"/>
          </a:p>
        </p:txBody>
      </p:sp>
      <p:sp>
        <p:nvSpPr>
          <p:cNvPr id="12" name="Text 10"/>
          <p:cNvSpPr/>
          <p:nvPr/>
        </p:nvSpPr>
        <p:spPr>
          <a:xfrm>
            <a:off x="443993" y="2105174"/>
            <a:ext cx="67355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v0.10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1219051" y="2092375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277689" y="2219325"/>
            <a:ext cx="9525" cy="228600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1447502" y="2028974"/>
            <a:ext cx="5486846" cy="387251"/>
          </a:xfrm>
          <a:prstGeom prst="roundRect">
            <a:avLst>
              <a:gd name="adj" fmla="val 13118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583978" y="2114699"/>
            <a:ext cx="531817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Identity Pivot — 도메인 분석 → 하네스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1583978" y="2244775"/>
            <a:ext cx="531817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GameIP 분석 결과보다 자율 실행 인프라가 재사용 가치가 높다고 판단. 어필 포인트 전환.</a:t>
            </a:r>
            <a:endParaRPr lang="en-US" sz="600" dirty="0"/>
          </a:p>
        </p:txBody>
      </p:sp>
      <p:sp>
        <p:nvSpPr>
          <p:cNvPr id="18" name="Text 16"/>
          <p:cNvSpPr/>
          <p:nvPr/>
        </p:nvSpPr>
        <p:spPr>
          <a:xfrm>
            <a:off x="443993" y="2543175"/>
            <a:ext cx="67355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v0.14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1219051" y="2530376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F5C54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1277689" y="2657326"/>
            <a:ext cx="9525" cy="228600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1447502" y="2466975"/>
            <a:ext cx="5486846" cy="387251"/>
          </a:xfrm>
          <a:prstGeom prst="roundRect">
            <a:avLst>
              <a:gd name="adj" fmla="val 13118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1583978" y="2552700"/>
            <a:ext cx="531817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 Guard 제거 → ContextVar 통합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1583978" y="2682776"/>
            <a:ext cx="531817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독립 Guard 모듈이 ContextVar 흐름과 충돌 → 통합 TokenTracker로 단순화. 비용 추적 정확도 향상.</a:t>
            </a:r>
            <a:endParaRPr lang="en-US" sz="600" dirty="0"/>
          </a:p>
        </p:txBody>
      </p:sp>
      <p:sp>
        <p:nvSpPr>
          <p:cNvPr id="24" name="Text 22"/>
          <p:cNvSpPr/>
          <p:nvPr/>
        </p:nvSpPr>
        <p:spPr>
          <a:xfrm>
            <a:off x="443993" y="2981176"/>
            <a:ext cx="67355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v0.18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219051" y="2968377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1277689" y="3095327"/>
            <a:ext cx="9525" cy="228600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1447502" y="2904976"/>
            <a:ext cx="5486846" cy="387251"/>
          </a:xfrm>
          <a:prstGeom prst="roundRect">
            <a:avLst>
              <a:gd name="adj" fmla="val 13118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1583978" y="2990701"/>
            <a:ext cx="531817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 System 독립 추출 → 46 Events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1583978" y="3120777"/>
            <a:ext cx="531817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하드코딩 콜백 → Priority 핸들러 체인. 재귀 개선 루프와 자동 학습이 Hook에 의존하는 구조로 전환.</a:t>
            </a:r>
            <a:endParaRPr lang="en-US" sz="600" dirty="0"/>
          </a:p>
        </p:txBody>
      </p:sp>
      <p:sp>
        <p:nvSpPr>
          <p:cNvPr id="30" name="Text 28"/>
          <p:cNvSpPr/>
          <p:nvPr/>
        </p:nvSpPr>
        <p:spPr>
          <a:xfrm>
            <a:off x="443993" y="3419177"/>
            <a:ext cx="67355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v0.24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1219051" y="3406378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1277689" y="3533329"/>
            <a:ext cx="9525" cy="228600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1447502" y="3342977"/>
            <a:ext cx="5486846" cy="387251"/>
          </a:xfrm>
          <a:prstGeom prst="roundRect">
            <a:avLst>
              <a:gd name="adj" fmla="val 13118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1583978" y="3428702"/>
            <a:ext cx="531817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MCPRegistry 삭제 → 45 Catalog auto-discovery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1583978" y="3558778"/>
            <a:ext cx="531817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3계층(Registry+Catalog+Config) → 2계층. Proxy stub 9개 제거로 도구 추가 비용 대폭 감소.</a:t>
            </a:r>
            <a:endParaRPr lang="en-US" sz="600" dirty="0"/>
          </a:p>
        </p:txBody>
      </p:sp>
      <p:sp>
        <p:nvSpPr>
          <p:cNvPr id="36" name="Text 34"/>
          <p:cNvSpPr/>
          <p:nvPr/>
        </p:nvSpPr>
        <p:spPr>
          <a:xfrm>
            <a:off x="443993" y="3857179"/>
            <a:ext cx="67355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v0.31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1219051" y="3844379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1447502" y="3780979"/>
            <a:ext cx="5486846" cy="377726"/>
          </a:xfrm>
          <a:prstGeom prst="roundRect">
            <a:avLst>
              <a:gd name="adj" fmla="val 13449"/>
            </a:avLst>
          </a:prstGeom>
          <a:solidFill>
            <a:srgbClr val="161B22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1583978" y="3866704"/>
            <a:ext cx="5318174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Provider-aware Compaction + Long-Running Safety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1583978" y="3987254"/>
            <a:ext cx="531817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 Beta tool_use 캐시 규칙 차이를 인지한 압축. 비용 상한 + 수렴 감지 + 다양성 강제로 안정성 달성.</a:t>
            </a:r>
            <a:endParaRPr lang="en-US" sz="600" dirty="0"/>
          </a:p>
        </p:txBody>
      </p:sp>
      <p:sp>
        <p:nvSpPr>
          <p:cNvPr id="41" name="Text 39"/>
          <p:cNvSpPr/>
          <p:nvPr/>
        </p:nvSpPr>
        <p:spPr>
          <a:xfrm>
            <a:off x="7035850" y="1243608"/>
            <a:ext cx="1650950" cy="9525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7184504" y="1405533"/>
            <a:ext cx="1353642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</a:t>
            </a:r>
            <a:endParaRPr lang="en-US" sz="2800" dirty="0"/>
          </a:p>
        </p:txBody>
      </p:sp>
      <p:sp>
        <p:nvSpPr>
          <p:cNvPr id="43" name="Text 41"/>
          <p:cNvSpPr/>
          <p:nvPr/>
        </p:nvSpPr>
        <p:spPr>
          <a:xfrm>
            <a:off x="7184504" y="1853208"/>
            <a:ext cx="135364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Releases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7184504" y="1948458"/>
            <a:ext cx="135364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v0.1 → v0.31 · 36일</a:t>
            </a:r>
            <a:endParaRPr lang="en-US" sz="600" dirty="0"/>
          </a:p>
        </p:txBody>
      </p:sp>
      <p:sp>
        <p:nvSpPr>
          <p:cNvPr id="45" name="Text 43"/>
          <p:cNvSpPr/>
          <p:nvPr/>
        </p:nvSpPr>
        <p:spPr>
          <a:xfrm>
            <a:off x="7035850" y="2297609"/>
            <a:ext cx="1650950" cy="714077"/>
          </a:xfrm>
          <a:prstGeom prst="roundRect">
            <a:avLst>
              <a:gd name="adj" fmla="val 10671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7197775" y="2434084"/>
            <a:ext cx="49564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아키텍처 피봇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8398520" y="2434084"/>
            <a:ext cx="12888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6회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7197775" y="2602260"/>
            <a:ext cx="49564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무회귀 릴리스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8302377" y="2602260"/>
            <a:ext cx="22694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39/39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7197775" y="2770436"/>
            <a:ext cx="33882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누적 커밋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8302377" y="2770436"/>
            <a:ext cx="22694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1,160</a:t>
            </a:r>
            <a:endParaRPr lang="en-US" sz="700" dirty="0"/>
          </a:p>
        </p:txBody>
      </p:sp>
      <p:sp>
        <p:nvSpPr>
          <p:cNvPr id="52" name="Text 50"/>
          <p:cNvSpPr/>
          <p:nvPr/>
        </p:nvSpPr>
        <p:spPr>
          <a:xfrm>
            <a:off x="7035850" y="3113187"/>
            <a:ext cx="1650950" cy="469404"/>
          </a:xfrm>
          <a:prstGeom prst="roundRect">
            <a:avLst>
              <a:gd name="adj" fmla="val 10822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7162800" y="3214688"/>
            <a:ext cx="1424991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CHANGELOG는 기록이 아니다. 다음 Frontier Mining의 입력이다.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7035850" y="3684091"/>
            <a:ext cx="1650950" cy="822127"/>
          </a:xfrm>
          <a:prstGeom prst="roundRect">
            <a:avLst>
              <a:gd name="adj" fmla="val 6179"/>
            </a:avLst>
          </a:prstGeom>
          <a:solidFill>
            <a:srgbClr val="1E293B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7172325" y="3795117"/>
            <a:ext cx="140556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 판단: WHY를 기록하는 비용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7172325" y="3937992"/>
            <a:ext cx="1405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각 릴리스마다 CHANGELOG 작성에 시간이 든다. 이를 포기하면 "왜 이 결정을 했는가"가 휘발된다 — v0.14 Token Guard 제거처럼 나중에 같은 실수를 반복하게 된다.</a:t>
            </a:r>
            <a:endParaRPr lang="en-US" sz="600" dirty="0"/>
          </a:p>
        </p:txBody>
      </p:sp>
      <p:sp>
        <p:nvSpPr>
          <p:cNvPr id="57" name="Text 55"/>
          <p:cNvSpPr/>
          <p:nvPr/>
        </p:nvSpPr>
        <p:spPr>
          <a:xfrm>
            <a:off x="457200" y="4987975"/>
            <a:ext cx="1672280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v0.31.0 · 39 releases · 6 major architecture pivots</a:t>
            </a:r>
            <a:endParaRPr lang="en-US" sz="500" dirty="0"/>
          </a:p>
        </p:txBody>
      </p:sp>
      <p:sp>
        <p:nvSpPr>
          <p:cNvPr id="58" name="Text 56"/>
          <p:cNvSpPr/>
          <p:nvPr/>
        </p:nvSpPr>
        <p:spPr>
          <a:xfrm>
            <a:off x="8492728" y="4987975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 / 34</a:t>
            </a:r>
            <a:endParaRPr lang="en-US" sz="5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95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57014"/>
            <a:ext cx="127849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 · SECURITY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Security: Bash 3-Layer + Dual Trust Model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38026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자율 에이전트는 신뢰 경계가 없으면 시스템을 파괴한다 — PolicyChain이 실행 전 모든 명령을 검문한다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825252"/>
            <a:ext cx="4641800" cy="4099322"/>
          </a:xfrm>
          <a:prstGeom prst="roundRect">
            <a:avLst>
              <a:gd name="adj" fmla="val 1859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19125" y="961727"/>
            <a:ext cx="38100" cy="152400"/>
          </a:xfrm>
          <a:prstGeom prst="roundRect">
            <a:avLst>
              <a:gd name="adj" fmla="val 66667"/>
            </a:avLst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733425" y="976015"/>
            <a:ext cx="106961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PolicyChain 다이어그램</a:t>
            </a:r>
            <a:endParaRPr lang="en-US" sz="800" dirty="0"/>
          </a:p>
        </p:txBody>
      </p:sp>
      <p:pic>
        <p:nvPicPr>
          <p:cNvPr id="9" name="Image 0" descr="/Users/mango/workspace/portfolio/geode/versions/v6/slides/assets/v028-diagram-policy-ch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9125" y="1241078"/>
            <a:ext cx="4317950" cy="2006501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225951" y="825252"/>
            <a:ext cx="3460849" cy="1925538"/>
          </a:xfrm>
          <a:prstGeom prst="roundRect">
            <a:avLst>
              <a:gd name="adj" fmla="val 3957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8"/>
          <p:cNvSpPr/>
          <p:nvPr/>
        </p:nvSpPr>
        <p:spPr>
          <a:xfrm>
            <a:off x="5387876" y="961727"/>
            <a:ext cx="319973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Bash 3-Layer 실행 제어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5387876" y="1148953"/>
            <a:ext cx="3136999" cy="358676"/>
          </a:xfrm>
          <a:prstGeom prst="roundRect">
            <a:avLst>
              <a:gd name="adj" fmla="val 14163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5514826" y="1225153"/>
            <a:ext cx="294076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 — Syntax Validation</a:t>
            </a:r>
            <a:endParaRPr lang="en-US" sz="700" dirty="0"/>
          </a:p>
        </p:txBody>
      </p:sp>
      <p:sp>
        <p:nvSpPr>
          <p:cNvPr id="14" name="Text 11"/>
          <p:cNvSpPr/>
          <p:nvPr/>
        </p:nvSpPr>
        <p:spPr>
          <a:xfrm>
            <a:off x="5514826" y="1345704"/>
            <a:ext cx="294076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rm -rf / · chmod 777 · curl | bash 패턴 차단. 실행 전 정적 분석.</a:t>
            </a:r>
            <a:endParaRPr lang="en-US" sz="600" dirty="0"/>
          </a:p>
        </p:txBody>
      </p:sp>
      <p:sp>
        <p:nvSpPr>
          <p:cNvPr id="15" name="Text 12"/>
          <p:cNvSpPr/>
          <p:nvPr/>
        </p:nvSpPr>
        <p:spPr>
          <a:xfrm>
            <a:off x="5387876" y="1571030"/>
            <a:ext cx="3136999" cy="444401"/>
          </a:xfrm>
          <a:prstGeom prst="roundRect">
            <a:avLst>
              <a:gd name="adj" fmla="val 11431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3"/>
          <p:cNvSpPr/>
          <p:nvPr/>
        </p:nvSpPr>
        <p:spPr>
          <a:xfrm>
            <a:off x="5514826" y="1647230"/>
            <a:ext cx="294076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L2 — PolicyChain Hook</a:t>
            </a:r>
            <a:endParaRPr lang="en-US" sz="700" dirty="0"/>
          </a:p>
        </p:txBody>
      </p:sp>
      <p:sp>
        <p:nvSpPr>
          <p:cNvPr id="17" name="Text 14"/>
          <p:cNvSpPr/>
          <p:nvPr/>
        </p:nvSpPr>
        <p:spPr>
          <a:xfrm>
            <a:off x="5514826" y="1767780"/>
            <a:ext cx="294076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 Hook Events 중 BASH_EXEC_PRE에서 PolicyChain 통과 여부 확인. 거부 시 즉시 차단 + 사유 반환.</a:t>
            </a:r>
            <a:endParaRPr lang="en-US" sz="600" dirty="0"/>
          </a:p>
        </p:txBody>
      </p:sp>
      <p:sp>
        <p:nvSpPr>
          <p:cNvPr id="18" name="Text 15"/>
          <p:cNvSpPr/>
          <p:nvPr/>
        </p:nvSpPr>
        <p:spPr>
          <a:xfrm>
            <a:off x="5387876" y="2078831"/>
            <a:ext cx="3136999" cy="358676"/>
          </a:xfrm>
          <a:prstGeom prst="roundRect">
            <a:avLst>
              <a:gd name="adj" fmla="val 14163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6"/>
          <p:cNvSpPr/>
          <p:nvPr/>
        </p:nvSpPr>
        <p:spPr>
          <a:xfrm>
            <a:off x="5514826" y="2155031"/>
            <a:ext cx="294076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L3 — macOS Seatbelt Sandbox</a:t>
            </a:r>
            <a:endParaRPr lang="en-US" sz="700" dirty="0"/>
          </a:p>
        </p:txBody>
      </p:sp>
      <p:sp>
        <p:nvSpPr>
          <p:cNvPr id="20" name="Text 17"/>
          <p:cNvSpPr/>
          <p:nvPr/>
        </p:nvSpPr>
        <p:spPr>
          <a:xfrm>
            <a:off x="5514826" y="2275582"/>
            <a:ext cx="294076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REODE: 34-패턴 deny-list. 파일시스템 쓰기, 네트워크 외부 접근, 프로세스 fork 제한.</a:t>
            </a:r>
            <a:endParaRPr lang="en-US" sz="600" dirty="0"/>
          </a:p>
        </p:txBody>
      </p:sp>
      <p:sp>
        <p:nvSpPr>
          <p:cNvPr id="21" name="Text 18"/>
          <p:cNvSpPr/>
          <p:nvPr/>
        </p:nvSpPr>
        <p:spPr>
          <a:xfrm>
            <a:off x="5225951" y="2852291"/>
            <a:ext cx="3460849" cy="1437084"/>
          </a:xfrm>
          <a:prstGeom prst="roundRect">
            <a:avLst>
              <a:gd name="adj" fmla="val 5302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19"/>
          <p:cNvSpPr/>
          <p:nvPr/>
        </p:nvSpPr>
        <p:spPr>
          <a:xfrm>
            <a:off x="5387876" y="2988766"/>
            <a:ext cx="319973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Dual Trust Model — 두 독립 축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5387876" y="3175992"/>
            <a:ext cx="3199739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spcAft>
                <a:spcPts val="200"/>
              </a:spcAft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에이전트 안전과 파이프라인 검증은 독립 축이다. 에이전트는 입력을 차단(Input Gating), 파이프라인은 출력을 검증(Output Validation). 둘 다 통과해야만 결과가 신뢰된다.</a:t>
            </a:r>
            <a:endParaRPr lang="en-US" sz="700" dirty="0"/>
          </a:p>
        </p:txBody>
      </p:sp>
      <p:sp>
        <p:nvSpPr>
          <p:cNvPr id="24" name="Text 21"/>
          <p:cNvSpPr/>
          <p:nvPr/>
        </p:nvSpPr>
        <p:spPr>
          <a:xfrm>
            <a:off x="5387876" y="3513237"/>
            <a:ext cx="1530400" cy="444401"/>
          </a:xfrm>
          <a:prstGeom prst="roundRect">
            <a:avLst>
              <a:gd name="adj" fmla="val 11431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2"/>
          <p:cNvSpPr/>
          <p:nvPr/>
        </p:nvSpPr>
        <p:spPr>
          <a:xfrm>
            <a:off x="5489377" y="3589437"/>
            <a:ext cx="1353946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Gating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5489377" y="3709988"/>
            <a:ext cx="135394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4-Tier HITL 권한 모델 — 에이전트 실행 전 차단</a:t>
            </a:r>
            <a:endParaRPr lang="en-US" sz="600" dirty="0"/>
          </a:p>
        </p:txBody>
      </p:sp>
      <p:sp>
        <p:nvSpPr>
          <p:cNvPr id="27" name="Text 24"/>
          <p:cNvSpPr/>
          <p:nvPr/>
        </p:nvSpPr>
        <p:spPr>
          <a:xfrm>
            <a:off x="6994475" y="3513237"/>
            <a:ext cx="1530400" cy="444401"/>
          </a:xfrm>
          <a:prstGeom prst="roundRect">
            <a:avLst>
              <a:gd name="adj" fmla="val 11431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5"/>
          <p:cNvSpPr/>
          <p:nvPr/>
        </p:nvSpPr>
        <p:spPr>
          <a:xfrm>
            <a:off x="7095976" y="3589437"/>
            <a:ext cx="1353946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Validation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7095976" y="3709988"/>
            <a:ext cx="135394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5-Tier Safety 등급 — 실행 후 출력 검증</a:t>
            </a:r>
            <a:endParaRPr lang="en-US" sz="600" dirty="0"/>
          </a:p>
        </p:txBody>
      </p:sp>
      <p:sp>
        <p:nvSpPr>
          <p:cNvPr id="30" name="Text 27"/>
          <p:cNvSpPr/>
          <p:nvPr/>
        </p:nvSpPr>
        <p:spPr>
          <a:xfrm>
            <a:off x="5387876" y="4046339"/>
            <a:ext cx="3199739" cy="106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0-1: asyncio.gather 병렬 자동 실행 / TIER 3-4: 개별 수동 승인 필수</a:t>
            </a:r>
            <a:endParaRPr lang="en-US" sz="600" dirty="0"/>
          </a:p>
        </p:txBody>
      </p:sp>
      <p:sp>
        <p:nvSpPr>
          <p:cNvPr id="31" name="Text 28"/>
          <p:cNvSpPr/>
          <p:nvPr/>
        </p:nvSpPr>
        <p:spPr>
          <a:xfrm>
            <a:off x="5225951" y="4390876"/>
            <a:ext cx="3460849" cy="533698"/>
          </a:xfrm>
          <a:prstGeom prst="roundRect">
            <a:avLst>
              <a:gd name="adj" fmla="val 9518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Shape 29"/>
          <p:cNvSpPr/>
          <p:nvPr/>
        </p:nvSpPr>
        <p:spPr>
          <a:xfrm>
            <a:off x="5245001" y="4390876"/>
            <a:ext cx="0" cy="533698"/>
          </a:xfrm>
          <a:prstGeom prst="line">
            <a:avLst/>
          </a:prstGeom>
          <a:noFill/>
          <a:ln w="38100">
            <a:solidFill>
              <a:srgbClr val="EF4444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391001" y="4479727"/>
            <a:ext cx="323222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 3-Layer 제어 비용</a:t>
            </a:r>
            <a:endParaRPr lang="en-US" sz="700" dirty="0"/>
          </a:p>
        </p:txBody>
      </p:sp>
      <p:sp>
        <p:nvSpPr>
          <p:cNvPr id="34" name="Text 31"/>
          <p:cNvSpPr/>
          <p:nvPr/>
        </p:nvSpPr>
        <p:spPr>
          <a:xfrm>
            <a:off x="5391001" y="4622602"/>
            <a:ext cx="3232225" cy="213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 정적 분석 + L2 PolicyChain + L3 Seatbelt 모두 통과 시 지연이 있지만, 자율 에이전트가 시스템을 파괴한 사례가 0건인 것이 증거다.</a:t>
            </a:r>
            <a:endParaRPr lang="en-US" sz="600" dirty="0"/>
          </a:p>
        </p:txBody>
      </p:sp>
      <p:sp>
        <p:nvSpPr>
          <p:cNvPr id="35" name="Text 32"/>
          <p:cNvSpPr/>
          <p:nvPr/>
        </p:nvSpPr>
        <p:spPr>
          <a:xfrm>
            <a:off x="457200" y="4987975"/>
            <a:ext cx="2359045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v0.31.0 · 46 Hook Events · 5-Tier Tool Safety · macOS Seatbelt (REODE)</a:t>
            </a:r>
            <a:endParaRPr lang="en-US" sz="500" dirty="0"/>
          </a:p>
        </p:txBody>
      </p:sp>
      <p:sp>
        <p:nvSpPr>
          <p:cNvPr id="36" name="Text 33"/>
          <p:cNvSpPr/>
          <p:nvPr/>
        </p:nvSpPr>
        <p:spPr>
          <a:xfrm>
            <a:off x="8492728" y="4987975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 / 34</a:t>
            </a:r>
            <a:endParaRPr lang="en-US" sz="5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95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57014"/>
            <a:ext cx="182029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CONNECTION · TRADE-OFFS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Trade-offs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38026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모든 설계 결정은 무언가를 포기하고 무언가를 얻는다 — Trade-off를 인식한 결정만이 장기 운용된다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825252"/>
            <a:ext cx="4064050" cy="965299"/>
          </a:xfrm>
          <a:prstGeom prst="roundRect">
            <a:avLst>
              <a:gd name="adj" fmla="val 7894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19125" y="1085850"/>
            <a:ext cx="38100" cy="126950"/>
          </a:xfrm>
          <a:prstGeom prst="roundRect">
            <a:avLst>
              <a:gd name="adj" fmla="val 66667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733425" y="1092101"/>
            <a:ext cx="75963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Port/Adapter DI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619125" y="1263551"/>
            <a:ext cx="3815004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포기: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직접 호출 단순성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619125" y="1396752"/>
            <a:ext cx="3815004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얻음: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GEODE→REODE 이식 시 코어 코드 변경 0줄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457200" y="1866751"/>
            <a:ext cx="4064050" cy="965299"/>
          </a:xfrm>
          <a:prstGeom prst="roundRect">
            <a:avLst>
              <a:gd name="adj" fmla="val 7894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19125" y="2127349"/>
            <a:ext cx="38100" cy="126950"/>
          </a:xfrm>
          <a:prstGeom prst="roundRect">
            <a:avLst>
              <a:gd name="adj" fmla="val 66667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733425" y="2133600"/>
            <a:ext cx="134681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Lossless Context Selection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619125" y="2305050"/>
            <a:ext cx="3815004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포기: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단순 요약(빠르지만 정보 손실)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619125" y="2438251"/>
            <a:ext cx="3815004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얻음: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LLM이 직접 선별 → 컨텍스트 비용 0.03%로 절감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457200" y="2908250"/>
            <a:ext cx="4064050" cy="965299"/>
          </a:xfrm>
          <a:prstGeom prst="roundRect">
            <a:avLst>
              <a:gd name="adj" fmla="val 7894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19125" y="3168848"/>
            <a:ext cx="38100" cy="126950"/>
          </a:xfrm>
          <a:prstGeom prst="roundRect">
            <a:avLst>
              <a:gd name="adj" fmla="val 66667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733425" y="3175099"/>
            <a:ext cx="137550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Provider-aware Compaction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619125" y="3346549"/>
            <a:ext cx="3815004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포기: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단일 압축 로직의 단순성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619125" y="3479750"/>
            <a:ext cx="3815004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얻음: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Anthropic Beta tool_use 캐시 규칙 준수 → Failover 안정성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457200" y="3949750"/>
            <a:ext cx="4064050" cy="965299"/>
          </a:xfrm>
          <a:prstGeom prst="roundRect">
            <a:avLst>
              <a:gd name="adj" fmla="val 7894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619125" y="4210348"/>
            <a:ext cx="38100" cy="126950"/>
          </a:xfrm>
          <a:prstGeom prst="roundRect">
            <a:avLst>
              <a:gd name="adj" fmla="val 66667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733425" y="4216598"/>
            <a:ext cx="100358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6-Layer Architecture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619125" y="4388048"/>
            <a:ext cx="3815004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포기: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초기 설계 속도 (레이어마다 인터페이스 정의)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619125" y="4521250"/>
            <a:ext cx="3815004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얻음: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187 모듈 중 어느 레이어도 교체 가능한 구조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4622750" y="825252"/>
            <a:ext cx="4064050" cy="1074390"/>
          </a:xfrm>
          <a:prstGeom prst="roundRect">
            <a:avLst>
              <a:gd name="adj" fmla="val 7092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4784675" y="1140321"/>
            <a:ext cx="38100" cy="126950"/>
          </a:xfrm>
          <a:prstGeom prst="roundRect">
            <a:avLst>
              <a:gd name="adj" fmla="val 66667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4898975" y="1141809"/>
            <a:ext cx="85253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MCPRegistry 삭제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4784675" y="1318022"/>
            <a:ext cx="3815004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포기: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중앙 집중 도구 관리 (단일 조회 포인트)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4784675" y="1451223"/>
            <a:ext cx="3815004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얻음: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Proxy stub 9개 제거 → 45 MCP auto-discovery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4622750" y="1975842"/>
            <a:ext cx="4064050" cy="1074539"/>
          </a:xfrm>
          <a:prstGeom prst="roundRect">
            <a:avLst>
              <a:gd name="adj" fmla="val 7091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4784675" y="2291060"/>
            <a:ext cx="38100" cy="126950"/>
          </a:xfrm>
          <a:prstGeom prst="roundRect">
            <a:avLst>
              <a:gd name="adj" fmla="val 66667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4898975" y="2297311"/>
            <a:ext cx="134696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SHA-256 PromptAssembler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4784675" y="2468761"/>
            <a:ext cx="3815004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포기: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수동 편집의 즉각성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4784675" y="2601962"/>
            <a:ext cx="3815004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얻음: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cache_control ephemeral → 2회차 입력 비용 10%로 감소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4622750" y="3126581"/>
            <a:ext cx="4064050" cy="1074390"/>
          </a:xfrm>
          <a:prstGeom prst="roundRect">
            <a:avLst>
              <a:gd name="adj" fmla="val 7092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4784675" y="3441650"/>
            <a:ext cx="38100" cy="126950"/>
          </a:xfrm>
          <a:prstGeom prst="roundRect">
            <a:avLst>
              <a:gd name="adj" fmla="val 66667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4898975" y="3443139"/>
            <a:ext cx="132328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4-Tier Memory (휘발 → 불변)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4784675" y="3619351"/>
            <a:ext cx="3815004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포기: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단순 Redis 캐시 (단계 없는 단일 레이어)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4784675" y="3752552"/>
            <a:ext cx="3815004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얻음: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Provider Failover 시에도 학습 내용 보존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4622750" y="4277171"/>
            <a:ext cx="4064050" cy="637877"/>
          </a:xfrm>
          <a:prstGeom prst="roundRect">
            <a:avLst>
              <a:gd name="adj" fmla="val 7964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4775150" y="4391471"/>
            <a:ext cx="383443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 원칙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4775150" y="4534346"/>
            <a:ext cx="3834435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spcBef>
                <a:spcPts val="3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포기하는 것을 명시하지 않은 설계 결정은 결정이 아니다. 7개 피봇 모두 CHANGELOG에 "왜"가 기록되어 있다.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457200" y="4978450"/>
            <a:ext cx="1716759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v0.31.0 · 39 releases · 모든 피봇 CHANGELOG 기록</a:t>
            </a:r>
            <a:endParaRPr lang="en-US" sz="500" dirty="0"/>
          </a:p>
        </p:txBody>
      </p:sp>
      <p:sp>
        <p:nvSpPr>
          <p:cNvPr id="45" name="Text 43"/>
          <p:cNvSpPr/>
          <p:nvPr/>
        </p:nvSpPr>
        <p:spPr>
          <a:xfrm>
            <a:off x="8492728" y="4978450"/>
            <a:ext cx="197953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/ 34</a:t>
            </a:r>
            <a:endParaRPr lang="en-US" sz="5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95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57014"/>
            <a:ext cx="182029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CONNECTION · TRADE-OFFS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+ Infra Trade-offs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38026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에이전트 실행과 인프라 결정 — 자율성을 높이면 안전성 비용이 오르고, 안전성을 높이면 처리량이 줄어든다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825252"/>
            <a:ext cx="4064050" cy="967680"/>
          </a:xfrm>
          <a:prstGeom prst="roundRect">
            <a:avLst>
              <a:gd name="adj" fmla="val 7875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19125" y="1087041"/>
            <a:ext cx="38100" cy="126950"/>
          </a:xfrm>
          <a:prstGeom prst="roundRect">
            <a:avLst>
              <a:gd name="adj" fmla="val 66667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733425" y="1088529"/>
            <a:ext cx="175288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Rounds × 200 Turns 무한 루프 방지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619125" y="1264741"/>
            <a:ext cx="3815004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포기: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완전 자율 (무제한 실행 시도)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619125" y="1397943"/>
            <a:ext cx="3815004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얻음: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수렴 감지 + 비용 상한 → 파이프라인 폭주 차단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457200" y="1869132"/>
            <a:ext cx="4064050" cy="967680"/>
          </a:xfrm>
          <a:prstGeom prst="roundRect">
            <a:avLst>
              <a:gd name="adj" fmla="val 7875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19125" y="2130921"/>
            <a:ext cx="38100" cy="126950"/>
          </a:xfrm>
          <a:prstGeom prst="roundRect">
            <a:avLst>
              <a:gd name="adj" fmla="val 66667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733425" y="2137172"/>
            <a:ext cx="14426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Sub-Agent 4096 Token Guard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619125" y="2308622"/>
            <a:ext cx="3815004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포기: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자식 출력 전체 반환 (완전한 컨텍스트)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619125" y="2441823"/>
            <a:ext cx="3815004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얻음: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부모 컨텍스트 폭발 방지 → MAX_CONCURRENT=5 병렬 가능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457200" y="2913013"/>
            <a:ext cx="4064050" cy="967680"/>
          </a:xfrm>
          <a:prstGeom prst="roundRect">
            <a:avLst>
              <a:gd name="adj" fmla="val 7875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19125" y="3174802"/>
            <a:ext cx="38100" cy="126950"/>
          </a:xfrm>
          <a:prstGeom prst="roundRect">
            <a:avLst>
              <a:gd name="adj" fmla="val 66667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733425" y="3176290"/>
            <a:ext cx="121428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5-Tier Safety: 병렬 vs 순차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619125" y="3352502"/>
            <a:ext cx="3815004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포기: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TIER 3-4 병렬 처리 (속도)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619125" y="3485704"/>
            <a:ext cx="3815004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얻음: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DANGEROUS 명령 개별 승인 → 권한 에스컬레이션 차단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457200" y="3956893"/>
            <a:ext cx="4064050" cy="967680"/>
          </a:xfrm>
          <a:prstGeom prst="roundRect">
            <a:avLst>
              <a:gd name="adj" fmla="val 7875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619125" y="4218682"/>
            <a:ext cx="38100" cy="126950"/>
          </a:xfrm>
          <a:prstGeom prst="roundRect">
            <a:avLst>
              <a:gd name="adj" fmla="val 66667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733425" y="4224933"/>
            <a:ext cx="139098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StuckDetector 120s Timeout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619125" y="4396383"/>
            <a:ext cx="3815004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포기: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느린 작업 완료 대기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619125" y="4529584"/>
            <a:ext cx="3815004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얻음: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NODE_ENTER 후 EXIT 미감지 시 파이프라인 강제 중단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4622750" y="825252"/>
            <a:ext cx="4064050" cy="967680"/>
          </a:xfrm>
          <a:prstGeom prst="roundRect">
            <a:avLst>
              <a:gd name="adj" fmla="val 7875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4784675" y="1087041"/>
            <a:ext cx="38100" cy="126950"/>
          </a:xfrm>
          <a:prstGeom prst="roundRect">
            <a:avLst>
              <a:gd name="adj" fmla="val 66667"/>
            </a:avLst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4898975" y="1088529"/>
            <a:ext cx="136381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 Priority 핸들러 순서 보장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4784675" y="1264741"/>
            <a:ext cx="3815004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포기: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병렬 핸들러 실행 (최대 처리량)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4784675" y="1397943"/>
            <a:ext cx="3815004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얻음: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Security 핸들러가 Logging보다 항상 먼저 실행 보장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4622750" y="1869132"/>
            <a:ext cx="4064050" cy="967680"/>
          </a:xfrm>
          <a:prstGeom prst="roundRect">
            <a:avLst>
              <a:gd name="adj" fmla="val 7875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4784675" y="2130921"/>
            <a:ext cx="38100" cy="126950"/>
          </a:xfrm>
          <a:prstGeom prst="roundRect">
            <a:avLst>
              <a:gd name="adj" fmla="val 66667"/>
            </a:avLst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4898975" y="2137172"/>
            <a:ext cx="123766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CircuitBreaker OPEN 60s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4784675" y="2308622"/>
            <a:ext cx="3815004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포기: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즉시 재시도 (지연 없는 복구 시도)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4784675" y="2441823"/>
            <a:ext cx="3815004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얻음: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5회 연속 실패 후 60s OPEN → RateLimit 폭주 차단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4622750" y="2913013"/>
            <a:ext cx="4064050" cy="967680"/>
          </a:xfrm>
          <a:prstGeom prst="roundRect">
            <a:avLst>
              <a:gd name="adj" fmla="val 7875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4784675" y="3174802"/>
            <a:ext cx="38100" cy="126950"/>
          </a:xfrm>
          <a:prstGeom prst="roundRect">
            <a:avLst>
              <a:gd name="adj" fmla="val 66667"/>
            </a:avLst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4898975" y="3176290"/>
            <a:ext cx="65761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Cron 세션 격리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4784675" y="3352502"/>
            <a:ext cx="3815004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포기: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공유 컨텍스트 (이전 세션 학습 즉시 반영)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4784675" y="3485704"/>
            <a:ext cx="3815004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얻음: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스케줄 충돌 없는 독립 실행 → 장기 운용 안정성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4622750" y="3956893"/>
            <a:ext cx="4064050" cy="967680"/>
          </a:xfrm>
          <a:prstGeom prst="roundRect">
            <a:avLst>
              <a:gd name="adj" fmla="val 7875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4784675" y="4218682"/>
            <a:ext cx="38100" cy="126950"/>
          </a:xfrm>
          <a:prstGeom prst="roundRect">
            <a:avLst>
              <a:gd name="adj" fmla="val 66667"/>
            </a:avLst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4898975" y="4220170"/>
            <a:ext cx="103546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dry-run 자동 전환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4784675" y="4396383"/>
            <a:ext cx="3815004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포기: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항상 라이브 데이터 (API 키 필수)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4784675" y="4529584"/>
            <a:ext cx="3815004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얻음: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API 키 부재 시 fixture fallback → 오프라인 테스트 가능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457200" y="4987975"/>
            <a:ext cx="1565714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v0.31.0 · 52 Tools · 45 MCP · 46 Hook Events</a:t>
            </a:r>
            <a:endParaRPr lang="en-US" sz="500" dirty="0"/>
          </a:p>
        </p:txBody>
      </p:sp>
      <p:sp>
        <p:nvSpPr>
          <p:cNvPr id="47" name="Text 45"/>
          <p:cNvSpPr/>
          <p:nvPr/>
        </p:nvSpPr>
        <p:spPr>
          <a:xfrm>
            <a:off x="8492728" y="4987975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 / 34</a:t>
            </a:r>
            <a:endParaRPr lang="en-US" sz="5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95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57014"/>
            <a:ext cx="271730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CONNECTION · CONSTRAINTS → RESULTS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Constraints → HOW → Results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38026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금지 규칙 → 어떤 메커니즘으로 → 어떤 결과가 나왔는가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562695"/>
            <a:ext cx="2386459" cy="526852"/>
          </a:xfrm>
          <a:prstGeom prst="roundRect">
            <a:avLst>
              <a:gd name="adj" fmla="val 14463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93675" y="1661071"/>
            <a:ext cx="215577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593675" y="1781621"/>
            <a:ext cx="215577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키워드 나열식 슬라이드 금지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2923342" y="1689646"/>
            <a:ext cx="22163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2964210" y="1810196"/>
            <a:ext cx="1425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224659" y="1562695"/>
            <a:ext cx="2963019" cy="526852"/>
          </a:xfrm>
          <a:prstGeom prst="roundRect">
            <a:avLst>
              <a:gd name="adj" fmla="val 14463"/>
            </a:avLst>
          </a:prstGeom>
          <a:solidFill>
            <a:srgbClr val="161B22"/>
          </a:solidFill>
          <a:ln w="9525">
            <a:solidFill>
              <a:srgbClr val="8B949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3361134" y="1661071"/>
            <a:ext cx="274387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MECHANISM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3361134" y="1781621"/>
            <a:ext cx="274387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 위반 시 Socratic Gate 재통과 강제 — 인과관계 1문장 없으면 PR 차단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270129" y="1749921"/>
            <a:ext cx="1425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478" y="1562695"/>
            <a:ext cx="2194322" cy="526852"/>
          </a:xfrm>
          <a:prstGeom prst="roundRect">
            <a:avLst>
              <a:gd name="adj" fmla="val 14463"/>
            </a:avLst>
          </a:prstGeom>
          <a:solidFill>
            <a:srgbClr val="161B22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628954" y="1661071"/>
            <a:ext cx="195979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6628954" y="1781621"/>
            <a:ext cx="195979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34장</a:t>
            </a:r>
            <a:pPr algn="l" indent="0" marL="0">
              <a:spcBef>
                <a:spcPts val="200"/>
              </a:spcBef>
              <a:buNone/>
            </a:pP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전체 DAG 내러티브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457200" y="2152948"/>
            <a:ext cx="2386459" cy="431602"/>
          </a:xfrm>
          <a:prstGeom prst="roundRect">
            <a:avLst>
              <a:gd name="adj" fmla="val 17655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593675" y="2251323"/>
            <a:ext cx="215577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593675" y="2371874"/>
            <a:ext cx="215577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Socratic Gate 통과 전 코드 작성 금지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2923342" y="2232273"/>
            <a:ext cx="22163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2964210" y="2352824"/>
            <a:ext cx="1425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224659" y="2152948"/>
            <a:ext cx="2963019" cy="431602"/>
          </a:xfrm>
          <a:prstGeom prst="roundRect">
            <a:avLst>
              <a:gd name="adj" fmla="val 17655"/>
            </a:avLst>
          </a:prstGeom>
          <a:solidFill>
            <a:srgbClr val="161B22"/>
          </a:solidFill>
          <a:ln w="9525">
            <a:solidFill>
              <a:srgbClr val="8B949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3361134" y="2251323"/>
            <a:ext cx="274387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MECHANISM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3361134" y="2371874"/>
            <a:ext cx="274387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구현 전 5-질문 의무화 → 잘못된 전제로 50 rounds 낭비 사전 차단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6270129" y="2292548"/>
            <a:ext cx="1425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492478" y="2152948"/>
            <a:ext cx="2194322" cy="431602"/>
          </a:xfrm>
          <a:prstGeom prst="roundRect">
            <a:avLst>
              <a:gd name="adj" fmla="val 17655"/>
            </a:avLst>
          </a:prstGeom>
          <a:solidFill>
            <a:srgbClr val="161B22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6628954" y="2251323"/>
            <a:ext cx="195979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6628954" y="2371874"/>
            <a:ext cx="195979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39회</a:t>
            </a:r>
            <a:pPr algn="l" indent="0" marL="0">
              <a:spcBef>
                <a:spcPts val="200"/>
              </a:spcBef>
              <a:buNone/>
            </a:pP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릴리스 무회귀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457200" y="2647950"/>
            <a:ext cx="2386459" cy="526852"/>
          </a:xfrm>
          <a:prstGeom prst="roundRect">
            <a:avLst>
              <a:gd name="adj" fmla="val 14463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593675" y="2746325"/>
            <a:ext cx="215577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</a:t>
            </a:r>
            <a:endParaRPr lang="en-US" sz="650" dirty="0"/>
          </a:p>
        </p:txBody>
      </p:sp>
      <p:sp>
        <p:nvSpPr>
          <p:cNvPr id="32" name="Text 30"/>
          <p:cNvSpPr/>
          <p:nvPr/>
        </p:nvSpPr>
        <p:spPr>
          <a:xfrm>
            <a:off x="593675" y="2866876"/>
            <a:ext cx="215577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단순 박스형 다이어그램 금지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2923342" y="2774900"/>
            <a:ext cx="22163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964210" y="2895451"/>
            <a:ext cx="1425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3224659" y="2647950"/>
            <a:ext cx="2963019" cy="526852"/>
          </a:xfrm>
          <a:prstGeom prst="roundRect">
            <a:avLst>
              <a:gd name="adj" fmla="val 14463"/>
            </a:avLst>
          </a:prstGeom>
          <a:solidFill>
            <a:srgbClr val="161B22"/>
          </a:solidFill>
          <a:ln w="9525">
            <a:solidFill>
              <a:srgbClr val="8B949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3361134" y="2746325"/>
            <a:ext cx="274387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MECHANISM</a:t>
            </a:r>
            <a:endParaRPr lang="en-US" sz="650" dirty="0"/>
          </a:p>
        </p:txBody>
      </p:sp>
      <p:sp>
        <p:nvSpPr>
          <p:cNvPr id="37" name="Text 35"/>
          <p:cNvSpPr/>
          <p:nvPr/>
        </p:nvSpPr>
        <p:spPr>
          <a:xfrm>
            <a:off x="3361134" y="2866876"/>
            <a:ext cx="274387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화살표 + 분기 + 루프백 필수 → 4-Persona Review의 Architect 검사 통과 시에만 머지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6270129" y="2835176"/>
            <a:ext cx="1425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492478" y="2647950"/>
            <a:ext cx="2194322" cy="526852"/>
          </a:xfrm>
          <a:prstGeom prst="roundRect">
            <a:avLst>
              <a:gd name="adj" fmla="val 14463"/>
            </a:avLst>
          </a:prstGeom>
          <a:solidFill>
            <a:srgbClr val="161B22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6628954" y="2746325"/>
            <a:ext cx="195979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</a:t>
            </a:r>
            <a:endParaRPr lang="en-US" sz="650" dirty="0"/>
          </a:p>
        </p:txBody>
      </p:sp>
      <p:sp>
        <p:nvSpPr>
          <p:cNvPr id="41" name="Text 39"/>
          <p:cNvSpPr/>
          <p:nvPr/>
        </p:nvSpPr>
        <p:spPr>
          <a:xfrm>
            <a:off x="6628954" y="2866876"/>
            <a:ext cx="195979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Skills</a:t>
            </a:r>
            <a:pPr algn="l" indent="0" marL="0">
              <a:spcBef>
                <a:spcPts val="200"/>
              </a:spcBef>
              <a:buNone/>
            </a:pP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흐름도 누적</a:t>
            </a:r>
            <a:endParaRPr lang="en-US" sz="750" dirty="0"/>
          </a:p>
        </p:txBody>
      </p:sp>
      <p:sp>
        <p:nvSpPr>
          <p:cNvPr id="42" name="Text 40"/>
          <p:cNvSpPr/>
          <p:nvPr/>
        </p:nvSpPr>
        <p:spPr>
          <a:xfrm>
            <a:off x="457200" y="3238202"/>
            <a:ext cx="2386459" cy="431602"/>
          </a:xfrm>
          <a:prstGeom prst="roundRect">
            <a:avLst>
              <a:gd name="adj" fmla="val 17655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593675" y="3336578"/>
            <a:ext cx="215577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</a:t>
            </a:r>
            <a:endParaRPr lang="en-US" sz="650" dirty="0"/>
          </a:p>
        </p:txBody>
      </p:sp>
      <p:sp>
        <p:nvSpPr>
          <p:cNvPr id="44" name="Text 42"/>
          <p:cNvSpPr/>
          <p:nvPr/>
        </p:nvSpPr>
        <p:spPr>
          <a:xfrm>
            <a:off x="593675" y="3457129"/>
            <a:ext cx="215577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 명시 없는 설계 결정 금지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2923342" y="3317528"/>
            <a:ext cx="22163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2964210" y="3438079"/>
            <a:ext cx="1425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3224659" y="3238202"/>
            <a:ext cx="2963019" cy="431602"/>
          </a:xfrm>
          <a:prstGeom prst="roundRect">
            <a:avLst>
              <a:gd name="adj" fmla="val 17655"/>
            </a:avLst>
          </a:prstGeom>
          <a:solidFill>
            <a:srgbClr val="161B22"/>
          </a:solidFill>
          <a:ln w="9525">
            <a:solidFill>
              <a:srgbClr val="8B949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3361134" y="3336578"/>
            <a:ext cx="274387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MECHANISM</a:t>
            </a:r>
            <a:endParaRPr lang="en-US" sz="650" dirty="0"/>
          </a:p>
        </p:txBody>
      </p:sp>
      <p:sp>
        <p:nvSpPr>
          <p:cNvPr id="49" name="Text 47"/>
          <p:cNvSpPr/>
          <p:nvPr/>
        </p:nvSpPr>
        <p:spPr>
          <a:xfrm>
            <a:off x="3361134" y="3457129"/>
            <a:ext cx="274387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CHANGELOG에 "포기한 것 / 얻은 것" 쌍 없으면 기능 커밋 자체가 차단됨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6270129" y="3377803"/>
            <a:ext cx="1425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6492478" y="3238202"/>
            <a:ext cx="2194322" cy="431602"/>
          </a:xfrm>
          <a:prstGeom prst="roundRect">
            <a:avLst>
              <a:gd name="adj" fmla="val 17655"/>
            </a:avLst>
          </a:prstGeom>
          <a:solidFill>
            <a:srgbClr val="161B22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6628954" y="3336578"/>
            <a:ext cx="195979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</a:t>
            </a:r>
            <a:endParaRPr lang="en-US" sz="650" dirty="0"/>
          </a:p>
        </p:txBody>
      </p:sp>
      <p:sp>
        <p:nvSpPr>
          <p:cNvPr id="53" name="Text 51"/>
          <p:cNvSpPr/>
          <p:nvPr/>
        </p:nvSpPr>
        <p:spPr>
          <a:xfrm>
            <a:off x="6628954" y="3457129"/>
            <a:ext cx="195979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6회</a:t>
            </a:r>
            <a:pPr algn="l" indent="0" marL="0">
              <a:spcBef>
                <a:spcPts val="200"/>
              </a:spcBef>
              <a:buNone/>
            </a:pP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피봇 WHY 전부 기록</a:t>
            </a:r>
            <a:endParaRPr lang="en-US" sz="750" dirty="0"/>
          </a:p>
        </p:txBody>
      </p:sp>
      <p:sp>
        <p:nvSpPr>
          <p:cNvPr id="54" name="Text 52"/>
          <p:cNvSpPr/>
          <p:nvPr/>
        </p:nvSpPr>
        <p:spPr>
          <a:xfrm>
            <a:off x="457200" y="3733205"/>
            <a:ext cx="2386459" cy="431602"/>
          </a:xfrm>
          <a:prstGeom prst="roundRect">
            <a:avLst>
              <a:gd name="adj" fmla="val 17655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593675" y="3831580"/>
            <a:ext cx="215577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</a:t>
            </a:r>
            <a:endParaRPr lang="en-US" sz="650" dirty="0"/>
          </a:p>
        </p:txBody>
      </p:sp>
      <p:sp>
        <p:nvSpPr>
          <p:cNvPr id="56" name="Text 54"/>
          <p:cNvSpPr/>
          <p:nvPr/>
        </p:nvSpPr>
        <p:spPr>
          <a:xfrm>
            <a:off x="593675" y="3952131"/>
            <a:ext cx="215577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카드 6개 초과 금지 — 밀도 강제 압축</a:t>
            </a:r>
            <a:endParaRPr lang="en-US" sz="750" dirty="0"/>
          </a:p>
        </p:txBody>
      </p:sp>
      <p:sp>
        <p:nvSpPr>
          <p:cNvPr id="57" name="Text 55"/>
          <p:cNvSpPr/>
          <p:nvPr/>
        </p:nvSpPr>
        <p:spPr>
          <a:xfrm>
            <a:off x="2923342" y="3812530"/>
            <a:ext cx="22163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</a:t>
            </a:r>
            <a:endParaRPr lang="en-US" sz="700" dirty="0"/>
          </a:p>
        </p:txBody>
      </p:sp>
      <p:sp>
        <p:nvSpPr>
          <p:cNvPr id="58" name="Text 56"/>
          <p:cNvSpPr/>
          <p:nvPr/>
        </p:nvSpPr>
        <p:spPr>
          <a:xfrm>
            <a:off x="2964210" y="3933081"/>
            <a:ext cx="1425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3224659" y="3733205"/>
            <a:ext cx="2963019" cy="431602"/>
          </a:xfrm>
          <a:prstGeom prst="roundRect">
            <a:avLst>
              <a:gd name="adj" fmla="val 17655"/>
            </a:avLst>
          </a:prstGeom>
          <a:solidFill>
            <a:srgbClr val="161B22"/>
          </a:solidFill>
          <a:ln w="9525">
            <a:solidFill>
              <a:srgbClr val="8B949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3361134" y="3831580"/>
            <a:ext cx="274387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MECHANISM</a:t>
            </a:r>
            <a:endParaRPr lang="en-US" sz="650" dirty="0"/>
          </a:p>
        </p:txBody>
      </p:sp>
      <p:sp>
        <p:nvSpPr>
          <p:cNvPr id="61" name="Text 59"/>
          <p:cNvSpPr/>
          <p:nvPr/>
        </p:nvSpPr>
        <p:spPr>
          <a:xfrm>
            <a:off x="3361134" y="3952131"/>
            <a:ext cx="274387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초과 시 슬라이드 분리 강제 → 정보 우선순위 결정이 설계자에게 귀환</a:t>
            </a:r>
            <a:endParaRPr lang="en-US" sz="700" dirty="0"/>
          </a:p>
        </p:txBody>
      </p:sp>
      <p:sp>
        <p:nvSpPr>
          <p:cNvPr id="62" name="Text 60"/>
          <p:cNvSpPr/>
          <p:nvPr/>
        </p:nvSpPr>
        <p:spPr>
          <a:xfrm>
            <a:off x="6270129" y="3872805"/>
            <a:ext cx="1425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6492478" y="3733205"/>
            <a:ext cx="2194322" cy="431602"/>
          </a:xfrm>
          <a:prstGeom prst="roundRect">
            <a:avLst>
              <a:gd name="adj" fmla="val 17655"/>
            </a:avLst>
          </a:prstGeom>
          <a:solidFill>
            <a:srgbClr val="161B22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4" name="Text 62"/>
          <p:cNvSpPr/>
          <p:nvPr/>
        </p:nvSpPr>
        <p:spPr>
          <a:xfrm>
            <a:off x="6628954" y="3831580"/>
            <a:ext cx="195979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</a:t>
            </a:r>
            <a:endParaRPr lang="en-US" sz="650" dirty="0"/>
          </a:p>
        </p:txBody>
      </p:sp>
      <p:sp>
        <p:nvSpPr>
          <p:cNvPr id="65" name="Text 63"/>
          <p:cNvSpPr/>
          <p:nvPr/>
        </p:nvSpPr>
        <p:spPr>
          <a:xfrm>
            <a:off x="6628954" y="3952131"/>
            <a:ext cx="195979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34장</a:t>
            </a:r>
            <a:pPr algn="l" indent="0" marL="0">
              <a:spcBef>
                <a:spcPts val="200"/>
              </a:spcBef>
              <a:buNone/>
            </a:pP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슬라이드당 1메시지</a:t>
            </a:r>
            <a:endParaRPr lang="en-US" sz="750" dirty="0"/>
          </a:p>
        </p:txBody>
      </p:sp>
      <p:sp>
        <p:nvSpPr>
          <p:cNvPr id="66" name="Text 64"/>
          <p:cNvSpPr/>
          <p:nvPr/>
        </p:nvSpPr>
        <p:spPr>
          <a:xfrm>
            <a:off x="457200" y="4978450"/>
            <a:ext cx="1638883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v0.31.0 · 23 CANNOT rules · 제약이 품질을 만든다</a:t>
            </a:r>
            <a:endParaRPr lang="en-US" sz="500" dirty="0"/>
          </a:p>
        </p:txBody>
      </p:sp>
      <p:sp>
        <p:nvSpPr>
          <p:cNvPr id="67" name="Text 65"/>
          <p:cNvSpPr/>
          <p:nvPr/>
        </p:nvSpPr>
        <p:spPr>
          <a:xfrm>
            <a:off x="8492728" y="4978450"/>
            <a:ext cx="197953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/ 34</a:t>
            </a:r>
            <a:endParaRPr lang="en-US" sz="5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95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57014"/>
            <a:ext cx="136943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 · SUMMARY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숫자 총정리 — GEODE v0.31.0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47551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36일, 모든 숫자는 Socratic Gate → 8-Step Loop → 4-Persona Review를 통과한 것들이다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834777"/>
            <a:ext cx="1435150" cy="755452"/>
          </a:xfrm>
          <a:prstGeom prst="roundRect">
            <a:avLst>
              <a:gd name="adj" fmla="val 10087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08012" y="971252"/>
            <a:ext cx="1133526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v0.31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608012" y="1368028"/>
            <a:ext cx="113352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Version</a:t>
            </a:r>
            <a:endParaRPr lang="en-US" sz="600" dirty="0"/>
          </a:p>
        </p:txBody>
      </p:sp>
      <p:sp>
        <p:nvSpPr>
          <p:cNvPr id="9" name="Text 7"/>
          <p:cNvSpPr/>
          <p:nvPr/>
        </p:nvSpPr>
        <p:spPr>
          <a:xfrm>
            <a:off x="1968550" y="834777"/>
            <a:ext cx="1435150" cy="755452"/>
          </a:xfrm>
          <a:prstGeom prst="roundRect">
            <a:avLst>
              <a:gd name="adj" fmla="val 10087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2119362" y="971252"/>
            <a:ext cx="1133526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1,160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2119362" y="1368028"/>
            <a:ext cx="113352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Commits</a:t>
            </a:r>
            <a:endParaRPr lang="en-US" sz="600" dirty="0"/>
          </a:p>
        </p:txBody>
      </p:sp>
      <p:sp>
        <p:nvSpPr>
          <p:cNvPr id="12" name="Text 10"/>
          <p:cNvSpPr/>
          <p:nvPr/>
        </p:nvSpPr>
        <p:spPr>
          <a:xfrm>
            <a:off x="3479899" y="834777"/>
            <a:ext cx="1435150" cy="755452"/>
          </a:xfrm>
          <a:prstGeom prst="roundRect">
            <a:avLst>
              <a:gd name="adj" fmla="val 10087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3630711" y="971252"/>
            <a:ext cx="1133526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500+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3630711" y="1368028"/>
            <a:ext cx="113352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PRs</a:t>
            </a:r>
            <a:endParaRPr lang="en-US" sz="600" dirty="0"/>
          </a:p>
        </p:txBody>
      </p:sp>
      <p:sp>
        <p:nvSpPr>
          <p:cNvPr id="15" name="Text 13"/>
          <p:cNvSpPr/>
          <p:nvPr/>
        </p:nvSpPr>
        <p:spPr>
          <a:xfrm>
            <a:off x="4991249" y="834777"/>
            <a:ext cx="1435150" cy="755452"/>
          </a:xfrm>
          <a:prstGeom prst="roundRect">
            <a:avLst>
              <a:gd name="adj" fmla="val 10087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5142061" y="971252"/>
            <a:ext cx="1133526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5142061" y="1368028"/>
            <a:ext cx="113352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Releases</a:t>
            </a:r>
            <a:endParaRPr lang="en-US" sz="600" dirty="0"/>
          </a:p>
        </p:txBody>
      </p:sp>
      <p:sp>
        <p:nvSpPr>
          <p:cNvPr id="18" name="Text 16"/>
          <p:cNvSpPr/>
          <p:nvPr/>
        </p:nvSpPr>
        <p:spPr>
          <a:xfrm>
            <a:off x="457200" y="1666429"/>
            <a:ext cx="1435150" cy="656927"/>
          </a:xfrm>
          <a:prstGeom prst="roundRect">
            <a:avLst>
              <a:gd name="adj" fmla="val 11599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08012" y="1777454"/>
            <a:ext cx="113352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187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608012" y="2126605"/>
            <a:ext cx="113352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Modules</a:t>
            </a:r>
            <a:endParaRPr lang="en-US" sz="600" dirty="0"/>
          </a:p>
        </p:txBody>
      </p:sp>
      <p:sp>
        <p:nvSpPr>
          <p:cNvPr id="21" name="Text 19"/>
          <p:cNvSpPr/>
          <p:nvPr/>
        </p:nvSpPr>
        <p:spPr>
          <a:xfrm>
            <a:off x="1968550" y="1666429"/>
            <a:ext cx="1435150" cy="656927"/>
          </a:xfrm>
          <a:prstGeom prst="roundRect">
            <a:avLst>
              <a:gd name="adj" fmla="val 11599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2119362" y="1777454"/>
            <a:ext cx="113352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3,201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119362" y="2126605"/>
            <a:ext cx="113352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Tests</a:t>
            </a:r>
            <a:endParaRPr lang="en-US" sz="600" dirty="0"/>
          </a:p>
        </p:txBody>
      </p:sp>
      <p:sp>
        <p:nvSpPr>
          <p:cNvPr id="24" name="Text 22"/>
          <p:cNvSpPr/>
          <p:nvPr/>
        </p:nvSpPr>
        <p:spPr>
          <a:xfrm>
            <a:off x="3479899" y="1666429"/>
            <a:ext cx="1435150" cy="656927"/>
          </a:xfrm>
          <a:prstGeom prst="roundRect">
            <a:avLst>
              <a:gd name="adj" fmla="val 11599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3630711" y="1777454"/>
            <a:ext cx="113352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3630711" y="2126605"/>
            <a:ext cx="113352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 Events</a:t>
            </a:r>
            <a:endParaRPr lang="en-US" sz="600" dirty="0"/>
          </a:p>
        </p:txBody>
      </p:sp>
      <p:sp>
        <p:nvSpPr>
          <p:cNvPr id="27" name="Text 25"/>
          <p:cNvSpPr/>
          <p:nvPr/>
        </p:nvSpPr>
        <p:spPr>
          <a:xfrm>
            <a:off x="4991249" y="1666429"/>
            <a:ext cx="1435150" cy="656927"/>
          </a:xfrm>
          <a:prstGeom prst="roundRect">
            <a:avLst>
              <a:gd name="adj" fmla="val 11599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5142061" y="1777454"/>
            <a:ext cx="113352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5142061" y="2126605"/>
            <a:ext cx="113352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Native Tools</a:t>
            </a:r>
            <a:endParaRPr lang="en-US" sz="600" dirty="0"/>
          </a:p>
        </p:txBody>
      </p:sp>
      <p:sp>
        <p:nvSpPr>
          <p:cNvPr id="30" name="Text 28"/>
          <p:cNvSpPr/>
          <p:nvPr/>
        </p:nvSpPr>
        <p:spPr>
          <a:xfrm>
            <a:off x="457200" y="2399556"/>
            <a:ext cx="1435150" cy="637877"/>
          </a:xfrm>
          <a:prstGeom prst="roundRect">
            <a:avLst>
              <a:gd name="adj" fmla="val 11946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608012" y="2510582"/>
            <a:ext cx="1133526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608012" y="2831157"/>
            <a:ext cx="113352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Catalog</a:t>
            </a:r>
            <a:endParaRPr lang="en-US" sz="600" dirty="0"/>
          </a:p>
        </p:txBody>
      </p:sp>
      <p:sp>
        <p:nvSpPr>
          <p:cNvPr id="33" name="Text 31"/>
          <p:cNvSpPr/>
          <p:nvPr/>
        </p:nvSpPr>
        <p:spPr>
          <a:xfrm>
            <a:off x="1968550" y="2399556"/>
            <a:ext cx="1435150" cy="637877"/>
          </a:xfrm>
          <a:prstGeom prst="roundRect">
            <a:avLst>
              <a:gd name="adj" fmla="val 11946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2119362" y="2510582"/>
            <a:ext cx="1133526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2119362" y="2831157"/>
            <a:ext cx="113352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</a:t>
            </a:r>
            <a:endParaRPr lang="en-US" sz="600" dirty="0"/>
          </a:p>
        </p:txBody>
      </p:sp>
      <p:sp>
        <p:nvSpPr>
          <p:cNvPr id="36" name="Text 34"/>
          <p:cNvSpPr/>
          <p:nvPr/>
        </p:nvSpPr>
        <p:spPr>
          <a:xfrm>
            <a:off x="3479899" y="2399556"/>
            <a:ext cx="1435150" cy="637877"/>
          </a:xfrm>
          <a:prstGeom prst="roundRect">
            <a:avLst>
              <a:gd name="adj" fmla="val 11946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3630711" y="2510582"/>
            <a:ext cx="1133526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2000" dirty="0"/>
          </a:p>
        </p:txBody>
      </p:sp>
      <p:sp>
        <p:nvSpPr>
          <p:cNvPr id="38" name="Text 36"/>
          <p:cNvSpPr/>
          <p:nvPr/>
        </p:nvSpPr>
        <p:spPr>
          <a:xfrm>
            <a:off x="3630711" y="2831157"/>
            <a:ext cx="113352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 Rules</a:t>
            </a:r>
            <a:endParaRPr lang="en-US" sz="600" dirty="0"/>
          </a:p>
        </p:txBody>
      </p:sp>
      <p:sp>
        <p:nvSpPr>
          <p:cNvPr id="39" name="Text 37"/>
          <p:cNvSpPr/>
          <p:nvPr/>
        </p:nvSpPr>
        <p:spPr>
          <a:xfrm>
            <a:off x="4991249" y="2399556"/>
            <a:ext cx="1435150" cy="637877"/>
          </a:xfrm>
          <a:prstGeom prst="roundRect">
            <a:avLst>
              <a:gd name="adj" fmla="val 11946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5142061" y="2510582"/>
            <a:ext cx="113352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36일</a:t>
            </a:r>
            <a:endParaRPr lang="en-US" sz="2000" dirty="0"/>
          </a:p>
        </p:txBody>
      </p:sp>
      <p:sp>
        <p:nvSpPr>
          <p:cNvPr id="41" name="Text 39"/>
          <p:cNvSpPr/>
          <p:nvPr/>
        </p:nvSpPr>
        <p:spPr>
          <a:xfrm>
            <a:off x="5142061" y="2840682"/>
            <a:ext cx="113352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Duration</a:t>
            </a:r>
            <a:endParaRPr lang="en-US" sz="600" dirty="0"/>
          </a:p>
        </p:txBody>
      </p:sp>
      <p:sp>
        <p:nvSpPr>
          <p:cNvPr id="42" name="Text 40"/>
          <p:cNvSpPr/>
          <p:nvPr/>
        </p:nvSpPr>
        <p:spPr>
          <a:xfrm>
            <a:off x="6527899" y="834777"/>
            <a:ext cx="2158901" cy="2893814"/>
          </a:xfrm>
          <a:prstGeom prst="roundRect">
            <a:avLst>
              <a:gd name="adj" fmla="val 3530"/>
            </a:avLst>
          </a:prstGeom>
          <a:solidFill>
            <a:srgbClr val="161B22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6689824" y="971252"/>
            <a:ext cx="187175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Harness 4-Axis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6689824" y="1212354"/>
            <a:ext cx="38100" cy="38100"/>
          </a:xfrm>
          <a:prstGeom prst="roundRect">
            <a:avLst>
              <a:gd name="adj" fmla="val 2400000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6804124" y="1148953"/>
            <a:ext cx="1755166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컨텍스트</a:t>
            </a:r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PromptAssembler 6-Phase + SHA-256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6689824" y="1524298"/>
            <a:ext cx="38100" cy="38100"/>
          </a:xfrm>
          <a:prstGeom prst="roundRect">
            <a:avLst>
              <a:gd name="adj" fmla="val 2400000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6804124" y="1460897"/>
            <a:ext cx="1530495" cy="124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실행 루프</a:t>
            </a:r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while(tool_use) · 50R × 200T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6689824" y="1711970"/>
            <a:ext cx="38100" cy="38100"/>
          </a:xfrm>
          <a:prstGeom prst="roundRect">
            <a:avLst>
              <a:gd name="adj" fmla="val 2400000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6804124" y="1648569"/>
            <a:ext cx="1317057" cy="124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검증</a:t>
            </a:r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5-Layer · Cross-LLM α≥0.67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6689824" y="1899642"/>
            <a:ext cx="38100" cy="38100"/>
          </a:xfrm>
          <a:prstGeom prst="roundRect">
            <a:avLst>
              <a:gd name="adj" fmla="val 2400000"/>
            </a:avLst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Text 49"/>
          <p:cNvSpPr/>
          <p:nvPr/>
        </p:nvSpPr>
        <p:spPr>
          <a:xfrm>
            <a:off x="6804124" y="1836241"/>
            <a:ext cx="1557668" cy="124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관측</a:t>
            </a:r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46-Event Hook · LangSmith/OTEL</a:t>
            </a:r>
            <a:endParaRPr lang="en-US" sz="700" dirty="0"/>
          </a:p>
        </p:txBody>
      </p:sp>
      <p:sp>
        <p:nvSpPr>
          <p:cNvPr id="52" name="Text 50"/>
          <p:cNvSpPr/>
          <p:nvPr/>
        </p:nvSpPr>
        <p:spPr>
          <a:xfrm>
            <a:off x="6527899" y="3804791"/>
            <a:ext cx="2158901" cy="1119783"/>
          </a:xfrm>
          <a:prstGeom prst="roundRect">
            <a:avLst>
              <a:gd name="adj" fmla="val 6805"/>
            </a:avLst>
          </a:prstGeom>
          <a:solidFill>
            <a:srgbClr val="161B22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6689824" y="3941266"/>
            <a:ext cx="187175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REODE (이식 증거)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6689824" y="4115842"/>
            <a:ext cx="1871752" cy="124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241 소스 · 103K LoC</a:t>
            </a:r>
            <a:endParaRPr lang="en-US" sz="700" dirty="0"/>
          </a:p>
        </p:txBody>
      </p:sp>
      <p:sp>
        <p:nvSpPr>
          <p:cNvPr id="55" name="Text 53"/>
          <p:cNvSpPr/>
          <p:nvPr/>
        </p:nvSpPr>
        <p:spPr>
          <a:xfrm>
            <a:off x="6689824" y="4290864"/>
            <a:ext cx="1871752" cy="124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 세션 · 1,133 LLM 라운드 · 5h 48m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6689824" y="4491186"/>
            <a:ext cx="187175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8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83/83 mvn compile+test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6689824" y="4681538"/>
            <a:ext cx="1871752" cy="106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DomainPort 때문에 코어 수정 0줄 — 하네스 이식성의 실증</a:t>
            </a:r>
            <a:endParaRPr lang="en-US" sz="600" dirty="0"/>
          </a:p>
        </p:txBody>
      </p:sp>
      <p:sp>
        <p:nvSpPr>
          <p:cNvPr id="58" name="Text 56"/>
          <p:cNvSpPr/>
          <p:nvPr/>
        </p:nvSpPr>
        <p:spPr>
          <a:xfrm>
            <a:off x="457200" y="4987975"/>
            <a:ext cx="2053766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v0.31.0 · Feb 21 – Mar 28, 2026 · Anthropic / OpenAI / ZhipuAI</a:t>
            </a:r>
            <a:endParaRPr lang="en-US" sz="500" dirty="0"/>
          </a:p>
        </p:txBody>
      </p:sp>
      <p:sp>
        <p:nvSpPr>
          <p:cNvPr id="59" name="Text 57"/>
          <p:cNvSpPr/>
          <p:nvPr/>
        </p:nvSpPr>
        <p:spPr>
          <a:xfrm>
            <a:off x="8492728" y="4987975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 / 34</a:t>
            </a:r>
            <a:endParaRPr lang="en-US" sz="5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95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57014"/>
            <a:ext cx="143197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 · DISCIPLINE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Harness Engineering은 디시플린입니다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657076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도구가 아닌 습관 — 4축이 매 릴리스마다 실천될 때 하네스가 장기 운용된다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857101"/>
            <a:ext cx="2133600" cy="4067473"/>
          </a:xfrm>
          <a:prstGeom prst="roundRect">
            <a:avLst>
              <a:gd name="adj" fmla="val 3571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19125" y="1473547"/>
            <a:ext cx="1809750" cy="596801"/>
          </a:xfrm>
          <a:prstGeom prst="roundRect">
            <a:avLst>
              <a:gd name="adj" fmla="val 8512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756476" y="1600498"/>
            <a:ext cx="153504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"확률적 시스템은</a:t>
            </a:r>
            <a:endParaRPr lang="en-US" sz="900" dirty="0"/>
          </a:p>
          <a:p>
            <a:pPr algn="ctr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제어 없이 발산한다"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01028" y="2171849"/>
            <a:ext cx="1845945" cy="2842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2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발산을 루프와 가치로</a:t>
            </a:r>
            <a:endParaRPr lang="en-US" sz="700" dirty="0"/>
          </a:p>
          <a:p>
            <a:pPr algn="ctr" indent="0" marL="0">
              <a:lnSpc>
                <a:spcPts val="112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수렴시키는 하네스를 만듭니다.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619125" y="2562374"/>
            <a:ext cx="1809750" cy="0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01028" y="2668637"/>
            <a:ext cx="1845945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디시플린은 일회성 설계가 아니다. 매 PR마다, 매 릴리스마다 4축이 실천되어야 하네스가 살아남는다.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619125" y="3087291"/>
            <a:ext cx="1809750" cy="466427"/>
          </a:xfrm>
          <a:prstGeom prst="roundRect">
            <a:avLst>
              <a:gd name="adj" fmla="val 10891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730517" y="3188791"/>
            <a:ext cx="158696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v0.6 → v0.31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0517" y="3366492"/>
            <a:ext cx="158696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25버전 동안 4축이 유지됨</a:t>
            </a:r>
            <a:endParaRPr lang="en-US" sz="600" dirty="0"/>
          </a:p>
        </p:txBody>
      </p:sp>
      <p:sp>
        <p:nvSpPr>
          <p:cNvPr id="15" name="Text 13"/>
          <p:cNvSpPr/>
          <p:nvPr/>
        </p:nvSpPr>
        <p:spPr>
          <a:xfrm>
            <a:off x="619125" y="3680520"/>
            <a:ext cx="1809750" cy="627459"/>
          </a:xfrm>
          <a:prstGeom prst="roundRect">
            <a:avLst>
              <a:gd name="adj" fmla="val 8096"/>
            </a:avLst>
          </a:prstGeom>
          <a:solidFill>
            <a:srgbClr val="1A1A2E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755600" y="3778895"/>
            <a:ext cx="156753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 디시플린 비용</a:t>
            </a:r>
            <a:endParaRPr lang="en-US" sz="600" dirty="0"/>
          </a:p>
        </p:txBody>
      </p:sp>
      <p:sp>
        <p:nvSpPr>
          <p:cNvPr id="17" name="Text 15"/>
          <p:cNvSpPr/>
          <p:nvPr/>
        </p:nvSpPr>
        <p:spPr>
          <a:xfrm>
            <a:off x="755600" y="3889921"/>
            <a:ext cx="1567535" cy="319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4축 실천은 PR마다 시간이 든다. 이를 포기하면 릴리스 속도는 올라가지만 회귀가 쌓인다. 39/39 무회귀가 그 비용의 수익이다.</a:t>
            </a:r>
            <a:endParaRPr lang="en-US" sz="600" dirty="0"/>
          </a:p>
        </p:txBody>
      </p:sp>
      <p:sp>
        <p:nvSpPr>
          <p:cNvPr id="18" name="Text 16"/>
          <p:cNvSpPr/>
          <p:nvPr/>
        </p:nvSpPr>
        <p:spPr>
          <a:xfrm>
            <a:off x="2692301" y="857101"/>
            <a:ext cx="5994499" cy="959644"/>
          </a:xfrm>
          <a:prstGeom prst="roundRect">
            <a:avLst>
              <a:gd name="adj" fmla="val 7940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2854226" y="968127"/>
            <a:ext cx="38100" cy="737592"/>
          </a:xfrm>
          <a:prstGeom prst="roundRect">
            <a:avLst>
              <a:gd name="adj" fmla="val 66667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2993827" y="1189286"/>
            <a:ext cx="49886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컨텍스트 제어 — 장기 진화 방향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2993827" y="1351211"/>
            <a:ext cx="4988606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SHA-256 캐싱 → Semantic diff 기반 선택적 재생성으로 진화. Provider별 캐시 효율 최적화가 장기 비용 절감의 핵심.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7986117" y="1151186"/>
            <a:ext cx="538758" cy="371475"/>
          </a:xfrm>
          <a:prstGeom prst="roundRect">
            <a:avLst>
              <a:gd name="adj" fmla="val 13675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8110219" y="1227386"/>
            <a:ext cx="29055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110219" y="1360736"/>
            <a:ext cx="29055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비용 절감</a:t>
            </a:r>
            <a:endParaRPr lang="en-US" sz="600" dirty="0"/>
          </a:p>
        </p:txBody>
      </p:sp>
      <p:sp>
        <p:nvSpPr>
          <p:cNvPr id="25" name="Text 23"/>
          <p:cNvSpPr/>
          <p:nvPr/>
        </p:nvSpPr>
        <p:spPr>
          <a:xfrm>
            <a:off x="2692301" y="1892945"/>
            <a:ext cx="5994499" cy="959793"/>
          </a:xfrm>
          <a:prstGeom prst="roundRect">
            <a:avLst>
              <a:gd name="adj" fmla="val 7939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2854226" y="2003971"/>
            <a:ext cx="38100" cy="737741"/>
          </a:xfrm>
          <a:prstGeom prst="roundRect">
            <a:avLst>
              <a:gd name="adj" fmla="val 66667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2993827" y="2225278"/>
            <a:ext cx="490966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실행 루프 — 장기 진화 방향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2993827" y="2387203"/>
            <a:ext cx="4909667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단일 루프 → Plan-first + Executor 분리 → 멀티 에이전트 DAG 오케스트레이션. 수렴 감지와 다양성 강제가 루프 품질을 유지.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7908727" y="2187029"/>
            <a:ext cx="616148" cy="371475"/>
          </a:xfrm>
          <a:prstGeom prst="roundRect">
            <a:avLst>
              <a:gd name="adj" fmla="val 13675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8032054" y="2263229"/>
            <a:ext cx="36949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50R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032054" y="2396579"/>
            <a:ext cx="36949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×200 turns</a:t>
            </a:r>
            <a:endParaRPr lang="en-US" sz="600" dirty="0"/>
          </a:p>
        </p:txBody>
      </p:sp>
      <p:sp>
        <p:nvSpPr>
          <p:cNvPr id="32" name="Text 30"/>
          <p:cNvSpPr/>
          <p:nvPr/>
        </p:nvSpPr>
        <p:spPr>
          <a:xfrm>
            <a:off x="2692301" y="2928938"/>
            <a:ext cx="5994499" cy="959644"/>
          </a:xfrm>
          <a:prstGeom prst="roundRect">
            <a:avLst>
              <a:gd name="adj" fmla="val 7940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2854226" y="3039963"/>
            <a:ext cx="38100" cy="737592"/>
          </a:xfrm>
          <a:prstGeom prst="roundRect">
            <a:avLst>
              <a:gd name="adj" fmla="val 66667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2993827" y="3261122"/>
            <a:ext cx="491649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검증 — 장기 진화 방향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2993827" y="3423047"/>
            <a:ext cx="4916498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5-Layer 정적 검증 → CUSUM 드리프트 감지 + 실시간 Cross-LLM 합의도 추적. 비결정론을 측정 가능한 지표로 관리.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7915424" y="3223022"/>
            <a:ext cx="609451" cy="371475"/>
          </a:xfrm>
          <a:prstGeom prst="roundRect">
            <a:avLst>
              <a:gd name="adj" fmla="val 13675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8038819" y="3299222"/>
            <a:ext cx="36266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α≥0.67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8038819" y="3432572"/>
            <a:ext cx="36266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합의도</a:t>
            </a:r>
            <a:endParaRPr lang="en-US" sz="600" dirty="0"/>
          </a:p>
        </p:txBody>
      </p:sp>
      <p:sp>
        <p:nvSpPr>
          <p:cNvPr id="39" name="Text 37"/>
          <p:cNvSpPr/>
          <p:nvPr/>
        </p:nvSpPr>
        <p:spPr>
          <a:xfrm>
            <a:off x="2692301" y="3964781"/>
            <a:ext cx="5994499" cy="959793"/>
          </a:xfrm>
          <a:prstGeom prst="roundRect">
            <a:avLst>
              <a:gd name="adj" fmla="val 7939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2854226" y="4075807"/>
            <a:ext cx="38100" cy="737741"/>
          </a:xfrm>
          <a:prstGeom prst="roundRect">
            <a:avLst>
              <a:gd name="adj" fmla="val 66667"/>
            </a:avLst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2993827" y="4297114"/>
            <a:ext cx="483847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관측 — 장기 진화 방향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2993827" y="4459039"/>
            <a:ext cx="4838471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LangSmith/OTEL 수동 트레이싱 → 자동 비용 예측 + 예산 소진율 알림 → ML 기반 실행 계획 최적화.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7838926" y="4258866"/>
            <a:ext cx="685949" cy="371475"/>
          </a:xfrm>
          <a:prstGeom prst="roundRect">
            <a:avLst>
              <a:gd name="adj" fmla="val 13675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7961556" y="4335066"/>
            <a:ext cx="44068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7961556" y="4468416"/>
            <a:ext cx="44068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 Events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457200" y="4987975"/>
            <a:ext cx="2415972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v0.31.0 · Harness Engineering = Context × Loop × Validation × Observation</a:t>
            </a:r>
            <a:endParaRPr lang="en-US" sz="500" dirty="0"/>
          </a:p>
        </p:txBody>
      </p:sp>
      <p:sp>
        <p:nvSpPr>
          <p:cNvPr id="47" name="Text 45"/>
          <p:cNvSpPr/>
          <p:nvPr/>
        </p:nvSpPr>
        <p:spPr>
          <a:xfrm>
            <a:off x="8492728" y="4987975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 / 34</a:t>
            </a:r>
            <a:endParaRPr lang="en-US" sz="5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ango/workspace/portfolio/geode/versions/v6/slides/assets/bg-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2695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1"/>
          <p:cNvSpPr/>
          <p:nvPr/>
        </p:nvSpPr>
        <p:spPr>
          <a:xfrm>
            <a:off x="584150" y="157014"/>
            <a:ext cx="59006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6841182" y="171301"/>
            <a:ext cx="188253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v0.31.0 · Feb 21 – Mar 28, 2026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457200" y="1124545"/>
            <a:ext cx="6058049" cy="1031974"/>
          </a:xfrm>
          <a:prstGeom prst="roundRect">
            <a:avLst>
              <a:gd name="adj" fmla="val 7384"/>
            </a:avLst>
          </a:prstGeom>
          <a:solidFill>
            <a:srgbClr val="161B22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644426" y="1261021"/>
            <a:ext cx="579726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Opening Thesis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644426" y="1445121"/>
            <a:ext cx="5797269" cy="365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"확률적 시스템(LLM)은 제어 없이 발산합니다.</a:t>
            </a:r>
            <a:endParaRPr lang="en-US" sz="900" dirty="0"/>
          </a:p>
          <a:p>
            <a:pPr algn="l" indent="0" marL="0">
              <a:lnSpc>
                <a:spcPts val="144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발산을 루프와 가치로 수렴시키는 하네스를 만듭니다."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644426" y="1886843"/>
            <a:ext cx="5797269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spcBef>
                <a:spcPts val="6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v0.31.0 — 36일, 1,160 커밋, 39 릴리스가 이 명제의 실증입니다.</a:t>
            </a:r>
            <a:endParaRPr lang="en-US" sz="700" dirty="0"/>
          </a:p>
        </p:txBody>
      </p:sp>
      <p:sp>
        <p:nvSpPr>
          <p:cNvPr id="10" name="Text 7"/>
          <p:cNvSpPr/>
          <p:nvPr/>
        </p:nvSpPr>
        <p:spPr>
          <a:xfrm>
            <a:off x="457200" y="2258020"/>
            <a:ext cx="6058049" cy="831652"/>
          </a:xfrm>
          <a:prstGeom prst="roundRect">
            <a:avLst>
              <a:gd name="adj" fmla="val 9162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8"/>
          <p:cNvSpPr/>
          <p:nvPr/>
        </p:nvSpPr>
        <p:spPr>
          <a:xfrm>
            <a:off x="644426" y="2394496"/>
            <a:ext cx="579726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Triple Loop — 하네스의 3개 피드백 사이클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644426" y="2594521"/>
            <a:ext cx="1674465" cy="358676"/>
          </a:xfrm>
          <a:prstGeom prst="roundRect">
            <a:avLst>
              <a:gd name="adj" fmla="val 14163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731212" y="2670721"/>
            <a:ext cx="150089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Loop</a:t>
            </a:r>
            <a:endParaRPr lang="en-US" sz="700" dirty="0"/>
          </a:p>
        </p:txBody>
      </p:sp>
      <p:sp>
        <p:nvSpPr>
          <p:cNvPr id="14" name="Text 11"/>
          <p:cNvSpPr/>
          <p:nvPr/>
        </p:nvSpPr>
        <p:spPr>
          <a:xfrm>
            <a:off x="731212" y="2791271"/>
            <a:ext cx="150089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 → CANNOT → 다음 설계</a:t>
            </a:r>
            <a:endParaRPr lang="en-US" sz="600" dirty="0"/>
          </a:p>
        </p:txBody>
      </p:sp>
      <p:sp>
        <p:nvSpPr>
          <p:cNvPr id="15" name="Text 12"/>
          <p:cNvSpPr/>
          <p:nvPr/>
        </p:nvSpPr>
        <p:spPr>
          <a:xfrm>
            <a:off x="2420392" y="2702421"/>
            <a:ext cx="129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2648992" y="2594521"/>
            <a:ext cx="1674465" cy="358676"/>
          </a:xfrm>
          <a:prstGeom prst="roundRect">
            <a:avLst>
              <a:gd name="adj" fmla="val 14163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4"/>
          <p:cNvSpPr/>
          <p:nvPr/>
        </p:nvSpPr>
        <p:spPr>
          <a:xfrm>
            <a:off x="2735778" y="2670721"/>
            <a:ext cx="150089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 Loop</a:t>
            </a:r>
            <a:endParaRPr lang="en-US" sz="700" dirty="0"/>
          </a:p>
        </p:txBody>
      </p:sp>
      <p:sp>
        <p:nvSpPr>
          <p:cNvPr id="18" name="Text 15"/>
          <p:cNvSpPr/>
          <p:nvPr/>
        </p:nvSpPr>
        <p:spPr>
          <a:xfrm>
            <a:off x="2735778" y="2791271"/>
            <a:ext cx="150089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8-Step → PR → CHANGELOG</a:t>
            </a:r>
            <a:endParaRPr lang="en-US" sz="600" dirty="0"/>
          </a:p>
        </p:txBody>
      </p:sp>
      <p:sp>
        <p:nvSpPr>
          <p:cNvPr id="19" name="Text 16"/>
          <p:cNvSpPr/>
          <p:nvPr/>
        </p:nvSpPr>
        <p:spPr>
          <a:xfrm>
            <a:off x="4424958" y="2702421"/>
            <a:ext cx="129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4653558" y="2594521"/>
            <a:ext cx="1674465" cy="358676"/>
          </a:xfrm>
          <a:prstGeom prst="roundRect">
            <a:avLst>
              <a:gd name="adj" fmla="val 14163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8"/>
          <p:cNvSpPr/>
          <p:nvPr/>
        </p:nvSpPr>
        <p:spPr>
          <a:xfrm>
            <a:off x="4740344" y="2670721"/>
            <a:ext cx="150089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RUNTIME Loop</a:t>
            </a:r>
            <a:endParaRPr lang="en-US" sz="700" dirty="0"/>
          </a:p>
        </p:txBody>
      </p:sp>
      <p:sp>
        <p:nvSpPr>
          <p:cNvPr id="22" name="Text 19"/>
          <p:cNvSpPr/>
          <p:nvPr/>
        </p:nvSpPr>
        <p:spPr>
          <a:xfrm>
            <a:off x="4740344" y="2791271"/>
            <a:ext cx="150089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while(tool_use) → Hook → LEARNINGS</a:t>
            </a:r>
            <a:endParaRPr lang="en-US" sz="600" dirty="0"/>
          </a:p>
        </p:txBody>
      </p:sp>
      <p:sp>
        <p:nvSpPr>
          <p:cNvPr id="23" name="Text 20"/>
          <p:cNvSpPr/>
          <p:nvPr/>
        </p:nvSpPr>
        <p:spPr>
          <a:xfrm>
            <a:off x="457200" y="3191173"/>
            <a:ext cx="6058049" cy="977057"/>
          </a:xfrm>
          <a:prstGeom prst="roundRect">
            <a:avLst>
              <a:gd name="adj" fmla="val 7799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1"/>
          <p:cNvSpPr/>
          <p:nvPr/>
        </p:nvSpPr>
        <p:spPr>
          <a:xfrm>
            <a:off x="644426" y="3327648"/>
            <a:ext cx="579726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Value Propositions</a:t>
            </a:r>
            <a:endParaRPr lang="en-US" sz="800" dirty="0"/>
          </a:p>
        </p:txBody>
      </p:sp>
      <p:sp>
        <p:nvSpPr>
          <p:cNvPr id="25" name="Text 22"/>
          <p:cNvSpPr/>
          <p:nvPr/>
        </p:nvSpPr>
        <p:spPr>
          <a:xfrm>
            <a:off x="644426" y="3568750"/>
            <a:ext cx="38100" cy="38100"/>
          </a:xfrm>
          <a:prstGeom prst="roundRect">
            <a:avLst>
              <a:gd name="adj" fmla="val 2400000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3"/>
          <p:cNvSpPr/>
          <p:nvPr/>
        </p:nvSpPr>
        <p:spPr>
          <a:xfrm>
            <a:off x="784027" y="3505349"/>
            <a:ext cx="2943037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Scaffold: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23 CANNOT + 21 Skills로 LLM 자율성과 제어의 균형을 잡는 방법론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644426" y="3765352"/>
            <a:ext cx="38100" cy="38100"/>
          </a:xfrm>
          <a:prstGeom prst="roundRect">
            <a:avLst>
              <a:gd name="adj" fmla="val 2400000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5"/>
          <p:cNvSpPr/>
          <p:nvPr/>
        </p:nvSpPr>
        <p:spPr>
          <a:xfrm>
            <a:off x="784027" y="3701951"/>
            <a:ext cx="3118676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Autonomous: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50R × 200T 장기 실행을 비용 상한 + 수렴 감지로 안정 운용하는 기술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644426" y="3961954"/>
            <a:ext cx="38100" cy="38100"/>
          </a:xfrm>
          <a:prstGeom prst="roundRect">
            <a:avLst>
              <a:gd name="adj" fmla="val 2400000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7"/>
          <p:cNvSpPr/>
          <p:nvPr/>
        </p:nvSpPr>
        <p:spPr>
          <a:xfrm>
            <a:off x="784027" y="3898553"/>
            <a:ext cx="2887173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Portable: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GEODE → REODE 이식 — 하네스가 도메인을 선택하지 않는 구조</a:t>
            </a:r>
            <a:endParaRPr lang="en-US" sz="700" dirty="0"/>
          </a:p>
        </p:txBody>
      </p:sp>
      <p:pic>
        <p:nvPicPr>
          <p:cNvPr id="31" name="Image 1" descr="/Users/mango/workspace/portfolio/geode/versions/v6/slides/assets/masco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4149" y="566142"/>
            <a:ext cx="1396901" cy="1396901"/>
          </a:xfrm>
          <a:prstGeom prst="rect">
            <a:avLst/>
          </a:prstGeom>
        </p:spPr>
      </p:pic>
      <p:sp>
        <p:nvSpPr>
          <p:cNvPr id="32" name="Text 28"/>
          <p:cNvSpPr/>
          <p:nvPr/>
        </p:nvSpPr>
        <p:spPr>
          <a:xfrm>
            <a:off x="6718399" y="2089993"/>
            <a:ext cx="1968401" cy="1273076"/>
          </a:xfrm>
          <a:prstGeom prst="roundRect">
            <a:avLst>
              <a:gd name="adj" fmla="val 5986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29"/>
          <p:cNvSpPr/>
          <p:nvPr/>
        </p:nvSpPr>
        <p:spPr>
          <a:xfrm>
            <a:off x="6863879" y="2251918"/>
            <a:ext cx="167744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류지환</a:t>
            </a:r>
            <a:endParaRPr lang="en-US" sz="1300" dirty="0"/>
          </a:p>
        </p:txBody>
      </p:sp>
      <p:sp>
        <p:nvSpPr>
          <p:cNvPr id="34" name="Text 30"/>
          <p:cNvSpPr/>
          <p:nvPr/>
        </p:nvSpPr>
        <p:spPr>
          <a:xfrm>
            <a:off x="6863879" y="2528143"/>
            <a:ext cx="167744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Harness Engineer</a:t>
            </a:r>
            <a:endParaRPr lang="en-US" sz="800" dirty="0"/>
          </a:p>
        </p:txBody>
      </p:sp>
      <p:sp>
        <p:nvSpPr>
          <p:cNvPr id="35" name="Shape 31"/>
          <p:cNvSpPr/>
          <p:nvPr/>
        </p:nvSpPr>
        <p:spPr>
          <a:xfrm>
            <a:off x="6880324" y="2723406"/>
            <a:ext cx="1644551" cy="0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6863879" y="2804368"/>
            <a:ext cx="167744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4ECD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GEODE · REODE</a:t>
            </a:r>
            <a:endParaRPr lang="en-US" sz="700" dirty="0"/>
          </a:p>
        </p:txBody>
      </p:sp>
      <p:sp>
        <p:nvSpPr>
          <p:cNvPr id="37" name="Text 33"/>
          <p:cNvSpPr/>
          <p:nvPr/>
        </p:nvSpPr>
        <p:spPr>
          <a:xfrm>
            <a:off x="6863879" y="2959894"/>
            <a:ext cx="167744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v0.31.0 · 1,160 commits</a:t>
            </a:r>
            <a:endParaRPr lang="en-US" sz="700" dirty="0"/>
          </a:p>
        </p:txBody>
      </p:sp>
      <p:sp>
        <p:nvSpPr>
          <p:cNvPr id="38" name="Text 34"/>
          <p:cNvSpPr/>
          <p:nvPr/>
        </p:nvSpPr>
        <p:spPr>
          <a:xfrm>
            <a:off x="6863879" y="3105894"/>
            <a:ext cx="167744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Feb 21 – Mar 28, 2026</a:t>
            </a:r>
            <a:endParaRPr lang="en-US" sz="700" dirty="0"/>
          </a:p>
        </p:txBody>
      </p:sp>
      <p:sp>
        <p:nvSpPr>
          <p:cNvPr id="39" name="Text 35"/>
          <p:cNvSpPr/>
          <p:nvPr/>
        </p:nvSpPr>
        <p:spPr>
          <a:xfrm>
            <a:off x="6718399" y="3490020"/>
            <a:ext cx="1968401" cy="469404"/>
          </a:xfrm>
          <a:prstGeom prst="roundRect">
            <a:avLst>
              <a:gd name="adj" fmla="val 10822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6"/>
          <p:cNvSpPr/>
          <p:nvPr/>
        </p:nvSpPr>
        <p:spPr>
          <a:xfrm>
            <a:off x="6828205" y="3591520"/>
            <a:ext cx="1748790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감사합니다.</a:t>
            </a:r>
            <a:endParaRPr lang="en-US" sz="700" dirty="0"/>
          </a:p>
          <a:p>
            <a:pPr algn="ctr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질문은 언제든 환영합니다.</a:t>
            </a:r>
            <a:endParaRPr lang="en-US" sz="700" dirty="0"/>
          </a:p>
        </p:txBody>
      </p:sp>
      <p:sp>
        <p:nvSpPr>
          <p:cNvPr id="41" name="Text 37"/>
          <p:cNvSpPr/>
          <p:nvPr/>
        </p:nvSpPr>
        <p:spPr>
          <a:xfrm>
            <a:off x="6718399" y="4086374"/>
            <a:ext cx="1968401" cy="640259"/>
          </a:xfrm>
          <a:prstGeom prst="roundRect">
            <a:avLst>
              <a:gd name="adj" fmla="val 7934"/>
            </a:avLst>
          </a:prstGeom>
          <a:solidFill>
            <a:srgbClr val="1E293B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38"/>
          <p:cNvSpPr/>
          <p:nvPr/>
        </p:nvSpPr>
        <p:spPr>
          <a:xfrm>
            <a:off x="6837920" y="4184749"/>
            <a:ext cx="172935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Trade-off</a:t>
            </a:r>
            <a:endParaRPr lang="en-US" sz="600" dirty="0"/>
          </a:p>
        </p:txBody>
      </p:sp>
      <p:sp>
        <p:nvSpPr>
          <p:cNvPr id="43" name="Text 39"/>
          <p:cNvSpPr/>
          <p:nvPr/>
        </p:nvSpPr>
        <p:spPr>
          <a:xfrm>
            <a:off x="6837920" y="4308574"/>
            <a:ext cx="1729359" cy="319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840"/>
              </a:lnSpc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자율성을 높이면 안전 비용이 오른다. 46 Hook + 3 Brake + 5-Tier로 그 비용을 지불했고, 36일 무중단 실행이 수익이다.</a:t>
            </a:r>
            <a:endParaRPr lang="en-US" sz="600" dirty="0"/>
          </a:p>
        </p:txBody>
      </p:sp>
      <p:sp>
        <p:nvSpPr>
          <p:cNvPr id="44" name="Text 40"/>
          <p:cNvSpPr/>
          <p:nvPr/>
        </p:nvSpPr>
        <p:spPr>
          <a:xfrm>
            <a:off x="457200" y="4975324"/>
            <a:ext cx="2023708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 / OpenAI / ZhipuAI · 3 Providers · 187 Modules · 3,201 Tests</a:t>
            </a:r>
            <a:endParaRPr lang="en-US" sz="500" dirty="0"/>
          </a:p>
        </p:txBody>
      </p:sp>
      <p:sp>
        <p:nvSpPr>
          <p:cNvPr id="45" name="Text 41"/>
          <p:cNvSpPr/>
          <p:nvPr/>
        </p:nvSpPr>
        <p:spPr>
          <a:xfrm>
            <a:off x="8492728" y="4975324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 / 34</a:t>
            </a:r>
            <a:endParaRPr lang="en-US" sz="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GEODE v0.30 — Autonomous Execution Harness</dc:title>
  <dc:subject>PptxGenJS Presentation</dc:subject>
  <dc:creator>mangowhoiscloud</dc:creator>
  <cp:lastModifiedBy>mangowhoiscloud</cp:lastModifiedBy>
  <cp:revision>1</cp:revision>
  <dcterms:created xsi:type="dcterms:W3CDTF">2026-03-28T06:05:22Z</dcterms:created>
  <dcterms:modified xsi:type="dcterms:W3CDTF">2026-03-28T06:05:22Z</dcterms:modified>
</cp:coreProperties>
</file>