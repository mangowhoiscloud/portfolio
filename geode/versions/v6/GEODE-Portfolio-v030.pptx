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6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7701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99876"/>
            <a:ext cx="8425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42895" y="204639"/>
            <a:ext cx="12687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 · 1,160 커밋 · 39 릴리스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265783"/>
            <a:ext cx="2801689" cy="260152"/>
          </a:xfrm>
          <a:prstGeom prst="roundRect">
            <a:avLst>
              <a:gd name="adj" fmla="val 195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3675" y="135775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6075" y="1338709"/>
            <a:ext cx="24238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→ 50 rounds × 200 turns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652885"/>
            <a:ext cx="626983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150715"/>
            <a:ext cx="62698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 하네스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445990"/>
            <a:ext cx="6269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Autonomous Execution Harness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757041"/>
            <a:ext cx="25301" cy="355550"/>
          </a:xfrm>
          <a:prstGeom prst="roundRect">
            <a:avLst>
              <a:gd name="adj" fmla="val 50196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4002" y="2768054"/>
            <a:ext cx="9914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4002" y="2968079"/>
            <a:ext cx="991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77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77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0193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1698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1698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5814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7319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7319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435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940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2940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pic>
        <p:nvPicPr>
          <p:cNvPr id="27" name="Image 1" descr="/Users/mango/workspace/portfolio/geode/versions/v6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99" y="1430387"/>
            <a:ext cx="1777901" cy="177790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212509" y="3309789"/>
            <a:ext cx="1170533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365967" y="3420814"/>
            <a:ext cx="863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Analysis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365967" y="3573214"/>
            <a:ext cx="8636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Harness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457200" y="4930825"/>
            <a:ext cx="23027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– Mar 28, 2026 · Anthropic / OpenAI / ZhipuAI · 3 Providers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8453735" y="4930825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9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HOOK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36일의 피봇 스토리: 과제 → 탈락 → 자율 하네스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탈락이 아키텍처 피봇의 계기가 되었습니다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776710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081" y="19131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81" y="2046536"/>
            <a:ext cx="179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81" y="2211586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76081" y="237351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넥슨 코딩 과제: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76081" y="2478286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파이프라인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81" y="258306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 에이전트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66999" y="282431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3002012"/>
            <a:ext cx="2032397" cy="231577"/>
          </a:xfrm>
          <a:prstGeom prst="roundRect">
            <a:avLst>
              <a:gd name="adj" fmla="val 2193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3074938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v0.1 · 3 Provider 초기 설계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489597" y="2056061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19846" y="1776710"/>
            <a:ext cx="1141661" cy="990451"/>
          </a:xfrm>
          <a:prstGeom prst="roundRect">
            <a:avLst>
              <a:gd name="adj" fmla="val 7693"/>
            </a:avLst>
          </a:prstGeom>
          <a:solidFill>
            <a:srgbClr val="1A0A0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09116" y="1922711"/>
            <a:ext cx="7631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009116" y="2056061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09116" y="2249686"/>
            <a:ext cx="763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03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009116" y="2411611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"도메인 에이전트로는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009116" y="2516386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부족하다"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84352" y="2767161"/>
            <a:ext cx="12650" cy="177701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60650" y="2944862"/>
            <a:ext cx="659904" cy="231577"/>
          </a:xfrm>
          <a:prstGeom prst="roundRect">
            <a:avLst>
              <a:gd name="adj" fmla="val 2193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67298" y="3017788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피봇 결정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961507" y="2056061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1757" y="1776710"/>
            <a:ext cx="2032397" cy="1028551"/>
          </a:xfrm>
          <a:prstGeom prst="roundRect">
            <a:avLst>
              <a:gd name="adj" fmla="val 740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10638" y="19131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410638" y="2046536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강화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10638" y="2221111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04 – Mar 18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410638" y="238303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410638" y="24782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Compaction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10638" y="257353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3-Brake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01555" y="280526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291757" y="2982962"/>
            <a:ext cx="2032397" cy="317302"/>
          </a:xfrm>
          <a:prstGeom prst="roundRect">
            <a:avLst>
              <a:gd name="adj" fmla="val 16010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02782" y="3055888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402782" y="3141613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324154" y="2056061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54403" y="1776710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73284" y="19131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FORK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773284" y="2046536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제품화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73284" y="2221111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19 – Mar 28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773284" y="238303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→ Fork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73284" y="2478286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73284" y="258306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패스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664202" y="282431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54403" y="3002012"/>
            <a:ext cx="2032397" cy="231577"/>
          </a:xfrm>
          <a:prstGeom prst="roundRect">
            <a:avLst>
              <a:gd name="adj" fmla="val 2193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765429" y="3074938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패턴 재사용 증명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57200" y="3452664"/>
            <a:ext cx="8229600" cy="536377"/>
          </a:xfrm>
          <a:prstGeom prst="roundRect">
            <a:avLst>
              <a:gd name="adj" fmla="val 94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6250" y="3452664"/>
            <a:ext cx="0" cy="53637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700" y="3528864"/>
            <a:ext cx="80444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피봇의 결론 — Trade-off: 도메인 전문성 vs 인프라 재사용성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7700" y="3677989"/>
            <a:ext cx="8044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에이전트는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분석하는가의 문제입니다. 하네스는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오래, 안전하게 실행하는가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문제입니다.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47700" y="3808065"/>
            <a:ext cx="8044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 결과를 선택했다면 재사용성이 없는 일회성 프로젝트로 끝났다. 하네스 인프라를 선택했고 REODE 포크가 가능해졌다 — </a:t>
            </a:r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0줄, 83/83 빌드 패스</a:t>
            </a:r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56274"/>
            <a:ext cx="164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· 1,160 commits · 39 releases · 36 days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34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930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4-Axis: 장기 운용에서 모두가 시간에 따라 열화한다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539901" cy="104775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405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주장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3675" y="1152227"/>
            <a:ext cx="2312289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단독 실행은 비결정론, 컨텍스트 손실, 비용 폭발, 루프 고착 4가지 이유로 반드시 발산합니다.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3675" y="1510308"/>
            <a:ext cx="23122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수렴시키는 것이 하네스의 역할입니다. 4개 축이 없으면 자율 실행은 불가능합니다.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971526"/>
            <a:ext cx="2539901" cy="1104602"/>
          </a:xfrm>
          <a:prstGeom prst="roundRect">
            <a:avLst>
              <a:gd name="adj" fmla="val 689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210800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운용의 열화 — 실제 예시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6075" y="2276177"/>
            <a:ext cx="2114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채우면 응답 품질 저하 시작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10턴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넘으면 인사이트 휘발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drift로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변화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같은 입력 다른 출력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공백 → CUSUM이 드리프트 미감지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93675" y="2834878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4축 자동 보정이 없으면 발산은 불가피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24051" y="847576"/>
            <a:ext cx="2743200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605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87477" y="984052"/>
            <a:ext cx="1050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· Context Control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60527" y="1171277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60527" y="1339453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조립 + SHA-256 캐싱으로 정보 주입을 설계합니다. 장기 세션에서 80%/95% 임계값 compaction이 자동 발동합니다.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60527" y="2483048"/>
            <a:ext cx="2470249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49377" y="2546449"/>
            <a:ext cx="2338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PromptAssembler · CompactionHook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43451" y="847576"/>
            <a:ext cx="2743349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799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06877" y="984052"/>
            <a:ext cx="10448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2 · Execution Loop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79927" y="1171277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079927" y="1339453"/>
            <a:ext cx="251980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50 rounds × 200 turns. 비용 초과·수렴 고착·탐색 고착을 3개 자동 브레이크로 차단합니다.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79927" y="2483048"/>
            <a:ext cx="24703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68777" y="2546449"/>
            <a:ext cx="2338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AgenticLoop · SafetyBrake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124051" y="2908250"/>
            <a:ext cx="2743200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605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87477" y="3044726"/>
            <a:ext cx="826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3 · Verification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60527" y="3231952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60527" y="3400127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비결정론을 신뢰로 전환. 5-Layer 검증(Guardrails→BiasBuster→Cross-LLM→Rights→Ground Truth)으로 단일 LLM 편향을 차단합니다.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60527" y="4543871"/>
            <a:ext cx="2470249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349377" y="4607272"/>
            <a:ext cx="2338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VerificationPipeline · CrossLLM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943451" y="2908250"/>
            <a:ext cx="2743349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799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06877" y="3044726"/>
            <a:ext cx="924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· Observability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79927" y="3231952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79927" y="3400127"/>
            <a:ext cx="251980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Events가 신경계처럼 전파. TokenTracker로 실시간 비용 관측, CUSUM 드리프트 감지로 열화를 즉시 포착합니다.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79927" y="4543871"/>
            <a:ext cx="24703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68777" y="4607272"/>
            <a:ext cx="2338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HookSystem · TokenTracker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57200" y="4956274"/>
            <a:ext cx="19960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4축은 서로 보완 — 하나의 결함이 전체 자율 실행을 무너뜨립니다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 → DEV → RUNTIME + 46 Hook 신경계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스캐폴드가 자기 자신을 개발하고, RUNTIME이 자율 실행합니다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776" y="1060252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776" y="1203127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 루프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380976" y="971401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20577" y="988368"/>
            <a:ext cx="3838685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스스로 GEODE를 개발합니다. 21 Skills + CANNOT 23-Rule + Socratic Gate로 요구사항을 정제하고 1,160 커밋을 생성했습니다.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20577" y="1275011"/>
            <a:ext cx="38386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harness-for-real 해커톤 · "키보드에 손이 닿는 순간 하네스의 실패다"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410944" y="1025426"/>
            <a:ext cx="853380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12445" y="1088827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512445" y="1174552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425줄 CLAUDE.md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97510" y="1577727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834902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2776" y="2047577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776" y="2190452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루프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80976" y="1958727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20577" y="1975693"/>
            <a:ext cx="410586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AgenticLoop가 PR 단위 코드를 자율 작성합니다. 8-Step Loop(Socratic→Plan→Code→Test→Hook→Review→Merge→Learn)로 70% 테스트 비율을 유지합니다.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20577" y="2262336"/>
            <a:ext cx="41058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typecheck+lint backpressure · LEARNINGS.md 패턴 축적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672882" y="2012752"/>
            <a:ext cx="591443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74382" y="2076152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774382" y="2161877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97510" y="2565053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2822228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2776" y="3034903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776" y="3177778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실행 루프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380976" y="2946053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20577" y="2963019"/>
            <a:ext cx="421394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50 라운드. 사용자 요청 → AgenticLoop → Tool 실행 → 결과 반환. 52 Tools + 45 MCP + 46 Hook이 완전 자율 실행을 구성합니다.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520577" y="3249662"/>
            <a:ext cx="42139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Brake · Scheduler · Gateway — 사람 없이 오래 실행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778847" y="3000077"/>
            <a:ext cx="485477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80348" y="3063478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880348" y="3149203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MCP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553200" y="847576"/>
            <a:ext cx="2133600" cy="1746052"/>
          </a:xfrm>
          <a:prstGeom prst="roundRect">
            <a:avLst>
              <a:gd name="adj" fmla="val 4364"/>
            </a:avLst>
          </a:prstGeom>
          <a:solidFill>
            <a:srgbClr val="1E293B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89675" y="984052"/>
            <a:ext cx="50750" cy="1524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16626" y="998339"/>
            <a:ext cx="556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신경계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1069" y="1212652"/>
            <a:ext cx="18978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71069" y="1536502"/>
            <a:ext cx="1897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2075" y="1733252"/>
            <a:ext cx="170824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LOOP_START / LOOP_END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TOOL_BEFORE / TOOL_AFTER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MEMORY_SAVE / LEARN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CONTEXT_COMPACT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AGENT_SPAWN / RETURN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689675" y="2285702"/>
            <a:ext cx="18978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기반 핸들러 실행. 핸들러 간 에러 격리로 한 이벤트 실패가 루프를 중단시키지 않습니다.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53200" y="2669828"/>
            <a:ext cx="2133600" cy="727174"/>
          </a:xfrm>
          <a:prstGeom prst="roundRect">
            <a:avLst>
              <a:gd name="adj" fmla="val 104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64226" y="2780854"/>
            <a:ext cx="194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증강 피드백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64226" y="2936379"/>
            <a:ext cx="194977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이벤트 → MEMORY.md 인사이트 자동 축적 → 다음 세션 PromptAssembler가 반영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664226" y="3200251"/>
            <a:ext cx="1949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3-Loop가 서로 강화합니다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553200" y="3473202"/>
            <a:ext cx="2133600" cy="1099691"/>
          </a:xfrm>
          <a:prstGeom prst="roundRect">
            <a:avLst>
              <a:gd name="adj" fmla="val 4619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64226" y="3558927"/>
            <a:ext cx="194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왜 3중 루프인가?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64226" y="3689003"/>
            <a:ext cx="194977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DEV+RUNTIME 2중 루프로는 규칙이 진화하지 않는다. 같은 실수가 반복되고 패턴이 코드베이스에 남는다.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664226" y="3952875"/>
            <a:ext cx="930325" cy="397818"/>
          </a:xfrm>
          <a:prstGeom prst="roundRect">
            <a:avLst>
              <a:gd name="adj" fmla="val 957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40426" y="4003625"/>
            <a:ext cx="793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2중 루프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740426" y="4102001"/>
            <a:ext cx="79348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위반 반복 · 학습 없음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645301" y="3952875"/>
            <a:ext cx="930473" cy="397818"/>
          </a:xfrm>
          <a:prstGeom prst="roundRect">
            <a:avLst>
              <a:gd name="adj" fmla="val 957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721501" y="4003625"/>
            <a:ext cx="793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추가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721501" y="4102001"/>
            <a:ext cx="79363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규칙이 CHANGELOG에서 진화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664226" y="4401443"/>
            <a:ext cx="1949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META 루프 투자 시간 ↑ · 수익: RUNTIME 품질 복리 ↑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457200" y="4956274"/>
            <a:ext cx="28068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META가 DEV를 낳고, DEV가 RUNTIME을 완성하고, RUNTIME이 META를 강화합니다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0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WHAT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Architecture: 187 모듈이 수직 분리된 이유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계층 시스템은 테스트와 교체가 불가능 — Port/Adapter로 LLM 종속성을 분리했습니다</a:t>
            </a:r>
            <a:endParaRPr lang="en-US" sz="800" dirty="0"/>
          </a:p>
        </p:txBody>
      </p:sp>
      <p:pic>
        <p:nvPicPr>
          <p:cNvPr id="6" name="Image 0" descr="/Users/mango/workspace/portfolio/geode/versions/v6/slides/assets/v028-diagram-3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847576"/>
            <a:ext cx="5334000" cy="2476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14606" y="3374827"/>
            <a:ext cx="14289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수직 분리 · Hook이 모든 계층을 횡단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527899" y="847576"/>
            <a:ext cx="2158901" cy="5715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89824" y="971401"/>
            <a:ext cx="4754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257455" y="1020663"/>
            <a:ext cx="7998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257455" y="1160264"/>
            <a:ext cx="7998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하위 계층별 분리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527899" y="1495276"/>
            <a:ext cx="2158901" cy="5715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89824" y="16191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02078" y="1668363"/>
            <a:ext cx="6699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102078" y="1807964"/>
            <a:ext cx="669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횡단 관측 신경계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527899" y="2142976"/>
            <a:ext cx="2158901" cy="993577"/>
          </a:xfrm>
          <a:prstGeom prst="roundRect">
            <a:avLst>
              <a:gd name="adj" fmla="val 76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89824" y="2266801"/>
            <a:ext cx="18717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계층별 역할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816775" y="2434977"/>
            <a:ext cx="1708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Gateway: 채널 입력 라우팅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Orchestrator: AgenticLoop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Tool/Agent: 52 Tools + Sub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LLM: 3-Provider Failover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Memory: 4-Tier 학습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689824" y="2927003"/>
            <a:ext cx="18717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→ LLM 교체 시 나머지 불변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527899" y="3212753"/>
            <a:ext cx="2158901" cy="1105942"/>
          </a:xfrm>
          <a:prstGeom prst="roundRect">
            <a:avLst>
              <a:gd name="adj" fmla="val 6890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89824" y="3336578"/>
            <a:ext cx="18717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6-Layer인가?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689824" y="3504754"/>
            <a:ext cx="1871752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3-Layer(Presentation/Business/Data)는 에이전트에 맞지 않는다. 도구·메모리·오케스트레이션이 독립적으로 교체되어야 한다.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816775" y="3875187"/>
            <a:ext cx="1708100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교체 → L4만 변경, 나머지 불변</a:t>
            </a:r>
            <a:endParaRPr lang="en-US" sz="600" dirty="0"/>
          </a:p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백엔드 교체 → L5만 변경</a:t>
            </a:r>
            <a:endParaRPr lang="en-US" sz="600" dirty="0"/>
          </a:p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 → L3만 확장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57200" y="4956274"/>
            <a:ext cx="160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modules · 3,201 tests · 46 hooks · v0.31.0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2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EXECUTION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AgenticLoop: while(tool_use) 50 rounds × 200-turn Window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패턴을 참고해 설계 — 5가지 경로로만 종료합니다</a:t>
            </a:r>
            <a:endParaRPr lang="en-US" sz="800" dirty="0"/>
          </a:p>
        </p:txBody>
      </p:sp>
      <p:pic>
        <p:nvPicPr>
          <p:cNvPr id="6" name="Image 0" descr="/Users/mango/workspace/portfolio/geode/versions/v6/slides/assets/v028-diagram-agentic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838051"/>
            <a:ext cx="5079950" cy="2362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48678" y="3251002"/>
            <a:ext cx="1458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실행 흐름 · 루프백 + 5 종료 경로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26250" y="838051"/>
            <a:ext cx="2260550" cy="600075"/>
          </a:xfrm>
          <a:prstGeom prst="roundRect">
            <a:avLst>
              <a:gd name="adj" fmla="val 1269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83497" y="961876"/>
            <a:ext cx="477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497" y="1228576"/>
            <a:ext cx="477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Rounds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182892" y="961876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17813" y="961876"/>
            <a:ext cx="477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7813" y="1228576"/>
            <a:ext cx="4772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Window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917359" y="961876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52280" y="961876"/>
            <a:ext cx="477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52280" y="1228576"/>
            <a:ext cx="4772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Paths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426250" y="1514326"/>
            <a:ext cx="2260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88175" y="1638151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715125" y="1806327"/>
            <a:ext cx="18097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end_turn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LLM이 tool_use 없이 응답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50라운드 도달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동일 에러 3회 반복 감지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force_text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잔여 2라운드에서 텍스트 강제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budget_stop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세션 비용 상한 초과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426250" y="2587377"/>
            <a:ext cx="2260550" cy="851148"/>
          </a:xfrm>
          <a:prstGeom prst="roundRect">
            <a:avLst>
              <a:gd name="adj" fmla="val 895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588175" y="2711202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8175" y="2879378"/>
            <a:ext cx="197543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메시지 초과 시 최초 사용자 메시지 보존 + bridge 삽입. 80%에서 compact, 95%에서 emergency prune 자동 발동.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588175" y="3143250"/>
            <a:ext cx="19754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2회 연속 실패 → Provider 모델 체인 → Cross-Provider Fallback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426250" y="3514725"/>
            <a:ext cx="2260550" cy="1127075"/>
          </a:xfrm>
          <a:prstGeom prst="roundRect">
            <a:avLst>
              <a:gd name="adj" fmla="val 6761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588175" y="3638550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max 50 rounds?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588175" y="3794075"/>
            <a:ext cx="1975434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기반: 평균 </a:t>
            </a:r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라운드</a:t>
            </a:r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자연 종료(end_turn). 50은 탈출 불가 상황의 안전망 — 긴 분석 작업에서 드물게 30+ 라운드 도달.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588175" y="4164509"/>
            <a:ext cx="611684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659782" y="4215259"/>
            <a:ext cx="4684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59782" y="4381500"/>
            <a:ext cx="468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라운드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250609" y="4164509"/>
            <a:ext cx="611832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322214" y="4215259"/>
            <a:ext cx="46862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22214" y="4381500"/>
            <a:ext cx="4686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분석 시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913191" y="4164509"/>
            <a:ext cx="611684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984799" y="4215259"/>
            <a:ext cx="4684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984799" y="4381500"/>
            <a:ext cx="468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안전망 상한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57200" y="4956274"/>
            <a:ext cx="25674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while(tool_use) 패턴 참고 · core/orchestration/agentic_loop.py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1921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실행의 3대 위험과 자동 브레이크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자율성과 안전의 균형 — 사람 없이 하네스를 보호하는 3가지 메커니즘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2675483" cy="3724721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698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8475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3675" y="1288852"/>
            <a:ext cx="2402532" cy="655290"/>
          </a:xfrm>
          <a:prstGeom prst="roundRect">
            <a:avLst>
              <a:gd name="adj" fmla="val 7752"/>
            </a:avLst>
          </a:prstGeom>
          <a:solidFill>
            <a:srgbClr val="1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1365052"/>
            <a:ext cx="2243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— 실제 비용 계산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95176" y="1495127"/>
            <a:ext cx="2243521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특성상 비용 폭발은 구조적으로 불가피.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50라운드 × $0.15/turn = 세션당 $7.50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budget 초과 시 자동 정지가 없으면 하룻밤 무인 실행에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$500+ 소모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가능.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3675" y="2007543"/>
            <a:ext cx="2402532" cy="674340"/>
          </a:xfrm>
          <a:prstGeom prst="roundRect">
            <a:avLst>
              <a:gd name="adj" fmla="val 7533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701" y="2093268"/>
            <a:ext cx="22240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 — 인과 흐름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04701" y="2223343"/>
            <a:ext cx="222409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TokenTracker가 매 턴 비용 누적 → budget 상한 도달 시 budget_stop 신호 → LOOP_END 강제 발화. 사람 없이 비용 상한을 보장합니다.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3675" y="4156621"/>
            <a:ext cx="2402532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051" y="4216896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P3 원칙 적용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92051" y="4302621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budget_stop → LOOP_END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234184" y="860375"/>
            <a:ext cx="2675632" cy="3724721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70659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56682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75459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70659" y="1288852"/>
            <a:ext cx="2402681" cy="531019"/>
          </a:xfrm>
          <a:prstGeom prst="roundRect">
            <a:avLst>
              <a:gd name="adj" fmla="val 9567"/>
            </a:avLst>
          </a:prstGeom>
          <a:solidFill>
            <a:srgbClr val="1A0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72160" y="1365052"/>
            <a:ext cx="22436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— 수렴 고착의 비용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72160" y="1495127"/>
            <a:ext cx="224367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동일한 에러를 반복하면 50 rounds 전체를 낭비. 동일 요청에 $7.50를 태우고 실패를 반환합니다.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70659" y="1883271"/>
            <a:ext cx="2402681" cy="674340"/>
          </a:xfrm>
          <a:prstGeom prst="roundRect">
            <a:avLst>
              <a:gd name="adj" fmla="val 7533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81685" y="1968996"/>
            <a:ext cx="22242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 — 인과 흐름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81685" y="2099072"/>
            <a:ext cx="2224242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→ 수렴 판정 → Haiku→Sonnet→Opus 상위 모델 에스컬레이션 → 모델 체인 소진 시 Cross-Provider 자동 이동.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370659" y="4156621"/>
            <a:ext cx="2402681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69035" y="4216896"/>
            <a:ext cx="2250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P4 원칙 적용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469035" y="4302621"/>
            <a:ext cx="2250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→ model escalation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11317" y="860375"/>
            <a:ext cx="2675483" cy="3724721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47792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33815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52592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고착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7792" y="1288852"/>
            <a:ext cx="2402532" cy="531019"/>
          </a:xfrm>
          <a:prstGeom prst="roundRect">
            <a:avLst>
              <a:gd name="adj" fmla="val 9567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49293" y="1365052"/>
            <a:ext cx="2243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— 탐색 편향의 결과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49293" y="1495127"/>
            <a:ext cx="224352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도구만 반복 호출하면 탐색 공간이 좁아지고, 다른 접근법으로 해결 가능한 문제를 50 rounds 내내 놓칩니다.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47792" y="1883271"/>
            <a:ext cx="2402532" cy="550069"/>
          </a:xfrm>
          <a:prstGeom prst="roundRect">
            <a:avLst>
              <a:gd name="adj" fmla="val 9235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58818" y="1968996"/>
            <a:ext cx="22240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 — 인과 흐름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58818" y="2099072"/>
            <a:ext cx="222409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반복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→ Hook이 hint 메시지 자동 주입 → LLM이 다른 도구 경로를 탐색. 다양성을 구조적으로 강제합니다.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47792" y="4156621"/>
            <a:ext cx="2402532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46168" y="4216896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다양성 강제 (Diversity Forcing)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246168" y="4302621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tool_repeat_5x → hint_inject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57200" y="4686598"/>
            <a:ext cx="8229600" cy="206276"/>
          </a:xfrm>
          <a:prstGeom prst="roundRect">
            <a:avLst>
              <a:gd name="adj" fmla="val 2462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76250" y="4686598"/>
            <a:ext cx="0" cy="206276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250" y="4737348"/>
            <a:ext cx="80963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자율성 vs 안전: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브레이크가 강할수록 자율 실행 범위가 줄어듭니다. 3가지 임계값(budget 한도, 수렴 횟수 3회, 반복 횟수 5회)은 사용자가 조정 가능합니다. 기본값은 실험적으로 도출했습니다.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57200" y="4956274"/>
            <a:ext cx="23875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자동 브레이크 → 사람 없이 장기 실행 가능 · core/orchestration/safety.py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장시간 운용을 위한 2가지 혁신: Plan-first + Provider-aware Compaction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작업의 사전 계획 + 컨텍스트 포화를 프로바이더별 전략으로 해결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50" y="877788"/>
            <a:ext cx="907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1 · Plan-first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14276"/>
            <a:ext cx="3981450" cy="3521571"/>
          </a:xfrm>
          <a:prstGeom prst="roundRect">
            <a:avLst>
              <a:gd name="adj" fmla="val 2164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1250752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7500" y="1346002"/>
            <a:ext cx="2331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022300" y="1336477"/>
            <a:ext cx="599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요청 수신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590377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7500" y="167610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복잡도 판별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5719" y="1685627"/>
            <a:ext cx="3392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steps?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93675" y="1930003"/>
            <a:ext cx="1822549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8696" y="2015728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요청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88696" y="2126754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실행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479625" y="1930003"/>
            <a:ext cx="1822549" cy="368201"/>
          </a:xfrm>
          <a:prstGeom prst="roundRect">
            <a:avLst>
              <a:gd name="adj" fmla="val 13797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74646" y="2015728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 요청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574646" y="2126754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create_plan 자발 호출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3675" y="2361605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7500" y="2456855"/>
            <a:ext cx="4261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11461" y="2447330"/>
            <a:ext cx="13647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계획 승인 대기 → 확인 후 실행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3675" y="2714030"/>
            <a:ext cx="3708499" cy="323552"/>
          </a:xfrm>
          <a:prstGeom prst="roundRect">
            <a:avLst>
              <a:gd name="adj" fmla="val 15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5176" y="2777430"/>
            <a:ext cx="35756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방향으로 50 rounds를 소모하기 전에 사람이 개입할 수 있습니다.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95176" y="2888456"/>
            <a:ext cx="35756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LLM.create_plan() → user_approval_gate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565600" y="860375"/>
            <a:ext cx="12650" cy="3775472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5201" y="860375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2152" y="877788"/>
            <a:ext cx="1950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2 · Provider-aware Compaction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5201" y="1114276"/>
            <a:ext cx="3981599" cy="3521571"/>
          </a:xfrm>
          <a:prstGeom prst="roundRect">
            <a:avLst>
              <a:gd name="adj" fmla="val 216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41677" y="1250752"/>
            <a:ext cx="3708648" cy="285750"/>
          </a:xfrm>
          <a:prstGeom prst="roundRect">
            <a:avLst>
              <a:gd name="adj" fmla="val 17778"/>
            </a:avLst>
          </a:prstGeom>
          <a:solidFill>
            <a:srgbClr val="1A1500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65502" y="133647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45001" y="1341239"/>
            <a:ext cx="14711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 포화 → 프로바이더 분기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41677" y="1599902"/>
            <a:ext cx="1822549" cy="2512516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2702" y="1710928"/>
            <a:ext cx="16325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952702" y="1856929"/>
            <a:ext cx="16325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서버사이드 compaction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52702" y="2014240"/>
            <a:ext cx="163250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compact_20260112 + clear_tool_uses. API가 직접 컨텍스트를 압축.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952702" y="3814167"/>
            <a:ext cx="1600498" cy="187226"/>
          </a:xfrm>
          <a:prstGeom prst="roundRect">
            <a:avLst>
              <a:gd name="adj" fmla="val 20350"/>
            </a:avLst>
          </a:prstGeom>
          <a:solidFill>
            <a:srgbClr val="0D2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28902" y="3864918"/>
            <a:ext cx="14770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최상 / API 종속적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727627" y="1599902"/>
            <a:ext cx="1822698" cy="2512516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38652" y="1710928"/>
            <a:ext cx="1632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GLM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38652" y="1856929"/>
            <a:ext cx="16326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클라이언트사이드 compaction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838652" y="2014240"/>
            <a:ext cx="163265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요약 기반 압축. 80% 도달 시 직접 요약 삽입.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838652" y="3814167"/>
            <a:ext cx="1600646" cy="187226"/>
          </a:xfrm>
          <a:prstGeom prst="roundRect">
            <a:avLst>
              <a:gd name="adj" fmla="val 20350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914852" y="3864918"/>
            <a:ext cx="14772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범용적 / lossy 손실 있음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841677" y="4175820"/>
            <a:ext cx="3708648" cy="323552"/>
          </a:xfrm>
          <a:prstGeom prst="roundRect">
            <a:avLst>
              <a:gd name="adj" fmla="val 15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943177" y="4239220"/>
            <a:ext cx="35757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context_action.py hook이 프로바이더를 감지하여 전략을 자동 선택합니다.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943177" y="4350246"/>
            <a:ext cx="35757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context_action.py → provider_strategy()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57200" y="4686598"/>
            <a:ext cx="8229600" cy="206276"/>
          </a:xfrm>
          <a:prstGeom prst="roundRect">
            <a:avLst>
              <a:gd name="adj" fmla="val 2462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476250" y="4686598"/>
            <a:ext cx="0" cy="206276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2250" y="4737348"/>
            <a:ext cx="80963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서버사이드 compaction은 API 종속적이지만 품질 최상. 클라이언트는 범용적이지만 lossy. Plan-first는 자율성을 일부 제한하지만 잘못된 방향의 50 rounds 낭비를 사전 차단합니다.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56274"/>
            <a:ext cx="23590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core/context/context_action.py · core/orchestration/plan_manager.py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34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19380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SCHEDULER + GATEWAY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Gateway: 시간 기반 자율 실행과 채널 라우팅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격리로 메인 대화 오염 방지 · 채널 무관 단일 세션 관리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50750" cy="1524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50" y="874663"/>
            <a:ext cx="1464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— 시간 기반 자율 실행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88975"/>
            <a:ext cx="3981450" cy="939701"/>
          </a:xfrm>
          <a:prstGeom prst="roundRect">
            <a:avLst>
              <a:gd name="adj" fmla="val 810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1025" y="1212800"/>
            <a:ext cx="17941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 유형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07975" y="1368326"/>
            <a:ext cx="16320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특정 시각 1회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간격 반복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cron 표현식 실행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81025" y="1733401"/>
            <a:ext cx="17941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Parser: "매일 오전 9시에 리포트 생성" → AT/EVERY/CRON으로 파싱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441525" y="1212800"/>
            <a:ext cx="12650" cy="69205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55677" y="1212800"/>
            <a:ext cx="17943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55677" y="1368326"/>
            <a:ext cx="1794331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파싱 → action_queue 등록 → 트리거 시각 도달 → AgenticLoop 위임. 큐 관리로 동시 실행 충돌을 방지합니다.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555677" y="1738759"/>
            <a:ext cx="17943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action_queue → AgenticLoop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2104876"/>
            <a:ext cx="3981450" cy="980629"/>
          </a:xfrm>
          <a:prstGeom prst="roundRect">
            <a:avLst>
              <a:gd name="adj" fmla="val 7771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" y="225563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7975" y="2228701"/>
            <a:ext cx="12479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 (isolated=True)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81025" y="2488853"/>
            <a:ext cx="1092101" cy="231577"/>
          </a:xfrm>
          <a:prstGeom prst="roundRect">
            <a:avLst>
              <a:gd name="adj" fmla="val 2193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0447" y="2561779"/>
            <a:ext cx="9132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트리거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723876" y="253320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01726" y="2396877"/>
            <a:ext cx="1092250" cy="415677"/>
          </a:xfrm>
          <a:prstGeom prst="roundRect">
            <a:avLst>
              <a:gd name="adj" fmla="val 1222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991146" y="2469803"/>
            <a:ext cx="913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ConversationContext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991146" y="2653903"/>
            <a:ext cx="9134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isolated=True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044726" y="253320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22575" y="2439739"/>
            <a:ext cx="1092250" cy="329952"/>
          </a:xfrm>
          <a:prstGeom prst="roundRect">
            <a:avLst>
              <a:gd name="adj" fmla="val 1539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11996" y="2512665"/>
            <a:ext cx="9134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311996" y="2611041"/>
            <a:ext cx="9134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실행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81025" y="2875955"/>
            <a:ext cx="3808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 기본값 — 메인 대화 컨텍스트를 오염시키지 않습니다. systemEvent로 메인에 결과 주입도 가능합니다.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565600" y="860375"/>
            <a:ext cx="12650" cy="3775472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05201" y="860375"/>
            <a:ext cx="50750" cy="1524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32152" y="874663"/>
            <a:ext cx="12718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— 채널 무관 라우팅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05201" y="1088975"/>
            <a:ext cx="3981599" cy="3546872"/>
          </a:xfrm>
          <a:prstGeom prst="roundRect">
            <a:avLst>
              <a:gd name="adj" fmla="val 214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9026" y="1212800"/>
            <a:ext cx="885825" cy="339477"/>
          </a:xfrm>
          <a:prstGeom prst="roundRect">
            <a:avLst>
              <a:gd name="adj" fmla="val 149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94552" y="1285726"/>
            <a:ext cx="7547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94552" y="1393627"/>
            <a:ext cx="7547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이벤트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778252" y="1212800"/>
            <a:ext cx="885974" cy="339477"/>
          </a:xfrm>
          <a:prstGeom prst="roundRect">
            <a:avLst>
              <a:gd name="adj" fmla="val 149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843777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843777" y="1393627"/>
            <a:ext cx="754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알림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727627" y="1212800"/>
            <a:ext cx="885974" cy="339477"/>
          </a:xfrm>
          <a:prstGeom prst="roundRect">
            <a:avLst>
              <a:gd name="adj" fmla="val 149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93151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93151" y="1393627"/>
            <a:ext cx="754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입력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677001" y="1212800"/>
            <a:ext cx="885974" cy="339477"/>
          </a:xfrm>
          <a:prstGeom prst="roundRect">
            <a:avLst>
              <a:gd name="adj" fmla="val 1496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742526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742526" y="1393627"/>
            <a:ext cx="7549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API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791687" y="1615678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29026" y="1821954"/>
            <a:ext cx="3733949" cy="377726"/>
          </a:xfrm>
          <a:prstGeom prst="roundRect">
            <a:avLst>
              <a:gd name="adj" fmla="val 13449"/>
            </a:avLst>
          </a:prstGeom>
          <a:solidFill>
            <a:srgbClr val="1A1A2E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917988" y="1907679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917988" y="2028230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어댑터 → 표준 메시지 변환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791687" y="2263080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29026" y="2469356"/>
            <a:ext cx="1835200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940052" y="2555081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940052" y="2666107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채널:사용자 조합으로 세션 식별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727627" y="2469356"/>
            <a:ext cx="183534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838652" y="2555081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838652" y="2666107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간 처리 순서 보장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791687" y="2900958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829026" y="3107234"/>
            <a:ext cx="3733949" cy="377726"/>
          </a:xfrm>
          <a:prstGeom prst="roundRect">
            <a:avLst>
              <a:gd name="adj" fmla="val 13449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917988" y="3192959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917988" y="3313509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단일 진입점 — 채널 추가 시 어댑터 1개만 구현하면 됩니다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57200" y="4686598"/>
            <a:ext cx="8229600" cy="206276"/>
          </a:xfrm>
          <a:prstGeom prst="roundRect">
            <a:avLst>
              <a:gd name="adj" fmla="val 2462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476250" y="4686598"/>
            <a:ext cx="0" cy="206276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2250" y="4737348"/>
            <a:ext cx="80963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Cron은 격리가 기본 — 메인 대화 오염 방지. 단, systemEvent로 메인 주입도 가능하여 격리와 연계를 선택할 수 있습니다. Gateway는 채널 추가 시 어댑터 1개만 구현하면 됩니다.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57200" y="4956274"/>
            <a:ext cx="2664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core/scheduler/ · core/gateway/ · isolated=True → fresh ConversationContext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34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LLM tool_use → ToolExecutor 단일 진입점 → 4-Route 분기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 블록을 반환하는 순간, 모든 실행 경로는 ToolExecutor 하나로 수렴한다.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486400" cy="1501378"/>
          </a:xfrm>
          <a:prstGeom prst="roundRect">
            <a:avLst>
              <a:gd name="adj" fmla="val 33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5291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FLOW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79153"/>
            <a:ext cx="1396901" cy="345877"/>
          </a:xfrm>
          <a:prstGeom prst="roundRect">
            <a:avLst>
              <a:gd name="adj" fmla="val 1468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62" y="1152079"/>
            <a:ext cx="11464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62" y="1266379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tool_use 반환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079427" y="118065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2726" y="1079153"/>
            <a:ext cx="3511748" cy="345877"/>
          </a:xfrm>
          <a:prstGeom prst="roundRect">
            <a:avLst>
              <a:gd name="adj" fmla="val 14687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86813" y="1152079"/>
            <a:ext cx="33035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ToolExecutor.execute()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86813" y="1266379"/>
            <a:ext cx="33035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— 모든 도구 디스패치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54444" y="1488430"/>
            <a:ext cx="52919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도구 유형 판별 → 4경로 분기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06326" y="1637556"/>
            <a:ext cx="1249412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1271" y="1735931"/>
            <a:ext cx="1099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2051" y="1869281"/>
            <a:ext cx="109952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 계열 — 3-layer safety + PolicyChain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19139" y="1637556"/>
            <a:ext cx="1249561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94083" y="1735931"/>
            <a:ext cx="1099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004864" y="1869281"/>
            <a:ext cx="1099673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 매칭 — 52 native tools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232100" y="1637556"/>
            <a:ext cx="1249412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07046" y="1735931"/>
            <a:ext cx="1099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17825" y="1869281"/>
            <a:ext cx="109952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catalog 서버 auto-discovery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544913" y="1637556"/>
            <a:ext cx="1249561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19857" y="1735931"/>
            <a:ext cx="1099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30638" y="1869281"/>
            <a:ext cx="1099673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 → 13-task StateGraph 실행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2368004"/>
            <a:ext cx="5486400" cy="2569220"/>
          </a:xfrm>
          <a:prstGeom prst="roundRect">
            <a:avLst>
              <a:gd name="adj" fmla="val 197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6326" y="2479030"/>
            <a:ext cx="52919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— 2개 이상 tool_use 시 ToolCallProcessor 분류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6326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0740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0740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70740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완전 병렬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1654076" y="2666256"/>
            <a:ext cx="997148" cy="533846"/>
          </a:xfrm>
          <a:prstGeom prst="roundRect">
            <a:avLst>
              <a:gd name="adj" fmla="val 9516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718489" y="2751981"/>
            <a:ext cx="868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18489" y="2891582"/>
            <a:ext cx="8683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718489" y="3015407"/>
            <a:ext cx="86832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 자동 승인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70197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76638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6638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76638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일괄 승인 후 병렬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74972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81413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1413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81413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 승인 순차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79747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6188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6188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86188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사용자 에스컬레이션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057900" y="790426"/>
            <a:ext cx="2628900" cy="1425029"/>
          </a:xfrm>
          <a:prstGeom prst="roundRect">
            <a:avLst>
              <a:gd name="adj" fmla="val 356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07026" y="901452"/>
            <a:ext cx="23772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 Chain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07026" y="1079153"/>
            <a:ext cx="23772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→ 자동 복구 체인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6207026" y="1228279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290669" y="1266379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Retry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994327" y="1266379"/>
            <a:ext cx="10360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 backoff 동일 도구 재시도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07026" y="1460004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4ECDC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290669" y="1498104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Alt Tool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994327" y="1498104"/>
            <a:ext cx="8596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카테고리 대체 도구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07026" y="1691729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90669" y="1729829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Fallback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994327" y="1729829"/>
            <a:ext cx="7813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저렴한 도구로 강등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07026" y="1923455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290669" y="1961555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Escalate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994327" y="1961555"/>
            <a:ext cx="7309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에스컬레이션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057900" y="2291655"/>
            <a:ext cx="2628900" cy="688479"/>
          </a:xfrm>
          <a:prstGeom prst="roundRect">
            <a:avLst>
              <a:gd name="adj" fmla="val 73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076950" y="2291655"/>
            <a:ext cx="0" cy="688479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22950" y="2367855"/>
            <a:ext cx="2383637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병렬 실행 속도 때문에 T0-1은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완전 병렬화하고, 안전 등급 보장 때문에 T3-4는 순차 개별 승인으로 격리했다.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222950" y="2818209"/>
            <a:ext cx="2383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MAX_CONSECUTIVE_FAILURES = 2 · max_recovery = 3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57200" y="4987975"/>
            <a:ext cx="28278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· policy.py · error_recovery.py — v0.31.0 · 52 native tools · 45 MCP · 5-Tier safety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34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도구 실행 중 46개 이벤트 발화 → 리플 패턴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콜백으로는 확장 불가 → Claude Code·Devin·OpenHands 리서치 후 8카테고리 46이벤트로 개편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029200" cy="1372344"/>
          </a:xfrm>
          <a:prstGeom prst="roundRect">
            <a:avLst>
              <a:gd name="adj" fmla="val 370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90426"/>
            <a:ext cx="0" cy="1372344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891927"/>
            <a:ext cx="477031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하드코딩 콜백으로는 확장 불가. 프론티어 3종 리서치 후 </a:t>
            </a:r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8카테고리 46이벤트</a:t>
            </a:r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7225" y="1093440"/>
            <a:ext cx="4770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 실행 예시 — PIPELINE_END 발화 시: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57225" y="1236315"/>
            <a:ext cx="4676775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726" y="1291828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65027" y="1287066"/>
            <a:ext cx="17604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RunLog → runs.jsonl JSONL 기록 (L1 Observe)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57225" y="1467892"/>
            <a:ext cx="4676775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8726" y="1523405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P80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65027" y="1518642"/>
            <a:ext cx="15491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SnapshotManager → 상태 캡처 (L2 React)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57225" y="1699468"/>
            <a:ext cx="4676775" cy="206276"/>
          </a:xfrm>
          <a:prstGeom prst="roundRect">
            <a:avLst>
              <a:gd name="adj" fmla="val 1847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8726" y="1754981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65027" y="1750219"/>
            <a:ext cx="19081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MemoryWriteBack → MEMORY.md 갱신 (L2 React)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57225" y="1956495"/>
            <a:ext cx="4770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이벤트가 3개 핸들러를 Priority 순서로 관통.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57200" y="2226171"/>
            <a:ext cx="5029200" cy="2711053"/>
          </a:xfrm>
          <a:prstGeom prst="roundRect">
            <a:avLst>
              <a:gd name="adj" fmla="val 18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6326" y="2337197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EVENT CATEGORIES — 46 total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6326" y="2527548"/>
            <a:ext cx="2340025" cy="536525"/>
          </a:xfrm>
          <a:prstGeom prst="roundRect">
            <a:avLst>
              <a:gd name="adj" fmla="val 9468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4701" y="2600474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Lifecycle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4701" y="2721025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START · END · ERROR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06326" y="3114824"/>
            <a:ext cx="2340025" cy="536674"/>
          </a:xfrm>
          <a:prstGeom prst="roundRect">
            <a:avLst>
              <a:gd name="adj" fmla="val 946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4701" y="3187750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Execution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04701" y="3308300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ENTER · EXIT · RETRY · ERROR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06326" y="3702248"/>
            <a:ext cx="2340025" cy="536525"/>
          </a:xfrm>
          <a:prstGeom prst="roundRect">
            <a:avLst>
              <a:gd name="adj" fmla="val 946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4701" y="3775174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/ Verify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04701" y="3895725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 — COMPLETE · FAIL · ESCALATE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06326" y="4289524"/>
            <a:ext cx="2340025" cy="536674"/>
          </a:xfrm>
          <a:prstGeom prst="roundRect">
            <a:avLst>
              <a:gd name="adj" fmla="val 946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04701" y="4362450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Storage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04701" y="4483001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SAVE · LOAD · UPDATE · PURGE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2997101" y="2527548"/>
            <a:ext cx="2340173" cy="536525"/>
          </a:xfrm>
          <a:prstGeom prst="roundRect">
            <a:avLst>
              <a:gd name="adj" fmla="val 946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095476" y="2600474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Change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095476" y="2721025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ASSEMBLE · CACHE · UPDATE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2997101" y="3114824"/>
            <a:ext cx="2340173" cy="536674"/>
          </a:xfrm>
          <a:prstGeom prst="roundRect">
            <a:avLst>
              <a:gd name="adj" fmla="val 946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095476" y="3187750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095476" y="3308300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events — SPAWN · COMPLETE · FAIL · TIMEOUT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997101" y="3702248"/>
            <a:ext cx="2340173" cy="536525"/>
          </a:xfrm>
          <a:prstGeom prst="roundRect">
            <a:avLst>
              <a:gd name="adj" fmla="val 946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095476" y="3775174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Overflow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095476" y="3895725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80% · 95% · OVERFLOW_ACTION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997101" y="4289524"/>
            <a:ext cx="2340173" cy="536674"/>
          </a:xfrm>
          <a:prstGeom prst="roundRect">
            <a:avLst>
              <a:gd name="adj" fmla="val 946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095476" y="4362450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HITL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095476" y="4483001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REQUESTED · GRANTED · DENIED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600700" y="790426"/>
            <a:ext cx="3086100" cy="3066008"/>
          </a:xfrm>
          <a:prstGeom prst="roundRect">
            <a:avLst>
              <a:gd name="adj" fmla="val 165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49826" y="901452"/>
            <a:ext cx="2843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49826" y="1079153"/>
            <a:ext cx="2787848" cy="342751"/>
          </a:xfrm>
          <a:prstGeom prst="roundRect">
            <a:avLst>
              <a:gd name="adj" fmla="val 14821"/>
            </a:avLst>
          </a:prstGeom>
          <a:solidFill>
            <a:srgbClr val="F97316">
              <a:alpha val="6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60852" y="1139428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 — 백로그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60852" y="1256854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749826" y="1460004"/>
            <a:ext cx="2787848" cy="352276"/>
          </a:xfrm>
          <a:prstGeom prst="roundRect">
            <a:avLst>
              <a:gd name="adj" fmla="val 14421"/>
            </a:avLst>
          </a:prstGeom>
          <a:solidFill>
            <a:srgbClr val="F5C542">
              <a:alpha val="6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860852" y="1520279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 — 현재 프론티어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860852" y="1637705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749826" y="1850380"/>
            <a:ext cx="2787848" cy="352276"/>
          </a:xfrm>
          <a:prstGeom prst="roundRect">
            <a:avLst>
              <a:gd name="adj" fmla="val 14421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860852" y="1910655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 — 자동 반응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860852" y="2028081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749826" y="2240756"/>
            <a:ext cx="2787848" cy="342751"/>
          </a:xfrm>
          <a:prstGeom prst="roundRect">
            <a:avLst>
              <a:gd name="adj" fmla="val 14821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60852" y="2301032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 — 기록만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860852" y="2418457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46 events → runs.jsonl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00700" y="3919835"/>
            <a:ext cx="3086100" cy="578644"/>
          </a:xfrm>
          <a:prstGeom prst="roundRect">
            <a:avLst>
              <a:gd name="adj" fmla="val 87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624513" y="3919835"/>
            <a:ext cx="0" cy="57864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87926" y="4008686"/>
            <a:ext cx="2814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787926" y="4161086"/>
            <a:ext cx="28144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P30→P50→P85 핸들러 순서 보장.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00700" y="4561880"/>
            <a:ext cx="3086100" cy="375345"/>
          </a:xfrm>
          <a:prstGeom prst="roundRect">
            <a:avLst>
              <a:gd name="adj" fmla="val 1353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5619750" y="4561880"/>
            <a:ext cx="0" cy="37534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5750" y="4625280"/>
            <a:ext cx="284998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Observer 오버헤드 vs 확장성: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콜백보다 초기 등록 오버헤드가 있지만, 핸들러 간 에러 격리 덕분에 46이벤트가 독립적으로 확장된다.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57200" y="4987975"/>
            <a:ext cx="27332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· 46 HookEvent enum members · 8 categories · Priority-chain · StuckDetector 120s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8497491" y="4987975"/>
            <a:ext cx="193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34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delegate_task → SubAgentManager → IsolatedRunner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72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서브에이전트가 결과를 반환할 때 부모 컨텍스트가 기하급수적으로 팽창했다 — full inheritance + 4096 guard로 해결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80901"/>
            <a:ext cx="5054501" cy="912465"/>
          </a:xfrm>
          <a:prstGeom prst="roundRect">
            <a:avLst>
              <a:gd name="adj" fmla="val 55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80901"/>
            <a:ext cx="0" cy="912465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882402"/>
            <a:ext cx="47961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컨텍스트 폭발 — 실제 수치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056977"/>
            <a:ext cx="4796117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 5개가 각 8K 토큰 반환 → </a:t>
            </a:r>
            <a:pPr algn="l" indent="0" marL="0">
              <a:lnSpc>
                <a:spcPts val="1015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 토큰</a:t>
            </a:r>
            <a:pPr algn="l" indent="0" marL="0">
              <a:lnSpc>
                <a:spcPts val="1015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부모에 유입 → 압축 없이는 컨텍스트 </a:t>
            </a:r>
            <a:pPr algn="l" indent="0" marL="0">
              <a:lnSpc>
                <a:spcPts val="1015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소비</a:t>
            </a:r>
            <a:pPr algn="l" indent="0" marL="0">
              <a:lnSpc>
                <a:spcPts val="1015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57225" y="1236464"/>
            <a:ext cx="2312938" cy="355402"/>
          </a:xfrm>
          <a:prstGeom prst="roundRect">
            <a:avLst>
              <a:gd name="adj" fmla="val 10720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4439" y="1296739"/>
            <a:ext cx="21585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없음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34439" y="1426815"/>
            <a:ext cx="21585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5×8K = 40K → 부모 40% 소비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046363" y="1236464"/>
            <a:ext cx="2312938" cy="355402"/>
          </a:xfrm>
          <a:prstGeom prst="roundRect">
            <a:avLst>
              <a:gd name="adj" fmla="val 1072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23576" y="1296739"/>
            <a:ext cx="21585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 guard 적용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123576" y="1426815"/>
            <a:ext cx="21585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20K→5K </a:t>
            </a:r>
            <a:pPr algn="ctr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절감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57200" y="1769566"/>
            <a:ext cx="5054501" cy="3167658"/>
          </a:xfrm>
          <a:prstGeom prst="roundRect">
            <a:avLst>
              <a:gd name="adj" fmla="val 16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1880592"/>
            <a:ext cx="4825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full inheritance + 4096 Guard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9125" y="2071092"/>
            <a:ext cx="4730651" cy="384125"/>
          </a:xfrm>
          <a:prstGeom prst="roundRect">
            <a:avLst>
              <a:gd name="adj" fmla="val 13225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1023" y="2156817"/>
            <a:ext cx="4546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Agent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1023" y="2283768"/>
            <a:ext cx="45468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MCP · skills · memory 전체 보유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212330" y="2531418"/>
            <a:ext cx="1575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full inheritance (위임이지 파견이 아니다)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19125" y="2712393"/>
            <a:ext cx="1534567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4122" y="2798118"/>
            <a:ext cx="13645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4122" y="2918668"/>
            <a:ext cx="13645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217093" y="2712393"/>
            <a:ext cx="1534716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02088" y="2798118"/>
            <a:ext cx="13647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B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302088" y="2918668"/>
            <a:ext cx="1364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815209" y="2712393"/>
            <a:ext cx="1534567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900206" y="2798118"/>
            <a:ext cx="13645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C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900206" y="2918668"/>
            <a:ext cx="13645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224832" y="3166318"/>
            <a:ext cx="15494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반환 전 4096-token guard — 구조화 요약 압축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19125" y="3328243"/>
            <a:ext cx="4730651" cy="339477"/>
          </a:xfrm>
          <a:prstGeom prst="roundRect">
            <a:avLst>
              <a:gd name="adj" fmla="val 14964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11023" y="3401169"/>
            <a:ext cx="45468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Summary → Parent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11023" y="3509070"/>
            <a:ext cx="45468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원시 출력이 아닌 구조화 요약 반환 — 컨텍스트 폭발 방지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626001" y="780901"/>
            <a:ext cx="3060799" cy="1621631"/>
          </a:xfrm>
          <a:prstGeom prst="roundRect">
            <a:avLst>
              <a:gd name="adj" fmla="val 313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75127" y="891927"/>
            <a:ext cx="28177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동시성 제어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75127" y="1079153"/>
            <a:ext cx="276254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794177" y="1079153"/>
            <a:ext cx="0" cy="358676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27527" y="1155353"/>
            <a:ext cx="2545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 = 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927527" y="1275904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scheduling — 동시 실행 서브에이전트 최대 5개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775127" y="1501229"/>
            <a:ext cx="276254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794177" y="1501229"/>
            <a:ext cx="0" cy="35867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7527" y="1577429"/>
            <a:ext cx="2545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250ms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927527" y="1697980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 내 동일 태스크 중복 제거 — 토큰 낭비 방지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775127" y="1923306"/>
            <a:ext cx="276254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794177" y="1923306"/>
            <a:ext cx="0" cy="368201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27527" y="1999506"/>
            <a:ext cx="25457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 = 유효 컨텍스트 600K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927527" y="2129582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 독립 200K window — 깊이당 선형 확장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5626001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729552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729552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concurrent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671667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775219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775219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7717334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820885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7820885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depth-3 ctx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626001" y="3142059"/>
            <a:ext cx="3060799" cy="646956"/>
          </a:xfrm>
          <a:prstGeom prst="roundRect">
            <a:avLst>
              <a:gd name="adj" fmla="val 785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5645051" y="3142059"/>
            <a:ext cx="0" cy="646956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91051" y="3205460"/>
            <a:ext cx="28241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full inheritance vs sandbox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791051" y="3326011"/>
            <a:ext cx="2824174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격리 sandbox는 안전하지만 부모의 tools·skills·memory를 재설정해야 해서 위임의 의미를 잃는다. full inheritance + 4096 guard가 서브에이전트에게 부모의 능력을 그대로 주면서 컨텍스트 폭발을 방지했다.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57200" y="4987975"/>
            <a:ext cx="31488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SubAgentManager · IsolatedRunner · CoalescingQueue 250ms · MAX_CONCURRENT=5 · 4096 token guard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34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호출 실패 → CircuitBreaker → Cross-Provider Fallback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의존 때문에 Rate Limit·장애 시 파이프라인 전체가 중단됐다 — 3-Provider 체인으로 단일 장애점 제거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1422499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99951"/>
            <a:ext cx="142249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4150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Provider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84150" y="1250603"/>
            <a:ext cx="1168598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3001" y="1288703"/>
            <a:ext cx="1010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84150" y="1450628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2526" y="1498253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84150" y="1669703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2526" y="1717328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031950" y="1258639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34034" y="1411039"/>
            <a:ext cx="994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285851" y="790426"/>
            <a:ext cx="1422648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285851" y="799951"/>
            <a:ext cx="1422648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2802" y="923776"/>
            <a:ext cx="11921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12802" y="1088827"/>
            <a:ext cx="1192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Provider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12802" y="1250603"/>
            <a:ext cx="1168747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01652" y="1288703"/>
            <a:ext cx="10108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12802" y="1450628"/>
            <a:ext cx="1168747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11177" y="1498253"/>
            <a:ext cx="9914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GPT-5.3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412802" y="1669703"/>
            <a:ext cx="1168747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11177" y="1717328"/>
            <a:ext cx="9914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860750" y="1258639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62834" y="1411039"/>
            <a:ext cx="994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114651" y="790426"/>
            <a:ext cx="1422499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114651" y="799951"/>
            <a:ext cx="142249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41602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41602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241602" y="1250603"/>
            <a:ext cx="1168598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30452" y="1288703"/>
            <a:ext cx="1010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 / 80K ctx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241602" y="1450628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39977" y="1498253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tier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241602" y="1669703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39977" y="1717328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2041178"/>
            <a:ext cx="5079950" cy="2886521"/>
          </a:xfrm>
          <a:prstGeom prst="roundRect">
            <a:avLst>
              <a:gd name="adj" fmla="val 17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6326" y="2152204"/>
            <a:ext cx="48773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상태 머신 (Provider별 독립)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6326" y="2364730"/>
            <a:ext cx="1284089" cy="365075"/>
          </a:xfrm>
          <a:prstGeom prst="roundRect">
            <a:avLst>
              <a:gd name="adj" fmla="val 139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06731" y="2450455"/>
            <a:ext cx="108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6731" y="2558355"/>
            <a:ext cx="1083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처리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66615" y="2440930"/>
            <a:ext cx="4226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연속 실패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122884" y="25393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457152" y="2364730"/>
            <a:ext cx="1284238" cy="365075"/>
          </a:xfrm>
          <a:prstGeom prst="roundRect">
            <a:avLst>
              <a:gd name="adj" fmla="val 13915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557556" y="2450455"/>
            <a:ext cx="1083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557556" y="2558355"/>
            <a:ext cx="1083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차단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817590" y="2440930"/>
            <a:ext cx="2141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871764" y="25393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103787" y="2364730"/>
            <a:ext cx="1284238" cy="365075"/>
          </a:xfrm>
          <a:prstGeom prst="roundRect">
            <a:avLst>
              <a:gd name="adj" fmla="val 13915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204191" y="2450455"/>
            <a:ext cx="1083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204191" y="2558355"/>
            <a:ext cx="1083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06326" y="2793206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Retryable: Timeout · RateLimit · Connection — Exponential Backoff ±25% Jitter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06326" y="2942332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Non-Retryable: 잔액 부족 — 즉시 다음 Provider 에스컬레이션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51450" y="790426"/>
            <a:ext cx="3035350" cy="905321"/>
          </a:xfrm>
          <a:prstGeom prst="roundRect">
            <a:avLst>
              <a:gd name="adj" fmla="val 561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00576" y="901452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00576" y="1076027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Provider를 Port/Adapter DI로 추상화했기 때문에 Failover 시에도 메모리가 모델에 종속되지 않는다. 세션 학습이 Provider 전환 후에도 유지된다.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800576" y="1387971"/>
            <a:ext cx="2737098" cy="196751"/>
          </a:xfrm>
          <a:prstGeom prst="roundRect">
            <a:avLst>
              <a:gd name="adj" fmla="val 1936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902077" y="1443484"/>
            <a:ext cx="6064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LLMClientPort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572845" y="143872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738045" y="1443484"/>
            <a:ext cx="13059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· OpenAI · ZhipuAI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651450" y="1771948"/>
            <a:ext cx="3035350" cy="645170"/>
          </a:xfrm>
          <a:prstGeom prst="roundRect">
            <a:avLst>
              <a:gd name="adj" fmla="val 7874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800576" y="1882973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 선택 근거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800576" y="2057549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 + 무료 tier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Anthropic·OpenAI 양쪽 장애 시 비용 없이 운영 연속성을 보장한다. GLM-5 성능이 GPT-4 수준이라 응급 처리에 충분하다.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51450" y="2493318"/>
            <a:ext cx="3035350" cy="1123355"/>
          </a:xfrm>
          <a:prstGeom prst="roundRect">
            <a:avLst>
              <a:gd name="adj" fmla="val 45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670500" y="2493318"/>
            <a:ext cx="0" cy="1123355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16501" y="2569518"/>
            <a:ext cx="27982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3-Provider 유지 비용 vs 단일 장애점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816501" y="2699593"/>
            <a:ext cx="2798216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어댑터 3개 유지 비용이 있지만, 단일 Provider 장애로 파이프라인 전체가 중단되는 비용이 훨씬 크다. ZhipuAI 무료 tier 덕분에 추가 비용 없이 단일 장애점을 제거했다.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873767" y="3200698"/>
            <a:ext cx="31970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6873767" y="3454747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289759" y="3200698"/>
            <a:ext cx="21161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7289759" y="3454747"/>
            <a:ext cx="21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SPOF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57200" y="4978450"/>
            <a:ext cx="34763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Anthropic(Opus·Sonnet·Haiku) · OpenAI(GPT-5.4·5.3·4o) · ZhipuAI(GLM-5 80K) — Provider별 독립 CircuitBreaker 3-state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34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Compression: 80% WARNING → 95% CRITICAL → 3-Phase 압축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윈도우가 넘치면 루프가 강제 종료됐다 — Lossless Selection으로 정보 손실 없이 비용 0.03%로 절감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7152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압축 3-Phase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90451"/>
            <a:ext cx="462275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995214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5188" y="990451"/>
            <a:ext cx="0" cy="603945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89633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250" y="990451"/>
            <a:ext cx="0" cy="603945"/>
          </a:xfrm>
          <a:prstGeom prst="line">
            <a:avLst/>
          </a:prstGeom>
          <a:noFill/>
          <a:ln w="381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901" y="1101477"/>
            <a:ext cx="43818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MONITOR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34901" y="1234827"/>
            <a:ext cx="43818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사용률 상시 추적. 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도달 시 CONTEXT_WARNING 이벤트 발화 — 루프는 계속 진행하되 compact 준비 신호를 핸들러에게 전달한다.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051" y="1670596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861096"/>
            <a:ext cx="4622750" cy="966192"/>
          </a:xfrm>
          <a:prstGeom prst="roundRect">
            <a:avLst>
              <a:gd name="adj" fmla="val 52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1865858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5188" y="1861096"/>
            <a:ext cx="0" cy="96619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22525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6250" y="1861096"/>
            <a:ext cx="0" cy="966192"/>
          </a:xfrm>
          <a:prstGeom prst="line">
            <a:avLst/>
          </a:prstGeom>
          <a:noFill/>
          <a:ln w="381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901" y="1972121"/>
            <a:ext cx="43818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LOSSLESS SELECT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4901" y="2105471"/>
            <a:ext cx="43818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 대신 LLM이 코드로 관련 청크만 선별한다. 요약이 아니라 선택이기 때문에 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손실 0%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 호출 비용 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절감. 깊이 3이면 서브에이전트 독립 200K window로 유효 컨텍스트 600K 선형 확장.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4901" y="2417415"/>
            <a:ext cx="2116187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44426" y="2417415"/>
            <a:ext cx="0" cy="298847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801" y="2468166"/>
            <a:ext cx="19578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742801" y="2566541"/>
            <a:ext cx="195782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쉽지만 정보 소실 불가피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814489" y="2417415"/>
            <a:ext cx="2116336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824014" y="2417415"/>
            <a:ext cx="0" cy="29884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2389" y="2468166"/>
            <a:ext cx="19579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Selection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922389" y="2566541"/>
            <a:ext cx="195797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청크만 선별 — 내용 유지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743051" y="2903488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093988"/>
            <a:ext cx="462275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57200" y="3098750"/>
            <a:ext cx="46227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5188" y="3093988"/>
            <a:ext cx="0" cy="603945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693170"/>
            <a:ext cx="46227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6250" y="3093988"/>
            <a:ext cx="0" cy="60394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901" y="3205014"/>
            <a:ext cx="43818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EMERGENCY PRUNE (95%)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34901" y="3338364"/>
            <a:ext cx="43818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초과 시 CONTEXT_CRITICAL 이벤트 — 강제 pruning 발동. 최초 사용자 메시지 보존 + bridge 메시지 삽입 후 루프 재개.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" y="3774132"/>
            <a:ext cx="4622750" cy="350044"/>
          </a:xfrm>
          <a:prstGeom prst="roundRect">
            <a:avLst>
              <a:gd name="adj" fmla="val 145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6250" y="3774132"/>
            <a:ext cx="0" cy="350044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6801" y="3824883"/>
            <a:ext cx="44692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정보 손실 vs 크래시 방지: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Lossy 요약은 구현이 쉽지만 정보가 사라진다. Lossless Selection은 LLM 호출 비용이 있지만 0.03%의 비용으로 정보 손실을 막았다.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06901" y="790426"/>
            <a:ext cx="3479899" cy="1596182"/>
          </a:xfrm>
          <a:prstGeom prst="roundRect">
            <a:avLst>
              <a:gd name="adj" fmla="val 318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56027" y="914251"/>
            <a:ext cx="3245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임계값 단계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56027" y="1114276"/>
            <a:ext cx="3181648" cy="349002"/>
          </a:xfrm>
          <a:prstGeom prst="roundRect">
            <a:avLst>
              <a:gd name="adj" fmla="val 14556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492502" y="1187202"/>
            <a:ext cx="59917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0-79%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181427" y="1236315"/>
            <a:ext cx="871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 — 모니터링만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56027" y="1514029"/>
            <a:ext cx="3181648" cy="349002"/>
          </a:xfrm>
          <a:prstGeom prst="roundRect">
            <a:avLst>
              <a:gd name="adj" fmla="val 1455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492502" y="1586954"/>
            <a:ext cx="569875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152704" y="1636068"/>
            <a:ext cx="13876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— Lossless Select 준비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356027" y="1913781"/>
            <a:ext cx="3181648" cy="349002"/>
          </a:xfrm>
          <a:prstGeom prst="roundRect">
            <a:avLst>
              <a:gd name="adj" fmla="val 14556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492502" y="1986707"/>
            <a:ext cx="569875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152704" y="2035820"/>
            <a:ext cx="14582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— Emergency Prune 발동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06901" y="2462808"/>
            <a:ext cx="3479899" cy="1690539"/>
          </a:xfrm>
          <a:prstGeom prst="roundRect">
            <a:avLst>
              <a:gd name="adj" fmla="val 300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356027" y="2586633"/>
            <a:ext cx="3245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깊이별 유효 컨텍스트 선형 확장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56027" y="2810321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17878" y="2773859"/>
            <a:ext cx="2419796" cy="177701"/>
          </a:xfrm>
          <a:prstGeom prst="roundRect">
            <a:avLst>
              <a:gd name="adj" fmla="val 21441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206728" y="2815084"/>
            <a:ext cx="2167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56027" y="3038773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2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117878" y="3002310"/>
            <a:ext cx="2419796" cy="177701"/>
          </a:xfrm>
          <a:prstGeom prst="roundRect">
            <a:avLst>
              <a:gd name="adj" fmla="val 21441"/>
            </a:avLst>
          </a:prstGeom>
          <a:solidFill>
            <a:srgbClr val="818CF8">
              <a:alpha val="1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206728" y="3043535"/>
            <a:ext cx="2167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356027" y="3267224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117878" y="3230761"/>
            <a:ext cx="2419796" cy="177701"/>
          </a:xfrm>
          <a:prstGeom prst="roundRect">
            <a:avLst>
              <a:gd name="adj" fmla="val 21441"/>
            </a:avLst>
          </a:prstGeom>
          <a:solidFill>
            <a:srgbClr val="818CF8">
              <a:alpha val="2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206728" y="3267224"/>
            <a:ext cx="6966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 ← 선형 확장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356027" y="3484662"/>
            <a:ext cx="324528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서브에이전트는 부모와 독립된 200K window를 가지기 때문에 깊이가 1 증가할 때마다 200K씩 선형으로 확장된다.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06901" y="4229546"/>
            <a:ext cx="3479899" cy="698153"/>
          </a:xfrm>
          <a:prstGeom prst="roundRect">
            <a:avLst>
              <a:gd name="adj" fmla="val 7276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324210" y="4340572"/>
            <a:ext cx="324528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5324210" y="4645223"/>
            <a:ext cx="32452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Select 압축 비용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24210" y="4730948"/>
            <a:ext cx="32452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(Lossy 요약 대비 정보 손실 없음)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457200" y="4978450"/>
            <a:ext cx="323753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 80% · CONTEXT_CRITICAL 95% · Lossless Selection · Emergency Prune · bridge 메시지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34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Auto-Learning: 턴 종료 → TURN_COMPLETE hook → MEMORY.md 자동 학습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세션이 끝나면 인사이트가 휘발됐다 — PIPELINE_END 이벤트가 MEMORY.md에 자동 축적, 다음 세션에 반영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029200" cy="1346299"/>
          </a:xfrm>
          <a:prstGeom prst="roundRect">
            <a:avLst>
              <a:gd name="adj" fmla="val 377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14251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AUTO-LEARNING FEEDBACK LOOP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130052"/>
            <a:ext cx="1424583" cy="374600"/>
          </a:xfrm>
          <a:prstGeom prst="roundRect">
            <a:avLst>
              <a:gd name="adj" fmla="val 13561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8381" y="1215777"/>
            <a:ext cx="1200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턴 실행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8381" y="1333202"/>
            <a:ext cx="12004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1 turn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094309" y="126012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59360" y="1134814"/>
            <a:ext cx="1424732" cy="365075"/>
          </a:xfrm>
          <a:prstGeom prst="roundRect">
            <a:avLst>
              <a:gd name="adj" fmla="val 13915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71414" y="1220539"/>
            <a:ext cx="1200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71414" y="1328440"/>
            <a:ext cx="12006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이벤트 발화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747492" y="126012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12543" y="1134814"/>
            <a:ext cx="1424732" cy="365075"/>
          </a:xfrm>
          <a:prstGeom prst="roundRect">
            <a:avLst>
              <a:gd name="adj" fmla="val 139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24597" y="1220539"/>
            <a:ext cx="1200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024597" y="1328440"/>
            <a:ext cx="12006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자동 축적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32831" y="1568053"/>
            <a:ext cx="211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memory write-back → 다음 세션 Tier 3 주입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6326" y="1717179"/>
            <a:ext cx="4730948" cy="295721"/>
          </a:xfrm>
          <a:prstGeom prst="roundRect">
            <a:avLst>
              <a:gd name="adj" fmla="val 1717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221" y="1802904"/>
            <a:ext cx="454715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세션 시작 시 PromptAssembler P4 (memory 페이즈)가 MEMORY.md 인사이트를 프롬프트에 자동 주입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212925"/>
            <a:ext cx="5029200" cy="2724299"/>
          </a:xfrm>
          <a:prstGeom prst="roundRect">
            <a:avLst>
              <a:gd name="adj" fmla="val 186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6326" y="2323951"/>
            <a:ext cx="48255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계층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326" y="2536627"/>
            <a:ext cx="1135112" cy="2289572"/>
          </a:xfrm>
          <a:prstGeom prst="roundRect">
            <a:avLst>
              <a:gd name="adj" fmla="val 4475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7352" y="2622352"/>
            <a:ext cx="9313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— Organization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17352" y="2838152"/>
            <a:ext cx="931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가이드라인 · CLAUDE.md · 전역 정책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804839" y="2536627"/>
            <a:ext cx="1135261" cy="2289572"/>
          </a:xfrm>
          <a:prstGeom prst="roundRect">
            <a:avLst>
              <a:gd name="adj" fmla="val 4475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915864" y="2622352"/>
            <a:ext cx="931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Project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915864" y="2742902"/>
            <a:ext cx="9314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인사이트 · LEARNINGS.md 자동 업데이트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003500" y="2536627"/>
            <a:ext cx="1135112" cy="2289572"/>
          </a:xfrm>
          <a:prstGeom prst="roundRect">
            <a:avLst>
              <a:gd name="adj" fmla="val 447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114526" y="2622352"/>
            <a:ext cx="9313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Session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114526" y="2742902"/>
            <a:ext cx="931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단기 메모리 · 200 turns sliding window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202013" y="2536627"/>
            <a:ext cx="1135261" cy="2289572"/>
          </a:xfrm>
          <a:prstGeom prst="roundRect">
            <a:avLst>
              <a:gd name="adj" fmla="val 4475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13039" y="2622352"/>
            <a:ext cx="931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Hybrid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13039" y="2742902"/>
            <a:ext cx="931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L1 고속 캐시 + File L2 영속 저장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613350" y="790426"/>
            <a:ext cx="3073450" cy="1631454"/>
          </a:xfrm>
          <a:prstGeom prst="roundRect">
            <a:avLst>
              <a:gd name="adj" fmla="val 31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62476" y="914251"/>
            <a:ext cx="28307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Write-back 메커니즘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476" y="1101477"/>
            <a:ext cx="277519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781526" y="1101477"/>
            <a:ext cx="0" cy="35867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14876" y="1177677"/>
            <a:ext cx="25586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hook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914876" y="1298228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종료 시 L2 React 핸들러 자동 실행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762476" y="1510903"/>
            <a:ext cx="277519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781526" y="1510903"/>
            <a:ext cx="0" cy="36820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14876" y="1587103"/>
            <a:ext cx="2558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+ 요약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914876" y="1717179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인사이트·패턴·결정 이유를 구조화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762476" y="1929854"/>
            <a:ext cx="277519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781526" y="1929854"/>
            <a:ext cx="0" cy="368201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14876" y="2006054"/>
            <a:ext cx="2558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누적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914876" y="2136130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Project 메모리에 append — 세션 간 지속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613350" y="2498080"/>
            <a:ext cx="3073450" cy="981521"/>
          </a:xfrm>
          <a:prstGeom prst="roundRect">
            <a:avLst>
              <a:gd name="adj" fmla="val 517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62476" y="2609106"/>
            <a:ext cx="28307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4-Tier인가?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62476" y="2783681"/>
            <a:ext cx="28307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메모리면 프로젝트 간 격리가 안 되고, 세션 메모리만으로는 인사이트가 휘발된다. 4-Tier로 범위별 TTL과 접근 권한을 분리했다.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762476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20588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영구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820588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불변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468963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27075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장기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527075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누적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7175450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233562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TTL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233562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단위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7881937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940049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고속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940049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캐시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613350" y="3555802"/>
            <a:ext cx="3073450" cy="588169"/>
          </a:xfrm>
          <a:prstGeom prst="roundRect">
            <a:avLst>
              <a:gd name="adj" fmla="val 86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62476" y="3654177"/>
            <a:ext cx="28307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후에도 메모리 유지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62476" y="3797052"/>
            <a:ext cx="28307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메모리가 LLMClientPort 추상화 위에 있기 때문에 Provider 전환 후에도 세션 학습 내용이 사라지지 않는다.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3350" y="4220170"/>
            <a:ext cx="3073450" cy="656481"/>
          </a:xfrm>
          <a:prstGeom prst="roundRect">
            <a:avLst>
              <a:gd name="adj" fmla="val 77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5632400" y="4220170"/>
            <a:ext cx="0" cy="65648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78401" y="4283571"/>
            <a:ext cx="28370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자동 학습 오버헤드 vs 지식 휘발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778401" y="4413647"/>
            <a:ext cx="2837078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PIPELINE_END마다 LLM 호출이 추가되지만, 세션마다 인사이트가 휘발되는 비용이 더 크다. write-back 덕분에 동일 분석 영역에서 세션이 누적될수록 품질이 개선된다.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57200" y="4987975"/>
            <a:ext cx="37726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 · PIPELINE_END hook · 4-Tier: Session→Project→Org→Hybrid · Redis L1 + File L2 · MEMORY.md write-back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34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⑦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다음 턴 준비 → 6-Phase 동적 조립 → SHA-256 추적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편집으로는 변경 추적이 불가능하고 캐시 히트율이 떨어졌다 — 6-Phase 조립으로 2회차부터 입력 비용 10%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5443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6-Phase 조립 파이프라인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009501"/>
            <a:ext cx="747117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555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963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2925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42925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기반 기본 구조 로드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55068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394817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394817" y="1009501"/>
            <a:ext cx="7472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37321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4817" y="1640532"/>
            <a:ext cx="747266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99580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80542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80542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480542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프로젝트별 파라미터 덮어쓰기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192834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332583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332583" y="1009501"/>
            <a:ext cx="747117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74938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2583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7346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8308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18308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418308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Scaffold Skill 동적 주입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130451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70200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70200" y="1009501"/>
            <a:ext cx="747266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12704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0200" y="1640532"/>
            <a:ext cx="747266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4963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925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55925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355925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 인사이트 주입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068217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207966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207966" y="1009501"/>
            <a:ext cx="747117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50321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7966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12729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3691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293691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293691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초기화 bridge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005834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145584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45584" y="1009501"/>
            <a:ext cx="7472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88087" y="990451"/>
            <a:ext cx="0" cy="65484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45584" y="1640532"/>
            <a:ext cx="747266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50346" y="990451"/>
            <a:ext cx="0" cy="65484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1309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1309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1309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메시지 배열 출력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57200" y="1721495"/>
            <a:ext cx="5435650" cy="644723"/>
          </a:xfrm>
          <a:prstGeom prst="roundRect">
            <a:avLst>
              <a:gd name="adj" fmla="val 787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57200" y="1726257"/>
            <a:ext cx="54356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88087" y="1721495"/>
            <a:ext cx="0" cy="64472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2361456"/>
            <a:ext cx="54356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6250" y="1721495"/>
            <a:ext cx="0" cy="644723"/>
          </a:xfrm>
          <a:prstGeom prst="line">
            <a:avLst/>
          </a:prstGeom>
          <a:noFill/>
          <a:ln w="38100">
            <a:solidFill>
              <a:srgbClr val="21262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4901" y="1832521"/>
            <a:ext cx="5211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34901" y="1975396"/>
            <a:ext cx="521100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후 SHA-256 해시 생성 — 동일 프롬프트 재조립 시 캐시 히트 판별. 수동 편집으로는 불가능했던 변경 추적을 코드 레벨에서 보장한다.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34901" y="2150418"/>
            <a:ext cx="5211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= sha256(assembled_prompt) → cache_key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57200" y="2442418"/>
            <a:ext cx="5435650" cy="787301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06326" y="2528143"/>
            <a:ext cx="52401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조립 복잡도(6단계) vs 비용 절감(90%) + 재현성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6326" y="2658219"/>
            <a:ext cx="25682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수동 편집 3대 문제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6326" y="2801094"/>
            <a:ext cx="2517874" cy="342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추적 불가 — drift 감지 없음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히트율 저하 — 매 요청 100% 비용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간 프롬프트 불일치 — 7 노드 각자 편집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225701" y="2658219"/>
            <a:ext cx="25683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6-Phase 조립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225701" y="2801094"/>
            <a:ext cx="2518023" cy="342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SHA-256으로 drift 감지 — 동일 해시면 재조립 스킵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100% 유지 — 2회차부터 입력 비용 10%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7노드 동일 프롬프트 1 cache entry 공유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6019800" y="790426"/>
            <a:ext cx="2667000" cy="799951"/>
          </a:xfrm>
          <a:prstGeom prst="roundRect">
            <a:avLst>
              <a:gd name="adj" fmla="val 635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132335" y="926902"/>
            <a:ext cx="2441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6132335" y="1269802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2회차+ 입력 비용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6132335" y="1368177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1회차 100%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6019800" y="1666577"/>
            <a:ext cx="2667000" cy="854571"/>
          </a:xfrm>
          <a:prstGeom prst="roundRect">
            <a:avLst>
              <a:gd name="adj" fmla="val 59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156275" y="1777603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cache_control: ephemeral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156275" y="1910953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파이프라인 내 7개 노드가 동일 시스템 프롬프트를 공유. ephemeral 마킹 1회로 전체 캐시 적용.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156275" y="2222897"/>
            <a:ext cx="2394049" cy="187226"/>
          </a:xfrm>
          <a:prstGeom prst="roundRect">
            <a:avLst>
              <a:gd name="adj" fmla="val 2035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6245126" y="2273647"/>
            <a:ext cx="22606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nodes × same system prompt → 1 cache entry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019800" y="2597348"/>
            <a:ext cx="266700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56275" y="2708374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— 21 Scaffold Skills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6156275" y="2841724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태스크 유형에 따라 필요한 스킬만 동적 선택 주입 — 프롬프트 크기 최적화.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019800" y="3277493"/>
            <a:ext cx="2667000" cy="1659731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156275" y="3388519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PROMPT_ASSEMBLE hook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6156275" y="3521869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완료 시 Prompt Change 카테고리 이벤트 발화 — 캐시 상태와 조립 결과를 관측 레이어에 전달.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57200" y="4987975"/>
            <a:ext cx="32188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· SHA-256 cache_key · cache_control: ephemeral · 21 skills · 7-node prompt sharing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34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Cost: 외부 도구 호출 → 45 Catalog + TokenTracker 비용 관측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스토리 + 자체 TokenTracker — while(tool_use) 루프 비용을 /cost CLI로 실시간 관측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724400" cy="3077021"/>
          </a:xfrm>
          <a:prstGeom prst="roundRect">
            <a:avLst>
              <a:gd name="adj" fmla="val 165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4514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아키텍처 진화: 3계층 → 2계층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88678"/>
            <a:ext cx="4426148" cy="730151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0151" y="1174403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3계층 (병목)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0151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004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818004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257줄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042517" y="141565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94917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82770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82770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검색+관리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507284" y="141565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9684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47537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747537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설정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30151" y="1647379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 도구 탐색 막는 병목 · Proxy stub 9개 중복 · auto-discovery 불가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982391" y="1882229"/>
            <a:ext cx="17073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Registry 257줄 삭제 + Proxy stub 9개 제거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2050405"/>
            <a:ext cx="4426148" cy="730151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0151" y="2136130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2계층 (탐색 자유도)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0151" y="2279005"/>
            <a:ext cx="1981349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0680" y="2339280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10680" y="2425005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전용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774900" y="2377380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927300" y="2279005"/>
            <a:ext cx="1981349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07830" y="2339280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007830" y="2425005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[mcp.servers] 통합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730151" y="2609106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 servers auto-discovery · API key 부재 시 dry-run 자동 전환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06326" y="2843957"/>
            <a:ext cx="4426148" cy="912465"/>
          </a:xfrm>
          <a:prstGeom prst="roundRect">
            <a:avLst>
              <a:gd name="adj" fmla="val 5567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0151" y="2929682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Registry를 삭제했는가?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0151" y="3072557"/>
            <a:ext cx="426206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LLM의 도구 탐색을 막는 병목이었다. 자율 에이전트는 도구를 스스로 찾아야 하는데, Registry가 검색 범위를 제한했다. 삭제 후 LLM이 Catalog를 직접 탐색 — 중앙 제어 없이 45 서버를 자율 발견한다.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30151" y="3371850"/>
            <a:ext cx="2057549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6351" y="3422600"/>
            <a:ext cx="19432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 중앙 제어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806351" y="3520976"/>
            <a:ext cx="194325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삭제로 도구 목록 감사 불가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851100" y="3371850"/>
            <a:ext cx="2057549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927300" y="3422600"/>
            <a:ext cx="19432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획득: 탐색 자유도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927300" y="3520976"/>
            <a:ext cx="194325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컨텍스트에 맞게 자율 선택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295900" y="790426"/>
            <a:ext cx="3390900" cy="1472654"/>
          </a:xfrm>
          <a:prstGeom prst="roundRect">
            <a:avLst>
              <a:gd name="adj" fmla="val 345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45026" y="901452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— 자체 비용 추적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45026" y="1088678"/>
            <a:ext cx="3154501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LangSmith만으로는 모델별 비용 내역·캐시 히트율 추적이 어려워 자체 구축.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45026" y="1276350"/>
            <a:ext cx="3092648" cy="336352"/>
          </a:xfrm>
          <a:prstGeom prst="roundRect">
            <a:avLst>
              <a:gd name="adj" fmla="val 113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464076" y="1276350"/>
            <a:ext cx="0" cy="33635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4627" y="1339751"/>
            <a:ext cx="29085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싱글톤으로 호출마다 입출력 토큰 + cache_creation/cache_read 기록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45026" y="1650802"/>
            <a:ext cx="3092648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464076" y="1650802"/>
            <a:ext cx="0" cy="231577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4627" y="1714202"/>
            <a:ext cx="290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모델 가격 레지스트리 — 실시간 비용 산출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45026" y="1920478"/>
            <a:ext cx="3092648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464076" y="1920478"/>
            <a:ext cx="0" cy="231577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4627" y="1983879"/>
            <a:ext cx="290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UsageStore: 월별 JSONL 영속 저장 · ProjectJournal 프로젝트별 이력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95900" y="2339280"/>
            <a:ext cx="3390900" cy="904429"/>
          </a:xfrm>
          <a:prstGeom prst="roundRect">
            <a:avLst>
              <a:gd name="adj" fmla="val 561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445026" y="2450306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45026" y="2624882"/>
            <a:ext cx="3092648" cy="507802"/>
          </a:xfrm>
          <a:prstGeom prst="roundRect">
            <a:avLst>
              <a:gd name="adj" fmla="val 100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550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50625" y="2843808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비용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547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일간 / 월간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547625" y="2843808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집계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544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544625" y="2843808"/>
            <a:ext cx="887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경고 / 95% PRUNE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295900" y="3319909"/>
            <a:ext cx="3390900" cy="1607790"/>
          </a:xfrm>
          <a:prstGeom prst="roundRect">
            <a:avLst>
              <a:gd name="adj" fmla="val 316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5319713" y="3319909"/>
            <a:ext cx="0" cy="1607790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3126" y="3408759"/>
            <a:ext cx="31253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MCP-first + Fixture Fallback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83126" y="3554760"/>
            <a:ext cx="312535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signal 도구: 라이브 환경에서는 MCP 직접 호출, 오프라인/CI에서는 fixture 데이터로 자동 전환 — 라이브 수집과 테스트를 동시에 보장.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83126" y="3884563"/>
            <a:ext cx="1493937" cy="415677"/>
          </a:xfrm>
          <a:prstGeom prst="roundRect">
            <a:avLst>
              <a:gd name="adj" fmla="val 9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32855" y="3947964"/>
            <a:ext cx="139447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532855" y="4151114"/>
            <a:ext cx="1394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7053263" y="3884563"/>
            <a:ext cx="1493937" cy="415677"/>
          </a:xfrm>
          <a:prstGeom prst="roundRect">
            <a:avLst>
              <a:gd name="adj" fmla="val 9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102992" y="3947964"/>
            <a:ext cx="139447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102992" y="4151114"/>
            <a:ext cx="1394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price registry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457200" y="4978450"/>
            <a:ext cx="31863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· Proxy stub 9개 제거 · 45 catalog auto-discovery · TokenTracker ContextVar · /cost CLI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34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34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Game IP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평가의 Confirmation Bias·Anchoring 편향 — 병렬 전문가 4명 + Cross-LLM + PSM으로 극복</a:t>
            </a:r>
            <a:endParaRPr lang="en-US" sz="700" dirty="0"/>
          </a:p>
        </p:txBody>
      </p:sp>
      <p:pic>
        <p:nvPicPr>
          <p:cNvPr id="6" name="Image 0" descr="/Users/mango/workspace/portfolio/geode/versions/v6/slides/assets/v028-diagram-pipeline-d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90426"/>
            <a:ext cx="5587901" cy="2603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57277"/>
            <a:ext cx="3340596" cy="1063675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1025" y="3555653"/>
            <a:ext cx="31548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81025" y="3689003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81025" y="3822204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81025" y="3980706"/>
            <a:ext cx="31548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873996" y="3457277"/>
            <a:ext cx="2209354" cy="507802"/>
          </a:xfrm>
          <a:prstGeom prst="roundRect">
            <a:avLst>
              <a:gd name="adj" fmla="val 100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85022" y="3543002"/>
            <a:ext cx="20270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85022" y="3673078"/>
            <a:ext cx="2027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≥80 · A ≥60 · B ≥40 · C &lt;40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985022" y="3793629"/>
            <a:ext cx="20270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코드 결정 트리 (LLM 아님)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873996" y="4015829"/>
            <a:ext cx="2209354" cy="505123"/>
          </a:xfrm>
          <a:prstGeom prst="roundRect">
            <a:avLst>
              <a:gd name="adj" fmla="val 10057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85022" y="4101554"/>
            <a:ext cx="2027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Clean Context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985022" y="4222105"/>
            <a:ext cx="2027048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전달 — 앵커링 편향 차단. 7개 병렬 LLM 호출에서 독립 평가 보장.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197650" y="790426"/>
            <a:ext cx="25389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 — Golden Set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97650" y="968127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305882" y="1053852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05882" y="13079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689527" y="1085552"/>
            <a:ext cx="8813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89527" y="1199852"/>
            <a:ext cx="8813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689527" y="1285577"/>
            <a:ext cx="8813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197650" y="1552277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05882" y="1638002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305882" y="189205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689527" y="1669703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689527" y="1784003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689527" y="1869728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6197650" y="2136428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05882" y="2222153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305882" y="24762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89527" y="2253853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Shell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89527" y="2368153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689527" y="2453878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6197650" y="2720578"/>
            <a:ext cx="2489150" cy="2216646"/>
          </a:xfrm>
          <a:prstGeom prst="roundRect">
            <a:avLst>
              <a:gd name="adj" fmla="val 22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321475" y="2818954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321475" y="2993529"/>
            <a:ext cx="224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321475" y="2993529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 — 스키마·범위·근거·일관성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21475" y="3136404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 — 6종 편향 (arXiv:2403.00811)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321475" y="3279279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 — Claude×GPT α≥0.67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321475" y="3412629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6321475" y="3571280"/>
            <a:ext cx="2241500" cy="450949"/>
          </a:xfrm>
          <a:prstGeom prst="roundRect">
            <a:avLst>
              <a:gd name="adj" fmla="val 84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410325" y="3634680"/>
            <a:ext cx="21050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판단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6410325" y="3745706"/>
            <a:ext cx="2105076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Anchoring 편향으로 점수 분산이 ±18점. L3 Cross-LLM α≥0.67 강제로 편향 0/6 달성.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457200" y="4987975"/>
            <a:ext cx="34304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≥0.7 · max 5 iterations · Clean Context</a:t>
            </a:r>
            <a:endParaRPr lang="en-US" sz="500" dirty="0"/>
          </a:p>
        </p:txBody>
      </p:sp>
      <p:sp>
        <p:nvSpPr>
          <p:cNvPr id="49" name="Text 4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34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202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Domain Portability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Portability: GEODE ↔ REODE — 에이전트 코어 수정 0줄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 — 241소스 103K LoC, 83/83 build pass, core 0줄 변경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2933700" cy="1120676"/>
          </a:xfrm>
          <a:prstGeom prst="roundRect">
            <a:avLst>
              <a:gd name="adj" fmla="val 453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09476"/>
            <a:ext cx="29337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942826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6801" y="1114276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6801" y="1282452"/>
            <a:ext cx="26544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801" y="1282452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모듈 · 3,201 테스트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6801" y="142532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 + 45 MCP · 21 Skills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6801" y="1558677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 무회귀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6801" y="1701552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1987302"/>
            <a:ext cx="2933700" cy="2940397"/>
          </a:xfrm>
          <a:prstGeom prst="roundRect">
            <a:avLst>
              <a:gd name="adj" fmla="val 173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6326" y="2111127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6326" y="2279303"/>
            <a:ext cx="2635448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6326" y="2279303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 — 실행 흐름 정의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6326" y="2434828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 — 언어·포맷 변환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6326" y="2628454"/>
            <a:ext cx="2635448" cy="361950"/>
          </a:xfrm>
          <a:prstGeom prst="roundRect">
            <a:avLst>
              <a:gd name="adj" fmla="val 140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626" y="2704654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0626" y="2809429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3053804"/>
            <a:ext cx="26881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@runtime_checkable Protocol — 상속 없이 메서드 구현하면 즉시 호환. 파이프라인 노드는 get_domain_or_none()으로 조회 후 fallback.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505200" y="1313557"/>
            <a:ext cx="2133600" cy="1497955"/>
          </a:xfrm>
          <a:prstGeom prst="roundRect">
            <a:avLst>
              <a:gd name="adj" fmla="val 5087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45688" y="1472208"/>
            <a:ext cx="1852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45688" y="1675358"/>
            <a:ext cx="185262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63851" y="1897410"/>
            <a:ext cx="1816298" cy="346025"/>
          </a:xfrm>
          <a:prstGeom prst="roundRect">
            <a:avLst>
              <a:gd name="adj" fmla="val 14681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49219" y="1973610"/>
            <a:ext cx="1645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49219" y="2081510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663851" y="2306836"/>
            <a:ext cx="1816298" cy="346025"/>
          </a:xfrm>
          <a:prstGeom prst="roundRect">
            <a:avLst>
              <a:gd name="adj" fmla="val 14681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49219" y="2383036"/>
            <a:ext cx="1645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49219" y="2490936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505200" y="2887712"/>
            <a:ext cx="2133600" cy="806202"/>
          </a:xfrm>
          <a:prstGeom prst="roundRect">
            <a:avLst>
              <a:gd name="adj" fmla="val 6301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35972" y="3024188"/>
            <a:ext cx="187205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35972" y="3341638"/>
            <a:ext cx="1872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35972" y="3471714"/>
            <a:ext cx="18720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505200" y="3770114"/>
            <a:ext cx="2133600" cy="634305"/>
          </a:xfrm>
          <a:prstGeom prst="roundRect">
            <a:avLst>
              <a:gd name="adj" fmla="val 80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524250" y="3770114"/>
            <a:ext cx="0" cy="634305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44801" y="3820864"/>
            <a:ext cx="1930348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Protocol 추상화 비용 vs 이식 속도: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DomainPort 인터페이스 설계에 3일을 썼다. 그 대가로 GEODE → REODE 피봇에 코어 수정 0줄 — 3일 투자가 수주의 재작성을 막았다.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53100" y="790426"/>
            <a:ext cx="2933700" cy="977801"/>
          </a:xfrm>
          <a:prstGeom prst="roundRect">
            <a:avLst>
              <a:gd name="adj" fmla="val 519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753100" y="809476"/>
            <a:ext cx="293370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2701" y="942826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92701" y="1114276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92701" y="1282452"/>
            <a:ext cx="26544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92701" y="1282452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92701" y="142532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OpenRewrite 70% + LLM 30%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92701" y="155867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753100" y="1844427"/>
            <a:ext cx="2933700" cy="3083272"/>
          </a:xfrm>
          <a:prstGeom prst="roundRect">
            <a:avLst>
              <a:gd name="adj" fmla="val 173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02226" y="1968252"/>
            <a:ext cx="26881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 — Java 마이그레이션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89556" y="216827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889556" y="2422327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258031" y="216827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258031" y="2422327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889556" y="25842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889556" y="2838301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7258031" y="25842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7258031" y="2838301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902226" y="3000226"/>
            <a:ext cx="2635448" cy="406301"/>
          </a:xfrm>
          <a:prstGeom prst="roundRect">
            <a:avLst>
              <a:gd name="adj" fmla="val 12503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02173" y="3085951"/>
            <a:ext cx="24355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02173" y="3235077"/>
            <a:ext cx="2435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978450"/>
            <a:ext cx="31948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· ContextVar DI · core/graph.py 0줄 수정 · 241소스 103K LoC · 33세션 1,133라운드 · 83/83 build pass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34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56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Pattern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 → GEODE → REODE: 패턴 진화 증거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→ 5-Layer · LLMClientPort → Port/Adapter · Event Bus → HookSystem — 같은 문제를 세 번 더 잘 풀었다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2445841" cy="358527"/>
          </a:xfrm>
          <a:prstGeom prst="roundRect">
            <a:avLst>
              <a:gd name="adj" fmla="val 1416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946" y="863352"/>
            <a:ext cx="2216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1946" y="990302"/>
            <a:ext cx="22163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원형 패턴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953792" y="8981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1641" y="790426"/>
            <a:ext cx="2880568" cy="358527"/>
          </a:xfrm>
          <a:prstGeom prst="rect">
            <a:avLst/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42041" y="863352"/>
            <a:ext cx="2659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42041" y="990302"/>
            <a:ext cx="26597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심화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062960" y="8981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40810" y="790426"/>
            <a:ext cx="2445990" cy="358527"/>
          </a:xfrm>
          <a:prstGeom prst="rect">
            <a:avLst/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5555" y="863352"/>
            <a:ext cx="221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5555" y="990302"/>
            <a:ext cx="221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적용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7200" y="1212354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675" y="1310729"/>
            <a:ext cx="50750" cy="180975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1348829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레이어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863328" y="13107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63328" y="14059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 → 3겹 필터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23246" y="1344067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91732" y="1310729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5-Layer Verification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91732" y="1405979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6종 + Cross-LLM α≥0.67 → 99.8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423422" y="1344067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91908" y="13107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91908" y="14059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마이그레이션 품질 5관문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1653480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3675" y="1751856"/>
            <a:ext cx="50750" cy="180975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5927" y="1789956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추상화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63328" y="1751856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LLMClientPort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63328" y="1847106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종속 위험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823246" y="17851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91732" y="1751856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 + ContextVar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1732" y="1847106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Anthropic·OpenAI·ZhipuAI 3-Provider 추상화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423422" y="17851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91908" y="1751856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691908" y="1847106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0줄로 Java 도메인 교체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57200" y="2094607"/>
            <a:ext cx="8229600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3675" y="2192982"/>
            <a:ext cx="50750" cy="1905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5927" y="2235845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시스템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863328" y="2197745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 3-Tier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863328" y="2292995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확장 불가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823246" y="22310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9731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91732" y="2197745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46 Events 8 Categories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091732" y="2292995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핸들러 · StuckDetector 120s · 에러 격리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423422" y="22310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91908" y="2192982"/>
            <a:ext cx="18955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HookSystem 상속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91908" y="2297757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 동일 패턴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2545259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93675" y="2643634"/>
            <a:ext cx="50750" cy="180975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5927" y="2681734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복원력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863328" y="264363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+ Jitter Backoff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63328" y="273888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장애 시 전체 중단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823246" y="26769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91732" y="2643634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(CB ×3)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091732" y="2738884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실패→60s OPEN→Half-Open · Exp. Backoff ±25% Jitter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423422" y="26769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91908" y="264363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LLM Failover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691908" y="273888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CB 패턴 마이그레이션 내성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531221"/>
            <a:ext cx="8229600" cy="367903"/>
          </a:xfrm>
          <a:prstGeom prst="roundRect">
            <a:avLst>
              <a:gd name="adj" fmla="val 1380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476250" y="4531221"/>
            <a:ext cx="0" cy="367903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2250" y="4581971"/>
            <a:ext cx="809635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재사용 비용 vs 재설계 비용: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Eco²에서 검증된 4개 패턴을 재사용하면 Eco² 제약(Swiss Cheese 3-Layer 한계, 단일 Provider 종속)도 함께 온다. 그러나 패턴을 버리면 REODE 출시에 수주가 더 필요했다. 검증된 패턴을 확장하는 길을 선택했고, REODE는 GEODE 포크로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빌드를 5h 48m 안에 달성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했다.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57200" y="4987975"/>
            <a:ext cx="347010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Cheese→5-Layer · LLMClientPort→Port/Adapter · Event Bus→HookSystem · Circuit Breaker→3-Provider Failover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34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Table: Scaffold ↔ Runtime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런타임 아키텍처를 그대로 거울처럼 반영한다 — 같은 구조, 다른 주체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9289"/>
            <a:ext cx="11805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(빌드 타임)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1253877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075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23 CANNOT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6075" y="1482328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Claude에게 주입되는 헌법 — 어길 수 없는 규칙이 LLM 행동을 제어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856929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075" y="1945779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→ 8-Step Loop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6075" y="2085380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소크라테스 정제 → Frontier 리서치 → 구현 → 검증 반복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355205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6075" y="2444055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6075" y="2583656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/ Devin / OpenHands 리서치 → GAP 분석 → 설계 결정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2958257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6075" y="304710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39 Releases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6075" y="3186708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v0.31 아키텍처 결정 이력 — 모든 피봇을 문서화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80941" y="2655838"/>
            <a:ext cx="2049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14151" y="2925663"/>
            <a:ext cx="134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93695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9887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13175" y="979289"/>
            <a:ext cx="1076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(실행 타임)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98875" y="1253877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25826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(PolicyChain)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25826" y="1482328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행동을 실시간 감시 — 위반 즉시 차단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98875" y="1752154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25826" y="1841004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50 rounds × 200 turns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25826" y="1980605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설계한 루프가 자율 실행으로 구현됨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098875" y="2250430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25826" y="2339280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+ 5-Tier Safety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5826" y="2478881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리서치 결과를 그대로 구현한 내결함성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8875" y="2748707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25826" y="283755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 · 187 Modules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25826" y="2977158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릴리스가 회귀 없이 축적된 구조적 증거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07250" y="838051"/>
            <a:ext cx="1879550" cy="4076998"/>
          </a:xfrm>
          <a:prstGeom prst="roundRect">
            <a:avLst>
              <a:gd name="adj" fmla="val 40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69175" y="1956495"/>
            <a:ext cx="15868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구조적 동형인가?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69175" y="2156520"/>
            <a:ext cx="158681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설계가 아닌 발견이었다. Scaffold가 성숙하면서 Runtime과 자연스럽게 동형 구조가 됐다 — 의도한 것이 아니라 좋은 설계의 부산물이다.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69175" y="2765524"/>
            <a:ext cx="1555700" cy="535484"/>
          </a:xfrm>
          <a:prstGeom prst="roundRect">
            <a:avLst>
              <a:gd name="adj" fmla="val 94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70675" y="2841724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 위반 → 빌드 실패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070675" y="2973586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규칙 위반 → 실행 차단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070675" y="3118247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원칙, 다른 계층에서 작동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6969175" y="3381970"/>
            <a:ext cx="15557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69175" y="3462933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69175" y="3583484"/>
            <a:ext cx="158681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 유지 비용: Scaffold 변경 시 Runtime도 동기화 필요. 수익: 설계 결정이 코드로 직접 흐른다.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978450"/>
            <a:ext cx="9987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1,160 커밋 · 36일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34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— 6 핵심 규칙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LLM에게 자유를 주되 발산을 막는 헌법 — 금지 규칙이 명확할수록 허용 공간이 넓어진다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74527"/>
            <a:ext cx="3080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격리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71699" y="971401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5100" y="984052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06326" y="113317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6326" y="1307753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에이전트가 main 브랜치에 직접 쓰면 병렬 작업 충돌이 발생한다. 각 태스크는 반드시 독립 worktree에서 실행돼야 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4805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7176" y="974527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게이트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69705" y="971401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33106" y="984052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597176" y="113317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97176" y="1307753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실패한 상태의 커밋은 다음 에이전트를 오염시킨다. CI가 3종 체크를 모두 통과한 후에만 머지를 허용한다.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6326" y="2332434"/>
            <a:ext cx="520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과잉 구현 방지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80356" y="2329309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43757" y="2341959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06326" y="2491085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승인 없이 구현 착수 금지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6326" y="2665661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LLM은 승인 없이 구현하려는 성질이 있다. 설계 문서에 인간 승인 서명이 없으면 첫 줄도 작성하지 않는다.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4805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97176" y="2332434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추적성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91260" y="2329309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54661" y="2341959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97176" y="2491085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없이 기능 커밋 금지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97176" y="2665661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PR의 결정 근거가 사라지면 재설계 비용이 폭증한다. 모든 기능 커밋은 CHANGELOG 항목을 동반해야 한다.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6326" y="3690342"/>
            <a:ext cx="615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html2pptx 제약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272778" y="3687217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336179" y="3699867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6326" y="3848993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gradient 금지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6326" y="402356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linear-gradient/radial-gradient는 html2pptx가 렌더링하지 못한다. 배경 효과는 solid color + border 조합으로 대체한다.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44805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97176" y="3690342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품질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146500" y="3687217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209901" y="3699867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597176" y="3848993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배치 금지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97176" y="402356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키워드만 넣은 카드 그리드는 발표가 아니다. 각 박스는 "X 때문에 Y를 선택했고 Z가 나왔다" 수준의 인과 서술을 포함해야 한다.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77000" y="847576"/>
            <a:ext cx="2209800" cy="1584722"/>
          </a:xfrm>
          <a:prstGeom prst="roundRect">
            <a:avLst>
              <a:gd name="adj" fmla="val 480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51575" y="996702"/>
            <a:ext cx="4034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123361" y="1234827"/>
            <a:ext cx="7008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규칙 추가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수록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1575" y="1559570"/>
            <a:ext cx="18978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17개 규칙은 CLAUDE.md 425줄에 명시. 하나라도 위반하면 CI가 머지를 차단한다.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51575" y="1902172"/>
            <a:ext cx="1860649" cy="3810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53076" y="1978372"/>
            <a:ext cx="1690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타이포그래피 4개 · 레이아웃 5개</a:t>
            </a:r>
            <a:endParaRPr lang="en-US" sz="60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html2pptx 추가 4개 · 내러티브 4개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477000" y="2508498"/>
            <a:ext cx="2209800" cy="2349401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651575" y="2657624"/>
            <a:ext cx="38100" cy="15240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53076" y="2671911"/>
            <a:ext cx="772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— 허용 공간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51575" y="2873425"/>
            <a:ext cx="189786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명확할수록 허용 공간이 넓어진다. 금지 규칙이 경계를 정하면, 그 안에서 LLM은 구체적 숫자, DAG, 인과 서술로 자유롭게 표현한다.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651575" y="4451598"/>
            <a:ext cx="1860649" cy="257175"/>
          </a:xfrm>
          <a:prstGeom prst="roundRect">
            <a:avLst>
              <a:gd name="adj" fmla="val 1975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753076" y="4527798"/>
            <a:ext cx="16908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문제→설계→결과 인과 흐름 시각화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08649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2915" y="4956274"/>
            <a:ext cx="152609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전체 규칙 — 제약이 명확할수록 자유가 넓어진다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8492728" y="4961037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34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Development Loop + Socratic Gate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키보드에 손이 닿는 순간 하네스의 실패 — 스캐폴딩이 구현보다 앞서야 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Socratic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82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정제 — 5W로 전제 검증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478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383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493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Frontier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93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Code/Devin GAP 리서치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42900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95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305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Design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305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+ Trade-off 결정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0101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006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116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Implement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116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테스트 비율 목표 구현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58701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77927" y="2790825"/>
            <a:ext cx="5354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시 ①로 복귀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753594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2820" y="2781300"/>
            <a:ext cx="54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949476"/>
            <a:ext cx="1327249" cy="498277"/>
          </a:xfrm>
          <a:prstGeom prst="roundRect">
            <a:avLst>
              <a:gd name="adj" fmla="val 1019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8226" y="3047851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CHANGELOG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68226" y="3177927"/>
            <a:ext cx="1127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이력 기록 → 다음 Frontier 입력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8478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383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493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Release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493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Semver 태깅 · 39회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42900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1950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73052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E2E Verify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73052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테스트 + Hook 회귀 검사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0101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006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116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4-Persona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116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Architect/Security/QA/Perf 리뷰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654850" y="838051"/>
            <a:ext cx="2031950" cy="1657796"/>
          </a:xfrm>
          <a:prstGeom prst="roundRect">
            <a:avLst>
              <a:gd name="adj" fmla="val 459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16775" y="974527"/>
            <a:ext cx="1742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(①)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6775" y="1149102"/>
            <a:ext cx="174226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반드시 통과해야 하는 5가지 질문: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16775" y="1333054"/>
            <a:ext cx="1708100" cy="6762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기능이 필요한가?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실패 모드가 있는가?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Trade-off는 무엇인가?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가능한가?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CHANGELOG에 이유를 쓸 수 있는가?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16775" y="2110829"/>
            <a:ext cx="174226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5가지를 답하지 못하면 코드 작성 불가 — 루프가 ①로 되돌아간다.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4850" y="2597348"/>
            <a:ext cx="2031950" cy="1616125"/>
          </a:xfrm>
          <a:prstGeom prst="roundRect">
            <a:avLst>
              <a:gd name="adj" fmla="val 3143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791325" y="2695724"/>
            <a:ext cx="17941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8단계인가?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91325" y="2895600"/>
            <a:ext cx="179418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5단계(Plan→Implement→Test→Merge→Deploy)면 충분하지 않은가?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791325" y="3344466"/>
            <a:ext cx="847725" cy="770632"/>
          </a:xfrm>
          <a:prstGeom prst="roundRect">
            <a:avLst>
              <a:gd name="adj" fmla="val 494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80175" y="3407866"/>
            <a:ext cx="6834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 부재 시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880175" y="3518892"/>
            <a:ext cx="68342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Audit·Socratic Gate 없으면 불필요한 구현이 50% — 잘못된 전제로 PR이 병합된다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7702451" y="3344466"/>
            <a:ext cx="847874" cy="770632"/>
          </a:xfrm>
          <a:prstGeom prst="roundRect">
            <a:avLst>
              <a:gd name="adj" fmla="val 494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791301" y="3407866"/>
            <a:ext cx="6835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8단계 추가 비용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7791301" y="3518892"/>
            <a:ext cx="683577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 Socratic+Frontier로 착수가 느리지만, 회귀 없는 39회 릴리스가 증거다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57200" y="4978450"/>
            <a:ext cx="156161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21 Skills · LEARNINGS.md 패턴 축적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34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— 4개 하네스 GAP 분석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구현하기 전에 먼저 읽었다 — 3/4 수렴 규칙으로 차용 여부를 결정했다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58602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23652"/>
            <a:ext cx="261043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패턴 — LLM이 tool_use를 반환하는 한 루프를 유지하는 구조를 직접 확인했다. GEODE AgenticLoop 50 라운드 설계의 직접 근거가 됐다.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2500461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176" y="2563862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루프 계속 조건 + end_turn 종료 패턴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365599" y="834777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2075" y="958602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02075" y="1123652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P1 제약 기반 설계, P4 래칫(되돌아가지 않음), P6 컨텍스트 예산 명시 — 이 세 원칙이 CLAUDE.md 규칙 체계의 뼈대가 됐다.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075" y="2500461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03575" y="2563862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P1/P4/P6 → CANNOT 규칙 3종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7200" y="2913013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675" y="3036838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3675" y="3201888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Session Key, Lane Queue, Plugin 4-계층 디스패치 구조 — 에이전트 요청을 분리된 채널로 라우팅하는 아이디어를 여기서 얻었다.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3675" y="4578697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5176" y="4642098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SessionKey 격리 + LaneQueue 우선순위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365599" y="2913013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02075" y="3036838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02075" y="3201888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격리, .owner 파일 보호, Dumb Platform 원칙 — Git 충돌 없이 여러 에이전트가 병렬 작업할 수 있는 구조의 실증 사례였다.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02075" y="4578697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3575" y="4642098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Worktree 의무화 → CANNOT Git 규칙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299299" y="834777"/>
            <a:ext cx="2387501" cy="1529655"/>
          </a:xfrm>
          <a:prstGeom prst="roundRect">
            <a:avLst>
              <a:gd name="adj" fmla="val 498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61224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575524" y="985540"/>
            <a:ext cx="5600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 수렴 규칙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61224" y="1199852"/>
            <a:ext cx="210492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하네스 중 3개 이상이 동일한 패턴을 사용하면 GEODE도 채택한다. 1-2개만 사용하면 독자 설계로 간다. 단순 다수결이지만 프론티어의 수렴은 신뢰할 수 있는 신호다.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61224" y="1808857"/>
            <a:ext cx="2063651" cy="41910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62725" y="1885057"/>
            <a:ext cx="324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56822" y="1894136"/>
            <a:ext cx="62452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 시 채택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미달 시 독자 설계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99299" y="2440632"/>
            <a:ext cx="2387501" cy="2474416"/>
          </a:xfrm>
          <a:prstGeom prst="roundRect">
            <a:avLst>
              <a:gd name="adj" fmla="val 319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61224" y="2577108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75524" y="2591395"/>
            <a:ext cx="7708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→ 설계 영역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61224" y="2792909"/>
            <a:ext cx="210492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하네스 중 어느 것도 해결하지 않은 문제 3가지: 장기 자율 실행(비용 폭주 방지), LLM 비용 제어(토큰 예산 강제), 도메인 포터빌리티(게임→보험 교체). 이것이 GEODE가 독자 설계한 영역이다.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978450"/>
            <a:ext cx="185323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Frontier Mining — 읽고 차용하고, 없으면 설계했다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34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 — 구현 전 맹점 제거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설계하면 Confirmation Bias로 실패한다 — 4인격이 독립 관점으로 리뷰하여 서로의 맹점을 보완한다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834777"/>
            <a:ext cx="0" cy="469404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936278"/>
            <a:ext cx="466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1069628"/>
            <a:ext cx="4663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219051" y="936278"/>
            <a:ext cx="483224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의존성 역전 여부, 인터페이스 일관성, v0.40 생존 가능성. 체크 항목: 상위 레이어가 하위를 직접 임포트하는가? 플러그인 교체 시 코어 수정이 발생하는가?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67582"/>
            <a:ext cx="5638949" cy="422077"/>
          </a:xfrm>
          <a:prstGeom prst="roundRect">
            <a:avLst>
              <a:gd name="adj" fmla="val 120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1367582"/>
            <a:ext cx="0" cy="42207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901" y="1469082"/>
            <a:ext cx="505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1602432"/>
            <a:ext cx="505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57300" y="1469082"/>
            <a:ext cx="479323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비용, 지연 시간, 캐시 히트율 관점. 체크 항목: 이 LLM 호출을 줄일 수 있는가? 컨텍스트를 재사용하는가? 배치 처리가 가능한가?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1853059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1853059"/>
            <a:ext cx="0" cy="46940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01" y="1954560"/>
            <a:ext cx="647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901" y="2087910"/>
            <a:ext cx="6479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397050" y="1954560"/>
            <a:ext cx="465068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인젝션, 권한 에스컬레이션, Trust Model 위반. 체크 항목: 이 경로가 샌드박스를 우회하는가? 외부 입력이 직접 shell로 전달되는가?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2385864"/>
            <a:ext cx="5638949" cy="422077"/>
          </a:xfrm>
          <a:prstGeom prst="roundRect">
            <a:avLst>
              <a:gd name="adj" fmla="val 120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6250" y="2385864"/>
            <a:ext cx="0" cy="422077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901" y="2487364"/>
            <a:ext cx="466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901" y="2620714"/>
            <a:ext cx="4663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19051" y="2487364"/>
            <a:ext cx="483224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 케이스, 회귀 가능성, 커버리지. 체크 항목: 이 코드가 3,201 테스트를 통과하는가? 새로운 경로가 기존 픽스처를 깨는가?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97650" y="834777"/>
            <a:ext cx="2489150" cy="1424880"/>
          </a:xfrm>
          <a:prstGeom prst="roundRect">
            <a:avLst>
              <a:gd name="adj" fmla="val 534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59575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73875" y="985540"/>
            <a:ext cx="7127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보안 케이스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9575" y="1187053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 리뷰가 실제로 막은 사례. 초기 설계에서 에이전트가 환경변수를 직접 읽어 LLM 프롬프트에 삽입하는 경로가 있었다. API 키 유출 벡터. CANNOT 규칙에 ".env 직접 참조 금지" 추가로 차단했다.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59575" y="1783259"/>
            <a:ext cx="2165300" cy="339923"/>
          </a:xfrm>
          <a:prstGeom prst="roundRect">
            <a:avLst>
              <a:gd name="adj" fmla="val 149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61075" y="1846659"/>
            <a:ext cx="200154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agent reads .env → injects into prompt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env vars injected at harness boundary only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197650" y="2335857"/>
            <a:ext cx="2489150" cy="2579191"/>
          </a:xfrm>
          <a:prstGeom prst="roundRect">
            <a:avLst>
              <a:gd name="adj" fmla="val 306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59575" y="2472333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73875" y="2486620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근거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9575" y="2688134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4인격은 별도 LLM 세션이 아니다. 동일 컨텍스트에서 역할을 명시적으로 전환하는 프롬프트 패턴이다. 비용은 1회 추론이고, 효과는 4가지 시각의 독립 체크다. Confirmation Bias를 구조적으로 제거한다.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4978450"/>
            <a:ext cx="210310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Beck × Karpathy × Steinberger × Cherny — 4인격 1세션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8457456" y="4978450"/>
            <a:ext cx="2339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 / 34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 — Phase 0-5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누적될수록 다음 스캐폴딩이 빨라지는 복리 구조 — 36일 만에 </a:t>
            </a:r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속도 상승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9421" y="165779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39421" y="175304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1447651" y="168473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76102" y="1559421"/>
            <a:ext cx="4394746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12578" y="1645146"/>
            <a:ext cx="42042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Bootstrap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12578" y="1765697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초안, 첫 CANNOT 규칙, 단일 Skill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162190" y="170542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기준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39421" y="210368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39421" y="219893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47651" y="213062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76102" y="2000548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12578" y="2086273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도입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12578" y="2216348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5-질문 게이트 → 회귀 이슈 60% 감소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162190" y="215131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39421" y="2554337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9421" y="2649587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447651" y="25812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76102" y="2451199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12578" y="2536924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+ 8-Step Loop 확립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812578" y="2667000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→ 설계 결정 자동화 시작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62190" y="2601962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39421" y="300498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9421" y="3100239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447651" y="303192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76102" y="2901851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12578" y="2987576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+ Hook 자율 실행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12578" y="3117652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직접 코드 생성 시작 → PR 500+ 돌파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162190" y="3052614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39421" y="3455640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9421" y="3550890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4-5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1447651" y="34825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76102" y="3352502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812578" y="3438227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이식 — Domain Portability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812578" y="3568303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하네스 → REODE 209 모듈 · 3,274 Tests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162190" y="3503265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39421" y="3906292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39421" y="4001542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36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447651" y="393323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676102" y="3803154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812578" y="3888879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— Long-Running Safety 완성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812578" y="4018955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Provider-aware Compaction + Cost Guard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162190" y="3953917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807250" y="1055043"/>
            <a:ext cx="1879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53618" y="1216968"/>
            <a:ext cx="15868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953618" y="1683693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953618" y="1804243"/>
            <a:ext cx="15868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대비 Day 36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07250" y="2153394"/>
            <a:ext cx="1879550" cy="968276"/>
          </a:xfrm>
          <a:prstGeom prst="roundRect">
            <a:avLst>
              <a:gd name="adj" fmla="val 787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69175" y="2294632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커밋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327231" y="2289870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69175" y="2485132"/>
            <a:ext cx="2749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PRs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296126" y="2480370"/>
            <a:ext cx="2333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69175" y="2680395"/>
            <a:ext cx="3779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411914" y="2670870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69175" y="2870895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324106" y="2861370"/>
            <a:ext cx="2047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07250" y="3223171"/>
            <a:ext cx="1879550" cy="602605"/>
          </a:xfrm>
          <a:prstGeom prst="roundRect">
            <a:avLst>
              <a:gd name="adj" fmla="val 84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934200" y="3324671"/>
            <a:ext cx="16581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스캐폴딩을 만든다. 각 Phase가 다음 Phase의 속도를 올리는 복리 구조 — 이것이 Harness Engineering이다.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807250" y="3927277"/>
            <a:ext cx="1879550" cy="767507"/>
          </a:xfrm>
          <a:prstGeom prst="roundRect">
            <a:avLst>
              <a:gd name="adj" fmla="val 661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6826300" y="3927277"/>
            <a:ext cx="0" cy="767507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6850" y="3978027"/>
            <a:ext cx="1671218" cy="66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초기 투자 vs 복리 가속: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Phase 0-1에서 Socratic Gate·Frontier Mining에 시간을 썼다. 구현 속도를 포기하고 정확성을 선택했다 — Phase 3부터 회귀 없이 하루 32.2 커밋이 가능해진 이유다.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57200" y="4987975"/>
            <a:ext cx="16543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1,160 commits · Feb 21 – Mar 28, 2026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34</a:t>
            </a:r>
            <a:endParaRPr lang="en-US" sz="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993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 · CHANGELOG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Evolution: v0.6 → v0.31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릴리스, 6 아키텍처 피봇 — 각 결정에는 왜(Why)가 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43993" y="1667173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19051" y="165437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7689" y="1781324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47502" y="1590973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83978" y="1676698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도입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83978" y="1806773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로직이 인프라에 강결합 → Port/Adapter 분리. 이후 REODE 이식이 가능해진 기반 결정.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43993" y="2105174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19051" y="20923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77689" y="2219325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47502" y="2028974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83978" y="2114699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Pivot — 도메인 분석 → 하네스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83978" y="2244775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 분석 결과보다 자율 실행 인프라가 재사용 가치가 높다고 판단. 어필 포인트 전환.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3993" y="2543175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19051" y="253037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77689" y="2657326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47502" y="2466975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83978" y="2552700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 제거 → ContextVar 통합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83978" y="2682776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Guard 모듈이 ContextVar 흐름과 충돌 → 통합 TokenTracker로 단순화. 비용 추적 정확도 향상.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43993" y="2981176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19051" y="29683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77689" y="3095327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47502" y="2904976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83978" y="2990701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독립 추출 → 46 Events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83978" y="3120777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→ Priority 핸들러 체인. 재귀 개선 루프와 자동 학습이 Hook에 의존하는 구조로 전환.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3993" y="3419177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19051" y="34063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77689" y="3533329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47502" y="3342977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83978" y="3428702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 → 45 Catalog auto-discovery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583978" y="3558778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3계층(Registry+Catalog+Config) → 2계층. Proxy stub 9개 제거로 도구 추가 비용 대폭 감소.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43993" y="3857179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219051" y="38443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47502" y="3780979"/>
            <a:ext cx="5486846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583978" y="3866704"/>
            <a:ext cx="53181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 + Long-Running Safety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583978" y="3987254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Beta tool_use 캐시 규칙 차이를 인지한 압축. 비용 상한 + 수렴 감지 + 다양성 강제로 안정성 달성.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035850" y="1204317"/>
            <a:ext cx="1650950" cy="952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84504" y="1366242"/>
            <a:ext cx="13536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184504" y="1813917"/>
            <a:ext cx="1353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184504" y="1909167"/>
            <a:ext cx="13536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→ v0.31 · 36일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035850" y="2258318"/>
            <a:ext cx="1650950" cy="714077"/>
          </a:xfrm>
          <a:prstGeom prst="roundRect">
            <a:avLst>
              <a:gd name="adj" fmla="val 106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97775" y="2394793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피봇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398520" y="2394793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197775" y="2562969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무회귀 릴리스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302377" y="2562969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39/39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97775" y="2731145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커밋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302377" y="2731145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035850" y="3073896"/>
            <a:ext cx="165095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162800" y="3175397"/>
            <a:ext cx="142499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CHANGELOG는 기록이 아니다. 다음 Frontier Mining의 입력이다.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035850" y="3644801"/>
            <a:ext cx="1650950" cy="900708"/>
          </a:xfrm>
          <a:prstGeom prst="roundRect">
            <a:avLst>
              <a:gd name="adj" fmla="val 56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7054900" y="3644801"/>
            <a:ext cx="0" cy="900708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5450" y="3695551"/>
            <a:ext cx="1438046" cy="79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판단 — WHY를 기록하는 비용: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각 릴리스마다 CHANGELOG 작성에 시간이 든다. 이를 포기하면 "왜 이 결정을 했는가"가 휘발된다 — v0.14 Token Guard 제거처럼 나중에 같은 실수를 반복하게 된다.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57200" y="4987975"/>
            <a:ext cx="1672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39 releases · 6 major architecture pivots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34</a:t>
            </a:r>
            <a:endParaRPr lang="en-US" sz="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278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Bash 3-Layer + Dual Trust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에이전트는 신뢰 경계가 없으면 시스템을 파괴한다 — PolicyChain이 실행 전 모든 명령을 검문한다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641800" cy="4099322"/>
          </a:xfrm>
          <a:prstGeom prst="roundRect">
            <a:avLst>
              <a:gd name="adj" fmla="val 1859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617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6015"/>
            <a:ext cx="10696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다이어그램</a:t>
            </a:r>
            <a:endParaRPr lang="en-US" sz="800" dirty="0"/>
          </a:p>
        </p:txBody>
      </p:sp>
      <p:pic>
        <p:nvPicPr>
          <p:cNvPr id="9" name="Image 0" descr="/Users/mango/workspace/portfolio/geode/versions/v6/slides/assets/v028-diagram-policy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241078"/>
            <a:ext cx="4317950" cy="20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25951" y="825252"/>
            <a:ext cx="3460849" cy="2109192"/>
          </a:xfrm>
          <a:prstGeom prst="roundRect">
            <a:avLst>
              <a:gd name="adj" fmla="val 361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87876" y="961727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실행 제어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87876" y="1148953"/>
            <a:ext cx="3136999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514826" y="1225153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Syntax Validation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514826" y="1345704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-rf / · chmod 777 · curl | bash 패턴 차단. 실행 전 정적 분석.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387876" y="1571030"/>
            <a:ext cx="3136999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14826" y="1647230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PolicyChain Hook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514826" y="1767780"/>
            <a:ext cx="2940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중 BASH_EXEC_PRE에서 PolicyChain 통과 여부 확인. 거부 시 즉시 차단 + 사유 반환.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387876" y="2078831"/>
            <a:ext cx="3136999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14826" y="2155031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— macOS Seatbelt Sandbox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514826" y="2275582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REODE: 34-패턴 deny-list. 파일시스템 쓰기, 네트워크 외부 접근, 프로세스 fork 제한.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225951" y="3035945"/>
            <a:ext cx="3460849" cy="1437084"/>
          </a:xfrm>
          <a:prstGeom prst="roundRect">
            <a:avLst>
              <a:gd name="adj" fmla="val 53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87876" y="3172420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 — 두 독립 축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87876" y="3359646"/>
            <a:ext cx="319973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안전과 파이프라인 검증은 독립 축이다. 에이전트는 입력을 차단(Input Gating), 파이프라인은 출력을 검증(Output Validation). 둘 다 통과해야만 결과가 신뢰된다.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387876" y="3696891"/>
            <a:ext cx="1530400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89377" y="3773091"/>
            <a:ext cx="1353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89377" y="3893641"/>
            <a:ext cx="13539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HITL 권한 모델 — 에이전트 실행 전 차단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994475" y="3696891"/>
            <a:ext cx="1530400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095976" y="3773091"/>
            <a:ext cx="1353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095976" y="3893641"/>
            <a:ext cx="13539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등급 — 실행 후 출력 검증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387876" y="4229993"/>
            <a:ext cx="319973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0-1: asyncio.gather 병렬 자동 실행 / TIER 3-4: 개별 수동 승인 필수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225951" y="4574530"/>
            <a:ext cx="3460849" cy="350044"/>
          </a:xfrm>
          <a:prstGeom prst="roundRect">
            <a:avLst>
              <a:gd name="adj" fmla="val 145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245001" y="4574530"/>
            <a:ext cx="0" cy="35004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65552" y="4625280"/>
            <a:ext cx="328414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3-Layer 제어 비용: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L1 정적 분석 + L2 PolicyChain + L3 Seatbelt 모두 통과 시 지연이 있지만, 자율 에이전트가 시스템을 파괴한 사례가 0건인 것이 증거다.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57200" y="4987975"/>
            <a:ext cx="23590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46 Hook Events · 5-Tier Tool Safety · macOS Seatbelt (REODE)</a:t>
            </a:r>
            <a:endParaRPr lang="en-US" sz="500" dirty="0"/>
          </a:p>
        </p:txBody>
      </p:sp>
      <p:sp>
        <p:nvSpPr>
          <p:cNvPr id="35" name="Text 3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34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Trade-offs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설계 결정은 무언가를 포기하고 무언가를 얻는다 — Trade-off를 인식한 결정만이 장기 운용된다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08585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092101"/>
            <a:ext cx="7596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2635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직접 호출 단순성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9125" y="139675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GEODE→REODE 이식 시 코어 코드 변경 0줄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866751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2127349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425" y="2133600"/>
            <a:ext cx="134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Context Selection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9125" y="23050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요약(빠르지만 정보 손실)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382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LLM이 직접 선별 → 컨텍스트 비용 0.03%로 절감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2908250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3168848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175099"/>
            <a:ext cx="1375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9125" y="3346549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단일 압축 로직의 단순성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34797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Anthropic Beta tool_use 캐시 규칙 준수 → Failover 안정성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3949750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125" y="4210348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3425" y="4216598"/>
            <a:ext cx="10035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125" y="4388048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초기 설계 속도 (레이어마다 인터페이스 정의)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9125" y="45212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187 모듈 중 어느 레이어도 교체 가능한 구조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25252"/>
            <a:ext cx="4064050" cy="1155948"/>
          </a:xfrm>
          <a:prstGeom prst="roundRect">
            <a:avLst>
              <a:gd name="adj" fmla="val 65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4675" y="118110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98975" y="1182588"/>
            <a:ext cx="8525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4675" y="135880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중앙 집중 도구 관리 (단일 조회 포인트)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84675" y="149200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Proxy stub 9개 제거 → 45 MCP auto-discovery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22750" y="2057400"/>
            <a:ext cx="4064050" cy="1156097"/>
          </a:xfrm>
          <a:prstGeom prst="roundRect">
            <a:avLst>
              <a:gd name="adj" fmla="val 659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4675" y="2413397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975" y="2419648"/>
            <a:ext cx="13469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PromptAssembler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4675" y="2591098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수동 편집의 즉각성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84675" y="2724299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cache_control ephemeral → 2회차 입력 비용 10%로 감소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22750" y="3289697"/>
            <a:ext cx="4064050" cy="1155948"/>
          </a:xfrm>
          <a:prstGeom prst="roundRect">
            <a:avLst>
              <a:gd name="adj" fmla="val 65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4675" y="3645545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8975" y="3647033"/>
            <a:ext cx="1323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(휘발 → 불변)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84675" y="3823246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Redis 캐시 (단계 없는 단일 레이어)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84675" y="3956447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Provider Failover 시에도 학습 내용 보존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22750" y="4521845"/>
            <a:ext cx="4064050" cy="393204"/>
          </a:xfrm>
          <a:prstGeom prst="roundRect">
            <a:avLst>
              <a:gd name="adj" fmla="val 1291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41800" y="4521845"/>
            <a:ext cx="0" cy="393204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7801" y="4585246"/>
            <a:ext cx="384749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원칙: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포기하는 것을 명시하지 않은 설계 결정은 결정이 아니다. 7개 피봇 모두 CHANGELOG에 "왜"가 기록되어 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7200" y="4978450"/>
            <a:ext cx="171675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39 releases · 모든 피봇 CHANGELOG 기록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34</a:t>
            </a:r>
            <a:endParaRPr lang="en-US" sz="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Infra Trade-offs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실행과 인프라 결정 — 자율성을 높이면 안전성 비용이 오르고, 안전성을 높이면 처리량이 줄어든다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08704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088529"/>
            <a:ext cx="17528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× 200 Turns 무한 루프 방지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26474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완전 자율 (무제한 실행 시도)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9125" y="139794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수렴 감지 + 비용 상한 → 파이프라인 폭주 차단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86913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21309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425" y="2137172"/>
            <a:ext cx="1442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4096 Token Guard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9125" y="23086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자식 출력 전체 반환 (완전한 컨텍스트)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418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부모 컨텍스트 폭발 방지 → MAX_CONCURRENT=5 병렬 가능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291301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317480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176290"/>
            <a:ext cx="12142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Safety: 병렬 vs 순차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9125" y="335250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TIER 3-4 병렬 처리 (속도)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348570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DANGEROUS 명령 개별 승인 → 권한 에스컬레이션 차단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395689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125" y="421868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3425" y="4224933"/>
            <a:ext cx="1390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 120s Timeout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125" y="439638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느린 작업 완료 대기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9125" y="452958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NODE_ENTER 후 EXIT 미감지 시 파이프라인 강제 중단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2525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4675" y="108704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98975" y="1088529"/>
            <a:ext cx="13638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Priority 핸들러 순서 보장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4675" y="126474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병렬 핸들러 실행 (최대 처리량)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84675" y="139794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 핸들러가 Logging보다 항상 먼저 실행 보장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22750" y="186913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4675" y="21309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975" y="2137172"/>
            <a:ext cx="12376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CircuitBreaker OPEN 60s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4675" y="23086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즉시 재시도 (지연 없는 복구 시도)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84675" y="24418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5회 연속 실패 후 60s OPEN → RateLimit 폭주 차단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22750" y="291301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4675" y="317480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8975" y="3176290"/>
            <a:ext cx="6576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84675" y="335250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공유 컨텍스트 (이전 세션 학습 즉시 반영)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84675" y="348570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스케줄 충돌 없는 독립 실행 → 장기 운용 안정성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22750" y="395689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84675" y="421868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98975" y="4220170"/>
            <a:ext cx="10354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dry-run 자동 전환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84675" y="439638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항상 라이브 데이터 (API 키 필수)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84675" y="452958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키 부재 시 fixture fallback → 오프라인 테스트 가능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4987975"/>
            <a:ext cx="156571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52 Tools · 45 MCP · 46 Hook Events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34</a:t>
            </a:r>
            <a:endParaRPr lang="en-US" sz="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2717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CONSTRAINTS →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→ HOW → Results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금지 규칙 → 어떤 메커니즘으로 → 어떤 결과가 나왔는가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562695"/>
            <a:ext cx="238645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1661071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93675" y="1781621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나열식 슬라이드 금지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3342" y="1689646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64210" y="181019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24659" y="1562695"/>
            <a:ext cx="296301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61134" y="1661071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361134" y="1781621"/>
            <a:ext cx="27438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위반 시 Socratic Gate 재통과 강제 — 인과관계 1문장 없으면 PR 차단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70129" y="174992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478" y="1562695"/>
            <a:ext cx="2194322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28954" y="1661071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628954" y="1781621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34장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 DAG 내러티브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2152948"/>
            <a:ext cx="238645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3675" y="2251323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93675" y="2371874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통과 전 코드 작성 금지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923342" y="2232273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964210" y="2352824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24659" y="2152948"/>
            <a:ext cx="296301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61134" y="2251323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361134" y="2371874"/>
            <a:ext cx="27438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5-질문 의무화 → 잘못된 전제로 50 rounds 낭비 사전 차단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70129" y="2292548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478" y="2152948"/>
            <a:ext cx="2194322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28954" y="2251323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628954" y="2371874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39회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릴리스 무회귀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2647950"/>
            <a:ext cx="238645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675" y="2746325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93675" y="2866876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다이어그램 금지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923342" y="2774900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964210" y="289545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24659" y="2647950"/>
            <a:ext cx="296301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61134" y="2746325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361134" y="2866876"/>
            <a:ext cx="27438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화살표 + 분기 + 루프백 필수 → 4-Persona Review의 Architect 검사 통과 시에만 머지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70129" y="283517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478" y="2647950"/>
            <a:ext cx="2194322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28954" y="2746325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628954" y="2866876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흐름도 누적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57200" y="3238202"/>
            <a:ext cx="238645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3675" y="3336578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93675" y="3457129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명시 없는 설계 결정 금지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923342" y="3317528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964210" y="3438079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24659" y="3238202"/>
            <a:ext cx="296301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61134" y="3336578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361134" y="3457129"/>
            <a:ext cx="27438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CHANGELOG에 "포기한 것 / 얻은 것" 쌍 없으면 기능 커밋 자체가 차단됨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270129" y="337780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92478" y="3238202"/>
            <a:ext cx="2194322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628954" y="3336578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628954" y="3457129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피봇 WHY 전부 기록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7200" y="3733205"/>
            <a:ext cx="238645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93675" y="3831580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93675" y="3952131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6개 초과 금지 — 밀도 강제 압축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923342" y="3812530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964210" y="393308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224659" y="3733205"/>
            <a:ext cx="296301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361134" y="3831580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361134" y="3952131"/>
            <a:ext cx="27438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 시 슬라이드 분리 강제 → 정보 우선순위 결정이 설계자에게 귀환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70129" y="3872805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92478" y="3733205"/>
            <a:ext cx="2194322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628954" y="3831580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628954" y="3952131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34장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슬라이드당 1메시지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57200" y="4978450"/>
            <a:ext cx="1638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23 CANNOT rules · 제약이 품질을 만든다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34</a:t>
            </a:r>
            <a:endParaRPr lang="en-US" sz="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369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총정리 — GEODE v0.31.0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36일, 모든 숫자는 Socratic Gate → 8-Step Loop → 4-Persona Review를 통과한 것들이다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8012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08012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Version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968550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19362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19362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479899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30711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0711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91249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2061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42061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8012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8012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968550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19362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19362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79899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30711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30711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991249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42061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42061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57200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8012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8012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968550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19362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119362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479899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630711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630711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Rules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91249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42061" y="2510582"/>
            <a:ext cx="11335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42061" y="2840682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27899" y="834777"/>
            <a:ext cx="2158901" cy="2893814"/>
          </a:xfrm>
          <a:prstGeom prst="roundRect">
            <a:avLst>
              <a:gd name="adj" fmla="val 353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89824" y="971252"/>
            <a:ext cx="187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89824" y="12123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04124" y="1148953"/>
            <a:ext cx="17551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PromptAssembler 6-Phase + SHA-256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89824" y="1524298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04124" y="1460897"/>
            <a:ext cx="153049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while(tool_use) · 50R × 200T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89824" y="171197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04124" y="1648569"/>
            <a:ext cx="131705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5-Layer · Cross-LLM α≥0.67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689824" y="189964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804124" y="1836241"/>
            <a:ext cx="155766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46-Event Hook · LangSmith/OTEL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527899" y="3804791"/>
            <a:ext cx="2158901" cy="1119783"/>
          </a:xfrm>
          <a:prstGeom prst="roundRect">
            <a:avLst>
              <a:gd name="adj" fmla="val 680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689824" y="3941266"/>
            <a:ext cx="18717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(이식 증거)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89824" y="4115842"/>
            <a:ext cx="1871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 소스 · 103K LoC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689824" y="4290864"/>
            <a:ext cx="1871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세션 · 1,133 LLM 라운드 · 5h 48m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689824" y="4491186"/>
            <a:ext cx="187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689824" y="4681538"/>
            <a:ext cx="187175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때문에 코어 수정 0줄 — 하네스 이식성의 실증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457200" y="4987975"/>
            <a:ext cx="20537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Feb 21 – Mar 28, 2026 · Anthropic / OpenAI / ZhipuAI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34</a:t>
            </a:r>
            <a:endParaRPr lang="en-US" sz="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431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Engineering은 디시플린입니다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도구가 아닌 습관 — 4축이 매 릴리스마다 실천될 때 하네스가 장기 운용된다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57101"/>
            <a:ext cx="2133600" cy="4067473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523405"/>
            <a:ext cx="1809750" cy="596801"/>
          </a:xfrm>
          <a:prstGeom prst="roundRect">
            <a:avLst>
              <a:gd name="adj" fmla="val 85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6476" y="1650355"/>
            <a:ext cx="15350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시스템은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없이 발산한다"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1028" y="2221706"/>
            <a:ext cx="1845945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</a:t>
            </a:r>
            <a:endParaRPr lang="en-US" sz="7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수렴시키는 하네스를 만듭니다.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9125" y="2612231"/>
            <a:ext cx="1809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028" y="2718495"/>
            <a:ext cx="18459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디시플린은 일회성 설계가 아니다. 매 PR마다, 매 릴리스마다 4축이 실천되어야 하네스가 살아남는다.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3137148"/>
            <a:ext cx="1809750" cy="466427"/>
          </a:xfrm>
          <a:prstGeom prst="roundRect">
            <a:avLst>
              <a:gd name="adj" fmla="val 108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517" y="3238649"/>
            <a:ext cx="1586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0517" y="3416350"/>
            <a:ext cx="15869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25버전 동안 4축이 유지됨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619125" y="3730377"/>
            <a:ext cx="1809750" cy="527745"/>
          </a:xfrm>
          <a:prstGeom prst="roundRect">
            <a:avLst>
              <a:gd name="adj" fmla="val 962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8175" y="3730377"/>
            <a:ext cx="0" cy="527745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726" y="3781127"/>
            <a:ext cx="1600021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디시플린 비용: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4축 실천은 PR마다 시간이 든다. 이를 포기하면 릴리스 속도는 올라가지만 회귀가 쌓인다. 39/39 무회귀가 그 비용의 수익이다.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692301" y="857101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54226" y="968127"/>
            <a:ext cx="38100" cy="737592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93827" y="1189286"/>
            <a:ext cx="49886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 — 장기 진화 방향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93827" y="1351211"/>
            <a:ext cx="498860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캐싱 → Semantic diff 기반 선택적 재생성으로 진화. Provider별 캐시 효율 최적화가 장기 비용 절감의 핵심.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86117" y="1151186"/>
            <a:ext cx="538758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10219" y="1227386"/>
            <a:ext cx="290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10219" y="1360736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692301" y="1892945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54226" y="2003971"/>
            <a:ext cx="38100" cy="737741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993827" y="2225278"/>
            <a:ext cx="49096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 — 장기 진화 방향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93827" y="2387203"/>
            <a:ext cx="490966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루프 → Plan-first + Executor 분리 → 멀티 에이전트 DAG 오케스트레이션. 수렴 감지와 다양성 강제가 루프 품질을 유지.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908727" y="2187029"/>
            <a:ext cx="616148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32054" y="2263229"/>
            <a:ext cx="36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32054" y="2396579"/>
            <a:ext cx="3694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×200 turns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692301" y="2928938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54226" y="3039963"/>
            <a:ext cx="38100" cy="737592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993827" y="3261122"/>
            <a:ext cx="49164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— 장기 진화 방향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93827" y="3423047"/>
            <a:ext cx="491649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정적 검증 → CUSUM 드리프트 감지 + 실시간 Cross-LLM 합의도 추적. 비결정론을 측정 가능한 지표로 관리.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915424" y="3223022"/>
            <a:ext cx="609451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38819" y="3299222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α≥0.67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38819" y="3432572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합의도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692301" y="3964781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854226" y="4075807"/>
            <a:ext cx="38100" cy="737741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993827" y="4297114"/>
            <a:ext cx="48384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— 장기 진화 방향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993827" y="4459039"/>
            <a:ext cx="483847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LangSmith/OTEL 수동 트레이싱 → 자동 비용 예측 + 예산 소진율 알림 → ML 기반 실행 계획 최적화.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838926" y="4258866"/>
            <a:ext cx="685949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961556" y="4335066"/>
            <a:ext cx="440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61556" y="4468416"/>
            <a:ext cx="4406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57200" y="4987975"/>
            <a:ext cx="24159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Harness Engineering = Context × Loop × Validation × Observation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34</a:t>
            </a:r>
            <a:endParaRPr lang="en-US" sz="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6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57014"/>
            <a:ext cx="590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41182" y="171301"/>
            <a:ext cx="1882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Feb 21 – Mar 28,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124545"/>
            <a:ext cx="6058049" cy="1031974"/>
          </a:xfrm>
          <a:prstGeom prst="roundRect">
            <a:avLst>
              <a:gd name="adj" fmla="val 738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4426" y="1261021"/>
            <a:ext cx="5797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4426" y="1445121"/>
            <a:ext cx="579726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시스템(LLM)은 제어 없이 발산합니다.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만듭니다."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426" y="1886843"/>
            <a:ext cx="579726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— 36일, 1,160 커밋, 39 릴리스가 이 명제의 실증입니다.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2258020"/>
            <a:ext cx="6058049" cy="831652"/>
          </a:xfrm>
          <a:prstGeom prst="roundRect">
            <a:avLst>
              <a:gd name="adj" fmla="val 916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4426" y="2394496"/>
            <a:ext cx="57972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 — 하네스의 3개 피드백 사이클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4426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31212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Loop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31212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→ CANNOT → 다음 설계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420392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48992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35778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Loop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735778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→ PR → CHANGELOG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424958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53558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40344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Loop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740344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→ Hook → LEARNINGS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57200" y="3191173"/>
            <a:ext cx="6058049" cy="977057"/>
          </a:xfrm>
          <a:prstGeom prst="roundRect">
            <a:avLst>
              <a:gd name="adj" fmla="val 77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44426" y="3327648"/>
            <a:ext cx="5797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Value Propositions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4426" y="356875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84027" y="3505349"/>
            <a:ext cx="294303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CANNOT + 21 Skills로 LLM 자율성과 제어의 균형을 잡는 방법론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44426" y="376535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84027" y="3701951"/>
            <a:ext cx="311867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50R × 200T 장기 실행을 비용 상한 + 수렴 감지로 안정 운용하는 기술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4426" y="39619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84027" y="3898553"/>
            <a:ext cx="288717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 → REODE 이식 — 하네스가 도메인을 선택하지 않는 구조</a:t>
            </a:r>
            <a:endParaRPr lang="en-US" sz="700" dirty="0"/>
          </a:p>
        </p:txBody>
      </p:sp>
      <p:pic>
        <p:nvPicPr>
          <p:cNvPr id="31" name="Image 1" descr="/Users/mango/workspace/portfolio/geode/versions/v6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149" y="675680"/>
            <a:ext cx="1396901" cy="139690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718399" y="2199531"/>
            <a:ext cx="1968401" cy="1273076"/>
          </a:xfrm>
          <a:prstGeom prst="roundRect">
            <a:avLst>
              <a:gd name="adj" fmla="val 598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863879" y="2361456"/>
            <a:ext cx="1677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863879" y="2637681"/>
            <a:ext cx="1677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6880324" y="2832943"/>
            <a:ext cx="164455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63879" y="2913906"/>
            <a:ext cx="1677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· REODE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6863879" y="3069431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· 1,160 commits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6863879" y="3215432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– Mar 28, 2026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6718399" y="3599557"/>
            <a:ext cx="1968401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828205" y="3701058"/>
            <a:ext cx="174879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7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질문은 언제든 환영합니다.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6718399" y="4195911"/>
            <a:ext cx="1968401" cy="421184"/>
          </a:xfrm>
          <a:prstGeom prst="roundRect">
            <a:avLst>
              <a:gd name="adj" fmla="val 120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8"/>
          <p:cNvSpPr/>
          <p:nvPr/>
        </p:nvSpPr>
        <p:spPr>
          <a:xfrm>
            <a:off x="6737449" y="4195911"/>
            <a:ext cx="0" cy="421184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840727" y="4246662"/>
            <a:ext cx="1761845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Trade-off:</a:t>
            </a:r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자율성을 높이면 안전 비용이 오른다. 46 Hook + 3 Brake + 5-Tier로 그 비용을 지불했고, 36일 무중단 실행이 수익이다.</a:t>
            </a:r>
            <a:endParaRPr lang="en-US" sz="600" dirty="0"/>
          </a:p>
        </p:txBody>
      </p:sp>
      <p:sp>
        <p:nvSpPr>
          <p:cNvPr id="44" name="Text 40"/>
          <p:cNvSpPr/>
          <p:nvPr/>
        </p:nvSpPr>
        <p:spPr>
          <a:xfrm>
            <a:off x="457200" y="4975324"/>
            <a:ext cx="202370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/ OpenAI / ZhipuAI · 3 Providers · 187 Modules · 3,201 Tests</a:t>
            </a:r>
            <a:endParaRPr lang="en-US" sz="500" dirty="0"/>
          </a:p>
        </p:txBody>
      </p:sp>
      <p:sp>
        <p:nvSpPr>
          <p:cNvPr id="45" name="Text 41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34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mangowhoiscloud</cp:lastModifiedBy>
  <cp:revision>1</cp:revision>
  <dcterms:created xsi:type="dcterms:W3CDTF">2026-03-28T06:13:15Z</dcterms:created>
  <dcterms:modified xsi:type="dcterms:W3CDTF">2026-03-28T06:13:15Z</dcterms:modified>
</cp:coreProperties>
</file>