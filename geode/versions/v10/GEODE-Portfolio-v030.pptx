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01" y="1151037"/>
            <a:ext cx="553938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47576" y="1211312"/>
            <a:ext cx="28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v0.37.2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1353889" y="1151037"/>
            <a:ext cx="1417290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90365" y="1211312"/>
            <a:ext cx="11672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Daemon + Thin IPC Client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860030" y="1151037"/>
            <a:ext cx="954732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996505" y="1211312"/>
            <a:ext cx="6954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38-day build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711101" y="1509713"/>
            <a:ext cx="78762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11101" y="1890713"/>
            <a:ext cx="78762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{ observe → learn → act }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11101" y="2122438"/>
            <a:ext cx="5334000" cy="622250"/>
          </a:xfrm>
          <a:prstGeom prst="roundRect">
            <a:avLst>
              <a:gd name="adj" fmla="val 816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11101" y="2127200"/>
            <a:ext cx="533400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40338" y="2122438"/>
            <a:ext cx="0" cy="62225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1101" y="2739926"/>
            <a:ext cx="533400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4913" y="2122438"/>
            <a:ext cx="0" cy="622250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1126" y="2246263"/>
            <a:ext cx="5071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11126" y="2468463"/>
            <a:ext cx="50714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1101" y="2947839"/>
            <a:ext cx="895648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80211" y="3071664"/>
            <a:ext cx="55742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80211" y="3351014"/>
            <a:ext cx="557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708249" y="2947839"/>
            <a:ext cx="984647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876470" y="3071664"/>
            <a:ext cx="6482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876470" y="3351014"/>
            <a:ext cx="6482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794397" y="2947839"/>
            <a:ext cx="863501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963829" y="3071664"/>
            <a:ext cx="5246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2963829" y="3351014"/>
            <a:ext cx="524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759398" y="2947839"/>
            <a:ext cx="863501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928830" y="3071664"/>
            <a:ext cx="5246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3928830" y="3351014"/>
            <a:ext cx="524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724400" y="2947839"/>
            <a:ext cx="1252686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89940" y="3071664"/>
            <a:ext cx="9216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4889940" y="3351014"/>
            <a:ext cx="9216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11101" y="3687514"/>
            <a:ext cx="78762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days (Feb 21 ~ Mar 30) ·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tools +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 ·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events ·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·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IPC events</a:t>
            </a:r>
            <a:endParaRPr lang="en-US" sz="600" dirty="0"/>
          </a:p>
        </p:txBody>
      </p:sp>
      <p:pic>
        <p:nvPicPr>
          <p:cNvPr id="34" name="Image 1" descr="/Users/mango/workspace/portfolio/geode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450" y="3848249"/>
            <a:ext cx="1117550" cy="111755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11101" y="5000625"/>
            <a:ext cx="12516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v10. Harness Engineering</a:t>
            </a:r>
            <a:endParaRPr lang="en-US" sz="500" dirty="0"/>
          </a:p>
        </p:txBody>
      </p:sp>
      <p:sp>
        <p:nvSpPr>
          <p:cNvPr id="36" name="Text 32"/>
          <p:cNvSpPr/>
          <p:nvPr/>
        </p:nvSpPr>
        <p:spPr>
          <a:xfrm>
            <a:off x="8238827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29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— 4-Axis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LLM을 신뢰 가능한 시스템으로 수렴시키는 4개 제어 축. 루프가 데이터를 생산하고, 관측이 포착하고, 검증이 확인하고, 컨텍스트가 다음 반복을 제어합니다.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1981200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088827"/>
            <a:ext cx="637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0626" y="1231702"/>
            <a:ext cx="6375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Control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48247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158397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주입 설계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0626" y="1739503"/>
            <a:ext cx="14834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6-Phase: template → override → skill → memory → bootstrap 순서로 동적 조립. LLM이 보는 것이 곧 결과.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3675" y="245000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0151" y="254838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prompt caching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30151" y="269125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노드 동일 프롬프트 공유 → 입력 비용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절감. 200 turns sliding window.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901" y="863501"/>
            <a:ext cx="1981349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6376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3327" y="1088827"/>
            <a:ext cx="535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03327" y="1231702"/>
            <a:ext cx="535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676376" y="1482477"/>
            <a:ext cx="1708398" cy="758130"/>
          </a:xfrm>
          <a:prstGeom prst="roundRect">
            <a:avLst>
              <a:gd name="adj" fmla="val 6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03327" y="158397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03327" y="1739503"/>
            <a:ext cx="1483587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while(tool_use), 최대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라운드. 자연 종료·수렴 감지(동일 에러 4회)·강제 텍스트 등 5가지 경로로 종료.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676376" y="2316807"/>
            <a:ext cx="1708398" cy="817215"/>
          </a:xfrm>
          <a:prstGeom prst="roundRect">
            <a:avLst>
              <a:gd name="adj" fmla="val 6216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12852" y="2415183"/>
            <a:ext cx="14641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tools × time_budget 자율 실행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12852" y="2662833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안전 등급. TIER 0-1 병렬, TIER 2 비용 일괄 승인, TIER 3-4 HITL 순차. 3-Provider Failover.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63501"/>
            <a:ext cx="1981200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59226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6176" y="1088827"/>
            <a:ext cx="3802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6176" y="1231702"/>
            <a:ext cx="380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59226" y="148247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86176" y="158397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비결정론 → 신뢰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86176" y="1739503"/>
            <a:ext cx="14834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 → GEODE 5-Layer로 진화: 69.4 →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정확도. 단일 LLM 평가의 Confirmation Bias 제거.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59226" y="245000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95701" y="254838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5-Layer + Cross-LLM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5701" y="269125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→ BiasBuster(6종) → Claude×GPT 교차검증(α≥0.67) → Confidence Gate(0.7).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05451" y="863501"/>
            <a:ext cx="1981349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41927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68877" y="1088827"/>
            <a:ext cx="449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8877" y="1231702"/>
            <a:ext cx="4493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41927" y="1482477"/>
            <a:ext cx="1708398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68877" y="158397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증명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68877" y="1739503"/>
            <a:ext cx="1483587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40-Event Hook Observer가 파이프라인 전 생명주기를 포착. LEARNING.md에 자동 축적. 루프가 작동함을 증명해야 신뢰 가능.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41927" y="2450009"/>
            <a:ext cx="1708398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978402" y="2548384"/>
            <a:ext cx="14641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 / OTEL / CUSUM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78402" y="2691259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TokenTracker: 18개 모델 가격 레지스트리. 컨텍스트 80% 경고, 95% 위험 시 adaptive pruning 발동.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607641" y="4638973"/>
            <a:ext cx="64636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44117" y="4699248"/>
            <a:ext cx="3808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330202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495401" y="4638973"/>
            <a:ext cx="486370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631877" y="4699248"/>
            <a:ext cx="2176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057971" y="4708773"/>
            <a:ext cx="4926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data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617119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82318" y="4638973"/>
            <a:ext cx="96634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918793" y="4699248"/>
            <a:ext cx="7072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24859" y="4708773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93357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58557" y="4638973"/>
            <a:ext cx="912912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495032" y="4699248"/>
            <a:ext cx="652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347668" y="4708773"/>
            <a:ext cx="3067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6724650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889849" y="4638973"/>
            <a:ext cx="64636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026325" y="4699248"/>
            <a:ext cx="3808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4978450"/>
            <a:ext cx="138916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축이 순환하며 LLM의 발산을 수렴으로 제어합니다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29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187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META, DEV, RUNTIME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6987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세 루프의 공유 기본 단위. RUNTIME이 DEV를 먹이고, DEV가 META를 먹입니다.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914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11249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Evolution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93675" y="1210866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711077" y="949077"/>
            <a:ext cx="1818084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22103" y="1034802"/>
            <a:ext cx="16279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2103" y="1155353"/>
            <a:ext cx="16279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결과 · DRIFT_DETECTED · 세션 회고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579912" y="108079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72049" y="949077"/>
            <a:ext cx="1818233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83075" y="1034802"/>
            <a:ext cx="16281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83075" y="1155353"/>
            <a:ext cx="16281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· anti-pattern 식별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641032" y="108079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33170" y="949077"/>
            <a:ext cx="2137321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44195" y="1034802"/>
            <a:ext cx="19535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Scaffold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44195" y="1155353"/>
            <a:ext cx="1953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규칙 추가 · 스킬 42개 · CI 래칫 ≥2900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8071991" y="1044327"/>
            <a:ext cx="478334" cy="187226"/>
          </a:xfrm>
          <a:prstGeom prst="roundRect">
            <a:avLst>
              <a:gd name="adj" fmla="val 20350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60841" y="1095077"/>
            <a:ext cx="306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600200" y="1501229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01701" y="1521768"/>
            <a:ext cx="38857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· TURN_COMPLETE → LEARNING.md 업데이트 → CLAUDE.md CANNOT 규칙 추가 · 스킬 생성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57200" y="1691580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3675" y="183267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3675" y="196602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per-PR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93675" y="2064395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711077" y="1802606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22103" y="1888331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22103" y="2008882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5Q · GAP Audit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133874" y="1934319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26011" y="1802606"/>
            <a:ext cx="1372195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37037" y="1888331"/>
            <a:ext cx="11731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37037" y="2008882"/>
            <a:ext cx="1173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 · ruff+mypy+pytest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48957" y="1934319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41094" y="1802606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52120" y="1888331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52120" y="2008882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5-persona 리뷰 · CI 5/5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363891" y="1934319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56028" y="1802606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67054" y="1888331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667054" y="2008882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PR→main · progress.md 업데이트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029575" y="1897856"/>
            <a:ext cx="520750" cy="187226"/>
          </a:xfrm>
          <a:prstGeom prst="roundRect">
            <a:avLst>
              <a:gd name="adj" fmla="val 20350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118425" y="1948607"/>
            <a:ext cx="3499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600200" y="2354759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01701" y="2375297"/>
            <a:ext cx="40800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→ GEODE.md + MEMORY.md + LEARNING.md 로드 · VERIFICATION_FAIL → 새 DEV PR 트리거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2545110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3675" y="2686199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3675" y="2819549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while(tool_use)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93675" y="2917924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711077" y="2656136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822103" y="2741861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22103" y="2862411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 · SESSION_START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121372" y="278784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13509" y="2656136"/>
            <a:ext cx="1473250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424535" y="2741861"/>
            <a:ext cx="12762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424535" y="2862411"/>
            <a:ext cx="12762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native + 44 MCP · 4-경로 디스패치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837509" y="278784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29646" y="2656136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140672" y="2741861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140672" y="2862411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· conf ≥0.7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439942" y="278784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32079" y="2656136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743105" y="2741861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743105" y="2862411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Hook 이벤트 · 메모리 저장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8093125" y="2751386"/>
            <a:ext cx="457200" cy="187226"/>
          </a:xfrm>
          <a:prstGeom prst="roundRect">
            <a:avLst>
              <a:gd name="adj" fmla="val 2035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181975" y="2802136"/>
            <a:ext cx="2850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57200" y="4978450"/>
            <a:ext cx="174909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워크플로우가 시스템을 만듭니다. 시스템이 워크플로우를 증명합니다.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29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668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ISOMORPHISM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82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Builds Harness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4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SCAFFOLD(빌더)와 GEODE(결과물)는 동일한 아키텍처를 공유합니다. 각 컴포넌트는 1:1 구조적 거울을 갖습니다.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12602"/>
            <a:ext cx="3683050" cy="4064347"/>
          </a:xfrm>
          <a:prstGeom prst="roundRect">
            <a:avLst>
              <a:gd name="adj" fmla="val 172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49077"/>
            <a:ext cx="866477" cy="209550"/>
          </a:xfrm>
          <a:prstGeom prst="roundRect">
            <a:avLst>
              <a:gd name="adj" fmla="val 18182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0151" y="996702"/>
            <a:ext cx="6053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36353" y="1010989"/>
            <a:ext cx="1078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GEODE를 빌드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260128"/>
            <a:ext cx="3410099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3200" y="1260128"/>
            <a:ext cx="0" cy="387251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226" y="1336328"/>
            <a:ext cx="32518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425줄, 17 CANNOT 규칙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4226" y="1485454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도메인: Git · Planning · Quality · Docs · PR · 개발자 에이전트 SOT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93675" y="1710779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3200" y="1710779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226" y="1786979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Scaffold Skills (.claude/skills/)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4226" y="1926580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geode-gitflow · kent-beck-review · karpathy-patterns · verification-team + 17개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93675" y="2151906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3200" y="2151906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226" y="2228106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4226" y="2367707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Lint(ruff) · Type(mypy) · Test(pytest ≥2900) · Security(bandit) · Gate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3675" y="2593032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3200" y="2593032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226" y="2669232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CANNOT/CAN (17 hard rules + 5 freedoms)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4226" y="2808833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제약 — LLM이 읽고 내면화. CI에서 강제 가능한 hard rule만 포함.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3675" y="3034159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3200" y="3034159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4226" y="3110359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5-Persona Review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4226" y="3249960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Beck(설계) · Karpathy(제약) · Steinberger(운영) · Cherny(격리) · GAP Detective(누락·괴리)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74696" y="2070348"/>
            <a:ext cx="1943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471051" y="2156073"/>
            <a:ext cx="201748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76518" y="2333923"/>
            <a:ext cx="1906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559201" y="2463998"/>
            <a:ext cx="25301" cy="2286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57526" y="2755999"/>
            <a:ext cx="628799" cy="374452"/>
          </a:xfrm>
          <a:prstGeom prst="roundRect">
            <a:avLst>
              <a:gd name="adj" fmla="val 1356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38678" y="2828925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338678" y="2943225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(tool_use)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559201" y="3193852"/>
            <a:ext cx="25301" cy="2286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67560" y="3485852"/>
            <a:ext cx="20873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4447827" y="3552527"/>
            <a:ext cx="24804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5003602" y="812602"/>
            <a:ext cx="3683198" cy="4064347"/>
          </a:xfrm>
          <a:prstGeom prst="roundRect">
            <a:avLst>
              <a:gd name="adj" fmla="val 172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0077" y="949077"/>
            <a:ext cx="665113" cy="209550"/>
          </a:xfrm>
          <a:prstGeom prst="roundRect">
            <a:avLst>
              <a:gd name="adj" fmla="val 18182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76552" y="996702"/>
            <a:ext cx="400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81390" y="1010989"/>
            <a:ext cx="9332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runtime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140077" y="1260128"/>
            <a:ext cx="34102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149602" y="1260128"/>
            <a:ext cx="0" cy="387251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60628" y="1336328"/>
            <a:ext cx="3251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GEODE.md — 71줄, 4 CANNOT 규칙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60628" y="1485454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시 core/memory/organization.py를 통해 로드 · 런타임 에이전트 정체성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140077" y="1710779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149602" y="1710779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60628" y="1786979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Skills (.geode/skills/)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260628" y="1926580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분석가 템플릿: discovery · game-mechanics · growth-potential · player-experience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140077" y="2151906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49602" y="2151906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0628" y="2228106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Verification (core/verification/)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60628" y="2367707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· BiasBuster · Cross-LLM(α≥0.67) · Confidence Gate 0.7 · Rights Risk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40077" y="2593032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5149602" y="2593032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60628" y="2669232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(core/tools/policy.py)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60628" y="2808833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· Org · Mode · Agent(STANDARD/WRITE/DANGEROUS) · Node-scope · Sub-agent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140077" y="3034159"/>
            <a:ext cx="34102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149602" y="3034159"/>
            <a:ext cx="0" cy="387251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60628" y="3110359"/>
            <a:ext cx="3251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— 6 유형 편향 제거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60628" y="3259485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· recency · anchoring · position · verbosity · self-enhancement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57200" y="4978450"/>
            <a:ext cx="139523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하네스를 빌드하는 하네스는 자신의 구조를 공유합니다.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29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26814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/ CAN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69875"/>
            <a:ext cx="26814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품질을 담보합니다. 486 PRs, 0 hotfix bypasses, 0 regressions.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277695" y="533549"/>
            <a:ext cx="1409105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4171" y="606475"/>
            <a:ext cx="1158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strictness → 0 regressions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838051"/>
            <a:ext cx="5259288" cy="234851"/>
          </a:xfrm>
          <a:prstGeom prst="roundRect">
            <a:avLst>
              <a:gd name="adj" fmla="val 21631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898327"/>
            <a:ext cx="5086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— 17 Hard Rules (CLAUDE.md)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23652"/>
            <a:ext cx="2604195" cy="92080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" y="1123652"/>
            <a:ext cx="0" cy="92080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200" y="1212503"/>
            <a:ext cx="23778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격리 </a:t>
            </a:r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5600" y="1387078"/>
            <a:ext cx="217884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main/develop 직접 push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세션 worktree 삭제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미동기화 상태 브랜치 생성 금지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2095202"/>
            <a:ext cx="2604195" cy="2819846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6725" y="2095202"/>
            <a:ext cx="0" cy="2819846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200" y="2184053"/>
            <a:ext cx="2377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</a:t>
            </a:r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5600" y="2349103"/>
            <a:ext cx="2178844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수치에 자리표시자(XXXX)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테스트(-m live) 무단 실행 금지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112145" y="1123652"/>
            <a:ext cx="2604343" cy="911275"/>
          </a:xfrm>
          <a:prstGeom prst="roundRect">
            <a:avLst>
              <a:gd name="adj" fmla="val 55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121670" y="1123652"/>
            <a:ext cx="0" cy="911275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8145" y="1212503"/>
            <a:ext cx="23780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/ PR </a:t>
            </a:r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10545" y="1377553"/>
            <a:ext cx="2178993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커밋에서 CHANGELOG 누락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4곳 불일치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가드레일 미통과 PR 머지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근거 없이 PR 금지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12145" y="2085677"/>
            <a:ext cx="2604343" cy="2829371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21670" y="2085677"/>
            <a:ext cx="0" cy="2829371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8145" y="2174528"/>
            <a:ext cx="2378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58145" y="2349103"/>
            <a:ext cx="2378020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CANNOT에 없는 것은 자유롭게 할 수 있습니다. 17개 경계가 에이전트의 과잉 구현 충동을 구조적으로 제거합니다.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17989" y="838051"/>
            <a:ext cx="2868811" cy="234851"/>
          </a:xfrm>
          <a:prstGeom prst="roundRect">
            <a:avLst>
              <a:gd name="adj" fmla="val 21631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54464" y="898327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— 5 Unconstrained Freedoms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17989" y="1123652"/>
            <a:ext cx="2868811" cy="932259"/>
          </a:xfrm>
          <a:prstGeom prst="roundRect">
            <a:avLst>
              <a:gd name="adj" fmla="val 544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827514" y="1123652"/>
            <a:ext cx="0" cy="93225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6389" y="1212503"/>
            <a:ext cx="2443460" cy="75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버그/문서 수정 — Plan 없이 바로 구현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플랜 외 개선 발견 — 현재 완료 후 다음 이터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선별 실행 — 최종만 전체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메시지 언어 — 한글/영어 자유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선택 — 더 빠른 도구 선택 가능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817989" y="2106662"/>
            <a:ext cx="2868811" cy="2808387"/>
          </a:xfrm>
          <a:prstGeom prst="roundRect">
            <a:avLst>
              <a:gd name="adj" fmla="val 1809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54464" y="3121968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Result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50848" y="3337768"/>
            <a:ext cx="43218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50848" y="3617119"/>
            <a:ext cx="43218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7077167" y="3337768"/>
            <a:ext cx="446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77167" y="3617119"/>
            <a:ext cx="4460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hotfix bypasses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8018407" y="3337768"/>
            <a:ext cx="33457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018407" y="3617119"/>
            <a:ext cx="3345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928506" y="3785295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PR은 5-job CI를 통과해야만 merge 가능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4978450"/>
            <a:ext cx="142696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17개 제약 + 5개 자유. 엄격함이 속도를 가능하게 합니다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29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Engineering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 PRs, 0 regressions — GAP Audit + Socratic Gate가 과잉 구현을 소스에서 차단합니다.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73026"/>
            <a:ext cx="870347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0262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0262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78297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08522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508522" y="873026"/>
            <a:ext cx="870347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1584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1584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429619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59844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59844" y="873026"/>
            <a:ext cx="870347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2906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2906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80941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11166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611166" y="873026"/>
            <a:ext cx="870347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4228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4228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32263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62488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62488" y="873026"/>
            <a:ext cx="870347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5549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5549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Verify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83585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713809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713809" y="873026"/>
            <a:ext cx="870347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6871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56871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Docs-Sync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34907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65131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765131" y="873026"/>
            <a:ext cx="870347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08193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08193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CI Gate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686229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816453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7816453" y="873026"/>
            <a:ext cx="870347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59515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59515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1349276"/>
            <a:ext cx="4659511" cy="3587948"/>
          </a:xfrm>
          <a:prstGeom prst="roundRect">
            <a:avLst>
              <a:gd name="adj" fmla="val 141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125" y="1485751"/>
            <a:ext cx="4422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5-Question Gate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9125" y="1663452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07975" y="1688753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016943" y="1663452"/>
            <a:ext cx="20326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코드에 이미 있는가? grep/Explore 실측 — 있으면 제거.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9125" y="1872704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07975" y="1898005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16943" y="1872704"/>
            <a:ext cx="24820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이걸 안 하면 무엇이 깨지는가? 실제 장애 시나리오 — 답 없으면 제거.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9125" y="2081957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07975" y="2107257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016943" y="2081957"/>
            <a:ext cx="16381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효과를 어떻게 측정하는가? 측정 불가 시 보류.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19125" y="2291209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07975" y="2316510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16943" y="2291209"/>
            <a:ext cx="1377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단순한 구현은? 최소 변경만 채택.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9125" y="2500461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07975" y="2525762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016943" y="2500461"/>
            <a:ext cx="2052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프론티어 3종 이상에서 동일 패턴인가? 1종만이면 재검증.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218212" y="1349276"/>
            <a:ext cx="3468588" cy="2794546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380137" y="1485751"/>
            <a:ext cx="320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380137" y="1676251"/>
            <a:ext cx="3144738" cy="688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380137" y="1679377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570488" y="1676251"/>
            <a:ext cx="1325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ruff check + import ratchet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380137" y="1825377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70488" y="1822252"/>
            <a:ext cx="15291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mypy + prompt integrity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380137" y="1976140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5570488" y="1968252"/>
            <a:ext cx="17216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pytest count &gt;= </a:t>
            </a:r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(현재 3,249+)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380137" y="2126903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570488" y="2123777"/>
            <a:ext cx="10480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bandit -r core/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380137" y="2272903"/>
            <a:ext cx="88850" cy="88850"/>
          </a:xfrm>
          <a:prstGeom prst="roundRect">
            <a:avLst>
              <a:gd name="adj" fmla="val 28588"/>
            </a:avLst>
          </a:prstGeom>
          <a:solidFill>
            <a:srgbClr val="818CF8">
              <a:alpha val="25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570488" y="2269778"/>
            <a:ext cx="1168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4/4 all pass to merge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218212" y="4245322"/>
            <a:ext cx="3468588" cy="691902"/>
          </a:xfrm>
          <a:prstGeom prst="roundRect">
            <a:avLst>
              <a:gd name="adj" fmla="val 73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380137" y="4381798"/>
            <a:ext cx="320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Recovery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380137" y="4559498"/>
            <a:ext cx="32076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E2E fail → Step 3 (Implement)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380137" y="4705499"/>
            <a:ext cx="32076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CI fail → Step 3 (Implement)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457200" y="5000625"/>
            <a:ext cx="30916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 blocks duplicate work — Socratic Gate blocks unnecessary work — CI Ratchet blocks regression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29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+ 5-Persona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3종 이상 프론티어에서 수렴한 패턴만 채택하고, 5인 페르소나가 단일 리뷰어가 놓치는 것을 병렬로 검수합니다.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Autonomous Loop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P1→CANNOT 규칙. P4→CI ratchet. P6→컨텍스트 압축. P10→최소 구현.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3365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7012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012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 / PSPDFKit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7012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Session Key. Lane Queue 동시성. Atomic write for .env 보안.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1010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657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4657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 / Anthropic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46575" y="1304627"/>
            <a:ext cx="176184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AgenticLoop. HITL 3-tier SAFE/WRITE/DANGEROUS. Sliding-window context.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68655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2302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2302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2302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 + .owner 소유권. Bash resource limits. Secret redaction.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1891457"/>
            <a:ext cx="1595140" cy="3045768"/>
          </a:xfrm>
          <a:prstGeom prst="roundRect">
            <a:avLst>
              <a:gd name="adj" fmla="val 3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1900982"/>
            <a:ext cx="159514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47577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932462"/>
            <a:ext cx="159514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96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226" y="1999357"/>
            <a:ext cx="140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8226" y="2113657"/>
            <a:ext cx="14005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568226" y="2240607"/>
            <a:ext cx="140055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단순한 구현인가? 불필요한 추상화? Error paths 테스트됐는가?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115741" y="1891457"/>
            <a:ext cx="1595289" cy="3045768"/>
          </a:xfrm>
          <a:prstGeom prst="roundRect">
            <a:avLst>
              <a:gd name="adj" fmla="val 318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115741" y="1900982"/>
            <a:ext cx="1595289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06267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15741" y="4932462"/>
            <a:ext cx="159528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2050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26766" y="1999357"/>
            <a:ext cx="14007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26766" y="2113657"/>
            <a:ext cx="140070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2226766" y="2240607"/>
            <a:ext cx="140070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guard? Ratchet? 컨텍스트 윈도우 소비량은?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774430" y="1891457"/>
            <a:ext cx="1595140" cy="3045768"/>
          </a:xfrm>
          <a:prstGeom prst="roundRect">
            <a:avLst>
              <a:gd name="adj" fmla="val 3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774430" y="1900982"/>
            <a:ext cx="159514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64807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74430" y="4932462"/>
            <a:ext cx="159514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7919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85456" y="1999357"/>
            <a:ext cx="140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85456" y="2113657"/>
            <a:ext cx="14005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3885456" y="2240607"/>
            <a:ext cx="140055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write? 크래시 시 상태 파일 무결성 보장?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432971" y="1891457"/>
            <a:ext cx="1595289" cy="3045768"/>
          </a:xfrm>
          <a:prstGeom prst="roundRect">
            <a:avLst>
              <a:gd name="adj" fmla="val 318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432971" y="1900982"/>
            <a:ext cx="1595289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23497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32971" y="4932462"/>
            <a:ext cx="159528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3773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43996" y="1999357"/>
            <a:ext cx="14007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43996" y="2113657"/>
            <a:ext cx="140070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5543996" y="2240607"/>
            <a:ext cx="140070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definitions? HITL classification? while(tool_use) 정합성?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091660" y="1891457"/>
            <a:ext cx="1595140" cy="3045768"/>
          </a:xfrm>
          <a:prstGeom prst="roundRect">
            <a:avLst>
              <a:gd name="adj" fmla="val 3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7091660" y="1900982"/>
            <a:ext cx="15951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82038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91660" y="4932462"/>
            <a:ext cx="159514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9642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02686" y="1999357"/>
            <a:ext cx="140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Detective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202686" y="2113657"/>
            <a:ext cx="14005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누락·기망·괴리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7202686" y="2240607"/>
            <a:ext cx="140055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계획과 구현이 일치하는가? 누락된 경로? 문서와 코드의 괴리?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57200" y="5000625"/>
            <a:ext cx="335792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scaffold skills encode patterns once, reused across all PRs — research time must not exceed implementation time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29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Iteration Velocity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38일+, 1,300+ 커밋, 44 releases — 엔지니어링 시스템이 완성될수록 속도는 복리로 증가했습니다.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639" y="4096048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56348"/>
            <a:ext cx="746671" cy="355550"/>
          </a:xfrm>
          <a:prstGeom prst="roundRect">
            <a:avLst>
              <a:gd name="adj" fmla="val 10716"/>
            </a:avLst>
          </a:prstGeom>
          <a:solidFill>
            <a:srgbClr val="818CF8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10010" y="3867448"/>
            <a:ext cx="2925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071" y="4127748"/>
            <a:ext cx="746820" cy="584150"/>
          </a:xfrm>
          <a:prstGeom prst="roundRect">
            <a:avLst>
              <a:gd name="adj" fmla="val 6522"/>
            </a:avLst>
          </a:prstGeom>
          <a:solidFill>
            <a:srgbClr val="818CF8">
              <a:alpha val="3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28118" y="3562648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090" y="3822948"/>
            <a:ext cx="746671" cy="888950"/>
          </a:xfrm>
          <a:prstGeom prst="roundRect">
            <a:avLst>
              <a:gd name="adj" fmla="val 5103"/>
            </a:avLst>
          </a:prstGeom>
          <a:solidFill>
            <a:srgbClr val="818CF8">
              <a:alpha val="4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50989" y="3092797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5961" y="3353098"/>
            <a:ext cx="746820" cy="1358801"/>
          </a:xfrm>
          <a:prstGeom prst="roundRect">
            <a:avLst>
              <a:gd name="adj" fmla="val 510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74009" y="3207097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8980" y="3467398"/>
            <a:ext cx="746820" cy="1244501"/>
          </a:xfrm>
          <a:prstGeom prst="roundRect">
            <a:avLst>
              <a:gd name="adj" fmla="val 5102"/>
            </a:avLst>
          </a:prstGeom>
          <a:solidFill>
            <a:srgbClr val="818CF8">
              <a:alpha val="5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028" y="2546598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806898"/>
            <a:ext cx="746820" cy="1905000"/>
          </a:xfrm>
          <a:prstGeom prst="roundRect">
            <a:avLst>
              <a:gd name="adj" fmla="val 510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9733" y="4800749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49733" y="4895999"/>
            <a:ext cx="7616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1272603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72603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095624" y="4800749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095624" y="4895999"/>
            <a:ext cx="7616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918493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18493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3741512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41512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4564532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64532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Maturation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445770" y="863501"/>
            <a:ext cx="3241030" cy="4099173"/>
          </a:xfrm>
          <a:prstGeom prst="roundRect">
            <a:avLst>
              <a:gd name="adj" fmla="val 1567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82245" y="974527"/>
            <a:ext cx="30274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Identity Pivot — 2일, 6 releases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82245" y="1149102"/>
            <a:ext cx="302744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v0.13.0: "Undervalued IP" → 범용 에이전트. DomainPort Protocol로 도메인 분리.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582245" y="1453604"/>
            <a:ext cx="302744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v0.15.0: Token Guard 철폐 — 하드 캡 대신 압축. max_turns 20→200.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582245" y="1637556"/>
            <a:ext cx="2968079" cy="228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83746" y="1708993"/>
            <a:ext cx="611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4/day → 67/day =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346627" y="1675656"/>
            <a:ext cx="38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5013424"/>
            <a:ext cx="243479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1,300+ commits · 550+ merged PRs · 44 releases · 0 hotfix bypasses · 0 regressions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492728" y="50134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29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6-Layer(L0-L5)에서 4-Layer로 단순화했습니다. 인위적 경계를 제거하고, Domain을 레이어가 아닌 직교축으로 분리합니다.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435650" cy="507802"/>
          </a:xfrm>
          <a:prstGeom prst="roundRect">
            <a:avLst>
              <a:gd name="adj" fmla="val 100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50780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65002"/>
            <a:ext cx="51848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6-Layer의 Infra/Gateway(L1)와 Tools/MCP(L4) 경계가 실제 의존성과 불일치했습니다.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결정: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Runtime과 Agent로 통합하여 레이어 간 호출 경로를 줄였습니다.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34703"/>
            <a:ext cx="5435650" cy="434876"/>
          </a:xfrm>
          <a:prstGeom prst="roundRect">
            <a:avLst>
              <a:gd name="adj" fmla="val 1168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439466"/>
            <a:ext cx="54356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88087" y="1434703"/>
            <a:ext cx="0" cy="434876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64816"/>
            <a:ext cx="54356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012" y="1434703"/>
            <a:ext cx="0" cy="434876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775" y="153307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Model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1775" y="1666429"/>
            <a:ext cx="16583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선택, Reasoning, 3-Provider Failover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09704" y="1599754"/>
            <a:ext cx="7616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llm/ adapters/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1932980"/>
            <a:ext cx="5435650" cy="425351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1937742"/>
            <a:ext cx="54356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88087" y="1932980"/>
            <a:ext cx="0" cy="425351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353568"/>
            <a:ext cx="54356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012" y="1932980"/>
            <a:ext cx="0" cy="42535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775" y="2031355"/>
            <a:ext cx="2216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Runtime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1775" y="2164705"/>
            <a:ext cx="2216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Sessions, Memory(5-Tier), Context, Config, MCP, Skills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36443" y="2093268"/>
            <a:ext cx="1142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gateway/ memory/ mcp/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421731"/>
            <a:ext cx="5435650" cy="425351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7200" y="2426494"/>
            <a:ext cx="543565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88087" y="2421731"/>
            <a:ext cx="0" cy="425351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842320"/>
            <a:ext cx="543565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1012" y="2421731"/>
            <a:ext cx="0" cy="425351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775" y="2520107"/>
            <a:ext cx="2265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Harness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1775" y="2653457"/>
            <a:ext cx="22659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AgenticLoop, ToolExecutor, PolicyChain, IsolatedRunner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36443" y="2582019"/>
            <a:ext cx="1142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orchestration/ tools/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" y="2910483"/>
            <a:ext cx="5435650" cy="425351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57200" y="2915245"/>
            <a:ext cx="543565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88087" y="2910483"/>
            <a:ext cx="0" cy="425351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331071"/>
            <a:ext cx="543565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1012" y="2910483"/>
            <a:ext cx="0" cy="425351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775" y="3008858"/>
            <a:ext cx="1917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0: Agent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1775" y="3142208"/>
            <a:ext cx="19172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Conversation, Turn-by-turn, SubAgent(depth=1)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69694" y="3070771"/>
            <a:ext cx="5984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 cli/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019800" y="863501"/>
            <a:ext cx="2667000" cy="905917"/>
          </a:xfrm>
          <a:prstGeom prst="roundRect">
            <a:avLst>
              <a:gd name="adj" fmla="val 5608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56275" y="974527"/>
            <a:ext cx="2441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= 직교축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56275" y="1149102"/>
            <a:ext cx="244193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Domain은 Layer 1(Harness)에서 DomainPort Protocol로 주입됩니다. 레이어가 아닌 독립 축이므로 교체해도 스택에 영향이 없습니다.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56275" y="1572667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domains/port.py: 12 methods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019800" y="1845618"/>
            <a:ext cx="2667000" cy="781645"/>
          </a:xfrm>
          <a:prstGeom prst="roundRect">
            <a:avLst>
              <a:gd name="adj" fmla="val 64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56275" y="1956643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System. Cross-cutting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56275" y="2121694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(5 모듈)는 L0-L3 전 레이어에서 import 가능한 횡단 관심사입니다.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156275" y="2420987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events, 15 categories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019800" y="2703463"/>
            <a:ext cx="2667000" cy="2224236"/>
          </a:xfrm>
          <a:prstGeom prst="roundRect">
            <a:avLst>
              <a:gd name="adj" fmla="val 22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56275" y="2814489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56275" y="3004989"/>
            <a:ext cx="2721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001893" y="3004989"/>
            <a:ext cx="559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(L0-L5)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56275" y="3150989"/>
            <a:ext cx="342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115300" y="3150989"/>
            <a:ext cx="4437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56275" y="3296989"/>
            <a:ext cx="3880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011120" y="3296989"/>
            <a:ext cx="5499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243줄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70줄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156275" y="3452515"/>
            <a:ext cx="2116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967067" y="3452515"/>
            <a:ext cx="5949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3,344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56275" y="3623965"/>
            <a:ext cx="2394049" cy="212527"/>
          </a:xfrm>
          <a:prstGeom prst="roundRect">
            <a:avLst>
              <a:gd name="adj" fmla="val 179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57776" y="3687366"/>
            <a:ext cx="22348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줄었지만 더 강해졌습니다. 테스트는 오히려 증가.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991100"/>
            <a:ext cx="260329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v0.37.0: 6-Layer→4-Layer. Domain은 직교축. GeodeRuntime.create() 70줄 unified bootstrap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29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 Architecture: Unified Daemon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2개의 fat process에서 1 daemon + 1 thin client로. REPL Stuck과 리소스 불일치를 구조적으로 해소했습니다.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710952"/>
          </a:xfrm>
          <a:prstGeom prst="roundRect">
            <a:avLst>
              <a:gd name="adj" fmla="val 71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710952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65002"/>
            <a:ext cx="505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1: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REPL에서 스케줄러를 호출하면 스케줄러가 REPL의 리소스와 UI를 침범하여 REPL이 멈췄습니다.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168152"/>
            <a:ext cx="505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2:</a:t>
            </a:r>
            <a:pPr algn="l" indent="0" marL="0">
              <a:lnSpc>
                <a:spcPts val="120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CLI, Slack, Scheduler가 각각 다른 리소스 인스턴스를 사용. HookSystem 2개, Scheduler 2개, ContextVar 미전파.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650653"/>
            <a:ext cx="5308699" cy="850404"/>
          </a:xfrm>
          <a:prstGeom prst="roundRect">
            <a:avLst>
              <a:gd name="adj" fmla="val 5974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1761679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2 Fat Processes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3675" y="1926729"/>
            <a:ext cx="2479774" cy="326827"/>
          </a:xfrm>
          <a:prstGeom prst="roundRect">
            <a:avLst>
              <a:gd name="adj" fmla="val 15543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701" y="1999655"/>
            <a:ext cx="2302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(REPL)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04701" y="2094905"/>
            <a:ext cx="23028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HookSystem(1), MCP(1), Skills(1), Scheduler(1)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149650" y="1926729"/>
            <a:ext cx="2479774" cy="326827"/>
          </a:xfrm>
          <a:prstGeom prst="roundRect">
            <a:avLst>
              <a:gd name="adj" fmla="val 15543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60675" y="1999655"/>
            <a:ext cx="2302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60675" y="2094905"/>
            <a:ext cx="23028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HookSystem(2), MCP(2), Skills(2), Scheduler(2)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93675" y="2304306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경로 2개, 상태 불일치, jobs.json 경합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57200" y="2577257"/>
            <a:ext cx="5308699" cy="850404"/>
          </a:xfrm>
          <a:prstGeom prst="roundRect">
            <a:avLst>
              <a:gd name="adj" fmla="val 597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3675" y="2688282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1 Daemon + 1 Thin Client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3675" y="2853333"/>
            <a:ext cx="3232398" cy="326827"/>
          </a:xfrm>
          <a:prstGeom prst="roundRect">
            <a:avLst>
              <a:gd name="adj" fmla="val 15543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4701" y="2926259"/>
            <a:ext cx="30705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 (Unified Daemon)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4701" y="3021509"/>
            <a:ext cx="30705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HookSystem(1), MCP(1), Skills(1), Scheduler(1), SessionStore(1)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902273" y="2853333"/>
            <a:ext cx="1727150" cy="326827"/>
          </a:xfrm>
          <a:prstGeom prst="roundRect">
            <a:avLst>
              <a:gd name="adj" fmla="val 15543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13299" y="2926259"/>
            <a:ext cx="15352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(Thin CLI)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013299" y="3021509"/>
            <a:ext cx="15352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via Unix socket. 상태 없음.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93675" y="3230910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경로 1개, 모든 상태 GeodeRuntime 소유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892850" y="863501"/>
            <a:ext cx="2793950" cy="1361777"/>
          </a:xfrm>
          <a:prstGeom prst="roundRect">
            <a:avLst>
              <a:gd name="adj" fmla="val 373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29325" y="974527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GeodeRuntime (Single Owner)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29325" y="1152227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30826" y="1190327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→ 40 events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029325" y="1352252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30826" y="1390352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SchedulerService → 60s tick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29325" y="1552277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30826" y="1590377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SharedServices → create_session(mode)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029325" y="1752302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30826" y="1790402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 → SessionLane + global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029325" y="1952327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30826" y="1990427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→ 6-layer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892850" y="2301478"/>
            <a:ext cx="2793950" cy="761702"/>
          </a:xfrm>
          <a:prstGeom prst="roundRect">
            <a:avLst>
              <a:gd name="adj" fmla="val 66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29325" y="2412504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Channels (create_session)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29325" y="2590205"/>
            <a:ext cx="3827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(IPC)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929860" y="2594967"/>
            <a:ext cx="6328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 socket, hitl=0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029325" y="2723555"/>
            <a:ext cx="10580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(Slack/Discord)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133011" y="2728317"/>
            <a:ext cx="4256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Poller, hitl=0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029325" y="2856905"/>
            <a:ext cx="4384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895927" y="2861667"/>
            <a:ext cx="6674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tick, time=300s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892850" y="3139380"/>
            <a:ext cx="2793950" cy="1788319"/>
          </a:xfrm>
          <a:prstGeom prst="roundRect">
            <a:avLst>
              <a:gd name="adj" fmla="val 284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916662" y="3139380"/>
            <a:ext cx="0" cy="1788319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7425" y="3240881"/>
            <a:ext cx="25422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67425" y="3405932"/>
            <a:ext cx="254227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레이턴시(~ms)를 수용합니다. LLM 호출(~s) 대비 무시 가능한 비용입니다. 대신 상태 일관성을 보장합니다.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91100"/>
            <a:ext cx="326941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v0.37.0: standalone REPL 제거(~487 lines). geode serve = unified daemon. geode CLI = thin IPC client (auto-start)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29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Event Protocol: "아무것도 안 나와요"에서 30 Events까지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 전환 후 25개 slash 커맨드가 깨졌습니다. Raw Stream에서 Structured Events로 전환하여 client-side rendering을 구현했습니다.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507802"/>
          </a:xfrm>
          <a:prstGeom prst="roundRect">
            <a:avLst>
              <a:gd name="adj" fmla="val 100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507802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65002"/>
            <a:ext cx="505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원인: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console.print() 출력이 serve 프로세스의 stdout(/dev/null)으로 갔습니다. thin client에는 아무것도 전달되지 않았습니다. ContextVar가 스레드 간 전파되지 않는 것도 발견했습니다.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34703"/>
            <a:ext cx="5308699" cy="996553"/>
          </a:xfrm>
          <a:prstGeom prst="roundRect">
            <a:avLst>
              <a:gd name="adj" fmla="val 509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3675" y="1545729"/>
            <a:ext cx="5136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 진화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3675" y="1732955"/>
            <a:ext cx="634901" cy="161925"/>
          </a:xfrm>
          <a:prstGeom prst="roundRect">
            <a:avLst>
              <a:gd name="adj" fmla="val 235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0857" y="1771055"/>
            <a:ext cx="4405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304776" y="1766292"/>
            <a:ext cx="19499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Console Stream. serve stdout passthrough.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945630"/>
            <a:ext cx="634901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0857" y="1983730"/>
            <a:ext cx="4405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304776" y="1974205"/>
            <a:ext cx="21020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Structured Events. capture_output() + IPC 임베딩.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2158305"/>
            <a:ext cx="634901" cy="161925"/>
          </a:xfrm>
          <a:prstGeom prst="roundRect">
            <a:avLst>
              <a:gd name="adj" fmla="val 2352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0857" y="2196405"/>
            <a:ext cx="4405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v0.37.2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04776" y="2191643"/>
            <a:ext cx="23733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Events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EventRenderer client-side. Pipeline milestones.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2494657"/>
            <a:ext cx="5308699" cy="635645"/>
          </a:xfrm>
          <a:prstGeom prst="roundRect">
            <a:avLst>
              <a:gd name="adj" fmla="val 799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3675" y="2605683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Structured Events vs Raw Stream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3675" y="2770733"/>
            <a:ext cx="513646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stream은 단순하지만 spinner, 병렬 tool 추적이 불가능했습니다.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Structured Events는 client가 자유롭게 렌더링하고 server는 상태만 관리합니다.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3193703"/>
            <a:ext cx="5308699" cy="336203"/>
          </a:xfrm>
          <a:prstGeom prst="roundRect">
            <a:avLst>
              <a:gd name="adj" fmla="val 1511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81012" y="3193703"/>
            <a:ext cx="0" cy="336203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225" y="3295204"/>
            <a:ext cx="505540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25개 커맨드 복원. 13개 zombie job 정리. 10 PR 머지. 3,422 테스트 유지.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92850" y="863501"/>
            <a:ext cx="2793950" cy="3228677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29325" y="974527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IPC EVENT TYPES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29325" y="1293316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9325" y="1177528"/>
            <a:ext cx="6264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lifecycle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885509" y="1177528"/>
            <a:ext cx="6781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stream, result, error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029325" y="1477268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9325" y="1361480"/>
            <a:ext cx="5786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interaction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698879" y="1361480"/>
            <a:ext cx="868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thinking, model_switched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6029325" y="1661220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29325" y="1545431"/>
            <a:ext cx="5427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execution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7753945" y="1545431"/>
            <a:ext cx="8123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tool_start/end, approval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6029325" y="1845171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29325" y="1729383"/>
            <a:ext cx="4390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360146" y="1729383"/>
            <a:ext cx="12139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escalation, cost, time, convergence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6029325" y="2029123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29325" y="1913334"/>
            <a:ext cx="3110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271147" y="1913334"/>
            <a:ext cx="13047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goal_decomp, backpressure, diversity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6029325" y="2213074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29325" y="2097286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385596" y="2097286"/>
            <a:ext cx="11880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gather, analysis, eval, score, verify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029325" y="2281238"/>
            <a:ext cx="276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559129" y="2281238"/>
            <a:ext cx="10110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result, feedback, skip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892850" y="4155579"/>
            <a:ext cx="2793950" cy="772120"/>
          </a:xfrm>
          <a:prstGeom prst="roundRect">
            <a:avLst>
              <a:gd name="adj" fmla="val 65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29325" y="4266605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Protocol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29325" y="4431655"/>
            <a:ext cx="257142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 domain socket (~/.geode/cli.sock). Line-delimited JSON (NDJSON). chmod 0o600.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029325" y="4730948"/>
            <a:ext cx="25714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listen(1) serial processing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57200" y="4991100"/>
            <a:ext cx="299647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v0.37.0-v0.37.2: 12→30 structured IPC events. EventRenderer client-side rendering. Session 49 UX 부활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7491" y="4991100"/>
            <a:ext cx="19309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29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— while(tool_use)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tool_use를 반환하는 한 time_budget 내에서 루프를 계속하고, 5가지 경로로 종료합니다. max_rounds는 deprecated fallback입니다.</a:t>
            </a:r>
            <a:endParaRPr lang="en-US" sz="700" dirty="0"/>
          </a:p>
        </p:txBody>
      </p:sp>
      <p:pic>
        <p:nvPicPr>
          <p:cNvPr id="6" name="Image 0" descr="/Users/mango/workspace/portfolio/geode/slides/assets/v028-diagram-agentic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50" y="1650950"/>
            <a:ext cx="5334000" cy="2476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1450" y="850702"/>
            <a:ext cx="2565350" cy="1312962"/>
          </a:xfrm>
          <a:prstGeom prst="roundRect">
            <a:avLst>
              <a:gd name="adj" fmla="val 38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83375" y="987177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83375" y="1187202"/>
            <a:ext cx="364034" cy="117277"/>
          </a:xfrm>
          <a:prstGeom prst="roundRect">
            <a:avLst>
              <a:gd name="adj" fmla="val 32487"/>
            </a:avLst>
          </a:prstGeom>
          <a:solidFill>
            <a:srgbClr val="34D399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59575" y="1212503"/>
            <a:ext cx="2158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6748909" y="1187202"/>
            <a:ext cx="13248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end_turn 반환 — 자연 완료.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283375" y="1367879"/>
            <a:ext cx="346323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59575" y="1393180"/>
            <a:ext cx="1978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731198" y="1367879"/>
            <a:ext cx="12740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잔여 2라운드에서 텍스트 강제 추출.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283375" y="1548557"/>
            <a:ext cx="543818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59575" y="1573857"/>
            <a:ext cx="39924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6928693" y="1548557"/>
            <a:ext cx="11799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4회 반복 → 조기 종료.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283375" y="1729234"/>
            <a:ext cx="427434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59575" y="1754535"/>
            <a:ext cx="28053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llm_error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6812310" y="1729234"/>
            <a:ext cx="16262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→ Cross-Provider Fallback.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83375" y="1909911"/>
            <a:ext cx="441573" cy="117277"/>
          </a:xfrm>
          <a:prstGeom prst="roundRect">
            <a:avLst>
              <a:gd name="adj" fmla="val 32487"/>
            </a:avLst>
          </a:prstGeom>
          <a:solidFill>
            <a:srgbClr val="8B949E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59575" y="1935212"/>
            <a:ext cx="29495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500" dirty="0"/>
          </a:p>
        </p:txBody>
      </p:sp>
      <p:sp>
        <p:nvSpPr>
          <p:cNvPr id="23" name="Text 20"/>
          <p:cNvSpPr/>
          <p:nvPr/>
        </p:nvSpPr>
        <p:spPr>
          <a:xfrm>
            <a:off x="6826448" y="1909911"/>
            <a:ext cx="1244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 인터럽트 또는 billing 에러.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121450" y="2239863"/>
            <a:ext cx="2565350" cy="1043880"/>
          </a:xfrm>
          <a:prstGeom prst="roundRect">
            <a:avLst>
              <a:gd name="adj" fmla="val 48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83375" y="2376339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 3단계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283375" y="2576364"/>
            <a:ext cx="434578" cy="117277"/>
          </a:xfrm>
          <a:prstGeom prst="roundRect">
            <a:avLst>
              <a:gd name="adj" fmla="val 32487"/>
            </a:avLst>
          </a:prstGeom>
          <a:solidFill>
            <a:srgbClr val="818CF8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59575" y="2601664"/>
            <a:ext cx="2878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turns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6819454" y="2576364"/>
            <a:ext cx="17395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— 최초 메시지 보존, 중간 제거.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283375" y="2849314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359575" y="2874615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664375" y="2849314"/>
            <a:ext cx="13931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80% → compact 압축 발동.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283375" y="3029992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59575" y="3055293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6664375" y="3029992"/>
            <a:ext cx="14170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→ emergency prune 자동 발동.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4991100"/>
            <a:ext cx="315814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v0.35.0: time_budget_s가 유일한 실행 제약. max_rounds=50은 deprecated fallback. WRAP_UP_HEADROOM=2</a:t>
            </a:r>
            <a:endParaRPr lang="en-US" sz="500" dirty="0"/>
          </a:p>
        </p:txBody>
      </p:sp>
      <p:sp>
        <p:nvSpPr>
          <p:cNvPr id="36" name="Text 33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29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단일 진입점 → 4경로 분기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ToolExecutor가 LLM tool_use를 받아 도구 유형과 안전 등급으로 라우팅합니다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308550" cy="568077"/>
          </a:xfrm>
          <a:prstGeom prst="roundRect">
            <a:avLst>
              <a:gd name="adj" fmla="val 89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68077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6427"/>
            <a:ext cx="5055248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</a:t>
            </a:r>
            <a:pPr algn="l"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tool_use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블록을 반환하면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ToolCallProcessor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도구 수를 먼저 판단합니다. 단일 도구는 바로 실행, 2개 이상이면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안전 등급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분류 후 Tier에 따라 병렬 또는 순차 실행합니다.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79054"/>
            <a:ext cx="5308550" cy="3445520"/>
          </a:xfrm>
          <a:prstGeom prst="roundRect">
            <a:avLst>
              <a:gd name="adj" fmla="val 14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15529"/>
            <a:ext cx="50843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DECISION TREE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50380"/>
            <a:ext cx="4984700" cy="361950"/>
          </a:xfrm>
          <a:prstGeom prst="roundRect">
            <a:avLst>
              <a:gd name="adj" fmla="val 14035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8483" y="1936105"/>
            <a:ext cx="48059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ToolExecutor.execute()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8483" y="2050405"/>
            <a:ext cx="480598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— 모든 도구 디스패치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619125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0481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20481" y="2507456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run_bash?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720481" y="2574131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safety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1884313" y="2313831"/>
            <a:ext cx="1189137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85668" y="2412206"/>
            <a:ext cx="9864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85668" y="2507456"/>
            <a:ext cx="9864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핸들러?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1985668" y="2583656"/>
            <a:ext cx="98642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native tools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3149650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51006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51006" y="2507456"/>
            <a:ext cx="98627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서버?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3251006" y="2583656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catalog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414838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16194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16194" y="2507456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analyze_ip?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516194" y="2574131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13-task graph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69278" y="2850207"/>
            <a:ext cx="50843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2개 이상 tool_use 시 — 5-Tier 안전 등급 분류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9125" y="3056483"/>
            <a:ext cx="946100" cy="409575"/>
          </a:xfrm>
          <a:prstGeom prst="roundRect">
            <a:avLst>
              <a:gd name="adj" fmla="val 1240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4048" y="3142208"/>
            <a:ext cx="8162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84048" y="3237458"/>
            <a:ext cx="8162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684048" y="3304133"/>
            <a:ext cx="8162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병렬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162862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69354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9354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169354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263827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70319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70319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270319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일괄 승인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364792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71284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1284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371284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465757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2249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2249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472249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HITL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5892701" y="809476"/>
            <a:ext cx="2794099" cy="1637407"/>
          </a:xfrm>
          <a:prstGeom prst="roundRect">
            <a:avLst>
              <a:gd name="adj" fmla="val 31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054626" y="945952"/>
            <a:ext cx="2519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 Chain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054626" y="1180802"/>
            <a:ext cx="25196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시 자동 복구 체인 실행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6054626" y="1333202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75988" y="1383953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Retry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968877" y="1379190"/>
            <a:ext cx="10963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 재시도 (1s backoff)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54626" y="1593354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75988" y="1644104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Alt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968877" y="1639342"/>
            <a:ext cx="8596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카테고리 대체 도구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054626" y="1853505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75988" y="1904256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Fallback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968877" y="1899493"/>
            <a:ext cx="7813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저렴한 도구로 강등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054626" y="2113657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175988" y="2164407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Escalate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968877" y="2159645"/>
            <a:ext cx="8877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사용자에게 에스컬레이션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892701" y="2548384"/>
            <a:ext cx="2794099" cy="2376190"/>
          </a:xfrm>
          <a:prstGeom prst="roundRect">
            <a:avLst>
              <a:gd name="adj" fmla="val 21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5916513" y="2548384"/>
            <a:ext cx="0" cy="2376190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92726" y="2675334"/>
            <a:ext cx="24905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092726" y="2884884"/>
            <a:ext cx="2490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0-1은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완전 병렬 실행하여 응답 속도를 극대화하고, Tier 3-4는 순차+개별승인으로 안전성을 보장합니다.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092726" y="3418284"/>
            <a:ext cx="2490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MAX_CONSECUTIVE_FAILURES = 2 · max_recovery = 3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457200" y="4987975"/>
            <a:ext cx="29349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(1179L) + policy.py (431L) + error_recovery.py (461L) · 47 native tools · 12 categories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29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하드코딩 콜백 → 40-Event Bus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v0.35.1에서 6개 orphan 정리. 15카테고리 40이벤트로 전 계층(L0-L5)을 횡단하는 관측 신경계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4876800" cy="688032"/>
          </a:xfrm>
          <a:prstGeom prst="roundRect">
            <a:avLst>
              <a:gd name="adj" fmla="val 738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688032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10977"/>
            <a:ext cx="461486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DAG 노드 상태·검증 결과·드리프트를 실시간 추적하려면 하드코딩 콜백으로는 확장이 불가능했습니다. 프론티어 하네스를 리서치하고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카테고리 45개 이벤트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개편했습니다.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271736"/>
            <a:ext cx="46148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패턴:</a:t>
            </a:r>
            <a:pPr algn="l" indent="0" marL="0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하나의 이벤트가 L1(관측)과 L2(반응)를 동시에 지나가는 것이 리플 패턴입니다.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548259"/>
            <a:ext cx="4876800" cy="3392091"/>
          </a:xfrm>
          <a:prstGeom prst="roundRect">
            <a:avLst>
              <a:gd name="adj" fmla="val 149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659285"/>
            <a:ext cx="4644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EVENT CATEGORIES (40 total)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9125" y="1830735"/>
            <a:ext cx="463748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850" y="1878360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704850" y="1964085"/>
            <a:ext cx="2981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1120973" y="1830735"/>
            <a:ext cx="361950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06698" y="1878360"/>
            <a:ext cx="1943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206698" y="1964085"/>
            <a:ext cx="19431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1521023" y="1830735"/>
            <a:ext cx="484882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06748" y="1878360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606748" y="1964085"/>
            <a:ext cx="31970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2044005" y="1830735"/>
            <a:ext cx="582216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29730" y="1878360"/>
            <a:ext cx="4189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129730" y="1964085"/>
            <a:ext cx="41898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664321" y="1830735"/>
            <a:ext cx="594717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50046" y="1878360"/>
            <a:ext cx="4317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750046" y="1964085"/>
            <a:ext cx="4317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3297138" y="1830735"/>
            <a:ext cx="463748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82863" y="1878360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382863" y="1964085"/>
            <a:ext cx="2981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798987" y="1830735"/>
            <a:ext cx="438150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84712" y="1878360"/>
            <a:ext cx="2720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884712" y="1964085"/>
            <a:ext cx="2720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275237" y="1830735"/>
            <a:ext cx="531316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60962" y="1878360"/>
            <a:ext cx="3670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360962" y="1964085"/>
            <a:ext cx="36706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619125" y="2116485"/>
            <a:ext cx="669727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04850" y="2164110"/>
            <a:ext cx="5082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ToolRecovery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04850" y="2249835"/>
            <a:ext cx="50824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1326952" y="2116485"/>
            <a:ext cx="484882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412677" y="2164110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1412677" y="2249835"/>
            <a:ext cx="31970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1849934" y="2116485"/>
            <a:ext cx="335161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935659" y="2164110"/>
            <a:ext cx="1669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1935659" y="2249835"/>
            <a:ext cx="1669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2223195" y="2116485"/>
            <a:ext cx="455116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308920" y="2164110"/>
            <a:ext cx="28934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2308920" y="2249835"/>
            <a:ext cx="28934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2716411" y="2116485"/>
            <a:ext cx="463748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802136" y="2164110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2802136" y="2249835"/>
            <a:ext cx="2981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3218259" y="2116485"/>
            <a:ext cx="391567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303984" y="2164110"/>
            <a:ext cx="2245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3303984" y="2249835"/>
            <a:ext cx="22451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3647926" y="2116485"/>
            <a:ext cx="489049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733651" y="2164110"/>
            <a:ext cx="3239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3733651" y="2249835"/>
            <a:ext cx="32395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5460950" y="809476"/>
            <a:ext cx="3225850" cy="3444478"/>
          </a:xfrm>
          <a:prstGeom prst="roundRect">
            <a:avLst>
              <a:gd name="adj" fmla="val 15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622875" y="920502"/>
            <a:ext cx="2960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22875" y="1091952"/>
            <a:ext cx="2902000" cy="330101"/>
          </a:xfrm>
          <a:prstGeom prst="roundRect">
            <a:avLst>
              <a:gd name="adj" fmla="val 15389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733901" y="1152227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 — 백로그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733901" y="1257002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622875" y="1460153"/>
            <a:ext cx="2902000" cy="339626"/>
          </a:xfrm>
          <a:prstGeom prst="roundRect">
            <a:avLst>
              <a:gd name="adj" fmla="val 14958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733901" y="1520428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 — 현재 프론티어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733901" y="1625203"/>
            <a:ext cx="2733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22875" y="1837879"/>
            <a:ext cx="2902000" cy="339626"/>
          </a:xfrm>
          <a:prstGeom prst="roundRect">
            <a:avLst>
              <a:gd name="adj" fmla="val 14958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33901" y="1898154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 — 자동 반응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33901" y="2002929"/>
            <a:ext cx="2733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22875" y="2215604"/>
            <a:ext cx="2902000" cy="330101"/>
          </a:xfrm>
          <a:prstGeom prst="roundRect">
            <a:avLst>
              <a:gd name="adj" fmla="val 15389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733901" y="2275880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 — 기록만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733901" y="2380655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40 events → runs.jsonl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460950" y="4304705"/>
            <a:ext cx="3225850" cy="635645"/>
          </a:xfrm>
          <a:prstGeom prst="roundRect">
            <a:avLst>
              <a:gd name="adj" fmla="val 79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5484763" y="4304705"/>
            <a:ext cx="0" cy="635645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0975" y="4406205"/>
            <a:ext cx="2930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660975" y="4590306"/>
            <a:ext cx="293089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기반 핸들러 순서 보장 (P30→P50→P85).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57200" y="4991100"/>
            <a:ext cx="293772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v0.35.1: 46→40 events (6 orphan 정리). core/hooks/ cross-cutting. REPL/serve/scheduler 전 모드 wiring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29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SessionLane + Queue Simplification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"이거 필요해?" 3중 게이트에서 2 Components로. 복잡함을 제거하자 동시성 결함도 함께 사라졌습니다.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4356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4527"/>
            <a:ext cx="52659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5 Sequential Gates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39577"/>
            <a:ext cx="777329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400" y="1187202"/>
            <a:ext cx="6179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421755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548705" y="1139577"/>
            <a:ext cx="612130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34430" y="1187202"/>
            <a:ext cx="44949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211586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338536" y="1139577"/>
            <a:ext cx="561231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24261" y="1187202"/>
            <a:ext cx="3975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GlobalLane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950518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077468" y="1139577"/>
            <a:ext cx="684163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63193" y="1187202"/>
            <a:ext cx="5229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SchedulerLane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812381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939332" y="1139577"/>
            <a:ext cx="565398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25057" y="1187202"/>
            <a:ext cx="4018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Semaphore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3675" y="1371302"/>
            <a:ext cx="52659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callback=no-op, dedup rate=0%. "프론티어에서 가져왔으니까"는 근거가 아닙니다.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57200" y="1631454"/>
            <a:ext cx="5435650" cy="764828"/>
          </a:xfrm>
          <a:prstGeom prst="roundRect">
            <a:avLst>
              <a:gd name="adj" fmla="val 6642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3675" y="1742480"/>
            <a:ext cx="52659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2 Components (OpenClaw Pattern)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3675" y="1907530"/>
            <a:ext cx="253052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4701" y="1993255"/>
            <a:ext cx="23546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04701" y="2113806"/>
            <a:ext cx="23546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per-key Semaphore(1). 같은 세션 키 = 직렬화. 다른 키 = 병렬.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225701" y="1907530"/>
            <a:ext cx="2530673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36727" y="1993255"/>
            <a:ext cx="23547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Lane("global", max=8)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336727" y="2113806"/>
            <a:ext cx="235479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세션 동시 실행 상한. Thundering herd 방지.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57200" y="2459682"/>
            <a:ext cx="543565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81012" y="2459682"/>
            <a:ext cx="0" cy="469404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225" y="2561183"/>
            <a:ext cx="518488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CoalescingQueue(148줄) 삭제, 4 hardcoded lane 제거. C3(scheduler race), H2(announce double-publish) 동시성 결함이 구조적으로 해소되었습니다.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019800" y="863501"/>
            <a:ext cx="2667000" cy="891927"/>
          </a:xfrm>
          <a:prstGeom prst="roundRect">
            <a:avLst>
              <a:gd name="adj" fmla="val 56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56275" y="974527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Safety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56275" y="1139577"/>
            <a:ext cx="4485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084790" y="1139577"/>
            <a:ext cx="4748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(재귀 금지)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56275" y="1282452"/>
            <a:ext cx="891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500765" y="1282452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56275" y="1415802"/>
            <a:ext cx="3930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timeout_s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401943" y="1415802"/>
            <a:ext cx="151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56275" y="1549152"/>
            <a:ext cx="337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671197" y="1549152"/>
            <a:ext cx="8967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/ Subprocess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019800" y="1818829"/>
            <a:ext cx="2667000" cy="635645"/>
          </a:xfrm>
          <a:prstGeom prst="roundRect">
            <a:avLst>
              <a:gd name="adj" fmla="val 79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56275" y="1929854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 Isolation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56275" y="2094905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WorkerRequest/Result JSON 프로토콜. 크래시가 부모에 전파되지 않습니다. env whitelist 10개만 전달.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19800" y="2517874"/>
            <a:ext cx="2667000" cy="2409825"/>
          </a:xfrm>
          <a:prstGeom prst="roundRect">
            <a:avLst>
              <a:gd name="adj" fmla="val 210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56275" y="2628900"/>
            <a:ext cx="2441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주입 제거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56275" y="2803475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delegate(announce=False). 동기 모드에서 announce가 LLM 응답을 오염시키는 문제를 2파일 4줄로 해결했습니다.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56275" y="3102769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sub_agent.py:275 depth guard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57200" y="4991100"/>
            <a:ext cx="299541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v0.37.0: CoalescingQueue 삭제, SessionLane(per-key) + Lane("global",8). C3+H2 해소. depth=1 재귀 금지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29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단일 Provider 의존 → 3-Provider Chain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Limit·장애 시 파이프라인 전체 중단 방지 — CircuitBreaker 3-state + Exponential Backoff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181600" cy="558701"/>
          </a:xfrm>
          <a:prstGeom prst="roundRect">
            <a:avLst>
              <a:gd name="adj" fmla="val 90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5870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6427"/>
            <a:ext cx="4925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Provider에 의존하면 Rate Limit이나 장애 시 파이프라인 전체가 중단됩니다. Anthropic·OpenAI·ZhipuAI를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추상화하고, Provider별 독립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배치했습니다.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69678"/>
            <a:ext cx="5181600" cy="2012156"/>
          </a:xfrm>
          <a:prstGeom prst="roundRect">
            <a:avLst>
              <a:gd name="adj" fmla="val 252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06153"/>
            <a:ext cx="4954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CHAIN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45766"/>
            <a:ext cx="1398984" cy="584002"/>
          </a:xfrm>
          <a:prstGeom prst="roundRect">
            <a:avLst>
              <a:gd name="adj" fmla="val 8699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5600" y="1956792"/>
            <a:ext cx="1148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5600" y="2090142"/>
            <a:ext cx="11485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claude-opus-4-6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55600" y="2185392"/>
            <a:ext cx="1148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claude-sonnet-4-6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755600" y="2252067"/>
            <a:ext cx="1148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claude-haiku-3-5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2092531" y="1999655"/>
            <a:ext cx="1814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2092531" y="206633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48359" y="1845766"/>
            <a:ext cx="1399133" cy="584002"/>
          </a:xfrm>
          <a:prstGeom prst="roundRect">
            <a:avLst>
              <a:gd name="adj" fmla="val 8699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84834" y="1956792"/>
            <a:ext cx="1148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84834" y="2090142"/>
            <a:ext cx="11487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84834" y="2185392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gpt-5.3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484834" y="2252067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gpt-4o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3821914" y="1999655"/>
            <a:ext cx="1814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3821914" y="206633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77742" y="1841004"/>
            <a:ext cx="1399133" cy="593527"/>
          </a:xfrm>
          <a:prstGeom prst="roundRect">
            <a:avLst>
              <a:gd name="adj" fmla="val 8559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14217" y="1952030"/>
            <a:ext cx="1148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14217" y="2085380"/>
            <a:ext cx="11487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14217" y="2180630"/>
            <a:ext cx="11487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214217" y="2256830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619125" y="2536031"/>
            <a:ext cx="4857750" cy="809327"/>
          </a:xfrm>
          <a:prstGeom prst="roundRect">
            <a:avLst>
              <a:gd name="adj" fmla="val 627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5600" y="2647057"/>
            <a:ext cx="4676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CircuitBreaker 상태 머신 (Provider별 독립)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55600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56390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6390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2074042" y="2921645"/>
            <a:ext cx="351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5회 실패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074042" y="2997845"/>
            <a:ext cx="351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98675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99465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99465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차단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3818587" y="2921645"/>
            <a:ext cx="2019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 후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3818587" y="2997845"/>
            <a:ext cx="201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94708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95498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95498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765750" y="809476"/>
            <a:ext cx="2921050" cy="1371005"/>
          </a:xfrm>
          <a:prstGeom prst="roundRect">
            <a:avLst>
              <a:gd name="adj" fmla="val 370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927675" y="945952"/>
            <a:ext cx="26491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 분류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27675" y="1190327"/>
            <a:ext cx="1260425" cy="853678"/>
          </a:xfrm>
          <a:prstGeom prst="roundRect">
            <a:avLst>
              <a:gd name="adj" fmla="val 5951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64151" y="1301353"/>
            <a:ext cx="10072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Retryable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41852" y="1479054"/>
            <a:ext cx="8097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RateLimit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64151" y="1828205"/>
            <a:ext cx="10072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Exp. Backoff ±25% Jitter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7264301" y="1190327"/>
            <a:ext cx="1260574" cy="853678"/>
          </a:xfrm>
          <a:prstGeom prst="roundRect">
            <a:avLst>
              <a:gd name="adj" fmla="val 595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00776" y="1301353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Non-retryable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78477" y="1479054"/>
            <a:ext cx="8099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잔액 부족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오류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초과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400776" y="1856780"/>
            <a:ext cx="100737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다음 Provider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5765750" y="2281982"/>
            <a:ext cx="2921050" cy="2642592"/>
          </a:xfrm>
          <a:prstGeom prst="roundRect">
            <a:avLst>
              <a:gd name="adj" fmla="val 19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789563" y="2281982"/>
            <a:ext cx="0" cy="264259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65775" y="2408932"/>
            <a:ext cx="2619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결정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965775" y="2628007"/>
            <a:ext cx="26199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메모리가 모델에 종속되지 않습니다.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4-Tier 메모리는 Provider와 분리되어 Failover 시에도 세션 학습 내용이 그대로 유지됩니다.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965775" y="3161407"/>
            <a:ext cx="26199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추상화로 새 Provider 추가 시 어댑터 1개만 구현. Thundering Herd 방지를 위해 ±25% Jitter 적용.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57200" y="4987975"/>
            <a:ext cx="35998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llm_client.py · circuit_breaker.py · Port/Adapter pattern — 3 providers, 9 models in chain · thread-safe Lock per CircuitBreaker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29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Memory: 압축 전략 x 5-Tier 자동 학습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종료 시 인사이트 휘발 방지. PIPELINE_END → MEMORY.md 자동 축적 루프. User Profile tier 신설.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4368701" cy="711101"/>
          </a:xfrm>
          <a:prstGeom prst="roundRect">
            <a:avLst>
              <a:gd name="adj" fmla="val 714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71110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6427"/>
            <a:ext cx="40966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서브에이전트는 부모와 독립된 200K 컨텍스트 윈도우를 갖습니다. 임계값 초과 시 3-Phase 압축이 자동 발동합니다.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Anthropic은 server-side, OpenAI/GLM은 client-side LLM 요약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사용합니다.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622078"/>
            <a:ext cx="4368701" cy="3292971"/>
          </a:xfrm>
          <a:prstGeom prst="roundRect">
            <a:avLst>
              <a:gd name="adj" fmla="val 15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758553"/>
            <a:ext cx="4125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압축 3-PHASE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2002929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2212" y="2075855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WARNING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36527" y="2002929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SUMMARIZE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6527" y="2117229"/>
            <a:ext cx="29859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 &gt;5% window → [summarized: N tokens]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619125" y="2345531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2212" y="2418457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CRITICAL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736527" y="2345531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ADAPTIVE PRUNE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36527" y="2459831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최신→과거 순 70% 예산 내 유지, first+last 2 보존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619125" y="2688134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2212" y="2761059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736527" y="2688134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EMERGENCY PRUNE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36527" y="2802434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prune_oldest_messages(keep_recent=10) 최후 수단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619125" y="3030736"/>
            <a:ext cx="4044851" cy="253901"/>
          </a:xfrm>
          <a:prstGeom prst="roundRect">
            <a:avLst>
              <a:gd name="adj" fmla="val 2000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075" y="3119586"/>
            <a:ext cx="38667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P6 패턴: 4 chars/token 보수적 추정 → 안전 마진 확보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4952851" y="809476"/>
            <a:ext cx="3733949" cy="2211586"/>
          </a:xfrm>
          <a:prstGeom prst="roundRect">
            <a:avLst>
              <a:gd name="adj" fmla="val 22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89327" y="920502"/>
            <a:ext cx="3530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MEMORY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9327" y="1130052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00352" y="1202978"/>
            <a:ext cx="673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(Tier 4)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00352" y="1298228"/>
            <a:ext cx="673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기반, 현재 작업 맥락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8279309" y="1236315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9327" y="1498104"/>
            <a:ext cx="3460998" cy="307777"/>
          </a:xfrm>
          <a:prstGeom prst="roundRect">
            <a:avLst>
              <a:gd name="adj" fmla="val 16505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00352" y="1571030"/>
            <a:ext cx="13055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(Tier 3)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200352" y="1666280"/>
            <a:ext cx="130552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.geode/memory/PROJECT.md, max 200 lines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8279309" y="1599605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9327" y="1856631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00352" y="1929557"/>
            <a:ext cx="879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(Tier 2)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200352" y="2024807"/>
            <a:ext cx="8798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루브릭, fixtures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279309" y="1962894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9327" y="2224683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00352" y="2297609"/>
            <a:ext cx="11871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 (Tier 1) — NEW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00352" y="2392859"/>
            <a:ext cx="1187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~/.geode/profiles/, 학습 이력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279309" y="2330946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9327" y="2592735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E2E8F0">
              <a:alpha val="6000"/>
            </a:srgbClr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00352" y="2665661"/>
            <a:ext cx="12054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 (Tier 0) — GEODE.md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200352" y="2760911"/>
            <a:ext cx="12054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정체성, Karpathy P7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8279309" y="2698998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52851" y="3097262"/>
            <a:ext cx="3733949" cy="1817787"/>
          </a:xfrm>
          <a:prstGeom prst="roundRect">
            <a:avLst>
              <a:gd name="adj" fmla="val 27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976664" y="3097262"/>
            <a:ext cx="0" cy="1817787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7427" y="3198763"/>
            <a:ext cx="35010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자동 학습 루프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27427" y="3373338"/>
            <a:ext cx="350107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세션 종료 시 Hook P85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memory_write_back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인사이트를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PROJECT.md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자동 축적합니다. 최대 50개 인사이트 (oldest-drop rotation).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978450"/>
            <a:ext cx="29301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v0.37.0: 4-Tier→5-Tier (User Profile 추가). Anthropic=server-side, OpenAI/GLM=client-side compaction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29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854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6-Phase 동적 조립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 → 변경 추적 불가 + 캐시 히트율 하락. SHA-256 해시와 ephemeral 캐시로 해결.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925169" cy="663178"/>
          </a:xfrm>
          <a:prstGeom prst="roundRect">
            <a:avLst>
              <a:gd name="adj" fmla="val 76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72877"/>
            <a:ext cx="0" cy="66317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87177"/>
            <a:ext cx="46641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— 수동 편집의 두 가지 실패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7225" y="1155353"/>
            <a:ext cx="466419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변경 추적 불가: 어느 버전이 어떤 결과를 냈는지 재현 불가.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57225" y="1288554"/>
            <a:ext cx="466419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캐시 히트율 하락: 작은 수정 한 줄이 전체 해시를 바꿔 캐시 미스 유발.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637556"/>
            <a:ext cx="4925169" cy="873026"/>
          </a:xfrm>
          <a:prstGeom prst="roundRect">
            <a:avLst>
              <a:gd name="adj" fmla="val 581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1761381"/>
            <a:ext cx="46933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— 6-Phase 조립 파이프라인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9125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3624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03624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정의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1282750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12974" y="1986707"/>
            <a:ext cx="613023" cy="400050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97471" y="2062907"/>
            <a:ext cx="4440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497471" y="2158157"/>
            <a:ext cx="444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노드별 오버라이드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2076748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06972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91471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91471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매칭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870597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00821" y="2029569"/>
            <a:ext cx="612874" cy="314325"/>
          </a:xfrm>
          <a:prstGeom prst="roundRect">
            <a:avLst>
              <a:gd name="adj" fmla="val 161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85320" y="2105769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085320" y="2201019"/>
            <a:ext cx="4438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3664446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94671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79169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79169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접두사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4458295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88520" y="2015282"/>
            <a:ext cx="631924" cy="342900"/>
          </a:xfrm>
          <a:prstGeom prst="roundRect">
            <a:avLst>
              <a:gd name="adj" fmla="val 14815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682544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82544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추적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457200" y="2612082"/>
            <a:ext cx="4925169" cy="669578"/>
          </a:xfrm>
          <a:prstGeom prst="roundRect">
            <a:avLst>
              <a:gd name="adj" fmla="val 75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125" y="2735907"/>
            <a:ext cx="46933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조립 복잡도 vs 캐시 안정성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9125" y="2891433"/>
            <a:ext cx="469334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Phase가 독립 청크로 분리되어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변경된 Phase만 해시가 달라집니다.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cache_control 범위가 명확해져 캐시 히트율이 보존됩니다.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09320" y="872877"/>
            <a:ext cx="3177480" cy="1114276"/>
          </a:xfrm>
          <a:prstGeom prst="roundRect">
            <a:avLst>
              <a:gd name="adj" fmla="val 455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509320" y="891927"/>
            <a:ext cx="317748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32993" y="1063377"/>
            <a:ext cx="29301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cache_control: ephemeral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32993" y="1234827"/>
            <a:ext cx="29301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632993" y="1603028"/>
            <a:ext cx="29301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2회차부터 입력 비용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32993" y="1758553"/>
            <a:ext cx="29301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노드가 동일 시스템 프롬프트 공유 시 적용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509320" y="2088654"/>
            <a:ext cx="3177480" cy="2800945"/>
          </a:xfrm>
          <a:prstGeom prst="roundRect">
            <a:avLst>
              <a:gd name="adj" fmla="val 18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671245" y="2225129"/>
            <a:ext cx="2910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71245" y="2450455"/>
            <a:ext cx="2853630" cy="76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71245" y="2450455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완료 시 전체 프롬프트를 SHA-256 해싱하여 버전 고정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71245" y="2663577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해시 = 동일 프롬프트 → 캐시 히트 보장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671245" y="2876699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변경 시 HookSystem 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PROMPT_CHANGED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이벤트 발행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671245" y="3089821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Skills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전체가 이 파이프라인을 통해 주입됨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65799"/>
            <a:ext cx="349727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→ override → skill → memory → bootstrap → SHA-256 · 7 노드 공유 · cache_control: ephemeral · 2회차 비용 10%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29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854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단순화 + TokenTracker 자체 관측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병목 제거로 LLM 도구 탐색을 열고, 자체 비용 트레이싱으로 루프 비용을 제어합니다.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단순화 — Before → After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17253"/>
            <a:ext cx="4051250" cy="888802"/>
          </a:xfrm>
          <a:prstGeom prst="roundRect">
            <a:avLst>
              <a:gd name="adj" fmla="val 5716"/>
            </a:avLst>
          </a:prstGeom>
          <a:solidFill>
            <a:srgbClr val="1A1010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241078"/>
            <a:ext cx="38019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3-Layer 병목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441103"/>
            <a:ext cx="372740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125" y="1441103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(257줄)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 탐색을 가로막는 중앙 레지스트리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9125" y="1609279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— Registry에 종속, 독립 검색 불가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777454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stub 9개 — 중복 래퍼, 유지 관리 부담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107555"/>
            <a:ext cx="4051250" cy="888802"/>
          </a:xfrm>
          <a:prstGeom prst="roundRect">
            <a:avLst>
              <a:gd name="adj" fmla="val 5716"/>
            </a:avLst>
          </a:prstGeom>
          <a:solidFill>
            <a:srgbClr val="0D1E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" y="2231380"/>
            <a:ext cx="38019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2-Layer 직관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9125" y="2431405"/>
            <a:ext cx="372740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125" y="2431405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Catalog 검색 전용으로 축소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125" y="2599581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 [mcp.servers]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설정 통합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2767757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서버 auto-discovery · Proxy stub 9개 제거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3097857"/>
            <a:ext cx="4051250" cy="669578"/>
          </a:xfrm>
          <a:prstGeom prst="roundRect">
            <a:avLst>
              <a:gd name="adj" fmla="val 75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125" y="3221682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제어 vs 탐색 자유도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9125" y="3377208"/>
            <a:ext cx="380194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Registry는 도구 목록을 완전 통제하지만 LLM의 런타임 탐색을 막습니다. Catalog로 전환하면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서버를 동적 관리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하면서도 HITL 4-Tier 권한 모델로 실행 경계를 유지합니다.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35401" y="872877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— 자체 비용 트레이싱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35401" y="1117253"/>
            <a:ext cx="4051399" cy="663178"/>
          </a:xfrm>
          <a:prstGeom prst="roundRect">
            <a:avLst>
              <a:gd name="adj" fmla="val 76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9213" y="1117253"/>
            <a:ext cx="0" cy="663178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5426" y="1231553"/>
            <a:ext cx="37729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만들었나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35426" y="1399729"/>
            <a:ext cx="377295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루프는 LLM 턴이 많습니다. LangSmith만으로는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모델별 비용 내역과 캐시 히트율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추적하기 어려웠습니다.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35401" y="1881932"/>
            <a:ext cx="1974949" cy="664369"/>
          </a:xfrm>
          <a:prstGeom prst="roundRect">
            <a:avLst>
              <a:gd name="adj" fmla="val 76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35401" y="1891457"/>
            <a:ext cx="197494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9701" y="2015282"/>
            <a:ext cx="17812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9701" y="2183457"/>
            <a:ext cx="178127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모델, 입출력 토큰, cache_creation, cache_read 기록. 스레드 안전.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711851" y="1881932"/>
            <a:ext cx="1974949" cy="664369"/>
          </a:xfrm>
          <a:prstGeom prst="roundRect">
            <a:avLst>
              <a:gd name="adj" fmla="val 76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711851" y="1891457"/>
            <a:ext cx="197494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6151" y="2015282"/>
            <a:ext cx="17812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모델 가격 레지스트리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26151" y="2183457"/>
            <a:ext cx="178127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Anthropic·OpenAI·GLM 실시간 비용 산출. 월별 JSONL 영속 저장.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35401" y="2647801"/>
            <a:ext cx="4051399" cy="2241798"/>
          </a:xfrm>
          <a:prstGeom prst="roundRect">
            <a:avLst>
              <a:gd name="adj" fmla="val 2266"/>
            </a:avLst>
          </a:prstGeom>
          <a:solidFill>
            <a:srgbClr val="060B14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97326" y="2771626"/>
            <a:ext cx="3802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97326" y="2984302"/>
            <a:ext cx="3727549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97326" y="2984302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세션/일간/월간 비용 + </a:t>
            </a:r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 실시간 표시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97326" y="3152477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</a:t>
            </a:r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경고 → </a:t>
            </a:r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위험 시 adaptive pruning 자동 발동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97326" y="3320653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ProjectJournal: 프로젝트별 실행 이력 + 누적 비용 추적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965799"/>
            <a:ext cx="35414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MCPRegistry(257줄) 삭제 · Catalog 검색 전용 · config.toml 통합 · TokenTracker ContextVar · 18 모델 가격 레지스트리 · /cost CLI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29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평가의 편향을 병렬 전문가 4명 + 교차 검증 + PSM으로 극복합니다.</a:t>
            </a:r>
            <a:endParaRPr lang="en-US" sz="500" dirty="0"/>
          </a:p>
        </p:txBody>
      </p:sp>
      <p:pic>
        <p:nvPicPr>
          <p:cNvPr id="6" name="Image 0" descr="/Users/mango/workspace/portfolio/geode/slides/assets/v028-diagram-pipeline-d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4926"/>
            <a:ext cx="5715000" cy="26542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77977"/>
            <a:ext cx="5715000" cy="748754"/>
          </a:xfrm>
          <a:prstGeom prst="roundRect">
            <a:avLst>
              <a:gd name="adj" fmla="val 678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9125" y="3689003"/>
            <a:ext cx="31906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 (adapter.py:91-98)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19125" y="3835003"/>
            <a:ext cx="319063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9125" y="3968204"/>
            <a:ext cx="319063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9125" y="4139505"/>
            <a:ext cx="31906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924895" y="3689003"/>
            <a:ext cx="21270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924895" y="3844528"/>
            <a:ext cx="2127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 80 · A ≥ 60 · B ≥ 40 · C &lt; 40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24895" y="3990529"/>
            <a:ext cx="212708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축 코드 결정 트리 (LLM 아님)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457200" y="4415582"/>
            <a:ext cx="5715000" cy="643979"/>
          </a:xfrm>
          <a:prstGeom prst="roundRect">
            <a:avLst>
              <a:gd name="adj" fmla="val 7888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9125" y="4526607"/>
            <a:ext cx="54989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 — Clean Context: 앵커링 편향 차단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19125" y="4682133"/>
            <a:ext cx="549897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"Analyst A의 S급 평가가 Analyst B를 편향시킵니다." 각 분석가에게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전달 — 다른 분석가 점수 완전 차단. 7개 병렬 LLM 호출에서 독립 평가 보장.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299150" y="834926"/>
            <a:ext cx="24354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 — Golden Set 검증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99150" y="1034951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32578" y="1145977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32578" y="1400026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867376" y="1182439"/>
            <a:ext cx="1312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67376" y="1296739"/>
            <a:ext cx="13128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867376" y="1391989"/>
            <a:ext cx="13128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 → marketing_boost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6299150" y="1682502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432578" y="1793528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432578" y="2047577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867376" y="1829991"/>
            <a:ext cx="1366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867376" y="1944291"/>
            <a:ext cx="13666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867376" y="2039541"/>
            <a:ext cx="13666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 → community_activation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299150" y="2330053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432578" y="2441079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432578" y="2695129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867376" y="2477542"/>
            <a:ext cx="1359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the Shell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67376" y="2591842"/>
            <a:ext cx="1359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867376" y="2687092"/>
            <a:ext cx="135956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 → platform_expansion</a:t>
            </a:r>
            <a:endParaRPr lang="en-US" sz="500" dirty="0"/>
          </a:p>
        </p:txBody>
      </p:sp>
      <p:sp>
        <p:nvSpPr>
          <p:cNvPr id="37" name="Text 34"/>
          <p:cNvSpPr/>
          <p:nvPr/>
        </p:nvSpPr>
        <p:spPr>
          <a:xfrm>
            <a:off x="6299150" y="2977604"/>
            <a:ext cx="2387650" cy="1921520"/>
          </a:xfrm>
          <a:prstGeom prst="roundRect">
            <a:avLst>
              <a:gd name="adj" fmla="val 26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435626" y="3088630"/>
            <a:ext cx="2156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(N4)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435626" y="3275856"/>
            <a:ext cx="2114699" cy="55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35626" y="3275856"/>
            <a:ext cx="2156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 — 스키마·범위·근거·일관성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35626" y="3431381"/>
            <a:ext cx="2156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 — 6종 편향 탐지 (arXiv:2403.00811)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435626" y="3586907"/>
            <a:ext cx="2156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 — Claude×GPT α≥0.67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435626" y="3732907"/>
            <a:ext cx="2156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57200" y="4975324"/>
            <a:ext cx="32399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loopback ≥0.7 · max 5 iterations</a:t>
            </a:r>
            <a:endParaRPr lang="en-US" sz="500" dirty="0"/>
          </a:p>
        </p:txBody>
      </p:sp>
      <p:sp>
        <p:nvSpPr>
          <p:cNvPr id="45" name="Text 42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29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이식성: GEODE → REODE 실증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 0줄로 피봇. DomainPort Protocol이 도메인을 코어에서 분리합니다.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34926"/>
            <a:ext cx="2848421" cy="1336179"/>
          </a:xfrm>
          <a:prstGeom prst="roundRect">
            <a:avLst>
              <a:gd name="adj" fmla="val 3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53976"/>
            <a:ext cx="2848421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999976"/>
            <a:ext cx="2594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1184077"/>
            <a:ext cx="2594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09600" y="1377702"/>
            <a:ext cx="2543621" cy="66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1377702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모듈 · 3,344 테스트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600" y="1564928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Tools + 44 MCP · 25 Skills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9600" y="1742629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릴리스 무회귀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9600" y="1929854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272605"/>
            <a:ext cx="2848421" cy="2616994"/>
          </a:xfrm>
          <a:prstGeom prst="roundRect">
            <a:avLst>
              <a:gd name="adj" fmla="val 194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125" y="2409081"/>
            <a:ext cx="25750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(15 메서드, 6 카테고리)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125" y="2590056"/>
            <a:ext cx="2524571" cy="24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125" y="2590056"/>
            <a:ext cx="2575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(3) · Analyst Config (2) · Evaluator Config (3)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9125" y="2736056"/>
            <a:ext cx="2575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(4) · Classification (5) · Fixtures (2)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2932807"/>
            <a:ext cx="2524571" cy="387251"/>
          </a:xfrm>
          <a:prstGeom prst="roundRect">
            <a:avLst>
              <a:gd name="adj" fmla="val 13118"/>
            </a:avLst>
          </a:prstGeom>
          <a:solidFill>
            <a:srgbClr val="060B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6075" y="3021657"/>
            <a:ext cx="231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46075" y="3126432"/>
            <a:ext cx="231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19125" y="3396258"/>
            <a:ext cx="25750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@runtime_checkable Protocol — 상속 없이 15개 메서드 구현하면 즉시 호환. Pipeline 노드는 </a:t>
            </a:r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get_domain_or_none()</a:t>
            </a:r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조회 후 fallback.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32572" y="1438573"/>
            <a:ext cx="2278856" cy="1504504"/>
          </a:xfrm>
          <a:prstGeom prst="roundRect">
            <a:avLst>
              <a:gd name="adj" fmla="val 5065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84662" y="1610023"/>
            <a:ext cx="1974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84662" y="1825823"/>
            <a:ext cx="197467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04022" y="2060525"/>
            <a:ext cx="1935956" cy="323850"/>
          </a:xfrm>
          <a:prstGeom prst="roundRect">
            <a:avLst>
              <a:gd name="adj" fmla="val 15686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14152" y="2136725"/>
            <a:ext cx="1715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14152" y="2231975"/>
            <a:ext cx="17156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604022" y="2447776"/>
            <a:ext cx="1935956" cy="323850"/>
          </a:xfrm>
          <a:prstGeom prst="roundRect">
            <a:avLst>
              <a:gd name="adj" fmla="val 15686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14152" y="2523976"/>
            <a:ext cx="1715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14152" y="2619226"/>
            <a:ext cx="17156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3432572" y="3044577"/>
            <a:ext cx="2278856" cy="758726"/>
          </a:xfrm>
          <a:prstGeom prst="roundRect">
            <a:avLst>
              <a:gd name="adj" fmla="val 669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74947" y="3181052"/>
            <a:ext cx="19941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574947" y="3485852"/>
            <a:ext cx="19941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74947" y="3590627"/>
            <a:ext cx="19941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543276" y="3904804"/>
            <a:ext cx="58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79131" y="4076254"/>
            <a:ext cx="785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스왑으로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전환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38379" y="834926"/>
            <a:ext cx="2848421" cy="1148953"/>
          </a:xfrm>
          <a:prstGeom prst="roundRect">
            <a:avLst>
              <a:gd name="adj" fmla="val 442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838379" y="853976"/>
            <a:ext cx="2848421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90779" y="999976"/>
            <a:ext cx="2594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v0.21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90779" y="1184077"/>
            <a:ext cx="2594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990779" y="1377702"/>
            <a:ext cx="2543621" cy="47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90779" y="1377702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90779" y="1564928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Pipelines (Migration · Porting · Refactoring)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90779" y="1742629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38379" y="2085380"/>
            <a:ext cx="2848421" cy="2804220"/>
          </a:xfrm>
          <a:prstGeom prst="roundRect">
            <a:avLst>
              <a:gd name="adj" fmla="val 181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00304" y="2221855"/>
            <a:ext cx="25750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 — Java 마이그레이션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88315" y="2447181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988315" y="2751981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314076" y="2447181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314076" y="2751981"/>
            <a:ext cx="12227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988315" y="2958257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5988315" y="3263057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314076" y="2958257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7314076" y="3263057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00304" y="3469332"/>
            <a:ext cx="2524571" cy="434876"/>
          </a:xfrm>
          <a:prstGeom prst="roundRect">
            <a:avLst>
              <a:gd name="adj" fmla="val 11681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14263" y="3567708"/>
            <a:ext cx="22966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14263" y="3729633"/>
            <a:ext cx="22966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57200" y="4965799"/>
            <a:ext cx="37412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15 메서드 · ContextVar DI · core/graph.py 0줄 수정 · REODE: 241 소스 103K LoC · 33 세션 1,133 라운드 · 83/83 빌드 패스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29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42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/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+ Gateway: Swiss Cheese 방어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+ Secret Redaction 8패턴 + ChannelBinding 세션 격리로 자율 실행 경계를 제어합니다.</a:t>
            </a:r>
            <a:endParaRPr lang="en-US" sz="500" dirty="0"/>
          </a:p>
        </p:txBody>
      </p:sp>
      <p:pic>
        <p:nvPicPr>
          <p:cNvPr id="6" name="Image 0" descr="/Users/mango/workspace/portfolio/geode/slides/assets/v028-diagram-policy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4926"/>
            <a:ext cx="4572000" cy="20045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28342"/>
            <a:ext cx="4579739" cy="1237952"/>
          </a:xfrm>
          <a:prstGeom prst="roundRect">
            <a:avLst>
              <a:gd name="adj" fmla="val 41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993850" y="3039368"/>
            <a:ext cx="0" cy="1015901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125" y="3039368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9 차단 패턴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9125" y="3207544"/>
            <a:ext cx="1243013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9125" y="320754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/ · sudo · &gt;/etc/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19125" y="345519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curl|sh · wget|sh · mkfs.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19125" y="370284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if→/dev/ · chmod 777 /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19125" y="39504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bomb :(){:|:&amp;}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500289" y="3039368"/>
            <a:ext cx="0" cy="1015901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25563" y="3039368"/>
            <a:ext cx="1267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Resource Limits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125563" y="3198019"/>
            <a:ext cx="12430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125563" y="319801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30s 하드 캡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125563" y="33408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크기 50MB 상한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2125563" y="348376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자식 프로세스 64개 상한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125563" y="3626644"/>
            <a:ext cx="126787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preexec_fn setrlimit 적용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3632002" y="3039368"/>
            <a:ext cx="1267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HITL 4-Tier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632002" y="3198019"/>
            <a:ext cx="12430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32002" y="319801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— 30 prefix 자동 승인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632002" y="33408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— 개별 승인 필요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632002" y="348376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— 비용 일괄 승인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632002" y="362664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— 순차 승인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4255145"/>
            <a:ext cx="4579739" cy="643979"/>
          </a:xfrm>
          <a:prstGeom prst="roundRect">
            <a:avLst>
              <a:gd name="adj" fmla="val 7888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9125" y="4366171"/>
            <a:ext cx="43410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safe-first 허용 시 파이프 주입 통과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19125" y="4521696"/>
            <a:ext cx="434100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file.txt | bash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prefix로 SAFE 분류 → 파이프 주입이 통과됩니다. Layer 1의 curl/wget 차단이 원격 코드 실행을 방어합니다.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163889" y="834926"/>
            <a:ext cx="3522911" cy="1177677"/>
          </a:xfrm>
          <a:prstGeom prst="roundRect">
            <a:avLst>
              <a:gd name="adj" fmla="val 43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187702" y="834926"/>
            <a:ext cx="0" cy="117767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63914" y="961876"/>
            <a:ext cx="32338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Redaction — 8 패턴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63914" y="1161901"/>
            <a:ext cx="3170486" cy="57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363914" y="1161901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sk-ant-...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API key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363914" y="1317427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sk-proj-... / sk-...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363914" y="1472952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ghp_... / gho_...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PAT/OAuth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363914" y="1628477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xoxb-... / xoxp-...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363914" y="1809452"/>
            <a:ext cx="323389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BashTool.to_tool_result() 경계에서 적용 — LLM 컨텍스트 진입 전 차단</a:t>
            </a:r>
            <a:endParaRPr lang="en-US" sz="500" dirty="0"/>
          </a:p>
        </p:txBody>
      </p:sp>
      <p:sp>
        <p:nvSpPr>
          <p:cNvPr id="40" name="Text 37"/>
          <p:cNvSpPr/>
          <p:nvPr/>
        </p:nvSpPr>
        <p:spPr>
          <a:xfrm>
            <a:off x="5163889" y="2101453"/>
            <a:ext cx="3522911" cy="1726109"/>
          </a:xfrm>
          <a:prstGeom prst="roundRect">
            <a:avLst>
              <a:gd name="adj" fmla="val 29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325814" y="2237929"/>
            <a:ext cx="3263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— 채널 세션 격리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325814" y="2450604"/>
            <a:ext cx="3199061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325814" y="2450604"/>
            <a:ext cx="3263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325814" y="2603004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· Discord · Telegram 3채널, 정적 바인딩 규칙으로 결정론적 라우팅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5325814" y="2803475"/>
            <a:ext cx="3263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격리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325814" y="2965400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gateway:{channel}:{id}[:{sender}][:{thread}]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325814" y="3089672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스레드별 독립 컨텍스트 — 동시 대화 격리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325814" y="3290143"/>
            <a:ext cx="3263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325814" y="3442543"/>
            <a:ext cx="32630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hitl_level=0 완전 자율 · quiet=True · echo 2중 방어 (bot_message subtype + _last_ts)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163889" y="3916412"/>
            <a:ext cx="3522911" cy="643979"/>
          </a:xfrm>
          <a:prstGeom prst="roundRect">
            <a:avLst>
              <a:gd name="adj" fmla="val 7888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325814" y="4027438"/>
            <a:ext cx="3263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설계 원칙 — AND-logic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5325814" y="4182963"/>
            <a:ext cx="32630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도구는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정책을 통과해야 실행됩니다. Org 정책(priority=5)이 최우선. 6개 레이어 중 하나라도 거부하면 차단. Swiss Cheese: 단일 실패를 다음 레이어가 차단합니다.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5163889" y="4649242"/>
            <a:ext cx="3522911" cy="634454"/>
          </a:xfrm>
          <a:prstGeom prst="roundRect">
            <a:avLst>
              <a:gd name="adj" fmla="val 8007"/>
            </a:avLst>
          </a:prstGeom>
          <a:solidFill>
            <a:srgbClr val="1A0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1"/>
          <p:cNvSpPr/>
          <p:nvPr/>
        </p:nvSpPr>
        <p:spPr>
          <a:xfrm>
            <a:off x="5163889" y="4654004"/>
            <a:ext cx="3522911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682038" y="4649242"/>
            <a:ext cx="0" cy="634454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163889" y="5278934"/>
            <a:ext cx="3522911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187702" y="4649242"/>
            <a:ext cx="0" cy="63445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363914" y="4760268"/>
            <a:ext cx="32241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5363914" y="4906268"/>
            <a:ext cx="322418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GEODE는 두 가지 신뢰 모델을 병행합니다. 자율 에이전트는 실행 전 입력을 차단(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)하고, 분석 파이프라인은 실행 후 출력을 검증(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)합니다.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457200" y="4975324"/>
            <a:ext cx="4166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blocked patterns · CPU/FSIZE/NPROC limits · 8 secret patterns · 6-layer PolicyChain AND-logic · ChannelBinding 3 pollers · geode serve hitl=0</a:t>
            </a:r>
            <a:endParaRPr lang="en-US" sz="500" dirty="0"/>
          </a:p>
        </p:txBody>
      </p:sp>
      <p:sp>
        <p:nvSpPr>
          <p:cNvPr id="61" name="Text 58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29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919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"이거 필요해?" Kent Beck Simple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강력한 리팩토링 질문. 복잡함을 제거하자 모듈은 줄고, 테스트는 늘고, 결함은 사라졌습니다.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507802"/>
          </a:xfrm>
          <a:prstGeom prst="roundRect">
            <a:avLst>
              <a:gd name="adj" fmla="val 100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507802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65002"/>
            <a:ext cx="505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Beck의 Simple Design 4 Rules를 GEODE에 적용했습니다. "프론티어에서 가져왔으니까"는 코드를 유지하는 근거가 아닙니다.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없는 코드는 삭제합니다.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22053"/>
            <a:ext cx="5308699" cy="3505646"/>
          </a:xfrm>
          <a:prstGeom prst="roundRect">
            <a:avLst>
              <a:gd name="adj" fmla="val 1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3675" y="1533079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Simplification Journey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3675" y="1710779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5812" y="1736080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228576" y="1726555"/>
            <a:ext cx="23620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orphan hook event 제거. 46→40. 실제 발화 0인 이벤트 정리.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897856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5812" y="1923157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228576" y="1913632"/>
            <a:ext cx="22210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경로 통합. GeodeRuntime.create() 243→70줄.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2084933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5812" y="2110234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228576" y="2100709"/>
            <a:ext cx="285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삭제(148줄). callback=no-op, dedup=0%. Dead code.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3675" y="2272010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5812" y="2297311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228576" y="2287786"/>
            <a:ext cx="21273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REPL 제거(~487줄). Thin-only IPC로 통합.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3675" y="2459087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5812" y="2484388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28576" y="2474863"/>
            <a:ext cx="27308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hardcoded lanes → SessionLane 2 components. 3중 게이트 단순화.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92850" y="863501"/>
            <a:ext cx="2793950" cy="1485305"/>
          </a:xfrm>
          <a:prstGeom prst="roundRect">
            <a:avLst>
              <a:gd name="adj" fmla="val 342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54775" y="999976"/>
            <a:ext cx="25195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54775" y="1209526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53710" y="1209526"/>
            <a:ext cx="276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54775" y="1387227"/>
            <a:ext cx="3915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27789" y="1387227"/>
            <a:ext cx="5070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54775" y="1564928"/>
            <a:ext cx="2418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58423" y="1564928"/>
            <a:ext cx="6797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3,344</a:t>
            </a:r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54775" y="1742629"/>
            <a:ext cx="8693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gates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53710" y="1742629"/>
            <a:ext cx="276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54775" y="1920329"/>
            <a:ext cx="725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paths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53710" y="1920329"/>
            <a:ext cx="276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54775" y="2098030"/>
            <a:ext cx="7714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resolved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78341" y="2098030"/>
            <a:ext cx="8634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(C1-C4, H1-H8)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92850" y="2425005"/>
            <a:ext cx="2793950" cy="2502694"/>
          </a:xfrm>
          <a:prstGeom prst="roundRect">
            <a:avLst>
              <a:gd name="adj" fmla="val 20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916662" y="2425005"/>
            <a:ext cx="0" cy="2502694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92875" y="2551956"/>
            <a:ext cx="24903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 4 Rules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92875" y="2736056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테스트를 통과합니다.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092875" y="2920008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의도를 드러냅니다.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092875" y="3103959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중복이 없습니다.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092875" y="3287911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요소를 최소화합니다.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92875" y="3497312"/>
            <a:ext cx="24903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단순화는 엔지니어링 성숙의 가장 높은 형태입니다.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991100"/>
            <a:ext cx="231896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v0.35→v0.37: 835+ lines 삭제, 11 defects 해소. 모듈 -10, 테스트 +33. 0 regressions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29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919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3-Phase Evolution + Sync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통합(v0.36) → 경화(v0.36) → IPC(v0.37). 그리고 왜 프론티어 에이전트는 동기 루프를 선택하는가.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772120"/>
          </a:xfrm>
          <a:prstGeom prst="roundRect">
            <a:avLst>
              <a:gd name="adj" fmla="val 657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82551"/>
            <a:ext cx="5308699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1137" y="863501"/>
            <a:ext cx="0" cy="77212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30859"/>
            <a:ext cx="53086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963" y="863501"/>
            <a:ext cx="0" cy="77212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3675" y="990451"/>
            <a:ext cx="868412" cy="136327"/>
          </a:xfrm>
          <a:prstGeom prst="roundRect">
            <a:avLst>
              <a:gd name="adj" fmla="val 27948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9875" y="1015752"/>
            <a:ext cx="730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v0.36 #530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538288" y="1006227"/>
            <a:ext cx="61010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통합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164878"/>
            <a:ext cx="513646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serve가 bootstrap_geode() + GeodeRuntime.create()를 이중 호출. HookSystem 2~3개 생성. build_shared_services(hook_system=boot.hook_system)으로 통합.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3675" y="1451521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C1, C2, H1, H4, H5 해소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7200" y="1699022"/>
            <a:ext cx="5308699" cy="647849"/>
          </a:xfrm>
          <a:prstGeom prst="roundRect">
            <a:avLst>
              <a:gd name="adj" fmla="val 784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1718072"/>
            <a:ext cx="5308699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1137" y="1699022"/>
            <a:ext cx="0" cy="647849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42108"/>
            <a:ext cx="530869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963" y="1699022"/>
            <a:ext cx="0" cy="647849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3675" y="1825972"/>
            <a:ext cx="868412" cy="136327"/>
          </a:xfrm>
          <a:prstGeom prst="roundRect">
            <a:avLst>
              <a:gd name="adj" fmla="val 27948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9875" y="1851273"/>
            <a:ext cx="730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v0.36 #531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538288" y="1841748"/>
            <a:ext cx="6202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경화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3675" y="2000399"/>
            <a:ext cx="51364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jobs.json 경합 → fcntl.flock. 비동기 핸드오프 → Lane.try_acquire()/manual_release(). DANGEROUS 도구 차단.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3675" y="2162770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C3, H2, M2 해소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57200" y="2410271"/>
            <a:ext cx="5308699" cy="647849"/>
          </a:xfrm>
          <a:prstGeom prst="roundRect">
            <a:avLst>
              <a:gd name="adj" fmla="val 784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7200" y="2429321"/>
            <a:ext cx="5308699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1137" y="2410271"/>
            <a:ext cx="0" cy="647849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053358"/>
            <a:ext cx="53086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963" y="2410271"/>
            <a:ext cx="0" cy="647849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3675" y="2537222"/>
            <a:ext cx="102096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9875" y="2562523"/>
            <a:ext cx="8859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v0.37 #531-539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690836" y="2557760"/>
            <a:ext cx="6799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CLIChannel IPC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3675" y="2711648"/>
            <a:ext cx="51364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REPL을 SharedServices 채널로 편입. Unix socket + thin client. serve 자동 기동. REPL Stuck 원천 해소.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93675" y="2874020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구조적 결함 전수 해소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892850" y="863501"/>
            <a:ext cx="2793950" cy="1031081"/>
          </a:xfrm>
          <a:prstGeom prst="roundRect">
            <a:avLst>
              <a:gd name="adj" fmla="val 49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29325" y="974527"/>
            <a:ext cx="25714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동기 루프인가?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29325" y="1161752"/>
            <a:ext cx="2571420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Devin, autoresearch 모두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루프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사용합니다. 각 tool_call의 결과가 다음 LLM 호출의 입력이 됩니다. 인과적 의존 체인이므로 구조적으로 병렬화가 불가능합니다.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29325" y="1612106"/>
            <a:ext cx="25714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async ≠ Architecture async. OpenAI의 성능은 prompt caching이지 병렬화가 아닙니다.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892850" y="1970782"/>
            <a:ext cx="2793950" cy="915442"/>
          </a:xfrm>
          <a:prstGeom prst="roundRect">
            <a:avLst>
              <a:gd name="adj" fmla="val 55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29325" y="2081808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SharedServices Gateway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29325" y="2246858"/>
            <a:ext cx="257142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팩토리. create_session(mode)가 (ToolExecutor, AgenticLoop) 쌍을 반환합니다. 모든 채널이 동일한 singleton을 공유합니다.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29325" y="2670423"/>
            <a:ext cx="25714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GeodeRuntime.create() = 70줄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92850" y="2962424"/>
            <a:ext cx="2793950" cy="1965275"/>
          </a:xfrm>
          <a:prstGeom prst="roundRect">
            <a:avLst>
              <a:gd name="adj" fmla="val 258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916662" y="2962424"/>
            <a:ext cx="0" cy="1965275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2875" y="3063925"/>
            <a:ext cx="24903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92875" y="3238500"/>
            <a:ext cx="24903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PRs (#528-531) + 6 PRs (#533-539)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92875" y="3371850"/>
            <a:ext cx="24903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structural defects → 0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092875" y="3505200"/>
            <a:ext cx="24903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2 → 1 경로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92875" y="3648075"/>
            <a:ext cx="24903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2~3 → 1 인스턴스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991100"/>
            <a:ext cx="273521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v0.36-v0.37: 3-Phase Gateway Runtime. 동기 루프 = 인과적 의존 체인. SharedServices 단일 팩토리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29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139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5-Layer: Swiss Cheese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레이어가 독립적으로 다른 실패 모드를 차단합니다. 단일 LLM 평가의 69.4% 정확도를 99.8%로 끌어올렸습니다.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562749" cy="371475"/>
          </a:xfrm>
          <a:prstGeom prst="roundRect">
            <a:avLst>
              <a:gd name="adj" fmla="val 136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68263"/>
            <a:ext cx="556274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5186" y="863501"/>
            <a:ext cx="0" cy="371475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0213"/>
            <a:ext cx="556274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012" y="863501"/>
            <a:ext cx="0" cy="371475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775" y="949226"/>
            <a:ext cx="23497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1775" y="1063526"/>
            <a:ext cx="23497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스키마, axis 커버리지, tier 매핑 유효성. Haiku 게이트(~$0.01/call).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395615" y="968276"/>
            <a:ext cx="487859" cy="161925"/>
          </a:xfrm>
          <a:prstGeom prst="roundRect">
            <a:avLst>
              <a:gd name="adj" fmla="val 2352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97116" y="1006376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검증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57200" y="1285726"/>
            <a:ext cx="5562749" cy="371475"/>
          </a:xfrm>
          <a:prstGeom prst="roundRect">
            <a:avLst>
              <a:gd name="adj" fmla="val 136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1290489"/>
            <a:ext cx="5562749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15186" y="1285726"/>
            <a:ext cx="0" cy="371475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652439"/>
            <a:ext cx="5562749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012" y="1285726"/>
            <a:ext cx="0" cy="371475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775" y="1371451"/>
            <a:ext cx="2202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Confidence Gate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1775" y="1485751"/>
            <a:ext cx="22026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≥0.7 통과, max 5 iterations. 미달 시 cortex 루프백으로 재분석합니다.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395615" y="1390501"/>
            <a:ext cx="487859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97116" y="1428601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 치유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57200" y="1707952"/>
            <a:ext cx="5562749" cy="371475"/>
          </a:xfrm>
          <a:prstGeom prst="roundRect">
            <a:avLst>
              <a:gd name="adj" fmla="val 136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1712714"/>
            <a:ext cx="556274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15186" y="1707952"/>
            <a:ext cx="0" cy="371475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074664"/>
            <a:ext cx="556274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1012" y="1707952"/>
            <a:ext cx="0" cy="371475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775" y="1793677"/>
            <a:ext cx="33096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BiasBuster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1775" y="1907977"/>
            <a:ext cx="33096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RECOGNIZE→EXPLAIN→ALTER→EVALUATE. 확증·최신·앵커링·위치·장황·자기강화 6종 편향 탐지.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395615" y="1812727"/>
            <a:ext cx="487859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497116" y="1850827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인지 편향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57200" y="2130177"/>
            <a:ext cx="5562749" cy="371475"/>
          </a:xfrm>
          <a:prstGeom prst="roundRect">
            <a:avLst>
              <a:gd name="adj" fmla="val 136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57200" y="2134939"/>
            <a:ext cx="556274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15186" y="2130177"/>
            <a:ext cx="0" cy="371475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496889"/>
            <a:ext cx="556274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1012" y="2130177"/>
            <a:ext cx="0" cy="371475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775" y="2215902"/>
            <a:ext cx="3170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Cross-LLM Consensus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1775" y="2330202"/>
            <a:ext cx="31701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+ OpenAI + ZhipuAI 교차검증. Krippendorff alpha ≥0.67. 합의 실패 시 Anthropic 우선.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329684" y="2234952"/>
            <a:ext cx="553789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31185" y="2273052"/>
            <a:ext cx="35780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다모델 합의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57200" y="2552402"/>
            <a:ext cx="5562749" cy="371475"/>
          </a:xfrm>
          <a:prstGeom prst="roundRect">
            <a:avLst>
              <a:gd name="adj" fmla="val 136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57200" y="2557165"/>
            <a:ext cx="5562749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15186" y="2552402"/>
            <a:ext cx="0" cy="371475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2919115"/>
            <a:ext cx="5562749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1012" y="2552402"/>
            <a:ext cx="0" cy="371475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1775" y="2638127"/>
            <a:ext cx="32115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Calibration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1775" y="2752427"/>
            <a:ext cx="32115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Set 대비 실증 검증. per-axis ±0.5 (1-5 스케일). 통과 기준 80%. Cross-LLM(67%)보다 엄격.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5395615" y="2657177"/>
            <a:ext cx="487859" cy="161925"/>
          </a:xfrm>
          <a:prstGeom prst="roundRect">
            <a:avLst>
              <a:gd name="adj" fmla="val 23529"/>
            </a:avLst>
          </a:prstGeom>
          <a:solidFill>
            <a:srgbClr val="F9731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497116" y="2695277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검증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146899" y="863501"/>
            <a:ext cx="2539901" cy="809327"/>
          </a:xfrm>
          <a:prstGeom prst="roundRect">
            <a:avLst>
              <a:gd name="adj" fmla="val 6277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286664" y="999976"/>
            <a:ext cx="22603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향상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585241" y="1158627"/>
            <a:ext cx="5876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69.4%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267093" y="1191964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515317" y="1130052"/>
            <a:ext cx="7344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6286664" y="1450628"/>
            <a:ext cx="2260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→ 5-Layer Swiss Cheese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6146899" y="1749028"/>
            <a:ext cx="2539901" cy="767655"/>
          </a:xfrm>
          <a:prstGeom prst="roundRect">
            <a:avLst>
              <a:gd name="adj" fmla="val 66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6170712" y="1749028"/>
            <a:ext cx="0" cy="767655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46924" y="1850529"/>
            <a:ext cx="22312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Model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346924" y="2015579"/>
            <a:ext cx="223122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레이어에는 구멍이 있습니다.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하지만 5개 레이어의 구멍이 동시에 정렬될 확률은 극히 낮습니다.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독립적 실패 모드가 핵심입니다.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146899" y="2592884"/>
            <a:ext cx="2539901" cy="2334816"/>
          </a:xfrm>
          <a:prstGeom prst="roundRect">
            <a:avLst>
              <a:gd name="adj" fmla="val 21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283375" y="2703909"/>
            <a:ext cx="23122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임계값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83375" y="2891135"/>
            <a:ext cx="6803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353276" y="2891135"/>
            <a:ext cx="2009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0.7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283375" y="3024485"/>
            <a:ext cx="6902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Cross-LLM alpha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303865" y="3024485"/>
            <a:ext cx="2513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0.67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83375" y="3157835"/>
            <a:ext cx="4334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8298954" y="3157835"/>
            <a:ext cx="2563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283375" y="3291185"/>
            <a:ext cx="564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iterations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046541" y="3291185"/>
            <a:ext cx="5138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(hard cap)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57200" y="4991100"/>
            <a:ext cx="31192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5-Layer: Guardrails → Confidence Gate → BiasBuster → Cross-LLM → Calibration. 독립 실패 모드 AND-chain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29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1392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 (1/2)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결정: 아키텍처 + 파이프라인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[채택] vs [기각]. 왜 이 선택인가를 1줄로 정당화합니다.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457200" y="1020663"/>
            <a:ext cx="4051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4926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114910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(Model/Runtime/Harness/Agent)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6-Layer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8226" y="125700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인위적 L1/L4 경계 제거. 호출 경로 단축. Domain은 직교축으로 분리.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85454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558379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 IPC (Unix socket)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Fat REPL + serve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666280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일관성 보장. IPC ~ms latency는 LLM ~s 대비 무시 가능.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894731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967657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 socket + NDJSON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gRPC / HTTP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075557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전용, 의존성 0, chmod 0o600 보안. listen(1) serial processing 단순.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304008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376934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while(tool_use) 루프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asyncio 이벤트 루프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8226" y="249435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인과적 의존 체인(각 tool_result가 다음 LLM 입력). I/O async ≠ Architecture async.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35401" y="1020663"/>
            <a:ext cx="40513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5401" y="834926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+ 도메인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1076176"/>
            <a:ext cx="4051399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6427" y="1149102"/>
            <a:ext cx="39059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 DAG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ReAct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46427" y="125700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결정론적 실행 순서 + 병렬 노드. 재귀 추론 루프 없이 구조화된 다단계 가능.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5401" y="1485454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6427" y="1558379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Context (analyses: [])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전체 공유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427" y="1675805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앵커링 편향 구조적 차단. 단일 설계 결정이 평가 품질에 가장 큰 영향.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5401" y="190425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6427" y="197718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+ ContextVar DI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ABC 상속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6427" y="209460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타이핑. 상속 결합 없음. 스레드 안전 교체 가능. REODE 실증: 0 core changes.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5401" y="2323058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6427" y="239598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 ≥0.7 루프백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단일 패스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46427" y="2513409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개입 없는 자가 치유. MAX=5로 무한루프 차단.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" y="4991100"/>
            <a:ext cx="241551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4 + 파이프라인 4. 채택 근거는 코드 경로와 측정 결과로 뒷받침 (2/2는 다음 슬라이드)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29</a:t>
            </a:r>
            <a:endParaRPr lang="en-US" sz="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1392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 (2/2)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결정: 실행 + 보안 + 인프라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동시성 단순화부터 이식성 증명까지. 24가지 설계 결정 완료.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457200" y="1020663"/>
            <a:ext cx="4051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4926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+ 동시성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114910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 per-key Sem(1)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4 hardcoded lanes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8226" y="125700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key 직렬, 다른 key 병렬. C3 scheduler race, H2 announce race 구조적 해소.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85454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55837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삭제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유지 (no harm)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675805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callback=no-op, dedup=0. 동기 루프 구조에서 250ms 재제출 자체가 불가능. Dead code 삭제.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90425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97718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Events (30 types)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Raw Console Stream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08508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렌더링 = spinner, 병렬 tool 추적 가능. Server는 상태만 관리.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313533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386459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time_budget_s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max_rounds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8226" y="249435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기반 = 모드별 예산 차등 가능. DAEMON 120s, SCHEDULER 300s, IPC unlimited.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35401" y="1020663"/>
            <a:ext cx="405139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5401" y="834926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+ 인프라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107617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6427" y="114910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AND 6-layer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OR 허용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46427" y="126652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정책 통과 필수. Org(priority=5)이 하위 규칙 오버라이드.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5401" y="1494979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6427" y="156790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5-Layer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단일 종합 검사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427" y="1685330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실패 모드 AND-chain. 69.4%→99.8%. BiasBuster + Cross-LLM + Calibration.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5401" y="1913781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6427" y="198670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사이드 점수 계산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LLM composite_score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6427" y="210413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(axes_sum-8)/32x100 투명 계산. LLM 수치는 비교 참고만.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5401" y="2332583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34D399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35401" y="2337346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2038" y="2332583"/>
            <a:ext cx="0" cy="368052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35401" y="2695873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4451" y="2332583"/>
            <a:ext cx="0" cy="36805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5002" y="2405509"/>
            <a:ext cx="387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이식성 증명: GEODE → REODE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75002" y="2522934"/>
            <a:ext cx="387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4-Layer 코어. 도메인 플러그인만 교체. core 변경 0줄. 83/83 빌드 통과.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" y="4991100"/>
            <a:ext cx="246409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4 + 보안/인프라 4 = 총 24가지 설계 결정. 모든 채택 근거는 코드 경로와 측정 결과로 검증됨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29</a:t>
            </a:r>
            <a:endParaRPr lang="en-US" sz="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2364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SUMMARY. GEODE v0.37.2 + REODE v0.21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Engineering. 전체 지표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시스템을 수렴시키는 4개 축의 실증 결과 (GEODE + REODE 합산)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784027"/>
            <a:ext cx="2019300" cy="311051"/>
          </a:xfrm>
          <a:prstGeom prst="roundRect">
            <a:avLst>
              <a:gd name="adj" fmla="val 24498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727" y="844302"/>
            <a:ext cx="16206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69727" y="949077"/>
            <a:ext cx="16206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6-Phase, SHA-256 캐시 90%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527250" y="784027"/>
            <a:ext cx="2019449" cy="311051"/>
          </a:xfrm>
          <a:prstGeom prst="roundRect">
            <a:avLst>
              <a:gd name="adj" fmla="val 24498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38276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39777" y="844302"/>
            <a:ext cx="13480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39777" y="949077"/>
            <a:ext cx="13480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while(tool_use), 47 tools x time_budget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597450" y="784027"/>
            <a:ext cx="2019300" cy="311051"/>
          </a:xfrm>
          <a:prstGeom prst="roundRect">
            <a:avLst>
              <a:gd name="adj" fmla="val 24498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08475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9976" y="844302"/>
            <a:ext cx="12658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09976" y="949077"/>
            <a:ext cx="12658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5-Layer, 69.4→99.8%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667500" y="784027"/>
            <a:ext cx="2019300" cy="311051"/>
          </a:xfrm>
          <a:prstGeom prst="roundRect">
            <a:avLst>
              <a:gd name="adj" fmla="val 24498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78526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80027" y="844302"/>
            <a:ext cx="1099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80027" y="949077"/>
            <a:ext cx="10995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40-Event Hook + 30 IPC Events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57200" y="1302990"/>
            <a:ext cx="489972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145828"/>
            <a:ext cx="4997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v0.37.2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1358503"/>
            <a:ext cx="1186755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8579" y="1418779"/>
            <a:ext cx="98399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8579" y="1698129"/>
            <a:ext cx="9839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694706" y="1358503"/>
            <a:ext cx="1186904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796083" y="1418779"/>
            <a:ext cx="98415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96083" y="169812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32361" y="1358503"/>
            <a:ext cx="1186904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33738" y="1418779"/>
            <a:ext cx="98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33738" y="167267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170015" y="1358503"/>
            <a:ext cx="1186904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71392" y="1418779"/>
            <a:ext cx="98415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271392" y="169812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1904405"/>
            <a:ext cx="2424410" cy="558552"/>
          </a:xfrm>
          <a:prstGeom prst="roundRect">
            <a:avLst>
              <a:gd name="adj" fmla="val 136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8226" y="1977330"/>
            <a:ext cx="22464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+ 도구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8226" y="2094756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9-Node StateGraph DAG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8226" y="2190006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Tools, 44 MCP, 42 Skills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8226" y="2285256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Daemon + 3 channels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932361" y="1904405"/>
            <a:ext cx="2424559" cy="558552"/>
          </a:xfrm>
          <a:prstGeom prst="roundRect">
            <a:avLst>
              <a:gd name="adj" fmla="val 136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043386" y="1977330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+ 검증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043386" y="2094756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Bash 차단, 8 Secret 탐지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043386" y="2199531"/>
            <a:ext cx="2246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PolicyChain, 4-Tier HITL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043386" y="2294781"/>
            <a:ext cx="2246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5-Layer, Calibration 80/100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420320" y="1312515"/>
            <a:ext cx="326648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20320" y="1145828"/>
            <a:ext cx="33318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v0.21. 이식성 증명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20320" y="1368028"/>
            <a:ext cx="1607790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517489" y="1428304"/>
            <a:ext cx="14134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517489" y="1682204"/>
            <a:ext cx="14134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078861" y="1368028"/>
            <a:ext cx="1607939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76028" y="1428304"/>
            <a:ext cx="141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3,274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176028" y="1682204"/>
            <a:ext cx="14136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420320" y="1888480"/>
            <a:ext cx="3266480" cy="491728"/>
          </a:xfrm>
          <a:prstGeom prst="roundRect">
            <a:avLst>
              <a:gd name="adj" fmla="val 154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531346" y="1961406"/>
            <a:ext cx="3105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 LoC migration, 83/83 pass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531346" y="2081957"/>
            <a:ext cx="3105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sessions / 1,133 rounds / 5h 48m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531346" y="2202507"/>
            <a:ext cx="31053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코드 변경 0줄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420320" y="2430959"/>
            <a:ext cx="3266480" cy="2455515"/>
          </a:xfrm>
          <a:prstGeom prst="roundRect">
            <a:avLst>
              <a:gd name="adj" fmla="val 206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5420320" y="2435721"/>
            <a:ext cx="326648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2038" y="2430959"/>
            <a:ext cx="0" cy="2455515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20320" y="4881711"/>
            <a:ext cx="326648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44133" y="2430959"/>
            <a:ext cx="0" cy="2455515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94896" y="2541984"/>
            <a:ext cx="3014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시스템은 제어 없이 발산합니다.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594896" y="2745135"/>
            <a:ext cx="301453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루프와 가치로 수렴시키는 하네스를 만들었습니다. 그리고 그 하네스 자체를 단순화했습니다.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57200" y="5000625"/>
            <a:ext cx="24313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GEODE(192) + REODE(209) = 401 modules, 6,651 tests. 44 releases, 0 regressions</a:t>
            </a:r>
            <a:endParaRPr lang="en-US" sz="500" dirty="0"/>
          </a:p>
        </p:txBody>
      </p:sp>
      <p:sp>
        <p:nvSpPr>
          <p:cNvPr id="66" name="Text 64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29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1776"/>
            <a:ext cx="1133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도메인 파이프라인 → 범용 하네스 → 의도적 단순화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전형 → 피봇 → 하네스 → 경화 → 단순화. 44 릴리스, 0 회귀.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5720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6050" y="837902"/>
            <a:ext cx="1539180" cy="25301"/>
          </a:xfrm>
          <a:prstGeom prst="rect">
            <a:avLst/>
          </a:prstGeom>
          <a:solidFill>
            <a:srgbClr val="F5C542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85231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74081" y="837902"/>
            <a:ext cx="1539329" cy="25301"/>
          </a:xfrm>
          <a:prstGeom prst="rect">
            <a:avLst/>
          </a:prstGeom>
          <a:solidFill>
            <a:srgbClr val="F9731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13411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02261" y="837902"/>
            <a:ext cx="1539329" cy="25301"/>
          </a:xfrm>
          <a:prstGeom prst="rect">
            <a:avLst/>
          </a:prstGeom>
          <a:solidFill>
            <a:srgbClr val="34D399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4159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30441" y="837902"/>
            <a:ext cx="1539329" cy="25301"/>
          </a:xfrm>
          <a:prstGeom prst="rect">
            <a:avLst/>
          </a:prstGeom>
          <a:solidFill>
            <a:srgbClr val="818CF8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6977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58620" y="837902"/>
            <a:ext cx="1539329" cy="25301"/>
          </a:xfrm>
          <a:prstGeom prst="rect">
            <a:avLst/>
          </a:prstGeom>
          <a:solidFill>
            <a:srgbClr val="EF4444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795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958453"/>
            <a:ext cx="1318766" cy="3655219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977503"/>
            <a:ext cx="1318766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204" y="958453"/>
            <a:ext cx="0" cy="3655219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608909"/>
            <a:ext cx="1318766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963" y="958453"/>
            <a:ext cx="0" cy="3655219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226" y="1085404"/>
            <a:ext cx="334417" cy="117277"/>
          </a:xfrm>
          <a:prstGeom prst="roundRect">
            <a:avLst>
              <a:gd name="adj" fmla="val 32487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976" y="1110704"/>
            <a:ext cx="23757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v0.1-0.7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940743" y="1110704"/>
            <a:ext cx="23742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Jan-Feb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568226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8226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DAG. 넥슨 네비게이터실 과제 전형.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68226" y="4362896"/>
            <a:ext cx="1096714" cy="1524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1627" y="44009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StateGraph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1839367" y="958453"/>
            <a:ext cx="1318766" cy="3655219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839367" y="977503"/>
            <a:ext cx="1318766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3370" y="958453"/>
            <a:ext cx="0" cy="3655219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39367" y="4608909"/>
            <a:ext cx="1318766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44129" y="958453"/>
            <a:ext cx="0" cy="3655219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50393" y="1085404"/>
            <a:ext cx="432941" cy="117277"/>
          </a:xfrm>
          <a:prstGeom prst="roundRect">
            <a:avLst>
              <a:gd name="adj" fmla="val 32487"/>
            </a:avLst>
          </a:prstGeom>
          <a:solidFill>
            <a:srgbClr val="F9731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001143" y="1110704"/>
            <a:ext cx="33806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v0.8 PIVOT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421434" y="1105942"/>
            <a:ext cx="1855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초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1950393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950393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 → 자율 피봇. DomainPort Protocol.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1950393" y="4362896"/>
            <a:ext cx="1096714" cy="1524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013793" y="44009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범용 설계 전환점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3221534" y="958453"/>
            <a:ext cx="1318766" cy="3655219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21534" y="977503"/>
            <a:ext cx="13187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35537" y="958453"/>
            <a:ext cx="0" cy="3655219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21534" y="4608909"/>
            <a:ext cx="1318766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26296" y="958453"/>
            <a:ext cx="0" cy="3655219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2559" y="1085404"/>
            <a:ext cx="404961" cy="117277"/>
          </a:xfrm>
          <a:prstGeom prst="roundRect">
            <a:avLst>
              <a:gd name="adj" fmla="val 32487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83310" y="1110704"/>
            <a:ext cx="3095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v0.24-0.30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3775621" y="1105942"/>
            <a:ext cx="2413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중후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3332559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332559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→ Runtime → Loop 하네스 완성.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332559" y="4362896"/>
            <a:ext cx="1096714" cy="1524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395960" y="44009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tool_use: loop()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4603700" y="958453"/>
            <a:ext cx="1318766" cy="3655219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603700" y="977503"/>
            <a:ext cx="1318766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17704" y="958453"/>
            <a:ext cx="0" cy="3655219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03700" y="4608909"/>
            <a:ext cx="1318766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08463" y="958453"/>
            <a:ext cx="0" cy="3655219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14726" y="1085404"/>
            <a:ext cx="404961" cy="117277"/>
          </a:xfrm>
          <a:prstGeom prst="roundRect">
            <a:avLst>
              <a:gd name="adj" fmla="val 32487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765477" y="1110704"/>
            <a:ext cx="3095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v0.31-0.35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5157788" y="1105942"/>
            <a:ext cx="1855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말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4714726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714726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프로덕션 경화. 20개 결함 수정. SharedServices.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714726" y="4362896"/>
            <a:ext cx="1096714" cy="1524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778127" y="44009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SessionMode + time_budget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5985867" y="958453"/>
            <a:ext cx="1318766" cy="3655219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5985867" y="977503"/>
            <a:ext cx="1318766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99871" y="958453"/>
            <a:ext cx="0" cy="3655219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85867" y="4608909"/>
            <a:ext cx="1318766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90630" y="958453"/>
            <a:ext cx="0" cy="3655219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96893" y="1085404"/>
            <a:ext cx="404961" cy="117277"/>
          </a:xfrm>
          <a:prstGeom prst="roundRect">
            <a:avLst>
              <a:gd name="adj" fmla="val 32487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147643" y="1110704"/>
            <a:ext cx="3095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v0.36-0.37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6539954" y="1105942"/>
            <a:ext cx="1855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말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6096893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096893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의도적 단순화. 6L→4L. Thin-only IPC. 835줄 삭제.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6096893" y="4362896"/>
            <a:ext cx="1096714" cy="1524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6160294" y="44009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"이거 필요해?" -10 modules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7368034" y="958453"/>
            <a:ext cx="1318766" cy="3655219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7368034" y="977503"/>
            <a:ext cx="1318766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82038" y="958453"/>
            <a:ext cx="0" cy="3655219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68034" y="4608909"/>
            <a:ext cx="1318766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72796" y="958453"/>
            <a:ext cx="0" cy="3655219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79060" y="1085404"/>
            <a:ext cx="281285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7529810" y="1110704"/>
            <a:ext cx="1833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7798445" y="1110704"/>
            <a:ext cx="25533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Mar-May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7479060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479060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8→22, Spring 4→6. 103K LoC. 83/83.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7479060" y="4286696"/>
            <a:ext cx="1096714" cy="2286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7542461" y="4324796"/>
            <a:ext cx="989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DomainPort: 0 core changes</a:t>
            </a:r>
            <a:endParaRPr lang="en-US" sz="500" dirty="0"/>
          </a:p>
        </p:txBody>
      </p:sp>
      <p:sp>
        <p:nvSpPr>
          <p:cNvPr id="89" name="Text 87"/>
          <p:cNvSpPr/>
          <p:nvPr/>
        </p:nvSpPr>
        <p:spPr>
          <a:xfrm>
            <a:off x="457200" y="4677073"/>
            <a:ext cx="8229600" cy="250627"/>
          </a:xfrm>
          <a:prstGeom prst="roundRect">
            <a:avLst>
              <a:gd name="adj" fmla="val 20269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540068" y="4749998"/>
            <a:ext cx="80638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파이프라인 → 범용 하네스 → 프로덕션 경화 → 의도적 단순화. 44 릴리스, 0 회귀.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57200" y="4991100"/>
            <a:ext cx="297506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과제 합격 → v0.8 Pivot → v0.30 Harness → v0.35 Hardening → v0.37 Simplification → REODE fork</a:t>
            </a:r>
            <a:endParaRPr lang="en-US" sz="500" dirty="0"/>
          </a:p>
        </p:txBody>
      </p:sp>
      <p:sp>
        <p:nvSpPr>
          <p:cNvPr id="92" name="Text 90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29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mangowhoiscloud</cp:lastModifiedBy>
  <cp:revision>1</cp:revision>
  <dcterms:created xsi:type="dcterms:W3CDTF">2026-03-30T14:11:19Z</dcterms:created>
  <dcterms:modified xsi:type="dcterms:W3CDTF">2026-03-30T14:11:19Z</dcterms:modified>
</cp:coreProperties>
</file>