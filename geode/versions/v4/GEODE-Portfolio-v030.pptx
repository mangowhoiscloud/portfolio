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4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77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99876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42895" y="204639"/>
            <a:ext cx="12687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 · 1,160 커밋 · 39 릴리스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265783"/>
            <a:ext cx="2801689" cy="260152"/>
          </a:xfrm>
          <a:prstGeom prst="roundRect">
            <a:avLst>
              <a:gd name="adj" fmla="val 195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3675" y="135775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6075" y="1338709"/>
            <a:ext cx="24238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→ 50 rounds × 200 turns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652885"/>
            <a:ext cx="6269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150715"/>
            <a:ext cx="62698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 하네스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445990"/>
            <a:ext cx="6269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Autonomous Execution Harness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757041"/>
            <a:ext cx="25301" cy="355550"/>
          </a:xfrm>
          <a:prstGeom prst="roundRect">
            <a:avLst>
              <a:gd name="adj" fmla="val 50196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002" y="2768054"/>
            <a:ext cx="991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2968079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7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77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0193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698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698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5814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19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319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40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40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pic>
        <p:nvPicPr>
          <p:cNvPr id="27" name="Image 1" descr="/Users/mango/workspace/portfolio/geode/versions/v4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430387"/>
            <a:ext cx="1777901" cy="17779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12509" y="3309789"/>
            <a:ext cx="1170533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365967" y="3420814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Analysis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365967" y="3573214"/>
            <a:ext cx="863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Harness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57200" y="4930825"/>
            <a:ext cx="23027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 · Anthropic / OpenAI / ZhipuAI · 3 Providers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8453735" y="49308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9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HOOK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36일의 피봇 스토리: 과제 → 탈락 → 자율 하네스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탈락이 아키텍처 피봇의 계기가 되었습니다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95748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81" y="18322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81" y="1965573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81" y="2130623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76081" y="229254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코딩 과제: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81" y="2397323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파이프라인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81" y="250209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에이전트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6999" y="274334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921050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99397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v0.1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68226" y="3079700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Provider Failover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489597" y="19750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19846" y="1695748"/>
            <a:ext cx="1141661" cy="990451"/>
          </a:xfrm>
          <a:prstGeom prst="roundRect">
            <a:avLst>
              <a:gd name="adj" fmla="val 7693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09116" y="1841748"/>
            <a:ext cx="7631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09116" y="1975098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09116" y="2168723"/>
            <a:ext cx="763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03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009116" y="2330648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"도메인 에이전트로는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009116" y="2435423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부족하다"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84352" y="2686199"/>
            <a:ext cx="12650" cy="177701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60650" y="2863900"/>
            <a:ext cx="659904" cy="231577"/>
          </a:xfrm>
          <a:prstGeom prst="roundRect">
            <a:avLst>
              <a:gd name="adj" fmla="val 2193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67298" y="2936825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피봇 결정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961507" y="19750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1757" y="1695748"/>
            <a:ext cx="2032397" cy="1028551"/>
          </a:xfrm>
          <a:prstGeom prst="roundRect">
            <a:avLst>
              <a:gd name="adj" fmla="val 74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10638" y="18322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410638" y="1965573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강화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10638" y="2140148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04 – Mar 18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410638" y="23020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0638" y="23973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Compaction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10638" y="24925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3-Brake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01555" y="272429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91757" y="2902000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02782" y="297492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402782" y="3060650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324154" y="19750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54403" y="1695748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73284" y="18322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FORK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773284" y="1965573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제품화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73284" y="2140148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 – Mar 28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773284" y="23020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→ Fork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73284" y="2397323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73284" y="250209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패스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664202" y="274334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654403" y="2921050"/>
            <a:ext cx="2032397" cy="231577"/>
          </a:xfrm>
          <a:prstGeom prst="roundRect">
            <a:avLst>
              <a:gd name="adj" fmla="val 2193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65429" y="299397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패턴 재사용 증명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3390751"/>
            <a:ext cx="8229600" cy="679252"/>
          </a:xfrm>
          <a:prstGeom prst="roundRect">
            <a:avLst>
              <a:gd name="adj" fmla="val 11218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4426" y="350177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22127" y="3531989"/>
            <a:ext cx="39344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피봇의 결론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2127" y="3693914"/>
            <a:ext cx="39344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</a:t>
            </a:r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분석하는가의 문제입니다. 하네스는 </a:t>
            </a:r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오래, 안전하게 실행하는가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문제입니다.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2127" y="3823990"/>
            <a:ext cx="39344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포크는 같은 하네스로 Java 코드 마이그레이션을 자율 수행 — </a:t>
            </a:r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이식성의 증명</a:t>
            </a:r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" y="4956274"/>
            <a:ext cx="164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 · 39 releases · 36 days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930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4-Axis: 장기 운용에서 모두가 시간에 따라 열화한다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539901" cy="104775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675" y="1152227"/>
            <a:ext cx="2312289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실행은 비결정론, 컨텍스트 손실, 비용 폭발, 루프 고착 4가지 이유로 반드시 발산합니다.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510308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수렴시키는 것이 하네스의 역할입니다. 4개 축이 없으면 자율 실행은 불가능합니다.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71526"/>
            <a:ext cx="2539901" cy="1131689"/>
          </a:xfrm>
          <a:prstGeom prst="roundRect">
            <a:avLst>
              <a:gd name="adj" fmla="val 673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210800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운용의 문제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3675" y="2276177"/>
            <a:ext cx="231228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 모두가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시간에 따라 열화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46075" y="2455664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포화 → 정보 손실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루프 고착 → 무한 반복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누적 → 예산 초과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 → 드리프트 미감지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2861965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이를 자동 보정하는 것이 하네스의 본질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24051" y="847576"/>
            <a:ext cx="2743200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605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87477" y="984052"/>
            <a:ext cx="1050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· Context Control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60527" y="1171277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60527" y="1339453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조립 + SHA-256 캐싱으로 정보 주입을 설계합니다. 장기 세션에서 80%/95% 임계값 compaction이 자동 발동합니다.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60527" y="2483048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49377" y="2546449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PromptAssembler · CompactionHook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43451" y="847576"/>
            <a:ext cx="2743349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99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06877" y="984052"/>
            <a:ext cx="1044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2 · Execution Loop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79927" y="1171277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79927" y="1339453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rounds × 200 turns. 비용 초과·수렴 고착·탐색 고착을 3개 자동 브레이크로 차단합니다.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079927" y="2483048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68777" y="2546449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AgenticLoop · SafetyBrake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124051" y="2908250"/>
            <a:ext cx="2743200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605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7477" y="3044726"/>
            <a:ext cx="826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3 · Verification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60527" y="3231952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60527" y="3400127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비결정론을 신뢰로 전환. 5-Layer 검증(Guardrails→BiasBuster→Cross-LLM→Rights→Ground Truth)으로 단일 LLM 편향을 차단합니다.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60527" y="4543871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49377" y="4607272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VerificationPipeline · CrossLLM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943451" y="2908250"/>
            <a:ext cx="2743349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799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06877" y="3044726"/>
            <a:ext cx="924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· Observability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79927" y="3231952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9927" y="3400127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Events가 신경계처럼 전파. TokenTracker로 실시간 비용 관측, CUSUM 드리프트 감지로 열화를 즉시 포착합니다.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79927" y="4543871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68777" y="4607272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HookSystem · TokenTracker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57200" y="4956274"/>
            <a:ext cx="19960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4축은 서로 보완 — 하나의 결함이 전체 자율 실행을 무너뜨립니다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 → DEV → RUNTIME + 46 Hook 신경계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스캐폴드가 자기 자신을 개발하고, RUNTIME이 자율 실행합니다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776" y="106025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776" y="1203127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루프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380976" y="971401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20577" y="988368"/>
            <a:ext cx="383868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스스로 GEODE를 개발합니다. 21 Skills + CANNOT 23-Rule + Socratic Gate로 요구사항을 정제하고 1,160 커밋을 생성했습니다.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20577" y="1275011"/>
            <a:ext cx="38386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harness-for-real 해커톤 · "키보드에 손이 닿는 순간 하네스의 실패다"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410944" y="1025426"/>
            <a:ext cx="853380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2445" y="1088827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12445" y="1174552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425줄 CLAUDE.md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97510" y="1577727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834902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776" y="204757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776" y="219045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80976" y="1958727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20577" y="1975693"/>
            <a:ext cx="410586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AgenticLoop가 PR 단위 코드를 자율 작성합니다. 8-Step Loop(Socratic→Plan→Code→Test→Hook→Review→Merge→Learn)로 70% 테스트 비율을 유지합니다.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20577" y="2262336"/>
            <a:ext cx="41058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typecheck+lint backpressure · LEARNINGS.md 패턴 축적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72882" y="2012752"/>
            <a:ext cx="591443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74382" y="2076152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774382" y="2161877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97510" y="2565053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822228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2776" y="3034903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776" y="3177778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루프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380976" y="2946053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0577" y="2963019"/>
            <a:ext cx="421394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라운드. 사용자 요청 → AgenticLoop → Tool 실행 → 결과 반환. 52 Tools + 45 MCP + 46 Hook이 완전 자율 실행을 구성합니다.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20577" y="3249662"/>
            <a:ext cx="421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Brake · Scheduler · Gateway — 사람 없이 오래 실행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778847" y="3000077"/>
            <a:ext cx="485477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80348" y="3063478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880348" y="3149203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MCP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553200" y="847576"/>
            <a:ext cx="2133600" cy="1746052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89675" y="984052"/>
            <a:ext cx="50750" cy="1524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16626" y="998339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신경계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1069" y="1212652"/>
            <a:ext cx="18978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1069" y="1536502"/>
            <a:ext cx="1897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2075" y="1733252"/>
            <a:ext cx="170824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LOOP_START / LOOP_END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TOOL_BEFORE / TOOL_AFTER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 / LEARN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CONTEXT_COMPACT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AGENT_SPAWN / RETURN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89675" y="2285702"/>
            <a:ext cx="1897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실행. 핸들러 간 에러 격리로 한 이벤트 실패가 루프를 중단시키지 않습니다.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53200" y="2669828"/>
            <a:ext cx="2133600" cy="727174"/>
          </a:xfrm>
          <a:prstGeom prst="roundRect">
            <a:avLst>
              <a:gd name="adj" fmla="val 104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64226" y="2780854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증강 피드백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64226" y="2936379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 → MEMORY.md 인사이트 자동 축적 → 다음 세션 PromptAssembler가 반영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664226" y="3200251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3-Loop가 서로 강화합니다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553200" y="3473202"/>
            <a:ext cx="2133600" cy="1175742"/>
          </a:xfrm>
          <a:prstGeom prst="roundRect">
            <a:avLst>
              <a:gd name="adj" fmla="val 648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64226" y="3584228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왜 3중 루프인가?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64226" y="3739753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DEV+RUNTIME 2중 루프로는 규칙이 진화하지 않는다. 같은 실수가 반복되고 패턴이 코드베이스에 남는다.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664226" y="4003625"/>
            <a:ext cx="930325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40426" y="4054376"/>
            <a:ext cx="793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2중 루프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40426" y="4152751"/>
            <a:ext cx="79348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반복 · 학습 없음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645301" y="4003625"/>
            <a:ext cx="930473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721501" y="4054376"/>
            <a:ext cx="793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추가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721501" y="4152751"/>
            <a:ext cx="7936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규칙이 CHANGELOG에서 진화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664226" y="4452193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META 루프 투자 시간 ↑ · 수익: RUNTIME 품질 복리 ↑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57200" y="4956274"/>
            <a:ext cx="28068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META가 DEV를 낳고, DEV가 RUNTIME을 완성하고, RUNTIME이 META를 강화합니다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모듈이 수직 분리된 이유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계층 시스템은 테스트와 교체가 불가능 — Port/Adapter로 LLM 종속성을 분리했습니다</a:t>
            </a:r>
            <a:endParaRPr lang="en-US" sz="800" dirty="0"/>
          </a:p>
        </p:txBody>
      </p:sp>
      <p:pic>
        <p:nvPicPr>
          <p:cNvPr id="6" name="Image 0" descr="/Users/mango/workspace/portfolio/geode/versions/v4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47576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14606" y="3374827"/>
            <a:ext cx="1428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수직 분리 · Hook이 모든 계층을 횡단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527899" y="8475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89824" y="971401"/>
            <a:ext cx="475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57455" y="1020663"/>
            <a:ext cx="799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57455" y="1160264"/>
            <a:ext cx="799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하위 계층별 분리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527899" y="14952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89824" y="16191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02078" y="1668363"/>
            <a:ext cx="6699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02078" y="1807964"/>
            <a:ext cx="669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횡단 관측 신경계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527899" y="2142976"/>
            <a:ext cx="2158901" cy="993577"/>
          </a:xfrm>
          <a:prstGeom prst="roundRect">
            <a:avLst>
              <a:gd name="adj" fmla="val 7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89824" y="2266801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역할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816775" y="2434977"/>
            <a:ext cx="1708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Gateway: 채널 입력 라우팅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Orchestrator: AgenticLoop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Tool/Agent: 52 Tools + Sub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LLM: 3-Provider Failover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Memory: 4-Tier 학습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689824" y="2927003"/>
            <a:ext cx="18717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→ LLM 교체 시 나머지 불변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527899" y="3212753"/>
            <a:ext cx="2158901" cy="1105942"/>
          </a:xfrm>
          <a:prstGeom prst="roundRect">
            <a:avLst>
              <a:gd name="adj" fmla="val 6890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89824" y="3336578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6-Layer인가?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89824" y="3504754"/>
            <a:ext cx="1871752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3-Layer(Presentation/Business/Data)는 에이전트에 맞지 않는다. 도구·메모리·오케스트레이션이 독립적으로 교체되어야 한다.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816775" y="3875187"/>
            <a:ext cx="1708100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교체 → L4만 변경, 나머지 불변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백엔드 교체 → L5만 변경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 → L3만 확장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57200" y="4956274"/>
            <a:ext cx="160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modules · 3,201 tests · 46 hooks · v0.31.0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2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EXECUTION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AgenticLoop: while(tool_use) 50 rounds × 200-turn Window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패턴을 참고해 설계 — 5가지 경로로만 종료합니다</a:t>
            </a:r>
            <a:endParaRPr lang="en-US" sz="800" dirty="0"/>
          </a:p>
        </p:txBody>
      </p:sp>
      <p:pic>
        <p:nvPicPr>
          <p:cNvPr id="6" name="Image 0" descr="/Users/mango/workspace/portfolio/geode/versions/v4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38051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8678" y="3251002"/>
            <a:ext cx="1458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실행 흐름 · 루프백 + 5 종료 경로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26250" y="838051"/>
            <a:ext cx="2260550" cy="600075"/>
          </a:xfrm>
          <a:prstGeom prst="roundRect">
            <a:avLst>
              <a:gd name="adj" fmla="val 1269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83497" y="961876"/>
            <a:ext cx="477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497" y="1228576"/>
            <a:ext cx="477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Rounds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82892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17813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7813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Window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917359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52280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52280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26250" y="1514326"/>
            <a:ext cx="2260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88175" y="1638151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715125" y="1806327"/>
            <a:ext cx="18097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end_turn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LLM이 tool_use 없이 응답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50라운드 도달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동일 에러 3회 반복 감지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force_text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잔여 2라운드에서 텍스트 강제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세션 비용 상한 초과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426250" y="2587377"/>
            <a:ext cx="2260550" cy="851148"/>
          </a:xfrm>
          <a:prstGeom prst="roundRect">
            <a:avLst>
              <a:gd name="adj" fmla="val 89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88175" y="2711202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8175" y="2879378"/>
            <a:ext cx="197543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메시지 초과 시 최초 사용자 메시지 보존 + bridge 삽입. 80%에서 compact, 95%에서 emergency prune 자동 발동.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88175" y="3143250"/>
            <a:ext cx="1975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2회 연속 실패 → Provider 모델 체인 → Cross-Provider Fallback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426250" y="3514725"/>
            <a:ext cx="2260550" cy="1127075"/>
          </a:xfrm>
          <a:prstGeom prst="roundRect">
            <a:avLst>
              <a:gd name="adj" fmla="val 676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588175" y="3638550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max 50 rounds?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588175" y="3794075"/>
            <a:ext cx="1975434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기반: 평균 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라운드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자연 종료(end_turn). 50은 탈출 불가 상황의 안전망 — 긴 분석 작업에서 드물게 30+ 라운드 도달.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588175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659782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59782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라운드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50609" y="4164509"/>
            <a:ext cx="611832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322214" y="4215259"/>
            <a:ext cx="46862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22214" y="4381500"/>
            <a:ext cx="4686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분석 시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913191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984799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984799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안전망 상한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57200" y="4956274"/>
            <a:ext cx="2567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 참고 · core/orchestration/agentic_loop.py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2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실행의 3대 위험과 자동 브레이크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자율성과 안전의 균형 — 사람 없이 하네스를 보호하는 3가지 메커니즘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2675483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698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8475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2888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95176" y="1495127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루프는 LLM API 턴이 급증하고, 복잡한 도구 사용은 비용을 예측 불가능하게 만듭니다.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675" y="1883271"/>
            <a:ext cx="2402532" cy="674340"/>
          </a:xfrm>
          <a:prstGeom prst="roundRect">
            <a:avLst>
              <a:gd name="adj" fmla="val 7533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701" y="1968996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04701" y="2099072"/>
            <a:ext cx="222409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비용이 budget 상한 초과 시 루프 자동 정지. TokenTracker가 실시간 누적 비용을 추적하며 예산 소진율을 /cost 대시보드에 노출합니다.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3675" y="3759845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051" y="3820120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P3 원칙 적용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92051" y="3905845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budget_stop → LOOP_END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34184" y="860375"/>
            <a:ext cx="2675632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0659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56682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75459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70659" y="1288852"/>
            <a:ext cx="2402681" cy="531019"/>
          </a:xfrm>
          <a:prstGeom prst="roundRect">
            <a:avLst>
              <a:gd name="adj" fmla="val 9567"/>
            </a:avLst>
          </a:prstGeom>
          <a:solidFill>
            <a:srgbClr val="1A0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72160" y="1365052"/>
            <a:ext cx="22436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72160" y="1495127"/>
            <a:ext cx="224367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에러를 반복하며 수렴하지 못하면 50 rounds 전체를 낭비하고 의미 없는 결과를 반환합니다.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70659" y="1883271"/>
            <a:ext cx="2402681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1685" y="1968996"/>
            <a:ext cx="22242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81685" y="2099072"/>
            <a:ext cx="22242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시 수렴 판정 → 상위 모델로 에스컬레이션 후 재시도. 모델 체인 소진 시 Cross-Provider로 이동합니다.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70659" y="3759845"/>
            <a:ext cx="2402681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69035" y="3820120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P4 원칙 적용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469035" y="3905845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→ model escalation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11317" y="860375"/>
            <a:ext cx="2675483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7792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33815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52592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고착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7792" y="12888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49293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49293" y="1495127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도구를 반복 호출하며 다른 접근을 시도하지 않으면 탐색 공간이 축소되고 결과 품질이 저하됩니다.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47792" y="1883271"/>
            <a:ext cx="2402532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58818" y="1968996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58818" y="2099072"/>
            <a:ext cx="222409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연속 사용 감지 시 다른 접근을 유도하는 hint 자동 주입. 탐색 다양성을 강제합니다.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47792" y="3759845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46168" y="3820120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다양성 강제 (Diversity Forcing)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246168" y="3905845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tool_repeat_5x → hint_inject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57200" y="4289822"/>
            <a:ext cx="8229600" cy="603052"/>
          </a:xfrm>
          <a:prstGeom prst="roundRect">
            <a:avLst>
              <a:gd name="adj" fmla="val 12636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4426" y="4400848"/>
            <a:ext cx="50750" cy="3810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22127" y="4457998"/>
            <a:ext cx="62150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자율성 vs 안전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127" y="4619923"/>
            <a:ext cx="62150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브레이크가 강할수록 자율 실행 범위가 줄어듭니다. 3가지 임계값(budget 한도, 수렴 횟수 3회, 반복 횟수 5회)은 사용자가 조정 가능합니다. 기본값은 실험적으로 도출했습니다.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56274"/>
            <a:ext cx="2387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자동 브레이크 → 사람 없이 장기 실행 가능 · core/orchestration/safety.py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운용을 위한 2가지 혁신: Plan-first + Provider-aware Compaction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작업의 사전 계획 + 컨텍스트 포화를 프로바이더별 전략으로 해결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7788"/>
            <a:ext cx="907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1 · Plan-first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14276"/>
            <a:ext cx="3981450" cy="3226296"/>
          </a:xfrm>
          <a:prstGeom prst="roundRect">
            <a:avLst>
              <a:gd name="adj" fmla="val 2362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250752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7500" y="1346002"/>
            <a:ext cx="2331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022300" y="1336477"/>
            <a:ext cx="599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요청 수신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590377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7500" y="167610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복잡도 판별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5719" y="1685627"/>
            <a:ext cx="3392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steps?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9367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69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요청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8869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실행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7962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7464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요청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7464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 자발 호출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3675" y="2361605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7500" y="2456855"/>
            <a:ext cx="4261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1461" y="2447330"/>
            <a:ext cx="13647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계획 승인 대기 → 확인 후 실행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3675" y="2714030"/>
            <a:ext cx="3708499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5176" y="2777430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rounds를 소모하기 전에 사람이 개입할 수 있습니다.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95176" y="2888456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LLM.create_plan() → user_approval_gate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565600" y="860375"/>
            <a:ext cx="12650" cy="3480197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201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2152" y="877788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2 · Provider-aware Compaction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5201" y="1114276"/>
            <a:ext cx="3981599" cy="3226296"/>
          </a:xfrm>
          <a:prstGeom prst="roundRect">
            <a:avLst>
              <a:gd name="adj" fmla="val 236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41677" y="1250752"/>
            <a:ext cx="3708648" cy="285750"/>
          </a:xfrm>
          <a:prstGeom prst="roundRect">
            <a:avLst>
              <a:gd name="adj" fmla="val 17778"/>
            </a:avLst>
          </a:prstGeom>
          <a:solidFill>
            <a:srgbClr val="1A1500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65502" y="13364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5001" y="1341239"/>
            <a:ext cx="1471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포화 → 프로바이더 분기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41677" y="1599902"/>
            <a:ext cx="1822549" cy="221724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2702" y="1710928"/>
            <a:ext cx="16325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52702" y="1856929"/>
            <a:ext cx="16325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서버사이드 compaction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52702" y="2014240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compact_20260112 + clear_tool_uses. API가 직접 컨텍스트를 압축.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952702" y="3528417"/>
            <a:ext cx="1600498" cy="177701"/>
          </a:xfrm>
          <a:prstGeom prst="roundRect">
            <a:avLst>
              <a:gd name="adj" fmla="val 21441"/>
            </a:avLst>
          </a:prstGeom>
          <a:solidFill>
            <a:srgbClr val="0D2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28902" y="3579168"/>
            <a:ext cx="14770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최상 / API 종속적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6727627" y="1599902"/>
            <a:ext cx="1822698" cy="221724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38652" y="1710928"/>
            <a:ext cx="1632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GLM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38652" y="1856929"/>
            <a:ext cx="16326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클라이언트사이드 compaction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838652" y="2014240"/>
            <a:ext cx="16326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요약 기반 압축. 80% 도달 시 직접 요약 삽입.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838652" y="3528417"/>
            <a:ext cx="1600646" cy="177701"/>
          </a:xfrm>
          <a:prstGeom prst="roundRect">
            <a:avLst>
              <a:gd name="adj" fmla="val 21441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14852" y="3579168"/>
            <a:ext cx="14772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범용적 / lossy 손실 있음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4841677" y="3880545"/>
            <a:ext cx="3708648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943177" y="3943945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context_action.py hook이 프로바이더를 감지하여 전략을 자동 선택합니다.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943177" y="4054971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context_action.py → provider_strategy()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4391323"/>
            <a:ext cx="8229600" cy="501551"/>
          </a:xfrm>
          <a:prstGeom prst="roundRect">
            <a:avLst>
              <a:gd name="adj" fmla="val 15193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4426" y="4489698"/>
            <a:ext cx="50750" cy="3048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22127" y="4589711"/>
            <a:ext cx="69332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서버사이드 compaction은 API 종속적이지만 품질 최상. 클라이언트는 범용적이지만 lossy. Plan-first는 자율성을 일부 제한하지만 잘못된 방향의 50 rounds 낭비를 사전 차단합니다.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23590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core/context/context_action.py · core/orchestration/plan_manager.py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34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38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SCHEDULER +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Gateway: 시간 기반 자율 실행과 채널 라우팅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격리로 메인 대화 오염 방지 · 채널 무관 단일 세션 관리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4663"/>
            <a:ext cx="1464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— 시간 기반 자율 실행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88975"/>
            <a:ext cx="3981450" cy="939701"/>
          </a:xfrm>
          <a:prstGeom prst="roundRect">
            <a:avLst>
              <a:gd name="adj" fmla="val 810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1212800"/>
            <a:ext cx="17941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유형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07975" y="1368326"/>
            <a:ext cx="1632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특정 시각 1회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간격 반복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cron 표현식 실행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1025" y="1733401"/>
            <a:ext cx="1794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Parser: "매일 오전 9시에 리포트 생성" → AT/EVERY/CRON으로 파싱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441525" y="1212800"/>
            <a:ext cx="12650" cy="69205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55677" y="1212800"/>
            <a:ext cx="17943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5677" y="1368326"/>
            <a:ext cx="179433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파싱 → action_queue 등록 → 트리거 시각 도달 → AgenticLoop 위임. 큐 관리로 동시 실행 충돌을 방지합니다.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555677" y="1738759"/>
            <a:ext cx="17943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action_queue → AgenticLoop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2104876"/>
            <a:ext cx="3981450" cy="961579"/>
          </a:xfrm>
          <a:prstGeom prst="roundRect">
            <a:avLst>
              <a:gd name="adj" fmla="val 7924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" y="225563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975" y="2228701"/>
            <a:ext cx="1247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(isolated=True)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81025" y="2479328"/>
            <a:ext cx="1092101" cy="231577"/>
          </a:xfrm>
          <a:prstGeom prst="roundRect">
            <a:avLst>
              <a:gd name="adj" fmla="val 2193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0447" y="2552254"/>
            <a:ext cx="9132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트리거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723876" y="252367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01726" y="2396877"/>
            <a:ext cx="1092250" cy="396627"/>
          </a:xfrm>
          <a:prstGeom prst="roundRect">
            <a:avLst>
              <a:gd name="adj" fmla="val 1280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991146" y="2469803"/>
            <a:ext cx="913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ConversationContext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991146" y="2653903"/>
            <a:ext cx="9134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isolated=True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044726" y="252367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22575" y="2434977"/>
            <a:ext cx="1092250" cy="320427"/>
          </a:xfrm>
          <a:prstGeom prst="roundRect">
            <a:avLst>
              <a:gd name="adj" fmla="val 1585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11996" y="2507903"/>
            <a:ext cx="9134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311996" y="2606278"/>
            <a:ext cx="91340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실행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81025" y="2856905"/>
            <a:ext cx="3808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기본값 — 메인 대화 컨텍스트를 오염시키지 않습니다. systemEvent로 메인에 결과 주입도 가능합니다.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565600" y="860375"/>
            <a:ext cx="12650" cy="3480197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05201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32152" y="874663"/>
            <a:ext cx="12718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무관 라우팅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5201" y="1088975"/>
            <a:ext cx="3981599" cy="3251597"/>
          </a:xfrm>
          <a:prstGeom prst="roundRect">
            <a:avLst>
              <a:gd name="adj" fmla="val 234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026" y="1212800"/>
            <a:ext cx="885825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94552" y="1285726"/>
            <a:ext cx="754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778252" y="1212800"/>
            <a:ext cx="885974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43777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727627" y="1212800"/>
            <a:ext cx="885974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93151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677001" y="1212800"/>
            <a:ext cx="885974" cy="241102"/>
          </a:xfrm>
          <a:prstGeom prst="roundRect">
            <a:avLst>
              <a:gd name="adj" fmla="val 2107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742526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91687" y="1517303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9026" y="1723579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17988" y="1809304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17988" y="1929854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어댑터 → 표준 메시지 변환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791687" y="216470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29026" y="2370981"/>
            <a:ext cx="1835200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40052" y="2456706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940052" y="2567732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채널:사용자 조합으로 세션 식별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727627" y="2370981"/>
            <a:ext cx="18353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838652" y="2456706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838652" y="2567732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간 처리 순서 보장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791687" y="2802582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29026" y="3008858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917988" y="3094583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917988" y="3215134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단일 진입점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57200" y="4391323"/>
            <a:ext cx="8229600" cy="501551"/>
          </a:xfrm>
          <a:prstGeom prst="roundRect">
            <a:avLst>
              <a:gd name="adj" fmla="val 15193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44426" y="4489698"/>
            <a:ext cx="50750" cy="3048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22127" y="4589711"/>
            <a:ext cx="68570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Cron은 격리가 기본 — 메인 대화 오염 방지. 단, systemEvent로 메인 주입도 가능하여 격리와 연계를 선택할 수 있습니다. Gateway는 채널 추가 시 어댑터 1개만 구현하면 됩니다.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4956274"/>
            <a:ext cx="2664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core/scheduler/ · core/gateway/ · isolated=True → fresh ConversationContext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LLM tool_use → ToolExecutor 단일 진입점 → 4-Route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 블록을 반환하는 순간, 모든 실행 경로는 ToolExecutor 하나로 수렴한다.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486400" cy="1501378"/>
          </a:xfrm>
          <a:prstGeom prst="roundRect">
            <a:avLst>
              <a:gd name="adj" fmla="val 33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5291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FLOW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79153"/>
            <a:ext cx="1396901" cy="345877"/>
          </a:xfrm>
          <a:prstGeom prst="roundRect">
            <a:avLst>
              <a:gd name="adj" fmla="val 1468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62" y="1152079"/>
            <a:ext cx="1146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62" y="1266379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 반환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79427" y="118065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2726" y="1079153"/>
            <a:ext cx="3511748" cy="345877"/>
          </a:xfrm>
          <a:prstGeom prst="roundRect">
            <a:avLst>
              <a:gd name="adj" fmla="val 14687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86813" y="1152079"/>
            <a:ext cx="33035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86813" y="1266379"/>
            <a:ext cx="33035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도구 디스패치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54444" y="1488430"/>
            <a:ext cx="52919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도구 유형 판별 → 4경로 분기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6326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1271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2051" y="1869281"/>
            <a:ext cx="109952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 계열 — 3-layer safety + PolicyChain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19139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4083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004864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 매칭 — 52 native tools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232100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07046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17825" y="1869281"/>
            <a:ext cx="109952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 서버 auto-discovery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44913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19857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0638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 → 13-task StateGraph 실행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2368004"/>
            <a:ext cx="5486400" cy="2569220"/>
          </a:xfrm>
          <a:prstGeom prst="roundRect">
            <a:avLst>
              <a:gd name="adj" fmla="val 197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6326" y="2479030"/>
            <a:ext cx="52919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— 2개 이상 tool_use 시 ToolCallProcessor 분류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6326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0740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0740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70740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완전 병렬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654076" y="2666256"/>
            <a:ext cx="997148" cy="533846"/>
          </a:xfrm>
          <a:prstGeom prst="roundRect">
            <a:avLst>
              <a:gd name="adj" fmla="val 9516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718489" y="2751981"/>
            <a:ext cx="868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18489" y="2891582"/>
            <a:ext cx="8683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718489" y="3015407"/>
            <a:ext cx="86832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 자동 승인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7019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7663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663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7663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일괄 승인 후 병렬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74972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81413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1413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81413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 승인 순차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974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618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618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8618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사용자 에스컬레이션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057900" y="790426"/>
            <a:ext cx="2628900" cy="1425029"/>
          </a:xfrm>
          <a:prstGeom prst="roundRect">
            <a:avLst>
              <a:gd name="adj" fmla="val 35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07026" y="901452"/>
            <a:ext cx="2377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07026" y="1079153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자동 복구 체인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207026" y="122827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90669" y="126637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Retry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94327" y="1266379"/>
            <a:ext cx="10360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 backoff 동일 도구 재시도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07026" y="1460004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90669" y="1498104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Alt Tool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994327" y="1498104"/>
            <a:ext cx="8596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07026" y="169172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90669" y="172982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Fallback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994327" y="1729829"/>
            <a:ext cx="7813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07026" y="1923455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290669" y="1961555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Escalate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994327" y="1961555"/>
            <a:ext cx="7309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에스컬레이션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057900" y="2291655"/>
            <a:ext cx="2628900" cy="2645569"/>
          </a:xfrm>
          <a:prstGeom prst="roundRect">
            <a:avLst>
              <a:gd name="adj" fmla="val 19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081713" y="2291655"/>
            <a:ext cx="0" cy="264556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126" y="2393156"/>
            <a:ext cx="2348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45126" y="2570857"/>
            <a:ext cx="234811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실행 속도 때문에 T0-1은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병렬화하고, 안전 등급 보장 때문에 T3-4는 순차 개별 승인으로 격리했다.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245126" y="2913459"/>
            <a:ext cx="23481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57200" y="4987975"/>
            <a:ext cx="28278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— v0.31.0 · 52 native tools · 45 MCP · 5-Tier safety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34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도구 실행 중 46개 이벤트 발화 → 리플 패턴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콜백으로는 확장 불가 → Claude Code·Devin·OpenHands 리서치 후 8카테고리 46이벤트로 개편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629841"/>
          </a:xfrm>
          <a:prstGeom prst="roundRect">
            <a:avLst>
              <a:gd name="adj" fmla="val 80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629841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91927"/>
            <a:ext cx="477031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결과·드리프트·MEMORY.md 증강을 실시간 추적하려면 하드코딩 콜백으로는 확장이 불가능했다. 프론티어 3종 리서치 후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8카테고리 46이벤트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개편. PIPELINE_END 하나가 runs.jsonl 기록과 MEMORY.md 업데이트를 동시에 발동하는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83668"/>
            <a:ext cx="5029200" cy="3453557"/>
          </a:xfrm>
          <a:prstGeom prst="roundRect">
            <a:avLst>
              <a:gd name="adj" fmla="val 14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326" y="1594693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CATEGORIES — 46 total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785045"/>
            <a:ext cx="2340025" cy="722114"/>
          </a:xfrm>
          <a:prstGeom prst="roundRect">
            <a:avLst>
              <a:gd name="adj" fmla="val 7035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701" y="1857970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Lifecycle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04701" y="1978521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 · END · ERROR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6326" y="2557909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4701" y="2630835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701" y="2751386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ENTER · EXIT · RETRY · ERROR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6326" y="3330922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701" y="3403848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/ Verify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04701" y="3524399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 — COMPLETE · FAIL · ESCALATE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4103936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701" y="4176861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Storage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4701" y="4297412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SAVE · LOAD · UPDATE · PURGE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97101" y="1785045"/>
            <a:ext cx="2340173" cy="722114"/>
          </a:xfrm>
          <a:prstGeom prst="roundRect">
            <a:avLst>
              <a:gd name="adj" fmla="val 703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95476" y="1857970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Change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95476" y="1978521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ASSEMBLE · CACHE · UPDATE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997101" y="2557909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95476" y="2630835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095476" y="2751386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 — SPAWN · COMPLETE · FAIL · TIMEOUT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997101" y="3330922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95476" y="3403848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095476" y="3524399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80% · 95% · OVERFLOW_ACTION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997101" y="4103936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095476" y="4176861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HITL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95476" y="4297412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REQUESTED · GRANTED · DENIED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600700" y="790426"/>
            <a:ext cx="3086100" cy="2872234"/>
          </a:xfrm>
          <a:prstGeom prst="roundRect">
            <a:avLst>
              <a:gd name="adj" fmla="val 17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49826" y="901452"/>
            <a:ext cx="2843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49826" y="1079153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F97316">
              <a:alpha val="6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60852" y="1139428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60852" y="1256854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49826" y="1460004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F5C542">
              <a:alpha val="6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60852" y="1520279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60852" y="1637705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49826" y="1850380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860852" y="1910655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60852" y="2028081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749826" y="2240756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60852" y="2301032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860852" y="2418457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00700" y="3726061"/>
            <a:ext cx="3086100" cy="578644"/>
          </a:xfrm>
          <a:prstGeom prst="roundRect">
            <a:avLst>
              <a:gd name="adj" fmla="val 87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624513" y="3726061"/>
            <a:ext cx="0" cy="57864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7926" y="3814911"/>
            <a:ext cx="281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87926" y="3967311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P30→P50→P85 핸들러 순서 보장.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00700" y="4368105"/>
            <a:ext cx="3086100" cy="569119"/>
          </a:xfrm>
          <a:prstGeom prst="roundRect">
            <a:avLst>
              <a:gd name="adj" fmla="val 89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624513" y="4368105"/>
            <a:ext cx="0" cy="569119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87926" y="4456956"/>
            <a:ext cx="28144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Observer 오버헤드 vs 확장성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787926" y="4599831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콜백보다 초기 등록 오버헤드가 있지만, 핸들러 간 에러 격리 덕분에 46이벤트가 독립적으로 확장된다.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2733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· 46 HookEvent enum members · 8 categories · Priority-chain · StuckDetector 120s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34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delegate_task → SubAgentManager → IsolatedRunner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결과를 반환할 때 부모 컨텍스트가 기하급수적으로 팽창했다 — full inheritance + 4096 guard로 해결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80901"/>
            <a:ext cx="5054501" cy="626120"/>
          </a:xfrm>
          <a:prstGeom prst="roundRect">
            <a:avLst>
              <a:gd name="adj" fmla="val 81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80901"/>
            <a:ext cx="0" cy="62612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82402"/>
            <a:ext cx="47961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컨텍스트 폭발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056977"/>
            <a:ext cx="47961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3개가 완전한 실행 컨텍스트를 반환하면 부모 컨텍스트가 200K를 즉시 초과. 서브에이전트 수에 비례해 기하급수적으로 팽창했다.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483221"/>
            <a:ext cx="5054501" cy="3454003"/>
          </a:xfrm>
          <a:prstGeom prst="roundRect">
            <a:avLst>
              <a:gd name="adj" fmla="val 14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594247"/>
            <a:ext cx="4825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full inheritance + 4096 Guard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9125" y="1784747"/>
            <a:ext cx="4730651" cy="384125"/>
          </a:xfrm>
          <a:prstGeom prst="roundRect">
            <a:avLst>
              <a:gd name="adj" fmla="val 1322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1023" y="1870472"/>
            <a:ext cx="4546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023" y="1997422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 · memory 전체 보유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212330" y="2245072"/>
            <a:ext cx="1575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full inheritance (위임이지 파견이 아니다)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9125" y="2426047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122" y="2511772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04122" y="2632323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217093" y="2426047"/>
            <a:ext cx="1534716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02088" y="2511772"/>
            <a:ext cx="13647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02088" y="2632323"/>
            <a:ext cx="1364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15209" y="2426047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0206" y="2511772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00206" y="2632323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224832" y="2879973"/>
            <a:ext cx="15494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반환 전 4096-token guard — 구조화 요약 압축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9125" y="3041898"/>
            <a:ext cx="4730651" cy="339477"/>
          </a:xfrm>
          <a:prstGeom prst="roundRect">
            <a:avLst>
              <a:gd name="adj" fmla="val 1496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1023" y="3114824"/>
            <a:ext cx="45468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1023" y="3222724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출력이 아닌 구조화 요약 반환 — 컨텍스트 폭발 방지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626001" y="780901"/>
            <a:ext cx="3060799" cy="1621631"/>
          </a:xfrm>
          <a:prstGeom prst="roundRect">
            <a:avLst>
              <a:gd name="adj" fmla="val 313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75127" y="891927"/>
            <a:ext cx="28177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75127" y="1079153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94177" y="1079153"/>
            <a:ext cx="0" cy="358676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7527" y="1155353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 = 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27527" y="1275904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scheduling — 동시 실행 서브에이전트 최대 5개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775127" y="1501229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794177" y="1501229"/>
            <a:ext cx="0" cy="3586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7527" y="1577429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250ms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927527" y="1697980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 내 동일 태스크 중복 제거 — 토큰 낭비 방지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775127" y="1923306"/>
            <a:ext cx="27625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794177" y="1923306"/>
            <a:ext cx="0" cy="368201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27527" y="1999506"/>
            <a:ext cx="2545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= 유효 컨텍스트 600K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27527" y="2129582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독립 200K window — 깊이당 선형 확장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626001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29552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729552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concurrent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671667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75219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775219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7717334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820885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820885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depth-3 ctx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626001" y="3142059"/>
            <a:ext cx="3060799" cy="1795165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649813" y="3142059"/>
            <a:ext cx="0" cy="1795165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3227" y="3243560"/>
            <a:ext cx="2788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full inheritance vs sandbox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813227" y="3389561"/>
            <a:ext cx="278865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격리 sandbox는 안전하지만 부모의 tools·skills·memory를 재설정해야 해서 위임의 의미를 잃는다. full inheritance + 4096 guard가 서브에이전트에게 부모의 능력을 그대로 주면서 컨텍스트 폭발을 방지했다.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4987975"/>
            <a:ext cx="31488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SubAgentManager · IsolatedRunner · CoalescingQueue 250ms · MAX_CONCURRENT=5 · 4096 token guard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34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호출 실패 → CircuitBreaker → Cross-Provider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의존 때문에 Rate Limit·장애 시 파이프라인 전체가 중단됐다 — 3-Provider 체인으로 단일 장애점 제거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142249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2526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2526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31950" y="126816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42220" y="1420564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2285851" y="790426"/>
            <a:ext cx="1422648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85851" y="799951"/>
            <a:ext cx="142264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2802" y="923776"/>
            <a:ext cx="1192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2802" y="1088827"/>
            <a:ext cx="1192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12802" y="1250603"/>
            <a:ext cx="1168747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01652" y="1288703"/>
            <a:ext cx="1010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12802" y="1450628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1177" y="1498253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12802" y="1669703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11177" y="1717328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60750" y="126816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71020" y="1420564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114651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114651" y="799951"/>
            <a:ext cx="142249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1602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41602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41602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0452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41602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39977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41602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39977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041178"/>
            <a:ext cx="5079950" cy="2886521"/>
          </a:xfrm>
          <a:prstGeom prst="roundRect">
            <a:avLst>
              <a:gd name="adj" fmla="val 17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6326" y="2152204"/>
            <a:ext cx="4877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상태 머신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326" y="2364730"/>
            <a:ext cx="1284089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6731" y="2450455"/>
            <a:ext cx="108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6731" y="2558355"/>
            <a:ext cx="1083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66615" y="2440930"/>
            <a:ext cx="422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2288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57152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57556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57556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817590" y="2440930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7176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03787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04191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04191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06326" y="2793206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— Exponential Backoff ±25% Jitter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06326" y="2942332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— 즉시 다음 Provider 에스컬레이션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51450" y="790426"/>
            <a:ext cx="3035350" cy="905321"/>
          </a:xfrm>
          <a:prstGeom prst="roundRect">
            <a:avLst>
              <a:gd name="adj" fmla="val 56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00576" y="901452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00576" y="1076027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학습이 Provider 전환 후에도 유지된다.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800576" y="1387971"/>
            <a:ext cx="2737098" cy="196751"/>
          </a:xfrm>
          <a:prstGeom prst="roundRect">
            <a:avLst>
              <a:gd name="adj" fmla="val 1936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902077" y="1443484"/>
            <a:ext cx="6064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572845" y="143872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38045" y="1443484"/>
            <a:ext cx="1305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· OpenAI · ZhipuAI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51450" y="1771948"/>
            <a:ext cx="3035350" cy="645170"/>
          </a:xfrm>
          <a:prstGeom prst="roundRect">
            <a:avLst>
              <a:gd name="adj" fmla="val 7874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800576" y="1882973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00576" y="2057549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+ 무료 tier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Anthropic·OpenAI 양쪽 장애 시 비용 없이 운영 연속성을 보장한다. GLM-5 성능이 GPT-4 수준이라 응급 처리에 충분하다.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51450" y="2493318"/>
            <a:ext cx="3035350" cy="2434382"/>
          </a:xfrm>
          <a:prstGeom prst="roundRect">
            <a:avLst>
              <a:gd name="adj" fmla="val 20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675263" y="2493318"/>
            <a:ext cx="0" cy="243438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38676" y="2594818"/>
            <a:ext cx="27626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3-Provider 유지 비용 vs 단일 장애점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838676" y="2750344"/>
            <a:ext cx="2762694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어댑터 3개 유지 비용이 있지만, 단일 Provider 장애로 파이프라인 전체가 중단되는 비용이 훨씬 크다. ZhipuAI 무료 tier 덕분에 추가 비용 없이 단일 장애점을 제거했다.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78529" y="3251448"/>
            <a:ext cx="31970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6878529" y="3505498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94522" y="3251448"/>
            <a:ext cx="21161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294522" y="3505498"/>
            <a:ext cx="21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57200" y="4978450"/>
            <a:ext cx="34763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 80K) — Provider별 독립 CircuitBreaker 3-state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34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Compression: 80% WARNING → 95% CRITICAL → 3-Phase 압축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윈도우가 넘치면 루프가 강제 종료됐다 — Lossless Selection으로 정보 손실 없이 비용 0.03%로 절감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152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90451"/>
            <a:ext cx="462275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995214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5188" y="990451"/>
            <a:ext cx="0" cy="603945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89633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250" y="990451"/>
            <a:ext cx="0" cy="603945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01" y="1101477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MONITOR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4901" y="1234827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사용률 상시 추적.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CONTEXT_WARNING 이벤트 발화 — 루프는 계속 진행하되 compact 준비 신호를 핸들러에게 전달한다.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051" y="167059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861096"/>
            <a:ext cx="4622750" cy="966192"/>
          </a:xfrm>
          <a:prstGeom prst="roundRect">
            <a:avLst>
              <a:gd name="adj" fmla="val 52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865858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5188" y="1861096"/>
            <a:ext cx="0" cy="96619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22525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250" y="1861096"/>
            <a:ext cx="0" cy="966192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1972121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LOSSLESS SELECT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4901" y="2105471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 대신 LLM이 코드로 관련 청크만 선별한다. 요약이 아니라 선택이기 때문에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손실 0%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호출 비용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절감. 깊이 3이면 서브에이전트 독립 200K window로 유효 컨텍스트 600K 선형 확장.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4901" y="2417415"/>
            <a:ext cx="2116187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4426" y="2417415"/>
            <a:ext cx="0" cy="29884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801" y="2468166"/>
            <a:ext cx="19578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42801" y="2566541"/>
            <a:ext cx="195782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쉽지만 정보 소실 불가피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814489" y="2417415"/>
            <a:ext cx="2116336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824014" y="2417415"/>
            <a:ext cx="0" cy="29884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2389" y="2468166"/>
            <a:ext cx="19579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922389" y="2566541"/>
            <a:ext cx="195797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청크만 선별 — 내용 유지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743051" y="2903488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093988"/>
            <a:ext cx="462275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57200" y="3098750"/>
            <a:ext cx="4622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5188" y="3093988"/>
            <a:ext cx="0" cy="603945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93170"/>
            <a:ext cx="4622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250" y="3093988"/>
            <a:ext cx="0" cy="60394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901" y="3205014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EMERGENCY PRUNE (95%)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34901" y="3338364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초과 시 CONTEXT_CRITICAL 이벤트 — 강제 pruning 발동. 최초 사용자 메시지 보존 + bridge 메시지 삽입 후 루프 재개.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3774132"/>
            <a:ext cx="4622750" cy="588169"/>
          </a:xfrm>
          <a:prstGeom prst="roundRect">
            <a:avLst>
              <a:gd name="adj" fmla="val 8637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3675" y="3872508"/>
            <a:ext cx="44367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정보 손실 vs 크래시 방지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93675" y="4015383"/>
            <a:ext cx="443679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요약은 구현이 쉽지만 정보가 사라진다. Lossless Selection은 LLM 호출 비용이 있지만 0.03%의 비용으로 정보 손실을 막았다.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6901" y="790426"/>
            <a:ext cx="3479899" cy="1596182"/>
          </a:xfrm>
          <a:prstGeom prst="roundRect">
            <a:avLst>
              <a:gd name="adj" fmla="val 318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56027" y="914251"/>
            <a:ext cx="3245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단계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56027" y="1114276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492502" y="1187202"/>
            <a:ext cx="59917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0-79%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81427" y="1236315"/>
            <a:ext cx="871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 — 모니터링만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56027" y="1514029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92502" y="1586954"/>
            <a:ext cx="56987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52704" y="1636068"/>
            <a:ext cx="13876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— Lossless Select 준비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356027" y="1913781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92502" y="1986707"/>
            <a:ext cx="56987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152704" y="2035820"/>
            <a:ext cx="14582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— Emergency Prune 발동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06901" y="2462808"/>
            <a:ext cx="3479899" cy="1690539"/>
          </a:xfrm>
          <a:prstGeom prst="roundRect">
            <a:avLst>
              <a:gd name="adj" fmla="val 30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356027" y="2586633"/>
            <a:ext cx="3245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깊이별 유효 컨텍스트 선형 확장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56027" y="2810321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17878" y="2773859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06728" y="2815084"/>
            <a:ext cx="2167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56027" y="3038773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17878" y="3002310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1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06728" y="3043535"/>
            <a:ext cx="2167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356027" y="3267224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17878" y="3230761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2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06728" y="3267224"/>
            <a:ext cx="6966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 ← 선형 확장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356027" y="3484662"/>
            <a:ext cx="324528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window를 가지기 때문에 깊이가 1 증가할 때마다 200K씩 선형으로 확장된다.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06901" y="4229546"/>
            <a:ext cx="3479899" cy="698153"/>
          </a:xfrm>
          <a:prstGeom prst="roundRect">
            <a:avLst>
              <a:gd name="adj" fmla="val 7276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324210" y="4340572"/>
            <a:ext cx="324528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5324210" y="4645223"/>
            <a:ext cx="3245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 압축 비용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24210" y="4730948"/>
            <a:ext cx="3245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(Lossy 요약 대비 정보 손실 없음)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57200" y="4978450"/>
            <a:ext cx="323753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 80% · CONTEXT_CRITICAL 95% · Lossless Selection · Emergency Prune · bridge 메시지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34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Auto-Learning: 턴 종료 → TURN_COMPLETE hook → MEMORY.md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세션이 끝나면 인사이트가 휘발됐다 — PIPELINE_END 이벤트가 MEMORY.md에 자동 축적, 다음 세션에 반영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1346299"/>
          </a:xfrm>
          <a:prstGeom prst="roundRect">
            <a:avLst>
              <a:gd name="adj" fmla="val 377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14251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FEEDBACK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130052"/>
            <a:ext cx="1424583" cy="374600"/>
          </a:xfrm>
          <a:prstGeom prst="roundRect">
            <a:avLst>
              <a:gd name="adj" fmla="val 13561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8381" y="1215777"/>
            <a:ext cx="1200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턴 실행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8381" y="1333202"/>
            <a:ext cx="12004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1 turn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94309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59360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71414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1414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발화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47492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12543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24597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24597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자동 축적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32831" y="1568053"/>
            <a:ext cx="211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memory write-back → 다음 세션 Tier 3 주입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1717179"/>
            <a:ext cx="4730948" cy="295721"/>
          </a:xfrm>
          <a:prstGeom prst="roundRect">
            <a:avLst>
              <a:gd name="adj" fmla="val 1717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221" y="1802904"/>
            <a:ext cx="4547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 시작 시 PromptAssembler P4 (memory 페이즈)가 MEMORY.md 인사이트를 프롬프트에 자동 주입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212925"/>
            <a:ext cx="5029200" cy="2724299"/>
          </a:xfrm>
          <a:prstGeom prst="roundRect">
            <a:avLst>
              <a:gd name="adj" fmla="val 18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6326" y="2323951"/>
            <a:ext cx="48255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7352" y="2622352"/>
            <a:ext cx="9313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— Organization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7352" y="283815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CLAUDE.md · 전역 정책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804839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15864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Project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15864" y="2742902"/>
            <a:ext cx="9314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· LEARNINGS.md 자동 업데이트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003500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14526" y="2622352"/>
            <a:ext cx="931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Session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14526" y="274290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단기 메모리 · 200 turns sliding window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202013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13039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Hybrid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13039" y="2742902"/>
            <a:ext cx="931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L1 고속 캐시 + File L2 영속 저장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613350" y="790426"/>
            <a:ext cx="3073450" cy="1631454"/>
          </a:xfrm>
          <a:prstGeom prst="roundRect">
            <a:avLst>
              <a:gd name="adj" fmla="val 31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62476" y="914251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Write-back 메커니즘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476" y="1101477"/>
            <a:ext cx="277519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81526" y="1101477"/>
            <a:ext cx="0" cy="35867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14876" y="1177677"/>
            <a:ext cx="25586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hook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14876" y="1298228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종료 시 L2 React 핸들러 자동 실행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62476" y="1510903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781526" y="1510903"/>
            <a:ext cx="0" cy="36820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4876" y="1587103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+ 요약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14876" y="1717179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인사이트·패턴·결정 이유를 구조화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762476" y="1929854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781526" y="1929854"/>
            <a:ext cx="0" cy="368201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14876" y="2006054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누적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914876" y="2136130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Project 메모리에 append — 세션 간 지속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613350" y="2498080"/>
            <a:ext cx="3073450" cy="981521"/>
          </a:xfrm>
          <a:prstGeom prst="roundRect">
            <a:avLst>
              <a:gd name="adj" fmla="val 517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62476" y="2609106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4-Tier인가?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2476" y="2783681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메모리면 프로젝트 간 격리가 안 되고, 세션 메모리만으로는 인사이트가 휘발된다. 4-Tier로 범위별 TTL과 접근 권한을 분리했다.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762476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20588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영구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820588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불변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468963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27075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장기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527075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누적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7175450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33562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TTL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233562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단위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881937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40049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고속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940049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캐시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613350" y="3555802"/>
            <a:ext cx="3073450" cy="58816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62476" y="3654177"/>
            <a:ext cx="28307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후에도 메모리 유지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62476" y="3797052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메모리가 LLMClientPort 추상화 위에 있기 때문에 Provider 전환 후에도 세션 학습 내용이 사라지지 않는다.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3350" y="4220170"/>
            <a:ext cx="3073450" cy="732830"/>
          </a:xfrm>
          <a:prstGeom prst="roundRect">
            <a:avLst>
              <a:gd name="adj" fmla="val 69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5637163" y="4220170"/>
            <a:ext cx="0" cy="73283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0576" y="4309021"/>
            <a:ext cx="28015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자동 학습 오버헤드 vs 지식 휘발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800576" y="4464546"/>
            <a:ext cx="2801556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PIPELINE_END마다 LLM 호출이 추가되지만, 세션마다 인사이트가 휘발되는 비용이 더 크다. write-back 덕분에 동일 분석 영역에서 세션이 누적될수록 품질이 개선된다.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4987975"/>
            <a:ext cx="37726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· PIPELINE_END hook · 4-Tier: Session→Project→Org→Hybrid · Redis L1 + File L2 · MEMORY.md write-back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34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다음 턴 준비 → 6-Phase 동적 조립 → SHA-256 추적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편집으로는 변경 추적이 불가능하고 캐시 히트율이 떨어졌다 — 6-Phase 조립으로 2회차부터 입력 비용 10%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544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조립 파이프라인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09501"/>
            <a:ext cx="747117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555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2925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42925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5068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94817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394817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37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817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99580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0542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80542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480542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192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32583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332583" y="1009501"/>
            <a:ext cx="747117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74938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2583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7346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8308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18308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418308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130451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70200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70200" y="1009501"/>
            <a:ext cx="74726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12704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0200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4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925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55925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55925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068217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07966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207966" y="1009501"/>
            <a:ext cx="747117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50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7966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2729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3691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293691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293691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05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45584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5584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8087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45584" y="1640532"/>
            <a:ext cx="747266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50346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1309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1309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1309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출력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57200" y="1721495"/>
            <a:ext cx="5435650" cy="644723"/>
          </a:xfrm>
          <a:prstGeom prst="roundRect">
            <a:avLst>
              <a:gd name="adj" fmla="val 78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57200" y="1726257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88087" y="1721495"/>
            <a:ext cx="0" cy="64472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2361456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6250" y="1721495"/>
            <a:ext cx="0" cy="644723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901" y="1832521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34901" y="1975396"/>
            <a:ext cx="52110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후 SHA-256 해시 생성 — 동일 프롬프트 재조립 시 캐시 히트 판별. 수동 편집으로는 불가능했던 변경 추적을 코드 레벨에서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34901" y="2150418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= sha256(assembled_prompt) → cache_key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57200" y="2442418"/>
            <a:ext cx="5435650" cy="2494806"/>
          </a:xfrm>
          <a:prstGeom prst="roundRect">
            <a:avLst>
              <a:gd name="adj" fmla="val 2036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06326" y="2553444"/>
            <a:ext cx="52401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조립 복잡도(6단계) vs 비용 절감(90%) + 재현성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6326" y="2708970"/>
            <a:ext cx="25682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수동 편집 3대 문제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6326" y="2851845"/>
            <a:ext cx="2517874" cy="342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 불가 — drift 감지 없음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히트율 저하 — 매 요청 100% 비용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간 프롬프트 불일치 — 7 노드 각자 편집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225701" y="2708970"/>
            <a:ext cx="25683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6-Phase 조립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25701" y="2851845"/>
            <a:ext cx="2518023" cy="342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SHA-256으로 drift 감지 — 동일 해시면 재조립 스킵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100% 유지 — 2회차부터 입력 비용 10%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7노드 동일 프롬프트 1 cache entry 공유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6019800" y="790426"/>
            <a:ext cx="2667000" cy="799951"/>
          </a:xfrm>
          <a:prstGeom prst="roundRect">
            <a:avLst>
              <a:gd name="adj" fmla="val 635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32335" y="926902"/>
            <a:ext cx="2441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6132335" y="1269802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6132335" y="136817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1회차 100%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019800" y="1666577"/>
            <a:ext cx="2667000" cy="854571"/>
          </a:xfrm>
          <a:prstGeom prst="roundRect">
            <a:avLst>
              <a:gd name="adj" fmla="val 59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156275" y="1777603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cache_control: ephemeral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156275" y="1910953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파이프라인 내 7개 노드가 동일 시스템 프롬프트를 공유. ephemeral 마킹 1회로 전체 캐시 적용.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156275" y="2222897"/>
            <a:ext cx="2394049" cy="187226"/>
          </a:xfrm>
          <a:prstGeom prst="roundRect">
            <a:avLst>
              <a:gd name="adj" fmla="val 203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6245126" y="2273647"/>
            <a:ext cx="22606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nodes × same system prompt → 1 cache entry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019800" y="2597348"/>
            <a:ext cx="266700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56275" y="2708374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— 21 Scaffold Skills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156275" y="284172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태스크 유형에 따라 필요한 스킬만 동적 선택 주입 — 프롬프트 크기 최적화.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019800" y="3277493"/>
            <a:ext cx="2667000" cy="1659731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156275" y="3388519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PROMPT_ASSEMBLE hook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156275" y="3521869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완료 시 Prompt Change 카테고리 이벤트 발화 — 캐시 상태와 조립 결과를 관측 레이어에 전달.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57200" y="4987975"/>
            <a:ext cx="32188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cache_key · cache_control: ephemeral · 21 skills · 7-node prompt sharing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34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Cost: 외부 도구 호출 → 45 Catalog + TokenTracker 비용 관측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스토리 + 자체 TokenTracker — while(tool_use) 루프 비용을 /cost CLI로 실시간 관측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24400" cy="3077021"/>
          </a:xfrm>
          <a:prstGeom prst="roundRect">
            <a:avLst>
              <a:gd name="adj" fmla="val 165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4514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아키텍처 진화: 3계층 → 2계층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88678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174403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3계층 (병목)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0151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004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18004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42517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94917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82770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82770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07284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9684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47537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47537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30151" y="1647379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 도구 탐색 막는 병목 · Proxy stub 9개 중복 · auto-discovery 불가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82391" y="1882229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2050405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0151" y="2136130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2계층 (탐색 자유도)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0151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068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1068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774900" y="237738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7300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0783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0783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30151" y="2609106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 · API key 부재 시 dry-run 자동 전환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06326" y="2843957"/>
            <a:ext cx="4426148" cy="912465"/>
          </a:xfrm>
          <a:prstGeom prst="roundRect">
            <a:avLst>
              <a:gd name="adj" fmla="val 5567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151" y="2929682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Registry를 삭제했는가?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0151" y="3072557"/>
            <a:ext cx="42620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LLM의 도구 탐색을 막는 병목이었다. 자율 에이전트는 도구를 스스로 찾아야 하는데, Registry가 검색 범위를 제한했다. 삭제 후 LLM이 Catalog를 직접 탐색 — 중앙 제어 없이 45 서버를 자율 발견한다.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30151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6351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 중앙 제어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06351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삭제로 도구 목록 감사 불가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851100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27300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탐색 자유도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927300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컨텍스트에 맞게 자율 선택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295900" y="790426"/>
            <a:ext cx="3390900" cy="1472654"/>
          </a:xfrm>
          <a:prstGeom prst="roundRect">
            <a:avLst>
              <a:gd name="adj" fmla="val 345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5026" y="901452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— 자체 비용 추적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5026" y="1088678"/>
            <a:ext cx="315450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LangSmith만으로는 모델별 비용 내역·캐시 히트율 추적이 어려워 자체 구축.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5026" y="1276350"/>
            <a:ext cx="3092648" cy="336352"/>
          </a:xfrm>
          <a:prstGeom prst="roundRect">
            <a:avLst>
              <a:gd name="adj" fmla="val 113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4076" y="1276350"/>
            <a:ext cx="0" cy="33635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4627" y="1339751"/>
            <a:ext cx="2908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싱글톤으로 호출마다 입출력 토큰 + cache_creation/cache_read 기록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5026" y="1650802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64076" y="1650802"/>
            <a:ext cx="0" cy="23157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4627" y="1714202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 — 실시간 비용 산출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45026" y="1920478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64076" y="1920478"/>
            <a:ext cx="0" cy="231577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4627" y="1983879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 · ProjectJournal 프로젝트별 이력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95900" y="2339280"/>
            <a:ext cx="3390900" cy="904429"/>
          </a:xfrm>
          <a:prstGeom prst="roundRect">
            <a:avLst>
              <a:gd name="adj" fmla="val 561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45026" y="2450306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45026" y="2624882"/>
            <a:ext cx="3092648" cy="507802"/>
          </a:xfrm>
          <a:prstGeom prst="roundRect">
            <a:avLst>
              <a:gd name="adj" fmla="val 100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550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50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비용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47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 / 월간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547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집계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544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44625" y="2843808"/>
            <a:ext cx="887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/ 95% PRUNE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295900" y="3319909"/>
            <a:ext cx="3390900" cy="1607790"/>
          </a:xfrm>
          <a:prstGeom prst="roundRect">
            <a:avLst>
              <a:gd name="adj" fmla="val 31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319713" y="3319909"/>
            <a:ext cx="0" cy="160779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3126" y="3408759"/>
            <a:ext cx="3125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83126" y="3554760"/>
            <a:ext cx="3125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 — 라이브 수집과 테스트를 동시에 보장.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3126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32855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532855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053263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102992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102992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price registry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57200" y="4978450"/>
            <a:ext cx="31863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· Proxy stub 9개 제거 · 45 catalog auto-discovery · TokenTracker ContextVar · /cost CLI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34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34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Game IP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Confirmation Bias·Anchoring 편향 — 병렬 전문가 4명 + Cross-LLM + PSM으로 극복</a:t>
            </a:r>
            <a:endParaRPr lang="en-US" sz="700" dirty="0"/>
          </a:p>
        </p:txBody>
      </p:sp>
      <p:pic>
        <p:nvPicPr>
          <p:cNvPr id="6" name="Image 0" descr="/Users/mango/workspace/portfolio/geode/versions/v4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90426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57277"/>
            <a:ext cx="3340596" cy="1063675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3555653"/>
            <a:ext cx="31548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1025" y="3689003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1025" y="3822204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1025" y="3980706"/>
            <a:ext cx="31548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873996" y="3457277"/>
            <a:ext cx="2209354" cy="507802"/>
          </a:xfrm>
          <a:prstGeom prst="roundRect">
            <a:avLst>
              <a:gd name="adj" fmla="val 100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85022" y="3543002"/>
            <a:ext cx="20270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85022" y="3673078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85022" y="3793629"/>
            <a:ext cx="2027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코드 결정 트리 (LLM 아님)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73996" y="4015829"/>
            <a:ext cx="2209354" cy="505123"/>
          </a:xfrm>
          <a:prstGeom prst="roundRect">
            <a:avLst>
              <a:gd name="adj" fmla="val 10057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85022" y="4101554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Clean Context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85022" y="4222105"/>
            <a:ext cx="202704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 — 앵커링 편향 차단. 7개 병렬 LLM 호출에서 독립 평가 보장.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197650" y="790426"/>
            <a:ext cx="2538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97650" y="96812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05882" y="105385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05882" y="13079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89527" y="1095077"/>
            <a:ext cx="7338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89527" y="1209377"/>
            <a:ext cx="7338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689527" y="1295102"/>
            <a:ext cx="7338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6197650" y="155227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05882" y="163800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05882" y="189205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689527" y="1679228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89527" y="179352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689527" y="1879253"/>
            <a:ext cx="85132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6197650" y="2136428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05882" y="2222153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305882" y="24762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89527" y="2263378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Shell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89527" y="237767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689527" y="2463403"/>
            <a:ext cx="85132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</a:t>
            </a:r>
            <a:endParaRPr lang="en-US" sz="500" dirty="0"/>
          </a:p>
        </p:txBody>
      </p:sp>
      <p:sp>
        <p:nvSpPr>
          <p:cNvPr id="38" name="Text 35"/>
          <p:cNvSpPr/>
          <p:nvPr/>
        </p:nvSpPr>
        <p:spPr>
          <a:xfrm>
            <a:off x="6197650" y="2720578"/>
            <a:ext cx="2489150" cy="2216646"/>
          </a:xfrm>
          <a:prstGeom prst="roundRect">
            <a:avLst>
              <a:gd name="adj" fmla="val 22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321475" y="2818954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1475" y="2993529"/>
            <a:ext cx="224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21475" y="2993529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21475" y="3136404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(arXiv:2403.00811)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321475" y="327927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321475" y="341262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57200" y="4987975"/>
            <a:ext cx="3430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≥0.7 · max 5 iterations · Clean Context</a:t>
            </a:r>
            <a:endParaRPr lang="en-US" sz="500" dirty="0"/>
          </a:p>
        </p:txBody>
      </p:sp>
      <p:sp>
        <p:nvSpPr>
          <p:cNvPr id="46" name="Text 4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34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Domain Portability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↔ REODE — 에이전트 코어 수정 0줄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 — 241소스 103K LoC, 83/83 build pass, core 0줄 변경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933700" cy="1120676"/>
          </a:xfrm>
          <a:prstGeom prst="roundRect">
            <a:avLst>
              <a:gd name="adj" fmla="val 45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09476"/>
            <a:ext cx="29337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282452"/>
            <a:ext cx="26544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3,201 테스트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68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801" y="155867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 무회귀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6801" y="170155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1987302"/>
            <a:ext cx="2933700" cy="2940397"/>
          </a:xfrm>
          <a:prstGeom prst="roundRect">
            <a:avLst>
              <a:gd name="adj" fmla="val 17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326" y="2111127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6326" y="2279303"/>
            <a:ext cx="2635448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326" y="2279303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 — 실행 흐름 정의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6326" y="2434828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 — 언어·포맷 변환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6326" y="2628454"/>
            <a:ext cx="2635448" cy="361950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2704654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2809429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3053804"/>
            <a:ext cx="2688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메서드 구현하면 즉시 호환. 파이프라인 노드는 get_domain_or_none()으로 조회 후 fallback.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505200" y="1280220"/>
            <a:ext cx="2133600" cy="1478905"/>
          </a:xfrm>
          <a:prstGeom prst="roundRect">
            <a:avLst>
              <a:gd name="adj" fmla="val 5152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5688" y="1438870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45688" y="1642021"/>
            <a:ext cx="185262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63851" y="1864072"/>
            <a:ext cx="1816298" cy="336500"/>
          </a:xfrm>
          <a:prstGeom prst="roundRect">
            <a:avLst>
              <a:gd name="adj" fmla="val 15097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49219" y="1940272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49219" y="2048173"/>
            <a:ext cx="164556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63851" y="2263973"/>
            <a:ext cx="1816298" cy="336500"/>
          </a:xfrm>
          <a:prstGeom prst="roundRect">
            <a:avLst>
              <a:gd name="adj" fmla="val 15097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49219" y="2340173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219" y="2448074"/>
            <a:ext cx="164556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505200" y="2835325"/>
            <a:ext cx="2133600" cy="796677"/>
          </a:xfrm>
          <a:prstGeom prst="roundRect">
            <a:avLst>
              <a:gd name="adj" fmla="val 637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35972" y="2971800"/>
            <a:ext cx="187205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35972" y="3289250"/>
            <a:ext cx="1872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35972" y="3419326"/>
            <a:ext cx="187205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3505200" y="3708202"/>
            <a:ext cx="2133600" cy="729704"/>
          </a:xfrm>
          <a:prstGeom prst="roundRect">
            <a:avLst>
              <a:gd name="adj" fmla="val 6962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54326" y="3806577"/>
            <a:ext cx="18720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54326" y="3939927"/>
            <a:ext cx="187205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구현 부담 감수 때문에 GEODE→REODE 피봇 비용 0. 구현 부담이 피봇 속도로 돌아왔다.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53100" y="790426"/>
            <a:ext cx="2933700" cy="977801"/>
          </a:xfrm>
          <a:prstGeom prst="roundRect">
            <a:avLst>
              <a:gd name="adj" fmla="val 519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53100" y="809476"/>
            <a:ext cx="29337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27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27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701" y="1282452"/>
            <a:ext cx="26544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27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927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92701" y="155867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53100" y="1844427"/>
            <a:ext cx="2933700" cy="3083272"/>
          </a:xfrm>
          <a:prstGeom prst="roundRect">
            <a:avLst>
              <a:gd name="adj" fmla="val 173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02226" y="1968252"/>
            <a:ext cx="2688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89556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889556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258031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258031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889556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889556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58031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258031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902226" y="3000226"/>
            <a:ext cx="2635448" cy="396776"/>
          </a:xfrm>
          <a:prstGeom prst="roundRect">
            <a:avLst>
              <a:gd name="adj" fmla="val 12803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02173" y="3085951"/>
            <a:ext cx="24355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02173" y="3235077"/>
            <a:ext cx="24355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57200" y="4978450"/>
            <a:ext cx="31948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241소스 103K LoC · 33세션 1,133라운드 · 83/83 build pass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34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56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Pattern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진화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→ 5-Layer · LLMClientPort → Port/Adapter · Event Bus → HookSystem — 같은 문제를 세 번 더 잘 풀었다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445841" cy="358527"/>
          </a:xfrm>
          <a:prstGeom prst="roundRect">
            <a:avLst>
              <a:gd name="adj" fmla="val 1416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946" y="863352"/>
            <a:ext cx="2216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946" y="990302"/>
            <a:ext cx="2216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패턴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953792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1641" y="790426"/>
            <a:ext cx="2880568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2041" y="863352"/>
            <a:ext cx="2659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041" y="990302"/>
            <a:ext cx="2659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심화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62960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0810" y="790426"/>
            <a:ext cx="2445990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555" y="863352"/>
            <a:ext cx="221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555" y="990302"/>
            <a:ext cx="221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적용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1212354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1310729"/>
            <a:ext cx="50750" cy="180975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1348829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6332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6332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 → 3겹 필터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23246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91732" y="1310729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5-Layer Verification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91732" y="1405979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6종 + Cross-LLM α≥0.67 → 99.8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23422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190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9190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1653480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1751856"/>
            <a:ext cx="50750" cy="180975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927" y="1789956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6332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6332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823246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91732" y="1751856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+ ContextVar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1732" y="1847106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Anthropic·OpenAI·ZhipuAI 3-Provider 추상화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423422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190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9190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Java 도메인 교체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7200" y="2094607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3675" y="2192982"/>
            <a:ext cx="50750" cy="1905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27" y="2235845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63328" y="2197745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3-Tier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863328" y="2292995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확장 불가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23246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731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1732" y="2197745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46 Events 8 Categories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91732" y="2292995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핸들러 · StuckDetector 120s · 에러 격리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423422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91908" y="2192982"/>
            <a:ext cx="18955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91908" y="2297757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동일 패턴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2545259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3675" y="2643634"/>
            <a:ext cx="50750" cy="180975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5927" y="2681734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복원력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6332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Jitter Backoff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6332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장애 시 전체 중단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823246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91732" y="2643634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(CB ×3)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091732" y="2738884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실패→60s OPEN→Half-Open · Exp. Backoff ±25% Jitter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23422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9190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LLM Failover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69190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CB 패턴 마이그레이션 내성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648498"/>
            <a:ext cx="8229600" cy="250627"/>
          </a:xfrm>
          <a:prstGeom prst="roundRect">
            <a:avLst>
              <a:gd name="adj" fmla="val 20269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40068" y="4721423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프레임워크 재사용 vs 바닥부터 재설계: Eco²에서 검증된 4개 패턴을 재사용했기 때문에 REODE 출시 기간을 단축하고 품질을 보장했다.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87975"/>
            <a:ext cx="347010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Cheese→5-Layer · LLMClientPort→Port/Adapter · Event Bus→HookSystem · Circuit Breaker→3-Provider Failover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34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Table: Scaffold ↔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런타임 아키텍처를 그대로 거울처럼 반영한다 — 같은 구조, 다른 주체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9289"/>
            <a:ext cx="11805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(빌드 타임)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075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Claude에게 주입되는 헌법 — 어길 수 없는 규칙이 LLM 행동을 제어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856929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→ 8-Step 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6075" y="2085380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소크라테스 정제 → Frontier 리서치 → 구현 → 검증 반복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355205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444055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6075" y="2583656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/ Devin / OpenHands 리서치 → GAP 분석 → 설계 결정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95825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075" y="304710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39 Releases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6075" y="318670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 아키텍처 결정 이력 — 모든 피봇을 문서화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80941" y="2655838"/>
            <a:ext cx="2049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14151" y="2925663"/>
            <a:ext cx="134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3695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9887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13175" y="979289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(실행 타임)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8875" y="125387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25826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(PolicyChain)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5826" y="148232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행동을 실시간 감시 — 위반 즉시 차단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98875" y="1752154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25826" y="1841004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50 rounds × 200 turns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25826" y="1980605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설계한 루프가 자율 실행으로 구현됨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98875" y="2250430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25826" y="233928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+ 5-Tier Safety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5826" y="2478881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리서치 결과를 그대로 구현한 내결함성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8875" y="274870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25826" y="283755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 · 187 Modules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25826" y="297715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릴리스가 회귀 없이 축적된 구조적 증거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07250" y="838051"/>
            <a:ext cx="1879550" cy="4076998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69175" y="1956495"/>
            <a:ext cx="15868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구조적 동형인가?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69175" y="2156520"/>
            <a:ext cx="158681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설계가 아닌 발견이었다. Scaffold가 성숙하면서 Runtime과 자연스럽게 동형 구조가 됐다 — 의도한 것이 아니라 좋은 설계의 부산물이다.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69175" y="2765524"/>
            <a:ext cx="1555700" cy="535484"/>
          </a:xfrm>
          <a:prstGeom prst="roundRect">
            <a:avLst>
              <a:gd name="adj" fmla="val 94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70675" y="2841724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위반 → 빌드 실패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70675" y="2973586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규칙 위반 → 실행 차단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070675" y="3118247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원칙, 다른 계층에서 작동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969175" y="3381970"/>
            <a:ext cx="15557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9175" y="3462933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69175" y="3583484"/>
            <a:ext cx="15868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 유지 비용: Scaffold 변경 시 Runtime도 동기화 필요. 수익: 설계 결정이 코드로 직접 흐른다.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9987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커밋 · 36일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34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6 핵심 규칙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LLM에게 자유를 주되 발산을 막는 헌법 — 금지 규칙이 명확할수록 허용 공간이 넓어진다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71401"/>
            <a:ext cx="308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격리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71699" y="977801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5100" y="990451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606326" y="112692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301502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main 브랜치에 직접 쓰면 병렬 작업 충돌이 발생한다. 각 태스크는 반드시 독립 worktree에서 실행돼야 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4805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7176" y="971401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게이트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9705" y="977801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3106" y="990451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3597176" y="112692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97176" y="1301502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실패한 상태의 커밋은 다음 에이전트를 오염시킨다. CI가 3종 체크를 모두 통과한 후에만 머지를 허용한다.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326" y="2329309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구현 방지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80356" y="2335709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3757" y="2348359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606326" y="2484834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326" y="2659410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승인 없이 구현하려는 성질이 있다. 설계 문서에 인간 승인 서명이 없으면 첫 줄도 작성하지 않는다.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805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97176" y="2329309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91260" y="2335709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4661" y="2348359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597176" y="2484834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없이 기능 커밋 금지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97176" y="2659410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PR의 결정 근거가 사라지면 재설계 비용이 폭증한다. 모든 기능 커밋은 CHANGELOG 항목을 동반해야 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6326" y="3687217"/>
            <a:ext cx="615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제약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72778" y="3693616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36179" y="3706267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06326" y="3842742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gradient 금지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326" y="401731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linear-gradient/radial-gradient는 html2pptx가 렌더링하지 못한다. 배경 효과는 solid color + border 조합으로 대체한다.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4805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97176" y="3687217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품질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46500" y="3693616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09901" y="3706267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3597176" y="3842742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배치 금지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97176" y="401731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키워드만 넣은 카드 그리드는 발표가 아니다. 각 박스는 "X 때문에 Y를 선택했고 Z가 나왔다" 수준의 인과 서술을 포함해야 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77000" y="847576"/>
            <a:ext cx="2209800" cy="1584722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51575" y="996702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23361" y="1234827"/>
            <a:ext cx="7008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규칙 추가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수록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1575" y="1559570"/>
            <a:ext cx="18978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17개 규칙은 CLAUDE.md 425줄에 명시. 하나라도 위반하면 CI가 머지를 차단한다.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51575" y="1902172"/>
            <a:ext cx="1860649" cy="3810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53076" y="1978372"/>
            <a:ext cx="1690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타이포그래피 4개 · 레이아웃 5개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추가 4개 · 내러티브 4개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77000" y="2508498"/>
            <a:ext cx="2209800" cy="2349401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51575" y="2657624"/>
            <a:ext cx="38100" cy="1524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53076" y="2671911"/>
            <a:ext cx="772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허용 공간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51575" y="2873425"/>
            <a:ext cx="189786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명확할수록 허용 공간이 넓어진다. 금지 규칙이 경계를 정하면, 그 안에서 LLM은 구체적 숫자, DAG, 인과 서술로 자유롭게 표현한다.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51575" y="4451598"/>
            <a:ext cx="1860649" cy="257175"/>
          </a:xfrm>
          <a:prstGeom prst="roundRect">
            <a:avLst>
              <a:gd name="adj" fmla="val 1975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53076" y="4527798"/>
            <a:ext cx="16908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문제→설계→결과 인과 흐름 시각화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08649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2915" y="4956274"/>
            <a:ext cx="152609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전체 규칙 — 제약이 명확할수록 자유가 넓어진다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2728" y="496103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34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Development Loop + Socratic Gate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키보드에 손이 닿는 순간 하네스의 실패 — 스캐폴딩이 구현보다 앞서야 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Socratic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정제 — 5W로 전제 검증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478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83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93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Frontier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93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Code/Devin GAP 리서치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95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05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Design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5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+ Trade-off 결정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0101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06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16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Implement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116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테스트 비율 목표 구현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8701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77927" y="2790825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①로 복귀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753594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2820" y="2781300"/>
            <a:ext cx="54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949476"/>
            <a:ext cx="1327249" cy="498277"/>
          </a:xfrm>
          <a:prstGeom prst="roundRect">
            <a:avLst>
              <a:gd name="adj" fmla="val 1019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226" y="3047851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CHANGELOG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8226" y="3177927"/>
            <a:ext cx="1127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이력 기록 → 다음 Frontier 입력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478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383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493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Release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493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Semver 태깅 · 39회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42900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950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3052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E2E Verify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3052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테스트 + Hook 회귀 검사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101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006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16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4-Persona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116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Architect/Security/QA/Perf 리뷰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654850" y="838051"/>
            <a:ext cx="2031950" cy="1657796"/>
          </a:xfrm>
          <a:prstGeom prst="roundRect">
            <a:avLst>
              <a:gd name="adj" fmla="val 459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6775" y="974527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(①)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6775" y="1149102"/>
            <a:ext cx="17422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반드시 통과해야 하는 5가지 질문: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16775" y="1333054"/>
            <a:ext cx="1708100" cy="676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기능이 필요한가?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실패 모드가 있는가?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Trade-off는 무엇인가?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가능한가?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이유를 쓸 수 있는가?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16775" y="2110829"/>
            <a:ext cx="174226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5가지를 답하지 못하면 코드 작성 불가 — 루프가 ①로 되돌아간다.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4850" y="2597348"/>
            <a:ext cx="2031950" cy="1824335"/>
          </a:xfrm>
          <a:prstGeom prst="roundRect">
            <a:avLst>
              <a:gd name="adj" fmla="val 4177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16775" y="2733824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8단계인가?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16775" y="2933700"/>
            <a:ext cx="1742262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5단계(Plan→Implement→Test→Merge→Deploy)면 충분하지 않은가?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816775" y="3408015"/>
            <a:ext cx="822275" cy="877193"/>
          </a:xfrm>
          <a:prstGeom prst="roundRect">
            <a:avLst>
              <a:gd name="adj" fmla="val 46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05625" y="3471416"/>
            <a:ext cx="6574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부재 시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905625" y="3582442"/>
            <a:ext cx="657466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Audit·Socratic Gate 없으면 불필요한 구현이 50% — 잘못된 전제로 PR이 병합된다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702451" y="3408015"/>
            <a:ext cx="822424" cy="877193"/>
          </a:xfrm>
          <a:prstGeom prst="roundRect">
            <a:avLst>
              <a:gd name="adj" fmla="val 46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791301" y="3471416"/>
            <a:ext cx="6576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추가 비용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7791301" y="3582442"/>
            <a:ext cx="657618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 Socratic+Frontier로 착수가 느리지만, 회귀 없는 39회 릴리스가 증거다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7200" y="4978450"/>
            <a:ext cx="15616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21 Skills · LEARNINGS.md 패턴 축적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34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— 4개 하네스 GAP 분석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구현하기 전에 먼저 읽었다 — 3/4 수렴 규칙으로 차용 여부를 결정했다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23652"/>
            <a:ext cx="261043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패턴 — LLM이 tool_use를 반환하는 한 루프를 유지하는 구조를 직접 확인했다. GEODE AgenticLoop 50 라운드 설계의 직접 근거가 됐다.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176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루프 계속 조건 + end_turn 종료 패턴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365599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20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075" y="1123652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 제약 기반 설계, P4 래칫(되돌아가지 않음), P6 컨텍스트 예산 명시 — 이 세 원칙이 CLAUDE.md 규칙 체계의 뼈대가 됐다.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0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03575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P1/P4/P6 → CANNOT 규칙 3종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6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4-계층 디스패치 구조 — 에이전트 요청을 분리된 채널로 라우팅하는 아이디어를 여기서 얻었다.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36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5176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SessionKey 격리 + LaneQueue 우선순위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365599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020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020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파일 보호, Dumb Platform 원칙 — Git 충돌 없이 여러 에이전트가 병렬 작업할 수 있는 구조의 실증 사례였다.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020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3575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Worktree 의무화 → CANNOT Git 규칙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299299" y="834777"/>
            <a:ext cx="2387501" cy="1529655"/>
          </a:xfrm>
          <a:prstGeom prst="roundRect">
            <a:avLst>
              <a:gd name="adj" fmla="val 498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1224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75524" y="985540"/>
            <a:ext cx="5600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수렴 규칙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61224" y="1199852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3개 이상이 동일한 패턴을 사용하면 GEODE도 채택한다. 1-2개만 사용하면 독자 설계로 간다. 단순 다수결이지만 프론티어의 수렴은 신뢰할 수 있는 신호다.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61224" y="1808857"/>
            <a:ext cx="2063651" cy="41910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62725" y="1885057"/>
            <a:ext cx="324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56822" y="1894136"/>
            <a:ext cx="6245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 시 채택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미달 시 독자 설계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99299" y="2440632"/>
            <a:ext cx="2387501" cy="2474416"/>
          </a:xfrm>
          <a:prstGeom prst="roundRect">
            <a:avLst>
              <a:gd name="adj" fmla="val 319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61224" y="2577108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75524" y="2591395"/>
            <a:ext cx="770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→ 설계 영역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61224" y="2792909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어느 것도 해결하지 않은 문제 3가지: 장기 자율 실행(비용 폭주 방지), LLM 비용 제어(토큰 예산 강제), 도메인 포터빌리티(게임→보험 교체). 이것이 GEODE가 독자 설계한 영역이다.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978450"/>
            <a:ext cx="185323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Frontier Mining — 읽고 차용하고, 없으면 설계했다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34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 — 구현 전 맹점 제거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설계하면 Confirmation Bias로 실패한다 — 4인격이 독립 관점으로 리뷰하여 서로의 맹점을 보완한다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834777"/>
            <a:ext cx="0" cy="46940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936278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069628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219051" y="936278"/>
            <a:ext cx="483224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의존성 역전 여부, 인터페이스 일관성, v0.40 생존 가능성. 체크 항목: 상위 레이어가 하위를 직접 임포트하는가? 플러그인 교체 시 코어 수정이 발생하는가?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67582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1367582"/>
            <a:ext cx="0" cy="42207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1469082"/>
            <a:ext cx="505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1602432"/>
            <a:ext cx="505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7300" y="1469082"/>
            <a:ext cx="479323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비용, 지연 시간, 캐시 히트율 관점. 체크 항목: 이 LLM 호출을 줄일 수 있는가? 컨텍스트를 재사용하는가? 배치 처리가 가능한가?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1853059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1853059"/>
            <a:ext cx="0" cy="46940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1954560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2087910"/>
            <a:ext cx="6479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397050" y="1954560"/>
            <a:ext cx="46506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인젝션, 권한 에스컬레이션, Trust Model 위반. 체크 항목: 이 경로가 샌드박스를 우회하는가? 외부 입력이 직접 shell로 전달되는가?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385864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6250" y="2385864"/>
            <a:ext cx="0" cy="422077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2487364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901" y="2620714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9051" y="2487364"/>
            <a:ext cx="483224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케이스, 회귀 가능성, 커버리지. 체크 항목: 이 코드가 3,201 테스트를 통과하는가? 새로운 경로가 기존 픽스처를 깨는가?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97650" y="834777"/>
            <a:ext cx="2489150" cy="1424880"/>
          </a:xfrm>
          <a:prstGeom prst="roundRect">
            <a:avLst>
              <a:gd name="adj" fmla="val 53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9575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875" y="985540"/>
            <a:ext cx="7127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보안 케이스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9575" y="1187053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리뷰가 실제로 막은 사례. 초기 설계에서 에이전트가 환경변수를 직접 읽어 LLM 프롬프트에 삽입하는 경로가 있었다. API 키 유출 벡터. CANNOT 규칙에 ".env 직접 참조 금지" 추가로 차단했다.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59575" y="1783259"/>
            <a:ext cx="2165300" cy="339923"/>
          </a:xfrm>
          <a:prstGeom prst="roundRect">
            <a:avLst>
              <a:gd name="adj" fmla="val 149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61075" y="1846659"/>
            <a:ext cx="200154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agent reads .env → injects into prompt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env vars injected at harness boundary only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7650" y="2335857"/>
            <a:ext cx="2489150" cy="2579191"/>
          </a:xfrm>
          <a:prstGeom prst="roundRect">
            <a:avLst>
              <a:gd name="adj" fmla="val 306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9575" y="2472333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73875" y="2486620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근거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9575" y="2688134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4인격은 별도 LLM 세션이 아니다. 동일 컨텍스트에서 역할을 명시적으로 전환하는 프롬프트 패턴이다. 비용은 1회 추론이고, 효과는 4가지 시각의 독립 체크다. Confirmation Bias를 구조적으로 제거한다.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978450"/>
            <a:ext cx="21031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Beck × Karpathy × Steinberger × Cherny — 4인격 1세션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457456" y="4978450"/>
            <a:ext cx="2339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 / 34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 — Phase 0-5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누적될수록 다음 스캐폴딩이 빨라지는 복리 구조 — 36일 만에 </a:t>
            </a:r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속도 상승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9421" y="165779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39421" y="175304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47651" y="168473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76102" y="1559421"/>
            <a:ext cx="43947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12578" y="1645146"/>
            <a:ext cx="42042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Bootstrap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12578" y="1765697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초안, 첫 CANNOT 규칙, 단일 Skill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162190" y="170542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기준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39421" y="210368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9421" y="219893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7651" y="213062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102" y="2000548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2578" y="2086273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도입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12578" y="2216348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게이트 → 회귀 이슈 60% 감소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162190" y="215131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39421" y="2554337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9421" y="2649587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447651" y="25812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76102" y="2451199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12578" y="2536924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+ 8-Step Loop 확립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12578" y="2667000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→ 설계 결정 자동화 시작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62190" y="2601962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39421" y="300498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9421" y="310023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447651" y="303192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6102" y="2901851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2578" y="2987576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+ Hook 자율 실행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12578" y="3117652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직접 코드 생성 시작 → PR 500+ 돌파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62190" y="3052614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39421" y="3455640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9421" y="3550890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447651" y="34825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76102" y="3352502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812578" y="3438227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이식 — Domain Portability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12578" y="3568303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하네스 → REODE 209 모듈 · 3,274 Tests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62190" y="3503265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39421" y="3906292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9421" y="4001542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447651" y="39332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76102" y="3803154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812578" y="3888879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— Long-Running Safety 완성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812578" y="4018955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Provider-aware Compaction + Cost Guard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162190" y="3953917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807250" y="1489472"/>
            <a:ext cx="1879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53618" y="1651397"/>
            <a:ext cx="1586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953618" y="2118122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53618" y="2238673"/>
            <a:ext cx="15868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대비 Day 36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07250" y="2587823"/>
            <a:ext cx="1879550" cy="968276"/>
          </a:xfrm>
          <a:prstGeom prst="roundRect">
            <a:avLst>
              <a:gd name="adj" fmla="val 78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69175" y="2729061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커밋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27231" y="2724299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69175" y="2919561"/>
            <a:ext cx="2749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PRs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96126" y="2914799"/>
            <a:ext cx="233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69175" y="3114824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11914" y="3105299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69175" y="3305324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324106" y="3295799"/>
            <a:ext cx="2047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07250" y="3657600"/>
            <a:ext cx="1879550" cy="602605"/>
          </a:xfrm>
          <a:prstGeom prst="roundRect">
            <a:avLst>
              <a:gd name="adj" fmla="val 8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34200" y="3759101"/>
            <a:ext cx="16581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스캐폴딩을 만든다. 각 Phase가 다음 Phase의 속도를 올리는 복리 구조 — 이것이 Harness Engineering이다.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87975"/>
            <a:ext cx="16543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commits · Feb 21 – Mar 28, 2026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34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993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 · CHANGELOG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Evolution: v0.6 → v0.31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릴리스, 6 아키텍처 피봇 — 각 결정에는 왜(Why)가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3993" y="1667173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19051" y="165437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7689" y="1781324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7502" y="1590973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83978" y="1676698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도입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3978" y="1806773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로직이 인프라에 강결합 → Port/Adapter 분리. 이후 REODE 이식이 가능해진 기반 결정.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43993" y="2105174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9051" y="20923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7689" y="2219325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7502" y="2028974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3978" y="2114699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 — 도메인 분석 → 하네스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3978" y="2244775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 분석 결과보다 자율 실행 인프라가 재사용 가치가 높다고 판단. 어필 포인트 전환.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3993" y="2543175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9051" y="253037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77689" y="2657326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47502" y="2466975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3978" y="2552700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제거 → ContextVar 통합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83978" y="2682776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Guard 모듈이 ContextVar 흐름과 충돌 → 통합 TokenTracker로 단순화. 비용 추적 정확도 향상.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3993" y="2981176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19051" y="296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77689" y="3095327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7502" y="2904976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83978" y="2990701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독립 추출 → 46 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3978" y="3120777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→ Priority 핸들러 체인. 재귀 개선 루프와 자동 학습이 Hook에 의존하는 구조로 전환.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3993" y="341917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19051" y="34063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7689" y="3533329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47502" y="3342977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3978" y="3428702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 → 45 Catalog auto-discovery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83978" y="3558778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3계층(Registry+Catalog+Config) → 2계층. Proxy stub 9개 제거로 도구 추가 비용 대폭 감소.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43993" y="3857179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19051" y="38443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47502" y="3780979"/>
            <a:ext cx="54868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83978" y="3866704"/>
            <a:ext cx="5318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 + Long-Running Safety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583978" y="3987254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Beta tool_use 캐시 규칙 차이를 인지한 압축. 비용 상한 + 수렴 감지 + 다양성 강제로 안정성 달성.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035850" y="1705421"/>
            <a:ext cx="1650950" cy="952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84504" y="1867346"/>
            <a:ext cx="13536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84504" y="2315021"/>
            <a:ext cx="1353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84504" y="2410271"/>
            <a:ext cx="13536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→ v0.31 · 36일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035850" y="2759422"/>
            <a:ext cx="1650950" cy="714077"/>
          </a:xfrm>
          <a:prstGeom prst="roundRect">
            <a:avLst>
              <a:gd name="adj" fmla="val 106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97775" y="2895898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피봇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398520" y="2895898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97775" y="3064073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무회귀 릴리스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302377" y="3064073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97775" y="323224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302377" y="3232249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035850" y="3575000"/>
            <a:ext cx="16509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62800" y="3676501"/>
            <a:ext cx="142499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CHANGELOG는 기록이 아니다. 다음 Frontier Mining의 입력이다.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87975"/>
            <a:ext cx="1672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6 major architecture pivots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34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278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Bash 3-Layer + Dual Trust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에이전트는 신뢰 경계가 없으면 시스템을 파괴한다 — PolicyChain이 실행 전 모든 명령을 검문한다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641800" cy="4099322"/>
          </a:xfrm>
          <a:prstGeom prst="roundRect">
            <a:avLst>
              <a:gd name="adj" fmla="val 1859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6015"/>
            <a:ext cx="10696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다이어그램</a:t>
            </a:r>
            <a:endParaRPr lang="en-US" sz="800" dirty="0"/>
          </a:p>
        </p:txBody>
      </p:sp>
      <p:pic>
        <p:nvPicPr>
          <p:cNvPr id="9" name="Image 0" descr="/Users/mango/workspace/portfolio/geode/versions/v4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241078"/>
            <a:ext cx="4317950" cy="20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25951" y="825252"/>
            <a:ext cx="3460849" cy="1925538"/>
          </a:xfrm>
          <a:prstGeom prst="roundRect">
            <a:avLst>
              <a:gd name="adj" fmla="val 395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87876" y="961727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87876" y="1148953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14826" y="1225153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Syntax Validation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514826" y="1345704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chmod 777 · curl | bash 패턴 차단. 실행 전 정적 분석.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387876" y="1571030"/>
            <a:ext cx="3136999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4826" y="1647230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PolicyChain Hook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14826" y="1767780"/>
            <a:ext cx="2940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중 BASH_EXEC_PRE에서 PolicyChain 통과 여부 확인. 거부 시 즉시 차단 + 사유 반환.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87876" y="2078831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14826" y="2155031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macOS Seatbelt Sandbox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14826" y="2275582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REODE: 34-패턴 deny-list. 파일시스템 쓰기, 네트워크 외부 접근, 프로세스 fork 제한.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225951" y="2852291"/>
            <a:ext cx="3460849" cy="1437084"/>
          </a:xfrm>
          <a:prstGeom prst="roundRect">
            <a:avLst>
              <a:gd name="adj" fmla="val 53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87876" y="2988766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 — 두 독립 축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7876" y="3175992"/>
            <a:ext cx="319973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안전과 파이프라인 검증은 독립 축이다. 에이전트는 입력을 차단(Input Gating), 파이프라인은 출력을 검증(Output Validation). 둘 다 통과해야만 결과가 신뢰된다.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387876" y="3513237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89377" y="3589437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9377" y="3709988"/>
            <a:ext cx="1353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권한 모델 — 에이전트 실행 전 차단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994475" y="3513237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95976" y="3589437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095976" y="3709988"/>
            <a:ext cx="135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등급 — 실행 후 출력 검증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387876" y="4046339"/>
            <a:ext cx="31997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0-1: asyncio.gather 병렬 자동 실행 / TIER 3-4: 개별 수동 승인 필수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225951" y="4390876"/>
            <a:ext cx="3460849" cy="533698"/>
          </a:xfrm>
          <a:prstGeom prst="roundRect">
            <a:avLst>
              <a:gd name="adj" fmla="val 95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245001" y="4390876"/>
            <a:ext cx="0" cy="533698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1001" y="4479727"/>
            <a:ext cx="32322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3-Layer 제어 비용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391001" y="4622602"/>
            <a:ext cx="323222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정적 분석 + L2 PolicyChain + L3 Seatbelt 모두 통과 시 지연이 있지만, 자율 에이전트가 시스템을 파괴한 사례가 0건인 것이 증거다.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57200" y="4987975"/>
            <a:ext cx="23590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46 Hook Events · 5-Tier Tool Safety · macOS Seatbelt (REODE)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34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설계 결정은 무언가를 포기하고 무언가를 얻는다 — Trade-off를 인식한 결정만이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585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92101"/>
            <a:ext cx="7596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35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직접 호출 단순성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675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GEODE→REODE 이식 시 코어 코드 변경 0줄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6751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27349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3600"/>
            <a:ext cx="134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Context Selection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50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요약(빠르지만 정보 손실)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382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LLM이 직접 선별 → 컨텍스트 비용 0.03%로 절감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082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688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5099"/>
            <a:ext cx="1375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46549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단일 압축 로직의 단순성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797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Anthropic Beta tool_use 캐시 규칙 준수 → Failover 안정성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497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03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16598"/>
            <a:ext cx="10035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88048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초기 설계 속도 (레이어마다 인터페이스 정의)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12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187 모듈 중 어느 레이어도 교체 가능한 구조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1403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141809"/>
            <a:ext cx="8525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3180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중앙 집중 도구 관리 (단일 조회 포인트)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4512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Proxy stub 9개 제거 → 45 MCP auto-discovery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1975842"/>
            <a:ext cx="4064050" cy="1074539"/>
          </a:xfrm>
          <a:prstGeom prst="roundRect">
            <a:avLst>
              <a:gd name="adj" fmla="val 709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29106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297311"/>
            <a:ext cx="1346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PromptAssembler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46876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수동 편집의 즉각성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60196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ephemeral → 2회차 입력 비용 10%로 감소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3126581"/>
            <a:ext cx="40640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44165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443139"/>
            <a:ext cx="1323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(휘발 → 불변)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6193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Redis 캐시 (단계 없는 단일 레이어)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75255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Failover 시에도 학습 내용 보존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4277171"/>
            <a:ext cx="4064050" cy="637877"/>
          </a:xfrm>
          <a:prstGeom prst="roundRect">
            <a:avLst>
              <a:gd name="adj" fmla="val 79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75150" y="4391471"/>
            <a:ext cx="3834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원칙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75150" y="4534346"/>
            <a:ext cx="383443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포기하는 것을 명시하지 않은 설계 결정은 결정이 아니다. 7개 피봇 모두 CHANGELOG에 "왜"가 기록되어 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" y="4978450"/>
            <a:ext cx="171675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모든 피봇 CHANGELOG 기록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34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Infra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실행과 인프라 결정 — 자율성을 높이면 안전성 비용이 오르고, 안전성을 높이면 처리량이 줄어든다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88529"/>
            <a:ext cx="17528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무한 루프 방지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완전 자율 (무제한 실행 시도)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수렴 감지 + 비용 상한 → 파이프라인 폭주 차단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7172"/>
            <a:ext cx="1442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4096 Token Guard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자식 출력 전체 반환 (완전한 컨텍스트)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부모 컨텍스트 폭발 방지 → MAX_CONCURRENT=5 병렬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6290"/>
            <a:ext cx="12142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Safety: 병렬 vs 순차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TIER 3-4 병렬 처리 (속도)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DANGEROUS 명령 개별 승인 → 권한 에스컬레이션 차단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24933"/>
            <a:ext cx="1390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 120s Timeout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느린 작업 완료 대기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NODE_ENTER 후 EXIT 미감지 시 파이프라인 강제 중단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088529"/>
            <a:ext cx="13638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Priority 핸들러 순서 보장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병렬 핸들러 실행 (최대 처리량)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핸들러가 Logging보다 항상 먼저 실행 보장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137172"/>
            <a:ext cx="12376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OPEN 60s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즉시 재시도 (지연 없는 복구 시도)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5회 연속 실패 후 60s OPEN → RateLimit 폭주 차단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176290"/>
            <a:ext cx="657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공유 컨텍스트 (이전 세션 학습 즉시 반영)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스케줄 충돌 없는 독립 실행 → 장기 운용 안정성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8467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98975" y="4220170"/>
            <a:ext cx="10354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dry-run 자동 전환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467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항상 라이브 데이터 (API 키 필수)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8467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키 부재 시 fixture fallback → 오프라인 테스트 가능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156571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52 Tools · 45 MCP · 46 Hook Events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34</a:t>
            </a:r>
            <a:endParaRPr lang="en-US" sz="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2717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CONSTRAINTS →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규칙과 설계 제약이 결과를 만든다 — 제약 없는 자유가 아닌 제약을 통한 성취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469231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580257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19125" y="1700808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나열식 슬라이드 금지 — 인과관계 1문장 필수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83001" y="159767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62351" y="1469231"/>
            <a:ext cx="3924449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4276" y="1580257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24276" y="1700808"/>
            <a:ext cx="36726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33장 모든 슬라이드가 DAG + 내러티브 시각화로 구성됨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038796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149822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270373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통과 전 코드 작성 금지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3001" y="2167235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2351" y="2024509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4276" y="2135535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24276" y="2256086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 릴리스 무회귀 — 회귀 이슈 60% 감소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622649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25" y="2733675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19125" y="2854226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다이어그램 금지 — 화살표 흐름 + 분기 필수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3001" y="275108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2351" y="2608362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24276" y="2719388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24276" y="2839938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모두 흐름도 기반 설계 문서로 누적됨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206502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9125" y="3317528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9125" y="3438079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명시 없는 설계 결정 금지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83001" y="3334941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62351" y="3192214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24276" y="3303240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24276" y="3423791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 아키텍처 피봇 모두 CHANGELOG에 WHY 기록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790355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125" y="3901380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19125" y="4021931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6개 초과 금지 — 정보 밀도 강제 압축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83001" y="391879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62351" y="3776067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24276" y="3887093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24276" y="4007644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 프레젠테이션 — 슬라이드당 핵심 1메시지 유지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978450"/>
            <a:ext cx="1638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23 CANNOT rules · 제약이 품질을 만든다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34</a:t>
            </a:r>
            <a:endParaRPr lang="en-US" sz="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36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총정리 — GEODE v0.31.0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모든 숫자는 Socratic Gate → 8-Step Loop → 4-Persona Review를 통과한 것들이다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01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801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96855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1936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1936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7989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071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071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9124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206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4206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01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1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96855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1936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1936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989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71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3071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9124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4206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4206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720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801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1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96855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1936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11936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47989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30711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30711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Rules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9124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2061" y="2510582"/>
            <a:ext cx="11335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42061" y="2840682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27899" y="834777"/>
            <a:ext cx="2158901" cy="3076426"/>
          </a:xfrm>
          <a:prstGeom prst="roundRect">
            <a:avLst>
              <a:gd name="adj" fmla="val 35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89824" y="971252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89824" y="12123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04124" y="1148953"/>
            <a:ext cx="17551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PromptAssembler 6-Phase + SHA-256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89824" y="152429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04124" y="1460897"/>
            <a:ext cx="15304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· 50R × 200T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89824" y="171197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04124" y="1648569"/>
            <a:ext cx="13170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5-Layer · Cross-LLM α≥0.67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89824" y="189964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04124" y="1836241"/>
            <a:ext cx="15576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46-Event Hook · LangSmith/OTEL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27899" y="3987403"/>
            <a:ext cx="2158901" cy="937171"/>
          </a:xfrm>
          <a:prstGeom prst="roundRect">
            <a:avLst>
              <a:gd name="adj" fmla="val 813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89824" y="4123879"/>
            <a:ext cx="18717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(이식 증거)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89824" y="4298454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소스 · 103K LoC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689824" y="4473476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· 1,133 LLM 라운드 · 5h 48m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89824" y="4673798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20537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 · Anthropic / OpenAI / ZhipuAI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34</a:t>
            </a:r>
            <a:endParaRPr lang="en-US" sz="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31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디시플린입니다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도구가 아닌 습관 — 4축이 매 릴리스마다 실천될 때 하네스가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7101"/>
            <a:ext cx="2133600" cy="4067473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850678"/>
            <a:ext cx="1809750" cy="596801"/>
          </a:xfrm>
          <a:prstGeom prst="roundRect">
            <a:avLst>
              <a:gd name="adj" fmla="val 8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476" y="1977628"/>
            <a:ext cx="15350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시스템은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발산한다"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028" y="2548979"/>
            <a:ext cx="184594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</a:t>
            </a:r>
            <a:endParaRPr lang="en-US" sz="7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수렴시키는 하네스를 만듭니다.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9125" y="2939504"/>
            <a:ext cx="1809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028" y="3045768"/>
            <a:ext cx="18459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디시플린은 일회성 설계가 아니다. 매 PR마다, 매 릴리스마다 4축이 실천되어야 하네스가 살아남는다.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3464421"/>
            <a:ext cx="1809750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517" y="3565922"/>
            <a:ext cx="1586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0517" y="3743623"/>
            <a:ext cx="15869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25버전 동안 4축이 유지됨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692301" y="857101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54226" y="968127"/>
            <a:ext cx="38100" cy="737592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93827" y="1189286"/>
            <a:ext cx="4988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 — 장기 진화 방향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93827" y="1351211"/>
            <a:ext cx="498860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캐싱 → Semantic diff 기반 선택적 재생성으로 진화. Provider별 캐시 효율 최적화가 장기 비용 절감의 핵심.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986117" y="1151186"/>
            <a:ext cx="53875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10219" y="1227386"/>
            <a:ext cx="290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10219" y="1360736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692301" y="1892945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54226" y="2003971"/>
            <a:ext cx="38100" cy="73774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93827" y="2225278"/>
            <a:ext cx="490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 — 장기 진화 방향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93827" y="2387203"/>
            <a:ext cx="49096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루프 → Plan-first + Executor 분리 → 멀티 에이전트 DAG 오케스트레이션. 수렴 감지와 다양성 강제가 루프 품질을 유지.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908727" y="2187029"/>
            <a:ext cx="61614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032054" y="2263229"/>
            <a:ext cx="36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32054" y="2396579"/>
            <a:ext cx="3694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×200 turns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692301" y="2928938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854226" y="3039963"/>
            <a:ext cx="38100" cy="737592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993827" y="3261122"/>
            <a:ext cx="49164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— 장기 진화 방향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93827" y="3423047"/>
            <a:ext cx="491649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정적 검증 → CUSUM 드리프트 감지 + 실시간 Cross-LLM 합의도 추적. 비결정론을 측정 가능한 지표로 관리.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915424" y="3223022"/>
            <a:ext cx="609451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038819" y="3299222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α≥0.67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38819" y="3432572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합의도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692301" y="3964781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54226" y="4075807"/>
            <a:ext cx="38100" cy="737741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93827" y="4297114"/>
            <a:ext cx="4838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— 장기 진화 방향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993827" y="4459039"/>
            <a:ext cx="483847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LangSmith/OTEL 수동 트레이싱 → 자동 비용 예측 + 예산 소진율 알림 → ML 기반 실행 계획 최적화.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838926" y="4258866"/>
            <a:ext cx="685949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61556" y="4335066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61556" y="4468416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57200" y="4987975"/>
            <a:ext cx="24159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Harness Engineering = Context × Loop × Validation × Observation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34</a:t>
            </a:r>
            <a:endParaRPr lang="en-US" sz="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4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57014"/>
            <a:ext cx="590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41182" y="171301"/>
            <a:ext cx="1882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124545"/>
            <a:ext cx="6058049" cy="1031974"/>
          </a:xfrm>
          <a:prstGeom prst="roundRect">
            <a:avLst>
              <a:gd name="adj" fmla="val 738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261021"/>
            <a:ext cx="5797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445121"/>
            <a:ext cx="579726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시스템(LLM)은 제어 없이 발산합니다.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426" y="1886843"/>
            <a:ext cx="57972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— 36일, 1,160 커밋, 39 릴리스가 이 명제의 실증입니다.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2258020"/>
            <a:ext cx="6058049" cy="831652"/>
          </a:xfrm>
          <a:prstGeom prst="roundRect">
            <a:avLst>
              <a:gd name="adj" fmla="val 916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4426" y="2394496"/>
            <a:ext cx="5797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 — 하네스의 3개 피드백 사이클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4426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1212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Loop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31212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CANNOT → 다음 설계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420392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48992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35778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735778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→ PR → CHANGELOG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424958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53558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40344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Loop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740344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→ Hook → LEARNINGS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7200" y="3191173"/>
            <a:ext cx="6058049" cy="977057"/>
          </a:xfrm>
          <a:prstGeom prst="roundRect">
            <a:avLst>
              <a:gd name="adj" fmla="val 77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4426" y="3327648"/>
            <a:ext cx="5797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Value Propositions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4426" y="356875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027" y="3505349"/>
            <a:ext cx="294303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CANNOT + 21 Skills로 LLM 자율성과 제어의 균형을 잡는 방법론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4426" y="376535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4027" y="3701951"/>
            <a:ext cx="311867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50R × 200T 장기 실행을 비용 상한 + 수렴 감지로 안정 운용하는 기술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4426" y="39619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027" y="3898553"/>
            <a:ext cx="288717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 → REODE 이식 — 하네스가 도메인을 선택하지 않는 구조</a:t>
            </a:r>
            <a:endParaRPr lang="en-US" sz="700" dirty="0"/>
          </a:p>
        </p:txBody>
      </p:sp>
      <p:pic>
        <p:nvPicPr>
          <p:cNvPr id="31" name="Image 1" descr="/Users/mango/workspace/portfolio/geode/versions/v4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49" y="949672"/>
            <a:ext cx="1396901" cy="139690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718399" y="2473523"/>
            <a:ext cx="1968401" cy="127307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863879" y="2635448"/>
            <a:ext cx="1677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863879" y="2911673"/>
            <a:ext cx="1677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880324" y="3106936"/>
            <a:ext cx="16445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63879" y="3187898"/>
            <a:ext cx="1677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· REODE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863879" y="3343424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863879" y="3489424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718399" y="3873550"/>
            <a:ext cx="1968401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28205" y="3975050"/>
            <a:ext cx="17487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언제든 환영합니다.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457200" y="4975324"/>
            <a:ext cx="20237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OpenAI / ZhipuAI · 3 Providers · 187 Modules · 3,201 Tests</a:t>
            </a:r>
            <a:endParaRPr lang="en-US" sz="500" dirty="0"/>
          </a:p>
        </p:txBody>
      </p:sp>
      <p:sp>
        <p:nvSpPr>
          <p:cNvPr id="42" name="Text 38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34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2026-03-28T05:49:38Z</dcterms:created>
  <dcterms:modified xsi:type="dcterms:W3CDTF">2026-03-28T05:49:38Z</dcterms:modified>
</cp:coreProperties>
</file>