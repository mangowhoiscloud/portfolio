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047"/>
    <p:restoredTop sz="94610"/>
  </p:normalViewPr>
  <p:slideViewPr>
    <p:cSldViewPr snapToGrid="0" snapToObjects="1">
      <p:cViewPr varScale="1">
        <p:scale>
          <a:sx n="272" d="100"/>
          <a:sy n="272" d="100"/>
        </p:scale>
        <p:origin x="216" y="6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419906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ango/workspace/portfolio/geode/versions/v8/slides/assets/bg-co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77701"/>
            <a:ext cx="50750" cy="177701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584150" y="199876"/>
            <a:ext cx="84251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442895" y="204639"/>
            <a:ext cx="126878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36일 · 1,174 커밋 · 40 릴리스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457200" y="1240334"/>
            <a:ext cx="2801689" cy="311051"/>
          </a:xfrm>
          <a:prstGeom prst="roundRect">
            <a:avLst>
              <a:gd name="adj" fmla="val 16332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593675" y="1357759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746075" y="1338709"/>
            <a:ext cx="242386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while(tool_use) → 50 rounds × 200 turns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457200" y="1678335"/>
            <a:ext cx="6269837" cy="447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457200" y="2176165"/>
            <a:ext cx="6269837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400"/>
              </a:spcBef>
              <a:buNone/>
            </a:pPr>
            <a:r>
              <a:rPr lang="en-US" sz="14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장기 자율 실행 하네스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2471440"/>
            <a:ext cx="626983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600"/>
              </a:spcBef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Long-Running Autonomous Execution Harness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457200" y="2782491"/>
            <a:ext cx="25301" cy="355550"/>
          </a:xfrm>
          <a:prstGeom prst="roundRect">
            <a:avLst>
              <a:gd name="adj" fmla="val 50196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584002" y="2793504"/>
            <a:ext cx="99143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류지환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84002" y="2993529"/>
            <a:ext cx="99143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Engineer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3366492"/>
            <a:ext cx="1460599" cy="603052"/>
          </a:xfrm>
          <a:prstGeom prst="roundRect">
            <a:avLst>
              <a:gd name="adj" fmla="val 12636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607758" y="3477518"/>
            <a:ext cx="1159484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187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607758" y="3772793"/>
            <a:ext cx="115948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Modules</a:t>
            </a:r>
            <a:endParaRPr lang="en-US" sz="600" dirty="0"/>
          </a:p>
        </p:txBody>
      </p:sp>
      <p:sp>
        <p:nvSpPr>
          <p:cNvPr id="18" name="Text 15"/>
          <p:cNvSpPr/>
          <p:nvPr/>
        </p:nvSpPr>
        <p:spPr>
          <a:xfrm>
            <a:off x="2019300" y="3366492"/>
            <a:ext cx="1460599" cy="603052"/>
          </a:xfrm>
          <a:prstGeom prst="roundRect">
            <a:avLst>
              <a:gd name="adj" fmla="val 12636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6"/>
          <p:cNvSpPr/>
          <p:nvPr/>
        </p:nvSpPr>
        <p:spPr>
          <a:xfrm>
            <a:off x="2169858" y="3477518"/>
            <a:ext cx="1159484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3,216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2169858" y="3772793"/>
            <a:ext cx="115948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</a:t>
            </a:r>
            <a:endParaRPr lang="en-US" sz="600" dirty="0"/>
          </a:p>
        </p:txBody>
      </p:sp>
      <p:sp>
        <p:nvSpPr>
          <p:cNvPr id="21" name="Text 18"/>
          <p:cNvSpPr/>
          <p:nvPr/>
        </p:nvSpPr>
        <p:spPr>
          <a:xfrm>
            <a:off x="3581400" y="3366492"/>
            <a:ext cx="1460599" cy="603052"/>
          </a:xfrm>
          <a:prstGeom prst="roundRect">
            <a:avLst>
              <a:gd name="adj" fmla="val 12636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19"/>
          <p:cNvSpPr/>
          <p:nvPr/>
        </p:nvSpPr>
        <p:spPr>
          <a:xfrm>
            <a:off x="3731958" y="3477518"/>
            <a:ext cx="1159484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3731958" y="3772793"/>
            <a:ext cx="115948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Events</a:t>
            </a:r>
            <a:endParaRPr lang="en-US" sz="600" dirty="0"/>
          </a:p>
        </p:txBody>
      </p:sp>
      <p:sp>
        <p:nvSpPr>
          <p:cNvPr id="24" name="Text 21"/>
          <p:cNvSpPr/>
          <p:nvPr/>
        </p:nvSpPr>
        <p:spPr>
          <a:xfrm>
            <a:off x="5143500" y="3366492"/>
            <a:ext cx="1460599" cy="603052"/>
          </a:xfrm>
          <a:prstGeom prst="roundRect">
            <a:avLst>
              <a:gd name="adj" fmla="val 12636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2"/>
          <p:cNvSpPr/>
          <p:nvPr/>
        </p:nvSpPr>
        <p:spPr>
          <a:xfrm>
            <a:off x="5294058" y="3477518"/>
            <a:ext cx="1159484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5294058" y="3772793"/>
            <a:ext cx="115948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Tools</a:t>
            </a:r>
            <a:endParaRPr lang="en-US" sz="600" dirty="0"/>
          </a:p>
        </p:txBody>
      </p:sp>
      <p:sp>
        <p:nvSpPr>
          <p:cNvPr id="31" name="Text 27"/>
          <p:cNvSpPr/>
          <p:nvPr/>
        </p:nvSpPr>
        <p:spPr>
          <a:xfrm>
            <a:off x="457200" y="4930825"/>
            <a:ext cx="232428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Feb 21 to Mar 28, 2026 · Anthropic / OpenAI / ZhipuAI · 3 Providers</a:t>
            </a:r>
            <a:endParaRPr lang="en-US" sz="600" dirty="0"/>
          </a:p>
        </p:txBody>
      </p:sp>
      <p:sp>
        <p:nvSpPr>
          <p:cNvPr id="32" name="Text 28"/>
          <p:cNvSpPr/>
          <p:nvPr/>
        </p:nvSpPr>
        <p:spPr>
          <a:xfrm>
            <a:off x="8453735" y="4930825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35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52400"/>
            <a:ext cx="50750" cy="177701"/>
          </a:xfrm>
          <a:prstGeom prst="roundRect">
            <a:avLst>
              <a:gd name="adj" fmla="val 50049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74575"/>
            <a:ext cx="85936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 · HOOK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36일의 피봇 스토리: 과제 → 탈락 → 자율 하네스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 에이전트는 재사용이 안 된다. 탈락이 하네스 인프라로의 피봇을 결정한다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725960"/>
            <a:ext cx="2032397" cy="1047601"/>
          </a:xfrm>
          <a:prstGeom prst="roundRect">
            <a:avLst>
              <a:gd name="adj" fmla="val 727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76081" y="1862435"/>
            <a:ext cx="1794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576081" y="1995785"/>
            <a:ext cx="179463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300"/>
              </a:spcBef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IP Agent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76081" y="2160836"/>
            <a:ext cx="179463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Feb 21</a:t>
            </a:r>
            <a:endParaRPr lang="en-US" sz="600" dirty="0"/>
          </a:p>
        </p:txBody>
      </p:sp>
      <p:sp>
        <p:nvSpPr>
          <p:cNvPr id="10" name="Text 8"/>
          <p:cNvSpPr/>
          <p:nvPr/>
        </p:nvSpPr>
        <p:spPr>
          <a:xfrm>
            <a:off x="576081" y="2322761"/>
            <a:ext cx="17946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6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넥슨 코딩 과제: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576081" y="2427536"/>
            <a:ext cx="17946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5-Layer 검증 파이프라인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576081" y="2532311"/>
            <a:ext cx="17946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 분석 에이전트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1466999" y="2773561"/>
            <a:ext cx="12650" cy="177701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57200" y="2951262"/>
            <a:ext cx="2032397" cy="282476"/>
          </a:xfrm>
          <a:prstGeom prst="roundRect">
            <a:avLst>
              <a:gd name="adj" fmla="val 17984"/>
            </a:avLst>
          </a:prstGeom>
          <a:solidFill>
            <a:srgbClr val="1E293B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81025" y="3049637"/>
            <a:ext cx="18204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AgenticLoop v0.1 · 3 Provider 초기 설계</a:t>
            </a:r>
            <a:endParaRPr lang="en-US" sz="600" dirty="0"/>
          </a:p>
        </p:txBody>
      </p:sp>
      <p:sp>
        <p:nvSpPr>
          <p:cNvPr id="16" name="Text 14"/>
          <p:cNvSpPr/>
          <p:nvPr/>
        </p:nvSpPr>
        <p:spPr>
          <a:xfrm>
            <a:off x="2489597" y="2005310"/>
            <a:ext cx="336855" cy="209550"/>
          </a:xfrm>
          <a:prstGeom prst="rect">
            <a:avLst/>
          </a:prstGeom>
          <a:noFill/>
          <a:ln/>
        </p:spPr>
        <p:txBody>
          <a:bodyPr wrap="square" lIns="76200" tIns="0" rIns="7620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819846" y="1725960"/>
            <a:ext cx="1141661" cy="990451"/>
          </a:xfrm>
          <a:prstGeom prst="roundRect">
            <a:avLst>
              <a:gd name="adj" fmla="val 7693"/>
            </a:avLst>
          </a:prstGeom>
          <a:solidFill>
            <a:srgbClr val="1A0A0A"/>
          </a:solidFill>
          <a:ln w="19050">
            <a:solidFill>
              <a:srgbClr val="EF444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3009116" y="1871960"/>
            <a:ext cx="76312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PIVOT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3009116" y="2005310"/>
            <a:ext cx="76312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300"/>
              </a:spcBef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면접 탈락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009116" y="2198936"/>
            <a:ext cx="76312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 03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3009116" y="2360861"/>
            <a:ext cx="76312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600"/>
              </a:spcBef>
              <a:buNone/>
            </a:pPr>
            <a:r>
              <a:rPr lang="en-US" sz="7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"도메인 에이전트로는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3009116" y="2465636"/>
            <a:ext cx="76312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부족하다"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3384352" y="2716411"/>
            <a:ext cx="12650" cy="177701"/>
          </a:xfrm>
          <a:prstGeom prst="rect">
            <a:avLst/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3047851" y="2894112"/>
            <a:ext cx="685502" cy="282476"/>
          </a:xfrm>
          <a:prstGeom prst="roundRect">
            <a:avLst>
              <a:gd name="adj" fmla="val 17984"/>
            </a:avLst>
          </a:prstGeom>
          <a:solidFill>
            <a:srgbClr val="1A0A0A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167298" y="2992487"/>
            <a:ext cx="44660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자율 피봇 결정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3961507" y="2005310"/>
            <a:ext cx="336855" cy="209550"/>
          </a:xfrm>
          <a:prstGeom prst="rect">
            <a:avLst/>
          </a:prstGeom>
          <a:noFill/>
          <a:ln/>
        </p:spPr>
        <p:txBody>
          <a:bodyPr wrap="square" lIns="76200" tIns="0" rIns="7620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291757" y="1725960"/>
            <a:ext cx="2032397" cy="1028551"/>
          </a:xfrm>
          <a:prstGeom prst="roundRect">
            <a:avLst>
              <a:gd name="adj" fmla="val 7408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410638" y="1862435"/>
            <a:ext cx="1794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4410638" y="1995785"/>
            <a:ext cx="179463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300"/>
              </a:spcBef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하네스 강화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410638" y="2170361"/>
            <a:ext cx="179463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 04 to Mar 18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4410638" y="2332286"/>
            <a:ext cx="1794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6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 Hook Events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4410638" y="2427536"/>
            <a:ext cx="1794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Plan-first + Compaction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4410638" y="2522786"/>
            <a:ext cx="1794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3-Brake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5301555" y="2754511"/>
            <a:ext cx="12650" cy="177701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4291757" y="2932212"/>
            <a:ext cx="2032397" cy="368201"/>
          </a:xfrm>
          <a:prstGeom prst="roundRect">
            <a:avLst>
              <a:gd name="adj" fmla="val 13797"/>
            </a:avLst>
          </a:prstGeom>
          <a:solidFill>
            <a:srgbClr val="1E293B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4415582" y="3030587"/>
            <a:ext cx="18204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Scheduler + Gateway</a:t>
            </a:r>
            <a:endParaRPr lang="en-US" sz="600" dirty="0"/>
          </a:p>
        </p:txBody>
      </p:sp>
      <p:sp>
        <p:nvSpPr>
          <p:cNvPr id="37" name="Text 35"/>
          <p:cNvSpPr/>
          <p:nvPr/>
        </p:nvSpPr>
        <p:spPr>
          <a:xfrm>
            <a:off x="4415582" y="3116312"/>
            <a:ext cx="18204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 세션 격리</a:t>
            </a:r>
            <a:endParaRPr lang="en-US" sz="600" dirty="0"/>
          </a:p>
        </p:txBody>
      </p:sp>
      <p:sp>
        <p:nvSpPr>
          <p:cNvPr id="38" name="Text 36"/>
          <p:cNvSpPr/>
          <p:nvPr/>
        </p:nvSpPr>
        <p:spPr>
          <a:xfrm>
            <a:off x="6324154" y="2005310"/>
            <a:ext cx="336855" cy="209550"/>
          </a:xfrm>
          <a:prstGeom prst="rect">
            <a:avLst/>
          </a:prstGeom>
          <a:noFill/>
          <a:ln/>
        </p:spPr>
        <p:txBody>
          <a:bodyPr wrap="square" lIns="76200" tIns="0" rIns="7620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654403" y="1725960"/>
            <a:ext cx="2032397" cy="1047601"/>
          </a:xfrm>
          <a:prstGeom prst="roundRect">
            <a:avLst>
              <a:gd name="adj" fmla="val 7274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6773284" y="1862435"/>
            <a:ext cx="1794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· FORK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6773284" y="1995785"/>
            <a:ext cx="179463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300"/>
              </a:spcBef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REODE 제품화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6773284" y="2170361"/>
            <a:ext cx="179463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 19 to Mar 28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6773284" y="2332286"/>
            <a:ext cx="1794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6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v0.13 → Fork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6773284" y="2427536"/>
            <a:ext cx="17946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209 모듈 · 3,274 테스트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6773284" y="2532311"/>
            <a:ext cx="17946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83/83 mvn 패스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7664202" y="2773561"/>
            <a:ext cx="12650" cy="177701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654403" y="2951262"/>
            <a:ext cx="2032397" cy="282476"/>
          </a:xfrm>
          <a:prstGeom prst="roundRect">
            <a:avLst>
              <a:gd name="adj" fmla="val 17984"/>
            </a:avLst>
          </a:prstGeom>
          <a:solidFill>
            <a:srgbClr val="1E293B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6778228" y="3049637"/>
            <a:ext cx="18204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하네스 패턴 재사용 증명</a:t>
            </a:r>
            <a:endParaRPr lang="en-US" sz="600" dirty="0"/>
          </a:p>
        </p:txBody>
      </p:sp>
      <p:sp>
        <p:nvSpPr>
          <p:cNvPr id="49" name="Text 47"/>
          <p:cNvSpPr/>
          <p:nvPr/>
        </p:nvSpPr>
        <p:spPr>
          <a:xfrm>
            <a:off x="457200" y="3452813"/>
            <a:ext cx="8229600" cy="586978"/>
          </a:xfrm>
          <a:prstGeom prst="roundRect">
            <a:avLst>
              <a:gd name="adj" fmla="val 8654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0" name="Shape 48"/>
          <p:cNvSpPr/>
          <p:nvPr/>
        </p:nvSpPr>
        <p:spPr>
          <a:xfrm>
            <a:off x="476250" y="3452813"/>
            <a:ext cx="0" cy="586978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9"/>
          <p:cNvSpPr/>
          <p:nvPr/>
        </p:nvSpPr>
        <p:spPr>
          <a:xfrm>
            <a:off x="647700" y="3554313"/>
            <a:ext cx="804443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피봇의 결론: 도메인 전문성 vs 인프라 재사용성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647700" y="3703439"/>
            <a:ext cx="804443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 에이전트는 </a:t>
            </a: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무엇을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분석하는가의 문제다. 하네스는 </a:t>
            </a: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어떻게 오래, 안전하게 실행하는가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의 문제다.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647700" y="3833515"/>
            <a:ext cx="804443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 분석을 선택하면 재사용성 없는 일회성 프로젝트로 끝난다. 하네스 인프라를 선택하기 때문에 REODE 포크가 가능해지고, </a:t>
            </a: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코어 수정 0줄로 83/83 빌드를 통과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한다.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457200" y="4956274"/>
            <a:ext cx="164161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v0.32.0 · 1,174 commits · 40 releases · 36 days</a:t>
            </a:r>
            <a:endParaRPr lang="en-US" sz="600" dirty="0"/>
          </a:p>
        </p:txBody>
      </p:sp>
      <p:sp>
        <p:nvSpPr>
          <p:cNvPr id="55" name="Text 53"/>
          <p:cNvSpPr/>
          <p:nvPr/>
        </p:nvSpPr>
        <p:spPr>
          <a:xfrm>
            <a:off x="8453735" y="4956274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35</a:t>
            </a:r>
            <a:endParaRPr lang="en-US" sz="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52400"/>
            <a:ext cx="50750" cy="177701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74575"/>
            <a:ext cx="93071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 · THESIS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확률적 시스템(LLM)은 제어 없이 발산한다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4-Axis: 장기 운용에서 컨텍스트·루프·검증·관측 4축이 없으면 열화가 불가피하다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47576"/>
            <a:ext cx="2539901" cy="1047750"/>
          </a:xfrm>
          <a:prstGeom prst="roundRect">
            <a:avLst>
              <a:gd name="adj" fmla="val 7273"/>
            </a:avLst>
          </a:prstGeom>
          <a:solidFill>
            <a:srgbClr val="1E293B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3675" y="984052"/>
            <a:ext cx="231228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주장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593675" y="1152227"/>
            <a:ext cx="2312289" cy="29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6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단독 실행은 비결정론, 컨텍스트 손실, 비용 폭발, 루프 고착 4가지 이유로 반드시 발산한다.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93675" y="1510308"/>
            <a:ext cx="2312289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spcBef>
                <a:spcPts val="5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발산을 수렴시키는 것이 하네스의 역할이다. 4개 축이 없으면 자율 실행은 불가능하다.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457200" y="1971526"/>
            <a:ext cx="2539901" cy="1104602"/>
          </a:xfrm>
          <a:prstGeom prst="roundRect">
            <a:avLst>
              <a:gd name="adj" fmla="val 6898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93675" y="2108002"/>
            <a:ext cx="231228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장기 운용의 열화: 실제 예시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746075" y="2276177"/>
            <a:ext cx="21145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975"/>
              </a:lnSpc>
              <a:buSzPct val="100000"/>
              <a:buChar char="•"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</a:t>
            </a:r>
            <a:r>
              <a:rPr lang="en-US" sz="6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채우면 응답 품질 저하 시작</a:t>
            </a:r>
            <a:endParaRPr lang="en-US" sz="650" dirty="0"/>
          </a:p>
          <a:p>
            <a:pPr marL="342900" indent="-342900" algn="l">
              <a:lnSpc>
                <a:spcPts val="975"/>
              </a:lnSpc>
              <a:buSzPct val="100000"/>
              <a:buChar char="•"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 </a:t>
            </a:r>
            <a:r>
              <a:rPr lang="en-US" sz="6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10턴</a:t>
            </a: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넘으면 인사이트 휘발</a:t>
            </a:r>
            <a:endParaRPr lang="en-US" sz="650" dirty="0"/>
          </a:p>
          <a:p>
            <a:pPr marL="342900" indent="-342900" algn="l">
              <a:lnSpc>
                <a:spcPts val="975"/>
              </a:lnSpc>
              <a:buSzPct val="100000"/>
              <a:buChar char="•"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drift로 </a:t>
            </a:r>
            <a:r>
              <a:rPr lang="en-US" sz="6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행동 변화</a:t>
            </a: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같은 입력에도 다른 출력 발생</a:t>
            </a:r>
            <a:endParaRPr lang="en-US" sz="650" dirty="0"/>
          </a:p>
          <a:p>
            <a:pPr marL="342900" indent="-342900" algn="l">
              <a:lnSpc>
                <a:spcPts val="975"/>
              </a:lnSpc>
              <a:buSzPct val="100000"/>
              <a:buChar char="•"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 공백 → CUSUM이 드리프트 미감지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593675" y="2834878"/>
            <a:ext cx="231228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500"/>
              </a:spcBef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4축 자동 보정이 없으면 발산은 불가피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3124051" y="847576"/>
            <a:ext cx="2743200" cy="1984474"/>
          </a:xfrm>
          <a:prstGeom prst="roundRect">
            <a:avLst>
              <a:gd name="adj" fmla="val 384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260527" y="1020514"/>
            <a:ext cx="50750" cy="50750"/>
          </a:xfrm>
          <a:prstGeom prst="roundRect">
            <a:avLst>
              <a:gd name="adj" fmla="val 1801773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3387477" y="984052"/>
            <a:ext cx="105048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축 1 · Context Control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260527" y="1171277"/>
            <a:ext cx="251965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제어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3260527" y="1339453"/>
            <a:ext cx="2519654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매 세션 프롬프트를 수동 편집하면 drift가 발생했기 때문에 PromptAssembler 6-Phase + SHA-256으로 자동 조립한다. 80%/95%에서 compaction이 발동해 루프가 컨텍스트 과부하로 중단되지 않는다.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3260527" y="2432149"/>
            <a:ext cx="2470249" cy="263426"/>
          </a:xfrm>
          <a:prstGeom prst="roundRect">
            <a:avLst>
              <a:gd name="adj" fmla="val 19284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3362027" y="2521000"/>
            <a:ext cx="231259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PromptAssembler · CompactionHook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5943451" y="847576"/>
            <a:ext cx="2743349" cy="1984474"/>
          </a:xfrm>
          <a:prstGeom prst="roundRect">
            <a:avLst>
              <a:gd name="adj" fmla="val 384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079927" y="1020514"/>
            <a:ext cx="50750" cy="50750"/>
          </a:xfrm>
          <a:prstGeom prst="roundRect">
            <a:avLst>
              <a:gd name="adj" fmla="val 1801773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206877" y="984052"/>
            <a:ext cx="104487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축 2 · Execution Loop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079927" y="1171277"/>
            <a:ext cx="251980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루프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6079927" y="1339453"/>
            <a:ext cx="2519806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브레이크 없이 실행하면 비용·수렴·탐색 고착이 발생하기 때문에 3개 자동 브레이크를 설계하여 수렴을 강제한다. 실측 평균 4.2 라운드 종료, 상한은 50 라운드.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6079927" y="2432149"/>
            <a:ext cx="2470398" cy="263426"/>
          </a:xfrm>
          <a:prstGeom prst="roundRect">
            <a:avLst>
              <a:gd name="adj" fmla="val 19284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181427" y="2521000"/>
            <a:ext cx="231274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AgenticLoop · SafetyBrake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3124051" y="2908250"/>
            <a:ext cx="2743200" cy="1984623"/>
          </a:xfrm>
          <a:prstGeom prst="roundRect">
            <a:avLst>
              <a:gd name="adj" fmla="val 384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3260527" y="3081189"/>
            <a:ext cx="50750" cy="50750"/>
          </a:xfrm>
          <a:prstGeom prst="roundRect">
            <a:avLst>
              <a:gd name="adj" fmla="val 1801773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3387477" y="3044726"/>
            <a:ext cx="82642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축 3 · Verification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260527" y="3231952"/>
            <a:ext cx="251965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3260527" y="3400127"/>
            <a:ext cx="2519654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LLM 평가는 Anchoring 편향으로 점수 분산이 ±18점이 나오기 때문에 5-Layer 검증(Guardrails→BiasBuster→Cross-LLM→Rights→Ground Truth)으로 신뢰도를 확보한다.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3260527" y="4492972"/>
            <a:ext cx="2470249" cy="263426"/>
          </a:xfrm>
          <a:prstGeom prst="roundRect">
            <a:avLst>
              <a:gd name="adj" fmla="val 19284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3362027" y="4581823"/>
            <a:ext cx="231259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F5C5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VerificationPipeline · CrossLLM</a:t>
            </a:r>
            <a:endParaRPr lang="en-US" sz="600" dirty="0"/>
          </a:p>
        </p:txBody>
      </p:sp>
      <p:sp>
        <p:nvSpPr>
          <p:cNvPr id="35" name="Text 33"/>
          <p:cNvSpPr/>
          <p:nvPr/>
        </p:nvSpPr>
        <p:spPr>
          <a:xfrm>
            <a:off x="5943451" y="2908250"/>
            <a:ext cx="2743349" cy="1984623"/>
          </a:xfrm>
          <a:prstGeom prst="roundRect">
            <a:avLst>
              <a:gd name="adj" fmla="val 384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6079927" y="3081189"/>
            <a:ext cx="50750" cy="50750"/>
          </a:xfrm>
          <a:prstGeom prst="roundRect">
            <a:avLst>
              <a:gd name="adj" fmla="val 1801773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6206877" y="3044726"/>
            <a:ext cx="9243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축 4 · Observability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079927" y="3231952"/>
            <a:ext cx="251980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6079927" y="3400127"/>
            <a:ext cx="2519806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 공백이 있으면 CUSUM이 드리프트를 감지하지 못했기 때문에 46 Hook Events로 신경계를 구성하고 TokenTracker로 실시간 비용을 추적한다.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6079927" y="4492972"/>
            <a:ext cx="2470398" cy="263426"/>
          </a:xfrm>
          <a:prstGeom prst="roundRect">
            <a:avLst>
              <a:gd name="adj" fmla="val 19284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181427" y="4581823"/>
            <a:ext cx="231274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HookSystem · TokenTracker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457200" y="4956274"/>
            <a:ext cx="205285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4축은 서로 보완하며, 하나의 결함이 전체 자율 실행을 무너뜨립니다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8453735" y="4956274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35</a:t>
            </a:r>
            <a:endParaRPr lang="en-US" sz="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52400"/>
            <a:ext cx="50750" cy="177701"/>
          </a:xfrm>
          <a:prstGeom prst="roundRect">
            <a:avLst>
              <a:gd name="adj" fmla="val 50049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74575"/>
            <a:ext cx="142499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 · ARCHITECTURE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Triple Loop: META → DEV → RUNTIME + 46 Hook 신경계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스캐폴드가 자기 자신을 개발하고, RUNTIME이 자율 실행한다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47576"/>
            <a:ext cx="5969050" cy="653951"/>
          </a:xfrm>
          <a:prstGeom prst="roundRect">
            <a:avLst>
              <a:gd name="adj" fmla="val 11652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12776" y="1060252"/>
            <a:ext cx="6475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12776" y="1203127"/>
            <a:ext cx="64759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스캐폴드 루프</a:t>
            </a:r>
            <a:endParaRPr lang="en-US" sz="600" dirty="0"/>
          </a:p>
        </p:txBody>
      </p:sp>
      <p:sp>
        <p:nvSpPr>
          <p:cNvPr id="9" name="Text 7"/>
          <p:cNvSpPr/>
          <p:nvPr/>
        </p:nvSpPr>
        <p:spPr>
          <a:xfrm>
            <a:off x="1380976" y="971401"/>
            <a:ext cx="12650" cy="406301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520577" y="988368"/>
            <a:ext cx="3812575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인간이 직접 코딩하면 Harness가 실패하기 때문에 Claude Code가 GEODE를 자체 개발한다. 21 Skills + CANNOT 23-Rule + Socratic Gate로 1,174 커밋을 생성한다.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1520577" y="1275011"/>
            <a:ext cx="381257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harness-for-real 해커톤 · "키보드에 손이 닿는 순간 하네스의 실패다"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5385346" y="999976"/>
            <a:ext cx="878979" cy="349151"/>
          </a:xfrm>
          <a:prstGeom prst="roundRect">
            <a:avLst>
              <a:gd name="adj" fmla="val 14550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499646" y="1088827"/>
            <a:ext cx="66338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Skills</a:t>
            </a:r>
            <a:endParaRPr lang="en-US" sz="600" dirty="0"/>
          </a:p>
        </p:txBody>
      </p:sp>
      <p:sp>
        <p:nvSpPr>
          <p:cNvPr id="14" name="Text 12"/>
          <p:cNvSpPr/>
          <p:nvPr/>
        </p:nvSpPr>
        <p:spPr>
          <a:xfrm>
            <a:off x="5499646" y="1174552"/>
            <a:ext cx="66338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425줄 CLAUDE.md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397510" y="1577727"/>
            <a:ext cx="608843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Hook 이벤트 전파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1834902"/>
            <a:ext cx="5969050" cy="653951"/>
          </a:xfrm>
          <a:prstGeom prst="roundRect">
            <a:avLst>
              <a:gd name="adj" fmla="val 11652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12776" y="2047577"/>
            <a:ext cx="6475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12776" y="2190452"/>
            <a:ext cx="64759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개발 루프</a:t>
            </a:r>
            <a:endParaRPr lang="en-US" sz="600" dirty="0"/>
          </a:p>
        </p:txBody>
      </p:sp>
      <p:sp>
        <p:nvSpPr>
          <p:cNvPr id="19" name="Text 17"/>
          <p:cNvSpPr/>
          <p:nvPr/>
        </p:nvSpPr>
        <p:spPr>
          <a:xfrm>
            <a:off x="1380976" y="1958727"/>
            <a:ext cx="12650" cy="406301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1520577" y="1975693"/>
            <a:ext cx="4079751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테스트 없이 머지하면 회귀가 쌓이기 때문에 AgenticLoop가 8-Step Loop로 PR 단위 코드를 작성하며 70% 테스트 비율을 강제한다. 결과: 40/40 릴리스 무회귀.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1520577" y="2262336"/>
            <a:ext cx="407975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typecheck+lint backpressure · LEARNINGS.md 패턴 축적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5647283" y="1987302"/>
            <a:ext cx="617041" cy="349151"/>
          </a:xfrm>
          <a:prstGeom prst="roundRect">
            <a:avLst>
              <a:gd name="adj" fmla="val 14550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5761583" y="2076152"/>
            <a:ext cx="39621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3,216 Tests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5761583" y="2161877"/>
            <a:ext cx="39621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500+ PRs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397510" y="2565053"/>
            <a:ext cx="608843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Hook 이벤트 전파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2822228"/>
            <a:ext cx="5969050" cy="653951"/>
          </a:xfrm>
          <a:prstGeom prst="roundRect">
            <a:avLst>
              <a:gd name="adj" fmla="val 11652"/>
            </a:avLst>
          </a:prstGeom>
          <a:solidFill>
            <a:srgbClr val="161B22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12776" y="3034903"/>
            <a:ext cx="6475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12776" y="3177778"/>
            <a:ext cx="64759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자율 실행 루프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1380976" y="2946053"/>
            <a:ext cx="12650" cy="406301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1520577" y="2963019"/>
            <a:ext cx="4187836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 없이 장기 실행하기 위해 Safety Brake·Scheduler·Gateway를 추가하여 안전성을 확보한다. 52 Tools + 45 MCP + 46 Hook이 while(tool_use) 50 라운드를 자율 구동한다.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1520577" y="3249662"/>
            <a:ext cx="418783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Brake · Scheduler · Gateway: 사람 없이 오래 실행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5753249" y="2974628"/>
            <a:ext cx="511076" cy="349151"/>
          </a:xfrm>
          <a:prstGeom prst="roundRect">
            <a:avLst>
              <a:gd name="adj" fmla="val 14550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5867549" y="3063478"/>
            <a:ext cx="28812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 Tools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5867549" y="3149203"/>
            <a:ext cx="28812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MCP</a:t>
            </a:r>
            <a:endParaRPr lang="en-US" sz="600" dirty="0"/>
          </a:p>
        </p:txBody>
      </p:sp>
      <p:sp>
        <p:nvSpPr>
          <p:cNvPr id="35" name="Text 33"/>
          <p:cNvSpPr/>
          <p:nvPr/>
        </p:nvSpPr>
        <p:spPr>
          <a:xfrm>
            <a:off x="6553200" y="847576"/>
            <a:ext cx="2133600" cy="1841302"/>
          </a:xfrm>
          <a:prstGeom prst="roundRect">
            <a:avLst>
              <a:gd name="adj" fmla="val 4138"/>
            </a:avLst>
          </a:prstGeom>
          <a:solidFill>
            <a:srgbClr val="1E293B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6689675" y="984052"/>
            <a:ext cx="50750" cy="152400"/>
          </a:xfrm>
          <a:prstGeom prst="roundRect">
            <a:avLst>
              <a:gd name="adj" fmla="val 50049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6816626" y="998339"/>
            <a:ext cx="55651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신경계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671069" y="1212652"/>
            <a:ext cx="189786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6671069" y="1536502"/>
            <a:ext cx="189786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800"/>
              </a:spcAft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Events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6842075" y="1733252"/>
            <a:ext cx="1708249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PIPELINE_START / PIPELINE_END</a:t>
            </a:r>
            <a:endParaRPr lang="en-US" sz="700" dirty="0"/>
          </a:p>
          <a:p>
            <a:pPr marL="342900" indent="-342900" algn="l">
              <a:buSzPct val="100000"/>
              <a:buChar char="•"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NODE_ENTER / NODE_EXIT</a:t>
            </a:r>
            <a:endParaRPr lang="en-US" sz="700" dirty="0"/>
          </a:p>
          <a:p>
            <a:pPr marL="342900" indent="-342900" algn="l">
              <a:buSzPct val="100000"/>
              <a:buChar char="•"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MEMORY_SAVED / TURN_COMPLETE</a:t>
            </a:r>
            <a:endParaRPr lang="en-US" sz="700" dirty="0"/>
          </a:p>
          <a:p>
            <a:pPr marL="342900" indent="-342900" algn="l">
              <a:buSzPct val="100000"/>
              <a:buChar char="•"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CONTEXT_WARNING</a:t>
            </a:r>
            <a:endParaRPr lang="en-US" sz="700" dirty="0"/>
          </a:p>
          <a:p>
            <a:pPr marL="342900" indent="-342900" algn="l">
              <a:buSzPct val="100000"/>
              <a:buChar char="•"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SUBAGENT_STARTED / SUBAGENT_COMPLETED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6689675" y="2380952"/>
            <a:ext cx="189786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6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 기반 핸들러 실행. 핸들러 간 에러 격리로 한 이벤트 실패가 루프를 중단시키지 않는다.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6553200" y="2765078"/>
            <a:ext cx="2133600" cy="727174"/>
          </a:xfrm>
          <a:prstGeom prst="roundRect">
            <a:avLst>
              <a:gd name="adj" fmla="val 1047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664226" y="2876104"/>
            <a:ext cx="194977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자기 증강 피드백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6664226" y="3031629"/>
            <a:ext cx="1949779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40"/>
              </a:lnSpc>
              <a:spcBef>
                <a:spcPts val="400"/>
              </a:spcBef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PIPELINE_END 이벤트 → MEMORY.md 인사이트 자동 축적 → 다음 세션 PromptAssembler가 반영</a:t>
            </a:r>
            <a:endParaRPr lang="en-US" sz="600" dirty="0"/>
          </a:p>
        </p:txBody>
      </p:sp>
      <p:sp>
        <p:nvSpPr>
          <p:cNvPr id="45" name="Text 43"/>
          <p:cNvSpPr/>
          <p:nvPr/>
        </p:nvSpPr>
        <p:spPr>
          <a:xfrm>
            <a:off x="6664226" y="3295501"/>
            <a:ext cx="194977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3-Loop가 서로 강화한다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6553200" y="3568452"/>
            <a:ext cx="2133600" cy="1226493"/>
          </a:xfrm>
          <a:prstGeom prst="roundRect">
            <a:avLst>
              <a:gd name="adj" fmla="val 4142"/>
            </a:avLst>
          </a:prstGeom>
          <a:solidFill>
            <a:srgbClr val="1E293B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677025" y="3679478"/>
            <a:ext cx="192366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왜 3중 루프인가?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6677025" y="3809554"/>
            <a:ext cx="1923669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40"/>
              </a:lnSpc>
              <a:spcAft>
                <a:spcPts val="400"/>
              </a:spcAft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DEV+RUNTIME 2중 루프로는 규칙이 진화하지 않는다. 같은 실수가 반복되고 패턴이 코드베이스에 남는다.</a:t>
            </a:r>
            <a:endParaRPr lang="en-US" sz="600" dirty="0"/>
          </a:p>
        </p:txBody>
      </p:sp>
      <p:sp>
        <p:nvSpPr>
          <p:cNvPr id="49" name="Text 47"/>
          <p:cNvSpPr/>
          <p:nvPr/>
        </p:nvSpPr>
        <p:spPr>
          <a:xfrm>
            <a:off x="6677025" y="4073426"/>
            <a:ext cx="917525" cy="474018"/>
          </a:xfrm>
          <a:prstGeom prst="roundRect">
            <a:avLst>
              <a:gd name="adj" fmla="val 8038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6778526" y="4162276"/>
            <a:ext cx="72881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2중 루프</a:t>
            </a:r>
            <a:endParaRPr lang="en-US" sz="600" dirty="0"/>
          </a:p>
        </p:txBody>
      </p:sp>
      <p:sp>
        <p:nvSpPr>
          <p:cNvPr id="51" name="Text 49"/>
          <p:cNvSpPr/>
          <p:nvPr/>
        </p:nvSpPr>
        <p:spPr>
          <a:xfrm>
            <a:off x="6778526" y="4260652"/>
            <a:ext cx="728814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780"/>
              </a:lnSpc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위반 반복 · 학습 없음</a:t>
            </a:r>
            <a:endParaRPr lang="en-US" sz="600" dirty="0"/>
          </a:p>
        </p:txBody>
      </p:sp>
      <p:sp>
        <p:nvSpPr>
          <p:cNvPr id="52" name="Text 50"/>
          <p:cNvSpPr/>
          <p:nvPr/>
        </p:nvSpPr>
        <p:spPr>
          <a:xfrm>
            <a:off x="7645301" y="4073426"/>
            <a:ext cx="917674" cy="474018"/>
          </a:xfrm>
          <a:prstGeom prst="roundRect">
            <a:avLst>
              <a:gd name="adj" fmla="val 8038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7746802" y="4162276"/>
            <a:ext cx="72896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추가</a:t>
            </a:r>
            <a:endParaRPr lang="en-US" sz="600" dirty="0"/>
          </a:p>
        </p:txBody>
      </p:sp>
      <p:sp>
        <p:nvSpPr>
          <p:cNvPr id="54" name="Text 52"/>
          <p:cNvSpPr/>
          <p:nvPr/>
        </p:nvSpPr>
        <p:spPr>
          <a:xfrm>
            <a:off x="7746802" y="4260652"/>
            <a:ext cx="728966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780"/>
              </a:lnSpc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규칙이 CHANGELOG에서 진화</a:t>
            </a:r>
            <a:endParaRPr lang="en-US" sz="600" dirty="0"/>
          </a:p>
        </p:txBody>
      </p:sp>
      <p:sp>
        <p:nvSpPr>
          <p:cNvPr id="55" name="Text 53"/>
          <p:cNvSpPr/>
          <p:nvPr/>
        </p:nvSpPr>
        <p:spPr>
          <a:xfrm>
            <a:off x="6677025" y="4598194"/>
            <a:ext cx="192366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비용: META 루프 투자 시간 ↑ · 수익: RUNTIME 품질 복리 ↑</a:t>
            </a:r>
            <a:endParaRPr lang="en-US" sz="600" dirty="0"/>
          </a:p>
        </p:txBody>
      </p:sp>
      <p:sp>
        <p:nvSpPr>
          <p:cNvPr id="56" name="Text 54"/>
          <p:cNvSpPr/>
          <p:nvPr/>
        </p:nvSpPr>
        <p:spPr>
          <a:xfrm>
            <a:off x="457200" y="4956274"/>
            <a:ext cx="273977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META가 DEV를 낳고, DEV가 RUNTIME을 완성하고, RUNTIME이 META를 강화한다</a:t>
            </a:r>
            <a:endParaRPr lang="en-US" sz="600" dirty="0"/>
          </a:p>
        </p:txBody>
      </p:sp>
      <p:sp>
        <p:nvSpPr>
          <p:cNvPr id="57" name="Text 55"/>
          <p:cNvSpPr/>
          <p:nvPr/>
        </p:nvSpPr>
        <p:spPr>
          <a:xfrm>
            <a:off x="8453735" y="4956274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35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52400"/>
            <a:ext cx="50750" cy="177701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74575"/>
            <a:ext cx="85056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· WHAT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6-Layer Architecture: 187 모듈이 수직 분리된 이유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계층으로 설계하면 LLM 교체 시 전체를 다시 짜야 하기 때문에 Port/Adapter로 6-Layer를 수직 분리한다</a:t>
            </a:r>
            <a:endParaRPr lang="en-US" sz="800" dirty="0"/>
          </a:p>
        </p:txBody>
      </p:sp>
      <p:pic>
        <p:nvPicPr>
          <p:cNvPr id="6" name="Image 0" descr="/Users/mango/workspace/portfolio/geode/versions/v8/slides/assets/v028-diagram-3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847576"/>
            <a:ext cx="5334000" cy="2476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14606" y="3374827"/>
            <a:ext cx="142893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6-Layer 수직 분리 · Hook이 모든 계층을 횡단</a:t>
            </a:r>
            <a:endParaRPr lang="en-US" sz="600" dirty="0"/>
          </a:p>
        </p:txBody>
      </p:sp>
      <p:sp>
        <p:nvSpPr>
          <p:cNvPr id="8" name="Text 5"/>
          <p:cNvSpPr/>
          <p:nvPr/>
        </p:nvSpPr>
        <p:spPr>
          <a:xfrm>
            <a:off x="6527899" y="847576"/>
            <a:ext cx="2158901" cy="545902"/>
          </a:xfrm>
          <a:prstGeom prst="roundRect">
            <a:avLst>
              <a:gd name="adj" fmla="val 9306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6664375" y="958602"/>
            <a:ext cx="47545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187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232005" y="1007864"/>
            <a:ext cx="79985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Modules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7232005" y="1147465"/>
            <a:ext cx="79985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core/ 하위 계층별 분리</a:t>
            </a:r>
            <a:endParaRPr lang="en-US" sz="600" dirty="0"/>
          </a:p>
        </p:txBody>
      </p:sp>
      <p:sp>
        <p:nvSpPr>
          <p:cNvPr id="12" name="Text 9"/>
          <p:cNvSpPr/>
          <p:nvPr/>
        </p:nvSpPr>
        <p:spPr>
          <a:xfrm>
            <a:off x="6527899" y="1456879"/>
            <a:ext cx="2158901" cy="545902"/>
          </a:xfrm>
          <a:prstGeom prst="roundRect">
            <a:avLst>
              <a:gd name="adj" fmla="val 9306"/>
            </a:avLst>
          </a:prstGeom>
          <a:solidFill>
            <a:srgbClr val="161B22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6664375" y="1567904"/>
            <a:ext cx="316968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7076629" y="1617166"/>
            <a:ext cx="66991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Events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7076629" y="1756767"/>
            <a:ext cx="66991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계층 횡단 관측 신경계</a:t>
            </a:r>
            <a:endParaRPr lang="en-US" sz="600" dirty="0"/>
          </a:p>
        </p:txBody>
      </p:sp>
      <p:sp>
        <p:nvSpPr>
          <p:cNvPr id="16" name="Text 13"/>
          <p:cNvSpPr/>
          <p:nvPr/>
        </p:nvSpPr>
        <p:spPr>
          <a:xfrm>
            <a:off x="6527899" y="2066181"/>
            <a:ext cx="2158901" cy="942677"/>
          </a:xfrm>
          <a:prstGeom prst="roundRect">
            <a:avLst>
              <a:gd name="adj" fmla="val 538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6664375" y="2177207"/>
            <a:ext cx="192366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계층별 역할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6791325" y="2332732"/>
            <a:ext cx="175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 Gateway: 채널 입력 라우팅</a:t>
            </a:r>
            <a:endParaRPr lang="en-US" sz="600" dirty="0"/>
          </a:p>
          <a:p>
            <a:pPr marL="342900" indent="-342900" algn="l">
              <a:buSzPct val="100000"/>
              <a:buChar char="•"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 Orchestrator: AgenticLoop</a:t>
            </a:r>
            <a:endParaRPr lang="en-US" sz="600" dirty="0"/>
          </a:p>
          <a:p>
            <a:pPr marL="342900" indent="-342900" algn="l">
              <a:buSzPct val="100000"/>
              <a:buChar char="•"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 Tool/Agent: 52 Tools + Sub</a:t>
            </a:r>
            <a:endParaRPr lang="en-US" sz="600" dirty="0"/>
          </a:p>
          <a:p>
            <a:pPr marL="342900" indent="-342900" algn="l">
              <a:buSzPct val="100000"/>
              <a:buChar char="•"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 LLM: 3-Provider Failover</a:t>
            </a:r>
            <a:endParaRPr lang="en-US" sz="600" dirty="0"/>
          </a:p>
          <a:p>
            <a:pPr marL="342900" indent="-342900" algn="l">
              <a:buSzPct val="100000"/>
              <a:buChar char="•"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L5 Memory: 4-Tier 학습</a:t>
            </a:r>
            <a:endParaRPr lang="en-US" sz="600" dirty="0"/>
          </a:p>
        </p:txBody>
      </p:sp>
      <p:sp>
        <p:nvSpPr>
          <p:cNvPr id="19" name="Text 16"/>
          <p:cNvSpPr/>
          <p:nvPr/>
        </p:nvSpPr>
        <p:spPr>
          <a:xfrm>
            <a:off x="6664375" y="2812107"/>
            <a:ext cx="192366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Port/Adapter → LLM 교체 시 나머지 불변</a:t>
            </a:r>
            <a:endParaRPr lang="en-US" sz="600" dirty="0"/>
          </a:p>
        </p:txBody>
      </p:sp>
      <p:sp>
        <p:nvSpPr>
          <p:cNvPr id="20" name="Text 17"/>
          <p:cNvSpPr/>
          <p:nvPr/>
        </p:nvSpPr>
        <p:spPr>
          <a:xfrm>
            <a:off x="6527899" y="3072259"/>
            <a:ext cx="2158901" cy="1055043"/>
          </a:xfrm>
          <a:prstGeom prst="roundRect">
            <a:avLst>
              <a:gd name="adj" fmla="val 4815"/>
            </a:avLst>
          </a:prstGeom>
          <a:solidFill>
            <a:srgbClr val="1E293B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6664375" y="3183285"/>
            <a:ext cx="192366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6-Layer인가?</a:t>
            </a:r>
            <a:endParaRPr lang="en-US" sz="700" dirty="0"/>
          </a:p>
        </p:txBody>
      </p:sp>
      <p:sp>
        <p:nvSpPr>
          <p:cNvPr id="22" name="Text 19"/>
          <p:cNvSpPr/>
          <p:nvPr/>
        </p:nvSpPr>
        <p:spPr>
          <a:xfrm>
            <a:off x="6664375" y="3338810"/>
            <a:ext cx="1923669" cy="319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40"/>
              </a:lnSpc>
              <a:spcAft>
                <a:spcPts val="300"/>
              </a:spcAft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3-Layer(Presentation/Business/Data)는 에이전트에 맞지 않는다. 도구·메모리·오케스트레이션이 독립적으로 교체되어야 한다.</a:t>
            </a:r>
            <a:endParaRPr lang="en-US" sz="600" dirty="0"/>
          </a:p>
        </p:txBody>
      </p:sp>
      <p:sp>
        <p:nvSpPr>
          <p:cNvPr id="23" name="Text 20"/>
          <p:cNvSpPr/>
          <p:nvPr/>
        </p:nvSpPr>
        <p:spPr>
          <a:xfrm>
            <a:off x="6791325" y="3696593"/>
            <a:ext cx="1759000" cy="319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840"/>
              </a:lnSpc>
              <a:buSzPct val="100000"/>
              <a:buChar char="•"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교체 → L4만 변경, 나머지 불변</a:t>
            </a:r>
            <a:endParaRPr lang="en-US" sz="600" dirty="0"/>
          </a:p>
          <a:p>
            <a:pPr marL="342900" indent="-342900" algn="l">
              <a:lnSpc>
                <a:spcPts val="840"/>
              </a:lnSpc>
              <a:buSzPct val="100000"/>
              <a:buChar char="•"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메모리 백엔드 교체 → L5만 변경</a:t>
            </a:r>
            <a:endParaRPr lang="en-US" sz="600" dirty="0"/>
          </a:p>
          <a:p>
            <a:pPr marL="342900" indent="-342900" algn="l">
              <a:lnSpc>
                <a:spcPts val="840"/>
              </a:lnSpc>
              <a:buSzPct val="100000"/>
              <a:buChar char="•"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도구 추가 → L3만 확장</a:t>
            </a:r>
            <a:endParaRPr lang="en-US" sz="600" dirty="0"/>
          </a:p>
        </p:txBody>
      </p:sp>
      <p:sp>
        <p:nvSpPr>
          <p:cNvPr id="24" name="Text 21"/>
          <p:cNvSpPr/>
          <p:nvPr/>
        </p:nvSpPr>
        <p:spPr>
          <a:xfrm>
            <a:off x="457200" y="4956274"/>
            <a:ext cx="160290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187 modules · 3,216 tests · 46 hooks · v0.32.0</a:t>
            </a:r>
            <a:endParaRPr lang="en-US" sz="600" dirty="0"/>
          </a:p>
        </p:txBody>
      </p:sp>
      <p:sp>
        <p:nvSpPr>
          <p:cNvPr id="25" name="Text 22"/>
          <p:cNvSpPr/>
          <p:nvPr/>
        </p:nvSpPr>
        <p:spPr>
          <a:xfrm>
            <a:off x="8453735" y="4956274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35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52400"/>
            <a:ext cx="50750" cy="177701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74575"/>
            <a:ext cx="155250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· EXECUTION LOOP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AgenticLoop: while(tool_use) 50 rounds × 200-turn Window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38026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while(tool_use) 패턴을 참고하여, 제어 없이 실행하면 무한 소모이기 때문에 5가지 종료 경로로 수렴을 강제한다</a:t>
            </a:r>
            <a:endParaRPr lang="en-US" sz="800" dirty="0"/>
          </a:p>
        </p:txBody>
      </p:sp>
      <p:pic>
        <p:nvPicPr>
          <p:cNvPr id="6" name="Image 0" descr="/Users/mango/workspace/portfolio/geode/versions/v8/slides/assets/v028-diagram-agentic-lo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838051"/>
            <a:ext cx="5079950" cy="2362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648678" y="3251002"/>
            <a:ext cx="145899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AgenticLoop 실행 흐름 · 루프백 + 5 종료 경로</a:t>
            </a:r>
            <a:endParaRPr lang="en-US" sz="600" dirty="0"/>
          </a:p>
        </p:txBody>
      </p:sp>
      <p:sp>
        <p:nvSpPr>
          <p:cNvPr id="8" name="Text 5"/>
          <p:cNvSpPr/>
          <p:nvPr/>
        </p:nvSpPr>
        <p:spPr>
          <a:xfrm>
            <a:off x="6426250" y="838051"/>
            <a:ext cx="2260550" cy="574477"/>
          </a:xfrm>
          <a:prstGeom prst="roundRect">
            <a:avLst>
              <a:gd name="adj" fmla="val 8843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6557878" y="949077"/>
            <a:ext cx="49442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557878" y="1215777"/>
            <a:ext cx="49442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 Rounds</a:t>
            </a:r>
            <a:endParaRPr lang="en-US" sz="600" dirty="0"/>
          </a:p>
        </p:txBody>
      </p:sp>
      <p:sp>
        <p:nvSpPr>
          <p:cNvPr id="11" name="Text 8"/>
          <p:cNvSpPr/>
          <p:nvPr/>
        </p:nvSpPr>
        <p:spPr>
          <a:xfrm>
            <a:off x="7174409" y="949077"/>
            <a:ext cx="12650" cy="352425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7309161" y="949077"/>
            <a:ext cx="49458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7309161" y="1215777"/>
            <a:ext cx="49458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Window</a:t>
            </a:r>
            <a:endParaRPr lang="en-US" sz="600" dirty="0"/>
          </a:p>
        </p:txBody>
      </p:sp>
      <p:sp>
        <p:nvSpPr>
          <p:cNvPr id="14" name="Text 11"/>
          <p:cNvSpPr/>
          <p:nvPr/>
        </p:nvSpPr>
        <p:spPr>
          <a:xfrm>
            <a:off x="7925842" y="949077"/>
            <a:ext cx="12650" cy="352425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8060594" y="949077"/>
            <a:ext cx="49458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8060594" y="1215777"/>
            <a:ext cx="49458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Paths</a:t>
            </a:r>
            <a:endParaRPr lang="en-US" sz="600" dirty="0"/>
          </a:p>
        </p:txBody>
      </p:sp>
      <p:sp>
        <p:nvSpPr>
          <p:cNvPr id="17" name="Text 14"/>
          <p:cNvSpPr/>
          <p:nvPr/>
        </p:nvSpPr>
        <p:spPr>
          <a:xfrm>
            <a:off x="6426250" y="1475929"/>
            <a:ext cx="2260550" cy="907405"/>
          </a:xfrm>
          <a:prstGeom prst="roundRect">
            <a:avLst>
              <a:gd name="adj" fmla="val 5598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5"/>
          <p:cNvSpPr/>
          <p:nvPr/>
        </p:nvSpPr>
        <p:spPr>
          <a:xfrm>
            <a:off x="6562725" y="1586954"/>
            <a:ext cx="202735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5가지 종료 경로</a:t>
            </a:r>
            <a:endParaRPr lang="en-US" sz="700" dirty="0"/>
          </a:p>
        </p:txBody>
      </p:sp>
      <p:sp>
        <p:nvSpPr>
          <p:cNvPr id="19" name="Text 16"/>
          <p:cNvSpPr/>
          <p:nvPr/>
        </p:nvSpPr>
        <p:spPr>
          <a:xfrm>
            <a:off x="6689675" y="1742480"/>
            <a:ext cx="1860649" cy="52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spcAft>
                <a:spcPts val="200"/>
              </a:spcAft>
              <a:buSzPct val="100000"/>
              <a:buChar char="•"/>
            </a:pPr>
            <a:r>
              <a:rPr lang="en-US" sz="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end_turn</a:t>
            </a: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LLM이 tool_use 없이 응답</a:t>
            </a:r>
            <a:endParaRPr lang="en-US" sz="600" dirty="0"/>
          </a:p>
          <a:p>
            <a:pPr marL="342900" indent="-342900" algn="l">
              <a:spcAft>
                <a:spcPts val="200"/>
              </a:spcAft>
              <a:buSzPct val="100000"/>
              <a:buChar char="•"/>
            </a:pPr>
            <a:r>
              <a:rPr lang="en-US" sz="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max_rounds</a:t>
            </a: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50라운드 도달</a:t>
            </a:r>
            <a:endParaRPr lang="en-US" sz="600" dirty="0"/>
          </a:p>
          <a:p>
            <a:pPr marL="342900" indent="-342900" algn="l">
              <a:spcAft>
                <a:spcPts val="200"/>
              </a:spcAft>
              <a:buSzPct val="100000"/>
              <a:buChar char="•"/>
            </a:pPr>
            <a:r>
              <a:rPr lang="en-US" sz="6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convergence</a:t>
            </a: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동일 에러 3회 반복 감지</a:t>
            </a:r>
            <a:endParaRPr lang="en-US" sz="600" dirty="0"/>
          </a:p>
          <a:p>
            <a:pPr marL="342900" indent="-342900" algn="l">
              <a:spcAft>
                <a:spcPts val="200"/>
              </a:spcAft>
              <a:buSzPct val="100000"/>
              <a:buChar char="•"/>
            </a:pPr>
            <a:r>
              <a:rPr lang="en-US" sz="6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force_text</a:t>
            </a: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잔여 2라운드에서 텍스트 강제</a:t>
            </a:r>
            <a:endParaRPr lang="en-US" sz="600" dirty="0"/>
          </a:p>
          <a:p>
            <a:pPr marL="342900" indent="-342900" algn="l">
              <a:spcAft>
                <a:spcPts val="200"/>
              </a:spcAft>
              <a:buSzPct val="100000"/>
              <a:buChar char="•"/>
            </a:pP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budget_stop</a:t>
            </a: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세션 비용 상한 초과</a:t>
            </a:r>
            <a:endParaRPr lang="en-US" sz="600" dirty="0"/>
          </a:p>
        </p:txBody>
      </p:sp>
      <p:sp>
        <p:nvSpPr>
          <p:cNvPr id="20" name="Text 17"/>
          <p:cNvSpPr/>
          <p:nvPr/>
        </p:nvSpPr>
        <p:spPr>
          <a:xfrm>
            <a:off x="6426250" y="2446734"/>
            <a:ext cx="2260550" cy="800249"/>
          </a:xfrm>
          <a:prstGeom prst="roundRect">
            <a:avLst>
              <a:gd name="adj" fmla="val 6348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6562725" y="2557760"/>
            <a:ext cx="202735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관리</a:t>
            </a:r>
            <a:endParaRPr lang="en-US" sz="700" dirty="0"/>
          </a:p>
        </p:txBody>
      </p:sp>
      <p:sp>
        <p:nvSpPr>
          <p:cNvPr id="22" name="Text 19"/>
          <p:cNvSpPr/>
          <p:nvPr/>
        </p:nvSpPr>
        <p:spPr>
          <a:xfrm>
            <a:off x="6562725" y="2713286"/>
            <a:ext cx="2027352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30개 메시지 초과 시 최초 사용자 메시지 보존 + bridge 삽입. 80%에서 compact, 95%에서 emergency prune 자동 발동.</a:t>
            </a:r>
            <a:endParaRPr lang="en-US" sz="600" dirty="0"/>
          </a:p>
        </p:txBody>
      </p:sp>
      <p:sp>
        <p:nvSpPr>
          <p:cNvPr id="23" name="Text 20"/>
          <p:cNvSpPr/>
          <p:nvPr/>
        </p:nvSpPr>
        <p:spPr>
          <a:xfrm>
            <a:off x="6562725" y="2964507"/>
            <a:ext cx="202735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2회 연속 실패 → Provider 모델 체인 → Cross-Provider Fallback</a:t>
            </a:r>
            <a:endParaRPr lang="en-US" sz="600" dirty="0"/>
          </a:p>
        </p:txBody>
      </p:sp>
      <p:sp>
        <p:nvSpPr>
          <p:cNvPr id="24" name="Text 21"/>
          <p:cNvSpPr/>
          <p:nvPr/>
        </p:nvSpPr>
        <p:spPr>
          <a:xfrm>
            <a:off x="6426250" y="3310384"/>
            <a:ext cx="2260550" cy="1071116"/>
          </a:xfrm>
          <a:prstGeom prst="roundRect">
            <a:avLst>
              <a:gd name="adj" fmla="val 4743"/>
            </a:avLst>
          </a:prstGeom>
          <a:solidFill>
            <a:srgbClr val="1E293B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2"/>
          <p:cNvSpPr/>
          <p:nvPr/>
        </p:nvSpPr>
        <p:spPr>
          <a:xfrm>
            <a:off x="6562725" y="3421410"/>
            <a:ext cx="202735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max 50 rounds?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6562725" y="3576935"/>
            <a:ext cx="2027352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40"/>
              </a:lnSpc>
              <a:spcAft>
                <a:spcPts val="400"/>
              </a:spcAft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실측 기반: 평균 </a:t>
            </a:r>
            <a:r>
              <a:rPr lang="en-US" sz="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 라운드</a:t>
            </a: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 자연 종료(end_turn). 50은 탈출 불가 상황의 안전망이며 긴 분석 작업에서 드물게 30+ 라운드 도달.</a:t>
            </a:r>
            <a:endParaRPr lang="en-US" sz="600" dirty="0"/>
          </a:p>
        </p:txBody>
      </p:sp>
      <p:sp>
        <p:nvSpPr>
          <p:cNvPr id="27" name="Text 24"/>
          <p:cNvSpPr/>
          <p:nvPr/>
        </p:nvSpPr>
        <p:spPr>
          <a:xfrm>
            <a:off x="6562725" y="3840807"/>
            <a:ext cx="628650" cy="429667"/>
          </a:xfrm>
          <a:prstGeom prst="roundRect">
            <a:avLst>
              <a:gd name="adj" fmla="val 8867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5"/>
          <p:cNvSpPr/>
          <p:nvPr/>
        </p:nvSpPr>
        <p:spPr>
          <a:xfrm>
            <a:off x="6659969" y="3929658"/>
            <a:ext cx="434161" cy="153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10"/>
              </a:lnSpc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659969" y="4095899"/>
            <a:ext cx="43416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평균 라운드</a:t>
            </a:r>
            <a:endParaRPr lang="en-US" sz="600" dirty="0"/>
          </a:p>
        </p:txBody>
      </p:sp>
      <p:sp>
        <p:nvSpPr>
          <p:cNvPr id="30" name="Text 27"/>
          <p:cNvSpPr/>
          <p:nvPr/>
        </p:nvSpPr>
        <p:spPr>
          <a:xfrm>
            <a:off x="7242125" y="3840807"/>
            <a:ext cx="628799" cy="429667"/>
          </a:xfrm>
          <a:prstGeom prst="roundRect">
            <a:avLst>
              <a:gd name="adj" fmla="val 8867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28"/>
          <p:cNvSpPr/>
          <p:nvPr/>
        </p:nvSpPr>
        <p:spPr>
          <a:xfrm>
            <a:off x="7339368" y="3929658"/>
            <a:ext cx="434313" cy="153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10"/>
              </a:lnSpc>
              <a:buNone/>
            </a:pPr>
            <a:r>
              <a:rPr lang="en-US" sz="11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30+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7339368" y="4095899"/>
            <a:ext cx="43431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심층 분석 시</a:t>
            </a:r>
            <a:endParaRPr lang="en-US" sz="600" dirty="0"/>
          </a:p>
        </p:txBody>
      </p:sp>
      <p:sp>
        <p:nvSpPr>
          <p:cNvPr id="33" name="Text 30"/>
          <p:cNvSpPr/>
          <p:nvPr/>
        </p:nvSpPr>
        <p:spPr>
          <a:xfrm>
            <a:off x="7921675" y="3840807"/>
            <a:ext cx="628650" cy="429667"/>
          </a:xfrm>
          <a:prstGeom prst="roundRect">
            <a:avLst>
              <a:gd name="adj" fmla="val 8867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4" name="Text 31"/>
          <p:cNvSpPr/>
          <p:nvPr/>
        </p:nvSpPr>
        <p:spPr>
          <a:xfrm>
            <a:off x="8018919" y="3929658"/>
            <a:ext cx="434161" cy="153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10"/>
              </a:lnSpc>
              <a:buNone/>
            </a:pPr>
            <a:r>
              <a:rPr lang="en-US" sz="11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8018919" y="4095899"/>
            <a:ext cx="43416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안전망 상한</a:t>
            </a:r>
            <a:endParaRPr lang="en-US" sz="600" dirty="0"/>
          </a:p>
        </p:txBody>
      </p:sp>
      <p:sp>
        <p:nvSpPr>
          <p:cNvPr id="36" name="Text 33"/>
          <p:cNvSpPr/>
          <p:nvPr/>
        </p:nvSpPr>
        <p:spPr>
          <a:xfrm>
            <a:off x="457200" y="4956274"/>
            <a:ext cx="256747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while(tool_use) 패턴 참고 · core/orchestration/agentic_loop.py</a:t>
            </a:r>
            <a:endParaRPr lang="en-US" sz="600" dirty="0"/>
          </a:p>
        </p:txBody>
      </p:sp>
      <p:sp>
        <p:nvSpPr>
          <p:cNvPr id="37" name="Text 34"/>
          <p:cNvSpPr/>
          <p:nvPr/>
        </p:nvSpPr>
        <p:spPr>
          <a:xfrm>
            <a:off x="8453735" y="4956274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35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52400"/>
            <a:ext cx="50750" cy="177701"/>
          </a:xfrm>
          <a:prstGeom prst="roundRect">
            <a:avLst>
              <a:gd name="adj" fmla="val 50049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74575"/>
            <a:ext cx="192154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· LONG-RUNNING SAFETY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장기 자율 실행의 3대 위험과 자동 브레이크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자율성과 안전의 균형: 사람 없이 하네스를 보호하는 3가지 메커니즘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47576"/>
            <a:ext cx="2675483" cy="3661321"/>
          </a:xfrm>
          <a:prstGeom prst="roundRect">
            <a:avLst>
              <a:gd name="adj" fmla="val 2848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3675" y="984052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79698" y="1041202"/>
            <a:ext cx="5768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98475" y="1036439"/>
            <a:ext cx="38725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비용 폭발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93675" y="1276052"/>
            <a:ext cx="2402532" cy="705892"/>
          </a:xfrm>
          <a:prstGeom prst="roundRect">
            <a:avLst>
              <a:gd name="adj" fmla="val 7197"/>
            </a:avLst>
          </a:prstGeom>
          <a:solidFill>
            <a:srgbClr val="1A0A0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707975" y="1377553"/>
            <a:ext cx="221741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위험: 실제 비용 계산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707975" y="1507629"/>
            <a:ext cx="2217411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while(tool_use) 특성상 비용 폭발은 구조적으로 불가피. </a:t>
            </a: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50라운드 × $0.15/turn = 세션당 $7.50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budget 초과 시 자동 정지가 없으면 하룻밤 무인 실행에 </a:t>
            </a: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$500+ 소모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가능.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93675" y="2045345"/>
            <a:ext cx="2402532" cy="724942"/>
          </a:xfrm>
          <a:prstGeom prst="roundRect">
            <a:avLst>
              <a:gd name="adj" fmla="val 7007"/>
            </a:avLst>
          </a:prstGeom>
          <a:solidFill>
            <a:srgbClr val="0D2A0D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17500" y="2156371"/>
            <a:ext cx="219798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자동 브레이크: 인과 흐름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717500" y="2286446"/>
            <a:ext cx="2197980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TokenTracker가 매 턴 비용 누적 → budget 상한 도달 시 budget_stop 신호 → PIPELINE_END 강제 발화. 사람 없이 비용 상한을 보장한다.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593675" y="4004221"/>
            <a:ext cx="2402532" cy="368201"/>
          </a:xfrm>
          <a:prstGeom prst="roundRect">
            <a:avLst>
              <a:gd name="adj" fmla="val 13797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04701" y="4102596"/>
            <a:ext cx="222409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Karpathy P3 원칙 적용</a:t>
            </a:r>
            <a:endParaRPr lang="en-US" sz="600" dirty="0"/>
          </a:p>
        </p:txBody>
      </p:sp>
      <p:sp>
        <p:nvSpPr>
          <p:cNvPr id="18" name="Text 16"/>
          <p:cNvSpPr/>
          <p:nvPr/>
        </p:nvSpPr>
        <p:spPr>
          <a:xfrm>
            <a:off x="704701" y="4188321"/>
            <a:ext cx="222409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budget_stop → PIPELINE_END</a:t>
            </a:r>
            <a:endParaRPr lang="en-US" sz="600" dirty="0"/>
          </a:p>
        </p:txBody>
      </p:sp>
      <p:sp>
        <p:nvSpPr>
          <p:cNvPr id="19" name="Text 17"/>
          <p:cNvSpPr/>
          <p:nvPr/>
        </p:nvSpPr>
        <p:spPr>
          <a:xfrm>
            <a:off x="3234184" y="847576"/>
            <a:ext cx="2675632" cy="3661321"/>
          </a:xfrm>
          <a:prstGeom prst="roundRect">
            <a:avLst>
              <a:gd name="adj" fmla="val 2848"/>
            </a:avLst>
          </a:prstGeom>
          <a:solidFill>
            <a:srgbClr val="161B22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3370659" y="984052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3456682" y="1041202"/>
            <a:ext cx="5768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3675459" y="1036439"/>
            <a:ext cx="38725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무한 루프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370659" y="1276052"/>
            <a:ext cx="2402681" cy="581620"/>
          </a:xfrm>
          <a:prstGeom prst="roundRect">
            <a:avLst>
              <a:gd name="adj" fmla="val 8734"/>
            </a:avLst>
          </a:prstGeom>
          <a:solidFill>
            <a:srgbClr val="1A0D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3484959" y="1377553"/>
            <a:ext cx="221756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위험: 수렴 고착의 비용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3484959" y="1507629"/>
            <a:ext cx="2217563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LLM이 동일한 에러를 반복하면 50 rounds 전체를 낭비한다. 동일 요청에 $7.50를 태우고 실패를 반환하는 구조적 낭비다.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3370659" y="1921073"/>
            <a:ext cx="2402681" cy="724942"/>
          </a:xfrm>
          <a:prstGeom prst="roundRect">
            <a:avLst>
              <a:gd name="adj" fmla="val 7007"/>
            </a:avLst>
          </a:prstGeom>
          <a:solidFill>
            <a:srgbClr val="0D2A0D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3494484" y="2032099"/>
            <a:ext cx="219813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자동 브레이크: 인과 흐름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3494484" y="2162175"/>
            <a:ext cx="2198132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동일 에러 </a:t>
            </a: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3회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감지 → 수렴 판정 → Haiku→Sonnet→Opus 상위 모델 에스컬레이션 → 모델 체인 소진 시 Cross-Provider 자동 이동.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3370659" y="4004221"/>
            <a:ext cx="2402681" cy="368201"/>
          </a:xfrm>
          <a:prstGeom prst="roundRect">
            <a:avLst>
              <a:gd name="adj" fmla="val 13797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3481685" y="4102596"/>
            <a:ext cx="22242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Karpathy P4 원칙 적용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3481685" y="4188321"/>
            <a:ext cx="22242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convergence → model escalation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6011317" y="847576"/>
            <a:ext cx="2675483" cy="3661321"/>
          </a:xfrm>
          <a:prstGeom prst="roundRect">
            <a:avLst>
              <a:gd name="adj" fmla="val 2848"/>
            </a:avLst>
          </a:prstGeom>
          <a:solidFill>
            <a:srgbClr val="161B22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6147792" y="984052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233815" y="1041202"/>
            <a:ext cx="5768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452592" y="1036439"/>
            <a:ext cx="38725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탐색 고착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147792" y="1276052"/>
            <a:ext cx="2402532" cy="581620"/>
          </a:xfrm>
          <a:prstGeom prst="roundRect">
            <a:avLst>
              <a:gd name="adj" fmla="val 8734"/>
            </a:avLst>
          </a:prstGeom>
          <a:solidFill>
            <a:srgbClr val="1A15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6262092" y="1377553"/>
            <a:ext cx="221741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위험: 탐색 편향의 결과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6262092" y="1507629"/>
            <a:ext cx="2217411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동일 도구만 반복 호출하면 탐색 공간이 좁아지고, 다른 접근법으로 해결 가능한 문제를 50 rounds 내내 놓친다.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6147792" y="1921073"/>
            <a:ext cx="2402532" cy="724942"/>
          </a:xfrm>
          <a:prstGeom prst="roundRect">
            <a:avLst>
              <a:gd name="adj" fmla="val 7007"/>
            </a:avLst>
          </a:prstGeom>
          <a:solidFill>
            <a:srgbClr val="0D2A0D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6271617" y="2032099"/>
            <a:ext cx="219798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자동 브레이크: 인과 흐름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6271617" y="2162175"/>
            <a:ext cx="2197980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도구 반복 </a:t>
            </a: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5회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감지 → Hook이 hint 메시지 자동 주입 → LLM이 다른 도구 경로를 탐색. 다양성을 구조적으로 강제한다.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6147792" y="4004221"/>
            <a:ext cx="2402532" cy="368201"/>
          </a:xfrm>
          <a:prstGeom prst="roundRect">
            <a:avLst>
              <a:gd name="adj" fmla="val 13797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258818" y="4102596"/>
            <a:ext cx="222409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다양성 강제 (Diversity Forcing)</a:t>
            </a:r>
            <a:endParaRPr lang="en-US" sz="600" dirty="0"/>
          </a:p>
        </p:txBody>
      </p:sp>
      <p:sp>
        <p:nvSpPr>
          <p:cNvPr id="44" name="Text 42"/>
          <p:cNvSpPr/>
          <p:nvPr/>
        </p:nvSpPr>
        <p:spPr>
          <a:xfrm>
            <a:off x="6258818" y="4188321"/>
            <a:ext cx="222409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tool_repeat_5x → hint_inject</a:t>
            </a:r>
            <a:endParaRPr lang="en-US" sz="600" dirty="0"/>
          </a:p>
        </p:txBody>
      </p:sp>
      <p:sp>
        <p:nvSpPr>
          <p:cNvPr id="45" name="Text 43"/>
          <p:cNvSpPr/>
          <p:nvPr/>
        </p:nvSpPr>
        <p:spPr>
          <a:xfrm>
            <a:off x="457200" y="4610398"/>
            <a:ext cx="8229600" cy="282476"/>
          </a:xfrm>
          <a:prstGeom prst="roundRect">
            <a:avLst>
              <a:gd name="adj" fmla="val 17984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6" name="Shape 44"/>
          <p:cNvSpPr/>
          <p:nvPr/>
        </p:nvSpPr>
        <p:spPr>
          <a:xfrm>
            <a:off x="476250" y="4610398"/>
            <a:ext cx="0" cy="282476"/>
          </a:xfrm>
          <a:prstGeom prst="line">
            <a:avLst/>
          </a:prstGeom>
          <a:noFill/>
          <a:ln w="38100">
            <a:solidFill>
              <a:srgbClr val="8B949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/>
          <p:nvPr/>
        </p:nvSpPr>
        <p:spPr>
          <a:xfrm>
            <a:off x="622250" y="4699248"/>
            <a:ext cx="809635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자율성 vs 안전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브레이크가 강할수록 자율 실행 범위가 줄어든다. 3가지 임계값(budget 한도, 수렴 횟수 3회, 반복 횟수 5회)은 사용자가 조정 가능하며, 기본값은 실험적으로 도출한다.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457200" y="4956274"/>
            <a:ext cx="238758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자동 브레이크 → 사람 없이 장기 실행 가능 · core/orchestration/safety.py</a:t>
            </a:r>
            <a:endParaRPr lang="en-US" sz="600" dirty="0"/>
          </a:p>
        </p:txBody>
      </p:sp>
      <p:sp>
        <p:nvSpPr>
          <p:cNvPr id="49" name="Text 47"/>
          <p:cNvSpPr/>
          <p:nvPr/>
        </p:nvSpPr>
        <p:spPr>
          <a:xfrm>
            <a:off x="8453735" y="4956274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35</a:t>
            </a:r>
            <a:endParaRPr lang="en-US" sz="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52400"/>
            <a:ext cx="50750" cy="177701"/>
          </a:xfrm>
          <a:prstGeom prst="roundRect">
            <a:avLst>
              <a:gd name="adj" fmla="val 50049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74575"/>
            <a:ext cx="217627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· LONG-RUNNING INNOVATION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장시간 운용을 위한 2가지 혁신: Plan-first + Provider-aware Compaction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잘못된 방향으로 50 rounds 소모를 막기 위해 Plan-first를 도입하고, 컨텍스트 포화가 프로바이더마다 다르기 때문에 Provider-aware Compaction을 분리한다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47576"/>
            <a:ext cx="50750" cy="177701"/>
          </a:xfrm>
          <a:prstGeom prst="roundRect">
            <a:avLst>
              <a:gd name="adj" fmla="val 50049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84150" y="864989"/>
            <a:ext cx="90794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혁신 1 · Plan-first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101477"/>
            <a:ext cx="3981450" cy="3458170"/>
          </a:xfrm>
          <a:prstGeom prst="roundRect">
            <a:avLst>
              <a:gd name="adj" fmla="val 2203"/>
            </a:avLst>
          </a:prstGeom>
          <a:solidFill>
            <a:srgbClr val="161B22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93675" y="1237952"/>
            <a:ext cx="3708499" cy="326827"/>
          </a:xfrm>
          <a:prstGeom prst="roundRect">
            <a:avLst>
              <a:gd name="adj" fmla="val 15543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17500" y="1358503"/>
            <a:ext cx="23317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</a:t>
            </a:r>
            <a:endParaRPr lang="en-US" sz="600" dirty="0"/>
          </a:p>
        </p:txBody>
      </p:sp>
      <p:sp>
        <p:nvSpPr>
          <p:cNvPr id="11" name="Text 9"/>
          <p:cNvSpPr/>
          <p:nvPr/>
        </p:nvSpPr>
        <p:spPr>
          <a:xfrm>
            <a:off x="1022300" y="1348978"/>
            <a:ext cx="59932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요청 수신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593675" y="1628180"/>
            <a:ext cx="3708499" cy="326827"/>
          </a:xfrm>
          <a:prstGeom prst="roundRect">
            <a:avLst>
              <a:gd name="adj" fmla="val 15543"/>
            </a:avLst>
          </a:prstGeom>
          <a:solidFill>
            <a:srgbClr val="1A0D00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17500" y="1739205"/>
            <a:ext cx="41731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복잡도 판별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3845719" y="1748730"/>
            <a:ext cx="33928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3+ steps?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593675" y="2018407"/>
            <a:ext cx="1822549" cy="418802"/>
          </a:xfrm>
          <a:prstGeom prst="roundRect">
            <a:avLst>
              <a:gd name="adj" fmla="val 12130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01751" y="2129433"/>
            <a:ext cx="160639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단순 요청</a:t>
            </a:r>
            <a:endParaRPr lang="en-US" sz="600" dirty="0"/>
          </a:p>
        </p:txBody>
      </p:sp>
      <p:sp>
        <p:nvSpPr>
          <p:cNvPr id="17" name="Text 15"/>
          <p:cNvSpPr/>
          <p:nvPr/>
        </p:nvSpPr>
        <p:spPr>
          <a:xfrm>
            <a:off x="701751" y="2240459"/>
            <a:ext cx="160639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buNone/>
            </a:pPr>
            <a:r>
              <a:rPr lang="en-US" sz="6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직접 실행</a:t>
            </a:r>
            <a:endParaRPr lang="en-US" sz="600" dirty="0"/>
          </a:p>
        </p:txBody>
      </p:sp>
      <p:sp>
        <p:nvSpPr>
          <p:cNvPr id="18" name="Text 16"/>
          <p:cNvSpPr/>
          <p:nvPr/>
        </p:nvSpPr>
        <p:spPr>
          <a:xfrm>
            <a:off x="2479625" y="2018407"/>
            <a:ext cx="1822549" cy="418802"/>
          </a:xfrm>
          <a:prstGeom prst="roundRect">
            <a:avLst>
              <a:gd name="adj" fmla="val 12130"/>
            </a:avLst>
          </a:prstGeom>
          <a:solidFill>
            <a:srgbClr val="1A0D00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2587701" y="2129433"/>
            <a:ext cx="160639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복잡 요청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2587701" y="2240459"/>
            <a:ext cx="160639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create_plan 자발 호출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593675" y="2500610"/>
            <a:ext cx="3708499" cy="437852"/>
          </a:xfrm>
          <a:prstGeom prst="roundRect">
            <a:avLst>
              <a:gd name="adj" fmla="val 11602"/>
            </a:avLst>
          </a:prstGeom>
          <a:solidFill>
            <a:srgbClr val="0D2A0D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17500" y="2611636"/>
            <a:ext cx="353006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HITL UI · plan_id 노출</a:t>
            </a:r>
            <a:endParaRPr lang="en-US" sz="600" dirty="0"/>
          </a:p>
        </p:txBody>
      </p:sp>
      <p:sp>
        <p:nvSpPr>
          <p:cNvPr id="23" name="Text 21"/>
          <p:cNvSpPr/>
          <p:nvPr/>
        </p:nvSpPr>
        <p:spPr>
          <a:xfrm>
            <a:off x="717500" y="2722662"/>
            <a:ext cx="353006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승인 / 수정 / 거부 선택 → 확인 후 실행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593675" y="3014663"/>
            <a:ext cx="3708499" cy="374452"/>
          </a:xfrm>
          <a:prstGeom prst="roundRect">
            <a:avLst>
              <a:gd name="adj" fmla="val 13566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707975" y="3103513"/>
            <a:ext cx="354949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잘못된 방향으로 50 rounds를 소모하기 전에 사람이 개입. plan_id로 수정·재승인 가능.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707975" y="3214539"/>
            <a:ext cx="354949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F973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LLM.create_plan() → plan_id → user_approval_gate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4565600" y="847576"/>
            <a:ext cx="12650" cy="3712071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705201" y="847576"/>
            <a:ext cx="50750" cy="177701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4832152" y="864989"/>
            <a:ext cx="19509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혁신 2 · Provider-aware Compaction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705201" y="1101477"/>
            <a:ext cx="3981599" cy="3458170"/>
          </a:xfrm>
          <a:prstGeom prst="roundRect">
            <a:avLst>
              <a:gd name="adj" fmla="val 2203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4841677" y="1237952"/>
            <a:ext cx="3708648" cy="336352"/>
          </a:xfrm>
          <a:prstGeom prst="roundRect">
            <a:avLst>
              <a:gd name="adj" fmla="val 15103"/>
            </a:avLst>
          </a:prstGeom>
          <a:solidFill>
            <a:srgbClr val="1A1500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4965502" y="1348978"/>
            <a:ext cx="20736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245001" y="1353741"/>
            <a:ext cx="147113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윈도우 포화 → 프로바이더 분기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4841677" y="1637705"/>
            <a:ext cx="1822549" cy="2261890"/>
          </a:xfrm>
          <a:prstGeom prst="roundRect">
            <a:avLst>
              <a:gd name="adj" fmla="val 2787"/>
            </a:avLst>
          </a:prstGeom>
          <a:solidFill>
            <a:srgbClr val="0D1117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4952702" y="1748730"/>
            <a:ext cx="163250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4952702" y="1894731"/>
            <a:ext cx="1632508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서버사이드 compaction</a:t>
            </a:r>
            <a:endParaRPr lang="en-US" sz="600" dirty="0"/>
          </a:p>
        </p:txBody>
      </p:sp>
      <p:sp>
        <p:nvSpPr>
          <p:cNvPr id="37" name="Text 35"/>
          <p:cNvSpPr/>
          <p:nvPr/>
        </p:nvSpPr>
        <p:spPr>
          <a:xfrm>
            <a:off x="4952702" y="2052042"/>
            <a:ext cx="1632508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780"/>
              </a:lnSpc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compact_20260112 + clear_tool_uses. API가 직접 컨텍스트를 압축.</a:t>
            </a:r>
            <a:endParaRPr lang="en-US" sz="600" dirty="0"/>
          </a:p>
        </p:txBody>
      </p:sp>
      <p:sp>
        <p:nvSpPr>
          <p:cNvPr id="38" name="Text 36"/>
          <p:cNvSpPr/>
          <p:nvPr/>
        </p:nvSpPr>
        <p:spPr>
          <a:xfrm>
            <a:off x="4952702" y="3525143"/>
            <a:ext cx="1600498" cy="263426"/>
          </a:xfrm>
          <a:prstGeom prst="roundRect">
            <a:avLst>
              <a:gd name="adj" fmla="val 14463"/>
            </a:avLst>
          </a:prstGeom>
          <a:solidFill>
            <a:srgbClr val="0D2A0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5054203" y="3613993"/>
            <a:ext cx="142544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품질 최상 / API 종속적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6727627" y="1637705"/>
            <a:ext cx="1822698" cy="2261890"/>
          </a:xfrm>
          <a:prstGeom prst="roundRect">
            <a:avLst>
              <a:gd name="adj" fmla="val 2787"/>
            </a:avLst>
          </a:prstGeom>
          <a:solidFill>
            <a:srgbClr val="0D1117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838652" y="1748730"/>
            <a:ext cx="163265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/ GLM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6838652" y="1894731"/>
            <a:ext cx="1632659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클라이언트사이드 compaction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6838652" y="2052042"/>
            <a:ext cx="1632659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780"/>
              </a:lnSpc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요약 기반 압축. 80% 도달 시 직접 요약 삽입.</a:t>
            </a:r>
            <a:endParaRPr lang="en-US" sz="600" dirty="0"/>
          </a:p>
        </p:txBody>
      </p:sp>
      <p:sp>
        <p:nvSpPr>
          <p:cNvPr id="44" name="Text 42"/>
          <p:cNvSpPr/>
          <p:nvPr/>
        </p:nvSpPr>
        <p:spPr>
          <a:xfrm>
            <a:off x="6838652" y="3525143"/>
            <a:ext cx="1600646" cy="263426"/>
          </a:xfrm>
          <a:prstGeom prst="roundRect">
            <a:avLst>
              <a:gd name="adj" fmla="val 14463"/>
            </a:avLst>
          </a:prstGeom>
          <a:solidFill>
            <a:srgbClr val="1A15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6940153" y="3613993"/>
            <a:ext cx="142559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범용적 / lossy 손실 있음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4841677" y="3962995"/>
            <a:ext cx="3708648" cy="460177"/>
          </a:xfrm>
          <a:prstGeom prst="roundRect">
            <a:avLst>
              <a:gd name="adj" fmla="val 11039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4955977" y="4051846"/>
            <a:ext cx="354964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Anthropic과 OpenAI의 캐시 규칙이 달라서 단일 압축 전략을 쓰면 캐시 히트율이 붕괴한다. context_action.py hook이 프로바이더를 감지해 전략을 자동 분기한다.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4955977" y="4248596"/>
            <a:ext cx="354964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context_action.py → provider_strategy()</a:t>
            </a:r>
            <a:endParaRPr lang="en-US" sz="600" dirty="0"/>
          </a:p>
        </p:txBody>
      </p:sp>
      <p:sp>
        <p:nvSpPr>
          <p:cNvPr id="49" name="Text 47"/>
          <p:cNvSpPr/>
          <p:nvPr/>
        </p:nvSpPr>
        <p:spPr>
          <a:xfrm>
            <a:off x="457200" y="4610398"/>
            <a:ext cx="8229600" cy="282476"/>
          </a:xfrm>
          <a:prstGeom prst="roundRect">
            <a:avLst>
              <a:gd name="adj" fmla="val 17984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0" name="Shape 48"/>
          <p:cNvSpPr/>
          <p:nvPr/>
        </p:nvSpPr>
        <p:spPr>
          <a:xfrm>
            <a:off x="476250" y="4610398"/>
            <a:ext cx="0" cy="282476"/>
          </a:xfrm>
          <a:prstGeom prst="line">
            <a:avLst/>
          </a:prstGeom>
          <a:noFill/>
          <a:ln w="38100">
            <a:solidFill>
              <a:srgbClr val="8B949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9"/>
          <p:cNvSpPr/>
          <p:nvPr/>
        </p:nvSpPr>
        <p:spPr>
          <a:xfrm>
            <a:off x="622250" y="4699248"/>
            <a:ext cx="809635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서버사이드 compaction은 API 종속적이지만 품질 최상. 클라이언트는 범용적이지만 lossy. Plan-first는 자율성을 일부 제한하지만 잘못된 방향의 50 rounds 낭비를 사전 차단한다.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457200" y="4956274"/>
            <a:ext cx="235904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core/context/context_action.py · core/orchestration/plan_manager.py</a:t>
            </a:r>
            <a:endParaRPr lang="en-US" sz="600" dirty="0"/>
          </a:p>
        </p:txBody>
      </p:sp>
      <p:sp>
        <p:nvSpPr>
          <p:cNvPr id="53" name="Text 51"/>
          <p:cNvSpPr/>
          <p:nvPr/>
        </p:nvSpPr>
        <p:spPr>
          <a:xfrm>
            <a:off x="8453735" y="4956274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35</a:t>
            </a:r>
            <a:endParaRPr lang="en-US" sz="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52400"/>
            <a:ext cx="50750" cy="177701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74575"/>
            <a:ext cx="193809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· SCHEDULER + GATEWAY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Scheduler + Gateway: 시간 기반 자율 실행과 채널 라우팅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Cron이 메인 컨텍스트를 오염시키는 문제 때문에 격리를 기본값으로 설계하고, 채널마다 어댑터를 새로 짜는 비용을 0으로 만들기 위해 Gateway를 단일 진입점으로 집중한다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47576"/>
            <a:ext cx="50750" cy="15240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84150" y="866626"/>
            <a:ext cx="139584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Scheduler + TriggerManager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1076176"/>
            <a:ext cx="3981450" cy="727174"/>
          </a:xfrm>
          <a:prstGeom prst="roundRect">
            <a:avLst>
              <a:gd name="adj" fmla="val 6986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81025" y="1187202"/>
            <a:ext cx="179418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스케줄 유형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707975" y="1342727"/>
            <a:ext cx="1632049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특정 시각 1회 실행</a:t>
            </a:r>
            <a:endParaRPr lang="en-US" sz="700" dirty="0"/>
          </a:p>
          <a:p>
            <a:pPr marL="342900" indent="-342900" algn="l">
              <a:buSzPct val="100000"/>
              <a:buChar char="•"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간격 반복 실행</a:t>
            </a:r>
            <a:endParaRPr lang="en-US" sz="700" dirty="0"/>
          </a:p>
          <a:p>
            <a:pPr marL="342900" indent="-342900" algn="l">
              <a:buSzPct val="100000"/>
              <a:buChar char="•"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cron 표현식 실행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2441525" y="1187202"/>
            <a:ext cx="12650" cy="505123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2555677" y="1187202"/>
            <a:ext cx="179433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흐름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2555677" y="1342727"/>
            <a:ext cx="1794331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action_queue 등록 → 트리거 시각 도달 → AgenticLoop 위임. 큐 관리로 동시 실행 충돌을 방지한다.</a:t>
            </a:r>
            <a:endParaRPr lang="en-US" sz="600" dirty="0"/>
          </a:p>
        </p:txBody>
      </p:sp>
      <p:sp>
        <p:nvSpPr>
          <p:cNvPr id="14" name="Text 12"/>
          <p:cNvSpPr/>
          <p:nvPr/>
        </p:nvSpPr>
        <p:spPr>
          <a:xfrm>
            <a:off x="2555677" y="1606600"/>
            <a:ext cx="179433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400"/>
              </a:spcBef>
              <a:buNone/>
            </a:pPr>
            <a:r>
              <a:rPr lang="en-US" sz="600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action_queue → AgenticLoop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457200" y="1879550"/>
            <a:ext cx="3981450" cy="1005929"/>
          </a:xfrm>
          <a:prstGeom prst="roundRect">
            <a:avLst>
              <a:gd name="adj" fmla="val 5050"/>
            </a:avLst>
          </a:prstGeom>
          <a:solidFill>
            <a:srgbClr val="0A1A1A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581025" y="1990576"/>
            <a:ext cx="380847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TriggerManager: DRIFT_DETECTED 피드백 루프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581025" y="2207865"/>
            <a:ext cx="899517" cy="282476"/>
          </a:xfrm>
          <a:prstGeom prst="roundRect">
            <a:avLst>
              <a:gd name="adj" fmla="val 17984"/>
            </a:avLst>
          </a:prstGeom>
          <a:solidFill>
            <a:srgbClr val="0D1117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85276" y="2306241"/>
            <a:ext cx="69101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DRIFT_DETECTED</a:t>
            </a:r>
            <a:endParaRPr lang="en-US" sz="600" dirty="0"/>
          </a:p>
        </p:txBody>
      </p:sp>
      <p:sp>
        <p:nvSpPr>
          <p:cNvPr id="19" name="Text 17"/>
          <p:cNvSpPr/>
          <p:nvPr/>
        </p:nvSpPr>
        <p:spPr>
          <a:xfrm>
            <a:off x="1531293" y="2282428"/>
            <a:ext cx="1165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696343" y="2158752"/>
            <a:ext cx="1632049" cy="380851"/>
          </a:xfrm>
          <a:prstGeom prst="roundRect">
            <a:avLst>
              <a:gd name="adj" fmla="val 13339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793269" y="2257127"/>
            <a:ext cx="143819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TriggerManager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1793269" y="2355503"/>
            <a:ext cx="143819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F1–F4 평가 함수</a:t>
            </a:r>
            <a:endParaRPr lang="en-US" sz="600" dirty="0"/>
          </a:p>
        </p:txBody>
      </p:sp>
      <p:sp>
        <p:nvSpPr>
          <p:cNvPr id="23" name="Text 21"/>
          <p:cNvSpPr/>
          <p:nvPr/>
        </p:nvSpPr>
        <p:spPr>
          <a:xfrm>
            <a:off x="3379143" y="2282428"/>
            <a:ext cx="1165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544193" y="2207865"/>
            <a:ext cx="770632" cy="282476"/>
          </a:xfrm>
          <a:prstGeom prst="roundRect">
            <a:avLst>
              <a:gd name="adj" fmla="val 17984"/>
            </a:avLst>
          </a:prstGeom>
          <a:solidFill>
            <a:srgbClr val="0D1117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649733" y="2306241"/>
            <a:ext cx="5595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파이프라인 재분석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581025" y="2603004"/>
            <a:ext cx="38084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5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사전 정의 자동화: weekly_discovery_scan · calibration_drift_scan · outcome_tracker · auto_generate_report · pending_analysis_worker + 5개 더. 드리프트 감지 즉시 자율 트리거.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457200" y="2961680"/>
            <a:ext cx="3981450" cy="1091654"/>
          </a:xfrm>
          <a:prstGeom prst="roundRect">
            <a:avLst>
              <a:gd name="adj" fmla="val 4653"/>
            </a:avLst>
          </a:prstGeom>
          <a:solidFill>
            <a:srgbClr val="0A1A1A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581025" y="3099643"/>
            <a:ext cx="50750" cy="50750"/>
          </a:xfrm>
          <a:prstGeom prst="roundRect">
            <a:avLst>
              <a:gd name="adj" fmla="val 1801773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707975" y="3072705"/>
            <a:ext cx="124798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 세션 격리 (isolated=True)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581025" y="3332857"/>
            <a:ext cx="1092101" cy="282476"/>
          </a:xfrm>
          <a:prstGeom prst="roundRect">
            <a:avLst>
              <a:gd name="adj" fmla="val 17984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83350" y="3431232"/>
            <a:ext cx="88745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 트리거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1723876" y="3402657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901726" y="3240881"/>
            <a:ext cx="1092250" cy="466576"/>
          </a:xfrm>
          <a:prstGeom prst="roundRect">
            <a:avLst>
              <a:gd name="adj" fmla="val 10888"/>
            </a:avLst>
          </a:prstGeom>
          <a:solidFill>
            <a:srgbClr val="0D1117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2004050" y="3339257"/>
            <a:ext cx="88760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fresh ConversationContext</a:t>
            </a:r>
            <a:endParaRPr lang="en-US" sz="600" dirty="0"/>
          </a:p>
        </p:txBody>
      </p:sp>
      <p:sp>
        <p:nvSpPr>
          <p:cNvPr id="35" name="Text 33"/>
          <p:cNvSpPr/>
          <p:nvPr/>
        </p:nvSpPr>
        <p:spPr>
          <a:xfrm>
            <a:off x="2004050" y="3523357"/>
            <a:ext cx="8876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isolated=True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3044726" y="3402657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222575" y="3283744"/>
            <a:ext cx="1092250" cy="380851"/>
          </a:xfrm>
          <a:prstGeom prst="roundRect">
            <a:avLst>
              <a:gd name="adj" fmla="val 13339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3324899" y="3382119"/>
            <a:ext cx="8876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AgenticLoop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3324899" y="3480495"/>
            <a:ext cx="8876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독립 실행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581025" y="3770858"/>
            <a:ext cx="38084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5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 태스크가 메인 대화의 컨텍스트를 덮어쓰는 버그가 있었기 때문에 isolated=True를 기본값으로 바꿨다. 결과 주입이 필요하면 systemEvent로 메인에 선택적으로 전달한다.</a:t>
            </a:r>
            <a:endParaRPr lang="en-US" sz="600" dirty="0"/>
          </a:p>
        </p:txBody>
      </p:sp>
      <p:sp>
        <p:nvSpPr>
          <p:cNvPr id="41" name="Text 39"/>
          <p:cNvSpPr/>
          <p:nvPr/>
        </p:nvSpPr>
        <p:spPr>
          <a:xfrm>
            <a:off x="4565600" y="847576"/>
            <a:ext cx="12650" cy="3607296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4705201" y="847576"/>
            <a:ext cx="50750" cy="15240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4832152" y="861864"/>
            <a:ext cx="117405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Gateway: 채널 무관 라우팅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4705201" y="1076176"/>
            <a:ext cx="3981599" cy="3378696"/>
          </a:xfrm>
          <a:prstGeom prst="roundRect">
            <a:avLst>
              <a:gd name="adj" fmla="val 150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4829026" y="1187202"/>
            <a:ext cx="885825" cy="390376"/>
          </a:xfrm>
          <a:prstGeom prst="roundRect">
            <a:avLst>
              <a:gd name="adj" fmla="val 13013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4920511" y="1285577"/>
            <a:ext cx="70285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Discord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4920511" y="1393478"/>
            <a:ext cx="70285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메시지 이벤트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5778252" y="1187202"/>
            <a:ext cx="885974" cy="390376"/>
          </a:xfrm>
          <a:prstGeom prst="roundRect">
            <a:avLst>
              <a:gd name="adj" fmla="val 13013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5869735" y="1285577"/>
            <a:ext cx="70300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Slack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5869735" y="1393478"/>
            <a:ext cx="70300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채널 알림</a:t>
            </a:r>
            <a:endParaRPr lang="en-US" sz="600" dirty="0"/>
          </a:p>
        </p:txBody>
      </p:sp>
      <p:sp>
        <p:nvSpPr>
          <p:cNvPr id="51" name="Text 49"/>
          <p:cNvSpPr/>
          <p:nvPr/>
        </p:nvSpPr>
        <p:spPr>
          <a:xfrm>
            <a:off x="6727627" y="1187202"/>
            <a:ext cx="885974" cy="390376"/>
          </a:xfrm>
          <a:prstGeom prst="roundRect">
            <a:avLst>
              <a:gd name="adj" fmla="val 13013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6819110" y="1285577"/>
            <a:ext cx="70300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6819110" y="1393478"/>
            <a:ext cx="70300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직접 입력</a:t>
            </a:r>
            <a:endParaRPr lang="en-US" sz="600" dirty="0"/>
          </a:p>
        </p:txBody>
      </p:sp>
      <p:sp>
        <p:nvSpPr>
          <p:cNvPr id="54" name="Text 52"/>
          <p:cNvSpPr/>
          <p:nvPr/>
        </p:nvSpPr>
        <p:spPr>
          <a:xfrm>
            <a:off x="7677001" y="1187202"/>
            <a:ext cx="885974" cy="390376"/>
          </a:xfrm>
          <a:prstGeom prst="roundRect">
            <a:avLst>
              <a:gd name="adj" fmla="val 13013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7768484" y="1285577"/>
            <a:ext cx="70300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7768484" y="1393478"/>
            <a:ext cx="70300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외부 API</a:t>
            </a:r>
            <a:endParaRPr lang="en-US" sz="600" dirty="0"/>
          </a:p>
        </p:txBody>
      </p:sp>
      <p:sp>
        <p:nvSpPr>
          <p:cNvPr id="57" name="Text 55"/>
          <p:cNvSpPr/>
          <p:nvPr/>
        </p:nvSpPr>
        <p:spPr>
          <a:xfrm>
            <a:off x="4791687" y="1628329"/>
            <a:ext cx="380862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4829026" y="1821954"/>
            <a:ext cx="3733949" cy="428327"/>
          </a:xfrm>
          <a:prstGeom prst="roundRect">
            <a:avLst>
              <a:gd name="adj" fmla="val 11860"/>
            </a:avLst>
          </a:prstGeom>
          <a:solidFill>
            <a:srgbClr val="1A1A2E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4917988" y="1932980"/>
            <a:ext cx="355602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ChannelBinding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4917988" y="2053530"/>
            <a:ext cx="355602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채널별 어댑터 → 표준 메시지 변환</a:t>
            </a:r>
            <a:endParaRPr lang="en-US" sz="600" dirty="0"/>
          </a:p>
        </p:txBody>
      </p:sp>
      <p:sp>
        <p:nvSpPr>
          <p:cNvPr id="61" name="Text 59"/>
          <p:cNvSpPr/>
          <p:nvPr/>
        </p:nvSpPr>
        <p:spPr>
          <a:xfrm>
            <a:off x="4791687" y="2301032"/>
            <a:ext cx="380862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4829026" y="2494657"/>
            <a:ext cx="1835200" cy="418802"/>
          </a:xfrm>
          <a:prstGeom prst="roundRect">
            <a:avLst>
              <a:gd name="adj" fmla="val 12130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4952851" y="2605683"/>
            <a:ext cx="161930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key</a:t>
            </a:r>
            <a:endParaRPr lang="en-US" sz="600" dirty="0"/>
          </a:p>
        </p:txBody>
      </p:sp>
      <p:sp>
        <p:nvSpPr>
          <p:cNvPr id="64" name="Text 62"/>
          <p:cNvSpPr/>
          <p:nvPr/>
        </p:nvSpPr>
        <p:spPr>
          <a:xfrm>
            <a:off x="4952851" y="2716709"/>
            <a:ext cx="161930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채널:사용자 조합으로 세션 식별</a:t>
            </a:r>
            <a:endParaRPr lang="en-US" sz="600" dirty="0"/>
          </a:p>
        </p:txBody>
      </p:sp>
      <p:sp>
        <p:nvSpPr>
          <p:cNvPr id="65" name="Text 63"/>
          <p:cNvSpPr/>
          <p:nvPr/>
        </p:nvSpPr>
        <p:spPr>
          <a:xfrm>
            <a:off x="6727627" y="2494657"/>
            <a:ext cx="1835348" cy="418802"/>
          </a:xfrm>
          <a:prstGeom prst="roundRect">
            <a:avLst>
              <a:gd name="adj" fmla="val 12130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6" name="Text 64"/>
          <p:cNvSpPr/>
          <p:nvPr/>
        </p:nvSpPr>
        <p:spPr>
          <a:xfrm>
            <a:off x="6851452" y="2605683"/>
            <a:ext cx="1619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LaneQueue</a:t>
            </a:r>
            <a:endParaRPr lang="en-US" sz="600" dirty="0"/>
          </a:p>
        </p:txBody>
      </p:sp>
      <p:sp>
        <p:nvSpPr>
          <p:cNvPr id="67" name="Text 65"/>
          <p:cNvSpPr/>
          <p:nvPr/>
        </p:nvSpPr>
        <p:spPr>
          <a:xfrm>
            <a:off x="6851452" y="2716709"/>
            <a:ext cx="1619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채널 간 처리 순서 보장</a:t>
            </a:r>
            <a:endParaRPr lang="en-US" sz="600" dirty="0"/>
          </a:p>
        </p:txBody>
      </p:sp>
      <p:sp>
        <p:nvSpPr>
          <p:cNvPr id="68" name="Text 66"/>
          <p:cNvSpPr/>
          <p:nvPr/>
        </p:nvSpPr>
        <p:spPr>
          <a:xfrm>
            <a:off x="4791687" y="2964210"/>
            <a:ext cx="380862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4829026" y="3157835"/>
            <a:ext cx="3733949" cy="514052"/>
          </a:xfrm>
          <a:prstGeom prst="roundRect">
            <a:avLst>
              <a:gd name="adj" fmla="val 9882"/>
            </a:avLst>
          </a:prstGeom>
          <a:solidFill>
            <a:srgbClr val="0A1A1A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0" name="Text 68"/>
          <p:cNvSpPr/>
          <p:nvPr/>
        </p:nvSpPr>
        <p:spPr>
          <a:xfrm>
            <a:off x="4917988" y="3268861"/>
            <a:ext cx="355602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serve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4917988" y="3389412"/>
            <a:ext cx="35560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채널별 AgenticLoop 인스턴스를 따로 관리하면 세션이 분산되기 때문에 Gateway를 단일 진입점으로 집중한다. 채널 추가 시 어댑터 1개만 구현하면 된다.</a:t>
            </a:r>
            <a:endParaRPr lang="en-US" sz="600" dirty="0"/>
          </a:p>
        </p:txBody>
      </p:sp>
      <p:sp>
        <p:nvSpPr>
          <p:cNvPr id="72" name="Text 70"/>
          <p:cNvSpPr/>
          <p:nvPr/>
        </p:nvSpPr>
        <p:spPr>
          <a:xfrm>
            <a:off x="4829026" y="3722638"/>
            <a:ext cx="1835200" cy="491877"/>
          </a:xfrm>
          <a:prstGeom prst="roundRect">
            <a:avLst>
              <a:gd name="adj" fmla="val 10328"/>
            </a:avLst>
          </a:prstGeom>
          <a:solidFill>
            <a:srgbClr val="0D1117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4940052" y="3821013"/>
            <a:ext cx="164541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 Webhook</a:t>
            </a:r>
            <a:endParaRPr lang="en-US" sz="600" dirty="0"/>
          </a:p>
        </p:txBody>
      </p:sp>
      <p:sp>
        <p:nvSpPr>
          <p:cNvPr id="74" name="Text 72"/>
          <p:cNvSpPr/>
          <p:nvPr/>
        </p:nvSpPr>
        <p:spPr>
          <a:xfrm>
            <a:off x="4940052" y="3932039"/>
            <a:ext cx="164541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geode serve /webhook</a:t>
            </a:r>
            <a:endParaRPr lang="en-US" sz="600" dirty="0"/>
          </a:p>
        </p:txBody>
      </p:sp>
      <p:sp>
        <p:nvSpPr>
          <p:cNvPr id="75" name="Text 73"/>
          <p:cNvSpPr/>
          <p:nvPr/>
        </p:nvSpPr>
        <p:spPr>
          <a:xfrm>
            <a:off x="4940052" y="4030414"/>
            <a:ext cx="164541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 8765 · 외부 이벤트 인입</a:t>
            </a:r>
            <a:endParaRPr lang="en-US" sz="600" dirty="0"/>
          </a:p>
        </p:txBody>
      </p:sp>
      <p:sp>
        <p:nvSpPr>
          <p:cNvPr id="76" name="Text 74"/>
          <p:cNvSpPr/>
          <p:nvPr/>
        </p:nvSpPr>
        <p:spPr>
          <a:xfrm>
            <a:off x="6727627" y="3722638"/>
            <a:ext cx="1835348" cy="491877"/>
          </a:xfrm>
          <a:prstGeom prst="roundRect">
            <a:avLst>
              <a:gd name="adj" fmla="val 10328"/>
            </a:avLst>
          </a:prstGeom>
          <a:solidFill>
            <a:srgbClr val="0D1117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7" name="Text 75"/>
          <p:cNvSpPr/>
          <p:nvPr/>
        </p:nvSpPr>
        <p:spPr>
          <a:xfrm>
            <a:off x="6838652" y="3821013"/>
            <a:ext cx="164556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ConfigWatcher</a:t>
            </a:r>
            <a:endParaRPr lang="en-US" sz="600" dirty="0"/>
          </a:p>
        </p:txBody>
      </p:sp>
      <p:sp>
        <p:nvSpPr>
          <p:cNvPr id="78" name="Text 76"/>
          <p:cNvSpPr/>
          <p:nvPr/>
        </p:nvSpPr>
        <p:spPr>
          <a:xfrm>
            <a:off x="6838652" y="3932039"/>
            <a:ext cx="164556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게이트웨이 바인딩 hot-reload</a:t>
            </a:r>
            <a:endParaRPr lang="en-US" sz="600" dirty="0"/>
          </a:p>
        </p:txBody>
      </p:sp>
      <p:sp>
        <p:nvSpPr>
          <p:cNvPr id="79" name="Text 77"/>
          <p:cNvSpPr/>
          <p:nvPr/>
        </p:nvSpPr>
        <p:spPr>
          <a:xfrm>
            <a:off x="6838652" y="4030414"/>
            <a:ext cx="164556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재시작 없이 설정 반영</a:t>
            </a:r>
            <a:endParaRPr lang="en-US" sz="600" dirty="0"/>
          </a:p>
        </p:txBody>
      </p:sp>
      <p:sp>
        <p:nvSpPr>
          <p:cNvPr id="80" name="Text 78"/>
          <p:cNvSpPr/>
          <p:nvPr/>
        </p:nvSpPr>
        <p:spPr>
          <a:xfrm>
            <a:off x="457200" y="4505623"/>
            <a:ext cx="8229600" cy="387251"/>
          </a:xfrm>
          <a:prstGeom prst="roundRect">
            <a:avLst>
              <a:gd name="adj" fmla="val 13118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1" name="Shape 79"/>
          <p:cNvSpPr/>
          <p:nvPr/>
        </p:nvSpPr>
        <p:spPr>
          <a:xfrm>
            <a:off x="476250" y="4505623"/>
            <a:ext cx="0" cy="387251"/>
          </a:xfrm>
          <a:prstGeom prst="line">
            <a:avLst/>
          </a:prstGeom>
          <a:noFill/>
          <a:ln w="38100">
            <a:solidFill>
              <a:srgbClr val="8B949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2" name="Text 80"/>
          <p:cNvSpPr/>
          <p:nvPr/>
        </p:nvSpPr>
        <p:spPr>
          <a:xfrm>
            <a:off x="622250" y="4594473"/>
            <a:ext cx="809635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Cron 격리로 메인 오염을 막지만, 격리 세션은 이전 학습을 공유하지 않는다. systemEvent 주입으로 필요할 때만 연계한다. Gateway 단일화는 채널 다양성을 포기하지만 어댑터 1개로 신규 채널을 추가할 수 있게 된다.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457200" y="4956274"/>
            <a:ext cx="436848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core/scheduler/ · core/gateway/ · isolated=True → fresh ConversationContext · /webhook port 8765 · ConfigWatcher hot-reload</a:t>
            </a:r>
            <a:endParaRPr lang="en-US" sz="600" dirty="0"/>
          </a:p>
        </p:txBody>
      </p:sp>
      <p:sp>
        <p:nvSpPr>
          <p:cNvPr id="84" name="Text 82"/>
          <p:cNvSpPr/>
          <p:nvPr/>
        </p:nvSpPr>
        <p:spPr>
          <a:xfrm>
            <a:off x="8453735" y="4956274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35</a:t>
            </a:r>
            <a:endParaRPr lang="en-US" sz="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15901"/>
            <a:ext cx="8229600" cy="1265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822058" y="1818977"/>
            <a:ext cx="549988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16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822058" y="2136428"/>
            <a:ext cx="5499884" cy="7819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080"/>
              </a:lnSpc>
              <a:spcAft>
                <a:spcPts val="1400"/>
              </a:spcAft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흐름 순서로 살펴보는</a:t>
            </a:r>
            <a:endParaRPr lang="en-US" sz="2800" dirty="0"/>
          </a:p>
          <a:p>
            <a:pPr marL="0" indent="0" algn="ctr">
              <a:lnSpc>
                <a:spcPts val="3080"/>
              </a:lnSpc>
              <a:spcAft>
                <a:spcPts val="1400"/>
              </a:spcAft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에이전트 내부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822058" y="3096071"/>
            <a:ext cx="5499884" cy="2284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Dispatch → Hook → Sub-Agent → Failover → Compression → Memory → Prompt → MCP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4114949"/>
            <a:ext cx="8229600" cy="1265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57200" y="4987975"/>
            <a:ext cx="30224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S10 – S17</a:t>
            </a:r>
            <a:endParaRPr lang="en-US" sz="500" dirty="0"/>
          </a:p>
        </p:txBody>
      </p:sp>
      <p:sp>
        <p:nvSpPr>
          <p:cNvPr id="8" name="Text 6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35</a:t>
            </a:r>
            <a:endParaRPr lang="en-US" sz="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4363"/>
            <a:ext cx="15581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DIVE: 실행 흐름 ①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427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Dispatch: LLM tool_use → ToolExecutor 단일 진입점 → 4-Route 분기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596652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LLM이 tool_use 블록을 반환하는 순간, 모든 실행 경로는 ToolExecutor 하나로 수렴한다.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2793950" y="752177"/>
            <a:ext cx="3555950" cy="466427"/>
          </a:xfrm>
          <a:prstGeom prst="roundRect">
            <a:avLst>
              <a:gd name="adj" fmla="val 10891"/>
            </a:avLst>
          </a:prstGeom>
          <a:solidFill>
            <a:srgbClr val="1E293B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3027085" y="863203"/>
            <a:ext cx="308968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</a:t>
            </a: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ToolExecutor.execute()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27085" y="1021854"/>
            <a:ext cx="308968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진입점 · tool_use 블록 수신 · 도구 유형 판별</a:t>
            </a:r>
            <a:endParaRPr lang="en-US" sz="600" dirty="0"/>
          </a:p>
        </p:txBody>
      </p:sp>
      <p:sp>
        <p:nvSpPr>
          <p:cNvPr id="9" name="Text 7"/>
          <p:cNvSpPr/>
          <p:nvPr/>
        </p:nvSpPr>
        <p:spPr>
          <a:xfrm>
            <a:off x="3943796" y="1282005"/>
            <a:ext cx="128153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도구 유형 판별 → 4경로 분기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57200" y="1469231"/>
            <a:ext cx="2000250" cy="617190"/>
          </a:xfrm>
          <a:prstGeom prst="roundRect">
            <a:avLst>
              <a:gd name="adj" fmla="val 8231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457200" y="1488281"/>
            <a:ext cx="2000250" cy="0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2452688" y="1469231"/>
            <a:ext cx="0" cy="617190"/>
          </a:xfrm>
          <a:prstGeom prst="line">
            <a:avLst/>
          </a:prstGeom>
          <a:noFill/>
          <a:ln w="9525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457200" y="2081659"/>
            <a:ext cx="2000250" cy="0"/>
          </a:xfrm>
          <a:prstGeom prst="line">
            <a:avLst/>
          </a:prstGeom>
          <a:noFill/>
          <a:ln w="9525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61963" y="1469231"/>
            <a:ext cx="0" cy="617190"/>
          </a:xfrm>
          <a:prstGeom prst="line">
            <a:avLst/>
          </a:prstGeom>
          <a:noFill/>
          <a:ln w="9525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581025" y="1596182"/>
            <a:ext cx="17876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Bash Path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81025" y="1748582"/>
            <a:ext cx="1787652" cy="1156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10"/>
              </a:lnSpc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run_bash 계열: 3-layer safety + PolicyChain 통과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581025" y="1902321"/>
            <a:ext cx="17876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명령 허용 목록 → PolicyChain → 실행</a:t>
            </a:r>
            <a:endParaRPr lang="en-US" sz="600" dirty="0"/>
          </a:p>
        </p:txBody>
      </p:sp>
      <p:sp>
        <p:nvSpPr>
          <p:cNvPr id="18" name="Text 16"/>
          <p:cNvSpPr/>
          <p:nvPr/>
        </p:nvSpPr>
        <p:spPr>
          <a:xfrm>
            <a:off x="2533650" y="1469231"/>
            <a:ext cx="2000250" cy="617190"/>
          </a:xfrm>
          <a:prstGeom prst="roundRect">
            <a:avLst>
              <a:gd name="adj" fmla="val 8231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2533650" y="1488281"/>
            <a:ext cx="2000250" cy="0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4529138" y="1469231"/>
            <a:ext cx="0" cy="617190"/>
          </a:xfrm>
          <a:prstGeom prst="line">
            <a:avLst/>
          </a:prstGeom>
          <a:noFill/>
          <a:ln w="9525">
            <a:solidFill>
              <a:srgbClr val="4ECD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2533650" y="2081659"/>
            <a:ext cx="2000250" cy="0"/>
          </a:xfrm>
          <a:prstGeom prst="line">
            <a:avLst/>
          </a:prstGeom>
          <a:noFill/>
          <a:ln w="9525">
            <a:solidFill>
              <a:srgbClr val="4ECD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2538413" y="1469231"/>
            <a:ext cx="0" cy="617190"/>
          </a:xfrm>
          <a:prstGeom prst="line">
            <a:avLst/>
          </a:prstGeom>
          <a:noFill/>
          <a:ln w="9525">
            <a:solidFill>
              <a:srgbClr val="4ECD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2657475" y="1596182"/>
            <a:ext cx="17876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Tool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657475" y="1748582"/>
            <a:ext cx="1787652" cy="1156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10"/>
              </a:lnSpc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registry 핸들러 매칭: 52 native tools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2657475" y="1902321"/>
            <a:ext cx="17876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tool_name → handler lookup → 실행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4610100" y="1469231"/>
            <a:ext cx="2000250" cy="617190"/>
          </a:xfrm>
          <a:prstGeom prst="roundRect">
            <a:avLst>
              <a:gd name="adj" fmla="val 8231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Shape 25"/>
          <p:cNvSpPr/>
          <p:nvPr/>
        </p:nvSpPr>
        <p:spPr>
          <a:xfrm>
            <a:off x="4610100" y="1488281"/>
            <a:ext cx="2000250" cy="0"/>
          </a:xfrm>
          <a:prstGeom prst="line">
            <a:avLst/>
          </a:prstGeom>
          <a:noFill/>
          <a:ln w="38100">
            <a:solidFill>
              <a:srgbClr val="818C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6605588" y="1469231"/>
            <a:ext cx="0" cy="617190"/>
          </a:xfrm>
          <a:prstGeom prst="line">
            <a:avLst/>
          </a:prstGeom>
          <a:noFill/>
          <a:ln w="9525">
            <a:solidFill>
              <a:srgbClr val="818C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4610100" y="2081659"/>
            <a:ext cx="2000250" cy="0"/>
          </a:xfrm>
          <a:prstGeom prst="line">
            <a:avLst/>
          </a:prstGeom>
          <a:noFill/>
          <a:ln w="9525">
            <a:solidFill>
              <a:srgbClr val="818C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4614863" y="1469231"/>
            <a:ext cx="0" cy="617190"/>
          </a:xfrm>
          <a:prstGeom prst="line">
            <a:avLst/>
          </a:prstGeom>
          <a:noFill/>
          <a:ln w="9525">
            <a:solidFill>
              <a:srgbClr val="818C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4733925" y="1596182"/>
            <a:ext cx="17876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Path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733925" y="1748582"/>
            <a:ext cx="1787652" cy="1156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10"/>
              </a:lnSpc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catalog 서버 auto-discovery</a:t>
            </a:r>
            <a:endParaRPr lang="en-US" sz="650" dirty="0"/>
          </a:p>
        </p:txBody>
      </p:sp>
      <p:sp>
        <p:nvSpPr>
          <p:cNvPr id="33" name="Text 31"/>
          <p:cNvSpPr/>
          <p:nvPr/>
        </p:nvSpPr>
        <p:spPr>
          <a:xfrm>
            <a:off x="4733925" y="1902321"/>
            <a:ext cx="17876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routing → protocol call → 결과 반환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6686550" y="1469231"/>
            <a:ext cx="2000250" cy="617190"/>
          </a:xfrm>
          <a:prstGeom prst="roundRect">
            <a:avLst>
              <a:gd name="adj" fmla="val 8231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5" name="Shape 33"/>
          <p:cNvSpPr/>
          <p:nvPr/>
        </p:nvSpPr>
        <p:spPr>
          <a:xfrm>
            <a:off x="6686550" y="1488281"/>
            <a:ext cx="2000250" cy="0"/>
          </a:xfrm>
          <a:prstGeom prst="line">
            <a:avLst/>
          </a:prstGeom>
          <a:noFill/>
          <a:ln w="38100">
            <a:solidFill>
              <a:srgbClr val="F5C54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4"/>
          <p:cNvSpPr/>
          <p:nvPr/>
        </p:nvSpPr>
        <p:spPr>
          <a:xfrm>
            <a:off x="8682038" y="1469231"/>
            <a:ext cx="0" cy="617190"/>
          </a:xfrm>
          <a:prstGeom prst="line">
            <a:avLst/>
          </a:prstGeom>
          <a:noFill/>
          <a:ln w="9525">
            <a:solidFill>
              <a:srgbClr val="F5C54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5"/>
          <p:cNvSpPr/>
          <p:nvPr/>
        </p:nvSpPr>
        <p:spPr>
          <a:xfrm>
            <a:off x="6686550" y="2081659"/>
            <a:ext cx="2000250" cy="0"/>
          </a:xfrm>
          <a:prstGeom prst="line">
            <a:avLst/>
          </a:prstGeom>
          <a:noFill/>
          <a:ln w="9525">
            <a:solidFill>
              <a:srgbClr val="F5C54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6"/>
          <p:cNvSpPr/>
          <p:nvPr/>
        </p:nvSpPr>
        <p:spPr>
          <a:xfrm>
            <a:off x="6691313" y="1469231"/>
            <a:ext cx="0" cy="617190"/>
          </a:xfrm>
          <a:prstGeom prst="line">
            <a:avLst/>
          </a:prstGeom>
          <a:noFill/>
          <a:ln w="9525">
            <a:solidFill>
              <a:srgbClr val="F5C54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/>
          <p:nvPr/>
        </p:nvSpPr>
        <p:spPr>
          <a:xfrm>
            <a:off x="6810375" y="1596182"/>
            <a:ext cx="17876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LangGraph DAG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6810375" y="1748582"/>
            <a:ext cx="1787652" cy="1156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10"/>
              </a:lnSpc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analyze_ip → 13-task StateGraph 실행</a:t>
            </a:r>
            <a:endParaRPr lang="en-US" sz="650" dirty="0"/>
          </a:p>
        </p:txBody>
      </p:sp>
      <p:sp>
        <p:nvSpPr>
          <p:cNvPr id="41" name="Text 39"/>
          <p:cNvSpPr/>
          <p:nvPr/>
        </p:nvSpPr>
        <p:spPr>
          <a:xfrm>
            <a:off x="6810375" y="1902321"/>
            <a:ext cx="17876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DAG dispatch → 병렬 노드 → 결과 집계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3477369" y="2149822"/>
            <a:ext cx="223289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2개 이상 tool_use 시 ToolCallProcessor가 안전 등급 분류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457200" y="2317998"/>
            <a:ext cx="8229600" cy="1098500"/>
          </a:xfrm>
          <a:prstGeom prst="roundRect">
            <a:avLst>
              <a:gd name="adj" fmla="val 462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593675" y="2416373"/>
            <a:ext cx="811578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5-TIER SAFETY — 병렬 속도와 안전 격리의 균형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593675" y="2584549"/>
            <a:ext cx="1540520" cy="584448"/>
          </a:xfrm>
          <a:prstGeom prst="roundRect">
            <a:avLst>
              <a:gd name="adj" fmla="val 8692"/>
            </a:avLst>
          </a:prstGeom>
          <a:solidFill>
            <a:srgbClr val="1E293B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678613" y="2695575"/>
            <a:ext cx="137064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00"/>
              </a:lnSpc>
              <a:buNone/>
            </a:pPr>
            <a:r>
              <a:rPr lang="en-US" sz="9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678613" y="2835176"/>
            <a:ext cx="137064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buNone/>
            </a:pPr>
            <a:r>
              <a:rPr lang="en-US" sz="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678613" y="2959001"/>
            <a:ext cx="1370645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asyncio.gather 완전 병렬</a:t>
            </a:r>
            <a:endParaRPr lang="en-US" sz="600" dirty="0"/>
          </a:p>
        </p:txBody>
      </p:sp>
      <p:sp>
        <p:nvSpPr>
          <p:cNvPr id="49" name="Text 47"/>
          <p:cNvSpPr/>
          <p:nvPr/>
        </p:nvSpPr>
        <p:spPr>
          <a:xfrm>
            <a:off x="2197596" y="2584549"/>
            <a:ext cx="1540669" cy="584448"/>
          </a:xfrm>
          <a:prstGeom prst="roundRect">
            <a:avLst>
              <a:gd name="adj" fmla="val 8692"/>
            </a:avLst>
          </a:prstGeom>
          <a:solidFill>
            <a:srgbClr val="1E293B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2282532" y="2695575"/>
            <a:ext cx="137079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00"/>
              </a:lnSpc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T1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2282532" y="2835176"/>
            <a:ext cx="137079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Auto</a:t>
            </a:r>
            <a:endParaRPr lang="en-US" sz="600" dirty="0"/>
          </a:p>
        </p:txBody>
      </p:sp>
      <p:sp>
        <p:nvSpPr>
          <p:cNvPr id="52" name="Text 50"/>
          <p:cNvSpPr/>
          <p:nvPr/>
        </p:nvSpPr>
        <p:spPr>
          <a:xfrm>
            <a:off x="2282532" y="2959001"/>
            <a:ext cx="1370796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서버당 1회 자동 승인</a:t>
            </a:r>
            <a:endParaRPr lang="en-US" sz="600" dirty="0"/>
          </a:p>
        </p:txBody>
      </p:sp>
      <p:sp>
        <p:nvSpPr>
          <p:cNvPr id="53" name="Text 51"/>
          <p:cNvSpPr/>
          <p:nvPr/>
        </p:nvSpPr>
        <p:spPr>
          <a:xfrm>
            <a:off x="3801666" y="2584549"/>
            <a:ext cx="1540520" cy="584448"/>
          </a:xfrm>
          <a:prstGeom prst="roundRect">
            <a:avLst>
              <a:gd name="adj" fmla="val 8692"/>
            </a:avLst>
          </a:prstGeom>
          <a:solidFill>
            <a:srgbClr val="1E293B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3886603" y="2695575"/>
            <a:ext cx="137064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00"/>
              </a:lnSpc>
              <a:buNone/>
            </a:pPr>
            <a:r>
              <a:rPr lang="en-US" sz="9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T2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3886603" y="2835176"/>
            <a:ext cx="137064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buNone/>
            </a:pPr>
            <a:r>
              <a:rPr lang="en-US" sz="6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EXPENSIVE</a:t>
            </a:r>
            <a:endParaRPr lang="en-US" sz="600" dirty="0"/>
          </a:p>
        </p:txBody>
      </p:sp>
      <p:sp>
        <p:nvSpPr>
          <p:cNvPr id="56" name="Text 54"/>
          <p:cNvSpPr/>
          <p:nvPr/>
        </p:nvSpPr>
        <p:spPr>
          <a:xfrm>
            <a:off x="3886603" y="2959001"/>
            <a:ext cx="1370645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비용 일괄 승인 후 병렬</a:t>
            </a:r>
            <a:endParaRPr lang="en-US" sz="600" dirty="0"/>
          </a:p>
        </p:txBody>
      </p:sp>
      <p:sp>
        <p:nvSpPr>
          <p:cNvPr id="57" name="Text 55"/>
          <p:cNvSpPr/>
          <p:nvPr/>
        </p:nvSpPr>
        <p:spPr>
          <a:xfrm>
            <a:off x="5405586" y="2584549"/>
            <a:ext cx="1540669" cy="584448"/>
          </a:xfrm>
          <a:prstGeom prst="roundRect">
            <a:avLst>
              <a:gd name="adj" fmla="val 8692"/>
            </a:avLst>
          </a:prstGeom>
          <a:solidFill>
            <a:srgbClr val="1E293B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5490523" y="2695575"/>
            <a:ext cx="137079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00"/>
              </a:lnSpc>
              <a:buNone/>
            </a:pPr>
            <a:r>
              <a:rPr lang="en-US" sz="9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T3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5490523" y="2835176"/>
            <a:ext cx="137079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buNone/>
            </a:pPr>
            <a:r>
              <a:rPr lang="en-US" sz="6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</a:t>
            </a:r>
            <a:endParaRPr lang="en-US" sz="600" dirty="0"/>
          </a:p>
        </p:txBody>
      </p:sp>
      <p:sp>
        <p:nvSpPr>
          <p:cNvPr id="60" name="Text 58"/>
          <p:cNvSpPr/>
          <p:nvPr/>
        </p:nvSpPr>
        <p:spPr>
          <a:xfrm>
            <a:off x="5490523" y="2959001"/>
            <a:ext cx="1370796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개별 HITL 승인 순차</a:t>
            </a:r>
            <a:endParaRPr lang="en-US" sz="600" dirty="0"/>
          </a:p>
        </p:txBody>
      </p:sp>
      <p:sp>
        <p:nvSpPr>
          <p:cNvPr id="61" name="Text 59"/>
          <p:cNvSpPr/>
          <p:nvPr/>
        </p:nvSpPr>
        <p:spPr>
          <a:xfrm>
            <a:off x="7009656" y="2584549"/>
            <a:ext cx="1540669" cy="584448"/>
          </a:xfrm>
          <a:prstGeom prst="roundRect">
            <a:avLst>
              <a:gd name="adj" fmla="val 8692"/>
            </a:avLst>
          </a:prstGeom>
          <a:solidFill>
            <a:srgbClr val="1E293B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7094592" y="2695575"/>
            <a:ext cx="137079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00"/>
              </a:lnSpc>
              <a:buNone/>
            </a:pPr>
            <a:r>
              <a:rPr lang="en-US" sz="9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T4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7094592" y="2835176"/>
            <a:ext cx="137079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buNone/>
            </a:pPr>
            <a:r>
              <a:rPr lang="en-US" sz="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DANGEROUS</a:t>
            </a:r>
            <a:endParaRPr lang="en-US" sz="600" dirty="0"/>
          </a:p>
        </p:txBody>
      </p:sp>
      <p:sp>
        <p:nvSpPr>
          <p:cNvPr id="64" name="Text 62"/>
          <p:cNvSpPr/>
          <p:nvPr/>
        </p:nvSpPr>
        <p:spPr>
          <a:xfrm>
            <a:off x="7094592" y="2959001"/>
            <a:ext cx="1370796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차단 + 에스컬레이션</a:t>
            </a:r>
            <a:endParaRPr lang="en-US" sz="600" dirty="0"/>
          </a:p>
        </p:txBody>
      </p:sp>
      <p:sp>
        <p:nvSpPr>
          <p:cNvPr id="65" name="Text 63"/>
          <p:cNvSpPr/>
          <p:nvPr/>
        </p:nvSpPr>
        <p:spPr>
          <a:xfrm>
            <a:off x="593675" y="3232398"/>
            <a:ext cx="811578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500"/>
              </a:spcBef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</a:t>
            </a: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T0-1은 asyncio.gather 완전 병렬화, T3-4는 순차 개별 승인 격리. MAX_CONSECUTIVE_FAILURES=2 · max_recovery=3</a:t>
            </a:r>
            <a:endParaRPr lang="en-US" sz="600" dirty="0"/>
          </a:p>
        </p:txBody>
      </p:sp>
      <p:sp>
        <p:nvSpPr>
          <p:cNvPr id="66" name="Text 64"/>
          <p:cNvSpPr/>
          <p:nvPr/>
        </p:nvSpPr>
        <p:spPr>
          <a:xfrm>
            <a:off x="457200" y="3479899"/>
            <a:ext cx="4076700" cy="449163"/>
          </a:xfrm>
          <a:prstGeom prst="roundRect">
            <a:avLst>
              <a:gd name="adj" fmla="val 11310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581025" y="3590925"/>
            <a:ext cx="390563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Summary · Tier 1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581025" y="3711476"/>
            <a:ext cx="3905631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도구 실행 후 긴 tool_result 전문 대신 압축 요약 삽입 → 컨텍스트 슬롯 절약.</a:t>
            </a:r>
            <a:endParaRPr lang="en-US" sz="600" dirty="0"/>
          </a:p>
        </p:txBody>
      </p:sp>
      <p:sp>
        <p:nvSpPr>
          <p:cNvPr id="69" name="Text 67"/>
          <p:cNvSpPr/>
          <p:nvPr/>
        </p:nvSpPr>
        <p:spPr>
          <a:xfrm>
            <a:off x="4610100" y="3479899"/>
            <a:ext cx="4076700" cy="449163"/>
          </a:xfrm>
          <a:prstGeom prst="roundRect">
            <a:avLst>
              <a:gd name="adj" fmla="val 11310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0" name="Text 68"/>
          <p:cNvSpPr/>
          <p:nvPr/>
        </p:nvSpPr>
        <p:spPr>
          <a:xfrm>
            <a:off x="4733925" y="3590925"/>
            <a:ext cx="390563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Deferred Tool Loading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4733925" y="3711476"/>
            <a:ext cx="3905631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ToolSearch 2-hop으로 필요한 도구만 지연 로딩 → </a:t>
            </a: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</a:t>
            </a: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토큰 절감.</a:t>
            </a:r>
            <a:endParaRPr lang="en-US" sz="600" dirty="0"/>
          </a:p>
        </p:txBody>
      </p:sp>
      <p:sp>
        <p:nvSpPr>
          <p:cNvPr id="72" name="Text 70"/>
          <p:cNvSpPr/>
          <p:nvPr/>
        </p:nvSpPr>
        <p:spPr>
          <a:xfrm>
            <a:off x="457200" y="4987975"/>
            <a:ext cx="3964228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tool_executor.py · policy.py · error_recovery.py · v0.32.0 · 52 native tools · 45 MCP · 5-Tier safety · Action Summary · Deferred Load 85%↓</a:t>
            </a:r>
            <a:endParaRPr lang="en-US" sz="500" dirty="0"/>
          </a:p>
        </p:txBody>
      </p:sp>
      <p:sp>
        <p:nvSpPr>
          <p:cNvPr id="73" name="Text 71"/>
          <p:cNvSpPr/>
          <p:nvPr/>
        </p:nvSpPr>
        <p:spPr>
          <a:xfrm>
            <a:off x="8497491" y="4987975"/>
            <a:ext cx="193096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35</a:t>
            </a:r>
            <a:endParaRPr lang="en-US" sz="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888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18914"/>
            <a:ext cx="15581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DIVE: 실행 흐름 ②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17302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System: 도구 실행 중 46개 이벤트 발화 → 리플 패턴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584002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하드코딩 콜백으로는 확장이 불가능하기 때문에 Claude Code·Devin·OpenHands 리서치 후 16카테고리 46이벤트로 개편한다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752177"/>
            <a:ext cx="5029200" cy="1448246"/>
          </a:xfrm>
          <a:prstGeom prst="roundRect">
            <a:avLst>
              <a:gd name="adj" fmla="val 3508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81012" y="752177"/>
            <a:ext cx="0" cy="1448246"/>
          </a:xfrm>
          <a:prstGeom prst="line">
            <a:avLst/>
          </a:prstGeom>
          <a:noFill/>
          <a:ln w="47625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657225" y="853678"/>
            <a:ext cx="4770311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8"/>
              </a:lnSpc>
              <a:spcAft>
                <a:spcPts val="500"/>
              </a:spcAft>
              <a:buNone/>
            </a:pPr>
            <a:r>
              <a:rPr lang="en-US" sz="75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문제:</a:t>
            </a: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하드코딩 콜백으로는 확장 불가. 프론티어 3종 리서치 후 </a:t>
            </a:r>
            <a:r>
              <a:rPr lang="en-US" sz="75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8카테고리 46이벤트</a:t>
            </a: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개편.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657225" y="1055191"/>
            <a:ext cx="477031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리플 패턴 실행 예시: PIPELINE_END 발화 시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657225" y="1198066"/>
            <a:ext cx="4676775" cy="231577"/>
          </a:xfrm>
          <a:prstGeom prst="roundRect">
            <a:avLst>
              <a:gd name="adj" fmla="val 16452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758726" y="1266230"/>
            <a:ext cx="33670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P50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65027" y="1261467"/>
            <a:ext cx="176047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RunLog → runs.jsonl JSONL 기록 (L1 Observe)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657225" y="1454944"/>
            <a:ext cx="4676775" cy="231577"/>
          </a:xfrm>
          <a:prstGeom prst="roundRect">
            <a:avLst>
              <a:gd name="adj" fmla="val 16452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58726" y="1523107"/>
            <a:ext cx="33670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P80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65027" y="1518345"/>
            <a:ext cx="154916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SnapshotManager → 상태 캡처 (L2 React)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657225" y="1711821"/>
            <a:ext cx="4676775" cy="231577"/>
          </a:xfrm>
          <a:prstGeom prst="roundRect">
            <a:avLst>
              <a:gd name="adj" fmla="val 16452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58726" y="1779984"/>
            <a:ext cx="33670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5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P85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65027" y="1775222"/>
            <a:ext cx="190818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MemoryWriteBack → MEMORY.md 갱신 (L2 React)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657225" y="1994148"/>
            <a:ext cx="477031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400"/>
              </a:spcBef>
              <a:buNone/>
            </a:pPr>
            <a:r>
              <a:rPr lang="en-US" sz="65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하나의 이벤트가 3개 핸들러를 Priority 순서로 관통.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457200" y="2263825"/>
            <a:ext cx="5029200" cy="2776835"/>
          </a:xfrm>
          <a:prstGeom prst="roundRect">
            <a:avLst>
              <a:gd name="adj" fmla="val 182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06326" y="2374850"/>
            <a:ext cx="482556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EVENT GROUPS (46 total · 16 categories)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06326" y="2565202"/>
            <a:ext cx="2340025" cy="531614"/>
          </a:xfrm>
          <a:prstGeom prst="roundRect">
            <a:avLst>
              <a:gd name="adj" fmla="val 9556"/>
            </a:avLst>
          </a:prstGeom>
          <a:solidFill>
            <a:srgbClr val="0D1117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17352" y="2663577"/>
            <a:ext cx="216033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+ Node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717352" y="2784128"/>
            <a:ext cx="216033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events: PIPELINE_START/END/ERROR · NODE_BOOTSTRAP/ENTER/EXIT/ERROR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606326" y="3147566"/>
            <a:ext cx="2340025" cy="531614"/>
          </a:xfrm>
          <a:prstGeom prst="roundRect">
            <a:avLst>
              <a:gd name="adj" fmla="val 9556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717352" y="3245941"/>
            <a:ext cx="216033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 + Verification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717352" y="3366492"/>
            <a:ext cx="216033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events: ANALYST/EVALUATOR/SCORING_COMPLETE · VERIFICATION_PASS/FAIL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606326" y="3729930"/>
            <a:ext cx="2340025" cy="574477"/>
          </a:xfrm>
          <a:prstGeom prst="roundRect">
            <a:avLst>
              <a:gd name="adj" fmla="val 8843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717352" y="3828306"/>
            <a:ext cx="216033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Automation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717352" y="3948857"/>
            <a:ext cx="2160333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events: DRIFT_DETECTED · OUTCOME_COLLECTED · MODEL_PROMOTED · SNAPSHOT_CAPTURED · TRIGGER_FIRED · POST_ANALYSIS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606326" y="4355157"/>
            <a:ext cx="2340025" cy="574477"/>
          </a:xfrm>
          <a:prstGeom prst="roundRect">
            <a:avLst>
              <a:gd name="adj" fmla="val 8843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717352" y="4453533"/>
            <a:ext cx="216033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+ Prompt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717352" y="4574084"/>
            <a:ext cx="2160333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events: MEMORY_SAVED · RULE_CREATED/UPDATED/DELETED · PROMPT_ASSEMBLED · PROMPT_DRIFT_DETECTED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2997101" y="2565202"/>
            <a:ext cx="2340173" cy="488752"/>
          </a:xfrm>
          <a:prstGeom prst="roundRect">
            <a:avLst>
              <a:gd name="adj" fmla="val 10394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3108127" y="2663577"/>
            <a:ext cx="216048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SubAgent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3108127" y="2784128"/>
            <a:ext cx="216048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events: SUBAGENT_STARTED · SUBAGENT_COMPLETED · SUBAGENT_FAILED</a:t>
            </a:r>
            <a:endParaRPr lang="en-US" sz="600" dirty="0"/>
          </a:p>
        </p:txBody>
      </p:sp>
      <p:sp>
        <p:nvSpPr>
          <p:cNvPr id="37" name="Text 35"/>
          <p:cNvSpPr/>
          <p:nvPr/>
        </p:nvSpPr>
        <p:spPr>
          <a:xfrm>
            <a:off x="2997101" y="3104704"/>
            <a:ext cx="2340173" cy="574477"/>
          </a:xfrm>
          <a:prstGeom prst="roundRect">
            <a:avLst>
              <a:gd name="adj" fmla="val 8843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3108127" y="3203079"/>
            <a:ext cx="216048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+ Session + LLM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3108127" y="3323630"/>
            <a:ext cx="2160484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events: CONTEXT_WARNING/CRITICAL/OVERFLOW_ACTION · SESSION_START/END · LLM_CALL_START/END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2997101" y="3729930"/>
            <a:ext cx="2340173" cy="574477"/>
          </a:xfrm>
          <a:prstGeom prst="roundRect">
            <a:avLst>
              <a:gd name="adj" fmla="val 8843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3108127" y="3828306"/>
            <a:ext cx="216048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Recovery + Approval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3108127" y="3948857"/>
            <a:ext cx="2160484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events: TOOL_RECOVERY_ATTEMPTED/SUCCEEDED/FAILED · TOOL_APPROVAL_REQUESTED/GRANTED/DENIED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2997101" y="4355157"/>
            <a:ext cx="2340173" cy="574477"/>
          </a:xfrm>
          <a:prstGeom prst="roundRect">
            <a:avLst>
              <a:gd name="adj" fmla="val 8843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3108127" y="4453533"/>
            <a:ext cx="216048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Gateway + MCP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3108127" y="4574084"/>
            <a:ext cx="2160484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events: GATEWAY_MESSAGE_RECEIVED/RESPONSE_SENT · MCP_SERVER_STARTED/STOPPED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5600700" y="752177"/>
            <a:ext cx="3086100" cy="3104257"/>
          </a:xfrm>
          <a:prstGeom prst="roundRect">
            <a:avLst>
              <a:gd name="adj" fmla="val 1646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5749826" y="863203"/>
            <a:ext cx="284360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MATURITY MODEL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5749826" y="1040904"/>
            <a:ext cx="2787848" cy="368052"/>
          </a:xfrm>
          <a:prstGeom prst="roundRect">
            <a:avLst>
              <a:gd name="adj" fmla="val 13802"/>
            </a:avLst>
          </a:prstGeom>
          <a:solidFill>
            <a:srgbClr val="1E293B"/>
          </a:solidFill>
          <a:ln w="9525">
            <a:solidFill>
              <a:srgbClr val="F9731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5860852" y="1113830"/>
            <a:ext cx="261711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 Autonomy: 백로그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5860852" y="1231255"/>
            <a:ext cx="261711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1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승인 이력 → 자동 승인 룰 학습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5749826" y="1447056"/>
            <a:ext cx="2787848" cy="377577"/>
          </a:xfrm>
          <a:prstGeom prst="roundRect">
            <a:avLst>
              <a:gd name="adj" fmla="val 13454"/>
            </a:avLst>
          </a:prstGeom>
          <a:solidFill>
            <a:srgbClr val="1E293B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5860852" y="1519982"/>
            <a:ext cx="261711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 Decide: 현재 프론티어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5860852" y="1637407"/>
            <a:ext cx="261711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100"/>
              </a:spcBef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CONTEXT_OVERFLOW_ACTION 전략 위임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5749826" y="1862733"/>
            <a:ext cx="2787848" cy="377577"/>
          </a:xfrm>
          <a:prstGeom prst="roundRect">
            <a:avLst>
              <a:gd name="adj" fmla="val 13454"/>
            </a:avLst>
          </a:prstGeom>
          <a:solidFill>
            <a:srgbClr val="1E293B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5860852" y="1935659"/>
            <a:ext cx="261711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 React: 자동 반응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5860852" y="2053084"/>
            <a:ext cx="261711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100"/>
              </a:spcBef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DRIFT → 스냅샷 · PIPELINE_END → MEMORY.md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5749826" y="2278410"/>
            <a:ext cx="2787848" cy="368052"/>
          </a:xfrm>
          <a:prstGeom prst="roundRect">
            <a:avLst>
              <a:gd name="adj" fmla="val 13802"/>
            </a:avLst>
          </a:prstGeom>
          <a:solidFill>
            <a:srgbClr val="1E293B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5860852" y="2351336"/>
            <a:ext cx="261711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 Observe: 기록만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5860852" y="2468761"/>
            <a:ext cx="261711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100"/>
              </a:spcBef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RunLog: ALL 46 events → runs.jsonl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5600700" y="3919835"/>
            <a:ext cx="3086100" cy="578644"/>
          </a:xfrm>
          <a:prstGeom prst="roundRect">
            <a:avLst>
              <a:gd name="adj" fmla="val 8779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1" name="Shape 59"/>
          <p:cNvSpPr/>
          <p:nvPr/>
        </p:nvSpPr>
        <p:spPr>
          <a:xfrm>
            <a:off x="5624513" y="3919835"/>
            <a:ext cx="0" cy="578644"/>
          </a:xfrm>
          <a:prstGeom prst="line">
            <a:avLst/>
          </a:prstGeom>
          <a:noFill/>
          <a:ln w="47625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 60"/>
          <p:cNvSpPr/>
          <p:nvPr/>
        </p:nvSpPr>
        <p:spPr>
          <a:xfrm>
            <a:off x="5787926" y="4008686"/>
            <a:ext cx="281445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StuckDetector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5787926" y="4161086"/>
            <a:ext cx="2814459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NODE_ENTER 후 </a:t>
            </a: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120초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내 NODE_EXIT 없으면 파이프라인 강제 중단. Priority P30→P50→P85 핸들러 순서 보장.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5600700" y="4561880"/>
            <a:ext cx="3086100" cy="426244"/>
          </a:xfrm>
          <a:prstGeom prst="roundRect">
            <a:avLst>
              <a:gd name="adj" fmla="val 11918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5" name="Shape 63"/>
          <p:cNvSpPr/>
          <p:nvPr/>
        </p:nvSpPr>
        <p:spPr>
          <a:xfrm>
            <a:off x="5619750" y="4561880"/>
            <a:ext cx="0" cy="426244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Text 64"/>
          <p:cNvSpPr/>
          <p:nvPr/>
        </p:nvSpPr>
        <p:spPr>
          <a:xfrm>
            <a:off x="5765750" y="4650730"/>
            <a:ext cx="2849981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Observer 오버헤드 vs 확장성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단순 콜백보다 초기 등록 오버헤드가 있지만, 핸들러 간 에러 격리 덕분에 46이벤트가 독립적으로 확장된다.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457200" y="5013424"/>
            <a:ext cx="3297957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core/hooks/ · 46 HookEvent enum members · 16 categories · 8 display groups · Priority-chain · StuckDetector 120s</a:t>
            </a:r>
            <a:endParaRPr lang="en-US" sz="500" dirty="0"/>
          </a:p>
        </p:txBody>
      </p:sp>
      <p:sp>
        <p:nvSpPr>
          <p:cNvPr id="68" name="Text 66"/>
          <p:cNvSpPr/>
          <p:nvPr/>
        </p:nvSpPr>
        <p:spPr>
          <a:xfrm>
            <a:off x="8492728" y="5013424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35</a:t>
            </a:r>
            <a:endParaRPr lang="en-US" sz="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4363"/>
            <a:ext cx="15581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DIVE: 실행 흐름 ③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42751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Sub-Agent: delegate_task → SubAgentManager → IsolatedRunner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587127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병렬 서브에이전트 결과 반환 시 부모 컨텍스트가 기하급수적으로 팽창하기 때문에 full inheritance + 4096 guard로 해결한다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04800" y="1840409"/>
            <a:ext cx="1269950" cy="647402"/>
          </a:xfrm>
          <a:prstGeom prst="roundRect">
            <a:avLst>
              <a:gd name="adj" fmla="val 7847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18402" y="1951434"/>
            <a:ext cx="10427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40K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18402" y="2205335"/>
            <a:ext cx="104274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토큰 guard 없을 때</a:t>
            </a:r>
            <a:endParaRPr lang="en-US" sz="600" dirty="0"/>
          </a:p>
        </p:txBody>
      </p:sp>
      <p:sp>
        <p:nvSpPr>
          <p:cNvPr id="9" name="Text 7"/>
          <p:cNvSpPr/>
          <p:nvPr/>
        </p:nvSpPr>
        <p:spPr>
          <a:xfrm>
            <a:off x="418402" y="2291060"/>
            <a:ext cx="104274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× 8K 부모 유입</a:t>
            </a:r>
            <a:endParaRPr lang="en-US" sz="600" dirty="0"/>
          </a:p>
        </p:txBody>
      </p:sp>
      <p:sp>
        <p:nvSpPr>
          <p:cNvPr id="10" name="Text 8"/>
          <p:cNvSpPr/>
          <p:nvPr/>
        </p:nvSpPr>
        <p:spPr>
          <a:xfrm>
            <a:off x="304800" y="2564011"/>
            <a:ext cx="1269950" cy="647402"/>
          </a:xfrm>
          <a:prstGeom prst="roundRect">
            <a:avLst>
              <a:gd name="adj" fmla="val 7847"/>
            </a:avLst>
          </a:prstGeom>
          <a:solidFill>
            <a:srgbClr val="161B22"/>
          </a:solidFill>
          <a:ln w="9525">
            <a:solidFill>
              <a:srgbClr val="F59E0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18402" y="2675037"/>
            <a:ext cx="10427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250ms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18402" y="2928938"/>
            <a:ext cx="104274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CoalescingQueue</a:t>
            </a:r>
            <a:endParaRPr lang="en-US" sz="600" dirty="0"/>
          </a:p>
        </p:txBody>
      </p:sp>
      <p:sp>
        <p:nvSpPr>
          <p:cNvPr id="13" name="Text 11"/>
          <p:cNvSpPr/>
          <p:nvPr/>
        </p:nvSpPr>
        <p:spPr>
          <a:xfrm>
            <a:off x="418402" y="3014663"/>
            <a:ext cx="104274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중복 태스크 제거</a:t>
            </a:r>
            <a:endParaRPr lang="en-US" sz="600" dirty="0"/>
          </a:p>
        </p:txBody>
      </p:sp>
      <p:sp>
        <p:nvSpPr>
          <p:cNvPr id="14" name="Text 12"/>
          <p:cNvSpPr/>
          <p:nvPr/>
        </p:nvSpPr>
        <p:spPr>
          <a:xfrm>
            <a:off x="304800" y="3287613"/>
            <a:ext cx="1269950" cy="551855"/>
          </a:xfrm>
          <a:prstGeom prst="roundRect">
            <a:avLst>
              <a:gd name="adj" fmla="val 9205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323850" y="3287613"/>
            <a:ext cx="0" cy="551855"/>
          </a:xfrm>
          <a:prstGeom prst="line">
            <a:avLst/>
          </a:prstGeom>
          <a:noFill/>
          <a:ln w="381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444401" y="3376464"/>
            <a:ext cx="104942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65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44401" y="3486516"/>
            <a:ext cx="1049426" cy="2312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10"/>
              </a:lnSpc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 없음: 부모 컨텍스트 40% 소비, 루프 강제 종료 위험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676251" y="1822847"/>
            <a:ext cx="5791498" cy="514052"/>
          </a:xfrm>
          <a:prstGeom prst="roundRect">
            <a:avLst>
              <a:gd name="adj" fmla="val 9882"/>
            </a:avLst>
          </a:prstGeom>
          <a:solidFill>
            <a:srgbClr val="1E293B"/>
          </a:solidFill>
          <a:ln w="19050">
            <a:solidFill>
              <a:srgbClr val="4ECDC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819022" y="1943398"/>
            <a:ext cx="550595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Parent Agent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819022" y="2111573"/>
            <a:ext cx="550595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buNone/>
            </a:pPr>
            <a:r>
              <a:rPr lang="en-US" sz="6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· MCP · skills · memory 전체 보유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618336" y="2400300"/>
            <a:ext cx="590732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618336" y="2514600"/>
            <a:ext cx="590732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inheritance — 위임이지 파견이 아니다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676251" y="2682776"/>
            <a:ext cx="1879699" cy="520452"/>
          </a:xfrm>
          <a:prstGeom prst="roundRect">
            <a:avLst>
              <a:gd name="adj" fmla="val 9761"/>
            </a:avLst>
          </a:prstGeom>
          <a:solidFill>
            <a:srgbClr val="0D1117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770700" y="2781151"/>
            <a:ext cx="169080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Sub-Agent A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770700" y="2920752"/>
            <a:ext cx="169080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독립 200K window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1770700" y="3019127"/>
            <a:ext cx="169080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부모 능력 그대로 상속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3632150" y="2682776"/>
            <a:ext cx="1879699" cy="520452"/>
          </a:xfrm>
          <a:prstGeom prst="roundRect">
            <a:avLst>
              <a:gd name="adj" fmla="val 9761"/>
            </a:avLst>
          </a:prstGeom>
          <a:solidFill>
            <a:srgbClr val="0D1117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3726600" y="2781151"/>
            <a:ext cx="169080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Sub-Agent B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726600" y="2920752"/>
            <a:ext cx="169080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독립 200K window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3726600" y="3019127"/>
            <a:ext cx="169080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부모 능력 그대로 상속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5588050" y="2682776"/>
            <a:ext cx="1879699" cy="520452"/>
          </a:xfrm>
          <a:prstGeom prst="roundRect">
            <a:avLst>
              <a:gd name="adj" fmla="val 9761"/>
            </a:avLst>
          </a:prstGeom>
          <a:solidFill>
            <a:srgbClr val="0D1117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5682499" y="2781151"/>
            <a:ext cx="169080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Sub-Agent C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682499" y="2920752"/>
            <a:ext cx="169080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독립 200K window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5682499" y="3019127"/>
            <a:ext cx="169080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부모 능력 그대로 상속</a:t>
            </a:r>
            <a:endParaRPr lang="en-US" sz="600" dirty="0"/>
          </a:p>
        </p:txBody>
      </p:sp>
      <p:sp>
        <p:nvSpPr>
          <p:cNvPr id="35" name="Text 33"/>
          <p:cNvSpPr/>
          <p:nvPr/>
        </p:nvSpPr>
        <p:spPr>
          <a:xfrm>
            <a:off x="1618336" y="3266629"/>
            <a:ext cx="590732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반환 전 4096-token guard: 구조화 요약 압축</a:t>
            </a:r>
            <a:endParaRPr lang="en-US" sz="650" dirty="0"/>
          </a:p>
        </p:txBody>
      </p:sp>
      <p:sp>
        <p:nvSpPr>
          <p:cNvPr id="36" name="Text 34"/>
          <p:cNvSpPr/>
          <p:nvPr/>
        </p:nvSpPr>
        <p:spPr>
          <a:xfrm>
            <a:off x="1676251" y="3434804"/>
            <a:ext cx="5791498" cy="422077"/>
          </a:xfrm>
          <a:prstGeom prst="roundRect">
            <a:avLst>
              <a:gd name="adj" fmla="val 12036"/>
            </a:avLst>
          </a:prstGeom>
          <a:solidFill>
            <a:srgbClr val="1E293B"/>
          </a:solidFill>
          <a:ln w="9525">
            <a:solidFill>
              <a:srgbClr val="F59E0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1809306" y="3533180"/>
            <a:ext cx="552538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Compressed Summary → Parent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809306" y="3672780"/>
            <a:ext cx="552538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원시 출력 대신 구조화 요약 반환 — 컨텍스트 폭발 방지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7569250" y="1840409"/>
            <a:ext cx="1269950" cy="647402"/>
          </a:xfrm>
          <a:prstGeom prst="roundRect">
            <a:avLst>
              <a:gd name="adj" fmla="val 7847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7682852" y="1951434"/>
            <a:ext cx="10427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7682852" y="2205335"/>
            <a:ext cx="104274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MAX_CONCURRENT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7682852" y="2291060"/>
            <a:ext cx="104274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DAG scheduling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7569250" y="2564011"/>
            <a:ext cx="1269950" cy="647402"/>
          </a:xfrm>
          <a:prstGeom prst="roundRect">
            <a:avLst>
              <a:gd name="adj" fmla="val 7847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7682852" y="2675037"/>
            <a:ext cx="10427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600K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7682852" y="2928938"/>
            <a:ext cx="104274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깊이 3 유효 컨텍스트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7682852" y="3014663"/>
            <a:ext cx="104274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200K × 3 선형</a:t>
            </a:r>
            <a:endParaRPr lang="en-US" sz="600" dirty="0"/>
          </a:p>
        </p:txBody>
      </p:sp>
      <p:sp>
        <p:nvSpPr>
          <p:cNvPr id="47" name="Text 45"/>
          <p:cNvSpPr/>
          <p:nvPr/>
        </p:nvSpPr>
        <p:spPr>
          <a:xfrm>
            <a:off x="7569250" y="3287613"/>
            <a:ext cx="1269950" cy="551855"/>
          </a:xfrm>
          <a:prstGeom prst="roundRect">
            <a:avLst>
              <a:gd name="adj" fmla="val 9205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8" name="Shape 46"/>
          <p:cNvSpPr/>
          <p:nvPr/>
        </p:nvSpPr>
        <p:spPr>
          <a:xfrm>
            <a:off x="7588300" y="3287613"/>
            <a:ext cx="0" cy="551855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7"/>
          <p:cNvSpPr/>
          <p:nvPr/>
        </p:nvSpPr>
        <p:spPr>
          <a:xfrm>
            <a:off x="7708850" y="3376464"/>
            <a:ext cx="104942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6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결과</a:t>
            </a:r>
            <a:endParaRPr lang="en-US" sz="650" dirty="0"/>
          </a:p>
        </p:txBody>
      </p:sp>
      <p:sp>
        <p:nvSpPr>
          <p:cNvPr id="50" name="Text 48"/>
          <p:cNvSpPr/>
          <p:nvPr/>
        </p:nvSpPr>
        <p:spPr>
          <a:xfrm>
            <a:off x="7708850" y="3519339"/>
            <a:ext cx="1049426" cy="2312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10"/>
              </a:lnSpc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4096 guard 적용: 20K→5K </a:t>
            </a:r>
            <a:r>
              <a:rPr lang="en-US" sz="6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 절감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57200" y="4987975"/>
            <a:ext cx="3148885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SubAgentManager · IsolatedRunner · CoalescingQueue 250ms · MAX_CONCURRENT=5 · 4096 token guard</a:t>
            </a:r>
            <a:endParaRPr lang="en-US" sz="500" dirty="0"/>
          </a:p>
        </p:txBody>
      </p:sp>
      <p:sp>
        <p:nvSpPr>
          <p:cNvPr id="52" name="Text 50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35</a:t>
            </a:r>
            <a:endParaRPr lang="en-US" sz="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4363"/>
            <a:ext cx="15581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DIVE: 실행 흐름 ④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55550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Failover: 호출 실패 → CircuitBreaker → Cross-Provider Fallback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22250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Provider에 의존하면 Rate Limit·장애 시 파이프라인 전체가 중단되기 때문에 3-Provider 체인으로 단일 장애점을 제거한다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790426"/>
            <a:ext cx="1422499" cy="1479054"/>
          </a:xfrm>
          <a:prstGeom prst="roundRect">
            <a:avLst>
              <a:gd name="adj" fmla="val 3571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57200" y="799951"/>
            <a:ext cx="1422499" cy="0"/>
          </a:xfrm>
          <a:prstGeom prst="line">
            <a:avLst/>
          </a:prstGeom>
          <a:noFill/>
          <a:ln w="19050">
            <a:solidFill>
              <a:srgbClr val="4ECD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584150" y="923776"/>
            <a:ext cx="119197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84150" y="1088827"/>
            <a:ext cx="119197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Provider</a:t>
            </a:r>
            <a:endParaRPr lang="en-US" sz="600" dirty="0"/>
          </a:p>
        </p:txBody>
      </p:sp>
      <p:sp>
        <p:nvSpPr>
          <p:cNvPr id="10" name="Text 8"/>
          <p:cNvSpPr/>
          <p:nvPr/>
        </p:nvSpPr>
        <p:spPr>
          <a:xfrm>
            <a:off x="584150" y="1250603"/>
            <a:ext cx="1168598" cy="263426"/>
          </a:xfrm>
          <a:prstGeom prst="roundRect">
            <a:avLst>
              <a:gd name="adj" fmla="val 1446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85651" y="1339453"/>
            <a:ext cx="98490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584150" y="1552129"/>
            <a:ext cx="1168598" cy="282476"/>
          </a:xfrm>
          <a:prstGeom prst="roundRect">
            <a:avLst>
              <a:gd name="adj" fmla="val 13488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95176" y="1650504"/>
            <a:ext cx="96547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600" dirty="0"/>
          </a:p>
        </p:txBody>
      </p:sp>
      <p:sp>
        <p:nvSpPr>
          <p:cNvPr id="14" name="Text 12"/>
          <p:cNvSpPr/>
          <p:nvPr/>
        </p:nvSpPr>
        <p:spPr>
          <a:xfrm>
            <a:off x="584150" y="1872704"/>
            <a:ext cx="1168598" cy="282476"/>
          </a:xfrm>
          <a:prstGeom prst="roundRect">
            <a:avLst>
              <a:gd name="adj" fmla="val 13488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95176" y="1971080"/>
            <a:ext cx="96547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</a:t>
            </a:r>
            <a:endParaRPr lang="en-US" sz="600" dirty="0"/>
          </a:p>
        </p:txBody>
      </p:sp>
      <p:sp>
        <p:nvSpPr>
          <p:cNvPr id="16" name="Text 14"/>
          <p:cNvSpPr/>
          <p:nvPr/>
        </p:nvSpPr>
        <p:spPr>
          <a:xfrm>
            <a:off x="2031950" y="1410891"/>
            <a:ext cx="1036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2034034" y="1563291"/>
            <a:ext cx="9943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</a:t>
            </a:r>
            <a:endParaRPr lang="en-US" sz="600" dirty="0"/>
          </a:p>
        </p:txBody>
      </p:sp>
      <p:sp>
        <p:nvSpPr>
          <p:cNvPr id="18" name="Text 16"/>
          <p:cNvSpPr/>
          <p:nvPr/>
        </p:nvSpPr>
        <p:spPr>
          <a:xfrm>
            <a:off x="2285851" y="790426"/>
            <a:ext cx="1422648" cy="1479054"/>
          </a:xfrm>
          <a:prstGeom prst="roundRect">
            <a:avLst>
              <a:gd name="adj" fmla="val 3571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2285851" y="799951"/>
            <a:ext cx="1422648" cy="0"/>
          </a:xfrm>
          <a:prstGeom prst="line">
            <a:avLst/>
          </a:prstGeom>
          <a:noFill/>
          <a:ln w="19050">
            <a:solidFill>
              <a:srgbClr val="818C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2412802" y="923776"/>
            <a:ext cx="119212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412802" y="1088827"/>
            <a:ext cx="119212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 Provider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2412802" y="1250603"/>
            <a:ext cx="1168747" cy="263426"/>
          </a:xfrm>
          <a:prstGeom prst="roundRect">
            <a:avLst>
              <a:gd name="adj" fmla="val 1446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2514302" y="1339453"/>
            <a:ext cx="98506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GPT-5.4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2412802" y="1552129"/>
            <a:ext cx="1168747" cy="282476"/>
          </a:xfrm>
          <a:prstGeom prst="roundRect">
            <a:avLst>
              <a:gd name="adj" fmla="val 13488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2523827" y="1650504"/>
            <a:ext cx="96563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GPT-5.3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2412802" y="1872704"/>
            <a:ext cx="1168747" cy="282476"/>
          </a:xfrm>
          <a:prstGeom prst="roundRect">
            <a:avLst>
              <a:gd name="adj" fmla="val 13488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2523827" y="1971080"/>
            <a:ext cx="96563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GPT-4o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3860750" y="1410891"/>
            <a:ext cx="1036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862834" y="1563291"/>
            <a:ext cx="9943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4114651" y="790426"/>
            <a:ext cx="1422499" cy="1479054"/>
          </a:xfrm>
          <a:prstGeom prst="roundRect">
            <a:avLst>
              <a:gd name="adj" fmla="val 3571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Shape 29"/>
          <p:cNvSpPr/>
          <p:nvPr/>
        </p:nvSpPr>
        <p:spPr>
          <a:xfrm>
            <a:off x="4114651" y="799951"/>
            <a:ext cx="1422499" cy="0"/>
          </a:xfrm>
          <a:prstGeom prst="line">
            <a:avLst/>
          </a:prstGeom>
          <a:noFill/>
          <a:ln w="19050">
            <a:solidFill>
              <a:srgbClr val="F5C54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/>
          <p:nvPr/>
        </p:nvSpPr>
        <p:spPr>
          <a:xfrm>
            <a:off x="4241602" y="923776"/>
            <a:ext cx="119197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ZhipuAI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241602" y="1088827"/>
            <a:ext cx="119197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Resort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4241602" y="1250603"/>
            <a:ext cx="1168598" cy="263426"/>
          </a:xfrm>
          <a:prstGeom prst="roundRect">
            <a:avLst>
              <a:gd name="adj" fmla="val 1446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4343102" y="1339453"/>
            <a:ext cx="98490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GLM-5 / 80K ctx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4241602" y="1552129"/>
            <a:ext cx="1168598" cy="282476"/>
          </a:xfrm>
          <a:prstGeom prst="roundRect">
            <a:avLst>
              <a:gd name="adj" fmla="val 13488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4352627" y="1650504"/>
            <a:ext cx="96547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무료 tier</a:t>
            </a:r>
            <a:endParaRPr lang="en-US" sz="600" dirty="0"/>
          </a:p>
        </p:txBody>
      </p:sp>
      <p:sp>
        <p:nvSpPr>
          <p:cNvPr id="38" name="Text 36"/>
          <p:cNvSpPr/>
          <p:nvPr/>
        </p:nvSpPr>
        <p:spPr>
          <a:xfrm>
            <a:off x="4241602" y="1872704"/>
            <a:ext cx="1168598" cy="282476"/>
          </a:xfrm>
          <a:prstGeom prst="roundRect">
            <a:avLst>
              <a:gd name="adj" fmla="val 13488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4352627" y="1971080"/>
            <a:ext cx="96547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최후 보루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457200" y="2345680"/>
            <a:ext cx="5079950" cy="2582019"/>
          </a:xfrm>
          <a:prstGeom prst="roundRect">
            <a:avLst>
              <a:gd name="adj" fmla="val 1967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06326" y="2456706"/>
            <a:ext cx="487733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Circuit Breaker 상태 머신 (Provider별 독립)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606326" y="2669232"/>
            <a:ext cx="1284089" cy="415677"/>
          </a:xfrm>
          <a:prstGeom prst="roundRect">
            <a:avLst>
              <a:gd name="adj" fmla="val 12221"/>
            </a:avLst>
          </a:prstGeom>
          <a:solidFill>
            <a:srgbClr val="1E293B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719786" y="2780258"/>
            <a:ext cx="105716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CLOSED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719786" y="2888159"/>
            <a:ext cx="105716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정상 처리</a:t>
            </a:r>
            <a:endParaRPr lang="en-US" sz="600" dirty="0"/>
          </a:p>
        </p:txBody>
      </p:sp>
      <p:sp>
        <p:nvSpPr>
          <p:cNvPr id="45" name="Text 43"/>
          <p:cNvSpPr/>
          <p:nvPr/>
        </p:nvSpPr>
        <p:spPr>
          <a:xfrm>
            <a:off x="1966615" y="2770733"/>
            <a:ext cx="42262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5회 연속 실패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2122884" y="2869109"/>
            <a:ext cx="1036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2457152" y="2669232"/>
            <a:ext cx="1284238" cy="415677"/>
          </a:xfrm>
          <a:prstGeom prst="roundRect">
            <a:avLst>
              <a:gd name="adj" fmla="val 12221"/>
            </a:avLst>
          </a:prstGeom>
          <a:solidFill>
            <a:srgbClr val="1E293B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2570611" y="2780258"/>
            <a:ext cx="105732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2570611" y="2888159"/>
            <a:ext cx="105732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60s 차단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3817590" y="2770733"/>
            <a:ext cx="21419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60s 후</a:t>
            </a:r>
            <a:endParaRPr lang="en-US" sz="600" dirty="0"/>
          </a:p>
        </p:txBody>
      </p:sp>
      <p:sp>
        <p:nvSpPr>
          <p:cNvPr id="51" name="Text 49"/>
          <p:cNvSpPr/>
          <p:nvPr/>
        </p:nvSpPr>
        <p:spPr>
          <a:xfrm>
            <a:off x="3871764" y="2869109"/>
            <a:ext cx="1036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4103787" y="2669232"/>
            <a:ext cx="1284238" cy="415677"/>
          </a:xfrm>
          <a:prstGeom prst="roundRect">
            <a:avLst>
              <a:gd name="adj" fmla="val 12221"/>
            </a:avLst>
          </a:prstGeom>
          <a:solidFill>
            <a:srgbClr val="1E293B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4217246" y="2780258"/>
            <a:ext cx="105732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HALF-OPEN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4217246" y="2888159"/>
            <a:ext cx="105732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프로브 1회</a:t>
            </a:r>
            <a:endParaRPr lang="en-US" sz="600" dirty="0"/>
          </a:p>
        </p:txBody>
      </p:sp>
      <p:sp>
        <p:nvSpPr>
          <p:cNvPr id="55" name="Text 53"/>
          <p:cNvSpPr/>
          <p:nvPr/>
        </p:nvSpPr>
        <p:spPr>
          <a:xfrm>
            <a:off x="606326" y="3148310"/>
            <a:ext cx="487733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Retryable: Timeout · RateLimit · Connection → Exponential Backoff ±25% Jitter</a:t>
            </a:r>
            <a:endParaRPr lang="en-US" sz="600" dirty="0"/>
          </a:p>
        </p:txBody>
      </p:sp>
      <p:sp>
        <p:nvSpPr>
          <p:cNvPr id="56" name="Text 54"/>
          <p:cNvSpPr/>
          <p:nvPr/>
        </p:nvSpPr>
        <p:spPr>
          <a:xfrm>
            <a:off x="606326" y="3297436"/>
            <a:ext cx="487733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Non-Retryable: 잔액 부족 → 즉시 다음 Provider 에스컬레이션</a:t>
            </a:r>
            <a:endParaRPr lang="en-US" sz="600" dirty="0"/>
          </a:p>
        </p:txBody>
      </p:sp>
      <p:sp>
        <p:nvSpPr>
          <p:cNvPr id="57" name="Text 55"/>
          <p:cNvSpPr/>
          <p:nvPr/>
        </p:nvSpPr>
        <p:spPr>
          <a:xfrm>
            <a:off x="5651450" y="790426"/>
            <a:ext cx="3035350" cy="981521"/>
          </a:xfrm>
          <a:prstGeom prst="roundRect">
            <a:avLst>
              <a:gd name="adj" fmla="val 5176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5800576" y="901452"/>
            <a:ext cx="279184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Port/Adapter 추상화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5800576" y="1076027"/>
            <a:ext cx="2791840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3개 Provider를 Port/Adapter DI로 추상화했기 때문에 Failover 시에도 메모리가 모델에 종속되지 않는다. 세션 학습이 Provider 전환 후에도 유지된다.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5800576" y="1387971"/>
            <a:ext cx="2737098" cy="272951"/>
          </a:xfrm>
          <a:prstGeom prst="roundRect">
            <a:avLst>
              <a:gd name="adj" fmla="val 13959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5914876" y="1481584"/>
            <a:ext cx="60646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LLMClientPort</a:t>
            </a:r>
            <a:endParaRPr lang="en-US" sz="600" dirty="0"/>
          </a:p>
        </p:txBody>
      </p:sp>
      <p:sp>
        <p:nvSpPr>
          <p:cNvPr id="62" name="Text 60"/>
          <p:cNvSpPr/>
          <p:nvPr/>
        </p:nvSpPr>
        <p:spPr>
          <a:xfrm>
            <a:off x="6585645" y="1476821"/>
            <a:ext cx="9077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6750844" y="1481584"/>
            <a:ext cx="130597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Anthropic · OpenAI · ZhipuAI</a:t>
            </a:r>
            <a:endParaRPr lang="en-US" sz="600" dirty="0"/>
          </a:p>
        </p:txBody>
      </p:sp>
      <p:sp>
        <p:nvSpPr>
          <p:cNvPr id="64" name="Text 62"/>
          <p:cNvSpPr/>
          <p:nvPr/>
        </p:nvSpPr>
        <p:spPr>
          <a:xfrm>
            <a:off x="5651450" y="1848148"/>
            <a:ext cx="3035350" cy="769441"/>
          </a:xfrm>
          <a:prstGeom prst="roundRect">
            <a:avLst>
              <a:gd name="adj" fmla="val 6602"/>
            </a:avLst>
          </a:prstGeom>
          <a:solidFill>
            <a:srgbClr val="161B22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5800576" y="1959173"/>
            <a:ext cx="279184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ZhipuAI 선택 근거</a:t>
            </a:r>
            <a:endParaRPr lang="en-US" sz="800" dirty="0"/>
          </a:p>
        </p:txBody>
      </p:sp>
      <p:sp>
        <p:nvSpPr>
          <p:cNvPr id="66" name="Text 64"/>
          <p:cNvSpPr/>
          <p:nvPr/>
        </p:nvSpPr>
        <p:spPr>
          <a:xfrm>
            <a:off x="5800576" y="2133749"/>
            <a:ext cx="2791840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80K context + 무료 tier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Anthropic·OpenAI 양쪽 장애 시에도 비용 없이 운영 연속성을 보장한다. GLM-5 성능이 GPT-4 수준이라 응급 처리에 충분하다.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5651450" y="2693789"/>
            <a:ext cx="3035350" cy="1173956"/>
          </a:xfrm>
          <a:prstGeom prst="roundRect">
            <a:avLst>
              <a:gd name="adj" fmla="val 4327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8" name="Shape 66"/>
          <p:cNvSpPr/>
          <p:nvPr/>
        </p:nvSpPr>
        <p:spPr>
          <a:xfrm>
            <a:off x="5670500" y="2693789"/>
            <a:ext cx="0" cy="1173956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9" name="Text 67"/>
          <p:cNvSpPr/>
          <p:nvPr/>
        </p:nvSpPr>
        <p:spPr>
          <a:xfrm>
            <a:off x="5816501" y="2795290"/>
            <a:ext cx="279821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3-Provider 유지 비용 vs 단일 장애점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5816501" y="2925366"/>
            <a:ext cx="2798216" cy="399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어댑터 3개 유지 비용이 있지만, 단일 Provider 장애로 파이프라인 전체가 중단되는 비용이 훨씬 크다. ZhipuAI 무료 tier 덕분에 추가 비용 없이 단일 장애점을 제거한다.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6873767" y="3426470"/>
            <a:ext cx="319701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72" name="Text 70"/>
          <p:cNvSpPr/>
          <p:nvPr/>
        </p:nvSpPr>
        <p:spPr>
          <a:xfrm>
            <a:off x="6873767" y="3680520"/>
            <a:ext cx="31970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providers</a:t>
            </a:r>
            <a:endParaRPr lang="en-US" sz="600" dirty="0"/>
          </a:p>
        </p:txBody>
      </p:sp>
      <p:sp>
        <p:nvSpPr>
          <p:cNvPr id="73" name="Text 71"/>
          <p:cNvSpPr/>
          <p:nvPr/>
        </p:nvSpPr>
        <p:spPr>
          <a:xfrm>
            <a:off x="7289759" y="3426470"/>
            <a:ext cx="211616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000" dirty="0"/>
          </a:p>
        </p:txBody>
      </p:sp>
      <p:sp>
        <p:nvSpPr>
          <p:cNvPr id="74" name="Text 72"/>
          <p:cNvSpPr/>
          <p:nvPr/>
        </p:nvSpPr>
        <p:spPr>
          <a:xfrm>
            <a:off x="7289759" y="3680520"/>
            <a:ext cx="21161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SPOF</a:t>
            </a:r>
            <a:endParaRPr lang="en-US" sz="600" dirty="0"/>
          </a:p>
        </p:txBody>
      </p:sp>
      <p:sp>
        <p:nvSpPr>
          <p:cNvPr id="75" name="Text 73"/>
          <p:cNvSpPr/>
          <p:nvPr/>
        </p:nvSpPr>
        <p:spPr>
          <a:xfrm>
            <a:off x="457200" y="4978450"/>
            <a:ext cx="3433215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Anthropic(Opus·Sonnet·Haiku) · OpenAI(GPT-5.4·5.3·4o) · ZhipuAI(GLM-5 80K) · Provider별 독립 CircuitBreaker 3-state</a:t>
            </a:r>
            <a:endParaRPr lang="en-US" sz="500" dirty="0"/>
          </a:p>
        </p:txBody>
      </p:sp>
      <p:sp>
        <p:nvSpPr>
          <p:cNvPr id="76" name="Text 74"/>
          <p:cNvSpPr/>
          <p:nvPr/>
        </p:nvSpPr>
        <p:spPr>
          <a:xfrm>
            <a:off x="8492728" y="4983212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35</a:t>
            </a:r>
            <a:endParaRPr lang="en-US" sz="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4363"/>
            <a:ext cx="15581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DIVE: 실행 흐름 ⑤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427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Compression: 80% WARNING → 95% CRITICAL → 3-Phase 압축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596652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윈도우가 넘치면 루프가 강제 종료되기 때문에 Lossless Selection을 도입해 정보 손실 없이 비용을 0.03%로 절감한다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752177"/>
            <a:ext cx="914400" cy="1098798"/>
          </a:xfrm>
          <a:prstGeom prst="roundRect">
            <a:avLst>
              <a:gd name="adj" fmla="val 5556"/>
            </a:avLst>
          </a:prstGeom>
          <a:solidFill>
            <a:srgbClr val="1E293B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43013" y="1052364"/>
            <a:ext cx="34277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670755" y="1147614"/>
            <a:ext cx="48714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74650" y="1300014"/>
            <a:ext cx="285089" cy="1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0"/>
              </a:lnSpc>
              <a:spcBef>
                <a:spcPts val="300"/>
              </a:spcBef>
              <a:buNone/>
            </a:pPr>
            <a:r>
              <a:rPr lang="en-US" sz="11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27984" y="1465064"/>
            <a:ext cx="37283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WARNING</a:t>
            </a:r>
            <a:endParaRPr lang="en-US" sz="600" dirty="0"/>
          </a:p>
        </p:txBody>
      </p:sp>
      <p:sp>
        <p:nvSpPr>
          <p:cNvPr id="11" name="Text 9"/>
          <p:cNvSpPr/>
          <p:nvPr/>
        </p:nvSpPr>
        <p:spPr>
          <a:xfrm>
            <a:off x="1473101" y="752177"/>
            <a:ext cx="6223248" cy="1098798"/>
          </a:xfrm>
          <a:prstGeom prst="roundRect">
            <a:avLst>
              <a:gd name="adj" fmla="val 4623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1473101" y="756940"/>
            <a:ext cx="6223248" cy="0"/>
          </a:xfrm>
          <a:prstGeom prst="line">
            <a:avLst/>
          </a:prstGeom>
          <a:noFill/>
          <a:ln w="9525">
            <a:solidFill>
              <a:srgbClr val="4ECD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7691586" y="752177"/>
            <a:ext cx="0" cy="1098798"/>
          </a:xfrm>
          <a:prstGeom prst="line">
            <a:avLst/>
          </a:prstGeom>
          <a:noFill/>
          <a:ln w="9525">
            <a:solidFill>
              <a:srgbClr val="4ECD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1473101" y="1846213"/>
            <a:ext cx="6223248" cy="0"/>
          </a:xfrm>
          <a:prstGeom prst="line">
            <a:avLst/>
          </a:prstGeom>
          <a:noFill/>
          <a:ln w="9525">
            <a:solidFill>
              <a:srgbClr val="4ECD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1492151" y="752177"/>
            <a:ext cx="0" cy="1098798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1638151" y="1225451"/>
            <a:ext cx="6040157" cy="1522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사용률 상시 추적. </a:t>
            </a:r>
            <a:r>
              <a:rPr lang="en-US" sz="75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도달 시  이벤트 발화 — 루프는 계속 진행하되 compact 준비 신호를 핸들러에 전달한다.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7797850" y="752177"/>
            <a:ext cx="888950" cy="1098798"/>
          </a:xfrm>
          <a:prstGeom prst="roundRect">
            <a:avLst>
              <a:gd name="adj" fmla="val 5715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073747" y="1136452"/>
            <a:ext cx="33700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0-79%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096973" y="1295102"/>
            <a:ext cx="29055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정상 운영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8074201" y="1380827"/>
            <a:ext cx="33624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모니터링만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914400" y="1876276"/>
            <a:ext cx="5191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57200" y="2015877"/>
            <a:ext cx="914400" cy="1648123"/>
          </a:xfrm>
          <a:prstGeom prst="roundRect">
            <a:avLst>
              <a:gd name="adj" fmla="val 5556"/>
            </a:avLst>
          </a:prstGeom>
          <a:solidFill>
            <a:srgbClr val="1E293B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43013" y="2552551"/>
            <a:ext cx="34277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672575" y="2647801"/>
            <a:ext cx="48365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LOSSLESS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735574" y="2743051"/>
            <a:ext cx="35765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716310" y="2876401"/>
            <a:ext cx="403952" cy="1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0"/>
              </a:lnSpc>
              <a:spcBef>
                <a:spcPts val="300"/>
              </a:spcBef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0.03%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69123" y="3041452"/>
            <a:ext cx="29055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압축 비용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1473101" y="2015877"/>
            <a:ext cx="6223248" cy="1648123"/>
          </a:xfrm>
          <a:prstGeom prst="roundRect">
            <a:avLst>
              <a:gd name="adj" fmla="val 3082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Shape 27"/>
          <p:cNvSpPr/>
          <p:nvPr/>
        </p:nvSpPr>
        <p:spPr>
          <a:xfrm>
            <a:off x="1473101" y="2020639"/>
            <a:ext cx="6223248" cy="0"/>
          </a:xfrm>
          <a:prstGeom prst="line">
            <a:avLst/>
          </a:prstGeom>
          <a:noFill/>
          <a:ln w="9525">
            <a:solidFill>
              <a:srgbClr val="F5C54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7691586" y="2015877"/>
            <a:ext cx="0" cy="1648123"/>
          </a:xfrm>
          <a:prstGeom prst="line">
            <a:avLst/>
          </a:prstGeom>
          <a:noFill/>
          <a:ln w="9525">
            <a:solidFill>
              <a:srgbClr val="F5C54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9"/>
          <p:cNvSpPr/>
          <p:nvPr/>
        </p:nvSpPr>
        <p:spPr>
          <a:xfrm>
            <a:off x="1473101" y="3659237"/>
            <a:ext cx="6223248" cy="0"/>
          </a:xfrm>
          <a:prstGeom prst="line">
            <a:avLst/>
          </a:prstGeom>
          <a:noFill/>
          <a:ln w="9525">
            <a:solidFill>
              <a:srgbClr val="F5C54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30"/>
          <p:cNvSpPr/>
          <p:nvPr/>
        </p:nvSpPr>
        <p:spPr>
          <a:xfrm>
            <a:off x="1492151" y="2015877"/>
            <a:ext cx="0" cy="1648123"/>
          </a:xfrm>
          <a:prstGeom prst="line">
            <a:avLst/>
          </a:prstGeom>
          <a:noFill/>
          <a:ln w="38100">
            <a:solidFill>
              <a:srgbClr val="F5C54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1638151" y="2555528"/>
            <a:ext cx="604015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Lossy 요약 대신 LLM이 코드로 관련 청크만 선별. 요약이 아니라 </a:t>
            </a:r>
            <a:r>
              <a:rPr lang="en-US" sz="7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선택</a:t>
            </a: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이기 때문에 정보 손실 0%, LLM 호출 비용 </a:t>
            </a:r>
            <a:r>
              <a:rPr lang="en-US" sz="7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0.03%</a:t>
            </a: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절감.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1638151" y="2749153"/>
            <a:ext cx="1443375" cy="375047"/>
          </a:xfrm>
          <a:prstGeom prst="roundRect">
            <a:avLst>
              <a:gd name="adj" fmla="val 10159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5" name="Shape 33"/>
          <p:cNvSpPr/>
          <p:nvPr/>
        </p:nvSpPr>
        <p:spPr>
          <a:xfrm>
            <a:off x="1647676" y="2749153"/>
            <a:ext cx="0" cy="375047"/>
          </a:xfrm>
          <a:prstGeom prst="line">
            <a:avLst/>
          </a:prstGeom>
          <a:noFill/>
          <a:ln w="1905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/>
          <p:nvPr/>
        </p:nvSpPr>
        <p:spPr>
          <a:xfrm>
            <a:off x="1758702" y="2838004"/>
            <a:ext cx="276117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Lossy 요약</a:t>
            </a:r>
            <a:endParaRPr lang="en-US" sz="600" dirty="0"/>
          </a:p>
        </p:txBody>
      </p:sp>
      <p:sp>
        <p:nvSpPr>
          <p:cNvPr id="37" name="Text 35"/>
          <p:cNvSpPr/>
          <p:nvPr/>
        </p:nvSpPr>
        <p:spPr>
          <a:xfrm>
            <a:off x="1758702" y="2936379"/>
            <a:ext cx="2761175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780"/>
              </a:lnSpc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구현 쉽지만 정보 소실 불가피</a:t>
            </a:r>
            <a:endParaRPr lang="en-US" sz="600" dirty="0"/>
          </a:p>
        </p:txBody>
      </p:sp>
      <p:sp>
        <p:nvSpPr>
          <p:cNvPr id="38" name="Text 36"/>
          <p:cNvSpPr/>
          <p:nvPr/>
        </p:nvSpPr>
        <p:spPr>
          <a:xfrm>
            <a:off x="4630639" y="2749153"/>
            <a:ext cx="1502310" cy="375047"/>
          </a:xfrm>
          <a:prstGeom prst="roundRect">
            <a:avLst>
              <a:gd name="adj" fmla="val 10159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9" name="Shape 37"/>
          <p:cNvSpPr/>
          <p:nvPr/>
        </p:nvSpPr>
        <p:spPr>
          <a:xfrm>
            <a:off x="4640163" y="2749153"/>
            <a:ext cx="0" cy="375047"/>
          </a:xfrm>
          <a:prstGeom prst="line">
            <a:avLst/>
          </a:prstGeom>
          <a:noFill/>
          <a:ln w="1905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8"/>
          <p:cNvSpPr/>
          <p:nvPr/>
        </p:nvSpPr>
        <p:spPr>
          <a:xfrm>
            <a:off x="4751189" y="2838004"/>
            <a:ext cx="276132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Lossless Selection</a:t>
            </a:r>
            <a:endParaRPr lang="en-US" sz="600" dirty="0"/>
          </a:p>
        </p:txBody>
      </p:sp>
      <p:sp>
        <p:nvSpPr>
          <p:cNvPr id="41" name="Text 39"/>
          <p:cNvSpPr/>
          <p:nvPr/>
        </p:nvSpPr>
        <p:spPr>
          <a:xfrm>
            <a:off x="4751189" y="2936379"/>
            <a:ext cx="2761327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780"/>
              </a:lnSpc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관련 청크만 선별, 내용 100% 유지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7797850" y="2015877"/>
            <a:ext cx="888950" cy="1648123"/>
          </a:xfrm>
          <a:prstGeom prst="roundRect">
            <a:avLst>
              <a:gd name="adj" fmla="val 5715"/>
            </a:avLst>
          </a:prstGeom>
          <a:solidFill>
            <a:srgbClr val="0D2B1E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8038951" y="2633514"/>
            <a:ext cx="414882" cy="203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8107751" y="2874764"/>
            <a:ext cx="26899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</a:t>
            </a:r>
            <a:endParaRPr lang="en-US" sz="600" dirty="0"/>
          </a:p>
        </p:txBody>
      </p:sp>
      <p:sp>
        <p:nvSpPr>
          <p:cNvPr id="45" name="Text 43"/>
          <p:cNvSpPr/>
          <p:nvPr/>
        </p:nvSpPr>
        <p:spPr>
          <a:xfrm>
            <a:off x="8049458" y="2960489"/>
            <a:ext cx="38558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절감 (깊이3)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914400" y="3689300"/>
            <a:ext cx="5191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457200" y="3828901"/>
            <a:ext cx="914400" cy="1098798"/>
          </a:xfrm>
          <a:prstGeom prst="roundRect">
            <a:avLst>
              <a:gd name="adj" fmla="val 5556"/>
            </a:avLst>
          </a:prstGeom>
          <a:solidFill>
            <a:srgbClr val="1E293B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743013" y="4090987"/>
            <a:ext cx="34277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622177" y="4186238"/>
            <a:ext cx="58429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EMERGENCY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755614" y="4281488"/>
            <a:ext cx="31742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PRUNE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774650" y="4414838"/>
            <a:ext cx="285089" cy="1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0"/>
              </a:lnSpc>
              <a:spcBef>
                <a:spcPts val="300"/>
              </a:spcBef>
              <a:buNone/>
            </a:pPr>
            <a:r>
              <a:rPr lang="en-US" sz="11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737245" y="4579888"/>
            <a:ext cx="35416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</a:t>
            </a:r>
            <a:endParaRPr lang="en-US" sz="600" dirty="0"/>
          </a:p>
        </p:txBody>
      </p:sp>
      <p:sp>
        <p:nvSpPr>
          <p:cNvPr id="53" name="Text 51"/>
          <p:cNvSpPr/>
          <p:nvPr/>
        </p:nvSpPr>
        <p:spPr>
          <a:xfrm>
            <a:off x="1473101" y="3828901"/>
            <a:ext cx="6223248" cy="1098798"/>
          </a:xfrm>
          <a:prstGeom prst="roundRect">
            <a:avLst>
              <a:gd name="adj" fmla="val 4623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4" name="Shape 52"/>
          <p:cNvSpPr/>
          <p:nvPr/>
        </p:nvSpPr>
        <p:spPr>
          <a:xfrm>
            <a:off x="1473101" y="3833664"/>
            <a:ext cx="6223248" cy="0"/>
          </a:xfrm>
          <a:prstGeom prst="line">
            <a:avLst/>
          </a:prstGeom>
          <a:noFill/>
          <a:ln w="9525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Shape 53"/>
          <p:cNvSpPr/>
          <p:nvPr/>
        </p:nvSpPr>
        <p:spPr>
          <a:xfrm>
            <a:off x="7691586" y="3828901"/>
            <a:ext cx="0" cy="1098798"/>
          </a:xfrm>
          <a:prstGeom prst="line">
            <a:avLst/>
          </a:prstGeom>
          <a:noFill/>
          <a:ln w="9525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54"/>
          <p:cNvSpPr/>
          <p:nvPr/>
        </p:nvSpPr>
        <p:spPr>
          <a:xfrm>
            <a:off x="1473101" y="4922937"/>
            <a:ext cx="6223248" cy="0"/>
          </a:xfrm>
          <a:prstGeom prst="line">
            <a:avLst/>
          </a:prstGeom>
          <a:noFill/>
          <a:ln w="9525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55"/>
          <p:cNvSpPr/>
          <p:nvPr/>
        </p:nvSpPr>
        <p:spPr>
          <a:xfrm>
            <a:off x="1492151" y="3828901"/>
            <a:ext cx="0" cy="1098798"/>
          </a:xfrm>
          <a:prstGeom prst="line">
            <a:avLst/>
          </a:prstGeom>
          <a:noFill/>
          <a:ln w="381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6"/>
          <p:cNvSpPr/>
          <p:nvPr/>
        </p:nvSpPr>
        <p:spPr>
          <a:xfrm>
            <a:off x="1638151" y="4302175"/>
            <a:ext cx="6040157" cy="1522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</a:t>
            </a: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초과 시  이벤트 발생 — 강제 pruning 발동. 최초 사용자 메시지 보존 + bridge 메시지 삽입 후 루프 재개.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7797850" y="3828901"/>
            <a:ext cx="888950" cy="1098798"/>
          </a:xfrm>
          <a:prstGeom prst="roundRect">
            <a:avLst>
              <a:gd name="adj" fmla="val 5715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8102894" y="4211389"/>
            <a:ext cx="278713" cy="137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600K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8075416" y="4373761"/>
            <a:ext cx="33381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깊이3 유효</a:t>
            </a:r>
            <a:endParaRPr lang="en-US" sz="600" dirty="0"/>
          </a:p>
        </p:txBody>
      </p:sp>
      <p:sp>
        <p:nvSpPr>
          <p:cNvPr id="62" name="Text 60"/>
          <p:cNvSpPr/>
          <p:nvPr/>
        </p:nvSpPr>
        <p:spPr>
          <a:xfrm>
            <a:off x="8107751" y="4459486"/>
            <a:ext cx="26899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</a:t>
            </a:r>
            <a:endParaRPr lang="en-US" sz="600" dirty="0"/>
          </a:p>
        </p:txBody>
      </p:sp>
      <p:sp>
        <p:nvSpPr>
          <p:cNvPr id="63" name="Text 61"/>
          <p:cNvSpPr/>
          <p:nvPr/>
        </p:nvSpPr>
        <p:spPr>
          <a:xfrm>
            <a:off x="457200" y="4978450"/>
            <a:ext cx="3237539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CONTEXT_WARNING 80% · CONTEXT_CRITICAL 95% · Lossless Selection · Emergency Prune · bridge 메시지</a:t>
            </a:r>
            <a:endParaRPr lang="en-US" sz="500" dirty="0"/>
          </a:p>
        </p:txBody>
      </p:sp>
      <p:sp>
        <p:nvSpPr>
          <p:cNvPr id="64" name="Text 62"/>
          <p:cNvSpPr/>
          <p:nvPr/>
        </p:nvSpPr>
        <p:spPr>
          <a:xfrm>
            <a:off x="8492728" y="4983212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35</a:t>
            </a:r>
            <a:endParaRPr lang="en-US" sz="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3401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93464"/>
            <a:ext cx="15581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DIVE: 실행 흐름 ⑥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9202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+ Auto-Learning: 턴 종료 → TURN_COMPLETE hook → MEMORY.md 자동 학습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533102"/>
            <a:ext cx="839419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PIPELINE_END 이벤트가 MEMORY.md에 인사이트를 자동 축적하고, 다음 세션 PromptAssembler P4가 주입한다</a:t>
            </a:r>
            <a:endParaRPr lang="en-US" sz="600" dirty="0"/>
          </a:p>
        </p:txBody>
      </p:sp>
      <p:sp>
        <p:nvSpPr>
          <p:cNvPr id="6" name="Text 4"/>
          <p:cNvSpPr/>
          <p:nvPr/>
        </p:nvSpPr>
        <p:spPr>
          <a:xfrm>
            <a:off x="457200" y="644128"/>
            <a:ext cx="5029200" cy="1371600"/>
          </a:xfrm>
          <a:prstGeom prst="roundRect">
            <a:avLst>
              <a:gd name="adj" fmla="val 370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6326" y="767953"/>
            <a:ext cx="482556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AUTO-LEARNING FEEDBACK LOOP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06326" y="958453"/>
            <a:ext cx="1458367" cy="425202"/>
          </a:xfrm>
          <a:prstGeom prst="roundRect">
            <a:avLst>
              <a:gd name="adj" fmla="val 11947"/>
            </a:avLst>
          </a:prstGeom>
          <a:solidFill>
            <a:srgbClr val="1E293B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718044" y="1069479"/>
            <a:ext cx="123493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턴 실행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718044" y="1186904"/>
            <a:ext cx="123493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AgenticLoop 1 turn</a:t>
            </a:r>
            <a:endParaRPr lang="en-US" sz="600" dirty="0"/>
          </a:p>
        </p:txBody>
      </p:sp>
      <p:sp>
        <p:nvSpPr>
          <p:cNvPr id="11" name="Text 9"/>
          <p:cNvSpPr/>
          <p:nvPr/>
        </p:nvSpPr>
        <p:spPr>
          <a:xfrm>
            <a:off x="2102793" y="1113830"/>
            <a:ext cx="1036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242542" y="963216"/>
            <a:ext cx="1458516" cy="415677"/>
          </a:xfrm>
          <a:prstGeom prst="roundRect">
            <a:avLst>
              <a:gd name="adj" fmla="val 12221"/>
            </a:avLst>
          </a:prstGeom>
          <a:solidFill>
            <a:srgbClr val="1E293B"/>
          </a:solidFill>
          <a:ln w="9525">
            <a:solidFill>
              <a:srgbClr val="F9731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2354259" y="1074241"/>
            <a:ext cx="123508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TURN_COMPLETE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2354259" y="1182142"/>
            <a:ext cx="123508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이벤트 발화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3739158" y="1113830"/>
            <a:ext cx="1036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878907" y="963216"/>
            <a:ext cx="1458367" cy="415677"/>
          </a:xfrm>
          <a:prstGeom prst="roundRect">
            <a:avLst>
              <a:gd name="adj" fmla="val 12221"/>
            </a:avLst>
          </a:prstGeom>
          <a:solidFill>
            <a:srgbClr val="1E293B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3990625" y="1074241"/>
            <a:ext cx="123493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MEMORY.md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3990625" y="1182142"/>
            <a:ext cx="123493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인사이트 자동 축적</a:t>
            </a:r>
            <a:endParaRPr lang="en-US" sz="600" dirty="0"/>
          </a:p>
        </p:txBody>
      </p:sp>
      <p:sp>
        <p:nvSpPr>
          <p:cNvPr id="19" name="Text 17"/>
          <p:cNvSpPr/>
          <p:nvPr/>
        </p:nvSpPr>
        <p:spPr>
          <a:xfrm>
            <a:off x="1932831" y="1421755"/>
            <a:ext cx="211949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PIPELINE_END → memory write-back → 다음 세션 Tier 3 주입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606326" y="1545580"/>
            <a:ext cx="4730948" cy="346323"/>
          </a:xfrm>
          <a:prstGeom prst="roundRect">
            <a:avLst>
              <a:gd name="adj" fmla="val 14668"/>
            </a:avLst>
          </a:prstGeom>
          <a:solidFill>
            <a:srgbClr val="0D1117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98221" y="1656606"/>
            <a:ext cx="4547158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다음 세션 시작 시 PromptAssembler P4 (memory 페이즈)가 MEMORY.md 인사이트를 프롬프트에 자동 주입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457200" y="2091928"/>
            <a:ext cx="5029200" cy="2921496"/>
          </a:xfrm>
          <a:prstGeom prst="roundRect">
            <a:avLst>
              <a:gd name="adj" fmla="val 173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06326" y="2202954"/>
            <a:ext cx="482556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4-TIER MEMORY 계층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06326" y="2415629"/>
            <a:ext cx="1154162" cy="2486769"/>
          </a:xfrm>
          <a:prstGeom prst="roundRect">
            <a:avLst>
              <a:gd name="adj" fmla="val 4401"/>
            </a:avLst>
          </a:prstGeom>
          <a:solidFill>
            <a:srgbClr val="1E293B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730151" y="2526655"/>
            <a:ext cx="92464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4: Organization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730151" y="2647206"/>
            <a:ext cx="9246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불변 가이드라인 · CLAUDE.md · 전역 정책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1798588" y="2415629"/>
            <a:ext cx="1154162" cy="2486769"/>
          </a:xfrm>
          <a:prstGeom prst="roundRect">
            <a:avLst>
              <a:gd name="adj" fmla="val 4401"/>
            </a:avLst>
          </a:prstGeom>
          <a:solidFill>
            <a:srgbClr val="1E293B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1922413" y="2526655"/>
            <a:ext cx="92464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3: Project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1922413" y="2647206"/>
            <a:ext cx="924642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 간 인사이트 · LEARNINGS.md 자동 업데이트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2990850" y="2415629"/>
            <a:ext cx="1154162" cy="2486769"/>
          </a:xfrm>
          <a:prstGeom prst="roundRect">
            <a:avLst>
              <a:gd name="adj" fmla="val 4401"/>
            </a:avLst>
          </a:prstGeom>
          <a:solidFill>
            <a:srgbClr val="1E293B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3114675" y="2526655"/>
            <a:ext cx="92464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2: Session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3114675" y="2647206"/>
            <a:ext cx="9246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TTL 단기 메모리 · 200 turns sliding window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4183112" y="2415629"/>
            <a:ext cx="1154162" cy="2486769"/>
          </a:xfrm>
          <a:prstGeom prst="roundRect">
            <a:avLst>
              <a:gd name="adj" fmla="val 4401"/>
            </a:avLst>
          </a:prstGeom>
          <a:solidFill>
            <a:srgbClr val="1E293B"/>
          </a:solidFill>
          <a:ln w="9525">
            <a:solidFill>
              <a:srgbClr val="F9731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4306937" y="2526655"/>
            <a:ext cx="92464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1: Hybrid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4306937" y="2647206"/>
            <a:ext cx="9246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 L1 고속 캐시 + File L2 영속 저장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5575250" y="644128"/>
            <a:ext cx="3111550" cy="1783259"/>
          </a:xfrm>
          <a:prstGeom prst="roundRect">
            <a:avLst>
              <a:gd name="adj" fmla="val 284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5724376" y="767953"/>
            <a:ext cx="286956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Write-back 메커니즘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5724376" y="955179"/>
            <a:ext cx="2813298" cy="409277"/>
          </a:xfrm>
          <a:prstGeom prst="roundRect">
            <a:avLst>
              <a:gd name="adj" fmla="val 12412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9" name="Shape 37"/>
          <p:cNvSpPr/>
          <p:nvPr/>
        </p:nvSpPr>
        <p:spPr>
          <a:xfrm>
            <a:off x="5743426" y="955179"/>
            <a:ext cx="0" cy="409277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8"/>
          <p:cNvSpPr/>
          <p:nvPr/>
        </p:nvSpPr>
        <p:spPr>
          <a:xfrm>
            <a:off x="5876776" y="1056680"/>
            <a:ext cx="259753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PIPELINE_END hook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5876776" y="1177230"/>
            <a:ext cx="259753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파이프라인 종료 시 L2 React 핸들러 자동 실행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5724376" y="1415207"/>
            <a:ext cx="2813298" cy="418802"/>
          </a:xfrm>
          <a:prstGeom prst="roundRect">
            <a:avLst>
              <a:gd name="adj" fmla="val 12130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3" name="Shape 41"/>
          <p:cNvSpPr/>
          <p:nvPr/>
        </p:nvSpPr>
        <p:spPr>
          <a:xfrm>
            <a:off x="5743426" y="1415207"/>
            <a:ext cx="0" cy="418802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2"/>
          <p:cNvSpPr/>
          <p:nvPr/>
        </p:nvSpPr>
        <p:spPr>
          <a:xfrm>
            <a:off x="5876776" y="1516707"/>
            <a:ext cx="259753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패턴 추출 + 요약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5876776" y="1646783"/>
            <a:ext cx="259753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LLM이 인사이트·패턴·결정 이유를 구조화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5724376" y="1884759"/>
            <a:ext cx="2813298" cy="418802"/>
          </a:xfrm>
          <a:prstGeom prst="roundRect">
            <a:avLst>
              <a:gd name="adj" fmla="val 12130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7" name="Shape 45"/>
          <p:cNvSpPr/>
          <p:nvPr/>
        </p:nvSpPr>
        <p:spPr>
          <a:xfrm>
            <a:off x="5743426" y="1884759"/>
            <a:ext cx="0" cy="418802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6"/>
          <p:cNvSpPr/>
          <p:nvPr/>
        </p:nvSpPr>
        <p:spPr>
          <a:xfrm>
            <a:off x="5876776" y="1986260"/>
            <a:ext cx="259753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MEMORY.md 누적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5876776" y="2116336"/>
            <a:ext cx="259753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3 Project 메모리에 append, 세션 간 지속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5575250" y="2503587"/>
            <a:ext cx="3111550" cy="1057721"/>
          </a:xfrm>
          <a:prstGeom prst="roundRect">
            <a:avLst>
              <a:gd name="adj" fmla="val 4803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5724376" y="2614613"/>
            <a:ext cx="286956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4-Tier인가?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5724376" y="2789188"/>
            <a:ext cx="2869564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spcAft>
                <a:spcPts val="400"/>
              </a:spcAft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메모리면 프로젝트 간 격리가 안 되고, 세션 메모리만으로는 인사이트가 휘발된다. 4-Tier로 범위별 TTL과 접근 권한을 분리한다.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5724376" y="3088481"/>
            <a:ext cx="665262" cy="361801"/>
          </a:xfrm>
          <a:prstGeom prst="roundRect">
            <a:avLst>
              <a:gd name="adj" fmla="val 10531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5808351" y="3177332"/>
            <a:ext cx="49731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T4 영구</a:t>
            </a:r>
            <a:endParaRPr lang="en-US" sz="600" dirty="0"/>
          </a:p>
        </p:txBody>
      </p:sp>
      <p:sp>
        <p:nvSpPr>
          <p:cNvPr id="55" name="Text 53"/>
          <p:cNvSpPr/>
          <p:nvPr/>
        </p:nvSpPr>
        <p:spPr>
          <a:xfrm>
            <a:off x="5808351" y="3275707"/>
            <a:ext cx="49731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정책 불변</a:t>
            </a:r>
            <a:endParaRPr lang="en-US" sz="600" dirty="0"/>
          </a:p>
        </p:txBody>
      </p:sp>
      <p:sp>
        <p:nvSpPr>
          <p:cNvPr id="56" name="Text 54"/>
          <p:cNvSpPr/>
          <p:nvPr/>
        </p:nvSpPr>
        <p:spPr>
          <a:xfrm>
            <a:off x="6440388" y="3088481"/>
            <a:ext cx="665262" cy="361801"/>
          </a:xfrm>
          <a:prstGeom prst="roundRect">
            <a:avLst>
              <a:gd name="adj" fmla="val 10531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6524363" y="3177332"/>
            <a:ext cx="49731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T3 장기</a:t>
            </a:r>
            <a:endParaRPr lang="en-US" sz="600" dirty="0"/>
          </a:p>
        </p:txBody>
      </p:sp>
      <p:sp>
        <p:nvSpPr>
          <p:cNvPr id="58" name="Text 56"/>
          <p:cNvSpPr/>
          <p:nvPr/>
        </p:nvSpPr>
        <p:spPr>
          <a:xfrm>
            <a:off x="6524363" y="3275707"/>
            <a:ext cx="49731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 간 누적</a:t>
            </a:r>
            <a:endParaRPr lang="en-US" sz="600" dirty="0"/>
          </a:p>
        </p:txBody>
      </p:sp>
      <p:sp>
        <p:nvSpPr>
          <p:cNvPr id="59" name="Text 57"/>
          <p:cNvSpPr/>
          <p:nvPr/>
        </p:nvSpPr>
        <p:spPr>
          <a:xfrm>
            <a:off x="7156400" y="3088481"/>
            <a:ext cx="665262" cy="361801"/>
          </a:xfrm>
          <a:prstGeom prst="roundRect">
            <a:avLst>
              <a:gd name="adj" fmla="val 10531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7240375" y="3177332"/>
            <a:ext cx="49731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T2 TTL</a:t>
            </a:r>
            <a:endParaRPr lang="en-US" sz="600" dirty="0"/>
          </a:p>
        </p:txBody>
      </p:sp>
      <p:sp>
        <p:nvSpPr>
          <p:cNvPr id="61" name="Text 59"/>
          <p:cNvSpPr/>
          <p:nvPr/>
        </p:nvSpPr>
        <p:spPr>
          <a:xfrm>
            <a:off x="7240375" y="3275707"/>
            <a:ext cx="49731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 단위</a:t>
            </a:r>
            <a:endParaRPr lang="en-US" sz="600" dirty="0"/>
          </a:p>
        </p:txBody>
      </p:sp>
      <p:sp>
        <p:nvSpPr>
          <p:cNvPr id="62" name="Text 60"/>
          <p:cNvSpPr/>
          <p:nvPr/>
        </p:nvSpPr>
        <p:spPr>
          <a:xfrm>
            <a:off x="7872413" y="3088481"/>
            <a:ext cx="665262" cy="361801"/>
          </a:xfrm>
          <a:prstGeom prst="roundRect">
            <a:avLst>
              <a:gd name="adj" fmla="val 10531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7956387" y="3177332"/>
            <a:ext cx="49731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T1 고속</a:t>
            </a:r>
            <a:endParaRPr lang="en-US" sz="600" dirty="0"/>
          </a:p>
        </p:txBody>
      </p:sp>
      <p:sp>
        <p:nvSpPr>
          <p:cNvPr id="64" name="Text 62"/>
          <p:cNvSpPr/>
          <p:nvPr/>
        </p:nvSpPr>
        <p:spPr>
          <a:xfrm>
            <a:off x="7956387" y="3275707"/>
            <a:ext cx="49731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 캐시</a:t>
            </a:r>
            <a:endParaRPr lang="en-US" sz="600" dirty="0"/>
          </a:p>
        </p:txBody>
      </p:sp>
      <p:sp>
        <p:nvSpPr>
          <p:cNvPr id="65" name="Text 63"/>
          <p:cNvSpPr/>
          <p:nvPr/>
        </p:nvSpPr>
        <p:spPr>
          <a:xfrm>
            <a:off x="5575250" y="3637508"/>
            <a:ext cx="3111550" cy="712440"/>
          </a:xfrm>
          <a:prstGeom prst="roundRect">
            <a:avLst>
              <a:gd name="adj" fmla="val 713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6" name="Text 64"/>
          <p:cNvSpPr/>
          <p:nvPr/>
        </p:nvSpPr>
        <p:spPr>
          <a:xfrm>
            <a:off x="5724376" y="3735884"/>
            <a:ext cx="286956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Failover 후에도 메모리 유지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5724376" y="3878759"/>
            <a:ext cx="2869564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Failover 시 메모리가 함께 사라지는 버그를 막기 위해 4-Tier 메모리를 LLMClientPort 추상화 위에 배치한다. Provider 전환 후에도 세션 학습이 유지된다.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5575250" y="4426148"/>
            <a:ext cx="3111550" cy="707380"/>
          </a:xfrm>
          <a:prstGeom prst="roundRect">
            <a:avLst>
              <a:gd name="adj" fmla="val 7181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9" name="Shape 67"/>
          <p:cNvSpPr/>
          <p:nvPr/>
        </p:nvSpPr>
        <p:spPr>
          <a:xfrm>
            <a:off x="5594300" y="4426148"/>
            <a:ext cx="0" cy="707380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Text 68"/>
          <p:cNvSpPr/>
          <p:nvPr/>
        </p:nvSpPr>
        <p:spPr>
          <a:xfrm>
            <a:off x="5740301" y="4514999"/>
            <a:ext cx="287594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자동 학습 오버헤드 vs 지식 휘발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5740301" y="4645075"/>
            <a:ext cx="2875940" cy="399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PIPELINE_END마다 LLM 호출이 추가되지만, 세션마다 인사이트가 휘발되는 비용이 더 크다. write-back 덕분에 동일 분석 영역에서 세션이 누적될수록 품질이 개선된다.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457200" y="5026075"/>
            <a:ext cx="3772650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TURN_COMPLETE · PIPELINE_END hook · 4-Tier: Session→Project→Org→Hybrid · Redis L1 + File L2 · MEMORY.md write-back</a:t>
            </a:r>
            <a:endParaRPr lang="en-US" sz="500" dirty="0"/>
          </a:p>
        </p:txBody>
      </p:sp>
      <p:sp>
        <p:nvSpPr>
          <p:cNvPr id="73" name="Text 71"/>
          <p:cNvSpPr/>
          <p:nvPr/>
        </p:nvSpPr>
        <p:spPr>
          <a:xfrm>
            <a:off x="8492728" y="50260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35</a:t>
            </a:r>
            <a:endParaRPr lang="en-US" sz="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4363"/>
            <a:ext cx="15581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DIVE: 실행 흐름 ⑦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427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PromptAssembler: 다음 턴 준비 → 6-Phase 동적 조립 → SHA-256 추적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596652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수동 편집으로는 변경 추적이 불가능하고 캐시 히트율이 떨어졌기 때문에 6-Phase 조립을 도입해 2회차부터 입력 비용을 10%로 낮췄다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752177"/>
            <a:ext cx="1209675" cy="632073"/>
          </a:xfrm>
          <a:prstGeom prst="roundRect">
            <a:avLst>
              <a:gd name="adj" fmla="val 8037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57200" y="771227"/>
            <a:ext cx="1209675" cy="0"/>
          </a:xfrm>
          <a:prstGeom prst="line">
            <a:avLst/>
          </a:prstGeom>
          <a:noFill/>
          <a:ln w="38100">
            <a:solidFill>
              <a:srgbClr val="818C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1662113" y="752177"/>
            <a:ext cx="0" cy="632073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57200" y="1379488"/>
            <a:ext cx="1209675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461963" y="752177"/>
            <a:ext cx="0" cy="632073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568226" y="891778"/>
            <a:ext cx="100737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68226" y="1031379"/>
            <a:ext cx="100737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5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568226" y="1164729"/>
            <a:ext cx="1007376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 기반 기본 구조 로드</a:t>
            </a:r>
            <a:endParaRPr lang="en-US" sz="600" dirty="0"/>
          </a:p>
        </p:txBody>
      </p:sp>
      <p:sp>
        <p:nvSpPr>
          <p:cNvPr id="14" name="Text 12"/>
          <p:cNvSpPr/>
          <p:nvPr/>
        </p:nvSpPr>
        <p:spPr>
          <a:xfrm>
            <a:off x="1666875" y="752177"/>
            <a:ext cx="190500" cy="632073"/>
          </a:xfrm>
          <a:prstGeom prst="rect">
            <a:avLst/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704975" y="1001464"/>
            <a:ext cx="1165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857375" y="752177"/>
            <a:ext cx="1209675" cy="632073"/>
          </a:xfrm>
          <a:prstGeom prst="rect">
            <a:avLst/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1857375" y="771227"/>
            <a:ext cx="1209675" cy="0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3062288" y="752177"/>
            <a:ext cx="0" cy="632073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1857375" y="1379488"/>
            <a:ext cx="1209675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1862138" y="752177"/>
            <a:ext cx="0" cy="632073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1968401" y="891778"/>
            <a:ext cx="100737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968401" y="1031379"/>
            <a:ext cx="100737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5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override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968401" y="1164729"/>
            <a:ext cx="1007376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프로젝트별 파라미터 덮어쓰기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3067050" y="752177"/>
            <a:ext cx="190500" cy="632073"/>
          </a:xfrm>
          <a:prstGeom prst="rect">
            <a:avLst/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105150" y="1001464"/>
            <a:ext cx="1165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257550" y="752177"/>
            <a:ext cx="1209675" cy="632073"/>
          </a:xfrm>
          <a:prstGeom prst="rect">
            <a:avLst/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Shape 25"/>
          <p:cNvSpPr/>
          <p:nvPr/>
        </p:nvSpPr>
        <p:spPr>
          <a:xfrm>
            <a:off x="3257550" y="771227"/>
            <a:ext cx="1209675" cy="0"/>
          </a:xfrm>
          <a:prstGeom prst="line">
            <a:avLst/>
          </a:prstGeom>
          <a:noFill/>
          <a:ln w="38100">
            <a:solidFill>
              <a:srgbClr val="F5C54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4462463" y="752177"/>
            <a:ext cx="0" cy="632073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3257550" y="1379488"/>
            <a:ext cx="1209675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3262313" y="752177"/>
            <a:ext cx="0" cy="632073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3368576" y="891778"/>
            <a:ext cx="100737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9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3368576" y="1031379"/>
            <a:ext cx="100737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5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</a:t>
            </a:r>
            <a:endParaRPr lang="en-US" sz="650" dirty="0"/>
          </a:p>
        </p:txBody>
      </p:sp>
      <p:sp>
        <p:nvSpPr>
          <p:cNvPr id="33" name="Text 31"/>
          <p:cNvSpPr/>
          <p:nvPr/>
        </p:nvSpPr>
        <p:spPr>
          <a:xfrm>
            <a:off x="3368576" y="1164729"/>
            <a:ext cx="1007376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21개 Scaffold Skill 동적 주입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4467225" y="752177"/>
            <a:ext cx="190500" cy="632073"/>
          </a:xfrm>
          <a:prstGeom prst="rect">
            <a:avLst/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4505325" y="1001464"/>
            <a:ext cx="1165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657725" y="752177"/>
            <a:ext cx="1209675" cy="632073"/>
          </a:xfrm>
          <a:prstGeom prst="rect">
            <a:avLst/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7" name="Shape 35"/>
          <p:cNvSpPr/>
          <p:nvPr/>
        </p:nvSpPr>
        <p:spPr>
          <a:xfrm>
            <a:off x="4657725" y="771227"/>
            <a:ext cx="1209675" cy="0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6"/>
          <p:cNvSpPr/>
          <p:nvPr/>
        </p:nvSpPr>
        <p:spPr>
          <a:xfrm>
            <a:off x="5862638" y="752177"/>
            <a:ext cx="0" cy="632073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7"/>
          <p:cNvSpPr/>
          <p:nvPr/>
        </p:nvSpPr>
        <p:spPr>
          <a:xfrm>
            <a:off x="4657725" y="1379488"/>
            <a:ext cx="1209675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8"/>
          <p:cNvSpPr/>
          <p:nvPr/>
        </p:nvSpPr>
        <p:spPr>
          <a:xfrm>
            <a:off x="4662488" y="752177"/>
            <a:ext cx="0" cy="632073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4768751" y="891778"/>
            <a:ext cx="100737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9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68751" y="1031379"/>
            <a:ext cx="100737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5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</a:t>
            </a:r>
            <a:endParaRPr lang="en-US" sz="650" dirty="0"/>
          </a:p>
        </p:txBody>
      </p:sp>
      <p:sp>
        <p:nvSpPr>
          <p:cNvPr id="43" name="Text 41"/>
          <p:cNvSpPr/>
          <p:nvPr/>
        </p:nvSpPr>
        <p:spPr>
          <a:xfrm>
            <a:off x="4768751" y="1164729"/>
            <a:ext cx="1007376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4-Tier 메모리 인사이트 주입</a:t>
            </a:r>
            <a:endParaRPr lang="en-US" sz="600" dirty="0"/>
          </a:p>
        </p:txBody>
      </p:sp>
      <p:sp>
        <p:nvSpPr>
          <p:cNvPr id="44" name="Text 42"/>
          <p:cNvSpPr/>
          <p:nvPr/>
        </p:nvSpPr>
        <p:spPr>
          <a:xfrm>
            <a:off x="5867400" y="752177"/>
            <a:ext cx="190500" cy="632073"/>
          </a:xfrm>
          <a:prstGeom prst="rect">
            <a:avLst/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5905500" y="1001464"/>
            <a:ext cx="1165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057900" y="752177"/>
            <a:ext cx="1209675" cy="632073"/>
          </a:xfrm>
          <a:prstGeom prst="rect">
            <a:avLst/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7" name="Shape 45"/>
          <p:cNvSpPr/>
          <p:nvPr/>
        </p:nvSpPr>
        <p:spPr>
          <a:xfrm>
            <a:off x="6057900" y="771227"/>
            <a:ext cx="1209675" cy="0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46"/>
          <p:cNvSpPr/>
          <p:nvPr/>
        </p:nvSpPr>
        <p:spPr>
          <a:xfrm>
            <a:off x="7262813" y="752177"/>
            <a:ext cx="0" cy="632073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Shape 47"/>
          <p:cNvSpPr/>
          <p:nvPr/>
        </p:nvSpPr>
        <p:spPr>
          <a:xfrm>
            <a:off x="6057900" y="1379488"/>
            <a:ext cx="1209675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8"/>
          <p:cNvSpPr/>
          <p:nvPr/>
        </p:nvSpPr>
        <p:spPr>
          <a:xfrm>
            <a:off x="6062663" y="752177"/>
            <a:ext cx="0" cy="632073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9"/>
          <p:cNvSpPr/>
          <p:nvPr/>
        </p:nvSpPr>
        <p:spPr>
          <a:xfrm>
            <a:off x="6168926" y="891778"/>
            <a:ext cx="100737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9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P5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6168926" y="1031379"/>
            <a:ext cx="100737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5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bootstrap</a:t>
            </a:r>
            <a:endParaRPr lang="en-US" sz="650" dirty="0"/>
          </a:p>
        </p:txBody>
      </p:sp>
      <p:sp>
        <p:nvSpPr>
          <p:cNvPr id="53" name="Text 51"/>
          <p:cNvSpPr/>
          <p:nvPr/>
        </p:nvSpPr>
        <p:spPr>
          <a:xfrm>
            <a:off x="6168926" y="1164729"/>
            <a:ext cx="1007376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window 초기화 bridge</a:t>
            </a:r>
            <a:endParaRPr lang="en-US" sz="600" dirty="0"/>
          </a:p>
        </p:txBody>
      </p:sp>
      <p:sp>
        <p:nvSpPr>
          <p:cNvPr id="54" name="Text 52"/>
          <p:cNvSpPr/>
          <p:nvPr/>
        </p:nvSpPr>
        <p:spPr>
          <a:xfrm>
            <a:off x="7267575" y="752177"/>
            <a:ext cx="190500" cy="632073"/>
          </a:xfrm>
          <a:prstGeom prst="rect">
            <a:avLst/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7305675" y="1001464"/>
            <a:ext cx="1165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7458075" y="752177"/>
            <a:ext cx="1228725" cy="632073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7" name="Shape 55"/>
          <p:cNvSpPr/>
          <p:nvPr/>
        </p:nvSpPr>
        <p:spPr>
          <a:xfrm>
            <a:off x="7458075" y="771227"/>
            <a:ext cx="1228725" cy="0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Shape 56"/>
          <p:cNvSpPr/>
          <p:nvPr/>
        </p:nvSpPr>
        <p:spPr>
          <a:xfrm>
            <a:off x="8677275" y="752177"/>
            <a:ext cx="0" cy="632073"/>
          </a:xfrm>
          <a:prstGeom prst="line">
            <a:avLst/>
          </a:prstGeom>
          <a:noFill/>
          <a:ln w="19050">
            <a:solidFill>
              <a:srgbClr val="4ECD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Shape 57"/>
          <p:cNvSpPr/>
          <p:nvPr/>
        </p:nvSpPr>
        <p:spPr>
          <a:xfrm>
            <a:off x="7458075" y="1374725"/>
            <a:ext cx="1228725" cy="0"/>
          </a:xfrm>
          <a:prstGeom prst="line">
            <a:avLst/>
          </a:prstGeom>
          <a:noFill/>
          <a:ln w="19050">
            <a:solidFill>
              <a:srgbClr val="4ECD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Shape 58"/>
          <p:cNvSpPr/>
          <p:nvPr/>
        </p:nvSpPr>
        <p:spPr>
          <a:xfrm>
            <a:off x="7467600" y="752177"/>
            <a:ext cx="0" cy="632073"/>
          </a:xfrm>
          <a:prstGeom prst="line">
            <a:avLst/>
          </a:prstGeom>
          <a:noFill/>
          <a:ln w="19050">
            <a:solidFill>
              <a:srgbClr val="4ECD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Text 59"/>
          <p:cNvSpPr/>
          <p:nvPr/>
        </p:nvSpPr>
        <p:spPr>
          <a:xfrm>
            <a:off x="7578626" y="891778"/>
            <a:ext cx="100737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P6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7578626" y="1031379"/>
            <a:ext cx="100737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5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assemble</a:t>
            </a:r>
            <a:endParaRPr lang="en-US" sz="650" dirty="0"/>
          </a:p>
        </p:txBody>
      </p:sp>
      <p:sp>
        <p:nvSpPr>
          <p:cNvPr id="63" name="Text 61"/>
          <p:cNvSpPr/>
          <p:nvPr/>
        </p:nvSpPr>
        <p:spPr>
          <a:xfrm>
            <a:off x="7578626" y="1164729"/>
            <a:ext cx="1007376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최종 메시지 배열 출력</a:t>
            </a:r>
            <a:endParaRPr lang="en-US" sz="600" dirty="0"/>
          </a:p>
        </p:txBody>
      </p:sp>
      <p:sp>
        <p:nvSpPr>
          <p:cNvPr id="64" name="Text 62"/>
          <p:cNvSpPr/>
          <p:nvPr/>
        </p:nvSpPr>
        <p:spPr>
          <a:xfrm>
            <a:off x="457200" y="1460450"/>
            <a:ext cx="8229600" cy="552301"/>
          </a:xfrm>
          <a:prstGeom prst="roundRect">
            <a:avLst>
              <a:gd name="adj" fmla="val 9198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5" name="Shape 63"/>
          <p:cNvSpPr/>
          <p:nvPr/>
        </p:nvSpPr>
        <p:spPr>
          <a:xfrm>
            <a:off x="457200" y="1465213"/>
            <a:ext cx="8229600" cy="0"/>
          </a:xfrm>
          <a:prstGeom prst="line">
            <a:avLst/>
          </a:prstGeom>
          <a:noFill/>
          <a:ln w="9525">
            <a:solidFill>
              <a:srgbClr val="4ECD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Shape 64"/>
          <p:cNvSpPr/>
          <p:nvPr/>
        </p:nvSpPr>
        <p:spPr>
          <a:xfrm>
            <a:off x="8682038" y="1460450"/>
            <a:ext cx="0" cy="552301"/>
          </a:xfrm>
          <a:prstGeom prst="line">
            <a:avLst/>
          </a:prstGeom>
          <a:noFill/>
          <a:ln w="9525">
            <a:solidFill>
              <a:srgbClr val="4ECD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Shape 65"/>
          <p:cNvSpPr/>
          <p:nvPr/>
        </p:nvSpPr>
        <p:spPr>
          <a:xfrm>
            <a:off x="457200" y="2007989"/>
            <a:ext cx="8229600" cy="0"/>
          </a:xfrm>
          <a:prstGeom prst="line">
            <a:avLst/>
          </a:prstGeom>
          <a:noFill/>
          <a:ln w="9525">
            <a:solidFill>
              <a:srgbClr val="4ECD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8" name="Shape 66"/>
          <p:cNvSpPr/>
          <p:nvPr/>
        </p:nvSpPr>
        <p:spPr>
          <a:xfrm>
            <a:off x="476250" y="1460450"/>
            <a:ext cx="0" cy="552301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9" name="Text 67"/>
          <p:cNvSpPr/>
          <p:nvPr/>
        </p:nvSpPr>
        <p:spPr>
          <a:xfrm>
            <a:off x="622250" y="1628626"/>
            <a:ext cx="153930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SHA-256 변경 추적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622250" y="1758702"/>
            <a:ext cx="153930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hash = sha256(prompt) → cache_key</a:t>
            </a:r>
            <a:endParaRPr lang="en-US" sz="600" dirty="0"/>
          </a:p>
        </p:txBody>
      </p:sp>
      <p:sp>
        <p:nvSpPr>
          <p:cNvPr id="71" name="Text 69"/>
          <p:cNvSpPr/>
          <p:nvPr/>
        </p:nvSpPr>
        <p:spPr>
          <a:xfrm>
            <a:off x="2258318" y="1558826"/>
            <a:ext cx="12650" cy="35555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2" name="Text 70"/>
          <p:cNvSpPr/>
          <p:nvPr/>
        </p:nvSpPr>
        <p:spPr>
          <a:xfrm>
            <a:off x="2397919" y="1674465"/>
            <a:ext cx="5468308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조립 후 SHA-256 해시로 동일 프롬프트 재조립 시 캐시 히트 판별. 수동 편집으로는 불가능했던 변경 추적을 코드 레벨에서 보장한다.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7885956" y="1558826"/>
            <a:ext cx="12650" cy="35555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8020309" y="1573113"/>
            <a:ext cx="5352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1800" dirty="0"/>
          </a:p>
        </p:txBody>
      </p:sp>
      <p:sp>
        <p:nvSpPr>
          <p:cNvPr id="75" name="Text 73"/>
          <p:cNvSpPr/>
          <p:nvPr/>
        </p:nvSpPr>
        <p:spPr>
          <a:xfrm>
            <a:off x="8020309" y="1814364"/>
            <a:ext cx="53526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2회차+ 입력 비용</a:t>
            </a:r>
            <a:endParaRPr lang="en-US" sz="600" dirty="0"/>
          </a:p>
        </p:txBody>
      </p:sp>
      <p:sp>
        <p:nvSpPr>
          <p:cNvPr id="76" name="Text 74"/>
          <p:cNvSpPr/>
          <p:nvPr/>
        </p:nvSpPr>
        <p:spPr>
          <a:xfrm>
            <a:off x="457200" y="2088952"/>
            <a:ext cx="3467100" cy="946696"/>
          </a:xfrm>
          <a:prstGeom prst="roundRect">
            <a:avLst>
              <a:gd name="adj" fmla="val 5366"/>
            </a:avLst>
          </a:prstGeom>
          <a:solidFill>
            <a:srgbClr val="1E0A0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7" name="Shape 75"/>
          <p:cNvSpPr/>
          <p:nvPr/>
        </p:nvSpPr>
        <p:spPr>
          <a:xfrm>
            <a:off x="457200" y="2108002"/>
            <a:ext cx="3467100" cy="0"/>
          </a:xfrm>
          <a:prstGeom prst="line">
            <a:avLst/>
          </a:prstGeom>
          <a:noFill/>
          <a:ln w="381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Shape 76"/>
          <p:cNvSpPr/>
          <p:nvPr/>
        </p:nvSpPr>
        <p:spPr>
          <a:xfrm>
            <a:off x="3919537" y="2088952"/>
            <a:ext cx="0" cy="946696"/>
          </a:xfrm>
          <a:prstGeom prst="line">
            <a:avLst/>
          </a:prstGeom>
          <a:noFill/>
          <a:ln w="9525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9" name="Shape 77"/>
          <p:cNvSpPr/>
          <p:nvPr/>
        </p:nvSpPr>
        <p:spPr>
          <a:xfrm>
            <a:off x="457200" y="3030885"/>
            <a:ext cx="3467100" cy="0"/>
          </a:xfrm>
          <a:prstGeom prst="line">
            <a:avLst/>
          </a:prstGeom>
          <a:noFill/>
          <a:ln w="9525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0" name="Shape 78"/>
          <p:cNvSpPr/>
          <p:nvPr/>
        </p:nvSpPr>
        <p:spPr>
          <a:xfrm>
            <a:off x="461963" y="2088952"/>
            <a:ext cx="0" cy="946696"/>
          </a:xfrm>
          <a:prstGeom prst="line">
            <a:avLst/>
          </a:prstGeom>
          <a:noFill/>
          <a:ln w="9525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1" name="Text 79"/>
          <p:cNvSpPr/>
          <p:nvPr/>
        </p:nvSpPr>
        <p:spPr>
          <a:xfrm>
            <a:off x="593675" y="2228552"/>
            <a:ext cx="3258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75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Before: 수동 편집 3대 문제</a:t>
            </a:r>
            <a:endParaRPr lang="en-US" sz="750" dirty="0"/>
          </a:p>
        </p:txBody>
      </p:sp>
      <p:sp>
        <p:nvSpPr>
          <p:cNvPr id="82" name="Text 80"/>
          <p:cNvSpPr/>
          <p:nvPr/>
        </p:nvSpPr>
        <p:spPr>
          <a:xfrm>
            <a:off x="593675" y="2393603"/>
            <a:ext cx="3194149" cy="371475"/>
          </a:xfrm>
          <a:prstGeom prst="rect">
            <a:avLst/>
          </a:prstGeom>
          <a:noFill/>
          <a:ln/>
        </p:spPr>
        <p:txBody>
          <a:bodyPr wrap="square" lIns="76200" tIns="0" rIns="0" bIns="0" rtlCol="0" anchor="t"/>
          <a:lstStyle/>
          <a:p>
            <a:pPr marL="76200" indent="-76200" algn="l">
              <a:lnSpc>
                <a:spcPts val="975"/>
              </a:lnSpc>
              <a:buSzPct val="100000"/>
              <a:buChar char="•"/>
            </a:pPr>
            <a:r>
              <a:rPr lang="en-US" sz="6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변경 추적 불가: drift 감지 없음</a:t>
            </a:r>
            <a:endParaRPr lang="en-US" sz="650" dirty="0"/>
          </a:p>
          <a:p>
            <a:pPr marL="76200" indent="-76200" algn="l">
              <a:lnSpc>
                <a:spcPts val="975"/>
              </a:lnSpc>
              <a:buSzPct val="100000"/>
              <a:buChar char="•"/>
            </a:pPr>
            <a:r>
              <a:rPr lang="en-US" sz="6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캐시 히트율 저하: 매 요청 100% 비용</a:t>
            </a:r>
            <a:endParaRPr lang="en-US" sz="650" dirty="0"/>
          </a:p>
          <a:p>
            <a:pPr marL="76200" indent="-76200" algn="l">
              <a:lnSpc>
                <a:spcPts val="975"/>
              </a:lnSpc>
              <a:buSzPct val="100000"/>
              <a:buChar char="•"/>
            </a:pPr>
            <a:r>
              <a:rPr lang="en-US" sz="6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노드 각자 편집 → 불일치 발생</a:t>
            </a:r>
            <a:endParaRPr lang="en-US" sz="650" dirty="0"/>
          </a:p>
        </p:txBody>
      </p:sp>
      <p:sp>
        <p:nvSpPr>
          <p:cNvPr id="83" name="Text 81"/>
          <p:cNvSpPr/>
          <p:nvPr/>
        </p:nvSpPr>
        <p:spPr>
          <a:xfrm>
            <a:off x="4000500" y="2088952"/>
            <a:ext cx="3467100" cy="946696"/>
          </a:xfrm>
          <a:prstGeom prst="roundRect">
            <a:avLst>
              <a:gd name="adj" fmla="val 5366"/>
            </a:avLst>
          </a:prstGeom>
          <a:solidFill>
            <a:srgbClr val="0D1A0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4" name="Shape 82"/>
          <p:cNvSpPr/>
          <p:nvPr/>
        </p:nvSpPr>
        <p:spPr>
          <a:xfrm>
            <a:off x="4000500" y="2108002"/>
            <a:ext cx="3467100" cy="0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5" name="Shape 83"/>
          <p:cNvSpPr/>
          <p:nvPr/>
        </p:nvSpPr>
        <p:spPr>
          <a:xfrm>
            <a:off x="7462837" y="2088952"/>
            <a:ext cx="0" cy="946696"/>
          </a:xfrm>
          <a:prstGeom prst="line">
            <a:avLst/>
          </a:prstGeom>
          <a:noFill/>
          <a:ln w="9525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6" name="Shape 84"/>
          <p:cNvSpPr/>
          <p:nvPr/>
        </p:nvSpPr>
        <p:spPr>
          <a:xfrm>
            <a:off x="4000500" y="3030885"/>
            <a:ext cx="3467100" cy="0"/>
          </a:xfrm>
          <a:prstGeom prst="line">
            <a:avLst/>
          </a:prstGeom>
          <a:noFill/>
          <a:ln w="9525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7" name="Shape 85"/>
          <p:cNvSpPr/>
          <p:nvPr/>
        </p:nvSpPr>
        <p:spPr>
          <a:xfrm>
            <a:off x="4005262" y="2088952"/>
            <a:ext cx="0" cy="946696"/>
          </a:xfrm>
          <a:prstGeom prst="line">
            <a:avLst/>
          </a:prstGeom>
          <a:noFill/>
          <a:ln w="9525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8" name="Text 86"/>
          <p:cNvSpPr/>
          <p:nvPr/>
        </p:nvSpPr>
        <p:spPr>
          <a:xfrm>
            <a:off x="4136975" y="2228552"/>
            <a:ext cx="3258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7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After: 6-Phase 조립</a:t>
            </a:r>
            <a:endParaRPr lang="en-US" sz="750" dirty="0"/>
          </a:p>
        </p:txBody>
      </p:sp>
      <p:sp>
        <p:nvSpPr>
          <p:cNvPr id="89" name="Text 87"/>
          <p:cNvSpPr/>
          <p:nvPr/>
        </p:nvSpPr>
        <p:spPr>
          <a:xfrm>
            <a:off x="4136975" y="2393603"/>
            <a:ext cx="3194149" cy="371475"/>
          </a:xfrm>
          <a:prstGeom prst="rect">
            <a:avLst/>
          </a:prstGeom>
          <a:noFill/>
          <a:ln/>
        </p:spPr>
        <p:txBody>
          <a:bodyPr wrap="square" lIns="76200" tIns="0" rIns="0" bIns="0" rtlCol="0" anchor="t"/>
          <a:lstStyle/>
          <a:p>
            <a:pPr marL="76200" indent="-76200" algn="l">
              <a:lnSpc>
                <a:spcPts val="975"/>
              </a:lnSpc>
              <a:buSzPct val="100000"/>
              <a:buChar char="•"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SHA-256으로 drift 감지: 동일 해시 → 재조립 스킵</a:t>
            </a:r>
            <a:endParaRPr lang="en-US" sz="650" dirty="0"/>
          </a:p>
          <a:p>
            <a:pPr marL="76200" indent="-76200" algn="l">
              <a:lnSpc>
                <a:spcPts val="975"/>
              </a:lnSpc>
              <a:buSzPct val="100000"/>
              <a:buChar char="•"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cache_control ephemeral → 2회차부터 입력 비용 10%</a:t>
            </a:r>
            <a:endParaRPr lang="en-US" sz="650" dirty="0"/>
          </a:p>
          <a:p>
            <a:pPr marL="76200" indent="-76200" algn="l">
              <a:lnSpc>
                <a:spcPts val="975"/>
              </a:lnSpc>
              <a:buSzPct val="100000"/>
              <a:buChar char="•"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7노드 동일 프롬프트 1 cache entry 공유</a:t>
            </a:r>
            <a:endParaRPr lang="en-US" sz="650" dirty="0"/>
          </a:p>
        </p:txBody>
      </p:sp>
      <p:sp>
        <p:nvSpPr>
          <p:cNvPr id="90" name="Text 88"/>
          <p:cNvSpPr/>
          <p:nvPr/>
        </p:nvSpPr>
        <p:spPr>
          <a:xfrm>
            <a:off x="7543800" y="2088952"/>
            <a:ext cx="1143000" cy="946696"/>
          </a:xfrm>
          <a:prstGeom prst="roundRect">
            <a:avLst>
              <a:gd name="adj" fmla="val 5366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1" name="Text 89"/>
          <p:cNvSpPr/>
          <p:nvPr/>
        </p:nvSpPr>
        <p:spPr>
          <a:xfrm>
            <a:off x="7667625" y="2199977"/>
            <a:ext cx="91325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5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PROMPT_ASSEMBLE hook</a:t>
            </a:r>
            <a:endParaRPr lang="en-US" sz="650" dirty="0"/>
          </a:p>
        </p:txBody>
      </p:sp>
      <p:sp>
        <p:nvSpPr>
          <p:cNvPr id="92" name="Text 90"/>
          <p:cNvSpPr/>
          <p:nvPr/>
        </p:nvSpPr>
        <p:spPr>
          <a:xfrm>
            <a:off x="7667625" y="2441228"/>
            <a:ext cx="913257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10"/>
              </a:lnSpc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P6 완료 시 Prompt Change 이벤트 발화 → 관측 레이어에 전달</a:t>
            </a:r>
            <a:endParaRPr lang="en-US" sz="650" dirty="0"/>
          </a:p>
        </p:txBody>
      </p:sp>
      <p:sp>
        <p:nvSpPr>
          <p:cNvPr id="93" name="Text 91"/>
          <p:cNvSpPr/>
          <p:nvPr/>
        </p:nvSpPr>
        <p:spPr>
          <a:xfrm>
            <a:off x="7667625" y="2838896"/>
            <a:ext cx="91325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nodes × 1 entry</a:t>
            </a:r>
            <a:endParaRPr lang="en-US" sz="600" dirty="0"/>
          </a:p>
        </p:txBody>
      </p:sp>
      <p:sp>
        <p:nvSpPr>
          <p:cNvPr id="94" name="Text 92"/>
          <p:cNvSpPr/>
          <p:nvPr/>
        </p:nvSpPr>
        <p:spPr>
          <a:xfrm>
            <a:off x="457200" y="4987975"/>
            <a:ext cx="3218867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PromptAssembler 6-Phase · SHA-256 cache_key · cache_control: ephemeral · 21 skills · 7-node prompt sharing</a:t>
            </a:r>
            <a:endParaRPr lang="en-US" sz="500" dirty="0"/>
          </a:p>
        </p:txBody>
      </p:sp>
      <p:sp>
        <p:nvSpPr>
          <p:cNvPr id="95" name="Text 93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35</a:t>
            </a:r>
            <a:endParaRPr lang="en-US" sz="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4363"/>
            <a:ext cx="15581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DIVE: 실행 흐름 ⑧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55550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+ Cost: 외부 도구 호출 → 45 Catalog + TokenTracker 비용 관측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22250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MCPRegistry 257줄 삭제 스토리 + 자체 TokenTracker로 while(tool_use) 루프 비용을 /cost CLI로 실시간 관측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790426"/>
            <a:ext cx="4724400" cy="3457426"/>
          </a:xfrm>
          <a:prstGeom prst="roundRect">
            <a:avLst>
              <a:gd name="adj" fmla="val 146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6326" y="901452"/>
            <a:ext cx="451467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아키텍처 진화: 3계층에서 2계층으로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06326" y="1088678"/>
            <a:ext cx="4426148" cy="856952"/>
          </a:xfrm>
          <a:prstGeom prst="roundRect">
            <a:avLst>
              <a:gd name="adj" fmla="val 5928"/>
            </a:avLst>
          </a:prstGeom>
          <a:solidFill>
            <a:srgbClr val="0D1117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730151" y="1199704"/>
            <a:ext cx="426206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BEFORE: 3계층 (병목)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730151" y="1342579"/>
            <a:ext cx="1248966" cy="368201"/>
          </a:xfrm>
          <a:prstGeom prst="roundRect">
            <a:avLst>
              <a:gd name="adj" fmla="val 13797"/>
            </a:avLst>
          </a:prstGeom>
          <a:solidFill>
            <a:srgbClr val="1E293B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30907" y="1440954"/>
            <a:ext cx="1047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MCPRegistry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830907" y="1526679"/>
            <a:ext cx="1047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257줄</a:t>
            </a:r>
            <a:endParaRPr lang="en-US" sz="600" dirty="0"/>
          </a:p>
        </p:txBody>
      </p:sp>
      <p:sp>
        <p:nvSpPr>
          <p:cNvPr id="13" name="Text 11"/>
          <p:cNvSpPr/>
          <p:nvPr/>
        </p:nvSpPr>
        <p:spPr>
          <a:xfrm>
            <a:off x="2042517" y="1479054"/>
            <a:ext cx="9077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2194917" y="1342579"/>
            <a:ext cx="1248966" cy="368201"/>
          </a:xfrm>
          <a:prstGeom prst="roundRect">
            <a:avLst>
              <a:gd name="adj" fmla="val 13797"/>
            </a:avLst>
          </a:prstGeom>
          <a:solidFill>
            <a:srgbClr val="1E293B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2295674" y="1440954"/>
            <a:ext cx="1047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</a:t>
            </a:r>
            <a:endParaRPr lang="en-US" sz="600" dirty="0"/>
          </a:p>
        </p:txBody>
      </p:sp>
      <p:sp>
        <p:nvSpPr>
          <p:cNvPr id="16" name="Text 14"/>
          <p:cNvSpPr/>
          <p:nvPr/>
        </p:nvSpPr>
        <p:spPr>
          <a:xfrm>
            <a:off x="2295674" y="1526679"/>
            <a:ext cx="1047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검색+관리</a:t>
            </a:r>
            <a:endParaRPr lang="en-US" sz="600" dirty="0"/>
          </a:p>
        </p:txBody>
      </p:sp>
      <p:sp>
        <p:nvSpPr>
          <p:cNvPr id="17" name="Text 15"/>
          <p:cNvSpPr/>
          <p:nvPr/>
        </p:nvSpPr>
        <p:spPr>
          <a:xfrm>
            <a:off x="3507284" y="1479054"/>
            <a:ext cx="9077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3659684" y="1342579"/>
            <a:ext cx="1248966" cy="368201"/>
          </a:xfrm>
          <a:prstGeom prst="roundRect">
            <a:avLst>
              <a:gd name="adj" fmla="val 13797"/>
            </a:avLst>
          </a:prstGeom>
          <a:solidFill>
            <a:srgbClr val="1E293B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3760440" y="1440954"/>
            <a:ext cx="1047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3760440" y="1526679"/>
            <a:ext cx="1047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분산 설정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730151" y="1748879"/>
            <a:ext cx="426206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6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Registry가 LLM 도구 탐색 막는 병목 · Proxy stub 9개 중복 · auto-discovery 불가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1982391" y="2009031"/>
            <a:ext cx="170734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Registry 257줄 삭제 + Proxy stub 9개 제거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606326" y="2177207"/>
            <a:ext cx="4426148" cy="856952"/>
          </a:xfrm>
          <a:prstGeom prst="roundRect">
            <a:avLst>
              <a:gd name="adj" fmla="val 5928"/>
            </a:avLst>
          </a:prstGeom>
          <a:solidFill>
            <a:srgbClr val="0D1117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30151" y="2288232"/>
            <a:ext cx="426206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AFTER: 2계층 (탐색 자유도)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730151" y="2431107"/>
            <a:ext cx="1981349" cy="368201"/>
          </a:xfrm>
          <a:prstGeom prst="roundRect">
            <a:avLst>
              <a:gd name="adj" fmla="val 13797"/>
            </a:avLst>
          </a:prstGeom>
          <a:solidFill>
            <a:srgbClr val="1E293B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823584" y="2529483"/>
            <a:ext cx="179448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823584" y="2615208"/>
            <a:ext cx="179448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검색 전용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2774900" y="2567583"/>
            <a:ext cx="9077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927300" y="2431107"/>
            <a:ext cx="1981349" cy="368201"/>
          </a:xfrm>
          <a:prstGeom prst="roundRect">
            <a:avLst>
              <a:gd name="adj" fmla="val 13797"/>
            </a:avLst>
          </a:prstGeom>
          <a:solidFill>
            <a:srgbClr val="1E293B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3020733" y="2529483"/>
            <a:ext cx="179448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config.toml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3020733" y="2615208"/>
            <a:ext cx="179448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[mcp.servers] 통합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730151" y="2837408"/>
            <a:ext cx="426206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r>
              <a:rPr lang="en-US" sz="6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catalog servers auto-discovery · API key 부재 시 dry-run 자동 전환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606326" y="3097560"/>
            <a:ext cx="4426148" cy="1039267"/>
          </a:xfrm>
          <a:prstGeom prst="roundRect">
            <a:avLst>
              <a:gd name="adj" fmla="val 4888"/>
            </a:avLst>
          </a:prstGeom>
          <a:solidFill>
            <a:srgbClr val="1E293B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730151" y="3208586"/>
            <a:ext cx="426206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Registry를 삭제했는가?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730151" y="3351461"/>
            <a:ext cx="4262068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Registry가 LLM의 도구 탐색을 막는 병목이다. 자율 에이전트는 도구를 스스로 찾아야 하는데, Registry가 검색 범위를 제한한다. 삭제 후 LLM이 Catalog를 직접 탐색하여 중앙 제어 없이 45 서버를 자율 발견한다.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730151" y="3650754"/>
            <a:ext cx="2057549" cy="375047"/>
          </a:xfrm>
          <a:prstGeom prst="roundRect">
            <a:avLst>
              <a:gd name="adj" fmla="val 10159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831652" y="3739604"/>
            <a:ext cx="189163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포기: 중앙 제어</a:t>
            </a:r>
            <a:endParaRPr lang="en-US" sz="600" dirty="0"/>
          </a:p>
        </p:txBody>
      </p:sp>
      <p:sp>
        <p:nvSpPr>
          <p:cNvPr id="38" name="Text 36"/>
          <p:cNvSpPr/>
          <p:nvPr/>
        </p:nvSpPr>
        <p:spPr>
          <a:xfrm>
            <a:off x="831652" y="3837980"/>
            <a:ext cx="1891638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780"/>
              </a:lnSpc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Registry 삭제로 도구 목록 감사 불가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2851100" y="3650754"/>
            <a:ext cx="2057549" cy="375047"/>
          </a:xfrm>
          <a:prstGeom prst="roundRect">
            <a:avLst>
              <a:gd name="adj" fmla="val 10159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2952601" y="3739604"/>
            <a:ext cx="189163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획득: 탐색 자유도</a:t>
            </a:r>
            <a:endParaRPr lang="en-US" sz="600" dirty="0"/>
          </a:p>
        </p:txBody>
      </p:sp>
      <p:sp>
        <p:nvSpPr>
          <p:cNvPr id="41" name="Text 39"/>
          <p:cNvSpPr/>
          <p:nvPr/>
        </p:nvSpPr>
        <p:spPr>
          <a:xfrm>
            <a:off x="2952601" y="3837980"/>
            <a:ext cx="1891638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780"/>
              </a:lnSpc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LLM이 컨텍스트에 맞게 자율 선택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5295900" y="790426"/>
            <a:ext cx="3390900" cy="1749623"/>
          </a:xfrm>
          <a:prstGeom prst="roundRect">
            <a:avLst>
              <a:gd name="adj" fmla="val 2903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5445026" y="901452"/>
            <a:ext cx="31545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TokenTracker: 자체 비용 추적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5445026" y="1088678"/>
            <a:ext cx="3154501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spcAft>
                <a:spcPts val="500"/>
              </a:spcAft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LangSmith는 모델별 캐시 히트율·프로바이더별 비용 분리가 불가능하기 때문에 자체 TokenTracker를 구축한다. ContextVar 싱글톤으로 18개 모델 가격을 실시간 추적한다.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5445026" y="1400621"/>
            <a:ext cx="3092648" cy="387251"/>
          </a:xfrm>
          <a:prstGeom prst="roundRect">
            <a:avLst>
              <a:gd name="adj" fmla="val 9839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6" name="Shape 44"/>
          <p:cNvSpPr/>
          <p:nvPr/>
        </p:nvSpPr>
        <p:spPr>
          <a:xfrm>
            <a:off x="5464076" y="1400621"/>
            <a:ext cx="0" cy="387251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/>
          <p:nvPr/>
        </p:nvSpPr>
        <p:spPr>
          <a:xfrm>
            <a:off x="5597426" y="1489472"/>
            <a:ext cx="288246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ContextVar 싱글톤으로 호출마다 입출력 토큰 + cache_creation/cache_read 기록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5445026" y="1825972"/>
            <a:ext cx="3092648" cy="282476"/>
          </a:xfrm>
          <a:prstGeom prst="roundRect">
            <a:avLst>
              <a:gd name="adj" fmla="val 13488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9" name="Shape 47"/>
          <p:cNvSpPr/>
          <p:nvPr/>
        </p:nvSpPr>
        <p:spPr>
          <a:xfrm>
            <a:off x="5464076" y="1825972"/>
            <a:ext cx="0" cy="282476"/>
          </a:xfrm>
          <a:prstGeom prst="line">
            <a:avLst/>
          </a:prstGeom>
          <a:noFill/>
          <a:ln w="38100">
            <a:solidFill>
              <a:srgbClr val="F5C54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Text 48"/>
          <p:cNvSpPr/>
          <p:nvPr/>
        </p:nvSpPr>
        <p:spPr>
          <a:xfrm>
            <a:off x="5597426" y="1914823"/>
            <a:ext cx="288246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18개 모델 가격 레지스트리: 실시간 비용 산출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5445026" y="2146548"/>
            <a:ext cx="3092648" cy="282476"/>
          </a:xfrm>
          <a:prstGeom prst="roundRect">
            <a:avLst>
              <a:gd name="adj" fmla="val 13488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2" name="Shape 50"/>
          <p:cNvSpPr/>
          <p:nvPr/>
        </p:nvSpPr>
        <p:spPr>
          <a:xfrm>
            <a:off x="5464076" y="2146548"/>
            <a:ext cx="0" cy="282476"/>
          </a:xfrm>
          <a:prstGeom prst="line">
            <a:avLst/>
          </a:prstGeom>
          <a:noFill/>
          <a:ln w="38100">
            <a:solidFill>
              <a:srgbClr val="818C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Text 51"/>
          <p:cNvSpPr/>
          <p:nvPr/>
        </p:nvSpPr>
        <p:spPr>
          <a:xfrm>
            <a:off x="5597426" y="2235398"/>
            <a:ext cx="288246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UsageStore: 월별 JSONL 영속 저장 · ProjectJournal 프로젝트별 이력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5295900" y="2616250"/>
            <a:ext cx="3390900" cy="904429"/>
          </a:xfrm>
          <a:prstGeom prst="roundRect">
            <a:avLst>
              <a:gd name="adj" fmla="val 5617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5445026" y="2727275"/>
            <a:ext cx="31545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/cost CLI 대시보드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5445026" y="2901851"/>
            <a:ext cx="3092648" cy="507802"/>
          </a:xfrm>
          <a:prstGeom prst="roundRect">
            <a:avLst>
              <a:gd name="adj" fmla="val 10004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5550625" y="2990701"/>
            <a:ext cx="8874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5550625" y="3120777"/>
            <a:ext cx="8874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실시간 비용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6547625" y="2990701"/>
            <a:ext cx="8874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일간 / 월간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6547625" y="3120777"/>
            <a:ext cx="8874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누적 집계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7544625" y="2990701"/>
            <a:ext cx="8874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예산 소진율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7544625" y="3120777"/>
            <a:ext cx="8874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 경고 / 95% PRUNE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5295900" y="3596878"/>
            <a:ext cx="3390900" cy="1330821"/>
          </a:xfrm>
          <a:prstGeom prst="roundRect">
            <a:avLst>
              <a:gd name="adj" fmla="val 3817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4" name="Shape 62"/>
          <p:cNvSpPr/>
          <p:nvPr/>
        </p:nvSpPr>
        <p:spPr>
          <a:xfrm>
            <a:off x="5319713" y="3596878"/>
            <a:ext cx="0" cy="1330821"/>
          </a:xfrm>
          <a:prstGeom prst="line">
            <a:avLst/>
          </a:prstGeom>
          <a:noFill/>
          <a:ln w="47625">
            <a:solidFill>
              <a:srgbClr val="4ECD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Text 63"/>
          <p:cNvSpPr/>
          <p:nvPr/>
        </p:nvSpPr>
        <p:spPr>
          <a:xfrm>
            <a:off x="5483126" y="3685729"/>
            <a:ext cx="312535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MCP-first + Fixture Fallback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5483126" y="3831729"/>
            <a:ext cx="3125355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5개 signal 도구: 라이브 환경에서는 MCP 직접 호출, 오프라인/CI에서는 fixture 데이터로 자동 전환하여 라이브 수집과 테스트를 동시에 보장한다.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5483126" y="4161532"/>
            <a:ext cx="1493937" cy="466576"/>
          </a:xfrm>
          <a:prstGeom prst="roundRect">
            <a:avLst>
              <a:gd name="adj" fmla="val 8166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8" name="Text 66"/>
          <p:cNvSpPr/>
          <p:nvPr/>
        </p:nvSpPr>
        <p:spPr>
          <a:xfrm>
            <a:off x="5558814" y="4250382"/>
            <a:ext cx="1342561" cy="203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1600" dirty="0"/>
          </a:p>
        </p:txBody>
      </p:sp>
      <p:sp>
        <p:nvSpPr>
          <p:cNvPr id="69" name="Text 67"/>
          <p:cNvSpPr/>
          <p:nvPr/>
        </p:nvSpPr>
        <p:spPr>
          <a:xfrm>
            <a:off x="5558814" y="4453533"/>
            <a:ext cx="134256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600" dirty="0"/>
          </a:p>
        </p:txBody>
      </p:sp>
      <p:sp>
        <p:nvSpPr>
          <p:cNvPr id="70" name="Text 68"/>
          <p:cNvSpPr/>
          <p:nvPr/>
        </p:nvSpPr>
        <p:spPr>
          <a:xfrm>
            <a:off x="7053263" y="4161532"/>
            <a:ext cx="1493937" cy="466576"/>
          </a:xfrm>
          <a:prstGeom prst="roundRect">
            <a:avLst>
              <a:gd name="adj" fmla="val 8166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1" name="Text 69"/>
          <p:cNvSpPr/>
          <p:nvPr/>
        </p:nvSpPr>
        <p:spPr>
          <a:xfrm>
            <a:off x="7128951" y="4250382"/>
            <a:ext cx="1342561" cy="203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600" dirty="0"/>
          </a:p>
        </p:txBody>
      </p:sp>
      <p:sp>
        <p:nvSpPr>
          <p:cNvPr id="72" name="Text 70"/>
          <p:cNvSpPr/>
          <p:nvPr/>
        </p:nvSpPr>
        <p:spPr>
          <a:xfrm>
            <a:off x="7128951" y="4453533"/>
            <a:ext cx="134256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price registry</a:t>
            </a:r>
            <a:endParaRPr lang="en-US" sz="600" dirty="0"/>
          </a:p>
        </p:txBody>
      </p:sp>
      <p:sp>
        <p:nvSpPr>
          <p:cNvPr id="73" name="Text 71"/>
          <p:cNvSpPr/>
          <p:nvPr/>
        </p:nvSpPr>
        <p:spPr>
          <a:xfrm>
            <a:off x="457200" y="4978450"/>
            <a:ext cx="3186380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MCPRegistry 257줄 삭제 · Proxy stub 9개 제거 · 45 catalog auto-discovery · TokenTracker ContextVar · /cost CLI</a:t>
            </a:r>
            <a:endParaRPr lang="en-US" sz="500" dirty="0"/>
          </a:p>
        </p:txBody>
      </p:sp>
      <p:sp>
        <p:nvSpPr>
          <p:cNvPr id="74" name="Text 72"/>
          <p:cNvSpPr/>
          <p:nvPr/>
        </p:nvSpPr>
        <p:spPr>
          <a:xfrm>
            <a:off x="8492728" y="4983212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35</a:t>
            </a:r>
            <a:endParaRPr lang="en-US" sz="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9126"/>
            <a:ext cx="185717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HE-2: DOMAIN · Game IP Pipeline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55550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IP Pipeline: 9-Node DAG + 5-Layer 검증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22250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LLM 평가는 Confirmation Bias·Anchoring 편향이 있기 때문에 병렬 전문가 4명 + Cross-LLM + PSM으로 극복한다</a:t>
            </a:r>
            <a:endParaRPr lang="en-US" sz="700" dirty="0"/>
          </a:p>
        </p:txBody>
      </p:sp>
      <p:pic>
        <p:nvPicPr>
          <p:cNvPr id="6" name="Image 0" descr="/Users/mango/workspace/portfolio/geode/versions/v8/slides/assets/v028-diagram-pipeline-da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90426"/>
            <a:ext cx="5587901" cy="260345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3457277"/>
            <a:ext cx="3340596" cy="1164878"/>
          </a:xfrm>
          <a:prstGeom prst="roundRect">
            <a:avLst>
              <a:gd name="adj" fmla="val 4361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581025" y="3555653"/>
            <a:ext cx="315480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Scoring Formula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581025" y="3689003"/>
            <a:ext cx="3154805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 = 0.25·PSM + 0.20·Quality + 0.18·Recovery</a:t>
            </a:r>
            <a:endParaRPr lang="en-US" sz="700" dirty="0"/>
          </a:p>
        </p:txBody>
      </p:sp>
      <p:sp>
        <p:nvSpPr>
          <p:cNvPr id="10" name="Text 7"/>
          <p:cNvSpPr/>
          <p:nvPr/>
        </p:nvSpPr>
        <p:spPr>
          <a:xfrm>
            <a:off x="581025" y="3822204"/>
            <a:ext cx="3154805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+ 0.12·Growth + 0.20·Momentum + 0.05·Dev</a:t>
            </a:r>
            <a:endParaRPr lang="en-US" sz="700" dirty="0"/>
          </a:p>
        </p:txBody>
      </p:sp>
      <p:sp>
        <p:nvSpPr>
          <p:cNvPr id="11" name="Text 8"/>
          <p:cNvSpPr/>
          <p:nvPr/>
        </p:nvSpPr>
        <p:spPr>
          <a:xfrm>
            <a:off x="581025" y="3980706"/>
            <a:ext cx="315480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 = base × (0.7 + 0.3·conf/100)</a:t>
            </a:r>
            <a:endParaRPr lang="en-US" sz="600" dirty="0"/>
          </a:p>
        </p:txBody>
      </p:sp>
      <p:sp>
        <p:nvSpPr>
          <p:cNvPr id="12" name="Text 9"/>
          <p:cNvSpPr/>
          <p:nvPr/>
        </p:nvSpPr>
        <p:spPr>
          <a:xfrm>
            <a:off x="3873996" y="3457277"/>
            <a:ext cx="2209354" cy="558403"/>
          </a:xfrm>
          <a:prstGeom prst="roundRect">
            <a:avLst>
              <a:gd name="adj" fmla="val 9097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3997821" y="3568303"/>
            <a:ext cx="200093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기준</a:t>
            </a:r>
            <a:endParaRPr lang="en-US" sz="700" dirty="0"/>
          </a:p>
        </p:txBody>
      </p:sp>
      <p:sp>
        <p:nvSpPr>
          <p:cNvPr id="14" name="Text 11"/>
          <p:cNvSpPr/>
          <p:nvPr/>
        </p:nvSpPr>
        <p:spPr>
          <a:xfrm>
            <a:off x="3997821" y="3698379"/>
            <a:ext cx="200093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≥80 · A ≥60 · B ≥40 · C &lt;40</a:t>
            </a:r>
            <a:endParaRPr lang="en-US" sz="700" dirty="0"/>
          </a:p>
        </p:txBody>
      </p:sp>
      <p:sp>
        <p:nvSpPr>
          <p:cNvPr id="15" name="Text 12"/>
          <p:cNvSpPr/>
          <p:nvPr/>
        </p:nvSpPr>
        <p:spPr>
          <a:xfrm>
            <a:off x="3997821" y="3818930"/>
            <a:ext cx="200093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D-E-F 코드 결정 트리 (LLM 아님)</a:t>
            </a:r>
            <a:endParaRPr lang="en-US" sz="600" dirty="0"/>
          </a:p>
        </p:txBody>
      </p:sp>
      <p:sp>
        <p:nvSpPr>
          <p:cNvPr id="16" name="Text 13"/>
          <p:cNvSpPr/>
          <p:nvPr/>
        </p:nvSpPr>
        <p:spPr>
          <a:xfrm>
            <a:off x="3873996" y="4066431"/>
            <a:ext cx="2209354" cy="555724"/>
          </a:xfrm>
          <a:prstGeom prst="roundRect">
            <a:avLst>
              <a:gd name="adj" fmla="val 9141"/>
            </a:avLst>
          </a:prstGeom>
          <a:solidFill>
            <a:srgbClr val="1E293B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3997821" y="4177457"/>
            <a:ext cx="200093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Clean Context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3997821" y="4298007"/>
            <a:ext cx="2000938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6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analyses: []</a:t>
            </a: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전달로 앵커링 편향을 차단한다. 7개 병렬 LLM 호출에서 독립 평가 보장.</a:t>
            </a:r>
            <a:endParaRPr lang="en-US" sz="600" dirty="0"/>
          </a:p>
        </p:txBody>
      </p:sp>
      <p:sp>
        <p:nvSpPr>
          <p:cNvPr id="19" name="Text 16"/>
          <p:cNvSpPr/>
          <p:nvPr/>
        </p:nvSpPr>
        <p:spPr>
          <a:xfrm>
            <a:off x="6197650" y="790426"/>
            <a:ext cx="253893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Fixture Results: Golden Set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6197650" y="968127"/>
            <a:ext cx="2489150" cy="571351"/>
          </a:xfrm>
          <a:prstGeom prst="roundRect">
            <a:avLst>
              <a:gd name="adj" fmla="val 8891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6318681" y="1079153"/>
            <a:ext cx="284937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6318681" y="1333202"/>
            <a:ext cx="28493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81.2</a:t>
            </a:r>
            <a:endParaRPr lang="en-US" sz="700" dirty="0"/>
          </a:p>
        </p:txBody>
      </p:sp>
      <p:sp>
        <p:nvSpPr>
          <p:cNvPr id="23" name="Text 20"/>
          <p:cNvSpPr/>
          <p:nvPr/>
        </p:nvSpPr>
        <p:spPr>
          <a:xfrm>
            <a:off x="6702326" y="1110853"/>
            <a:ext cx="88137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Berserk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6702326" y="1225153"/>
            <a:ext cx="88137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conf: 0.89 · bias: 0/6</a:t>
            </a:r>
            <a:endParaRPr lang="en-US" sz="600" dirty="0"/>
          </a:p>
        </p:txBody>
      </p:sp>
      <p:sp>
        <p:nvSpPr>
          <p:cNvPr id="25" name="Text 22"/>
          <p:cNvSpPr/>
          <p:nvPr/>
        </p:nvSpPr>
        <p:spPr>
          <a:xfrm>
            <a:off x="6702326" y="1310878"/>
            <a:ext cx="88137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cause: conversion_failure</a:t>
            </a:r>
            <a:endParaRPr lang="en-US" sz="600" dirty="0"/>
          </a:p>
        </p:txBody>
      </p:sp>
      <p:sp>
        <p:nvSpPr>
          <p:cNvPr id="26" name="Text 23"/>
          <p:cNvSpPr/>
          <p:nvPr/>
        </p:nvSpPr>
        <p:spPr>
          <a:xfrm>
            <a:off x="6197650" y="1602879"/>
            <a:ext cx="2489150" cy="571351"/>
          </a:xfrm>
          <a:prstGeom prst="roundRect">
            <a:avLst>
              <a:gd name="adj" fmla="val 8891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4"/>
          <p:cNvSpPr/>
          <p:nvPr/>
        </p:nvSpPr>
        <p:spPr>
          <a:xfrm>
            <a:off x="6318681" y="1713905"/>
            <a:ext cx="284937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000" dirty="0"/>
          </a:p>
        </p:txBody>
      </p:sp>
      <p:sp>
        <p:nvSpPr>
          <p:cNvPr id="28" name="Text 25"/>
          <p:cNvSpPr/>
          <p:nvPr/>
        </p:nvSpPr>
        <p:spPr>
          <a:xfrm>
            <a:off x="6318681" y="1967954"/>
            <a:ext cx="28493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68.4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6702326" y="1745605"/>
            <a:ext cx="85132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Cowboy Bebop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6702326" y="1859905"/>
            <a:ext cx="85132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conf: 0.85 · range: 63-75</a:t>
            </a:r>
            <a:endParaRPr lang="en-US" sz="600" dirty="0"/>
          </a:p>
        </p:txBody>
      </p:sp>
      <p:sp>
        <p:nvSpPr>
          <p:cNvPr id="31" name="Text 28"/>
          <p:cNvSpPr/>
          <p:nvPr/>
        </p:nvSpPr>
        <p:spPr>
          <a:xfrm>
            <a:off x="6702326" y="1945630"/>
            <a:ext cx="85132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cause: undermarketed</a:t>
            </a:r>
            <a:endParaRPr lang="en-US" sz="600" dirty="0"/>
          </a:p>
        </p:txBody>
      </p:sp>
      <p:sp>
        <p:nvSpPr>
          <p:cNvPr id="32" name="Text 29"/>
          <p:cNvSpPr/>
          <p:nvPr/>
        </p:nvSpPr>
        <p:spPr>
          <a:xfrm>
            <a:off x="6197650" y="2237631"/>
            <a:ext cx="2489150" cy="571351"/>
          </a:xfrm>
          <a:prstGeom prst="roundRect">
            <a:avLst>
              <a:gd name="adj" fmla="val 8891"/>
            </a:avLst>
          </a:prstGeom>
          <a:solidFill>
            <a:srgbClr val="161B22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3" name="Text 30"/>
          <p:cNvSpPr/>
          <p:nvPr/>
        </p:nvSpPr>
        <p:spPr>
          <a:xfrm>
            <a:off x="6318681" y="2348657"/>
            <a:ext cx="284937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2000" dirty="0"/>
          </a:p>
        </p:txBody>
      </p:sp>
      <p:sp>
        <p:nvSpPr>
          <p:cNvPr id="34" name="Text 31"/>
          <p:cNvSpPr/>
          <p:nvPr/>
        </p:nvSpPr>
        <p:spPr>
          <a:xfrm>
            <a:off x="6318681" y="2602706"/>
            <a:ext cx="28493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51.7</a:t>
            </a:r>
            <a:endParaRPr lang="en-US" sz="700" dirty="0"/>
          </a:p>
        </p:txBody>
      </p:sp>
      <p:sp>
        <p:nvSpPr>
          <p:cNvPr id="35" name="Text 32"/>
          <p:cNvSpPr/>
          <p:nvPr/>
        </p:nvSpPr>
        <p:spPr>
          <a:xfrm>
            <a:off x="6702326" y="2380357"/>
            <a:ext cx="85132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Ghost in Shell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6702326" y="2494657"/>
            <a:ext cx="85132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conf: 0.72 · range: 48-60</a:t>
            </a:r>
            <a:endParaRPr lang="en-US" sz="600" dirty="0"/>
          </a:p>
        </p:txBody>
      </p:sp>
      <p:sp>
        <p:nvSpPr>
          <p:cNvPr id="37" name="Text 34"/>
          <p:cNvSpPr/>
          <p:nvPr/>
        </p:nvSpPr>
        <p:spPr>
          <a:xfrm>
            <a:off x="6702326" y="2580382"/>
            <a:ext cx="85132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cause: discovery_failure</a:t>
            </a:r>
            <a:endParaRPr lang="en-US" sz="600" dirty="0"/>
          </a:p>
        </p:txBody>
      </p:sp>
      <p:sp>
        <p:nvSpPr>
          <p:cNvPr id="38" name="Text 35"/>
          <p:cNvSpPr/>
          <p:nvPr/>
        </p:nvSpPr>
        <p:spPr>
          <a:xfrm>
            <a:off x="6197650" y="2872383"/>
            <a:ext cx="2489150" cy="2064841"/>
          </a:xfrm>
          <a:prstGeom prst="roundRect">
            <a:avLst>
              <a:gd name="adj" fmla="val 246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9" name="Text 36"/>
          <p:cNvSpPr/>
          <p:nvPr/>
        </p:nvSpPr>
        <p:spPr>
          <a:xfrm>
            <a:off x="6321475" y="2970758"/>
            <a:ext cx="228633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5-Layer 검증</a:t>
            </a:r>
            <a:endParaRPr lang="en-US" sz="800" dirty="0"/>
          </a:p>
        </p:txBody>
      </p:sp>
      <p:sp>
        <p:nvSpPr>
          <p:cNvPr id="40" name="Text 37"/>
          <p:cNvSpPr/>
          <p:nvPr/>
        </p:nvSpPr>
        <p:spPr>
          <a:xfrm>
            <a:off x="6321475" y="3145334"/>
            <a:ext cx="22415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6321475" y="3145334"/>
            <a:ext cx="228633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 Guardrails: 스키마·범위·근거·일관성</a:t>
            </a:r>
            <a:endParaRPr lang="en-US" sz="700" dirty="0"/>
          </a:p>
        </p:txBody>
      </p:sp>
      <p:sp>
        <p:nvSpPr>
          <p:cNvPr id="42" name="Text 39"/>
          <p:cNvSpPr/>
          <p:nvPr/>
        </p:nvSpPr>
        <p:spPr>
          <a:xfrm>
            <a:off x="6321475" y="3288209"/>
            <a:ext cx="228633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 BiasBuster: 6종 편향 (arXiv:2403.00811)</a:t>
            </a:r>
            <a:endParaRPr lang="en-US" sz="700" dirty="0"/>
          </a:p>
        </p:txBody>
      </p:sp>
      <p:sp>
        <p:nvSpPr>
          <p:cNvPr id="43" name="Text 40"/>
          <p:cNvSpPr/>
          <p:nvPr/>
        </p:nvSpPr>
        <p:spPr>
          <a:xfrm>
            <a:off x="6321475" y="3431084"/>
            <a:ext cx="228633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 Cross-LLM: Claude×GPT α≥0.67</a:t>
            </a:r>
            <a:endParaRPr lang="en-US" sz="700" dirty="0"/>
          </a:p>
        </p:txBody>
      </p:sp>
      <p:sp>
        <p:nvSpPr>
          <p:cNvPr id="44" name="Text 41"/>
          <p:cNvSpPr/>
          <p:nvPr/>
        </p:nvSpPr>
        <p:spPr>
          <a:xfrm>
            <a:off x="6321475" y="3564434"/>
            <a:ext cx="228633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 Rights Risk · L5 Calibration 80/100</a:t>
            </a:r>
            <a:endParaRPr lang="en-US" sz="700" dirty="0"/>
          </a:p>
        </p:txBody>
      </p:sp>
      <p:sp>
        <p:nvSpPr>
          <p:cNvPr id="45" name="Text 42"/>
          <p:cNvSpPr/>
          <p:nvPr/>
        </p:nvSpPr>
        <p:spPr>
          <a:xfrm>
            <a:off x="6321475" y="3723084"/>
            <a:ext cx="2241500" cy="501848"/>
          </a:xfrm>
          <a:prstGeom prst="roundRect">
            <a:avLst>
              <a:gd name="adj" fmla="val 759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6" name="Text 43"/>
          <p:cNvSpPr/>
          <p:nvPr/>
        </p:nvSpPr>
        <p:spPr>
          <a:xfrm>
            <a:off x="6422975" y="3811935"/>
            <a:ext cx="207926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판단</a:t>
            </a:r>
            <a:endParaRPr lang="en-US" sz="600" dirty="0"/>
          </a:p>
        </p:txBody>
      </p:sp>
      <p:sp>
        <p:nvSpPr>
          <p:cNvPr id="47" name="Text 44"/>
          <p:cNvSpPr/>
          <p:nvPr/>
        </p:nvSpPr>
        <p:spPr>
          <a:xfrm>
            <a:off x="6422975" y="3922961"/>
            <a:ext cx="2079269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40"/>
              </a:lnSpc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LLM 평가는 Anchoring 편향으로 점수 분산이 ±18점. L3 Cross-LLM α≥0.67 강제로 편향 0/6 달성.</a:t>
            </a:r>
            <a:endParaRPr lang="en-US" sz="600" dirty="0"/>
          </a:p>
        </p:txBody>
      </p:sp>
      <p:sp>
        <p:nvSpPr>
          <p:cNvPr id="48" name="Text 45"/>
          <p:cNvSpPr/>
          <p:nvPr/>
        </p:nvSpPr>
        <p:spPr>
          <a:xfrm>
            <a:off x="457200" y="4987975"/>
            <a:ext cx="3430482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rubric axes (8+3+3) · 6 cause classes · PSM Rosenbaum Gamma · conf gate ≥0.7 · max 5 iterations · Clean Context</a:t>
            </a:r>
            <a:endParaRPr lang="en-US" sz="500" dirty="0"/>
          </a:p>
        </p:txBody>
      </p:sp>
      <p:sp>
        <p:nvSpPr>
          <p:cNvPr id="49" name="Text 46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35</a:t>
            </a:r>
            <a:endParaRPr lang="en-US" sz="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9126"/>
            <a:ext cx="194325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HE-2: DOMAIN · Domain Portability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55550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Portability: GEODE ↔ REODE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12725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DomainPort 2-Protocol 직교 설계로 에이전트 코어 수정 0줄 달성: 241소스 103K LoC, 83/83 build pass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780901"/>
            <a:ext cx="2933700" cy="1120676"/>
          </a:xfrm>
          <a:prstGeom prst="roundRect">
            <a:avLst>
              <a:gd name="adj" fmla="val 4533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57200" y="799951"/>
            <a:ext cx="2933700" cy="0"/>
          </a:xfrm>
          <a:prstGeom prst="line">
            <a:avLst/>
          </a:prstGeom>
          <a:noFill/>
          <a:ln w="38100">
            <a:solidFill>
              <a:srgbClr val="F5C54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596801" y="933301"/>
            <a:ext cx="270758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6801" y="1104751"/>
            <a:ext cx="270758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IP 저평가 분석 에이전트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596801" y="1272927"/>
            <a:ext cx="2654498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6801" y="1272927"/>
            <a:ext cx="270758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187 모듈 · 3,216 테스트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596801" y="1415802"/>
            <a:ext cx="270758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 Tools + 45 MCP · 21 Skills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96801" y="1549152"/>
            <a:ext cx="270758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릴리스 무회귀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596801" y="1692027"/>
            <a:ext cx="270758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GameIPAdapter implements DomainPort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457200" y="1977777"/>
            <a:ext cx="2933700" cy="2949922"/>
          </a:xfrm>
          <a:prstGeom prst="roundRect">
            <a:avLst>
              <a:gd name="adj" fmla="val 1732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06326" y="2101602"/>
            <a:ext cx="268815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DomainPort 2-Protocol 직교 설계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606326" y="2269778"/>
            <a:ext cx="2635448" cy="260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06326" y="2269778"/>
            <a:ext cx="268815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PipelineTemplate L1: 실행 흐름 정의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606326" y="2425303"/>
            <a:ext cx="268815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LanguageAdapter L2: 언어·포맷 변환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606326" y="2618929"/>
            <a:ext cx="2635448" cy="412552"/>
          </a:xfrm>
          <a:prstGeom prst="roundRect">
            <a:avLst>
              <a:gd name="adj" fmla="val 12314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720626" y="2720429"/>
            <a:ext cx="245498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F5C5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_domain_ctx: ContextVar[DomainPort]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20626" y="2825204"/>
            <a:ext cx="245498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set_domain() / get_domain_or_none()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606326" y="3094881"/>
            <a:ext cx="268815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00"/>
              </a:lnSpc>
              <a:spcBef>
                <a:spcPts val="5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 변경 시 코어 수정 비용을 0으로 만들기 위해 @runtime_checkable Protocol을 설계한다. 상속 없이 메서드만 구현하면 즉시 호환되고 파이프라인 노드는 get_domain_or_none()으로 fallback한다.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3505200" y="1220093"/>
            <a:ext cx="2133600" cy="1599158"/>
          </a:xfrm>
          <a:prstGeom prst="roundRect">
            <a:avLst>
              <a:gd name="adj" fmla="val 4765"/>
            </a:avLst>
          </a:prstGeom>
          <a:solidFill>
            <a:srgbClr val="1E293B"/>
          </a:solidFill>
          <a:ln w="19050">
            <a:solidFill>
              <a:srgbClr val="F5C542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645688" y="1378744"/>
            <a:ext cx="185262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700"/>
              </a:spcAft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DomainPort Protocol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3645688" y="1581894"/>
            <a:ext cx="185262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2-Protocol 직교 설계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3663851" y="1803946"/>
            <a:ext cx="1816298" cy="396627"/>
          </a:xfrm>
          <a:prstGeom prst="roundRect">
            <a:avLst>
              <a:gd name="adj" fmla="val 12808"/>
            </a:avLst>
          </a:prstGeom>
          <a:solidFill>
            <a:srgbClr val="0D2B1E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3762274" y="1905446"/>
            <a:ext cx="161945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PipelineTemplate L1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3762274" y="2013347"/>
            <a:ext cx="1619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흐름 정의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3663851" y="2263973"/>
            <a:ext cx="1816298" cy="396627"/>
          </a:xfrm>
          <a:prstGeom prst="roundRect">
            <a:avLst>
              <a:gd name="adj" fmla="val 12808"/>
            </a:avLst>
          </a:prstGeom>
          <a:solidFill>
            <a:srgbClr val="2B1A0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3762274" y="2365474"/>
            <a:ext cx="161945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LanguageAdapter L2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3762274" y="2473375"/>
            <a:ext cx="1619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언어·포맷 변환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3505200" y="2895451"/>
            <a:ext cx="2133600" cy="806202"/>
          </a:xfrm>
          <a:prstGeom prst="roundRect">
            <a:avLst>
              <a:gd name="adj" fmla="val 6301"/>
            </a:avLst>
          </a:prstGeom>
          <a:solidFill>
            <a:srgbClr val="1E293B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3635972" y="3031927"/>
            <a:ext cx="1872055" cy="279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200"/>
              </a:lnSpc>
              <a:buNone/>
            </a:pPr>
            <a:r>
              <a:rPr lang="en-US" sz="22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0줄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3635972" y="3349377"/>
            <a:ext cx="187205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3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에이전트 코어 수정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3635972" y="3479453"/>
            <a:ext cx="187205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core/graph.py · core/verification/ 무변경</a:t>
            </a:r>
            <a:endParaRPr lang="en-US" sz="600" dirty="0"/>
          </a:p>
        </p:txBody>
      </p:sp>
      <p:sp>
        <p:nvSpPr>
          <p:cNvPr id="37" name="Text 35"/>
          <p:cNvSpPr/>
          <p:nvPr/>
        </p:nvSpPr>
        <p:spPr>
          <a:xfrm>
            <a:off x="3505200" y="3777853"/>
            <a:ext cx="2133600" cy="710505"/>
          </a:xfrm>
          <a:prstGeom prst="roundRect">
            <a:avLst>
              <a:gd name="adj" fmla="val 7150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8" name="Shape 36"/>
          <p:cNvSpPr/>
          <p:nvPr/>
        </p:nvSpPr>
        <p:spPr>
          <a:xfrm>
            <a:off x="3524250" y="3777853"/>
            <a:ext cx="0" cy="710505"/>
          </a:xfrm>
          <a:prstGeom prst="line">
            <a:avLst/>
          </a:prstGeom>
          <a:noFill/>
          <a:ln w="38100">
            <a:solidFill>
              <a:srgbClr val="F5C54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/>
          <p:nvPr/>
        </p:nvSpPr>
        <p:spPr>
          <a:xfrm>
            <a:off x="3657600" y="3866704"/>
            <a:ext cx="1904238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Protocol 추상화 비용 vs 이식 속도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DomainPort 인터페이스 설계에 3일을 썼다. 그 대가로 GEODE → REODE 피봇 시 코어 수정이 0줄이었고, 3일 투자가 수주의 재작성을 막았다.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5753100" y="780901"/>
            <a:ext cx="2933700" cy="977801"/>
          </a:xfrm>
          <a:prstGeom prst="roundRect">
            <a:avLst>
              <a:gd name="adj" fmla="val 5195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1" name="Shape 39"/>
          <p:cNvSpPr/>
          <p:nvPr/>
        </p:nvSpPr>
        <p:spPr>
          <a:xfrm>
            <a:off x="5753100" y="799951"/>
            <a:ext cx="2933700" cy="0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0"/>
          <p:cNvSpPr/>
          <p:nvPr/>
        </p:nvSpPr>
        <p:spPr>
          <a:xfrm>
            <a:off x="5892701" y="933301"/>
            <a:ext cx="270758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REODE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5892701" y="1104751"/>
            <a:ext cx="270758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Java 코드 마이그레이션 에이전트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5892701" y="1272927"/>
            <a:ext cx="265449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5892701" y="1272927"/>
            <a:ext cx="270758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209 모듈 · 3,274 테스트 · 34 Tools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5892701" y="1415802"/>
            <a:ext cx="270758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OpenRewrite 70% + LLM 30%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5892701" y="1549152"/>
            <a:ext cx="270758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5-Gate Migration Scorecard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5753100" y="1834902"/>
            <a:ext cx="2933700" cy="3092797"/>
          </a:xfrm>
          <a:prstGeom prst="roundRect">
            <a:avLst>
              <a:gd name="adj" fmla="val 1732"/>
            </a:avLst>
          </a:prstGeom>
          <a:solidFill>
            <a:srgbClr val="0D1E2B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5902226" y="1958727"/>
            <a:ext cx="268815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실증 수치: Java 마이그레이션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5889556" y="2158752"/>
            <a:ext cx="1292313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241</a:t>
            </a:r>
            <a:endParaRPr lang="en-US" sz="2000" dirty="0"/>
          </a:p>
        </p:txBody>
      </p:sp>
      <p:sp>
        <p:nvSpPr>
          <p:cNvPr id="51" name="Text 49"/>
          <p:cNvSpPr/>
          <p:nvPr/>
        </p:nvSpPr>
        <p:spPr>
          <a:xfrm>
            <a:off x="5889556" y="2412802"/>
            <a:ext cx="129231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소스 파일</a:t>
            </a:r>
            <a:endParaRPr lang="en-US" sz="600" dirty="0"/>
          </a:p>
        </p:txBody>
      </p:sp>
      <p:sp>
        <p:nvSpPr>
          <p:cNvPr id="52" name="Text 50"/>
          <p:cNvSpPr/>
          <p:nvPr/>
        </p:nvSpPr>
        <p:spPr>
          <a:xfrm>
            <a:off x="7258031" y="2158752"/>
            <a:ext cx="1292313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103K</a:t>
            </a:r>
            <a:endParaRPr lang="en-US" sz="2000" dirty="0"/>
          </a:p>
        </p:txBody>
      </p:sp>
      <p:sp>
        <p:nvSpPr>
          <p:cNvPr id="53" name="Text 51"/>
          <p:cNvSpPr/>
          <p:nvPr/>
        </p:nvSpPr>
        <p:spPr>
          <a:xfrm>
            <a:off x="7258031" y="2412802"/>
            <a:ext cx="129231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</a:t>
            </a:r>
            <a:endParaRPr lang="en-US" sz="600" dirty="0"/>
          </a:p>
        </p:txBody>
      </p:sp>
      <p:sp>
        <p:nvSpPr>
          <p:cNvPr id="54" name="Text 52"/>
          <p:cNvSpPr/>
          <p:nvPr/>
        </p:nvSpPr>
        <p:spPr>
          <a:xfrm>
            <a:off x="5889556" y="2574727"/>
            <a:ext cx="1292313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2000" dirty="0"/>
          </a:p>
        </p:txBody>
      </p:sp>
      <p:sp>
        <p:nvSpPr>
          <p:cNvPr id="55" name="Text 53"/>
          <p:cNvSpPr/>
          <p:nvPr/>
        </p:nvSpPr>
        <p:spPr>
          <a:xfrm>
            <a:off x="5889556" y="2828776"/>
            <a:ext cx="129231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</a:t>
            </a:r>
            <a:endParaRPr lang="en-US" sz="600" dirty="0"/>
          </a:p>
        </p:txBody>
      </p:sp>
      <p:sp>
        <p:nvSpPr>
          <p:cNvPr id="56" name="Text 54"/>
          <p:cNvSpPr/>
          <p:nvPr/>
        </p:nvSpPr>
        <p:spPr>
          <a:xfrm>
            <a:off x="7258031" y="2574727"/>
            <a:ext cx="1292313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1,133</a:t>
            </a:r>
            <a:endParaRPr lang="en-US" sz="2000" dirty="0"/>
          </a:p>
        </p:txBody>
      </p:sp>
      <p:sp>
        <p:nvSpPr>
          <p:cNvPr id="57" name="Text 55"/>
          <p:cNvSpPr/>
          <p:nvPr/>
        </p:nvSpPr>
        <p:spPr>
          <a:xfrm>
            <a:off x="7258031" y="2828776"/>
            <a:ext cx="129231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라운드</a:t>
            </a:r>
            <a:endParaRPr lang="en-US" sz="600" dirty="0"/>
          </a:p>
        </p:txBody>
      </p:sp>
      <p:sp>
        <p:nvSpPr>
          <p:cNvPr id="58" name="Text 56"/>
          <p:cNvSpPr/>
          <p:nvPr/>
        </p:nvSpPr>
        <p:spPr>
          <a:xfrm>
            <a:off x="5902226" y="2990701"/>
            <a:ext cx="2635448" cy="456902"/>
          </a:xfrm>
          <a:prstGeom prst="roundRect">
            <a:avLst>
              <a:gd name="adj" fmla="val 11118"/>
            </a:avLst>
          </a:prstGeom>
          <a:solidFill>
            <a:srgbClr val="0D2B1E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6002173" y="3101727"/>
            <a:ext cx="243555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83/83 mvn compile+test 패스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6002173" y="3250853"/>
            <a:ext cx="243555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5h 48m 자율 실행</a:t>
            </a:r>
            <a:endParaRPr lang="en-US" sz="600" dirty="0"/>
          </a:p>
        </p:txBody>
      </p:sp>
      <p:sp>
        <p:nvSpPr>
          <p:cNvPr id="61" name="Text 59"/>
          <p:cNvSpPr/>
          <p:nvPr/>
        </p:nvSpPr>
        <p:spPr>
          <a:xfrm>
            <a:off x="457200" y="4978450"/>
            <a:ext cx="3194881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DomainPort · ContextVar DI · core/graph.py 0줄 수정 · 241소스 103K LoC · 33세션 1,133라운드 · 83/83 build pass</a:t>
            </a:r>
            <a:endParaRPr lang="en-US" sz="500" dirty="0"/>
          </a:p>
        </p:txBody>
      </p:sp>
      <p:sp>
        <p:nvSpPr>
          <p:cNvPr id="62" name="Text 60"/>
          <p:cNvSpPr/>
          <p:nvPr/>
        </p:nvSpPr>
        <p:spPr>
          <a:xfrm>
            <a:off x="8492728" y="4983212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35</a:t>
            </a:r>
            <a:endParaRPr lang="en-US" sz="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9126"/>
            <a:ext cx="187843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HE-2: DOMAIN · Pattern Evolution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55550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Eco² → GEODE → REODE: 패턴 진화 증거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22250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Swiss Cheese → 5-Layer · LLMClientPort → Port/Adapter · Event Bus → HookSystem: 같은 문제를 세 번 더 잘 풀었다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790426"/>
            <a:ext cx="2445841" cy="409426"/>
          </a:xfrm>
          <a:prstGeom prst="roundRect">
            <a:avLst>
              <a:gd name="adj" fmla="val 12408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71946" y="888802"/>
            <a:ext cx="221634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Eco²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71946" y="1015752"/>
            <a:ext cx="221634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원형 패턴</a:t>
            </a:r>
            <a:endParaRPr lang="en-US" sz="600" dirty="0"/>
          </a:p>
        </p:txBody>
      </p:sp>
      <p:sp>
        <p:nvSpPr>
          <p:cNvPr id="9" name="Text 7"/>
          <p:cNvSpPr/>
          <p:nvPr/>
        </p:nvSpPr>
        <p:spPr>
          <a:xfrm>
            <a:off x="2953792" y="923627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131641" y="790426"/>
            <a:ext cx="2880568" cy="409426"/>
          </a:xfrm>
          <a:prstGeom prst="rect">
            <a:avLst/>
          </a:prstGeom>
          <a:solidFill>
            <a:srgbClr val="161B22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242041" y="888802"/>
            <a:ext cx="265977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3242041" y="1015752"/>
            <a:ext cx="265977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패턴 심화</a:t>
            </a:r>
            <a:endParaRPr lang="en-US" sz="600" dirty="0"/>
          </a:p>
        </p:txBody>
      </p:sp>
      <p:sp>
        <p:nvSpPr>
          <p:cNvPr id="13" name="Text 11"/>
          <p:cNvSpPr/>
          <p:nvPr/>
        </p:nvSpPr>
        <p:spPr>
          <a:xfrm>
            <a:off x="6062960" y="923627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240810" y="790426"/>
            <a:ext cx="2445990" cy="409426"/>
          </a:xfrm>
          <a:prstGeom prst="rect">
            <a:avLst/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355555" y="888802"/>
            <a:ext cx="22165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REODE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355555" y="1015752"/>
            <a:ext cx="221650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실증 적용</a:t>
            </a:r>
            <a:endParaRPr lang="en-US" sz="600" dirty="0"/>
          </a:p>
        </p:txBody>
      </p:sp>
      <p:sp>
        <p:nvSpPr>
          <p:cNvPr id="17" name="Text 15"/>
          <p:cNvSpPr/>
          <p:nvPr/>
        </p:nvSpPr>
        <p:spPr>
          <a:xfrm>
            <a:off x="457200" y="1263253"/>
            <a:ext cx="8229600" cy="377726"/>
          </a:xfrm>
          <a:prstGeom prst="roundRect">
            <a:avLst>
              <a:gd name="adj" fmla="val 1344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93675" y="1361629"/>
            <a:ext cx="50750" cy="180975"/>
          </a:xfrm>
          <a:prstGeom prst="roundRect">
            <a:avLst>
              <a:gd name="adj" fmla="val 50049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45927" y="1399729"/>
            <a:ext cx="103621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 레이어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863328" y="1361629"/>
            <a:ext cx="189558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Swiss Cheese 3-Layer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1863328" y="1456879"/>
            <a:ext cx="18955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LLM 평가 → 3겹 필터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3823246" y="1394966"/>
            <a:ext cx="170325" cy="114300"/>
          </a:xfrm>
          <a:prstGeom prst="rect">
            <a:avLst/>
          </a:prstGeom>
          <a:noFill/>
          <a:ln/>
        </p:spPr>
        <p:txBody>
          <a:bodyPr wrap="square" lIns="38100" tIns="0" rIns="3810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091732" y="1361629"/>
            <a:ext cx="227479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5-Layer Verification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4091732" y="1456879"/>
            <a:ext cx="227479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BiasBuster 6종 + Cross-LLM α≥0.67 → 99.8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6423422" y="1394966"/>
            <a:ext cx="170325" cy="114300"/>
          </a:xfrm>
          <a:prstGeom prst="rect">
            <a:avLst/>
          </a:prstGeom>
          <a:noFill/>
          <a:ln/>
        </p:spPr>
        <p:txBody>
          <a:bodyPr wrap="square" lIns="38100" tIns="0" rIns="3810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691908" y="1361629"/>
            <a:ext cx="189558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5-Gate Migration Scorecard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6691908" y="1456879"/>
            <a:ext cx="18955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마이그레이션 품질 5관문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457200" y="1704380"/>
            <a:ext cx="8229600" cy="377726"/>
          </a:xfrm>
          <a:prstGeom prst="roundRect">
            <a:avLst>
              <a:gd name="adj" fmla="val 1344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593675" y="1802755"/>
            <a:ext cx="50750" cy="180975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745927" y="1840855"/>
            <a:ext cx="103621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추상화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1863328" y="1802755"/>
            <a:ext cx="189558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LLMClientPort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1863328" y="1898005"/>
            <a:ext cx="18955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Provider 종속 위험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3823246" y="1836093"/>
            <a:ext cx="170325" cy="114300"/>
          </a:xfrm>
          <a:prstGeom prst="rect">
            <a:avLst/>
          </a:prstGeom>
          <a:noFill/>
          <a:ln/>
        </p:spPr>
        <p:txBody>
          <a:bodyPr wrap="square" lIns="38100" tIns="0" rIns="3810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091732" y="1802755"/>
            <a:ext cx="227479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Port/Adapter DI + ContextVar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4091732" y="1898005"/>
            <a:ext cx="227479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Anthropic·OpenAI·ZhipuAI 3-Provider 추상화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6423422" y="1836093"/>
            <a:ext cx="170325" cy="114300"/>
          </a:xfrm>
          <a:prstGeom prst="rect">
            <a:avLst/>
          </a:prstGeom>
          <a:noFill/>
          <a:ln/>
        </p:spPr>
        <p:txBody>
          <a:bodyPr wrap="square" lIns="38100" tIns="0" rIns="3810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691908" y="1802755"/>
            <a:ext cx="189558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DomainPort Protocol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6691908" y="1898005"/>
            <a:ext cx="18955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코어 수정 0줄로 Java 도메인 교체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457200" y="2145506"/>
            <a:ext cx="8229600" cy="387251"/>
          </a:xfrm>
          <a:prstGeom prst="roundRect">
            <a:avLst>
              <a:gd name="adj" fmla="val 13118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593675" y="2243882"/>
            <a:ext cx="50750" cy="190500"/>
          </a:xfrm>
          <a:prstGeom prst="roundRect">
            <a:avLst>
              <a:gd name="adj" fmla="val 50049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745927" y="2286744"/>
            <a:ext cx="103621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이벤트 시스템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1863328" y="2248644"/>
            <a:ext cx="189558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Bus 3-Tier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1863328" y="2343894"/>
            <a:ext cx="18955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하드코딩 콜백 확장 불가</a:t>
            </a:r>
            <a:endParaRPr lang="en-US" sz="600" dirty="0"/>
          </a:p>
        </p:txBody>
      </p:sp>
      <p:sp>
        <p:nvSpPr>
          <p:cNvPr id="44" name="Text 42"/>
          <p:cNvSpPr/>
          <p:nvPr/>
        </p:nvSpPr>
        <p:spPr>
          <a:xfrm>
            <a:off x="3823246" y="2281982"/>
            <a:ext cx="170325" cy="114300"/>
          </a:xfrm>
          <a:prstGeom prst="rect">
            <a:avLst/>
          </a:prstGeom>
          <a:noFill/>
          <a:ln/>
        </p:spPr>
        <p:txBody>
          <a:bodyPr wrap="square" lIns="38100" tIns="0" rIns="3810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4091732" y="2248644"/>
            <a:ext cx="227479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HookSystem 46 Events 8 Categories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4091732" y="2343894"/>
            <a:ext cx="227479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 핸들러 · StuckDetector 120s · 에러 격리</a:t>
            </a:r>
            <a:endParaRPr lang="en-US" sz="600" dirty="0"/>
          </a:p>
        </p:txBody>
      </p:sp>
      <p:sp>
        <p:nvSpPr>
          <p:cNvPr id="47" name="Text 45"/>
          <p:cNvSpPr/>
          <p:nvPr/>
        </p:nvSpPr>
        <p:spPr>
          <a:xfrm>
            <a:off x="6423422" y="2281982"/>
            <a:ext cx="170325" cy="114300"/>
          </a:xfrm>
          <a:prstGeom prst="rect">
            <a:avLst/>
          </a:prstGeom>
          <a:noFill/>
          <a:ln/>
        </p:spPr>
        <p:txBody>
          <a:bodyPr wrap="square" lIns="38100" tIns="0" rIns="3810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6691908" y="2243882"/>
            <a:ext cx="189558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REODE HookSystem 상속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6691908" y="2348657"/>
            <a:ext cx="18955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Migration lifecycle 동일 패턴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457200" y="2596158"/>
            <a:ext cx="8229600" cy="377726"/>
          </a:xfrm>
          <a:prstGeom prst="roundRect">
            <a:avLst>
              <a:gd name="adj" fmla="val 1344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593675" y="2694533"/>
            <a:ext cx="50750" cy="180975"/>
          </a:xfrm>
          <a:prstGeom prst="roundRect">
            <a:avLst>
              <a:gd name="adj" fmla="val 50049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745927" y="2732633"/>
            <a:ext cx="103621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장애 복원력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1863328" y="2694533"/>
            <a:ext cx="189558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Circuit Breaker + Jitter Backoff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1863328" y="2789783"/>
            <a:ext cx="18955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Provider 장애 시 전체 중단</a:t>
            </a:r>
            <a:endParaRPr lang="en-US" sz="600" dirty="0"/>
          </a:p>
        </p:txBody>
      </p:sp>
      <p:sp>
        <p:nvSpPr>
          <p:cNvPr id="55" name="Text 53"/>
          <p:cNvSpPr/>
          <p:nvPr/>
        </p:nvSpPr>
        <p:spPr>
          <a:xfrm>
            <a:off x="3823246" y="2727871"/>
            <a:ext cx="170325" cy="114300"/>
          </a:xfrm>
          <a:prstGeom prst="rect">
            <a:avLst/>
          </a:prstGeom>
          <a:noFill/>
          <a:ln/>
        </p:spPr>
        <p:txBody>
          <a:bodyPr wrap="square" lIns="38100" tIns="0" rIns="3810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4091732" y="2694533"/>
            <a:ext cx="227479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3-Provider Failover (CB ×3)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4091732" y="2789783"/>
            <a:ext cx="227479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5회 실패→60s OPEN→Half-Open · Exp. Backoff ±25% Jitter</a:t>
            </a:r>
            <a:endParaRPr lang="en-US" sz="600" dirty="0"/>
          </a:p>
        </p:txBody>
      </p:sp>
      <p:sp>
        <p:nvSpPr>
          <p:cNvPr id="58" name="Text 56"/>
          <p:cNvSpPr/>
          <p:nvPr/>
        </p:nvSpPr>
        <p:spPr>
          <a:xfrm>
            <a:off x="6423422" y="2727871"/>
            <a:ext cx="170325" cy="114300"/>
          </a:xfrm>
          <a:prstGeom prst="rect">
            <a:avLst/>
          </a:prstGeom>
          <a:noFill/>
          <a:ln/>
        </p:spPr>
        <p:txBody>
          <a:bodyPr wrap="square" lIns="38100" tIns="0" rIns="3810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6691908" y="2694533"/>
            <a:ext cx="189558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REODE LLM Failover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6691908" y="2789783"/>
            <a:ext cx="18955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동일 CB 패턴 마이그레이션 내성</a:t>
            </a:r>
            <a:endParaRPr lang="en-US" sz="600" dirty="0"/>
          </a:p>
        </p:txBody>
      </p:sp>
      <p:sp>
        <p:nvSpPr>
          <p:cNvPr id="61" name="Text 59"/>
          <p:cNvSpPr/>
          <p:nvPr/>
        </p:nvSpPr>
        <p:spPr>
          <a:xfrm>
            <a:off x="457200" y="4455021"/>
            <a:ext cx="8229600" cy="444103"/>
          </a:xfrm>
          <a:prstGeom prst="roundRect">
            <a:avLst>
              <a:gd name="adj" fmla="val 11439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2" name="Shape 60"/>
          <p:cNvSpPr/>
          <p:nvPr/>
        </p:nvSpPr>
        <p:spPr>
          <a:xfrm>
            <a:off x="476250" y="4455021"/>
            <a:ext cx="0" cy="444103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Text 61"/>
          <p:cNvSpPr/>
          <p:nvPr/>
        </p:nvSpPr>
        <p:spPr>
          <a:xfrm>
            <a:off x="622250" y="4543871"/>
            <a:ext cx="8096351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재사용 비용 vs 재설계 비용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Eco²에서 검증된 4개 패턴을 재사용하면 Eco² 제약(Swiss Cheese 3-Layer 한계, 단일 Provider 종속)도 함께 온다. 그러나 패턴을 버리면 REODE 출시에 수주가 더 필요하다. 검증된 패턴을 확장하는 길을 선택하고, REODE는 GEODE 포크로 </a:t>
            </a: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83/83 빌드를 5h 48m 안에 달성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한다.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457200" y="4987975"/>
            <a:ext cx="347010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Swiss Cheese→5-Layer · LLMClientPort→Port/Adapter · Event Bus→HookSystem · Circuit Breaker→3-Provider Failover</a:t>
            </a:r>
            <a:endParaRPr lang="en-US" sz="500" dirty="0"/>
          </a:p>
        </p:txBody>
      </p:sp>
      <p:sp>
        <p:nvSpPr>
          <p:cNvPr id="65" name="Text 63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35</a:t>
            </a:r>
            <a:endParaRPr lang="en-US" sz="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15901"/>
            <a:ext cx="8229600" cy="1265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790877" y="1818977"/>
            <a:ext cx="356209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1600"/>
              </a:spcAft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HE-0 SCAFFOLD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790877" y="2136428"/>
            <a:ext cx="3562097" cy="7819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080"/>
              </a:lnSpc>
              <a:spcAft>
                <a:spcPts val="1400"/>
              </a:spcAft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코드가 아닌</a:t>
            </a:r>
            <a:endParaRPr lang="en-US" sz="2800" dirty="0"/>
          </a:p>
          <a:p>
            <a:pPr marL="0" indent="0" algn="ctr">
              <a:lnSpc>
                <a:spcPts val="3080"/>
              </a:lnSpc>
              <a:spcAft>
                <a:spcPts val="1400"/>
              </a:spcAft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제어 계층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2790877" y="3096071"/>
            <a:ext cx="3562097" cy="2284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23 · CAN 허용 · 8-Step · Frontier Mining · 4-Persona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4114949"/>
            <a:ext cx="8229600" cy="1265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57200" y="4987975"/>
            <a:ext cx="30224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S21 – S25</a:t>
            </a:r>
            <a:endParaRPr lang="en-US" sz="500" dirty="0"/>
          </a:p>
        </p:txBody>
      </p:sp>
      <p:sp>
        <p:nvSpPr>
          <p:cNvPr id="8" name="Text 6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/ 35</a:t>
            </a:r>
            <a:endParaRPr lang="en-US" sz="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0360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HE-0 SCAFFOLD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Mirror Table: Scaffold ↔ Runtime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38026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스캐폴딩이 Runtime을 설계하기 때문에 동형 구조가 나온다. 의도한 것이 아닌 좋은 설계의 부산물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38051"/>
            <a:ext cx="2768798" cy="4076998"/>
          </a:xfrm>
          <a:prstGeom prst="roundRect">
            <a:avLst>
              <a:gd name="adj" fmla="val 2752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19125" y="974527"/>
            <a:ext cx="38100" cy="152400"/>
          </a:xfrm>
          <a:prstGeom prst="roundRect">
            <a:avLst>
              <a:gd name="adj" fmla="val 66667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33425" y="979289"/>
            <a:ext cx="118058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SCAFFOLD (빌드 타임)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19125" y="1253877"/>
            <a:ext cx="2444948" cy="526852"/>
          </a:xfrm>
          <a:prstGeom prst="roundRect">
            <a:avLst>
              <a:gd name="adj" fmla="val 964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46075" y="1342727"/>
            <a:ext cx="22348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 23 CANNOT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746075" y="1482328"/>
            <a:ext cx="223486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LLM이 발산하지 않도록 23개 금지 규칙을 CLAUDE.md에 주입한다. 위반하면 CI가 머지를 차단한다.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619125" y="1856929"/>
            <a:ext cx="2444948" cy="526852"/>
          </a:xfrm>
          <a:prstGeom prst="roundRect">
            <a:avLst>
              <a:gd name="adj" fmla="val 964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46075" y="1945779"/>
            <a:ext cx="22348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Skills → 8-Step Loop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746075" y="2085380"/>
            <a:ext cx="223486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리서치 없이 구현하면 중복 설계가 발생했기 때문에 8-Step Loop가 모든 PR에 Socratic Gate를 강제한다.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619125" y="2459980"/>
            <a:ext cx="2444948" cy="526852"/>
          </a:xfrm>
          <a:prstGeom prst="roundRect">
            <a:avLst>
              <a:gd name="adj" fmla="val 964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46075" y="2548830"/>
            <a:ext cx="22348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Mining + 4-Persona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46075" y="2688431"/>
            <a:ext cx="223486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독자 설계만 하면 이미 해결된 문제를 재발명하기 때문에 4개 하네스를 리서치하고 3/4 수렴 규칙으로 채택 여부를 결정한다.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619125" y="3063032"/>
            <a:ext cx="2444948" cy="631627"/>
          </a:xfrm>
          <a:prstGeom prst="roundRect">
            <a:avLst>
              <a:gd name="adj" fmla="val 804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46075" y="3151882"/>
            <a:ext cx="22348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CHANGELOG 40 Releases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746075" y="3291483"/>
            <a:ext cx="2234869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결정 이유가 사라지면 같은 실수를 반복하기 때문에 v0.6 → v0.32 40회 릴리스의 모든 피봇 WHY를 CHANGELOG에 기록한다.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3480941" y="2655838"/>
            <a:ext cx="204936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⟺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514151" y="2925663"/>
            <a:ext cx="13449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동형</a:t>
            </a:r>
            <a:endParaRPr lang="en-US" sz="600" dirty="0"/>
          </a:p>
          <a:p>
            <a:pPr marL="0" indent="0" algn="ct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구조</a:t>
            </a:r>
            <a:endParaRPr lang="en-US" sz="600" dirty="0"/>
          </a:p>
        </p:txBody>
      </p:sp>
      <p:sp>
        <p:nvSpPr>
          <p:cNvPr id="23" name="Text 21"/>
          <p:cNvSpPr/>
          <p:nvPr/>
        </p:nvSpPr>
        <p:spPr>
          <a:xfrm>
            <a:off x="3936950" y="838051"/>
            <a:ext cx="2768798" cy="4076998"/>
          </a:xfrm>
          <a:prstGeom prst="roundRect">
            <a:avLst>
              <a:gd name="adj" fmla="val 2752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098875" y="974527"/>
            <a:ext cx="38100" cy="152400"/>
          </a:xfrm>
          <a:prstGeom prst="roundRect">
            <a:avLst>
              <a:gd name="adj" fmla="val 66667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213175" y="979289"/>
            <a:ext cx="107690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(실행 타임)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098875" y="1253877"/>
            <a:ext cx="2444948" cy="526852"/>
          </a:xfrm>
          <a:prstGeom prst="roundRect">
            <a:avLst>
              <a:gd name="adj" fmla="val 964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4225826" y="1342727"/>
            <a:ext cx="22348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 Hook Events (PolicyChain)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225826" y="1482328"/>
            <a:ext cx="223486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규칙은 빌드 타임에 검문하고, 46 Hook Events는 실행 타임에 정책 위반을 즉시 차단한다. 같은 원칙, 다른 계층.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4098875" y="1856929"/>
            <a:ext cx="2444948" cy="526852"/>
          </a:xfrm>
          <a:prstGeom prst="roundRect">
            <a:avLst>
              <a:gd name="adj" fmla="val 964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225826" y="1945779"/>
            <a:ext cx="22348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AgenticLoop 50 rounds × 200 turns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225826" y="2085380"/>
            <a:ext cx="223486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Scaffold가 설계한 50R×200T 루프 구조가 Runtime에서 그대로 실행된다. 실측 평균 종료: 4.2 라운드.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4098875" y="2459980"/>
            <a:ext cx="2444948" cy="631627"/>
          </a:xfrm>
          <a:prstGeom prst="roundRect">
            <a:avLst>
              <a:gd name="adj" fmla="val 804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4225826" y="2548830"/>
            <a:ext cx="22348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3-Provider Failover + 5-Tier Safety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225826" y="2688431"/>
            <a:ext cx="2234869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Mining에서 3/4 수렴으로 선택한 3-Provider Failover + 5-Tier Safety가 Runtime에서 단일 장애점 0을 달성한다.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4098875" y="3167807"/>
            <a:ext cx="2444948" cy="631627"/>
          </a:xfrm>
          <a:prstGeom prst="roundRect">
            <a:avLst>
              <a:gd name="adj" fmla="val 804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4225826" y="3256657"/>
            <a:ext cx="22348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3,216 Tests · 187 Modules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4225826" y="3396258"/>
            <a:ext cx="2234869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테스트 없이 커밋을 허용하면 회귀가 누적되기 때문에 70% 테스트 비율을 CANNOT으로 강제한다. 결과: 3,216 Tests, 40/40 무회귀.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6807250" y="838051"/>
            <a:ext cx="1879550" cy="4076998"/>
          </a:xfrm>
          <a:prstGeom prst="roundRect">
            <a:avLst>
              <a:gd name="adj" fmla="val 405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6969175" y="1931194"/>
            <a:ext cx="158681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구조적 동형인가?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6969175" y="2131219"/>
            <a:ext cx="1586814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설계가 아닌 발견이었다. Scaffold가 성숙하면서 Runtime과 자연스럽게 동형 구조가 되고, 의도한 것이 아니라 좋은 설계의 부산물이다.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6969175" y="2740223"/>
            <a:ext cx="1555700" cy="586085"/>
          </a:xfrm>
          <a:prstGeom prst="roundRect">
            <a:avLst>
              <a:gd name="adj" fmla="val 8668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7083475" y="2841724"/>
            <a:ext cx="1353642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규칙 위반 → 빌드 실패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7083475" y="2973586"/>
            <a:ext cx="1353642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40"/>
              </a:lnSpc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규칙 위반 → 실행 차단</a:t>
            </a:r>
            <a:endParaRPr lang="en-US" sz="600" dirty="0"/>
          </a:p>
        </p:txBody>
      </p:sp>
      <p:sp>
        <p:nvSpPr>
          <p:cNvPr id="44" name="Text 42"/>
          <p:cNvSpPr/>
          <p:nvPr/>
        </p:nvSpPr>
        <p:spPr>
          <a:xfrm>
            <a:off x="7083475" y="3118247"/>
            <a:ext cx="1353642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4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원칙, 다른 계층에서 작동</a:t>
            </a:r>
            <a:endParaRPr lang="en-US" sz="600" dirty="0"/>
          </a:p>
        </p:txBody>
      </p:sp>
      <p:sp>
        <p:nvSpPr>
          <p:cNvPr id="45" name="Shape 43"/>
          <p:cNvSpPr/>
          <p:nvPr/>
        </p:nvSpPr>
        <p:spPr>
          <a:xfrm>
            <a:off x="6969175" y="3407271"/>
            <a:ext cx="1555700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4"/>
          <p:cNvSpPr/>
          <p:nvPr/>
        </p:nvSpPr>
        <p:spPr>
          <a:xfrm>
            <a:off x="6969175" y="3488234"/>
            <a:ext cx="158681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6969175" y="3608784"/>
            <a:ext cx="1586814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40"/>
              </a:lnSpc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동형 유지 비용: Scaffold 변경 시 Runtime도 동기화 필요. 수익: 설계 결정이 코드로 직접 흐른다.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457200" y="4978450"/>
            <a:ext cx="99872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1,174 커밋 · 36일</a:t>
            </a:r>
            <a:endParaRPr lang="en-US" sz="500" dirty="0"/>
          </a:p>
        </p:txBody>
      </p:sp>
      <p:sp>
        <p:nvSpPr>
          <p:cNvPr id="49" name="Text 47"/>
          <p:cNvSpPr/>
          <p:nvPr/>
        </p:nvSpPr>
        <p:spPr>
          <a:xfrm>
            <a:off x="8492728" y="4978450"/>
            <a:ext cx="19795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/ 35</a:t>
            </a:r>
            <a:endParaRPr lang="en-US" sz="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58701" y="157014"/>
            <a:ext cx="10360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HE-0 SCAFFOLD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CANNOT: 6 핵심 규칙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LLM에게 자유를 주되 발산을 막는 헌법: 금지 규칙이 명확할수록 허용 공간이 넓어진다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47576"/>
            <a:ext cx="2927449" cy="1294507"/>
          </a:xfrm>
          <a:prstGeom prst="roundRect">
            <a:avLst>
              <a:gd name="adj" fmla="val 5886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6326" y="974527"/>
            <a:ext cx="30801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격리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971699" y="971401"/>
            <a:ext cx="452735" cy="111026"/>
          </a:xfrm>
          <a:prstGeom prst="roundRect">
            <a:avLst>
              <a:gd name="adj" fmla="val 22878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035100" y="984052"/>
            <a:ext cx="332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00" dirty="0"/>
          </a:p>
        </p:txBody>
      </p:sp>
      <p:sp>
        <p:nvSpPr>
          <p:cNvPr id="10" name="Text 8"/>
          <p:cNvSpPr/>
          <p:nvPr/>
        </p:nvSpPr>
        <p:spPr>
          <a:xfrm>
            <a:off x="606326" y="1133177"/>
            <a:ext cx="26817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Worktree 없이 코드 작업 금지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06326" y="1307753"/>
            <a:ext cx="268178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에이전트가 main 브랜치에 직접 쓰면 병렬 작업 충돌이 발생한다. 각 태스크는 반드시 독립 worktree에서 실행돼야 한다.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3448050" y="847576"/>
            <a:ext cx="2927449" cy="1294507"/>
          </a:xfrm>
          <a:prstGeom prst="roundRect">
            <a:avLst>
              <a:gd name="adj" fmla="val 5886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597176" y="974527"/>
            <a:ext cx="41731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품질 게이트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4069705" y="971401"/>
            <a:ext cx="452735" cy="111026"/>
          </a:xfrm>
          <a:prstGeom prst="roundRect">
            <a:avLst>
              <a:gd name="adj" fmla="val 22878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133106" y="984052"/>
            <a:ext cx="332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00" dirty="0"/>
          </a:p>
        </p:txBody>
      </p:sp>
      <p:sp>
        <p:nvSpPr>
          <p:cNvPr id="16" name="Text 14"/>
          <p:cNvSpPr/>
          <p:nvPr/>
        </p:nvSpPr>
        <p:spPr>
          <a:xfrm>
            <a:off x="3597176" y="1133177"/>
            <a:ext cx="26817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lint/type/test 실패 상태 커밋 금지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597176" y="1307753"/>
            <a:ext cx="268178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실패한 상태의 커밋은 다음 에이전트를 오염시킨다. CI가 3종 체크를 모두 통과한 후에만 머지를 허용한다.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457200" y="2205484"/>
            <a:ext cx="2927449" cy="1294507"/>
          </a:xfrm>
          <a:prstGeom prst="roundRect">
            <a:avLst>
              <a:gd name="adj" fmla="val 5886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06326" y="2332434"/>
            <a:ext cx="52084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과잉 구현 방지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180356" y="2329309"/>
            <a:ext cx="452735" cy="111026"/>
          </a:xfrm>
          <a:prstGeom prst="roundRect">
            <a:avLst>
              <a:gd name="adj" fmla="val 22878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243757" y="2341959"/>
            <a:ext cx="332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606326" y="2491085"/>
            <a:ext cx="26817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승인 없이 구현 착수 금지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06326" y="2665661"/>
            <a:ext cx="268178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LLM은 승인 없이 구현하려는 성질이 있다. 설계 문서에 인간 승인 서명이 없으면 첫 줄도 작성하지 않는다.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3448050" y="2205484"/>
            <a:ext cx="2927449" cy="1294507"/>
          </a:xfrm>
          <a:prstGeom prst="roundRect">
            <a:avLst>
              <a:gd name="adj" fmla="val 5886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597176" y="2332434"/>
            <a:ext cx="23529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추적성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3891260" y="2329309"/>
            <a:ext cx="452735" cy="111026"/>
          </a:xfrm>
          <a:prstGeom prst="roundRect">
            <a:avLst>
              <a:gd name="adj" fmla="val 22878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3954661" y="2341959"/>
            <a:ext cx="332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3597176" y="2491085"/>
            <a:ext cx="26817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CHANGELOG 없이 기능 커밋 금지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597176" y="2665661"/>
            <a:ext cx="268178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500+ PR의 결정 근거가 사라지면 재설계 비용이 폭증한다. 모든 기능 커밋은 CHANGELOG 항목을 동반해야 한다.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457200" y="3563392"/>
            <a:ext cx="2927449" cy="1294507"/>
          </a:xfrm>
          <a:prstGeom prst="roundRect">
            <a:avLst>
              <a:gd name="adj" fmla="val 5886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06326" y="3690342"/>
            <a:ext cx="41731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브랜치 보호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1078855" y="3687217"/>
            <a:ext cx="452735" cy="111026"/>
          </a:xfrm>
          <a:prstGeom prst="roundRect">
            <a:avLst>
              <a:gd name="adj" fmla="val 22878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1142256" y="3699867"/>
            <a:ext cx="332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606326" y="3848993"/>
            <a:ext cx="26817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main/develop 직접 push 금지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06326" y="4023568"/>
            <a:ext cx="268178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보호 브랜치에 직접 쓰면 병렬 에이전트 간 충돌이 발생한다. 모든 변경은 worktree PR을 통해서만 머지된다.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3448050" y="3563392"/>
            <a:ext cx="2927449" cy="1294507"/>
          </a:xfrm>
          <a:prstGeom prst="roundRect">
            <a:avLst>
              <a:gd name="adj" fmla="val 5886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3597176" y="3690342"/>
            <a:ext cx="41731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버전 일관성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4069705" y="3687217"/>
            <a:ext cx="452735" cy="111026"/>
          </a:xfrm>
          <a:prstGeom prst="roundRect">
            <a:avLst>
              <a:gd name="adj" fmla="val 22878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4133106" y="3699867"/>
            <a:ext cx="332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3597176" y="3848993"/>
            <a:ext cx="26817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버전 번호 4곳 불일치 금지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3597176" y="4023568"/>
            <a:ext cx="268178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pyproject.toml · CHANGELOG · __version__ · API 응답의 4곳이 불일치하면 배포 검증이 실패한다. 기능 커밋 전 동기화를 강제한다.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6477000" y="847576"/>
            <a:ext cx="2209800" cy="1635323"/>
          </a:xfrm>
          <a:prstGeom prst="roundRect">
            <a:avLst>
              <a:gd name="adj" fmla="val 4660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651575" y="996702"/>
            <a:ext cx="403497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2800" dirty="0"/>
          </a:p>
        </p:txBody>
      </p:sp>
      <p:sp>
        <p:nvSpPr>
          <p:cNvPr id="44" name="Text 42"/>
          <p:cNvSpPr/>
          <p:nvPr/>
        </p:nvSpPr>
        <p:spPr>
          <a:xfrm>
            <a:off x="7123361" y="1234827"/>
            <a:ext cx="70088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 규칙 추가</a:t>
            </a:r>
            <a:endParaRPr lang="en-US" sz="700" dirty="0"/>
          </a:p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 수록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6651575" y="1559570"/>
            <a:ext cx="1897862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나머지 17개 규칙은 CLAUDE.md 425줄에 명시. 하나라도 위반하면 CI가 머지를 차단한다.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6651575" y="1902172"/>
            <a:ext cx="1860649" cy="431602"/>
          </a:xfrm>
          <a:prstGeom prst="roundRect">
            <a:avLst>
              <a:gd name="adj" fmla="val 11770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765875" y="2003673"/>
            <a:ext cx="16646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타이포그래피 4개 · 레이아웃 5개</a:t>
            </a:r>
            <a:endParaRPr lang="en-US" sz="600" dirty="0"/>
          </a:p>
          <a:p>
            <a:pPr marL="0" indent="0" algn="l">
              <a:lnSpc>
                <a:spcPts val="900"/>
              </a:lnSpc>
              <a:buNone/>
            </a:pPr>
            <a:r>
              <a:rPr lang="en-US" sz="6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내러티브 4개 · 운영 4개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6477000" y="2559100"/>
            <a:ext cx="2209800" cy="2298799"/>
          </a:xfrm>
          <a:prstGeom prst="roundRect">
            <a:avLst>
              <a:gd name="adj" fmla="val 3448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6651575" y="2708225"/>
            <a:ext cx="38100" cy="152400"/>
          </a:xfrm>
          <a:prstGeom prst="roundRect">
            <a:avLst>
              <a:gd name="adj" fmla="val 66667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6753076" y="2722513"/>
            <a:ext cx="67477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CAN: 허용 공간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6651575" y="2924026"/>
            <a:ext cx="1897862" cy="399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제약이 명확할수록 허용 공간이 넓어진다. 금지 규칙이 경계를 정하면, 그 안에서 LLM은 구체적 숫자, DAG, 인과 서술로 자유롭게 표현한다.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6651575" y="4400996"/>
            <a:ext cx="1860649" cy="307777"/>
          </a:xfrm>
          <a:prstGeom prst="roundRect">
            <a:avLst>
              <a:gd name="adj" fmla="val 16505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6765875" y="4502497"/>
            <a:ext cx="166469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문제→설계→결과 인과 흐름 시각화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457200" y="4908649"/>
            <a:ext cx="17290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702915" y="4956274"/>
            <a:ext cx="1461424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전체 규칙: 제약이 명확할수록 자유가 넓어진다</a:t>
            </a:r>
            <a:endParaRPr lang="en-US" sz="500" dirty="0"/>
          </a:p>
        </p:txBody>
      </p:sp>
      <p:sp>
        <p:nvSpPr>
          <p:cNvPr id="56" name="Text 54"/>
          <p:cNvSpPr/>
          <p:nvPr/>
        </p:nvSpPr>
        <p:spPr>
          <a:xfrm>
            <a:off x="8492728" y="4961037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/ 35</a:t>
            </a:r>
            <a:endParaRPr lang="en-US" sz="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58701" y="157014"/>
            <a:ext cx="10360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HE-0 SCAFFOLD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8-Step Development Loop + Socratic Gate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38026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키보드에 손이 닿는 순간 하네스는 실패하기 때문에 스캐폴딩이 구현보다 앞서야 한다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2305348"/>
            <a:ext cx="1327249" cy="412552"/>
          </a:xfrm>
          <a:prstGeom prst="roundRect">
            <a:avLst>
              <a:gd name="adj" fmla="val 1231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68226" y="2403723"/>
            <a:ext cx="11273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Socratic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568226" y="2533799"/>
            <a:ext cx="11273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요구사항 정제: 5W로 전제 검증</a:t>
            </a:r>
            <a:endParaRPr lang="en-US" sz="600" dirty="0"/>
          </a:p>
        </p:txBody>
      </p:sp>
      <p:sp>
        <p:nvSpPr>
          <p:cNvPr id="9" name="Text 7"/>
          <p:cNvSpPr/>
          <p:nvPr/>
        </p:nvSpPr>
        <p:spPr>
          <a:xfrm>
            <a:off x="1847850" y="2440186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038350" y="2305348"/>
            <a:ext cx="1327249" cy="412552"/>
          </a:xfrm>
          <a:prstGeom prst="roundRect">
            <a:avLst>
              <a:gd name="adj" fmla="val 1231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149376" y="2403723"/>
            <a:ext cx="11273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Frontier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2149376" y="2533799"/>
            <a:ext cx="11273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Code/Devin GAP 리서치</a:t>
            </a:r>
            <a:endParaRPr lang="en-US" sz="600" dirty="0"/>
          </a:p>
        </p:txBody>
      </p:sp>
      <p:sp>
        <p:nvSpPr>
          <p:cNvPr id="13" name="Text 11"/>
          <p:cNvSpPr/>
          <p:nvPr/>
        </p:nvSpPr>
        <p:spPr>
          <a:xfrm>
            <a:off x="3429000" y="2440186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619500" y="2305348"/>
            <a:ext cx="1327249" cy="412552"/>
          </a:xfrm>
          <a:prstGeom prst="roundRect">
            <a:avLst>
              <a:gd name="adj" fmla="val 1231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730526" y="2403723"/>
            <a:ext cx="11273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Design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3730526" y="2533799"/>
            <a:ext cx="11273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인터페이스 + Trade-off 결정</a:t>
            </a:r>
            <a:endParaRPr lang="en-US" sz="600" dirty="0"/>
          </a:p>
        </p:txBody>
      </p:sp>
      <p:sp>
        <p:nvSpPr>
          <p:cNvPr id="17" name="Text 15"/>
          <p:cNvSpPr/>
          <p:nvPr/>
        </p:nvSpPr>
        <p:spPr>
          <a:xfrm>
            <a:off x="5010150" y="2440186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200650" y="2305348"/>
            <a:ext cx="1327249" cy="412552"/>
          </a:xfrm>
          <a:prstGeom prst="roundRect">
            <a:avLst>
              <a:gd name="adj" fmla="val 1231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311676" y="2403723"/>
            <a:ext cx="11273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Implement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5311676" y="2533799"/>
            <a:ext cx="11273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 테스트 비율 목표 구현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558701" y="2828925"/>
            <a:ext cx="2568476" cy="9525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3177927" y="2790825"/>
            <a:ext cx="53541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실패 시 ①로 복귀</a:t>
            </a:r>
            <a:endParaRPr lang="en-US" sz="600" dirty="0"/>
          </a:p>
        </p:txBody>
      </p:sp>
      <p:sp>
        <p:nvSpPr>
          <p:cNvPr id="23" name="Text 21"/>
          <p:cNvSpPr/>
          <p:nvPr/>
        </p:nvSpPr>
        <p:spPr>
          <a:xfrm>
            <a:off x="3753594" y="2828925"/>
            <a:ext cx="2568476" cy="9525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372820" y="2781300"/>
            <a:ext cx="546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457200" y="2949476"/>
            <a:ext cx="1327249" cy="498277"/>
          </a:xfrm>
          <a:prstGeom prst="roundRect">
            <a:avLst>
              <a:gd name="adj" fmla="val 10195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568226" y="3047851"/>
            <a:ext cx="11273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⑧ CHANGELOG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568226" y="3177927"/>
            <a:ext cx="112730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결정 이력 기록: 다음 Frontier 입력으로 연결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1847850" y="3127177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2038350" y="2992338"/>
            <a:ext cx="1327249" cy="412552"/>
          </a:xfrm>
          <a:prstGeom prst="roundRect">
            <a:avLst>
              <a:gd name="adj" fmla="val 1231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2149376" y="3090714"/>
            <a:ext cx="11273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⑦ Release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149376" y="3220789"/>
            <a:ext cx="11273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+ Semver 태깅 · 39회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3429000" y="3127177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619500" y="2992338"/>
            <a:ext cx="1327249" cy="412552"/>
          </a:xfrm>
          <a:prstGeom prst="roundRect">
            <a:avLst>
              <a:gd name="adj" fmla="val 1231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3730526" y="3090714"/>
            <a:ext cx="11273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⑥ E2E Verify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3730526" y="3220789"/>
            <a:ext cx="11273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3,216 테스트 + Hook 회귀 검사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5010150" y="3127177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00650" y="2992338"/>
            <a:ext cx="1327249" cy="412552"/>
          </a:xfrm>
          <a:prstGeom prst="roundRect">
            <a:avLst>
              <a:gd name="adj" fmla="val 1231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5311676" y="3090714"/>
            <a:ext cx="11273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 4-Persona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5311676" y="3220789"/>
            <a:ext cx="11273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Architect/Security/QA/Perf 리뷰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6654850" y="838051"/>
            <a:ext cx="2031950" cy="1657796"/>
          </a:xfrm>
          <a:prstGeom prst="roundRect">
            <a:avLst>
              <a:gd name="adj" fmla="val 4596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816775" y="974527"/>
            <a:ext cx="174226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Socratic Gate (①)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6816775" y="1149102"/>
            <a:ext cx="1742262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구현 전 반드시 통과해야 하는 5가지 질문: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6816775" y="1333054"/>
            <a:ext cx="1708100" cy="676275"/>
          </a:xfrm>
          <a:prstGeom prst="rect">
            <a:avLst/>
          </a:prstGeom>
          <a:noFill/>
          <a:ln/>
        </p:spPr>
        <p:txBody>
          <a:bodyPr wrap="square" lIns="76200" tIns="0" rIns="0" bIns="0" rtlCol="0" anchor="t"/>
          <a:lstStyle/>
          <a:p>
            <a:pPr marL="76200" indent="-76200" algn="l">
              <a:spcAft>
                <a:spcPts val="300"/>
              </a:spcAft>
              <a:buSzPct val="100000"/>
              <a:buChar char="•"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이 기능이 필요한가?</a:t>
            </a:r>
            <a:endParaRPr lang="en-US" sz="700" dirty="0"/>
          </a:p>
          <a:p>
            <a:pPr marL="76200" indent="-76200" algn="l">
              <a:spcAft>
                <a:spcPts val="300"/>
              </a:spcAft>
              <a:buSzPct val="100000"/>
              <a:buChar char="•"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어떤 실패 모드가 있는가?</a:t>
            </a:r>
            <a:endParaRPr lang="en-US" sz="700" dirty="0"/>
          </a:p>
          <a:p>
            <a:pPr marL="76200" indent="-76200" algn="l">
              <a:spcAft>
                <a:spcPts val="300"/>
              </a:spcAft>
              <a:buSzPct val="100000"/>
              <a:buChar char="•"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Trade-off는 무엇인가?</a:t>
            </a:r>
            <a:endParaRPr lang="en-US" sz="700" dirty="0"/>
          </a:p>
          <a:p>
            <a:pPr marL="76200" indent="-76200" algn="l">
              <a:spcAft>
                <a:spcPts val="300"/>
              </a:spcAft>
              <a:buSzPct val="100000"/>
              <a:buChar char="•"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테스트 가능한가?</a:t>
            </a:r>
            <a:endParaRPr lang="en-US" sz="700" dirty="0"/>
          </a:p>
          <a:p>
            <a:pPr marL="76200" indent="-76200" algn="l">
              <a:spcAft>
                <a:spcPts val="300"/>
              </a:spcAft>
              <a:buSzPct val="100000"/>
              <a:buChar char="•"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CHANGELOG에 이유를 쓸 수 있는가?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6816775" y="2110829"/>
            <a:ext cx="174226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spcBef>
                <a:spcPts val="4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5가지를 답하지 못하면 코드 작성 불가이며 루프가 ①로 되돌아간다.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6654850" y="2597348"/>
            <a:ext cx="2031950" cy="1773585"/>
          </a:xfrm>
          <a:prstGeom prst="roundRect">
            <a:avLst>
              <a:gd name="adj" fmla="val 2864"/>
            </a:avLst>
          </a:prstGeom>
          <a:solidFill>
            <a:srgbClr val="1E293B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6791325" y="2695724"/>
            <a:ext cx="179418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8단계인가?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6791325" y="2895600"/>
            <a:ext cx="1794180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spcAft>
                <a:spcPts val="200"/>
              </a:spcAft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5단계(Plan→Implement→Test→Merge→Deploy)면 충분하지 않은가?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6791325" y="3344466"/>
            <a:ext cx="847725" cy="928092"/>
          </a:xfrm>
          <a:prstGeom prst="roundRect">
            <a:avLst>
              <a:gd name="adj" fmla="val 4494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6892826" y="3433316"/>
            <a:ext cx="65761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5단계 부재 시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6892826" y="3544342"/>
            <a:ext cx="657618" cy="639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 Audit·Socratic Gate 없으면 불필요한 구현이 50%에 달하며 잘못된 전제로 PR이 병합된다</a:t>
            </a:r>
            <a:endParaRPr lang="en-US" sz="600" dirty="0"/>
          </a:p>
        </p:txBody>
      </p:sp>
      <p:sp>
        <p:nvSpPr>
          <p:cNvPr id="51" name="Text 49"/>
          <p:cNvSpPr/>
          <p:nvPr/>
        </p:nvSpPr>
        <p:spPr>
          <a:xfrm>
            <a:off x="7702451" y="3344466"/>
            <a:ext cx="847874" cy="928092"/>
          </a:xfrm>
          <a:prstGeom prst="roundRect">
            <a:avLst>
              <a:gd name="adj" fmla="val 4494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7803952" y="3433316"/>
            <a:ext cx="65777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8단계 추가 비용</a:t>
            </a:r>
            <a:endParaRPr lang="en-US" sz="600" dirty="0"/>
          </a:p>
        </p:txBody>
      </p:sp>
      <p:sp>
        <p:nvSpPr>
          <p:cNvPr id="53" name="Text 51"/>
          <p:cNvSpPr/>
          <p:nvPr/>
        </p:nvSpPr>
        <p:spPr>
          <a:xfrm>
            <a:off x="7803952" y="3544342"/>
            <a:ext cx="657770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①② Socratic+Frontier로 착수가 느리지만, 회귀 없는 39회 릴리스가 증거다</a:t>
            </a:r>
            <a:endParaRPr lang="en-US" sz="600" dirty="0"/>
          </a:p>
        </p:txBody>
      </p:sp>
      <p:sp>
        <p:nvSpPr>
          <p:cNvPr id="54" name="Text 52"/>
          <p:cNvSpPr/>
          <p:nvPr/>
        </p:nvSpPr>
        <p:spPr>
          <a:xfrm>
            <a:off x="457200" y="4978450"/>
            <a:ext cx="1561615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21 Skills · LEARNINGS.md 패턴 축적</a:t>
            </a:r>
            <a:endParaRPr lang="en-US" sz="500" dirty="0"/>
          </a:p>
        </p:txBody>
      </p:sp>
      <p:sp>
        <p:nvSpPr>
          <p:cNvPr id="55" name="Text 53"/>
          <p:cNvSpPr/>
          <p:nvPr/>
        </p:nvSpPr>
        <p:spPr>
          <a:xfrm>
            <a:off x="8492728" y="4978450"/>
            <a:ext cx="19795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/ 35</a:t>
            </a:r>
            <a:endParaRPr lang="en-US" sz="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0360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HE-0 SCAFFOLD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Mining: 4개 하네스 GAP 분석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직접 구현하기 전에 먼저 읽고, 3/4 수렴 규칙으로 차용 여부를 결정한다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34777"/>
            <a:ext cx="2832199" cy="2002036"/>
          </a:xfrm>
          <a:prstGeom prst="roundRect">
            <a:avLst>
              <a:gd name="adj" fmla="val 3806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3675" y="958602"/>
            <a:ext cx="261043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93675" y="1123652"/>
            <a:ext cx="2610433" cy="399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while(tool_use) 패턴: LLM이 tool_use를 반환하는 한 루프를 유지하는 구조를 직접 확인한다. GEODE AgenticLoop 50 라운드 설계의 직접 근거가 된다.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593675" y="2449562"/>
            <a:ext cx="2559248" cy="263426"/>
          </a:xfrm>
          <a:prstGeom prst="roundRect">
            <a:avLst>
              <a:gd name="adj" fmla="val 19284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07975" y="2538413"/>
            <a:ext cx="237726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채택: 루프 계속 조건 + end_turn 종료 패턴</a:t>
            </a:r>
            <a:endParaRPr lang="en-US" sz="600" dirty="0"/>
          </a:p>
        </p:txBody>
      </p:sp>
      <p:sp>
        <p:nvSpPr>
          <p:cNvPr id="11" name="Text 9"/>
          <p:cNvSpPr/>
          <p:nvPr/>
        </p:nvSpPr>
        <p:spPr>
          <a:xfrm>
            <a:off x="3365599" y="834777"/>
            <a:ext cx="2832199" cy="2002036"/>
          </a:xfrm>
          <a:prstGeom prst="roundRect">
            <a:avLst>
              <a:gd name="adj" fmla="val 3806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502075" y="958602"/>
            <a:ext cx="261043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autoresearch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502075" y="1123652"/>
            <a:ext cx="2610433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Karpathy P1 제약 기반 설계, P4 래칫(되돌아가지 않음), P6 컨텍스트 예산 명시: 이 세 원칙이 CLAUDE.md 규칙 체계의 뼈대가 된다.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3502075" y="2449562"/>
            <a:ext cx="2559248" cy="263426"/>
          </a:xfrm>
          <a:prstGeom prst="roundRect">
            <a:avLst>
              <a:gd name="adj" fmla="val 19284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616375" y="2538413"/>
            <a:ext cx="237726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채택: P1/P4/P6 → CANNOT 규칙 3종</a:t>
            </a:r>
            <a:endParaRPr lang="en-US" sz="600" dirty="0"/>
          </a:p>
        </p:txBody>
      </p:sp>
      <p:sp>
        <p:nvSpPr>
          <p:cNvPr id="16" name="Text 14"/>
          <p:cNvSpPr/>
          <p:nvPr/>
        </p:nvSpPr>
        <p:spPr>
          <a:xfrm>
            <a:off x="457200" y="2913013"/>
            <a:ext cx="2832199" cy="2002036"/>
          </a:xfrm>
          <a:prstGeom prst="roundRect">
            <a:avLst>
              <a:gd name="adj" fmla="val 3806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93675" y="3036838"/>
            <a:ext cx="261043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OpenClaw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93675" y="3201888"/>
            <a:ext cx="2610433" cy="399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Gateway, Session Key, Lane Queue, Plugin 4-계층 디스패치 구조에서 에이전트 요청을 분리된 채널로 라우팅하는 아이디어를 여기서 얻었다.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593675" y="4527798"/>
            <a:ext cx="2559248" cy="263426"/>
          </a:xfrm>
          <a:prstGeom prst="roundRect">
            <a:avLst>
              <a:gd name="adj" fmla="val 19284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707975" y="4616648"/>
            <a:ext cx="237726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채택: SessionKey 격리 + LaneQueue 우선순위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3365599" y="2913013"/>
            <a:ext cx="2832199" cy="2002036"/>
          </a:xfrm>
          <a:prstGeom prst="roundRect">
            <a:avLst>
              <a:gd name="adj" fmla="val 3806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3502075" y="3036838"/>
            <a:ext cx="261043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Codex CLI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502075" y="3201888"/>
            <a:ext cx="2610433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Worktree 격리, .owner 파일 보호, Dumb Platform 원칙으로 Git 충돌 없이 여러 에이전트가 병렬 작업할 수 있는 구조의 실증 사례다.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3502075" y="4527798"/>
            <a:ext cx="2559248" cy="263426"/>
          </a:xfrm>
          <a:prstGeom prst="roundRect">
            <a:avLst>
              <a:gd name="adj" fmla="val 19284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616375" y="4616648"/>
            <a:ext cx="237726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채택: Worktree 의무화 → CANNOT Git 규칙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6299299" y="834777"/>
            <a:ext cx="2387501" cy="1580257"/>
          </a:xfrm>
          <a:prstGeom prst="roundRect">
            <a:avLst>
              <a:gd name="adj" fmla="val 4822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461224" y="971252"/>
            <a:ext cx="38100" cy="152400"/>
          </a:xfrm>
          <a:prstGeom prst="roundRect">
            <a:avLst>
              <a:gd name="adj" fmla="val 66667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575524" y="985540"/>
            <a:ext cx="56000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3/4 수렴 규칙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461224" y="1199852"/>
            <a:ext cx="2104924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4개 하네스 중 3개 이상이 동일한 패턴을 사용하면 GEODE도 채택한다. 1-2개만 사용하면 독자 설계로 간다. 단순 다수결이지만 프론티어의 수렴은 신뢰할 수 있는 신호다.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6461224" y="1808857"/>
            <a:ext cx="2063651" cy="469702"/>
          </a:xfrm>
          <a:prstGeom prst="roundRect">
            <a:avLst>
              <a:gd name="adj" fmla="val 10815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575524" y="1910358"/>
            <a:ext cx="32425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3/4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6969621" y="1919436"/>
            <a:ext cx="624524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수렴 시 채택</a:t>
            </a:r>
            <a:endParaRPr lang="en-US" sz="700" dirty="0"/>
          </a:p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미달 시 독자 설계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6299299" y="2491234"/>
            <a:ext cx="2387501" cy="2423815"/>
          </a:xfrm>
          <a:prstGeom prst="roundRect">
            <a:avLst>
              <a:gd name="adj" fmla="val 3192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461224" y="2627709"/>
            <a:ext cx="38100" cy="152400"/>
          </a:xfrm>
          <a:prstGeom prst="roundRect">
            <a:avLst>
              <a:gd name="adj" fmla="val 66667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6575524" y="2641997"/>
            <a:ext cx="77086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 → 설계 영역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461224" y="2843510"/>
            <a:ext cx="2104924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4개 하네스 중 어느 것도 해결하지 않은 문제 3가지: 장기 자율 실행(비용 폭주 방지), LLM 비용 제어(토큰 예산 강제), 도메인 포터빌리티(게임→보험 교체). 이것이 GEODE가 독자 설계한 영역이다.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457200" y="4978450"/>
            <a:ext cx="178856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Frontier Mining: 읽고 차용하고, 없으면 설계한다</a:t>
            </a:r>
            <a:endParaRPr lang="en-US" sz="500" dirty="0"/>
          </a:p>
        </p:txBody>
      </p:sp>
      <p:sp>
        <p:nvSpPr>
          <p:cNvPr id="38" name="Text 36"/>
          <p:cNvSpPr/>
          <p:nvPr/>
        </p:nvSpPr>
        <p:spPr>
          <a:xfrm>
            <a:off x="8492728" y="4978450"/>
            <a:ext cx="19795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/ 35</a:t>
            </a:r>
            <a:endParaRPr lang="en-US" sz="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0360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HE-0 SCAFFOLD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4-Persona Review: 구현 전 맹점 제거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혼자 설계하면 Confirmation Bias로 실패하기 때문에 4인격이 독립 관점으로 리뷰하여 서로의 맹점을 보완한다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34777"/>
            <a:ext cx="5638949" cy="469404"/>
          </a:xfrm>
          <a:prstGeom prst="roundRect">
            <a:avLst>
              <a:gd name="adj" fmla="val 10822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76250" y="834777"/>
            <a:ext cx="0" cy="469404"/>
          </a:xfrm>
          <a:prstGeom prst="line">
            <a:avLst/>
          </a:prstGeom>
          <a:noFill/>
          <a:ln w="38100">
            <a:solidFill>
              <a:srgbClr val="818C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634901" y="936278"/>
            <a:ext cx="46634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Beck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34901" y="1069628"/>
            <a:ext cx="46634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</a:t>
            </a:r>
            <a:endParaRPr lang="en-US" sz="600" dirty="0"/>
          </a:p>
        </p:txBody>
      </p:sp>
      <p:sp>
        <p:nvSpPr>
          <p:cNvPr id="10" name="Text 8"/>
          <p:cNvSpPr/>
          <p:nvPr/>
        </p:nvSpPr>
        <p:spPr>
          <a:xfrm>
            <a:off x="1219051" y="936278"/>
            <a:ext cx="4832247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레이어 의존성 역전 여부, 인터페이스 일관성, v0.40 생존 가능성. 체크 항목: 상위 레이어가 하위를 직접 임포트하는가? 플러그인 교체 시 코어 수정이 발생하는가?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457200" y="1367582"/>
            <a:ext cx="5638949" cy="422077"/>
          </a:xfrm>
          <a:prstGeom prst="roundRect">
            <a:avLst>
              <a:gd name="adj" fmla="val 12036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476250" y="1367582"/>
            <a:ext cx="0" cy="422077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634901" y="1469082"/>
            <a:ext cx="50535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Karpathy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34901" y="1602432"/>
            <a:ext cx="50535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Simplicity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1257300" y="1469082"/>
            <a:ext cx="4793233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토큰 비용, 지연 시간, 캐시 히트율 관점. 체크 항목: 이 LLM 호출을 줄일 수 있는가? 컨텍스트를 재사용하는가? 배치 처리가 가능한가?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457200" y="1853059"/>
            <a:ext cx="5638949" cy="469404"/>
          </a:xfrm>
          <a:prstGeom prst="roundRect">
            <a:avLst>
              <a:gd name="adj" fmla="val 10822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476250" y="1853059"/>
            <a:ext cx="0" cy="469404"/>
          </a:xfrm>
          <a:prstGeom prst="line">
            <a:avLst/>
          </a:prstGeom>
          <a:noFill/>
          <a:ln w="381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634901" y="1954560"/>
            <a:ext cx="64790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Steinberger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34901" y="2087910"/>
            <a:ext cx="6479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1397050" y="1954560"/>
            <a:ext cx="4650688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Bash 인젝션, 권한 에스컬레이션, Trust Model 위반. 체크 항목: 이 경로가 샌드박스를 우회하는가? 외부 입력이 직접 shell로 전달되는가?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457200" y="2385864"/>
            <a:ext cx="5638949" cy="422077"/>
          </a:xfrm>
          <a:prstGeom prst="roundRect">
            <a:avLst>
              <a:gd name="adj" fmla="val 12036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Shape 20"/>
          <p:cNvSpPr/>
          <p:nvPr/>
        </p:nvSpPr>
        <p:spPr>
          <a:xfrm>
            <a:off x="476250" y="2385864"/>
            <a:ext cx="0" cy="422077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634901" y="2487364"/>
            <a:ext cx="46634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Cherny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34901" y="2620714"/>
            <a:ext cx="46634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1219051" y="2487364"/>
            <a:ext cx="4832247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엣지 케이스, 회귀 가능성, 커버리지. 체크 항목: 이 코드가 3,216 테스트를 통과하는가? 새로운 경로가 기존 픽스처를 깨는가?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6197650" y="834777"/>
            <a:ext cx="2489150" cy="1475780"/>
          </a:xfrm>
          <a:prstGeom prst="roundRect">
            <a:avLst>
              <a:gd name="adj" fmla="val 5163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359575" y="971252"/>
            <a:ext cx="38100" cy="152400"/>
          </a:xfrm>
          <a:prstGeom prst="roundRect">
            <a:avLst>
              <a:gd name="adj" fmla="val 66667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473875" y="985540"/>
            <a:ext cx="71272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.env 보안 케이스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359575" y="1187053"/>
            <a:ext cx="2208606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Steinberger 리뷰가 실제로 막은 사례. 초기 설계에서 에이전트가 환경변수를 직접 읽어 LLM 프롬프트에 삽입하는 경로가 있다. API 키 유출 벡터. CANNOT 규칙에 ".env 직접 참조 금지" 추가로 차단한다.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6359575" y="1783259"/>
            <a:ext cx="2165300" cy="390823"/>
          </a:xfrm>
          <a:prstGeom prst="roundRect">
            <a:avLst>
              <a:gd name="adj" fmla="val 12998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473875" y="1872109"/>
            <a:ext cx="1975434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6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Before: agent reads .env → injects into prompt</a:t>
            </a:r>
            <a:endParaRPr lang="en-US" sz="600" dirty="0"/>
          </a:p>
          <a:p>
            <a:pPr marL="0" indent="0" algn="l">
              <a:lnSpc>
                <a:spcPts val="840"/>
              </a:lnSpc>
              <a:buNone/>
            </a:pPr>
            <a:r>
              <a:rPr lang="en-US" sz="6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After: env vars injected at harness boundary only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6197650" y="2386757"/>
            <a:ext cx="2489150" cy="2528292"/>
          </a:xfrm>
          <a:prstGeom prst="roundRect">
            <a:avLst>
              <a:gd name="adj" fmla="val 3061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6359575" y="2523232"/>
            <a:ext cx="38100" cy="152400"/>
          </a:xfrm>
          <a:prstGeom prst="roundRect">
            <a:avLst>
              <a:gd name="adj" fmla="val 66667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473875" y="2537520"/>
            <a:ext cx="38725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근거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359575" y="2739033"/>
            <a:ext cx="2208606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4인격은 별도 LLM 세션이 아니다. 동일 컨텍스트에서 역할을 명시적으로 전환하는 프롬프트 패턴이다. 비용은 1회 추론이고, 효과는 4가지 시각의 독립 체크다. Confirmation Bias를 구조적으로 제거한다.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457200" y="4978450"/>
            <a:ext cx="203843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Beck × Karpathy × Steinberger × Cherny: 4인격 1세션</a:t>
            </a:r>
            <a:endParaRPr lang="en-US" sz="500" dirty="0"/>
          </a:p>
        </p:txBody>
      </p:sp>
      <p:sp>
        <p:nvSpPr>
          <p:cNvPr id="37" name="Text 35"/>
          <p:cNvSpPr/>
          <p:nvPr/>
        </p:nvSpPr>
        <p:spPr>
          <a:xfrm>
            <a:off x="8457456" y="4978450"/>
            <a:ext cx="233931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26b / 35</a:t>
            </a:r>
            <a:endParaRPr lang="en-US" sz="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0360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HE-0 SCAFFOLD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Compound Velocity: Phase 0-5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38026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스캐폴딩이 누적될수록 다음 스캐폴딩이 빨라지는 복리 구조, 36일 만에 </a:t>
            </a: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16.7×</a:t>
            </a: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속도 상승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39421" y="1531293"/>
            <a:ext cx="90672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439421" y="1626543"/>
            <a:ext cx="90672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</a:t>
            </a:r>
            <a:endParaRPr lang="en-US" sz="600" dirty="0"/>
          </a:p>
        </p:txBody>
      </p:sp>
      <p:sp>
        <p:nvSpPr>
          <p:cNvPr id="8" name="Text 6"/>
          <p:cNvSpPr/>
          <p:nvPr/>
        </p:nvSpPr>
        <p:spPr>
          <a:xfrm>
            <a:off x="1447651" y="1558230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676102" y="1407616"/>
            <a:ext cx="4394746" cy="428327"/>
          </a:xfrm>
          <a:prstGeom prst="roundRect">
            <a:avLst>
              <a:gd name="adj" fmla="val 1186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812578" y="1518642"/>
            <a:ext cx="420423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Bootstrap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1812578" y="1639193"/>
            <a:ext cx="420423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 초안, 첫 CANNOT 규칙, 단일 Skill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6162190" y="1578918"/>
            <a:ext cx="51810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1× 기준</a:t>
            </a:r>
            <a:endParaRPr lang="en-US" sz="600" dirty="0"/>
          </a:p>
        </p:txBody>
      </p:sp>
      <p:sp>
        <p:nvSpPr>
          <p:cNvPr id="13" name="Text 11"/>
          <p:cNvSpPr/>
          <p:nvPr/>
        </p:nvSpPr>
        <p:spPr>
          <a:xfrm>
            <a:off x="439421" y="2027783"/>
            <a:ext cx="90672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439421" y="2123033"/>
            <a:ext cx="90672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1-2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1447651" y="2054721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676102" y="1899345"/>
            <a:ext cx="4394746" cy="437852"/>
          </a:xfrm>
          <a:prstGeom prst="roundRect">
            <a:avLst>
              <a:gd name="adj" fmla="val 11602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812578" y="2010370"/>
            <a:ext cx="420423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Socratic Gate 도입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1812578" y="2140446"/>
            <a:ext cx="420423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구현 전 5-질문 게이트 → 회귀 이슈 60% 감소</a:t>
            </a:r>
            <a:endParaRPr lang="en-US" sz="600" dirty="0"/>
          </a:p>
        </p:txBody>
      </p:sp>
      <p:sp>
        <p:nvSpPr>
          <p:cNvPr id="19" name="Text 17"/>
          <p:cNvSpPr/>
          <p:nvPr/>
        </p:nvSpPr>
        <p:spPr>
          <a:xfrm>
            <a:off x="6162190" y="2075408"/>
            <a:ext cx="51810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2.5×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439421" y="2529036"/>
            <a:ext cx="90672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439421" y="2624286"/>
            <a:ext cx="90672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1447651" y="2555974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1676102" y="2400598"/>
            <a:ext cx="4394746" cy="437852"/>
          </a:xfrm>
          <a:prstGeom prst="roundRect">
            <a:avLst>
              <a:gd name="adj" fmla="val 11602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812578" y="2511623"/>
            <a:ext cx="420423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Skills + 8-Step Loop 확립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812578" y="2641699"/>
            <a:ext cx="420423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Mining → 설계 결정 자동화 시작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6162190" y="2576661"/>
            <a:ext cx="51810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5×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439421" y="3030289"/>
            <a:ext cx="90672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439421" y="3125539"/>
            <a:ext cx="90672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1447651" y="3057227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1676102" y="2901851"/>
            <a:ext cx="4394746" cy="437852"/>
          </a:xfrm>
          <a:prstGeom prst="roundRect">
            <a:avLst>
              <a:gd name="adj" fmla="val 11602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1812578" y="3012877"/>
            <a:ext cx="420423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AgenticLoop + Hook 자율 실행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1812578" y="3142952"/>
            <a:ext cx="420423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스캐폴딩이 직접 코드 생성 시작 → PR 500+ 돌파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6162190" y="3077914"/>
            <a:ext cx="51810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8×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439421" y="3531543"/>
            <a:ext cx="90672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439421" y="3626793"/>
            <a:ext cx="90672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4-5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1447651" y="3558480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1676102" y="3403104"/>
            <a:ext cx="4394746" cy="437852"/>
          </a:xfrm>
          <a:prstGeom prst="roundRect">
            <a:avLst>
              <a:gd name="adj" fmla="val 11602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1812578" y="3514130"/>
            <a:ext cx="420423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REODE 이식: Domain Portability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1812578" y="3644205"/>
            <a:ext cx="420423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v0.13 하네스 → REODE 209 모듈 · 3,274 Tests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6162190" y="3579168"/>
            <a:ext cx="51810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12×</a:t>
            </a:r>
            <a:endParaRPr lang="en-US" sz="600" dirty="0"/>
          </a:p>
        </p:txBody>
      </p:sp>
      <p:sp>
        <p:nvSpPr>
          <p:cNvPr id="41" name="Text 39"/>
          <p:cNvSpPr/>
          <p:nvPr/>
        </p:nvSpPr>
        <p:spPr>
          <a:xfrm>
            <a:off x="439421" y="4032796"/>
            <a:ext cx="90672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5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439421" y="4128046"/>
            <a:ext cx="90672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36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1447651" y="4059734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1676102" y="3904357"/>
            <a:ext cx="4394746" cy="437852"/>
          </a:xfrm>
          <a:prstGeom prst="roundRect">
            <a:avLst>
              <a:gd name="adj" fmla="val 11602"/>
            </a:avLst>
          </a:prstGeom>
          <a:solidFill>
            <a:srgbClr val="161B22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1812578" y="4015383"/>
            <a:ext cx="420423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v0.32.0: Long-Running Safety 완성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1812578" y="4145459"/>
            <a:ext cx="420423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Plan-first + Provider-aware Compaction + Cost Guard</a:t>
            </a:r>
            <a:endParaRPr lang="en-US" sz="600" dirty="0"/>
          </a:p>
        </p:txBody>
      </p:sp>
      <p:sp>
        <p:nvSpPr>
          <p:cNvPr id="47" name="Text 45"/>
          <p:cNvSpPr/>
          <p:nvPr/>
        </p:nvSpPr>
        <p:spPr>
          <a:xfrm>
            <a:off x="6162190" y="4080421"/>
            <a:ext cx="51810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16.7×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6807250" y="1016943"/>
            <a:ext cx="1879550" cy="996851"/>
          </a:xfrm>
          <a:prstGeom prst="roundRect">
            <a:avLst>
              <a:gd name="adj" fmla="val 764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6953618" y="1178868"/>
            <a:ext cx="158681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16.7×</a:t>
            </a:r>
            <a:endParaRPr lang="en-US" sz="3000" dirty="0"/>
          </a:p>
        </p:txBody>
      </p:sp>
      <p:sp>
        <p:nvSpPr>
          <p:cNvPr id="50" name="Text 48"/>
          <p:cNvSpPr/>
          <p:nvPr/>
        </p:nvSpPr>
        <p:spPr>
          <a:xfrm>
            <a:off x="6953618" y="1645593"/>
            <a:ext cx="158681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Compound Velocity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6953618" y="1766143"/>
            <a:ext cx="158681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 대비 Day 36</a:t>
            </a:r>
            <a:endParaRPr lang="en-US" sz="600" dirty="0"/>
          </a:p>
        </p:txBody>
      </p:sp>
      <p:sp>
        <p:nvSpPr>
          <p:cNvPr id="52" name="Text 50"/>
          <p:cNvSpPr/>
          <p:nvPr/>
        </p:nvSpPr>
        <p:spPr>
          <a:xfrm>
            <a:off x="6807250" y="2115294"/>
            <a:ext cx="1879550" cy="968276"/>
          </a:xfrm>
          <a:prstGeom prst="roundRect">
            <a:avLst>
              <a:gd name="adj" fmla="val 787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6969175" y="2256532"/>
            <a:ext cx="33882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일일 커밋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8327231" y="2251770"/>
            <a:ext cx="20159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32.2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6969175" y="2447032"/>
            <a:ext cx="27491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총 PRs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8296126" y="2442270"/>
            <a:ext cx="23332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500+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6969175" y="2642295"/>
            <a:ext cx="37799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Releases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8411914" y="2632770"/>
            <a:ext cx="11522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6969175" y="2832795"/>
            <a:ext cx="15696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기간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8324106" y="2823270"/>
            <a:ext cx="20478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36일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6807250" y="3185071"/>
            <a:ext cx="1879550" cy="602605"/>
          </a:xfrm>
          <a:prstGeom prst="roundRect">
            <a:avLst>
              <a:gd name="adj" fmla="val 8430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6934200" y="3286571"/>
            <a:ext cx="1658163" cy="399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스캐폴딩이 스캐폴딩을 만든다. 각 Phase가 다음 Phase의 속도를 올리는 복리 구조이기 때문에 이것이 Harness Engineering이다.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6807250" y="3889177"/>
            <a:ext cx="1879550" cy="843707"/>
          </a:xfrm>
          <a:prstGeom prst="roundRect">
            <a:avLst>
              <a:gd name="adj" fmla="val 6021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4" name="Shape 62"/>
          <p:cNvSpPr/>
          <p:nvPr/>
        </p:nvSpPr>
        <p:spPr>
          <a:xfrm>
            <a:off x="6826300" y="3889177"/>
            <a:ext cx="0" cy="843707"/>
          </a:xfrm>
          <a:prstGeom prst="line">
            <a:avLst/>
          </a:prstGeom>
          <a:noFill/>
          <a:ln w="38100">
            <a:solidFill>
              <a:srgbClr val="F5C54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Text 63"/>
          <p:cNvSpPr/>
          <p:nvPr/>
        </p:nvSpPr>
        <p:spPr>
          <a:xfrm>
            <a:off x="6959650" y="3978027"/>
            <a:ext cx="1645107" cy="6660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초기 투자 vs 복리 가속</a:t>
            </a: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Phase 0-1에서 Socratic Gate·Frontier Mining에 시간을 썼고, 구현 속도를 포기하고 정확성을 선택했기 때문에 Phase 3부터 회귀 없이 하루 32.2 커밋이 가능해졌다.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457200" y="4987975"/>
            <a:ext cx="1672432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1,174 commits · Feb 21 to Mar 28, 2026</a:t>
            </a:r>
            <a:endParaRPr lang="en-US" sz="500" dirty="0"/>
          </a:p>
        </p:txBody>
      </p:sp>
      <p:sp>
        <p:nvSpPr>
          <p:cNvPr id="67" name="Text 65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/ 35</a:t>
            </a:r>
            <a:endParaRPr lang="en-US" sz="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1501"/>
            <a:ext cx="50750" cy="177701"/>
          </a:xfrm>
          <a:prstGeom prst="roundRect">
            <a:avLst>
              <a:gd name="adj" fmla="val 50049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23676"/>
            <a:ext cx="17941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HE-0 SCAFFOLD · CHANGELOG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17302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CHANGELOG Evolution: v0.6 → v0.32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574477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릴리스, 6 아키텍처 피봇: 각 결정에는 왜(Why)가 있다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43993" y="1261467"/>
            <a:ext cx="67355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v0.6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1219051" y="1248668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277689" y="1375618"/>
            <a:ext cx="9525" cy="15240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447502" y="1185267"/>
            <a:ext cx="5486846" cy="437852"/>
          </a:xfrm>
          <a:prstGeom prst="roundRect">
            <a:avLst>
              <a:gd name="adj" fmla="val 11602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583978" y="1296293"/>
            <a:ext cx="531817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DomainPort 도입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1583978" y="1426369"/>
            <a:ext cx="53181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 로직이 인프라에 강결합 → Port/Adapter 분리. 이후 REODE 이식이 가능해진 기반 결정.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443993" y="1737420"/>
            <a:ext cx="67355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v0.10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1219051" y="1724620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277689" y="1851571"/>
            <a:ext cx="9525" cy="15240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447502" y="1661220"/>
            <a:ext cx="5486846" cy="437852"/>
          </a:xfrm>
          <a:prstGeom prst="roundRect">
            <a:avLst>
              <a:gd name="adj" fmla="val 11602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583978" y="1772245"/>
            <a:ext cx="531817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 Pivot: 도메인 분석 → 하네스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1583978" y="1902321"/>
            <a:ext cx="53181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GameIP 분석 결과보다 자율 실행 인프라가 재사용 가치가 높다고 판단. 어필 포인트 전환.</a:t>
            </a:r>
            <a:endParaRPr lang="en-US" sz="600" dirty="0"/>
          </a:p>
        </p:txBody>
      </p:sp>
      <p:sp>
        <p:nvSpPr>
          <p:cNvPr id="18" name="Text 16"/>
          <p:cNvSpPr/>
          <p:nvPr/>
        </p:nvSpPr>
        <p:spPr>
          <a:xfrm>
            <a:off x="443993" y="2213372"/>
            <a:ext cx="67355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v0.14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1219051" y="2200573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1277689" y="2327523"/>
            <a:ext cx="9525" cy="15240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447502" y="2137172"/>
            <a:ext cx="5486846" cy="437852"/>
          </a:xfrm>
          <a:prstGeom prst="roundRect">
            <a:avLst>
              <a:gd name="adj" fmla="val 11602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1583978" y="2248198"/>
            <a:ext cx="531817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Guard 제거 → ContextVar 통합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1583978" y="2378273"/>
            <a:ext cx="53181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독립 Guard 모듈이 ContextVar 흐름과 충돌 → 통합 TokenTracker로 단순화. 비용 추적 정확도 향상.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443993" y="2689324"/>
            <a:ext cx="67355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v0.18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219051" y="2676525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1277689" y="2803475"/>
            <a:ext cx="9525" cy="15240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1447502" y="2613124"/>
            <a:ext cx="5486846" cy="437852"/>
          </a:xfrm>
          <a:prstGeom prst="roundRect">
            <a:avLst>
              <a:gd name="adj" fmla="val 11602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1583978" y="2724150"/>
            <a:ext cx="531817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System 독립 추출 → 46 Events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1583978" y="2854226"/>
            <a:ext cx="53181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하드코딩 콜백 → Priority 핸들러 체인. 재귀 개선 루프와 자동 학습이 Hook에 의존하는 구조로 전환.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443993" y="3165277"/>
            <a:ext cx="67355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v0.24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1219051" y="3152477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1277689" y="3279428"/>
            <a:ext cx="9525" cy="177701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1447502" y="3089077"/>
            <a:ext cx="5486846" cy="437852"/>
          </a:xfrm>
          <a:prstGeom prst="roundRect">
            <a:avLst>
              <a:gd name="adj" fmla="val 11602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1583978" y="3200102"/>
            <a:ext cx="531817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MCPRegistry 삭제 → 45 Catalog auto-discovery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1583978" y="3330178"/>
            <a:ext cx="53181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3계층(Registry+Catalog+Config) → 2계층. Proxy stub 9개 제거로 도구 추가 비용 대폭 감소.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443993" y="3641229"/>
            <a:ext cx="67355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v0.31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1219051" y="3628430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1277689" y="3755380"/>
            <a:ext cx="9525" cy="177701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1447502" y="3565029"/>
            <a:ext cx="5486846" cy="428327"/>
          </a:xfrm>
          <a:prstGeom prst="roundRect">
            <a:avLst>
              <a:gd name="adj" fmla="val 1186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1583978" y="3676055"/>
            <a:ext cx="531817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Summary + Gateway Webhook + ConfigWatcher hot-reload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1583978" y="3796605"/>
            <a:ext cx="53181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tool_result 압축 요약 · /webhook port 8765 외부 인입 · TOOL_APPROVAL 3종 훅 · 재시작 없는 바인딩 반영.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443993" y="4107656"/>
            <a:ext cx="67355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v0.32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1219051" y="4094857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1447502" y="4031456"/>
            <a:ext cx="5486846" cy="456902"/>
          </a:xfrm>
          <a:prstGeom prst="roundRect">
            <a:avLst>
              <a:gd name="adj" fmla="val 11118"/>
            </a:avLst>
          </a:prstGeom>
          <a:solidFill>
            <a:srgbClr val="161B22"/>
          </a:solidFill>
          <a:ln w="19050">
            <a:solidFill>
              <a:srgbClr val="34D39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1593503" y="4152007"/>
            <a:ext cx="529874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Long-Running Harness: Autonomous Safety 3조건 + Plan-first + Provider-aware Compaction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1593503" y="4282083"/>
            <a:ext cx="52987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budget_stop · 수렴 3회 에스컬레이션 · 다양성 강제 5회. create_plan + plan_id HITL UI. Anthropic compact_20260112 vs OpenAI LLM 요약 자동 분기.</a:t>
            </a:r>
            <a:endParaRPr lang="en-US" sz="600" dirty="0"/>
          </a:p>
        </p:txBody>
      </p:sp>
      <p:sp>
        <p:nvSpPr>
          <p:cNvPr id="47" name="Text 45"/>
          <p:cNvSpPr/>
          <p:nvPr/>
        </p:nvSpPr>
        <p:spPr>
          <a:xfrm>
            <a:off x="7035850" y="1128117"/>
            <a:ext cx="1650950" cy="9525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7184504" y="1290042"/>
            <a:ext cx="1353642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2800" dirty="0"/>
          </a:p>
        </p:txBody>
      </p:sp>
      <p:sp>
        <p:nvSpPr>
          <p:cNvPr id="49" name="Text 47"/>
          <p:cNvSpPr/>
          <p:nvPr/>
        </p:nvSpPr>
        <p:spPr>
          <a:xfrm>
            <a:off x="7184504" y="1737717"/>
            <a:ext cx="135364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Releases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7184504" y="1832967"/>
            <a:ext cx="13536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v0.1 → v0.32 · 36일</a:t>
            </a:r>
            <a:endParaRPr lang="en-US" sz="600" dirty="0"/>
          </a:p>
        </p:txBody>
      </p:sp>
      <p:sp>
        <p:nvSpPr>
          <p:cNvPr id="51" name="Text 49"/>
          <p:cNvSpPr/>
          <p:nvPr/>
        </p:nvSpPr>
        <p:spPr>
          <a:xfrm>
            <a:off x="7035850" y="2182118"/>
            <a:ext cx="1650950" cy="714077"/>
          </a:xfrm>
          <a:prstGeom prst="roundRect">
            <a:avLst>
              <a:gd name="adj" fmla="val 10671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7197775" y="2318593"/>
            <a:ext cx="49564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아키텍처 피봇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8398520" y="2318593"/>
            <a:ext cx="12888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6회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7197775" y="2486769"/>
            <a:ext cx="49564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무회귀 릴리스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8302377" y="2486769"/>
            <a:ext cx="22694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40/40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7197775" y="2654945"/>
            <a:ext cx="33882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누적 커밋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8302377" y="2654945"/>
            <a:ext cx="22694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1,174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7035850" y="2997696"/>
            <a:ext cx="1650950" cy="469404"/>
          </a:xfrm>
          <a:prstGeom prst="roundRect">
            <a:avLst>
              <a:gd name="adj" fmla="val 1082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7162800" y="3099197"/>
            <a:ext cx="1424991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CHANGELOG는 기록이 아니다. 다음 Frontier Mining의 입력이다.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7035850" y="3568601"/>
            <a:ext cx="1650950" cy="976908"/>
          </a:xfrm>
          <a:prstGeom prst="roundRect">
            <a:avLst>
              <a:gd name="adj" fmla="val 5200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1" name="Shape 59"/>
          <p:cNvSpPr/>
          <p:nvPr/>
        </p:nvSpPr>
        <p:spPr>
          <a:xfrm>
            <a:off x="7054900" y="3568601"/>
            <a:ext cx="0" cy="976908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 60"/>
          <p:cNvSpPr/>
          <p:nvPr/>
        </p:nvSpPr>
        <p:spPr>
          <a:xfrm>
            <a:off x="7188250" y="3657451"/>
            <a:ext cx="1411935" cy="799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판단: WHY를 기록하는 비용</a:t>
            </a: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각 릴리스마다 CHANGELOG 작성에 시간이 든다. 이를 포기하면 "왜 이 결정을 했는가"가 휘발되어 v0.14 Token Guard 제거처럼 나중에 같은 실수를 반복하게 된다.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457200" y="4987975"/>
            <a:ext cx="1672280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40 releases · 6 major architecture pivots</a:t>
            </a:r>
            <a:endParaRPr lang="en-US" sz="500" dirty="0"/>
          </a:p>
        </p:txBody>
      </p:sp>
      <p:sp>
        <p:nvSpPr>
          <p:cNvPr id="64" name="Text 62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/ 35</a:t>
            </a:r>
            <a:endParaRPr lang="en-US" sz="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2784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· SECURITY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Security: Bash 3-Layer + Dual Trust Model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38026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자율 에이전트는 신뢰 경계가 없으면 시스템을 파괴하기 때문에 PolicyChain이 실행 전 모든 명령을 검문한다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25252"/>
            <a:ext cx="4641800" cy="4099322"/>
          </a:xfrm>
          <a:prstGeom prst="roundRect">
            <a:avLst>
              <a:gd name="adj" fmla="val 1859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19125" y="961727"/>
            <a:ext cx="38100" cy="152400"/>
          </a:xfrm>
          <a:prstGeom prst="roundRect">
            <a:avLst>
              <a:gd name="adj" fmla="val 66667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33425" y="976015"/>
            <a:ext cx="106961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PolicyChain 다이어그램</a:t>
            </a:r>
            <a:endParaRPr lang="en-US" sz="800" dirty="0"/>
          </a:p>
        </p:txBody>
      </p:sp>
      <p:pic>
        <p:nvPicPr>
          <p:cNvPr id="9" name="Image 0" descr="/Users/mango/workspace/portfolio/geode/versions/v8/slides/assets/v028-diagram-policy-ch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25" y="1241078"/>
            <a:ext cx="4317950" cy="200650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225951" y="825252"/>
            <a:ext cx="3460849" cy="1982391"/>
          </a:xfrm>
          <a:prstGeom prst="roundRect">
            <a:avLst>
              <a:gd name="adj" fmla="val 3844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5387876" y="961727"/>
            <a:ext cx="31997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Bash 3-Layer 실행 제어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5387876" y="1148953"/>
            <a:ext cx="3136999" cy="409277"/>
          </a:xfrm>
          <a:prstGeom prst="roundRect">
            <a:avLst>
              <a:gd name="adj" fmla="val 1241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5514826" y="1250454"/>
            <a:ext cx="294076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L1: Syntax Validation</a:t>
            </a:r>
            <a:endParaRPr lang="en-US" sz="700" dirty="0"/>
          </a:p>
        </p:txBody>
      </p:sp>
      <p:sp>
        <p:nvSpPr>
          <p:cNvPr id="14" name="Text 11"/>
          <p:cNvSpPr/>
          <p:nvPr/>
        </p:nvSpPr>
        <p:spPr>
          <a:xfrm>
            <a:off x="5514826" y="1371005"/>
            <a:ext cx="294076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 -rf / · chmod 777 · curl | bash 패턴 차단. 실행 전 정적 분석.</a:t>
            </a:r>
            <a:endParaRPr lang="en-US" sz="600" dirty="0"/>
          </a:p>
        </p:txBody>
      </p:sp>
      <p:sp>
        <p:nvSpPr>
          <p:cNvPr id="15" name="Text 12"/>
          <p:cNvSpPr/>
          <p:nvPr/>
        </p:nvSpPr>
        <p:spPr>
          <a:xfrm>
            <a:off x="5387876" y="1621631"/>
            <a:ext cx="3136999" cy="495002"/>
          </a:xfrm>
          <a:prstGeom prst="roundRect">
            <a:avLst>
              <a:gd name="adj" fmla="val 1026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5514826" y="1723132"/>
            <a:ext cx="294076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L2: PolicyChain Hook</a:t>
            </a:r>
            <a:endParaRPr lang="en-US" sz="700" dirty="0"/>
          </a:p>
        </p:txBody>
      </p:sp>
      <p:sp>
        <p:nvSpPr>
          <p:cNvPr id="17" name="Text 14"/>
          <p:cNvSpPr/>
          <p:nvPr/>
        </p:nvSpPr>
        <p:spPr>
          <a:xfrm>
            <a:off x="5514826" y="1843683"/>
            <a:ext cx="294076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 Hook Events 중 BASH_EXEC_PRE에서 PolicyChain 통과 여부 확인. 거부 시 즉시 차단 + 사유 반환.</a:t>
            </a:r>
            <a:endParaRPr lang="en-US" sz="600" dirty="0"/>
          </a:p>
        </p:txBody>
      </p:sp>
      <p:sp>
        <p:nvSpPr>
          <p:cNvPr id="18" name="Text 15"/>
          <p:cNvSpPr/>
          <p:nvPr/>
        </p:nvSpPr>
        <p:spPr>
          <a:xfrm>
            <a:off x="5387876" y="2180034"/>
            <a:ext cx="3136999" cy="409277"/>
          </a:xfrm>
          <a:prstGeom prst="roundRect">
            <a:avLst>
              <a:gd name="adj" fmla="val 1241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6"/>
          <p:cNvSpPr/>
          <p:nvPr/>
        </p:nvSpPr>
        <p:spPr>
          <a:xfrm>
            <a:off x="5514826" y="2281535"/>
            <a:ext cx="294076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L3: macOS Seatbelt Sandbox</a:t>
            </a:r>
            <a:endParaRPr lang="en-US" sz="700" dirty="0"/>
          </a:p>
        </p:txBody>
      </p:sp>
      <p:sp>
        <p:nvSpPr>
          <p:cNvPr id="20" name="Text 17"/>
          <p:cNvSpPr/>
          <p:nvPr/>
        </p:nvSpPr>
        <p:spPr>
          <a:xfrm>
            <a:off x="5514826" y="2402086"/>
            <a:ext cx="294076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REODE: 34-패턴 deny-list. 파일시스템 쓰기, 네트워크 외부 접근, 프로세스 fork 제한.</a:t>
            </a:r>
            <a:endParaRPr lang="en-US" sz="600" dirty="0"/>
          </a:p>
        </p:txBody>
      </p:sp>
      <p:sp>
        <p:nvSpPr>
          <p:cNvPr id="21" name="Text 18"/>
          <p:cNvSpPr/>
          <p:nvPr/>
        </p:nvSpPr>
        <p:spPr>
          <a:xfrm>
            <a:off x="5225951" y="2909143"/>
            <a:ext cx="3460849" cy="1487686"/>
          </a:xfrm>
          <a:prstGeom prst="roundRect">
            <a:avLst>
              <a:gd name="adj" fmla="val 5122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19"/>
          <p:cNvSpPr/>
          <p:nvPr/>
        </p:nvSpPr>
        <p:spPr>
          <a:xfrm>
            <a:off x="5387876" y="3045619"/>
            <a:ext cx="31997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 Trust Model: 두 독립 축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5387876" y="3232845"/>
            <a:ext cx="3199739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spcAft>
                <a:spcPts val="200"/>
              </a:spcAft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에이전트 안전과 파이프라인 검증은 독립 축이다. 에이전트는 입력을 차단(Input Gating), 파이프라인은 출력을 검증(Output Validation). 둘 다 통과해야만 결과가 신뢰된다.</a:t>
            </a:r>
            <a:endParaRPr lang="en-US" sz="700" dirty="0"/>
          </a:p>
        </p:txBody>
      </p:sp>
      <p:sp>
        <p:nvSpPr>
          <p:cNvPr id="24" name="Text 21"/>
          <p:cNvSpPr/>
          <p:nvPr/>
        </p:nvSpPr>
        <p:spPr>
          <a:xfrm>
            <a:off x="5387876" y="3570089"/>
            <a:ext cx="1530400" cy="495002"/>
          </a:xfrm>
          <a:prstGeom prst="roundRect">
            <a:avLst>
              <a:gd name="adj" fmla="val 1026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2"/>
          <p:cNvSpPr/>
          <p:nvPr/>
        </p:nvSpPr>
        <p:spPr>
          <a:xfrm>
            <a:off x="5502176" y="3671590"/>
            <a:ext cx="132783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Gating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5502176" y="3792141"/>
            <a:ext cx="132783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4-Tier HITL 권한 모델: 에이전트 실행 전 차단</a:t>
            </a:r>
            <a:endParaRPr lang="en-US" sz="600" dirty="0"/>
          </a:p>
        </p:txBody>
      </p:sp>
      <p:sp>
        <p:nvSpPr>
          <p:cNvPr id="27" name="Text 24"/>
          <p:cNvSpPr/>
          <p:nvPr/>
        </p:nvSpPr>
        <p:spPr>
          <a:xfrm>
            <a:off x="6994475" y="3570089"/>
            <a:ext cx="1530400" cy="495002"/>
          </a:xfrm>
          <a:prstGeom prst="roundRect">
            <a:avLst>
              <a:gd name="adj" fmla="val 1026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5"/>
          <p:cNvSpPr/>
          <p:nvPr/>
        </p:nvSpPr>
        <p:spPr>
          <a:xfrm>
            <a:off x="7108775" y="3671590"/>
            <a:ext cx="132783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Validation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7108775" y="3792141"/>
            <a:ext cx="132783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5-Tier Safety 등급: 실행 후 출력 검증</a:t>
            </a:r>
            <a:endParaRPr lang="en-US" sz="600" dirty="0"/>
          </a:p>
        </p:txBody>
      </p:sp>
      <p:sp>
        <p:nvSpPr>
          <p:cNvPr id="30" name="Text 27"/>
          <p:cNvSpPr/>
          <p:nvPr/>
        </p:nvSpPr>
        <p:spPr>
          <a:xfrm>
            <a:off x="5387876" y="4153793"/>
            <a:ext cx="3199739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40"/>
              </a:lnSpc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0-1: asyncio.gather 병렬 자동 실행 / TIER 3-4: 개별 수동 승인 필수</a:t>
            </a:r>
            <a:endParaRPr lang="en-US" sz="600" dirty="0"/>
          </a:p>
        </p:txBody>
      </p:sp>
      <p:sp>
        <p:nvSpPr>
          <p:cNvPr id="31" name="Text 28"/>
          <p:cNvSpPr/>
          <p:nvPr/>
        </p:nvSpPr>
        <p:spPr>
          <a:xfrm>
            <a:off x="5225951" y="4498330"/>
            <a:ext cx="3460849" cy="426244"/>
          </a:xfrm>
          <a:prstGeom prst="roundRect">
            <a:avLst>
              <a:gd name="adj" fmla="val 11918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Shape 29"/>
          <p:cNvSpPr/>
          <p:nvPr/>
        </p:nvSpPr>
        <p:spPr>
          <a:xfrm>
            <a:off x="5245001" y="4498330"/>
            <a:ext cx="0" cy="426244"/>
          </a:xfrm>
          <a:prstGeom prst="line">
            <a:avLst/>
          </a:prstGeom>
          <a:noFill/>
          <a:ln w="381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0"/>
          <p:cNvSpPr/>
          <p:nvPr/>
        </p:nvSpPr>
        <p:spPr>
          <a:xfrm>
            <a:off x="5378351" y="4587180"/>
            <a:ext cx="325803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3-Layer 제어 비용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L1 정적 분석 + L2 PolicyChain + L3 Seatbelt 모두 통과 시 지연이 발생하지만, 자율 에이전트가 시스템을 파괴한 사례가 0건인 것이 증거다.</a:t>
            </a:r>
            <a:endParaRPr lang="en-US" sz="700" dirty="0"/>
          </a:p>
        </p:txBody>
      </p:sp>
      <p:sp>
        <p:nvSpPr>
          <p:cNvPr id="34" name="Text 31"/>
          <p:cNvSpPr/>
          <p:nvPr/>
        </p:nvSpPr>
        <p:spPr>
          <a:xfrm>
            <a:off x="457200" y="4987975"/>
            <a:ext cx="2359045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46 Hook Events · 5-Tier Tool Safety · macOS Seatbelt (REODE)</a:t>
            </a:r>
            <a:endParaRPr lang="en-US" sz="500" dirty="0"/>
          </a:p>
        </p:txBody>
      </p:sp>
      <p:sp>
        <p:nvSpPr>
          <p:cNvPr id="35" name="Text 32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/ 35</a:t>
            </a:r>
            <a:endParaRPr lang="en-US" sz="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8202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CONNECTION · TRADE-OFFS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Trade-off 8선: 포기하지 않은 설계 결정은 결정이 아니다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아키텍처, 에이전트 실행, 인프라 전반. 모든 피봇은 CHANGELOG에 “왜”가 기록되어 있다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76250" y="847576"/>
            <a:ext cx="0" cy="450503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622250" y="936427"/>
            <a:ext cx="384096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Port/Adapter DI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22250" y="1076027"/>
            <a:ext cx="3840962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직접 호출 단순성을 포기하고 DI를 도입하니 GEODE→REODE 이식 시 코어 코드 변경 0줄이 된다.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476250" y="1386929"/>
            <a:ext cx="0" cy="583704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622250" y="1475780"/>
            <a:ext cx="384096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Lossless Context Selection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22250" y="1615380"/>
            <a:ext cx="3840962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단순 요약(빠르지만 정보 손실)을 버리고 LLM이 직접 청크를 선별하게 하니 비용 0.03%로 절감되면서 정보 손실이 사라진다.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476250" y="2059484"/>
            <a:ext cx="0" cy="593229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622250" y="2148334"/>
            <a:ext cx="384096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5-Tier Safety: 병렬 vs 순차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622250" y="2297460"/>
            <a:ext cx="3840962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T3-4 병렬 처리 속도를 포기하고 DANGEROUS 명령은 개별 순차 승인으로 격리하니 권한 에스컬레이션 경로가 차단된다.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476250" y="2741563"/>
            <a:ext cx="0" cy="583704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622250" y="2830413"/>
            <a:ext cx="384096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Sub-Agent 4096 Token Guard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22250" y="2970014"/>
            <a:ext cx="3840962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자식 출력 전체 반환(완전한 컨텍스트)을 포기하고 4096 guard를 적용하니 부모 컨텍스트 폭발이 방지되어 MAX_CONCURRENT=5 병렬이 가능해진다.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4565600" y="847576"/>
            <a:ext cx="12650" cy="4067473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4775002" y="847576"/>
            <a:ext cx="0" cy="583704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4921002" y="936427"/>
            <a:ext cx="384111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SHA-256 PromptAssembler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921002" y="1076027"/>
            <a:ext cx="3841114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수동 편집의 즉각성을 포기하고 6-Phase 조립과 SHA-256 추적을 도입하니 cache_control ephemeral로 2회차 입력 비용이 10%로 준다.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4775002" y="1520130"/>
            <a:ext cx="0" cy="593229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4921002" y="1608981"/>
            <a:ext cx="384111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MCPRegistry 삭제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921002" y="1758107"/>
            <a:ext cx="3841114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중앙 집중 도구 관리(단일 조회 포인트)를 포기하고 auto-discovery를 채택하니 proxy stub 9개가 제거되고 45 MCP 서버를 자동 등록할 수 있게 된다.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4775002" y="2202210"/>
            <a:ext cx="0" cy="593229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4921002" y="2291060"/>
            <a:ext cx="384111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Priority 핸들러 순서 보장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921002" y="2440186"/>
            <a:ext cx="3841114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병렬 핸들러 처리량을 포기하고 Priority 정렬을 넣으니 Security 핸들러가 Logging보다 항상 먼저 실행되는 것이 보장된다.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4775002" y="2884289"/>
            <a:ext cx="0" cy="593229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4921002" y="2973139"/>
            <a:ext cx="384111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Rounds × 200 Turns 상한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921002" y="3122265"/>
            <a:ext cx="3841114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완전 자율(무제한 실행)을 포기하고 수렴 감지 + 비용 상한을 도입했더니 파이프라인 폭주가 차단되고 장기 운용 비용이 예측 가능해졌다.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457200" y="4978450"/>
            <a:ext cx="1716759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40 releases · 모든 피봇 CHANGELOG 기록</a:t>
            </a:r>
            <a:endParaRPr lang="en-US" sz="500" dirty="0"/>
          </a:p>
        </p:txBody>
      </p:sp>
      <p:sp>
        <p:nvSpPr>
          <p:cNvPr id="32" name="Text 30"/>
          <p:cNvSpPr/>
          <p:nvPr/>
        </p:nvSpPr>
        <p:spPr>
          <a:xfrm>
            <a:off x="8492728" y="4978450"/>
            <a:ext cx="19795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/ 35</a:t>
            </a:r>
            <a:endParaRPr lang="en-US" sz="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271730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CONNECTION · CONSTRAINTS → RESULTS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Constraints → HOW → Results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38026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금지 규칙 → 어떤 메커니즘으로 → 어떤 결과가 나왔는가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562695"/>
            <a:ext cx="2386459" cy="526852"/>
          </a:xfrm>
          <a:prstGeom prst="roundRect">
            <a:avLst>
              <a:gd name="adj" fmla="val 14463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3675" y="1661071"/>
            <a:ext cx="215577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5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593675" y="1781621"/>
            <a:ext cx="215577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키워드 나열식 슬라이드 금지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2923342" y="1689646"/>
            <a:ext cx="221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2964210" y="1810196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24659" y="1562695"/>
            <a:ext cx="2963019" cy="526852"/>
          </a:xfrm>
          <a:prstGeom prst="roundRect">
            <a:avLst>
              <a:gd name="adj" fmla="val 14463"/>
            </a:avLst>
          </a:prstGeom>
          <a:solidFill>
            <a:srgbClr val="161B22"/>
          </a:solidFill>
          <a:ln w="9525">
            <a:solidFill>
              <a:srgbClr val="8B949E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361134" y="1661071"/>
            <a:ext cx="274387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5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MECHANISM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3361134" y="1781621"/>
            <a:ext cx="274387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위반 시 Socratic Gate 재통과 강제: 인과관계 1문장 없으면 PR 차단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270129" y="1749921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478" y="1562695"/>
            <a:ext cx="2194322" cy="526852"/>
          </a:xfrm>
          <a:prstGeom prst="roundRect">
            <a:avLst>
              <a:gd name="adj" fmla="val 14463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628954" y="1661071"/>
            <a:ext cx="195979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6628954" y="1781621"/>
            <a:ext cx="195979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7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34장</a:t>
            </a: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전체 DAG 내러티브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457200" y="2152948"/>
            <a:ext cx="2386459" cy="431602"/>
          </a:xfrm>
          <a:prstGeom prst="roundRect">
            <a:avLst>
              <a:gd name="adj" fmla="val 17655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93675" y="2251323"/>
            <a:ext cx="215577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5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593675" y="2371874"/>
            <a:ext cx="215577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Socratic Gate 통과 전 코드 작성 금지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2923342" y="2232273"/>
            <a:ext cx="221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964210" y="2352824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224659" y="2152948"/>
            <a:ext cx="2963019" cy="431602"/>
          </a:xfrm>
          <a:prstGeom prst="roundRect">
            <a:avLst>
              <a:gd name="adj" fmla="val 17655"/>
            </a:avLst>
          </a:prstGeom>
          <a:solidFill>
            <a:srgbClr val="161B22"/>
          </a:solidFill>
          <a:ln w="9525">
            <a:solidFill>
              <a:srgbClr val="8B949E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3361134" y="2251323"/>
            <a:ext cx="274387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5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MECHANISM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3361134" y="2371874"/>
            <a:ext cx="274387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구현 전 5-질문 의무화 → 잘못된 전제로 50 rounds 낭비 사전 차단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6270129" y="2292548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492478" y="2152948"/>
            <a:ext cx="2194322" cy="431602"/>
          </a:xfrm>
          <a:prstGeom prst="roundRect">
            <a:avLst>
              <a:gd name="adj" fmla="val 17655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628954" y="2251323"/>
            <a:ext cx="195979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6628954" y="2371874"/>
            <a:ext cx="195979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7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39회</a:t>
            </a: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릴리스 무회귀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457200" y="2647950"/>
            <a:ext cx="2386459" cy="526852"/>
          </a:xfrm>
          <a:prstGeom prst="roundRect">
            <a:avLst>
              <a:gd name="adj" fmla="val 14463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593675" y="2746325"/>
            <a:ext cx="215577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5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50" dirty="0"/>
          </a:p>
        </p:txBody>
      </p:sp>
      <p:sp>
        <p:nvSpPr>
          <p:cNvPr id="32" name="Text 30"/>
          <p:cNvSpPr/>
          <p:nvPr/>
        </p:nvSpPr>
        <p:spPr>
          <a:xfrm>
            <a:off x="593675" y="2866876"/>
            <a:ext cx="215577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단순 박스형 다이어그램 금지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2923342" y="2774900"/>
            <a:ext cx="221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964210" y="2895451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224659" y="2647950"/>
            <a:ext cx="2963019" cy="526852"/>
          </a:xfrm>
          <a:prstGeom prst="roundRect">
            <a:avLst>
              <a:gd name="adj" fmla="val 14463"/>
            </a:avLst>
          </a:prstGeom>
          <a:solidFill>
            <a:srgbClr val="161B22"/>
          </a:solidFill>
          <a:ln w="9525">
            <a:solidFill>
              <a:srgbClr val="8B949E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3361134" y="2746325"/>
            <a:ext cx="274387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5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MECHANISM</a:t>
            </a:r>
            <a:endParaRPr lang="en-US" sz="650" dirty="0"/>
          </a:p>
        </p:txBody>
      </p:sp>
      <p:sp>
        <p:nvSpPr>
          <p:cNvPr id="37" name="Text 35"/>
          <p:cNvSpPr/>
          <p:nvPr/>
        </p:nvSpPr>
        <p:spPr>
          <a:xfrm>
            <a:off x="3361134" y="2866876"/>
            <a:ext cx="274387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화살표 + 분기 + 루프백 필수 → 4-Persona Review의 Architect 검사 통과 시에만 머지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6270129" y="2835176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492478" y="2647950"/>
            <a:ext cx="2194322" cy="526852"/>
          </a:xfrm>
          <a:prstGeom prst="roundRect">
            <a:avLst>
              <a:gd name="adj" fmla="val 14463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6628954" y="2746325"/>
            <a:ext cx="195979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</a:t>
            </a:r>
            <a:endParaRPr lang="en-US" sz="650" dirty="0"/>
          </a:p>
        </p:txBody>
      </p:sp>
      <p:sp>
        <p:nvSpPr>
          <p:cNvPr id="41" name="Text 39"/>
          <p:cNvSpPr/>
          <p:nvPr/>
        </p:nvSpPr>
        <p:spPr>
          <a:xfrm>
            <a:off x="6628954" y="2866876"/>
            <a:ext cx="195979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7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Skills</a:t>
            </a: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흐름도 누적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457200" y="3238202"/>
            <a:ext cx="2386459" cy="431602"/>
          </a:xfrm>
          <a:prstGeom prst="roundRect">
            <a:avLst>
              <a:gd name="adj" fmla="val 17655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593675" y="3336578"/>
            <a:ext cx="215577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5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50" dirty="0"/>
          </a:p>
        </p:txBody>
      </p:sp>
      <p:sp>
        <p:nvSpPr>
          <p:cNvPr id="44" name="Text 42"/>
          <p:cNvSpPr/>
          <p:nvPr/>
        </p:nvSpPr>
        <p:spPr>
          <a:xfrm>
            <a:off x="593675" y="3457129"/>
            <a:ext cx="215577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 명시 없는 설계 결정 금지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2923342" y="3317528"/>
            <a:ext cx="221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2964210" y="3438079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3224659" y="3238202"/>
            <a:ext cx="2963019" cy="431602"/>
          </a:xfrm>
          <a:prstGeom prst="roundRect">
            <a:avLst>
              <a:gd name="adj" fmla="val 17655"/>
            </a:avLst>
          </a:prstGeom>
          <a:solidFill>
            <a:srgbClr val="161B22"/>
          </a:solidFill>
          <a:ln w="9525">
            <a:solidFill>
              <a:srgbClr val="8B949E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3361134" y="3336578"/>
            <a:ext cx="274387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5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MECHANISM</a:t>
            </a:r>
            <a:endParaRPr lang="en-US" sz="650" dirty="0"/>
          </a:p>
        </p:txBody>
      </p:sp>
      <p:sp>
        <p:nvSpPr>
          <p:cNvPr id="49" name="Text 47"/>
          <p:cNvSpPr/>
          <p:nvPr/>
        </p:nvSpPr>
        <p:spPr>
          <a:xfrm>
            <a:off x="3361134" y="3457129"/>
            <a:ext cx="274387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CHANGELOG에 "포기한 것 / 얻은 것" 쌍 없으면 기능 커밋 자체가 차단됨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6270129" y="3377803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6492478" y="3238202"/>
            <a:ext cx="2194322" cy="431602"/>
          </a:xfrm>
          <a:prstGeom prst="roundRect">
            <a:avLst>
              <a:gd name="adj" fmla="val 17655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6628954" y="3336578"/>
            <a:ext cx="195979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</a:t>
            </a:r>
            <a:endParaRPr lang="en-US" sz="650" dirty="0"/>
          </a:p>
        </p:txBody>
      </p:sp>
      <p:sp>
        <p:nvSpPr>
          <p:cNvPr id="53" name="Text 51"/>
          <p:cNvSpPr/>
          <p:nvPr/>
        </p:nvSpPr>
        <p:spPr>
          <a:xfrm>
            <a:off x="6628954" y="3457129"/>
            <a:ext cx="195979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7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6회</a:t>
            </a: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피봇 WHY 전부 기록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457200" y="3733205"/>
            <a:ext cx="2386459" cy="431602"/>
          </a:xfrm>
          <a:prstGeom prst="roundRect">
            <a:avLst>
              <a:gd name="adj" fmla="val 17655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593675" y="3831580"/>
            <a:ext cx="215577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5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50" dirty="0"/>
          </a:p>
        </p:txBody>
      </p:sp>
      <p:sp>
        <p:nvSpPr>
          <p:cNvPr id="56" name="Text 54"/>
          <p:cNvSpPr/>
          <p:nvPr/>
        </p:nvSpPr>
        <p:spPr>
          <a:xfrm>
            <a:off x="593675" y="3952131"/>
            <a:ext cx="215577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카드 6개 초과 금지: 밀도 강제 압축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2923342" y="3812530"/>
            <a:ext cx="221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2964210" y="3933081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3224659" y="3733205"/>
            <a:ext cx="2963019" cy="431602"/>
          </a:xfrm>
          <a:prstGeom prst="roundRect">
            <a:avLst>
              <a:gd name="adj" fmla="val 17655"/>
            </a:avLst>
          </a:prstGeom>
          <a:solidFill>
            <a:srgbClr val="161B22"/>
          </a:solidFill>
          <a:ln w="9525">
            <a:solidFill>
              <a:srgbClr val="8B949E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3361134" y="3831580"/>
            <a:ext cx="274387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5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MECHANISM</a:t>
            </a:r>
            <a:endParaRPr lang="en-US" sz="650" dirty="0"/>
          </a:p>
        </p:txBody>
      </p:sp>
      <p:sp>
        <p:nvSpPr>
          <p:cNvPr id="61" name="Text 59"/>
          <p:cNvSpPr/>
          <p:nvPr/>
        </p:nvSpPr>
        <p:spPr>
          <a:xfrm>
            <a:off x="3361134" y="3952131"/>
            <a:ext cx="274387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초과 시 슬라이드 분리 강제 → 정보 우선순위 결정이 설계자에게 귀환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6270129" y="3872805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6492478" y="3733205"/>
            <a:ext cx="2194322" cy="431602"/>
          </a:xfrm>
          <a:prstGeom prst="roundRect">
            <a:avLst>
              <a:gd name="adj" fmla="val 17655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4" name="Text 62"/>
          <p:cNvSpPr/>
          <p:nvPr/>
        </p:nvSpPr>
        <p:spPr>
          <a:xfrm>
            <a:off x="6628954" y="3831580"/>
            <a:ext cx="195979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</a:t>
            </a:r>
            <a:endParaRPr lang="en-US" sz="650" dirty="0"/>
          </a:p>
        </p:txBody>
      </p:sp>
      <p:sp>
        <p:nvSpPr>
          <p:cNvPr id="65" name="Text 63"/>
          <p:cNvSpPr/>
          <p:nvPr/>
        </p:nvSpPr>
        <p:spPr>
          <a:xfrm>
            <a:off x="6628954" y="3952131"/>
            <a:ext cx="195979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7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34장</a:t>
            </a: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슬라이드당 1메시지</a:t>
            </a:r>
            <a:endParaRPr lang="en-US" sz="750" dirty="0"/>
          </a:p>
        </p:txBody>
      </p:sp>
      <p:sp>
        <p:nvSpPr>
          <p:cNvPr id="66" name="Text 64"/>
          <p:cNvSpPr/>
          <p:nvPr/>
        </p:nvSpPr>
        <p:spPr>
          <a:xfrm>
            <a:off x="457200" y="4978450"/>
            <a:ext cx="163888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23 CANNOT rules · 제약이 품질을 만든다</a:t>
            </a:r>
            <a:endParaRPr lang="en-US" sz="500" dirty="0"/>
          </a:p>
        </p:txBody>
      </p:sp>
      <p:sp>
        <p:nvSpPr>
          <p:cNvPr id="67" name="Text 65"/>
          <p:cNvSpPr/>
          <p:nvPr/>
        </p:nvSpPr>
        <p:spPr>
          <a:xfrm>
            <a:off x="8492728" y="4978450"/>
            <a:ext cx="19795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 / 35</a:t>
            </a:r>
            <a:endParaRPr lang="en-US" sz="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36943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 · SUMMARY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36일, 모든 숫자는 Socratic Gate → 8-Step Loop → 4-Persona Review를 통과한 것들이다</a:t>
            </a:r>
            <a:endParaRPr lang="en-US" sz="800" dirty="0"/>
          </a:p>
        </p:txBody>
      </p:sp>
      <p:grpSp>
        <p:nvGrpSpPr>
          <p:cNvPr id="62" name="그룹 61">
            <a:extLst>
              <a:ext uri="{FF2B5EF4-FFF2-40B4-BE49-F238E27FC236}">
                <a16:creationId xmlns:a16="http://schemas.microsoft.com/office/drawing/2014/main" id="{EDDA2F20-3A0D-C2E8-2895-8BD8F76A5CF0}"/>
              </a:ext>
            </a:extLst>
          </p:cNvPr>
          <p:cNvGrpSpPr/>
          <p:nvPr/>
        </p:nvGrpSpPr>
        <p:grpSpPr>
          <a:xfrm>
            <a:off x="457200" y="928561"/>
            <a:ext cx="5992870" cy="2532091"/>
            <a:chOff x="457200" y="928561"/>
            <a:chExt cx="5969199" cy="2075557"/>
          </a:xfrm>
        </p:grpSpPr>
        <p:sp>
          <p:nvSpPr>
            <p:cNvPr id="6" name="Text 4"/>
            <p:cNvSpPr/>
            <p:nvPr/>
          </p:nvSpPr>
          <p:spPr>
            <a:xfrm>
              <a:off x="457200" y="928561"/>
              <a:ext cx="1435150" cy="704552"/>
            </a:xfrm>
            <a:prstGeom prst="roundRect">
              <a:avLst>
                <a:gd name="adj" fmla="val 7210"/>
              </a:avLst>
            </a:prstGeom>
            <a:solidFill>
              <a:srgbClr val="161B22"/>
            </a:solidFill>
            <a:ln w="9525">
              <a:solidFill>
                <a:srgbClr val="21262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582053" y="1039587"/>
              <a:ext cx="1185443" cy="3714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2600" b="1" dirty="0">
                  <a:solidFill>
                    <a:srgbClr val="4ECDC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v0.32.0</a:t>
              </a:r>
              <a:endParaRPr lang="en-US" sz="26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82053" y="1436363"/>
              <a:ext cx="1185443" cy="857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spcBef>
                  <a:spcPts val="200"/>
                </a:spcBef>
                <a:buNone/>
              </a:pPr>
              <a:r>
                <a:rPr lang="en-US" sz="600" dirty="0">
                  <a:solidFill>
                    <a:srgbClr val="8B949E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Current Version</a:t>
              </a:r>
              <a:endParaRPr lang="en-US" sz="6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1968550" y="928561"/>
              <a:ext cx="1435150" cy="704552"/>
            </a:xfrm>
            <a:prstGeom prst="roundRect">
              <a:avLst>
                <a:gd name="adj" fmla="val 7210"/>
              </a:avLst>
            </a:prstGeom>
            <a:solidFill>
              <a:srgbClr val="161B22"/>
            </a:solidFill>
            <a:ln w="9525">
              <a:solidFill>
                <a:srgbClr val="21262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2093403" y="1039587"/>
              <a:ext cx="1185443" cy="3714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2600" b="1" dirty="0">
                  <a:solidFill>
                    <a:srgbClr val="818CF8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1,174</a:t>
              </a:r>
              <a:endParaRPr lang="en-US" sz="26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093403" y="1436363"/>
              <a:ext cx="1185443" cy="857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spcBef>
                  <a:spcPts val="200"/>
                </a:spcBef>
                <a:buNone/>
              </a:pPr>
              <a:r>
                <a:rPr lang="en-US" sz="600" dirty="0">
                  <a:solidFill>
                    <a:srgbClr val="8B949E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Commits</a:t>
              </a:r>
              <a:endParaRPr lang="en-US" sz="6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479899" y="928561"/>
              <a:ext cx="1435150" cy="704552"/>
            </a:xfrm>
            <a:prstGeom prst="roundRect">
              <a:avLst>
                <a:gd name="adj" fmla="val 7210"/>
              </a:avLst>
            </a:prstGeom>
            <a:solidFill>
              <a:srgbClr val="161B22"/>
            </a:solidFill>
            <a:ln w="9525">
              <a:solidFill>
                <a:srgbClr val="21262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604753" y="1039587"/>
              <a:ext cx="1185443" cy="3714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2600" b="1" dirty="0">
                  <a:solidFill>
                    <a:srgbClr val="34D399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500+</a:t>
              </a:r>
              <a:endParaRPr lang="en-US" sz="26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604753" y="1436363"/>
              <a:ext cx="1185443" cy="857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spcBef>
                  <a:spcPts val="200"/>
                </a:spcBef>
                <a:buNone/>
              </a:pPr>
              <a:r>
                <a:rPr lang="en-US" sz="600" dirty="0">
                  <a:solidFill>
                    <a:srgbClr val="8B949E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PRs</a:t>
              </a:r>
              <a:endParaRPr lang="en-US" sz="6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991249" y="928561"/>
              <a:ext cx="1435150" cy="704552"/>
            </a:xfrm>
            <a:prstGeom prst="roundRect">
              <a:avLst>
                <a:gd name="adj" fmla="val 7210"/>
              </a:avLst>
            </a:prstGeom>
            <a:solidFill>
              <a:srgbClr val="161B22"/>
            </a:solidFill>
            <a:ln w="9525">
              <a:solidFill>
                <a:srgbClr val="21262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116102" y="1039587"/>
              <a:ext cx="1185443" cy="3714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2600" b="1" dirty="0">
                  <a:solidFill>
                    <a:srgbClr val="F5C54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40</a:t>
              </a:r>
              <a:endParaRPr lang="en-US" sz="26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116102" y="1436363"/>
              <a:ext cx="1185443" cy="857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spcBef>
                  <a:spcPts val="200"/>
                </a:spcBef>
                <a:buNone/>
              </a:pPr>
              <a:r>
                <a:rPr lang="en-US" sz="600" dirty="0">
                  <a:solidFill>
                    <a:srgbClr val="8B949E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Releases</a:t>
              </a:r>
              <a:endParaRPr lang="en-US" sz="6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457200" y="1696514"/>
              <a:ext cx="1435150" cy="631627"/>
            </a:xfrm>
            <a:prstGeom prst="roundRect">
              <a:avLst>
                <a:gd name="adj" fmla="val 8043"/>
              </a:avLst>
            </a:prstGeom>
            <a:solidFill>
              <a:srgbClr val="161B22"/>
            </a:solidFill>
            <a:ln w="9525">
              <a:solidFill>
                <a:srgbClr val="21262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582053" y="1794889"/>
              <a:ext cx="1185443" cy="3238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818CF8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187</a:t>
              </a:r>
              <a:endParaRPr lang="en-US" sz="22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582053" y="2144040"/>
              <a:ext cx="1185443" cy="857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spcBef>
                  <a:spcPts val="200"/>
                </a:spcBef>
                <a:buNone/>
              </a:pPr>
              <a:r>
                <a:rPr lang="en-US" sz="600" dirty="0">
                  <a:solidFill>
                    <a:srgbClr val="8B949E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Python Modules</a:t>
              </a:r>
              <a:endParaRPr lang="en-US" sz="6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1968550" y="1696514"/>
              <a:ext cx="1435150" cy="631627"/>
            </a:xfrm>
            <a:prstGeom prst="roundRect">
              <a:avLst>
                <a:gd name="adj" fmla="val 8043"/>
              </a:avLst>
            </a:prstGeom>
            <a:solidFill>
              <a:srgbClr val="161B22"/>
            </a:solidFill>
            <a:ln w="9525">
              <a:solidFill>
                <a:srgbClr val="21262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2093403" y="1794889"/>
              <a:ext cx="1185443" cy="3238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34D399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3,216</a:t>
              </a:r>
              <a:endParaRPr lang="en-US" sz="22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2093403" y="2144040"/>
              <a:ext cx="1185443" cy="857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spcBef>
                  <a:spcPts val="200"/>
                </a:spcBef>
                <a:buNone/>
              </a:pPr>
              <a:r>
                <a:rPr lang="en-US" sz="600" dirty="0">
                  <a:solidFill>
                    <a:srgbClr val="8B949E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Tests</a:t>
              </a:r>
              <a:endParaRPr lang="en-US" sz="6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3479899" y="1696514"/>
              <a:ext cx="1435150" cy="631627"/>
            </a:xfrm>
            <a:prstGeom prst="roundRect">
              <a:avLst>
                <a:gd name="adj" fmla="val 8043"/>
              </a:avLst>
            </a:prstGeom>
            <a:solidFill>
              <a:srgbClr val="161B22"/>
            </a:solidFill>
            <a:ln w="9525">
              <a:solidFill>
                <a:srgbClr val="21262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604753" y="1794889"/>
              <a:ext cx="1185443" cy="3238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F97316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46</a:t>
              </a:r>
              <a:endParaRPr lang="en-US" sz="22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3604753" y="2144040"/>
              <a:ext cx="1185443" cy="857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spcBef>
                  <a:spcPts val="200"/>
                </a:spcBef>
                <a:buNone/>
              </a:pPr>
              <a:r>
                <a:rPr lang="en-US" sz="600" dirty="0">
                  <a:solidFill>
                    <a:srgbClr val="8B949E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Hook Events</a:t>
              </a:r>
              <a:endParaRPr lang="en-US" sz="6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4991249" y="1696514"/>
              <a:ext cx="1435150" cy="631627"/>
            </a:xfrm>
            <a:prstGeom prst="roundRect">
              <a:avLst>
                <a:gd name="adj" fmla="val 8043"/>
              </a:avLst>
            </a:prstGeom>
            <a:solidFill>
              <a:srgbClr val="161B22"/>
            </a:solidFill>
            <a:ln w="9525">
              <a:solidFill>
                <a:srgbClr val="21262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116102" y="1794889"/>
              <a:ext cx="1185443" cy="3238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4ECDC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52</a:t>
              </a:r>
              <a:endParaRPr lang="en-US" sz="22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116102" y="2144040"/>
              <a:ext cx="1185443" cy="857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spcBef>
                  <a:spcPts val="200"/>
                </a:spcBef>
                <a:buNone/>
              </a:pPr>
              <a:r>
                <a:rPr lang="en-US" sz="600" dirty="0">
                  <a:solidFill>
                    <a:srgbClr val="8B949E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Native Tools</a:t>
              </a:r>
              <a:endParaRPr lang="en-US" sz="6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457200" y="2391541"/>
              <a:ext cx="1435150" cy="612577"/>
            </a:xfrm>
            <a:prstGeom prst="roundRect">
              <a:avLst>
                <a:gd name="adj" fmla="val 8293"/>
              </a:avLst>
            </a:prstGeom>
            <a:solidFill>
              <a:srgbClr val="161B22"/>
            </a:solidFill>
            <a:ln w="9525">
              <a:solidFill>
                <a:srgbClr val="21262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582053" y="2489917"/>
              <a:ext cx="1185443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818CF8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45</a:t>
              </a:r>
              <a:endParaRPr lang="en-US" sz="2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582053" y="2810493"/>
              <a:ext cx="1185443" cy="857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spcBef>
                  <a:spcPts val="200"/>
                </a:spcBef>
                <a:buNone/>
              </a:pPr>
              <a:r>
                <a:rPr lang="en-US" sz="600" dirty="0">
                  <a:solidFill>
                    <a:srgbClr val="8B949E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MCP Catalog</a:t>
              </a:r>
              <a:endParaRPr lang="en-US" sz="6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1968550" y="2391541"/>
              <a:ext cx="1435150" cy="612577"/>
            </a:xfrm>
            <a:prstGeom prst="roundRect">
              <a:avLst>
                <a:gd name="adj" fmla="val 8293"/>
              </a:avLst>
            </a:prstGeom>
            <a:solidFill>
              <a:srgbClr val="161B22"/>
            </a:solidFill>
            <a:ln w="9525">
              <a:solidFill>
                <a:srgbClr val="21262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2093403" y="2489917"/>
              <a:ext cx="1185443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34D399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21</a:t>
              </a:r>
              <a:endParaRPr lang="en-US" sz="20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2093403" y="2810493"/>
              <a:ext cx="1185443" cy="857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spcBef>
                  <a:spcPts val="200"/>
                </a:spcBef>
                <a:buNone/>
              </a:pPr>
              <a:r>
                <a:rPr lang="en-US" sz="600" dirty="0">
                  <a:solidFill>
                    <a:srgbClr val="8B949E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Skills</a:t>
              </a:r>
              <a:endParaRPr lang="en-US" sz="6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3479899" y="2391541"/>
              <a:ext cx="1435150" cy="612577"/>
            </a:xfrm>
            <a:prstGeom prst="roundRect">
              <a:avLst>
                <a:gd name="adj" fmla="val 8293"/>
              </a:avLst>
            </a:prstGeom>
            <a:solidFill>
              <a:srgbClr val="161B22"/>
            </a:solidFill>
            <a:ln w="9525">
              <a:solidFill>
                <a:srgbClr val="21262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3604753" y="2489917"/>
              <a:ext cx="1185443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EF444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23</a:t>
              </a:r>
              <a:endParaRPr lang="en-US" sz="2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3604753" y="2810493"/>
              <a:ext cx="1185443" cy="857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spcBef>
                  <a:spcPts val="200"/>
                </a:spcBef>
                <a:buNone/>
              </a:pPr>
              <a:r>
                <a:rPr lang="en-US" sz="600" dirty="0">
                  <a:solidFill>
                    <a:srgbClr val="8B949E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CANNOT Rules</a:t>
              </a:r>
              <a:endParaRPr lang="en-US" sz="6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4991249" y="2391541"/>
              <a:ext cx="1435150" cy="612577"/>
            </a:xfrm>
            <a:prstGeom prst="roundRect">
              <a:avLst>
                <a:gd name="adj" fmla="val 8293"/>
              </a:avLst>
            </a:prstGeom>
            <a:solidFill>
              <a:srgbClr val="161B22"/>
            </a:solidFill>
            <a:ln w="9525">
              <a:solidFill>
                <a:srgbClr val="21262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5116102" y="2489917"/>
              <a:ext cx="1185443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F5C54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36일</a:t>
              </a:r>
              <a:endParaRPr lang="en-US" sz="2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5116102" y="2820018"/>
              <a:ext cx="1185443" cy="857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spcBef>
                  <a:spcPts val="200"/>
                </a:spcBef>
                <a:buNone/>
              </a:pPr>
              <a:r>
                <a:rPr lang="en-US" sz="600" dirty="0">
                  <a:solidFill>
                    <a:srgbClr val="8B949E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Duration</a:t>
              </a:r>
              <a:endParaRPr lang="en-US" sz="600" dirty="0"/>
            </a:p>
          </p:txBody>
        </p:sp>
      </p:grpSp>
      <p:sp>
        <p:nvSpPr>
          <p:cNvPr id="42" name="Text 40"/>
          <p:cNvSpPr/>
          <p:nvPr/>
        </p:nvSpPr>
        <p:spPr>
          <a:xfrm>
            <a:off x="6527899" y="834777"/>
            <a:ext cx="2158901" cy="1519217"/>
          </a:xfrm>
          <a:prstGeom prst="roundRect">
            <a:avLst>
              <a:gd name="adj" fmla="val 2353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664375" y="933152"/>
            <a:ext cx="19236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4-Axis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6617485" y="1328997"/>
            <a:ext cx="38100" cy="38100"/>
          </a:xfrm>
          <a:prstGeom prst="roundRect">
            <a:avLst>
              <a:gd name="adj" fmla="val 2400000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6722407" y="1279663"/>
            <a:ext cx="1923669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PromptAssembler 6-Phase + SHA-256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6612795" y="1561225"/>
            <a:ext cx="45719" cy="38100"/>
          </a:xfrm>
          <a:prstGeom prst="roundRect">
            <a:avLst>
              <a:gd name="adj" fmla="val 2400000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727096" y="1521269"/>
            <a:ext cx="1714053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루프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while(tool_use) ·time-budget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6612795" y="1833304"/>
            <a:ext cx="45719" cy="38100"/>
          </a:xfrm>
          <a:prstGeom prst="roundRect">
            <a:avLst>
              <a:gd name="adj" fmla="val 2400000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6727096" y="1798037"/>
            <a:ext cx="1488439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5-Layer · Cross-LLM α≥0.67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6612796" y="2105381"/>
            <a:ext cx="38100" cy="38100"/>
          </a:xfrm>
          <a:prstGeom prst="roundRect">
            <a:avLst>
              <a:gd name="adj" fmla="val 2400000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6727096" y="2060736"/>
            <a:ext cx="1557668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46-Event Hook · LangSmith/OTEL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6527899" y="2450782"/>
            <a:ext cx="2158901" cy="1043583"/>
          </a:xfrm>
          <a:prstGeom prst="roundRect">
            <a:avLst>
              <a:gd name="adj" fmla="val 4868"/>
            </a:avLst>
          </a:prstGeom>
          <a:solidFill>
            <a:srgbClr val="161B22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6664375" y="2549157"/>
            <a:ext cx="192366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REODE</a:t>
            </a:r>
            <a:r>
              <a:rPr lang="en-US" altLang="ko-KR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r>
              <a:rPr lang="ko-KR" alt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altLang="ko-KR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Cross-domain for Migration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6664375" y="2723733"/>
            <a:ext cx="1923669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241 소스 · 103K LoC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6664375" y="2898755"/>
            <a:ext cx="1923669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세션 · 1,133 LLM 라운드 · 5h 48m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6664375" y="3052187"/>
            <a:ext cx="19236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83/83 mvn compile+ FE/BE E2E test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6654997" y="3214405"/>
            <a:ext cx="198170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40"/>
              </a:lnSpc>
              <a:spcBef>
                <a:spcPts val="200"/>
              </a:spcBef>
              <a:buNone/>
            </a:pPr>
            <a:r>
              <a:rPr lang="en-US" sz="600" dirty="0" err="1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코어</a:t>
            </a: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수정 0줄로 하네스 이식성을 실증</a:t>
            </a:r>
            <a:endParaRPr lang="en-US" sz="600" dirty="0"/>
          </a:p>
        </p:txBody>
      </p:sp>
      <p:sp>
        <p:nvSpPr>
          <p:cNvPr id="58" name="Text 56"/>
          <p:cNvSpPr/>
          <p:nvPr/>
        </p:nvSpPr>
        <p:spPr>
          <a:xfrm>
            <a:off x="457200" y="4987975"/>
            <a:ext cx="2071679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Feb 21 to Mar 28, 2026 · Anthropic / OpenAI / ZhipuAI</a:t>
            </a:r>
            <a:endParaRPr lang="en-US" sz="500" dirty="0"/>
          </a:p>
        </p:txBody>
      </p:sp>
      <p:sp>
        <p:nvSpPr>
          <p:cNvPr id="59" name="Text 57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/ 35</a:t>
            </a:r>
            <a:endParaRPr lang="en-US" sz="5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43197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 · DISCIPLINE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Engineering은 디시플린이다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657076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4축을 한 릴리스라도 건너뛰면 회귀가 쌓이기 때문에 도구가 아닌 매 PR 습관으로 실천한다. v0.6 → v0.32 26버전의 실증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57101"/>
            <a:ext cx="2133600" cy="4067473"/>
          </a:xfrm>
          <a:prstGeom prst="roundRect">
            <a:avLst>
              <a:gd name="adj" fmla="val 3571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19125" y="1485305"/>
            <a:ext cx="1809750" cy="596801"/>
          </a:xfrm>
          <a:prstGeom prst="roundRect">
            <a:avLst>
              <a:gd name="adj" fmla="val 851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56476" y="1612255"/>
            <a:ext cx="153504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350"/>
              </a:lnSpc>
              <a:buNone/>
            </a:pPr>
            <a:r>
              <a:rPr lang="en-US" sz="9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"확률적 시스템은</a:t>
            </a:r>
            <a:endParaRPr lang="en-US" sz="900" dirty="0"/>
          </a:p>
          <a:p>
            <a:pPr marL="0" indent="0" algn="ctr">
              <a:lnSpc>
                <a:spcPts val="1350"/>
              </a:lnSpc>
              <a:buNone/>
            </a:pPr>
            <a:r>
              <a:rPr lang="en-US" sz="9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제어 없이 발산한다"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01028" y="2183606"/>
            <a:ext cx="1845945" cy="2842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2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발산을 루프와 가치로</a:t>
            </a:r>
            <a:endParaRPr lang="en-US" sz="700" dirty="0"/>
          </a:p>
          <a:p>
            <a:pPr marL="0" indent="0" algn="ctr">
              <a:lnSpc>
                <a:spcPts val="112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수렴시키는 하네스를 만듭니다.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619125" y="2574131"/>
            <a:ext cx="1809750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601028" y="2680395"/>
            <a:ext cx="1845945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디시플린은 일회성 설계가 아니다. 매 PR마다, 매 릴리스마다 4축이 실천되어야 하네스가 살아남는다.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619125" y="3099048"/>
            <a:ext cx="1809750" cy="466427"/>
          </a:xfrm>
          <a:prstGeom prst="roundRect">
            <a:avLst>
              <a:gd name="adj" fmla="val 10891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30517" y="3200549"/>
            <a:ext cx="158696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v0.6 → v0.32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0517" y="3378250"/>
            <a:ext cx="158696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26버전 동안 4축이 유지됨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619125" y="3692277"/>
            <a:ext cx="1809750" cy="603945"/>
          </a:xfrm>
          <a:prstGeom prst="roundRect">
            <a:avLst>
              <a:gd name="adj" fmla="val 8411"/>
            </a:avLst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638175" y="3692277"/>
            <a:ext cx="0" cy="603945"/>
          </a:xfrm>
          <a:prstGeom prst="line">
            <a:avLst/>
          </a:prstGeom>
          <a:noFill/>
          <a:ln w="38100">
            <a:solidFill>
              <a:srgbClr val="818C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771525" y="3781127"/>
            <a:ext cx="1573911" cy="426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디시플린 비용</a:t>
            </a: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4축 실천은 PR마다 시간이 든다. 이를 포기하면 릴리스 속도는 올라가지만 회귀가 쌓인다. 40/40 무회귀가 그 비용의 수익이다.</a:t>
            </a:r>
            <a:endParaRPr lang="en-US" sz="600" dirty="0"/>
          </a:p>
        </p:txBody>
      </p:sp>
      <p:sp>
        <p:nvSpPr>
          <p:cNvPr id="18" name="Text 16"/>
          <p:cNvSpPr/>
          <p:nvPr/>
        </p:nvSpPr>
        <p:spPr>
          <a:xfrm>
            <a:off x="2692301" y="857101"/>
            <a:ext cx="5994499" cy="959644"/>
          </a:xfrm>
          <a:prstGeom prst="roundRect">
            <a:avLst>
              <a:gd name="adj" fmla="val 794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2854226" y="968127"/>
            <a:ext cx="38100" cy="737592"/>
          </a:xfrm>
          <a:prstGeom prst="roundRect">
            <a:avLst>
              <a:gd name="adj" fmla="val 66667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2993827" y="1122759"/>
            <a:ext cx="49886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제어: 장기 진화 방향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993827" y="1284684"/>
            <a:ext cx="4988606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수동 편집은 drift를 감지할 수 없었기 때문에 SHA-256 캐싱을 도입해 2회차 입력 비용을 10%로 낮췄다. 다음 단계: Semantic diff로 선택적 재생성, Provider별 캐시 효율 최적화.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986117" y="1125885"/>
            <a:ext cx="538758" cy="422077"/>
          </a:xfrm>
          <a:prstGeom prst="roundRect">
            <a:avLst>
              <a:gd name="adj" fmla="val 12036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8110219" y="1227386"/>
            <a:ext cx="29055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110219" y="1360736"/>
            <a:ext cx="29055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비용 절감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2692301" y="1892945"/>
            <a:ext cx="5994499" cy="959793"/>
          </a:xfrm>
          <a:prstGeom prst="roundRect">
            <a:avLst>
              <a:gd name="adj" fmla="val 793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2854226" y="2003971"/>
            <a:ext cx="38100" cy="737741"/>
          </a:xfrm>
          <a:prstGeom prst="roundRect">
            <a:avLst>
              <a:gd name="adj" fmla="val 66667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2993827" y="2158603"/>
            <a:ext cx="490966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루프: 장기 진화 방향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993827" y="2320528"/>
            <a:ext cx="4909667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비용 폭발·수렴 고착을 막기 위해 단일 루프에 3 Brake를 추가한다. 실측 평균 4.2 라운드 종료로 안정성을 확보. 다음 단계: 멀티 에이전트 DAG 오케스트레이션으로 확장.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7908727" y="2161729"/>
            <a:ext cx="616148" cy="422077"/>
          </a:xfrm>
          <a:prstGeom prst="roundRect">
            <a:avLst>
              <a:gd name="adj" fmla="val 12036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8032054" y="2263229"/>
            <a:ext cx="36949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50R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032054" y="2396579"/>
            <a:ext cx="36949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×200 turns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2692301" y="2928938"/>
            <a:ext cx="5994499" cy="959644"/>
          </a:xfrm>
          <a:prstGeom prst="roundRect">
            <a:avLst>
              <a:gd name="adj" fmla="val 794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2854226" y="3039963"/>
            <a:ext cx="38100" cy="737592"/>
          </a:xfrm>
          <a:prstGeom prst="roundRect">
            <a:avLst>
              <a:gd name="adj" fmla="val 66667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2993827" y="3194596"/>
            <a:ext cx="491649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검증: 장기 진화 방향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2993827" y="3356521"/>
            <a:ext cx="4916498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LLM 편향이 ±18점 분산을 내기 때문에 Cross-LLM α≥0.67로 편향을 구조적으로 제거한다. 다음 단계: CUSUM 드리프트 감지로 실시간 합의도 추적.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7915424" y="3197721"/>
            <a:ext cx="609451" cy="422077"/>
          </a:xfrm>
          <a:prstGeom prst="roundRect">
            <a:avLst>
              <a:gd name="adj" fmla="val 12036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8038819" y="3299222"/>
            <a:ext cx="36266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α≥0.67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8038819" y="3432572"/>
            <a:ext cx="36266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합의도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2692301" y="3964781"/>
            <a:ext cx="5994499" cy="959793"/>
          </a:xfrm>
          <a:prstGeom prst="roundRect">
            <a:avLst>
              <a:gd name="adj" fmla="val 793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2854226" y="4075807"/>
            <a:ext cx="38100" cy="737741"/>
          </a:xfrm>
          <a:prstGeom prst="roundRect">
            <a:avLst>
              <a:gd name="adj" fmla="val 66667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2993827" y="4230439"/>
            <a:ext cx="483847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관측: 장기 진화 방향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2993827" y="4392364"/>
            <a:ext cx="4838471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LangSmith 단독으로는 모델별 비용 분리가 안 되기 때문에 자체 TokenTracker를 구축해 46 Hook Events로 관측한다. 다음 단계: 자동 비용 예측 + ML 실행 계획 최적화.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7838926" y="4233565"/>
            <a:ext cx="685949" cy="422077"/>
          </a:xfrm>
          <a:prstGeom prst="roundRect">
            <a:avLst>
              <a:gd name="adj" fmla="val 12036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7961556" y="4335066"/>
            <a:ext cx="44068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7961556" y="4468416"/>
            <a:ext cx="44068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Events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457200" y="4987975"/>
            <a:ext cx="2415972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Harness Engineering = Context × Loop × Validation × Observation</a:t>
            </a:r>
            <a:endParaRPr lang="en-US" sz="500" dirty="0"/>
          </a:p>
        </p:txBody>
      </p:sp>
      <p:sp>
        <p:nvSpPr>
          <p:cNvPr id="47" name="Text 45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/ 35</a:t>
            </a:r>
            <a:endParaRPr lang="en-US" sz="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ango/workspace/portfolio/geode/versions/v8/slides/assets/bg-co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584150" y="157014"/>
            <a:ext cx="59006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6812905" y="171301"/>
            <a:ext cx="19113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Feb 21 to Mar 28, 2026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457200" y="1099245"/>
            <a:ext cx="6058049" cy="1031974"/>
          </a:xfrm>
          <a:prstGeom prst="roundRect">
            <a:avLst>
              <a:gd name="adj" fmla="val 7384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644426" y="1235720"/>
            <a:ext cx="579726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 Thesis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44426" y="1419820"/>
            <a:ext cx="5797269" cy="365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4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"확률적 시스템(LLM)은 제어 없이 발산합니다.</a:t>
            </a:r>
            <a:endParaRPr lang="en-US" sz="900" dirty="0"/>
          </a:p>
          <a:p>
            <a:pPr marL="0" indent="0" algn="l">
              <a:lnSpc>
                <a:spcPts val="144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발산을 루프와 가치로 수렴시키는 하네스를 만듭니다."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644426" y="1861542"/>
            <a:ext cx="5797269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6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v0.32.0: 36일, 1,174 커밋, 40 릴리스. 이 숫자들이 명제의 실증이다.</a:t>
            </a:r>
            <a:endParaRPr lang="en-US" sz="700" dirty="0"/>
          </a:p>
        </p:txBody>
      </p:sp>
      <p:sp>
        <p:nvSpPr>
          <p:cNvPr id="10" name="Text 7"/>
          <p:cNvSpPr/>
          <p:nvPr/>
        </p:nvSpPr>
        <p:spPr>
          <a:xfrm>
            <a:off x="457200" y="2232720"/>
            <a:ext cx="6058049" cy="882253"/>
          </a:xfrm>
          <a:prstGeom prst="roundRect">
            <a:avLst>
              <a:gd name="adj" fmla="val 8637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644426" y="2369195"/>
            <a:ext cx="579726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Triple Loop: 하네스의 3개 피드백 사이클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644426" y="2569220"/>
            <a:ext cx="1674465" cy="409277"/>
          </a:xfrm>
          <a:prstGeom prst="roundRect">
            <a:avLst>
              <a:gd name="adj" fmla="val 1241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744267" y="2670721"/>
            <a:ext cx="147478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Loop</a:t>
            </a:r>
            <a:endParaRPr lang="en-US" sz="700" dirty="0"/>
          </a:p>
        </p:txBody>
      </p:sp>
      <p:sp>
        <p:nvSpPr>
          <p:cNvPr id="14" name="Text 11"/>
          <p:cNvSpPr/>
          <p:nvPr/>
        </p:nvSpPr>
        <p:spPr>
          <a:xfrm>
            <a:off x="744267" y="2791271"/>
            <a:ext cx="147478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→ CANNOT → 다음 설계</a:t>
            </a:r>
            <a:endParaRPr lang="en-US" sz="600" dirty="0"/>
          </a:p>
        </p:txBody>
      </p:sp>
      <p:sp>
        <p:nvSpPr>
          <p:cNvPr id="15" name="Text 12"/>
          <p:cNvSpPr/>
          <p:nvPr/>
        </p:nvSpPr>
        <p:spPr>
          <a:xfrm>
            <a:off x="2420392" y="2702421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2648992" y="2569220"/>
            <a:ext cx="1674465" cy="409277"/>
          </a:xfrm>
          <a:prstGeom prst="roundRect">
            <a:avLst>
              <a:gd name="adj" fmla="val 1241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2748833" y="2670721"/>
            <a:ext cx="147478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 Loop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2748833" y="2791271"/>
            <a:ext cx="147478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8-Step → PR → CHANGELOG</a:t>
            </a:r>
            <a:endParaRPr lang="en-US" sz="600" dirty="0"/>
          </a:p>
        </p:txBody>
      </p:sp>
      <p:sp>
        <p:nvSpPr>
          <p:cNvPr id="19" name="Text 16"/>
          <p:cNvSpPr/>
          <p:nvPr/>
        </p:nvSpPr>
        <p:spPr>
          <a:xfrm>
            <a:off x="4424958" y="2702421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4653558" y="2569220"/>
            <a:ext cx="1674465" cy="409277"/>
          </a:xfrm>
          <a:prstGeom prst="roundRect">
            <a:avLst>
              <a:gd name="adj" fmla="val 1241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4753399" y="2670721"/>
            <a:ext cx="147478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Loop</a:t>
            </a:r>
            <a:endParaRPr lang="en-US" sz="700" dirty="0"/>
          </a:p>
        </p:txBody>
      </p:sp>
      <p:sp>
        <p:nvSpPr>
          <p:cNvPr id="22" name="Text 19"/>
          <p:cNvSpPr/>
          <p:nvPr/>
        </p:nvSpPr>
        <p:spPr>
          <a:xfrm>
            <a:off x="4753399" y="2791271"/>
            <a:ext cx="147478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while(tool_use) → Hook → LEARNINGS</a:t>
            </a:r>
            <a:endParaRPr lang="en-US" sz="600" dirty="0"/>
          </a:p>
        </p:txBody>
      </p:sp>
      <p:sp>
        <p:nvSpPr>
          <p:cNvPr id="23" name="Text 20"/>
          <p:cNvSpPr/>
          <p:nvPr/>
        </p:nvSpPr>
        <p:spPr>
          <a:xfrm>
            <a:off x="457200" y="3216473"/>
            <a:ext cx="6058049" cy="977057"/>
          </a:xfrm>
          <a:prstGeom prst="roundRect">
            <a:avLst>
              <a:gd name="adj" fmla="val 779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1"/>
          <p:cNvSpPr/>
          <p:nvPr/>
        </p:nvSpPr>
        <p:spPr>
          <a:xfrm>
            <a:off x="644426" y="3352949"/>
            <a:ext cx="57972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Value Propositions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644426" y="3594050"/>
            <a:ext cx="38100" cy="38100"/>
          </a:xfrm>
          <a:prstGeom prst="roundRect">
            <a:avLst>
              <a:gd name="adj" fmla="val 2400000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3"/>
          <p:cNvSpPr/>
          <p:nvPr/>
        </p:nvSpPr>
        <p:spPr>
          <a:xfrm>
            <a:off x="784027" y="3530650"/>
            <a:ext cx="3225265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Scaffold: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23 CANNOT + 21 Skills로 LLM 자율성과 제어의 균형을 잡는 방법론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644426" y="3790652"/>
            <a:ext cx="38100" cy="38100"/>
          </a:xfrm>
          <a:prstGeom prst="roundRect">
            <a:avLst>
              <a:gd name="adj" fmla="val 2400000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5"/>
          <p:cNvSpPr/>
          <p:nvPr/>
        </p:nvSpPr>
        <p:spPr>
          <a:xfrm>
            <a:off x="784027" y="3727252"/>
            <a:ext cx="3401488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Autonomous: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700" dirty="0" err="1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장기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700" dirty="0" err="1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실행을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time budge + </a:t>
            </a:r>
            <a:r>
              <a:rPr lang="ko-KR" alt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비용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상한 + 수렴 감지로 안정 운용하는 기술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644426" y="3987254"/>
            <a:ext cx="38100" cy="38100"/>
          </a:xfrm>
          <a:prstGeom prst="roundRect">
            <a:avLst>
              <a:gd name="adj" fmla="val 2400000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Text 27"/>
          <p:cNvSpPr/>
          <p:nvPr/>
        </p:nvSpPr>
        <p:spPr>
          <a:xfrm>
            <a:off x="784026" y="3923854"/>
            <a:ext cx="3361253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Portable: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GEODE → REODE 이식: 하네스가 도메인을 선택하지 않는 구조</a:t>
            </a:r>
            <a:endParaRPr lang="en-US" sz="700" dirty="0"/>
          </a:p>
        </p:txBody>
      </p:sp>
      <p:pic>
        <p:nvPicPr>
          <p:cNvPr id="31" name="Image 1" descr="/Users/mango/workspace/portfolio/geode/versions/v8/slides/assets/masc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4149" y="637580"/>
            <a:ext cx="1396901" cy="1396901"/>
          </a:xfrm>
          <a:prstGeom prst="rect">
            <a:avLst/>
          </a:prstGeom>
        </p:spPr>
      </p:pic>
      <p:sp>
        <p:nvSpPr>
          <p:cNvPr id="32" name="Text 28"/>
          <p:cNvSpPr/>
          <p:nvPr/>
        </p:nvSpPr>
        <p:spPr>
          <a:xfrm>
            <a:off x="6718399" y="2161431"/>
            <a:ext cx="1968401" cy="1273076"/>
          </a:xfrm>
          <a:prstGeom prst="roundRect">
            <a:avLst>
              <a:gd name="adj" fmla="val 5986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3" name="Text 29"/>
          <p:cNvSpPr/>
          <p:nvPr/>
        </p:nvSpPr>
        <p:spPr>
          <a:xfrm>
            <a:off x="6863879" y="2323356"/>
            <a:ext cx="167744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류지환</a:t>
            </a:r>
            <a:endParaRPr lang="en-US" sz="1300" dirty="0"/>
          </a:p>
        </p:txBody>
      </p:sp>
      <p:sp>
        <p:nvSpPr>
          <p:cNvPr id="34" name="Text 30"/>
          <p:cNvSpPr/>
          <p:nvPr/>
        </p:nvSpPr>
        <p:spPr>
          <a:xfrm>
            <a:off x="6863879" y="2599581"/>
            <a:ext cx="167744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Engineer</a:t>
            </a:r>
            <a:endParaRPr lang="en-US" sz="800" dirty="0"/>
          </a:p>
        </p:txBody>
      </p:sp>
      <p:sp>
        <p:nvSpPr>
          <p:cNvPr id="35" name="Shape 31"/>
          <p:cNvSpPr/>
          <p:nvPr/>
        </p:nvSpPr>
        <p:spPr>
          <a:xfrm>
            <a:off x="6880324" y="2794843"/>
            <a:ext cx="1644551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2"/>
          <p:cNvSpPr/>
          <p:nvPr/>
        </p:nvSpPr>
        <p:spPr>
          <a:xfrm>
            <a:off x="6863879" y="2875806"/>
            <a:ext cx="167744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GEODE · REODE</a:t>
            </a:r>
            <a:endParaRPr lang="en-US" sz="700" dirty="0"/>
          </a:p>
        </p:txBody>
      </p:sp>
      <p:sp>
        <p:nvSpPr>
          <p:cNvPr id="37" name="Text 33"/>
          <p:cNvSpPr/>
          <p:nvPr/>
        </p:nvSpPr>
        <p:spPr>
          <a:xfrm>
            <a:off x="6863879" y="3031331"/>
            <a:ext cx="167744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v0.32.0 · 1,174 commits</a:t>
            </a:r>
            <a:endParaRPr lang="en-US" sz="700" dirty="0"/>
          </a:p>
        </p:txBody>
      </p:sp>
      <p:sp>
        <p:nvSpPr>
          <p:cNvPr id="38" name="Text 34"/>
          <p:cNvSpPr/>
          <p:nvPr/>
        </p:nvSpPr>
        <p:spPr>
          <a:xfrm>
            <a:off x="6863879" y="3177332"/>
            <a:ext cx="167744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Feb 21 to Mar 28, 2026</a:t>
            </a:r>
            <a:endParaRPr lang="en-US" sz="700" dirty="0"/>
          </a:p>
        </p:txBody>
      </p:sp>
      <p:sp>
        <p:nvSpPr>
          <p:cNvPr id="39" name="Text 35"/>
          <p:cNvSpPr/>
          <p:nvPr/>
        </p:nvSpPr>
        <p:spPr>
          <a:xfrm>
            <a:off x="6718399" y="3561457"/>
            <a:ext cx="1968401" cy="469404"/>
          </a:xfrm>
          <a:prstGeom prst="roundRect">
            <a:avLst>
              <a:gd name="adj" fmla="val 1082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0" name="Text 36"/>
          <p:cNvSpPr/>
          <p:nvPr/>
        </p:nvSpPr>
        <p:spPr>
          <a:xfrm>
            <a:off x="6828204" y="3736180"/>
            <a:ext cx="1748790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cs typeface="Arial" pitchFamily="34" charset="-120"/>
              </a:rPr>
              <a:t>THANKS!</a:t>
            </a:r>
            <a:endParaRPr lang="en-US" sz="700" dirty="0"/>
          </a:p>
        </p:txBody>
      </p:sp>
      <p:sp>
        <p:nvSpPr>
          <p:cNvPr id="41" name="Text 37"/>
          <p:cNvSpPr/>
          <p:nvPr/>
        </p:nvSpPr>
        <p:spPr>
          <a:xfrm>
            <a:off x="6718399" y="4157811"/>
            <a:ext cx="1968401" cy="497384"/>
          </a:xfrm>
          <a:prstGeom prst="roundRect">
            <a:avLst>
              <a:gd name="adj" fmla="val 1021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2" name="Shape 38"/>
          <p:cNvSpPr/>
          <p:nvPr/>
        </p:nvSpPr>
        <p:spPr>
          <a:xfrm>
            <a:off x="6737449" y="4157811"/>
            <a:ext cx="0" cy="497384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39"/>
          <p:cNvSpPr/>
          <p:nvPr/>
        </p:nvSpPr>
        <p:spPr>
          <a:xfrm>
            <a:off x="6853782" y="4246662"/>
            <a:ext cx="1735735" cy="319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840"/>
              </a:lnSpc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</a:t>
            </a: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자율성을 높이면 안전 비용이 오른다. </a:t>
            </a:r>
          </a:p>
          <a:p>
            <a:pPr marL="0" indent="0" algn="ctr">
              <a:lnSpc>
                <a:spcPts val="840"/>
              </a:lnSpc>
              <a:buNone/>
            </a:pPr>
            <a:r>
              <a:rPr lang="ko-KR" alt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장시간 자율 운행 에이전트는 </a:t>
            </a: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 Hook + 3 Brake + 5-Tier로 그 비용을 </a:t>
            </a:r>
            <a:r>
              <a:rPr lang="en-US" sz="600" dirty="0" err="1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지불하고</a:t>
            </a: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</a:t>
            </a:r>
            <a:r>
              <a:rPr lang="ko-KR" alt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얻은 수익입니다</a:t>
            </a:r>
            <a:r>
              <a:rPr lang="en-US" altLang="ko-KR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600" dirty="0"/>
          </a:p>
        </p:txBody>
      </p:sp>
      <p:sp>
        <p:nvSpPr>
          <p:cNvPr id="44" name="Text 40"/>
          <p:cNvSpPr/>
          <p:nvPr/>
        </p:nvSpPr>
        <p:spPr>
          <a:xfrm>
            <a:off x="457200" y="4975324"/>
            <a:ext cx="2023708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 / OpenAI / ZhipuAI · 3 Providers · 187 Modules · 3,216 Tests</a:t>
            </a:r>
            <a:endParaRPr lang="en-US" sz="500" dirty="0"/>
          </a:p>
        </p:txBody>
      </p:sp>
      <p:sp>
        <p:nvSpPr>
          <p:cNvPr id="45" name="Text 41"/>
          <p:cNvSpPr/>
          <p:nvPr/>
        </p:nvSpPr>
        <p:spPr>
          <a:xfrm>
            <a:off x="8492728" y="4975324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 / 35</a:t>
            </a:r>
            <a:endParaRPr lang="en-US" sz="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2122</TotalTime>
  <Words>8409</Words>
  <Application>Microsoft Macintosh PowerPoint</Application>
  <PresentationFormat>화면 슬라이드 쇼(16:9)</PresentationFormat>
  <Paragraphs>1263</Paragraphs>
  <Slides>35</Slides>
  <Notes>35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35</vt:i4>
      </vt:variant>
    </vt:vector>
  </HeadingPairs>
  <TitlesOfParts>
    <vt:vector size="38" baseType="lpstr">
      <vt:lpstr>Arial</vt:lpstr>
      <vt:lpstr>Courier New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GEODE v0.30 — Autonomous Execution Harness</dc:title>
  <dc:subject>PptxGenJS Presentation</dc:subject>
  <dc:creator>mangowhoiscloud</dc:creator>
  <cp:lastModifiedBy>mng polar</cp:lastModifiedBy>
  <cp:revision>7</cp:revision>
  <dcterms:created xsi:type="dcterms:W3CDTF">2026-03-28T09:46:26Z</dcterms:created>
  <dcterms:modified xsi:type="dcterms:W3CDTF">2026-03-29T21:08:50Z</dcterms:modified>
</cp:coreProperties>
</file>