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1101" y="1151037"/>
            <a:ext cx="553938" cy="206276"/>
          </a:xfrm>
          <a:prstGeom prst="roundRect">
            <a:avLst>
              <a:gd name="adj" fmla="val 2462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847576" y="1211312"/>
            <a:ext cx="28660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v0.30.0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1353889" y="1151037"/>
            <a:ext cx="1272778" cy="206276"/>
          </a:xfrm>
          <a:prstGeom prst="roundRect">
            <a:avLst>
              <a:gd name="adj" fmla="val 2462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490365" y="1211312"/>
            <a:ext cx="10198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Execution Agent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2715518" y="1151037"/>
            <a:ext cx="954732" cy="206276"/>
          </a:xfrm>
          <a:prstGeom prst="roundRect">
            <a:avLst>
              <a:gd name="adj" fmla="val 24627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2851993" y="1211312"/>
            <a:ext cx="69541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35-day build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711101" y="1509713"/>
            <a:ext cx="78762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11101" y="1890713"/>
            <a:ext cx="78762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{ observe → learn → act }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711101" y="2122438"/>
            <a:ext cx="5334000" cy="622250"/>
          </a:xfrm>
          <a:prstGeom prst="roundRect">
            <a:avLst>
              <a:gd name="adj" fmla="val 8164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711101" y="2127200"/>
            <a:ext cx="533400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40338" y="2122438"/>
            <a:ext cx="0" cy="62225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11101" y="2739926"/>
            <a:ext cx="533400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34913" y="2122438"/>
            <a:ext cx="0" cy="622250"/>
          </a:xfrm>
          <a:prstGeom prst="line">
            <a:avLst/>
          </a:prstGeom>
          <a:noFill/>
          <a:ln w="47625">
            <a:solidFill>
              <a:srgbClr val="818C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1126" y="2246263"/>
            <a:ext cx="5071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발산합니다.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11126" y="2468463"/>
            <a:ext cx="5071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Bef>
                <a:spcPts val="4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11101" y="2947839"/>
            <a:ext cx="895648" cy="612725"/>
          </a:xfrm>
          <a:prstGeom prst="roundRect">
            <a:avLst>
              <a:gd name="adj" fmla="val 829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880211" y="3071664"/>
            <a:ext cx="55742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80211" y="3351014"/>
            <a:ext cx="5574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1708249" y="2947839"/>
            <a:ext cx="1133029" cy="612725"/>
          </a:xfrm>
          <a:prstGeom prst="roundRect">
            <a:avLst>
              <a:gd name="adj" fmla="val 8291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1874986" y="3071664"/>
            <a:ext cx="799555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3,219+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874986" y="3351014"/>
            <a:ext cx="7995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Passing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2942779" y="2947839"/>
            <a:ext cx="863501" cy="612725"/>
          </a:xfrm>
          <a:prstGeom prst="roundRect">
            <a:avLst>
              <a:gd name="adj" fmla="val 8291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3112210" y="3071664"/>
            <a:ext cx="5246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3112210" y="3351014"/>
            <a:ext cx="52463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3907780" y="2947839"/>
            <a:ext cx="863501" cy="612725"/>
          </a:xfrm>
          <a:prstGeom prst="roundRect">
            <a:avLst>
              <a:gd name="adj" fmla="val 8291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4077212" y="3071664"/>
            <a:ext cx="5246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4077212" y="3351014"/>
            <a:ext cx="52463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Regressions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4872782" y="2947839"/>
            <a:ext cx="970657" cy="612725"/>
          </a:xfrm>
          <a:prstGeom prst="roundRect">
            <a:avLst>
              <a:gd name="adj" fmla="val 8291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5041142" y="3071664"/>
            <a:ext cx="63393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1,118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5041142" y="3351014"/>
            <a:ext cx="6339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711101" y="3687514"/>
            <a:ext cx="787623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pPr algn="l" indent="0" marL="0">
              <a:spcBef>
                <a:spcPts val="10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days (Feb 21 — Mar 27) · </a:t>
            </a:r>
            <a:pPr algn="l" indent="0" marL="0">
              <a:spcBef>
                <a:spcPts val="10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pPr algn="l" indent="0" marL="0">
              <a:spcBef>
                <a:spcPts val="10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tools + </a:t>
            </a:r>
            <a:pPr algn="l" indent="0" marL="0">
              <a:spcBef>
                <a:spcPts val="10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pPr algn="l" indent="0" marL="0">
              <a:spcBef>
                <a:spcPts val="10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MCP · </a:t>
            </a:r>
            <a:pPr algn="l" indent="0" marL="0">
              <a:spcBef>
                <a:spcPts val="10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pPr algn="l" indent="0" marL="0">
              <a:spcBef>
                <a:spcPts val="10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Hook events · </a:t>
            </a:r>
            <a:pPr algn="l" indent="0" marL="0">
              <a:spcBef>
                <a:spcPts val="10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pPr algn="l" indent="0" marL="0">
              <a:spcBef>
                <a:spcPts val="10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CANNOT rules</a:t>
            </a:r>
            <a:endParaRPr lang="en-US" sz="600" dirty="0"/>
          </a:p>
        </p:txBody>
      </p:sp>
      <p:pic>
        <p:nvPicPr>
          <p:cNvPr id="34" name="Image 1" descr="/Users/mango/workspace/portfolio/geode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5450" y="3848249"/>
            <a:ext cx="1117550" cy="111755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11101" y="5000625"/>
            <a:ext cx="1194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Portfolio — Harness Engineering</a:t>
            </a:r>
            <a:endParaRPr lang="en-US" sz="500" dirty="0"/>
          </a:p>
        </p:txBody>
      </p:sp>
      <p:sp>
        <p:nvSpPr>
          <p:cNvPr id="36" name="Text 32"/>
          <p:cNvSpPr/>
          <p:nvPr/>
        </p:nvSpPr>
        <p:spPr>
          <a:xfrm>
            <a:off x="8238827" y="500062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24</a:t>
            </a:r>
            <a:endParaRPr lang="en-US" sz="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1789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HE-0: SCAFFOLDING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 — 4-Axis Framework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LLM을 신뢰 가능한 시스템으로 수렴시키는 4개 제어 축. 루프가 데이터를 생산하고, 관측이 포착하고, 검증이 확인하고, 컨텍스트가 다음 반복을 제어한다.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863501"/>
            <a:ext cx="1981200" cy="3712071"/>
          </a:xfrm>
          <a:prstGeom prst="roundRect">
            <a:avLst>
              <a:gd name="adj" fmla="val 384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99976"/>
            <a:ext cx="50750" cy="4063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0626" y="1088827"/>
            <a:ext cx="6375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20626" y="1231702"/>
            <a:ext cx="637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Control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93675" y="1482477"/>
            <a:ext cx="1708249" cy="891332"/>
          </a:xfrm>
          <a:prstGeom prst="roundRect">
            <a:avLst>
              <a:gd name="adj" fmla="val 569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20626" y="1583978"/>
            <a:ext cx="14834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 주입 설계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20626" y="1739503"/>
            <a:ext cx="1483435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6-Phase: template → override → skill → memory → bootstrap 순서로 동적 조립. LLM이 보는 것이 곧 결과.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3675" y="2450009"/>
            <a:ext cx="1708249" cy="712440"/>
          </a:xfrm>
          <a:prstGeom prst="roundRect">
            <a:avLst>
              <a:gd name="adj" fmla="val 7130"/>
            </a:avLst>
          </a:prstGeom>
          <a:solidFill>
            <a:srgbClr val="161B22">
              <a:alpha val="50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30151" y="2548384"/>
            <a:ext cx="14640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 prompt caching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30151" y="2691259"/>
            <a:ext cx="146400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7개 노드 동일 프롬프트 공유 → 입력 비용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절감. 200 turns sliding window.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39901" y="863501"/>
            <a:ext cx="1981349" cy="3712071"/>
          </a:xfrm>
          <a:prstGeom prst="roundRect">
            <a:avLst>
              <a:gd name="adj" fmla="val 3846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676376" y="999976"/>
            <a:ext cx="50750" cy="4063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03327" y="1088827"/>
            <a:ext cx="5358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03327" y="1231702"/>
            <a:ext cx="5358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676376" y="1482477"/>
            <a:ext cx="1708398" cy="758130"/>
          </a:xfrm>
          <a:prstGeom prst="roundRect">
            <a:avLst>
              <a:gd name="adj" fmla="val 670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803327" y="1583978"/>
            <a:ext cx="14835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오케스트레이션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803327" y="1739503"/>
            <a:ext cx="1483587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while(tool_use), 최대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라운드. 자연 종료·수렴 감지(동일 에러 4회)·강제 텍스트 등 5가지 경로로 종료.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676376" y="2316807"/>
            <a:ext cx="1708398" cy="817215"/>
          </a:xfrm>
          <a:prstGeom prst="roundRect">
            <a:avLst>
              <a:gd name="adj" fmla="val 6216"/>
            </a:avLst>
          </a:prstGeom>
          <a:solidFill>
            <a:srgbClr val="161B22">
              <a:alpha val="50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812852" y="2415183"/>
            <a:ext cx="146415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tools × 50 rounds 자율 실행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812852" y="2662833"/>
            <a:ext cx="146415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안전 등급. TIER 0-1 병렬, TIER 2 비용 일괄 승인, TIER 3-4 HITL 순차. 3-Provider Failover.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622750" y="863501"/>
            <a:ext cx="1981200" cy="3712071"/>
          </a:xfrm>
          <a:prstGeom prst="roundRect">
            <a:avLst>
              <a:gd name="adj" fmla="val 3846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759226" y="999976"/>
            <a:ext cx="50750" cy="4063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86176" y="1088827"/>
            <a:ext cx="3802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86176" y="1231702"/>
            <a:ext cx="3802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759226" y="1482477"/>
            <a:ext cx="1708249" cy="891332"/>
          </a:xfrm>
          <a:prstGeom prst="roundRect">
            <a:avLst>
              <a:gd name="adj" fmla="val 569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86176" y="1583978"/>
            <a:ext cx="14834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비결정론 → 신뢰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886176" y="1739503"/>
            <a:ext cx="1483435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3-Layer → GEODE 5-Layer로 진화: 69.4 →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99.8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정확도. 단일 LLM 평가의 Confirmation Bias 제거.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759226" y="2450009"/>
            <a:ext cx="1708249" cy="712440"/>
          </a:xfrm>
          <a:prstGeom prst="roundRect">
            <a:avLst>
              <a:gd name="adj" fmla="val 7130"/>
            </a:avLst>
          </a:prstGeom>
          <a:solidFill>
            <a:srgbClr val="161B22">
              <a:alpha val="50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95701" y="2548384"/>
            <a:ext cx="146400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5-Layer + Cross-LLM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895701" y="2691259"/>
            <a:ext cx="146400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G1-G4 Guardrails → BiasBuster(6종) → Claude×GPT 교차검증(α≥0.67) → Confidence Gate(0.7).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705451" y="863501"/>
            <a:ext cx="1981349" cy="3712071"/>
          </a:xfrm>
          <a:prstGeom prst="roundRect">
            <a:avLst>
              <a:gd name="adj" fmla="val 3846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41927" y="999976"/>
            <a:ext cx="50750" cy="4063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968877" y="1088827"/>
            <a:ext cx="4493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68877" y="1231702"/>
            <a:ext cx="4493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841927" y="1482477"/>
            <a:ext cx="1708398" cy="891332"/>
          </a:xfrm>
          <a:prstGeom prst="roundRect">
            <a:avLst>
              <a:gd name="adj" fmla="val 569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968877" y="1583978"/>
            <a:ext cx="14835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작동 증명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968877" y="1739503"/>
            <a:ext cx="1483587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40-Event Hook Observer가 파이프라인 전 생명주기를 포착. LEARNING.md에 자동 축적. 루프가 작동함을 증명해야 신뢰 가능.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41927" y="2450009"/>
            <a:ext cx="1708398" cy="712440"/>
          </a:xfrm>
          <a:prstGeom prst="roundRect">
            <a:avLst>
              <a:gd name="adj" fmla="val 7130"/>
            </a:avLst>
          </a:prstGeom>
          <a:solidFill>
            <a:srgbClr val="161B22">
              <a:alpha val="50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978402" y="2548384"/>
            <a:ext cx="14641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 / OTEL / CUSUM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978402" y="2691259"/>
            <a:ext cx="146415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TokenTracker: 18개 모델 가격 레지스트리. 컨텍스트 80% 경고, 95% 위험 시 adaptive pruning 발동.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607641" y="4638973"/>
            <a:ext cx="646361" cy="225326"/>
          </a:xfrm>
          <a:prstGeom prst="roundRect">
            <a:avLst>
              <a:gd name="adj" fmla="val 2254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744117" y="4699248"/>
            <a:ext cx="3808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330202" y="470401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126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495401" y="4638973"/>
            <a:ext cx="486370" cy="225326"/>
          </a:xfrm>
          <a:prstGeom prst="roundRect">
            <a:avLst>
              <a:gd name="adj" fmla="val 22545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631877" y="4699248"/>
            <a:ext cx="2176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057971" y="4708773"/>
            <a:ext cx="4926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data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3617119" y="470401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126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3782318" y="4638973"/>
            <a:ext cx="966341" cy="225326"/>
          </a:xfrm>
          <a:prstGeom prst="roundRect">
            <a:avLst>
              <a:gd name="adj" fmla="val 22545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918793" y="4699248"/>
            <a:ext cx="70725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4824859" y="4708773"/>
            <a:ext cx="298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5193357" y="470401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126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358557" y="4638973"/>
            <a:ext cx="912912" cy="225326"/>
          </a:xfrm>
          <a:prstGeom prst="roundRect">
            <a:avLst>
              <a:gd name="adj" fmla="val 22545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495032" y="4699248"/>
            <a:ext cx="65276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347668" y="4708773"/>
            <a:ext cx="3067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6724650" y="470401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2126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6889849" y="4638973"/>
            <a:ext cx="646361" cy="225326"/>
          </a:xfrm>
          <a:prstGeom prst="roundRect">
            <a:avLst>
              <a:gd name="adj" fmla="val 2254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026325" y="4699248"/>
            <a:ext cx="3808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57200" y="4978450"/>
            <a:ext cx="133330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축이 순환하며 LLM의 발산을 수렴으로 제어한다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24</a:t>
            </a:r>
            <a:endParaRPr lang="en-US" sz="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4187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93650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META, DEV, RUNTIME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6987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세 루프의 공유 기본 단위. RUNTIME이 DEV를 먹이고, DEV가 META를 먹인다.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8229600" cy="599777"/>
          </a:xfrm>
          <a:prstGeom prst="roundRect">
            <a:avLst>
              <a:gd name="adj" fmla="val 10587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79140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3675" y="1112490"/>
            <a:ext cx="10362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Evolution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593675" y="1210866"/>
            <a:ext cx="10362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711077" y="949077"/>
            <a:ext cx="1818084" cy="377726"/>
          </a:xfrm>
          <a:prstGeom prst="roundRect">
            <a:avLst>
              <a:gd name="adj" fmla="val 13449"/>
            </a:avLst>
          </a:prstGeom>
          <a:solidFill>
            <a:srgbClr val="818CF8">
              <a:alpha val="7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822103" y="1034802"/>
            <a:ext cx="162795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822103" y="1155353"/>
            <a:ext cx="162795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결과 · DRIFT_DETECTED · 세션 회고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579912" y="1080790"/>
            <a:ext cx="144214" cy="11430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772049" y="949077"/>
            <a:ext cx="1818233" cy="377726"/>
          </a:xfrm>
          <a:prstGeom prst="roundRect">
            <a:avLst>
              <a:gd name="adj" fmla="val 13449"/>
            </a:avLst>
          </a:prstGeom>
          <a:solidFill>
            <a:srgbClr val="818CF8">
              <a:alpha val="7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883075" y="1034802"/>
            <a:ext cx="16281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883075" y="1155353"/>
            <a:ext cx="16281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추출 · anti-pattern 식별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641032" y="1080790"/>
            <a:ext cx="144214" cy="11430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833170" y="949077"/>
            <a:ext cx="2137321" cy="377726"/>
          </a:xfrm>
          <a:prstGeom prst="roundRect">
            <a:avLst>
              <a:gd name="adj" fmla="val 13449"/>
            </a:avLst>
          </a:prstGeom>
          <a:solidFill>
            <a:srgbClr val="818CF8">
              <a:alpha val="7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44195" y="1034802"/>
            <a:ext cx="19535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Scaffold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944195" y="1155353"/>
            <a:ext cx="1953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규칙 추가 · 스킬 21개 · CI 래칫 ≥2900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8071991" y="1044327"/>
            <a:ext cx="478334" cy="187226"/>
          </a:xfrm>
          <a:prstGeom prst="roundRect">
            <a:avLst>
              <a:gd name="adj" fmla="val 20350"/>
            </a:avLst>
          </a:prstGeom>
          <a:solidFill>
            <a:srgbClr val="818CF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160841" y="1095077"/>
            <a:ext cx="306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1600200" y="1501229"/>
            <a:ext cx="25301" cy="12695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01701" y="1521768"/>
            <a:ext cx="38857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· TURN_COMPLETE → LEARNING.md 업데이트 → CLAUDE.md CANNOT 규칙 추가 · 스킬 생성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57200" y="1691580"/>
            <a:ext cx="8229600" cy="599777"/>
          </a:xfrm>
          <a:prstGeom prst="roundRect">
            <a:avLst>
              <a:gd name="adj" fmla="val 1058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93675" y="1832670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3675" y="1966020"/>
            <a:ext cx="10362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per-PR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593675" y="2064395"/>
            <a:ext cx="10362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711077" y="1802606"/>
            <a:ext cx="1372046" cy="377726"/>
          </a:xfrm>
          <a:prstGeom prst="roundRect">
            <a:avLst>
              <a:gd name="adj" fmla="val 13449"/>
            </a:avLst>
          </a:prstGeom>
          <a:solidFill>
            <a:srgbClr val="4ECDC4">
              <a:alpha val="7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822103" y="1888331"/>
            <a:ext cx="117299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22103" y="2008882"/>
            <a:ext cx="1172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5Q · GAP Audit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133874" y="1934319"/>
            <a:ext cx="144214" cy="11430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326011" y="1802606"/>
            <a:ext cx="1372195" cy="377726"/>
          </a:xfrm>
          <a:prstGeom prst="roundRect">
            <a:avLst>
              <a:gd name="adj" fmla="val 13449"/>
            </a:avLst>
          </a:prstGeom>
          <a:solidFill>
            <a:srgbClr val="4ECDC4">
              <a:alpha val="7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437037" y="1888331"/>
            <a:ext cx="117314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437037" y="2008882"/>
            <a:ext cx="117314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branch · ruff+mypy+pytest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748957" y="1934319"/>
            <a:ext cx="144214" cy="11430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941094" y="1802606"/>
            <a:ext cx="1372046" cy="377726"/>
          </a:xfrm>
          <a:prstGeom prst="roundRect">
            <a:avLst>
              <a:gd name="adj" fmla="val 13449"/>
            </a:avLst>
          </a:prstGeom>
          <a:solidFill>
            <a:srgbClr val="4ECDC4">
              <a:alpha val="7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052120" y="1888331"/>
            <a:ext cx="117299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052120" y="2008882"/>
            <a:ext cx="1172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리뷰 · CI 5/5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363891" y="1934319"/>
            <a:ext cx="144214" cy="11430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556028" y="1802606"/>
            <a:ext cx="1372046" cy="377726"/>
          </a:xfrm>
          <a:prstGeom prst="roundRect">
            <a:avLst>
              <a:gd name="adj" fmla="val 13449"/>
            </a:avLst>
          </a:prstGeom>
          <a:solidFill>
            <a:srgbClr val="4ECDC4">
              <a:alpha val="7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667054" y="1888331"/>
            <a:ext cx="117299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667054" y="2008882"/>
            <a:ext cx="1172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PR→main · progress.md 업데이트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8029575" y="1897856"/>
            <a:ext cx="520750" cy="187226"/>
          </a:xfrm>
          <a:prstGeom prst="roundRect">
            <a:avLst>
              <a:gd name="adj" fmla="val 20350"/>
            </a:avLst>
          </a:prstGeom>
          <a:solidFill>
            <a:srgbClr val="4ECDC4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118425" y="1948607"/>
            <a:ext cx="3499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1600200" y="2354759"/>
            <a:ext cx="25301" cy="12695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701701" y="2375297"/>
            <a:ext cx="40800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SESSION_START → GEODE.md + MEMORY.md + LEARNING.md 로드 · VERIFICATION_FAIL → 새 DEV PR 트리거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2545110"/>
            <a:ext cx="8229600" cy="599777"/>
          </a:xfrm>
          <a:prstGeom prst="roundRect">
            <a:avLst>
              <a:gd name="adj" fmla="val 10587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93675" y="2686199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93675" y="2819549"/>
            <a:ext cx="10362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while(tool_use)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593675" y="2917924"/>
            <a:ext cx="10362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seconds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1711077" y="2656136"/>
            <a:ext cx="1359545" cy="377726"/>
          </a:xfrm>
          <a:prstGeom prst="roundRect">
            <a:avLst>
              <a:gd name="adj" fmla="val 13449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822103" y="2741861"/>
            <a:ext cx="116024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822103" y="2862411"/>
            <a:ext cx="11602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입력 · SESSION_START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3121372" y="2787848"/>
            <a:ext cx="144214" cy="11430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3313509" y="2656136"/>
            <a:ext cx="1473250" cy="377726"/>
          </a:xfrm>
          <a:prstGeom prst="roundRect">
            <a:avLst>
              <a:gd name="adj" fmla="val 13449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3424535" y="2741861"/>
            <a:ext cx="12762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Select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424535" y="2862411"/>
            <a:ext cx="12762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native + 41 MCP · 4-경로 디스패치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837509" y="2787848"/>
            <a:ext cx="144214" cy="11430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029646" y="2656136"/>
            <a:ext cx="1359545" cy="377726"/>
          </a:xfrm>
          <a:prstGeom prst="roundRect">
            <a:avLst>
              <a:gd name="adj" fmla="val 13449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140672" y="2741861"/>
            <a:ext cx="116024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5140672" y="2862411"/>
            <a:ext cx="11602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6-layer · conf ≥0.7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6439942" y="2787848"/>
            <a:ext cx="144214" cy="11430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632079" y="2656136"/>
            <a:ext cx="1359545" cy="377726"/>
          </a:xfrm>
          <a:prstGeom prst="roundRect">
            <a:avLst>
              <a:gd name="adj" fmla="val 13449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6743105" y="2741861"/>
            <a:ext cx="116024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6743105" y="2862411"/>
            <a:ext cx="11602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Hook 이벤트 · 메모리 저장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8093125" y="2751386"/>
            <a:ext cx="457200" cy="187226"/>
          </a:xfrm>
          <a:prstGeom prst="roundRect">
            <a:avLst>
              <a:gd name="adj" fmla="val 20350"/>
            </a:avLst>
          </a:prstGeom>
          <a:solidFill>
            <a:srgbClr val="34D399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181975" y="2802136"/>
            <a:ext cx="2850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spawns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457200" y="4978450"/>
            <a:ext cx="163706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워크플로우가 시스템을 만든다. 시스템이 워크플로우를 증명한다.</a:t>
            </a:r>
            <a:endParaRPr lang="en-US" sz="500" dirty="0"/>
          </a:p>
        </p:txBody>
      </p:sp>
      <p:sp>
        <p:nvSpPr>
          <p:cNvPr id="70" name="Text 68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24</a:t>
            </a:r>
            <a:endParaRPr lang="en-US" sz="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01"/>
            <a:ext cx="50750" cy="2286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6689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ISOMORPHISM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682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Builds Harness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426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SCAFFOLD(빌더)와 GEODE(결과물)는 동일한 아키텍처를 공유한다. 각 컴포넌트는 1:1 구조적 거울을 갖는다.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812602"/>
            <a:ext cx="3683050" cy="4064347"/>
          </a:xfrm>
          <a:prstGeom prst="roundRect">
            <a:avLst>
              <a:gd name="adj" fmla="val 172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49077"/>
            <a:ext cx="866477" cy="209550"/>
          </a:xfrm>
          <a:prstGeom prst="roundRect">
            <a:avLst>
              <a:gd name="adj" fmla="val 18182"/>
            </a:avLst>
          </a:prstGeom>
          <a:solidFill>
            <a:srgbClr val="818CF8">
              <a:alpha val="12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0151" y="996702"/>
            <a:ext cx="6053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36353" y="1010989"/>
            <a:ext cx="10787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GEODE를 빌드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93675" y="1260128"/>
            <a:ext cx="3410099" cy="387251"/>
          </a:xfrm>
          <a:prstGeom prst="roundRect">
            <a:avLst>
              <a:gd name="adj" fmla="val 98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03200" y="1260128"/>
            <a:ext cx="0" cy="387251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4226" y="1336328"/>
            <a:ext cx="32518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— 425줄, 17 CANNOT 규칙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14226" y="1485454"/>
            <a:ext cx="32518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도메인: Git · Planning · Quality · Docs · PR · 개발자 에이전트 SOT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93675" y="1710779"/>
            <a:ext cx="3410099" cy="377726"/>
          </a:xfrm>
          <a:prstGeom prst="roundRect">
            <a:avLst>
              <a:gd name="adj" fmla="val 1008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03200" y="1710779"/>
            <a:ext cx="0" cy="377726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4226" y="1786979"/>
            <a:ext cx="325180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Scaffold Skills (.claude/skills/)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14226" y="1926580"/>
            <a:ext cx="32518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geode-gitflow · kent-beck-review · karpathy-patterns · verification-team + 17개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593675" y="2151906"/>
            <a:ext cx="3410099" cy="377726"/>
          </a:xfrm>
          <a:prstGeom prst="roundRect">
            <a:avLst>
              <a:gd name="adj" fmla="val 1008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03200" y="2151906"/>
            <a:ext cx="0" cy="377726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4226" y="2228106"/>
            <a:ext cx="325180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5-Job Ratchet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4226" y="2367707"/>
            <a:ext cx="32518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Lint(ruff) · Type(mypy) · Test(pytest ≥2900) · Security(bandit) · Gate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93675" y="2593032"/>
            <a:ext cx="3410099" cy="377726"/>
          </a:xfrm>
          <a:prstGeom prst="roundRect">
            <a:avLst>
              <a:gd name="adj" fmla="val 1008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03200" y="2593032"/>
            <a:ext cx="0" cy="377726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4226" y="2669232"/>
            <a:ext cx="325180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CANNOT/CAN (17 hard rules + 5 freedoms)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14226" y="2808833"/>
            <a:ext cx="32518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자연어 제약 — LLM이 읽고 내면화. CI에서 강제 가능한 hard rule만 포함.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93675" y="3034159"/>
            <a:ext cx="3410099" cy="377726"/>
          </a:xfrm>
          <a:prstGeom prst="roundRect">
            <a:avLst>
              <a:gd name="adj" fmla="val 1008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03200" y="3034159"/>
            <a:ext cx="0" cy="377726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4226" y="3110359"/>
            <a:ext cx="325180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14226" y="3249960"/>
            <a:ext cx="32518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Kent Beck · Karpathy · Steinberger · Cherny — 다중 관점 PR 리뷰 시뮬레이션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74696" y="2070348"/>
            <a:ext cx="1943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471051" y="2156073"/>
            <a:ext cx="201748" cy="1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476518" y="2333923"/>
            <a:ext cx="1906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</a:t>
            </a:r>
            <a:endParaRPr lang="en-US" sz="500" dirty="0"/>
          </a:p>
        </p:txBody>
      </p:sp>
      <p:sp>
        <p:nvSpPr>
          <p:cNvPr id="33" name="Text 31"/>
          <p:cNvSpPr/>
          <p:nvPr/>
        </p:nvSpPr>
        <p:spPr>
          <a:xfrm>
            <a:off x="4559201" y="2463998"/>
            <a:ext cx="25301" cy="2286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257526" y="2755999"/>
            <a:ext cx="628799" cy="374452"/>
          </a:xfrm>
          <a:prstGeom prst="roundRect">
            <a:avLst>
              <a:gd name="adj" fmla="val 13566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38678" y="2828925"/>
            <a:ext cx="4664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00" b="1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338678" y="2943225"/>
            <a:ext cx="4664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00" b="1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(tool_use)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559201" y="3193852"/>
            <a:ext cx="25301" cy="2286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467560" y="3485852"/>
            <a:ext cx="208731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endParaRPr lang="en-US" sz="500" dirty="0"/>
          </a:p>
        </p:txBody>
      </p:sp>
      <p:sp>
        <p:nvSpPr>
          <p:cNvPr id="39" name="Text 37"/>
          <p:cNvSpPr/>
          <p:nvPr/>
        </p:nvSpPr>
        <p:spPr>
          <a:xfrm>
            <a:off x="4447827" y="3552527"/>
            <a:ext cx="248049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Primitive</a:t>
            </a:r>
            <a:endParaRPr lang="en-US" sz="500" dirty="0"/>
          </a:p>
        </p:txBody>
      </p:sp>
      <p:sp>
        <p:nvSpPr>
          <p:cNvPr id="40" name="Text 38"/>
          <p:cNvSpPr/>
          <p:nvPr/>
        </p:nvSpPr>
        <p:spPr>
          <a:xfrm>
            <a:off x="5003602" y="812602"/>
            <a:ext cx="3683198" cy="4064347"/>
          </a:xfrm>
          <a:prstGeom prst="roundRect">
            <a:avLst>
              <a:gd name="adj" fmla="val 172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140077" y="949077"/>
            <a:ext cx="665113" cy="209550"/>
          </a:xfrm>
          <a:prstGeom prst="roundRect">
            <a:avLst>
              <a:gd name="adj" fmla="val 18182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276552" y="996702"/>
            <a:ext cx="4000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881390" y="1010989"/>
            <a:ext cx="9332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 runtime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5140077" y="1260128"/>
            <a:ext cx="3410248" cy="387251"/>
          </a:xfrm>
          <a:prstGeom prst="roundRect">
            <a:avLst>
              <a:gd name="adj" fmla="val 98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5149602" y="1260128"/>
            <a:ext cx="0" cy="387251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60628" y="1336328"/>
            <a:ext cx="32519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GEODE.md — 71줄, 4 CANNOT 규칙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260628" y="1485454"/>
            <a:ext cx="32519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SESSION_START 시 core/memory/organization.py를 통해 로드 · 런타임 에이전트 정체성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140077" y="1710779"/>
            <a:ext cx="3410248" cy="377726"/>
          </a:xfrm>
          <a:prstGeom prst="roundRect">
            <a:avLst>
              <a:gd name="adj" fmla="val 1008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149602" y="1710779"/>
            <a:ext cx="0" cy="377726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60628" y="1786979"/>
            <a:ext cx="3251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Skills (.geode/skills/)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260628" y="1926580"/>
            <a:ext cx="32519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분석가 템플릿: discovery · game-mechanics · growth-potential · player-experience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5140077" y="2151906"/>
            <a:ext cx="3410248" cy="377726"/>
          </a:xfrm>
          <a:prstGeom prst="roundRect">
            <a:avLst>
              <a:gd name="adj" fmla="val 1008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5149602" y="2151906"/>
            <a:ext cx="0" cy="377726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60628" y="2228106"/>
            <a:ext cx="3251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Verification (core/verification/)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260628" y="2367707"/>
            <a:ext cx="32519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G1-G4 Guardrails · BiasBuster · Cross-LLM(α≥0.67) · Confidence Gate 0.7 · Rights Risk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5140077" y="2593032"/>
            <a:ext cx="3410248" cy="377726"/>
          </a:xfrm>
          <a:prstGeom prst="roundRect">
            <a:avLst>
              <a:gd name="adj" fmla="val 1008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5149602" y="2593032"/>
            <a:ext cx="0" cy="377726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60628" y="2669232"/>
            <a:ext cx="3251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6-Layer (core/tools/policy.py)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260628" y="2808833"/>
            <a:ext cx="32519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· Org · Mode · Agent(STANDARD/WRITE/DANGEROUS) · Node-scope · Sub-agent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5140077" y="3034159"/>
            <a:ext cx="3410248" cy="387251"/>
          </a:xfrm>
          <a:prstGeom prst="roundRect">
            <a:avLst>
              <a:gd name="adj" fmla="val 98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5149602" y="3034159"/>
            <a:ext cx="0" cy="387251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60628" y="3110359"/>
            <a:ext cx="32519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— 6 유형 편향 제거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260628" y="3259485"/>
            <a:ext cx="32519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· recency · anchoring · position · verbosity · self-enhancement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57200" y="4978450"/>
            <a:ext cx="133922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하네스를 빌드하는 하네스는 자신의 구조를 공유한다.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24</a:t>
            </a:r>
            <a:endParaRPr lang="en-US" sz="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1789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HE-0: SCAFFOLDING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93650"/>
            <a:ext cx="267145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/ CAN Framework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69875"/>
            <a:ext cx="267145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품질을 담보한다. 486 PRs, 0 hotfix bypasses, 0 regressions.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7277695" y="533549"/>
            <a:ext cx="1409105" cy="241102"/>
          </a:xfrm>
          <a:prstGeom prst="roundRect">
            <a:avLst>
              <a:gd name="adj" fmla="val 21070"/>
            </a:avLst>
          </a:prstGeom>
          <a:solidFill>
            <a:srgbClr val="EF4444">
              <a:alpha val="7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14171" y="606475"/>
            <a:ext cx="11588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strictness → 0 regressions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57200" y="838051"/>
            <a:ext cx="5259288" cy="234851"/>
          </a:xfrm>
          <a:prstGeom prst="roundRect">
            <a:avLst>
              <a:gd name="adj" fmla="val 21631"/>
            </a:avLst>
          </a:prstGeom>
          <a:solidFill>
            <a:srgbClr val="EF4444">
              <a:alpha val="7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898327"/>
            <a:ext cx="508606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— 17 Hard Rules (CLAUDE.md)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123652"/>
            <a:ext cx="2604195" cy="920800"/>
          </a:xfrm>
          <a:prstGeom prst="roundRect">
            <a:avLst>
              <a:gd name="adj" fmla="val 551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66725" y="1123652"/>
            <a:ext cx="0" cy="920800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200" y="1212503"/>
            <a:ext cx="23778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/ 격리 </a:t>
            </a:r>
            <a:pPr algn="l"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55600" y="1387078"/>
            <a:ext cx="2178844" cy="56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없이 코드 작업 금지</a:t>
            </a:r>
            <a:endParaRPr lang="en-US" sz="700" dirty="0"/>
          </a:p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main/develop 직접 push 금지</a:t>
            </a:r>
            <a:endParaRPr lang="en-US" sz="700" dirty="0"/>
          </a:p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 세션 worktree 삭제 금지</a:t>
            </a:r>
            <a:endParaRPr lang="en-US" sz="700" dirty="0"/>
          </a:p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원격 미동기화 상태 브랜치 생성 금지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57200" y="2095202"/>
            <a:ext cx="2604195" cy="2819846"/>
          </a:xfrm>
          <a:prstGeom prst="roundRect">
            <a:avLst>
              <a:gd name="adj" fmla="val 195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6725" y="2095202"/>
            <a:ext cx="0" cy="2819846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200" y="2184053"/>
            <a:ext cx="2377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</a:t>
            </a:r>
            <a:pPr algn="l"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55600" y="2349103"/>
            <a:ext cx="2178844" cy="426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lint/type/test 실패 상태 커밋 금지</a:t>
            </a:r>
            <a:endParaRPr lang="en-US" sz="700" dirty="0"/>
          </a:p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수치에 자리표시자(XXXX) 금지</a:t>
            </a:r>
            <a:endParaRPr lang="en-US" sz="700" dirty="0"/>
          </a:p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테스트(-m live) 무단 실행 금지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112145" y="1123652"/>
            <a:ext cx="2604343" cy="911275"/>
          </a:xfrm>
          <a:prstGeom prst="roundRect">
            <a:avLst>
              <a:gd name="adj" fmla="val 557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121670" y="1123652"/>
            <a:ext cx="0" cy="911275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58145" y="1212503"/>
            <a:ext cx="23780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 / PR </a:t>
            </a:r>
            <a:pPr algn="l"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10545" y="1377553"/>
            <a:ext cx="2178993" cy="56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커밋에서 CHANGELOG 누락 금지</a:t>
            </a:r>
            <a:endParaRPr lang="en-US" sz="700" dirty="0"/>
          </a:p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4곳 불일치 금지</a:t>
            </a:r>
            <a:endParaRPr lang="en-US" sz="700" dirty="0"/>
          </a:p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가드레일 미통과 PR 머지 금지</a:t>
            </a:r>
            <a:endParaRPr lang="en-US" sz="700" dirty="0"/>
          </a:p>
          <a:p>
            <a:pPr algn="l" marL="342900" indent="-342900">
              <a:lnSpc>
                <a:spcPts val="112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근거 없이 PR 금지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112145" y="2085677"/>
            <a:ext cx="2604343" cy="2829371"/>
          </a:xfrm>
          <a:prstGeom prst="roundRect">
            <a:avLst>
              <a:gd name="adj" fmla="val 195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121670" y="2085677"/>
            <a:ext cx="0" cy="2829371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58145" y="2174528"/>
            <a:ext cx="23780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58145" y="2349103"/>
            <a:ext cx="2378020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CANNOT에 없는 것은 자유롭게 할 수 있다. 17개 경계가 에이전트의 과잉 구현 충동을 구조적으로 제거한다.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817989" y="838051"/>
            <a:ext cx="2868811" cy="234851"/>
          </a:xfrm>
          <a:prstGeom prst="roundRect">
            <a:avLst>
              <a:gd name="adj" fmla="val 21631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954464" y="898327"/>
            <a:ext cx="264777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— 5 Unconstrained Freedoms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817989" y="1123652"/>
            <a:ext cx="2868811" cy="932259"/>
          </a:xfrm>
          <a:prstGeom prst="roundRect">
            <a:avLst>
              <a:gd name="adj" fmla="val 5449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827514" y="1123652"/>
            <a:ext cx="0" cy="932259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16389" y="1212503"/>
            <a:ext cx="2443460" cy="75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19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버그/문서 수정 — Plan 없이 바로 구현</a:t>
            </a:r>
            <a:endParaRPr lang="en-US" sz="700" dirty="0"/>
          </a:p>
          <a:p>
            <a:pPr algn="l" marL="342900" indent="-342900">
              <a:lnSpc>
                <a:spcPts val="119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플랜 외 개선 발견 — 현재 완료 후 다음 이터</a:t>
            </a:r>
            <a:endParaRPr lang="en-US" sz="700" dirty="0"/>
          </a:p>
          <a:p>
            <a:pPr algn="l" marL="342900" indent="-342900">
              <a:lnSpc>
                <a:spcPts val="119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선별 실행 — 최종만 전체</a:t>
            </a:r>
            <a:endParaRPr lang="en-US" sz="700" dirty="0"/>
          </a:p>
          <a:p>
            <a:pPr algn="l" marL="342900" indent="-342900">
              <a:lnSpc>
                <a:spcPts val="119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메시지 언어 — 한글/영어 자유</a:t>
            </a:r>
            <a:endParaRPr lang="en-US" sz="700" dirty="0"/>
          </a:p>
          <a:p>
            <a:pPr algn="l" marL="342900" indent="-342900">
              <a:lnSpc>
                <a:spcPts val="119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선택 — 더 빠른 도구 선택 가능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817989" y="2106662"/>
            <a:ext cx="2868811" cy="2808387"/>
          </a:xfrm>
          <a:prstGeom prst="roundRect">
            <a:avLst>
              <a:gd name="adj" fmla="val 1809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54464" y="3121968"/>
            <a:ext cx="264777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Result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50848" y="3337768"/>
            <a:ext cx="432188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150848" y="3617119"/>
            <a:ext cx="43218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 merged</a:t>
            </a:r>
            <a:endParaRPr lang="en-US" sz="500" dirty="0"/>
          </a:p>
        </p:txBody>
      </p:sp>
      <p:sp>
        <p:nvSpPr>
          <p:cNvPr id="35" name="Text 33"/>
          <p:cNvSpPr/>
          <p:nvPr/>
        </p:nvSpPr>
        <p:spPr>
          <a:xfrm>
            <a:off x="7077167" y="3337768"/>
            <a:ext cx="446002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7077167" y="3617119"/>
            <a:ext cx="44600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hotfix bypasses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8018407" y="3337768"/>
            <a:ext cx="334578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8018407" y="3617119"/>
            <a:ext cx="33457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regressions</a:t>
            </a:r>
            <a:endParaRPr lang="en-US" sz="500" dirty="0"/>
          </a:p>
        </p:txBody>
      </p:sp>
      <p:sp>
        <p:nvSpPr>
          <p:cNvPr id="39" name="Text 37"/>
          <p:cNvSpPr/>
          <p:nvPr/>
        </p:nvSpPr>
        <p:spPr>
          <a:xfrm>
            <a:off x="5928506" y="3785295"/>
            <a:ext cx="264777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PR은 5-job CI를 통과해야만 merge 가능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4978450"/>
            <a:ext cx="143576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17개 제약 + 5개 자유 — 엄격함이 속도를 가능하게 한다</a:t>
            </a:r>
            <a:endParaRPr lang="en-US" sz="500" dirty="0"/>
          </a:p>
        </p:txBody>
      </p:sp>
      <p:sp>
        <p:nvSpPr>
          <p:cNvPr id="41" name="Text 39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24</a:t>
            </a:r>
            <a:endParaRPr lang="en-US" sz="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1789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HE-0: SCAFFOLDING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Engineering Loop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486 PRs, 0 regressions — GAP Audit + Socratic Gate가 과잉 구현을 소스에서 차단한다.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863501"/>
            <a:ext cx="870347" cy="409575"/>
          </a:xfrm>
          <a:prstGeom prst="roundRect">
            <a:avLst>
              <a:gd name="adj" fmla="val 1240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873026"/>
            <a:ext cx="870347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0262" y="958751"/>
            <a:ext cx="7842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0262" y="1101626"/>
            <a:ext cx="7842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378297" y="1020663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08522" y="863501"/>
            <a:ext cx="870347" cy="409575"/>
          </a:xfrm>
          <a:prstGeom prst="roundRect">
            <a:avLst>
              <a:gd name="adj" fmla="val 1240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1508522" y="873026"/>
            <a:ext cx="870347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1584" y="958751"/>
            <a:ext cx="7842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51584" y="1101626"/>
            <a:ext cx="7842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429619" y="1020663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59844" y="863501"/>
            <a:ext cx="870347" cy="409575"/>
          </a:xfrm>
          <a:prstGeom prst="roundRect">
            <a:avLst>
              <a:gd name="adj" fmla="val 1240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2559844" y="873026"/>
            <a:ext cx="870347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2906" y="958751"/>
            <a:ext cx="7842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02906" y="1101626"/>
            <a:ext cx="7842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480941" y="1020663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611166" y="863501"/>
            <a:ext cx="870347" cy="409575"/>
          </a:xfrm>
          <a:prstGeom prst="roundRect">
            <a:avLst>
              <a:gd name="adj" fmla="val 1240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3611166" y="873026"/>
            <a:ext cx="870347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4228" y="958751"/>
            <a:ext cx="7842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4228" y="1101626"/>
            <a:ext cx="7842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32263" y="1020663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662488" y="863501"/>
            <a:ext cx="870347" cy="409575"/>
          </a:xfrm>
          <a:prstGeom prst="roundRect">
            <a:avLst>
              <a:gd name="adj" fmla="val 1240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662488" y="873026"/>
            <a:ext cx="870347" cy="0"/>
          </a:xfrm>
          <a:prstGeom prst="line">
            <a:avLst/>
          </a:prstGeom>
          <a:noFill/>
          <a:ln w="19050">
            <a:solidFill>
              <a:srgbClr val="C08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5549" y="958751"/>
            <a:ext cx="7842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05549" y="1101626"/>
            <a:ext cx="7842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Verify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583585" y="1020663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713809" y="863501"/>
            <a:ext cx="870347" cy="409575"/>
          </a:xfrm>
          <a:prstGeom prst="roundRect">
            <a:avLst>
              <a:gd name="adj" fmla="val 1240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5713809" y="873026"/>
            <a:ext cx="870347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56871" y="958751"/>
            <a:ext cx="7842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756871" y="1101626"/>
            <a:ext cx="7842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Docs-Sync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634907" y="1020663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765131" y="863501"/>
            <a:ext cx="870347" cy="409575"/>
          </a:xfrm>
          <a:prstGeom prst="roundRect">
            <a:avLst>
              <a:gd name="adj" fmla="val 1240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765131" y="873026"/>
            <a:ext cx="870347" cy="0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08193" y="958751"/>
            <a:ext cx="7842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08193" y="1101626"/>
            <a:ext cx="7842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CI Gate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7686229" y="1020663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7816453" y="863501"/>
            <a:ext cx="870347" cy="409575"/>
          </a:xfrm>
          <a:prstGeom prst="roundRect">
            <a:avLst>
              <a:gd name="adj" fmla="val 1240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7816453" y="873026"/>
            <a:ext cx="870347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859515" y="958751"/>
            <a:ext cx="7842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859515" y="1101626"/>
            <a:ext cx="7842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57200" y="1349276"/>
            <a:ext cx="4659511" cy="3587948"/>
          </a:xfrm>
          <a:prstGeom prst="roundRect">
            <a:avLst>
              <a:gd name="adj" fmla="val 141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19125" y="1485751"/>
            <a:ext cx="44223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5-Question Gate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19125" y="1663452"/>
            <a:ext cx="296317" cy="145852"/>
          </a:xfrm>
          <a:prstGeom prst="roundRect">
            <a:avLst>
              <a:gd name="adj" fmla="val 34830"/>
            </a:avLst>
          </a:prstGeom>
          <a:solidFill>
            <a:srgbClr val="F59E0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07975" y="1688753"/>
            <a:ext cx="1209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016943" y="1663452"/>
            <a:ext cx="20326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코드에 이미 있는가? grep/Explore 실측 — 있으면 제거.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19125" y="1872704"/>
            <a:ext cx="296317" cy="145852"/>
          </a:xfrm>
          <a:prstGeom prst="roundRect">
            <a:avLst>
              <a:gd name="adj" fmla="val 34830"/>
            </a:avLst>
          </a:prstGeom>
          <a:solidFill>
            <a:srgbClr val="F59E0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707975" y="1898005"/>
            <a:ext cx="1209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016943" y="1872704"/>
            <a:ext cx="248200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이걸 안 하면 무엇이 깨지는가? 실제 장애 시나리오 — 답 없으면 제거.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19125" y="2081957"/>
            <a:ext cx="296317" cy="145852"/>
          </a:xfrm>
          <a:prstGeom prst="roundRect">
            <a:avLst>
              <a:gd name="adj" fmla="val 34830"/>
            </a:avLst>
          </a:prstGeom>
          <a:solidFill>
            <a:srgbClr val="F59E0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07975" y="2107257"/>
            <a:ext cx="1209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016943" y="2081957"/>
            <a:ext cx="163812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효과를 어떻게 측정하는가? 측정 불가 시 보류.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19125" y="2291209"/>
            <a:ext cx="296317" cy="145852"/>
          </a:xfrm>
          <a:prstGeom prst="roundRect">
            <a:avLst>
              <a:gd name="adj" fmla="val 34830"/>
            </a:avLst>
          </a:prstGeom>
          <a:solidFill>
            <a:srgbClr val="F59E0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07975" y="2316510"/>
            <a:ext cx="1209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016943" y="2291209"/>
            <a:ext cx="1377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단순한 구현은? 최소 변경만 채택.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19125" y="2500461"/>
            <a:ext cx="296317" cy="145852"/>
          </a:xfrm>
          <a:prstGeom prst="roundRect">
            <a:avLst>
              <a:gd name="adj" fmla="val 34830"/>
            </a:avLst>
          </a:prstGeom>
          <a:solidFill>
            <a:srgbClr val="F59E0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07975" y="2525762"/>
            <a:ext cx="1209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016943" y="2500461"/>
            <a:ext cx="20525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프론티어 3종 이상에서 동일 패턴인가? 1종만이면 재검증.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5218212" y="1349276"/>
            <a:ext cx="3468588" cy="2794546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5380137" y="1485751"/>
            <a:ext cx="32076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5-Job Ratchet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5380137" y="1676251"/>
            <a:ext cx="3144738" cy="6887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5380137" y="1679377"/>
            <a:ext cx="88850" cy="88850"/>
          </a:xfrm>
          <a:prstGeom prst="roundRect">
            <a:avLst>
              <a:gd name="adj" fmla="val 28588"/>
            </a:avLst>
          </a:prstGeom>
          <a:solidFill>
            <a:srgbClr val="34D399">
              <a:alpha val="25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570488" y="1676251"/>
            <a:ext cx="132586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ruff check + import ratchet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380137" y="1825377"/>
            <a:ext cx="88850" cy="88850"/>
          </a:xfrm>
          <a:prstGeom prst="roundRect">
            <a:avLst>
              <a:gd name="adj" fmla="val 28588"/>
            </a:avLst>
          </a:prstGeom>
          <a:solidFill>
            <a:srgbClr val="34D399">
              <a:alpha val="25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70488" y="1822252"/>
            <a:ext cx="15291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typecheck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mypy + prompt integrity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380137" y="1976140"/>
            <a:ext cx="88850" cy="88850"/>
          </a:xfrm>
          <a:prstGeom prst="roundRect">
            <a:avLst>
              <a:gd name="adj" fmla="val 28588"/>
            </a:avLst>
          </a:prstGeom>
          <a:solidFill>
            <a:srgbClr val="34D399">
              <a:alpha val="25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5570488" y="1968252"/>
            <a:ext cx="172161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pytest count &gt;= </a:t>
            </a:r>
            <a:pPr algn="l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(현재 3,249+)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380137" y="2126903"/>
            <a:ext cx="88850" cy="88850"/>
          </a:xfrm>
          <a:prstGeom prst="roundRect">
            <a:avLst>
              <a:gd name="adj" fmla="val 28588"/>
            </a:avLst>
          </a:prstGeom>
          <a:solidFill>
            <a:srgbClr val="34D399">
              <a:alpha val="25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5570488" y="2123777"/>
            <a:ext cx="10480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bandit -r core/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380137" y="2272903"/>
            <a:ext cx="88850" cy="88850"/>
          </a:xfrm>
          <a:prstGeom prst="roundRect">
            <a:avLst>
              <a:gd name="adj" fmla="val 28588"/>
            </a:avLst>
          </a:prstGeom>
          <a:solidFill>
            <a:srgbClr val="818CF8">
              <a:alpha val="25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5570488" y="2269778"/>
            <a:ext cx="11688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4/4 all pass to merge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218212" y="4245322"/>
            <a:ext cx="3468588" cy="691902"/>
          </a:xfrm>
          <a:prstGeom prst="roundRect">
            <a:avLst>
              <a:gd name="adj" fmla="val 734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5380137" y="4381798"/>
            <a:ext cx="32076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Recursive Recovery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380137" y="4559498"/>
            <a:ext cx="32076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E2E fail → Step 3 (Implement)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380137" y="4705499"/>
            <a:ext cx="32076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6 CI fail → Step 3 (Implement)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457200" y="5000625"/>
            <a:ext cx="309165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 blocks duplicate work — Socratic Gate blocks unnecessary work — CI Ratchet blocks regression</a:t>
            </a:r>
            <a:endParaRPr lang="en-US" sz="500" dirty="0"/>
          </a:p>
        </p:txBody>
      </p:sp>
      <p:sp>
        <p:nvSpPr>
          <p:cNvPr id="80" name="Text 78"/>
          <p:cNvSpPr/>
          <p:nvPr/>
        </p:nvSpPr>
        <p:spPr>
          <a:xfrm>
            <a:off x="8492728" y="500062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24</a:t>
            </a:r>
            <a:endParaRPr lang="en-US" sz="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1789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HE-0: SCAFFOLDING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 Review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3종 이상 프론티어에서 수렴한 패턴만 채택하고, 4인 페르소나가 단일 리뷰어가 놓치는 것을 병렬로 감사한다.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863501"/>
            <a:ext cx="2000250" cy="951756"/>
          </a:xfrm>
          <a:prstGeom prst="roundRect">
            <a:avLst>
              <a:gd name="adj" fmla="val 533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7452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3675" y="1145977"/>
            <a:ext cx="176184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Autonomous Loop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3675" y="1304627"/>
            <a:ext cx="17618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P1→CANNOT 규칙. P4→CI ratchet. P6→컨텍스트 압축. P10→최소 구현.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533650" y="863501"/>
            <a:ext cx="2000250" cy="951756"/>
          </a:xfrm>
          <a:prstGeom prst="roundRect">
            <a:avLst>
              <a:gd name="adj" fmla="val 533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670125" y="97452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70125" y="1145977"/>
            <a:ext cx="176184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 / PSPDFKit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670125" y="1304627"/>
            <a:ext cx="17618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Session Key. Lane Queue 동시성. Atomic write for .env 보안.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610100" y="863501"/>
            <a:ext cx="2000250" cy="951756"/>
          </a:xfrm>
          <a:prstGeom prst="roundRect">
            <a:avLst>
              <a:gd name="adj" fmla="val 533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46575" y="97452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46575" y="1145977"/>
            <a:ext cx="176184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 / Anthropic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746575" y="1304627"/>
            <a:ext cx="1761845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AgenticLoop. HITL 3-tier SAFE/WRITE/DANGEROUS. Sliding-window context.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686550" y="863501"/>
            <a:ext cx="2000250" cy="951756"/>
          </a:xfrm>
          <a:prstGeom prst="roundRect">
            <a:avLst>
              <a:gd name="adj" fmla="val 533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823025" y="97452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23025" y="1145977"/>
            <a:ext cx="176184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823025" y="1304627"/>
            <a:ext cx="17618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 + .owner 소유권. Bash resource limits. Secret redaction.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1891457"/>
            <a:ext cx="2000250" cy="3045768"/>
          </a:xfrm>
          <a:prstGeom prst="roundRect">
            <a:avLst>
              <a:gd name="adj" fmla="val 254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57200" y="1900982"/>
            <a:ext cx="2000250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52688" y="1891457"/>
            <a:ext cx="0" cy="3045768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4932462"/>
            <a:ext cx="20002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963" y="1891457"/>
            <a:ext cx="0" cy="3045768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3675" y="201200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Kent Beck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3675" y="2145357"/>
            <a:ext cx="17618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creator · TDD inventor</a:t>
            </a:r>
            <a:endParaRPr lang="en-US" sz="500" dirty="0"/>
          </a:p>
        </p:txBody>
      </p:sp>
      <p:sp>
        <p:nvSpPr>
          <p:cNvPr id="29" name="Text 27"/>
          <p:cNvSpPr/>
          <p:nvPr/>
        </p:nvSpPr>
        <p:spPr>
          <a:xfrm>
            <a:off x="593675" y="2275433"/>
            <a:ext cx="17618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단순한 구현인가? 불필요한 추상화가 있는가? Error paths 테스트됐는가?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533650" y="1891457"/>
            <a:ext cx="2000250" cy="3045768"/>
          </a:xfrm>
          <a:prstGeom prst="roundRect">
            <a:avLst>
              <a:gd name="adj" fmla="val 254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2533650" y="1900982"/>
            <a:ext cx="200025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29138" y="1891457"/>
            <a:ext cx="0" cy="3045768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33650" y="4932462"/>
            <a:ext cx="20002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38413" y="1891457"/>
            <a:ext cx="0" cy="3045768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125" y="201200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670125" y="2145357"/>
            <a:ext cx="17618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AI Director · autoresearch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2670125" y="2275433"/>
            <a:ext cx="17618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guard? Ratchet? 이 기능이 컨텍스트 윈도우를 얼마나 소비하는가?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610100" y="1891457"/>
            <a:ext cx="2000250" cy="3045768"/>
          </a:xfrm>
          <a:prstGeom prst="roundRect">
            <a:avLst>
              <a:gd name="adj" fmla="val 254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610100" y="1900982"/>
            <a:ext cx="2000250" cy="0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05588" y="1891457"/>
            <a:ext cx="0" cy="3045768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10100" y="4932462"/>
            <a:ext cx="20002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14863" y="1891457"/>
            <a:ext cx="0" cy="3045768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46575" y="201200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46575" y="2145357"/>
            <a:ext cx="17618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PSPDFKit founder · OpenClaw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4746575" y="2275433"/>
            <a:ext cx="17618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write (tmp+rename)? 크래시 시 상태 파일이 깨지지 않는가?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86550" y="1891457"/>
            <a:ext cx="2000250" cy="3045768"/>
          </a:xfrm>
          <a:prstGeom prst="roundRect">
            <a:avLst>
              <a:gd name="adj" fmla="val 254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6686550" y="1900982"/>
            <a:ext cx="2000250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82038" y="1891457"/>
            <a:ext cx="0" cy="3045768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86550" y="4932462"/>
            <a:ext cx="20002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691313" y="1891457"/>
            <a:ext cx="0" cy="3045768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23025" y="201200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823025" y="2145357"/>
            <a:ext cx="17618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Lead · ex-Meta</a:t>
            </a:r>
            <a:endParaRPr lang="en-US" sz="500" dirty="0"/>
          </a:p>
        </p:txBody>
      </p:sp>
      <p:sp>
        <p:nvSpPr>
          <p:cNvPr id="53" name="Text 51"/>
          <p:cNvSpPr/>
          <p:nvPr/>
        </p:nvSpPr>
        <p:spPr>
          <a:xfrm>
            <a:off x="6823025" y="2275433"/>
            <a:ext cx="17618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definitions clear? HITL classification correct? while(tool_use) 루프가 올바른가?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5000625"/>
            <a:ext cx="348391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scaffold skills encode patterns once, reused across all 486 PRs — research time must not exceed implementation time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500062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24</a:t>
            </a:r>
            <a:endParaRPr lang="en-US" sz="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1789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HE-0: SCAFFOLDING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Iteration Velocity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35일, 1,118 커밋, 35 releases — 엔지니어링 시스템이 완성될수록 속도는 복리로 증가했다.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731639" y="4096048"/>
            <a:ext cx="2017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356348"/>
            <a:ext cx="746671" cy="355550"/>
          </a:xfrm>
          <a:prstGeom prst="roundRect">
            <a:avLst>
              <a:gd name="adj" fmla="val 10716"/>
            </a:avLst>
          </a:prstGeom>
          <a:solidFill>
            <a:srgbClr val="818CF8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510010" y="3867448"/>
            <a:ext cx="2925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071" y="4127748"/>
            <a:ext cx="746820" cy="584150"/>
          </a:xfrm>
          <a:prstGeom prst="roundRect">
            <a:avLst>
              <a:gd name="adj" fmla="val 6522"/>
            </a:avLst>
          </a:prstGeom>
          <a:solidFill>
            <a:srgbClr val="818CF8">
              <a:alpha val="3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28118" y="3562648"/>
            <a:ext cx="3025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090" y="3822948"/>
            <a:ext cx="746671" cy="888950"/>
          </a:xfrm>
          <a:prstGeom prst="roundRect">
            <a:avLst>
              <a:gd name="adj" fmla="val 5103"/>
            </a:avLst>
          </a:prstGeom>
          <a:solidFill>
            <a:srgbClr val="818CF8">
              <a:alpha val="4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150989" y="3092797"/>
            <a:ext cx="3025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5961" y="3353098"/>
            <a:ext cx="746820" cy="1358801"/>
          </a:xfrm>
          <a:prstGeom prst="roundRect">
            <a:avLst>
              <a:gd name="adj" fmla="val 5102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974009" y="3207097"/>
            <a:ext cx="3025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48980" y="3467398"/>
            <a:ext cx="746820" cy="1244501"/>
          </a:xfrm>
          <a:prstGeom prst="roundRect">
            <a:avLst>
              <a:gd name="adj" fmla="val 5102"/>
            </a:avLst>
          </a:prstGeom>
          <a:solidFill>
            <a:srgbClr val="818CF8">
              <a:alpha val="5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97028" y="2546598"/>
            <a:ext cx="3025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467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806898"/>
            <a:ext cx="746820" cy="1905000"/>
          </a:xfrm>
          <a:prstGeom prst="roundRect">
            <a:avLst>
              <a:gd name="adj" fmla="val 5102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49733" y="4800749"/>
            <a:ext cx="76160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Ph.0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49733" y="4895999"/>
            <a:ext cx="76160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500" dirty="0"/>
          </a:p>
        </p:txBody>
      </p:sp>
      <p:sp>
        <p:nvSpPr>
          <p:cNvPr id="20" name="Text 18"/>
          <p:cNvSpPr/>
          <p:nvPr/>
        </p:nvSpPr>
        <p:spPr>
          <a:xfrm>
            <a:off x="1272603" y="4800749"/>
            <a:ext cx="76175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Ph.1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272603" y="4895999"/>
            <a:ext cx="76175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</a:t>
            </a:r>
            <a:endParaRPr lang="en-US" sz="500" dirty="0"/>
          </a:p>
        </p:txBody>
      </p:sp>
      <p:sp>
        <p:nvSpPr>
          <p:cNvPr id="22" name="Text 20"/>
          <p:cNvSpPr/>
          <p:nvPr/>
        </p:nvSpPr>
        <p:spPr>
          <a:xfrm>
            <a:off x="2095624" y="4800749"/>
            <a:ext cx="76160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Ph.2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95624" y="4895999"/>
            <a:ext cx="76160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</a:t>
            </a:r>
            <a:endParaRPr lang="en-US" sz="500" dirty="0"/>
          </a:p>
        </p:txBody>
      </p:sp>
      <p:sp>
        <p:nvSpPr>
          <p:cNvPr id="24" name="Text 22"/>
          <p:cNvSpPr/>
          <p:nvPr/>
        </p:nvSpPr>
        <p:spPr>
          <a:xfrm>
            <a:off x="2918493" y="4800749"/>
            <a:ext cx="76175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Ph.3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918493" y="4895999"/>
            <a:ext cx="76175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500" dirty="0"/>
          </a:p>
        </p:txBody>
      </p:sp>
      <p:sp>
        <p:nvSpPr>
          <p:cNvPr id="26" name="Text 24"/>
          <p:cNvSpPr/>
          <p:nvPr/>
        </p:nvSpPr>
        <p:spPr>
          <a:xfrm>
            <a:off x="3741512" y="4800749"/>
            <a:ext cx="76175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Ph.4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741512" y="4895999"/>
            <a:ext cx="76175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500" dirty="0"/>
          </a:p>
        </p:txBody>
      </p:sp>
      <p:sp>
        <p:nvSpPr>
          <p:cNvPr id="28" name="Text 26"/>
          <p:cNvSpPr/>
          <p:nvPr/>
        </p:nvSpPr>
        <p:spPr>
          <a:xfrm>
            <a:off x="4564532" y="4800749"/>
            <a:ext cx="76175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Ph.5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564532" y="4895999"/>
            <a:ext cx="76175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Maturation</a:t>
            </a:r>
            <a:endParaRPr lang="en-US" sz="500" dirty="0"/>
          </a:p>
        </p:txBody>
      </p:sp>
      <p:sp>
        <p:nvSpPr>
          <p:cNvPr id="30" name="Text 28"/>
          <p:cNvSpPr/>
          <p:nvPr/>
        </p:nvSpPr>
        <p:spPr>
          <a:xfrm>
            <a:off x="5445770" y="863501"/>
            <a:ext cx="3241030" cy="4099173"/>
          </a:xfrm>
          <a:prstGeom prst="roundRect">
            <a:avLst>
              <a:gd name="adj" fmla="val 1567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82245" y="974527"/>
            <a:ext cx="30274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Identity Pivot — 2일, 6 releases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82245" y="1149102"/>
            <a:ext cx="302744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v0.13.0: "Undervalued IP" → 범용 에이전트. DomainPort Protocol로 도메인 분리.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582245" y="1453604"/>
            <a:ext cx="302744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v0.15.0: Token Guard 철폐 — 하드 캡 대신 압축. max_turns 20→200.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582245" y="1637556"/>
            <a:ext cx="2968079" cy="2286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683746" y="1708993"/>
            <a:ext cx="6114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4/day → 67/day =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346627" y="1675656"/>
            <a:ext cx="3890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16.7x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5013424"/>
            <a:ext cx="2354491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1,118 commits · 486 merged PRs · 35 releases · 0 hotfix bypasses · 0 regressions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492728" y="50134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24</a:t>
            </a:r>
            <a:endParaRPr lang="en-US" sz="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463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HE-1: AUTONOMOUS CORE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monolithic runtime.py 1,476줄에서 185개 모듈, 6개 레이어로 — 새 도메인은 DomainPort Protocol 12 메서드만 구현하면 된다.</a:t>
            </a:r>
            <a:endParaRPr lang="en-US" sz="700" dirty="0"/>
          </a:p>
        </p:txBody>
      </p:sp>
      <p:pic>
        <p:nvPicPr>
          <p:cNvPr id="6" name="Image 0" descr="/Users/mango/workspace/portfolio/geode/slides/assets/v028-diagram-3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300" y="1598563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48400" y="863501"/>
            <a:ext cx="2438400" cy="1644104"/>
          </a:xfrm>
          <a:prstGeom prst="roundRect">
            <a:avLst>
              <a:gd name="adj" fmla="val 309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6384875" y="974527"/>
            <a:ext cx="22087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Module Counts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384875" y="1165027"/>
            <a:ext cx="6023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CLI + Agent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8300740" y="1165027"/>
            <a:ext cx="2545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+ 8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6384875" y="1311027"/>
            <a:ext cx="7684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Infra + Gateway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8251329" y="1311027"/>
            <a:ext cx="3049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+ 13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6384875" y="1457027"/>
            <a:ext cx="4534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Memory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8451354" y="1457027"/>
            <a:ext cx="1009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6384875" y="1603028"/>
            <a:ext cx="67021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Orchestration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8451354" y="1603028"/>
            <a:ext cx="1009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6384875" y="1749028"/>
            <a:ext cx="64076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Tools + MCP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8251329" y="1749028"/>
            <a:ext cx="3049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+ 18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384875" y="1895029"/>
            <a:ext cx="76084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Domain Plugins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8451354" y="1895029"/>
            <a:ext cx="1009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6384875" y="2045791"/>
            <a:ext cx="2165449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4875" y="2201317"/>
            <a:ext cx="2937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8126611" y="2101304"/>
            <a:ext cx="43218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248400" y="2583805"/>
            <a:ext cx="2438400" cy="824805"/>
          </a:xfrm>
          <a:prstGeom prst="roundRect">
            <a:avLst>
              <a:gd name="adj" fmla="val 615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384875" y="2694831"/>
            <a:ext cx="22087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— Cross-cutting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384875" y="2872532"/>
            <a:ext cx="220875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core/hooks/ (7 모듈)는 L0–L5 전 레이어에서 import 가능한 횡단 관심사. 종속 사이클 해소를 위해 분리 추출.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384875" y="3202335"/>
            <a:ext cx="220875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events · 17 handlers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457200" y="5000625"/>
            <a:ext cx="261119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 12 methods — new domain swap without touching infrastructure code</a:t>
            </a:r>
            <a:endParaRPr lang="en-US" sz="500" dirty="0"/>
          </a:p>
        </p:txBody>
      </p:sp>
      <p:sp>
        <p:nvSpPr>
          <p:cNvPr id="29" name="Text 26"/>
          <p:cNvSpPr/>
          <p:nvPr/>
        </p:nvSpPr>
        <p:spPr>
          <a:xfrm>
            <a:off x="8492728" y="500062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24</a:t>
            </a:r>
            <a:endParaRPr lang="en-US" sz="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463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HE-1: AUTONOMOUS CORE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— while(tool_use)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tool_use를 반환하는 한 최대 50 라운드까지 루프를 계속하고, 5가지 경로로 종료한다.</a:t>
            </a:r>
            <a:endParaRPr lang="en-US" sz="700" dirty="0"/>
          </a:p>
        </p:txBody>
      </p:sp>
      <p:pic>
        <p:nvPicPr>
          <p:cNvPr id="6" name="Image 0" descr="/Users/mango/workspace/portfolio/geode/slides/assets/v028-diagram-agentic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50" y="1650950"/>
            <a:ext cx="5334000" cy="2476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1450" y="850702"/>
            <a:ext cx="2565350" cy="1312962"/>
          </a:xfrm>
          <a:prstGeom prst="roundRect">
            <a:avLst>
              <a:gd name="adj" fmla="val 38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6283375" y="987177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283375" y="1187202"/>
            <a:ext cx="364034" cy="117277"/>
          </a:xfrm>
          <a:prstGeom prst="roundRect">
            <a:avLst>
              <a:gd name="adj" fmla="val 32487"/>
            </a:avLst>
          </a:prstGeom>
          <a:solidFill>
            <a:srgbClr val="34D399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359575" y="1212503"/>
            <a:ext cx="21586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</a:t>
            </a:r>
            <a:endParaRPr lang="en-US" sz="500" dirty="0"/>
          </a:p>
        </p:txBody>
      </p:sp>
      <p:sp>
        <p:nvSpPr>
          <p:cNvPr id="11" name="Text 8"/>
          <p:cNvSpPr/>
          <p:nvPr/>
        </p:nvSpPr>
        <p:spPr>
          <a:xfrm>
            <a:off x="6748909" y="1187202"/>
            <a:ext cx="13248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end_turn 반환 — 자연 완료.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6283375" y="1367879"/>
            <a:ext cx="346323" cy="117277"/>
          </a:xfrm>
          <a:prstGeom prst="roundRect">
            <a:avLst>
              <a:gd name="adj" fmla="val 32487"/>
            </a:avLst>
          </a:prstGeom>
          <a:solidFill>
            <a:srgbClr val="F59E0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359575" y="1393180"/>
            <a:ext cx="19780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forced</a:t>
            </a:r>
            <a:endParaRPr lang="en-US" sz="500" dirty="0"/>
          </a:p>
        </p:txBody>
      </p:sp>
      <p:sp>
        <p:nvSpPr>
          <p:cNvPr id="14" name="Text 11"/>
          <p:cNvSpPr/>
          <p:nvPr/>
        </p:nvSpPr>
        <p:spPr>
          <a:xfrm>
            <a:off x="6731198" y="1367879"/>
            <a:ext cx="12740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잔여 2라운드에서 텍스트 강제 추출.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6283375" y="1548557"/>
            <a:ext cx="543818" cy="117277"/>
          </a:xfrm>
          <a:prstGeom prst="roundRect">
            <a:avLst>
              <a:gd name="adj" fmla="val 32487"/>
            </a:avLst>
          </a:prstGeom>
          <a:solidFill>
            <a:srgbClr val="EF4444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359575" y="1573857"/>
            <a:ext cx="39924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</a:t>
            </a:r>
            <a:endParaRPr lang="en-US" sz="500" dirty="0"/>
          </a:p>
        </p:txBody>
      </p:sp>
      <p:sp>
        <p:nvSpPr>
          <p:cNvPr id="17" name="Text 14"/>
          <p:cNvSpPr/>
          <p:nvPr/>
        </p:nvSpPr>
        <p:spPr>
          <a:xfrm>
            <a:off x="6928693" y="1548557"/>
            <a:ext cx="11799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 4회 반복 → 조기 종료.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283375" y="1729234"/>
            <a:ext cx="427434" cy="117277"/>
          </a:xfrm>
          <a:prstGeom prst="roundRect">
            <a:avLst>
              <a:gd name="adj" fmla="val 32487"/>
            </a:avLst>
          </a:prstGeom>
          <a:solidFill>
            <a:srgbClr val="EF4444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6359575" y="1754535"/>
            <a:ext cx="28053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llm_error</a:t>
            </a:r>
            <a:endParaRPr lang="en-US" sz="500" dirty="0"/>
          </a:p>
        </p:txBody>
      </p:sp>
      <p:sp>
        <p:nvSpPr>
          <p:cNvPr id="20" name="Text 17"/>
          <p:cNvSpPr/>
          <p:nvPr/>
        </p:nvSpPr>
        <p:spPr>
          <a:xfrm>
            <a:off x="6812310" y="1729234"/>
            <a:ext cx="162628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연속 2회 실패 → Cross-Provider Fallback.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83375" y="1909911"/>
            <a:ext cx="441573" cy="117277"/>
          </a:xfrm>
          <a:prstGeom prst="roundRect">
            <a:avLst>
              <a:gd name="adj" fmla="val 32487"/>
            </a:avLst>
          </a:prstGeom>
          <a:solidFill>
            <a:srgbClr val="8B949E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6359575" y="1935212"/>
            <a:ext cx="29495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cancelled</a:t>
            </a:r>
            <a:endParaRPr lang="en-US" sz="500" dirty="0"/>
          </a:p>
        </p:txBody>
      </p:sp>
      <p:sp>
        <p:nvSpPr>
          <p:cNvPr id="23" name="Text 20"/>
          <p:cNvSpPr/>
          <p:nvPr/>
        </p:nvSpPr>
        <p:spPr>
          <a:xfrm>
            <a:off x="6826448" y="1909911"/>
            <a:ext cx="12444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Ctrl+C 인터럽트 또는 billing 에러.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6121450" y="2239863"/>
            <a:ext cx="2565350" cy="1043880"/>
          </a:xfrm>
          <a:prstGeom prst="roundRect">
            <a:avLst>
              <a:gd name="adj" fmla="val 486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283375" y="2376339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관리 3단계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283375" y="2576364"/>
            <a:ext cx="434578" cy="117277"/>
          </a:xfrm>
          <a:prstGeom prst="roundRect">
            <a:avLst>
              <a:gd name="adj" fmla="val 32487"/>
            </a:avLst>
          </a:prstGeom>
          <a:solidFill>
            <a:srgbClr val="818CF8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59575" y="2601664"/>
            <a:ext cx="28782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turns</a:t>
            </a:r>
            <a:endParaRPr lang="en-US" sz="500" dirty="0"/>
          </a:p>
        </p:txBody>
      </p:sp>
      <p:sp>
        <p:nvSpPr>
          <p:cNvPr id="28" name="Text 25"/>
          <p:cNvSpPr/>
          <p:nvPr/>
        </p:nvSpPr>
        <p:spPr>
          <a:xfrm>
            <a:off x="6819454" y="2576364"/>
            <a:ext cx="17395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Sliding window — 최초 메시지 보존, 중간 제거.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283375" y="2849314"/>
            <a:ext cx="279499" cy="117277"/>
          </a:xfrm>
          <a:prstGeom prst="roundRect">
            <a:avLst>
              <a:gd name="adj" fmla="val 32487"/>
            </a:avLst>
          </a:prstGeom>
          <a:solidFill>
            <a:srgbClr val="F59E0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6359575" y="2874615"/>
            <a:ext cx="129641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500" dirty="0"/>
          </a:p>
        </p:txBody>
      </p:sp>
      <p:sp>
        <p:nvSpPr>
          <p:cNvPr id="31" name="Text 28"/>
          <p:cNvSpPr/>
          <p:nvPr/>
        </p:nvSpPr>
        <p:spPr>
          <a:xfrm>
            <a:off x="6664375" y="2849314"/>
            <a:ext cx="13931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80% → compact 압축 발동.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83375" y="3029992"/>
            <a:ext cx="279499" cy="117277"/>
          </a:xfrm>
          <a:prstGeom prst="roundRect">
            <a:avLst>
              <a:gd name="adj" fmla="val 32487"/>
            </a:avLst>
          </a:prstGeom>
          <a:solidFill>
            <a:srgbClr val="EF4444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59575" y="3055293"/>
            <a:ext cx="129641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500" dirty="0"/>
          </a:p>
        </p:txBody>
      </p:sp>
      <p:sp>
        <p:nvSpPr>
          <p:cNvPr id="34" name="Text 31"/>
          <p:cNvSpPr/>
          <p:nvPr/>
        </p:nvSpPr>
        <p:spPr>
          <a:xfrm>
            <a:off x="6664375" y="3029992"/>
            <a:ext cx="14170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→ emergency prune 자동 발동.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57200" y="4991100"/>
            <a:ext cx="298296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Code의 while(tool_use) 패턴 참조 — DEFAULT_MAX_ROUNDS=50, WRAP_UP_HEADROOM=2</a:t>
            </a:r>
            <a:endParaRPr lang="en-US" sz="500" dirty="0"/>
          </a:p>
        </p:txBody>
      </p:sp>
      <p:sp>
        <p:nvSpPr>
          <p:cNvPr id="36" name="Text 33"/>
          <p:cNvSpPr/>
          <p:nvPr/>
        </p:nvSpPr>
        <p:spPr>
          <a:xfrm>
            <a:off x="8492728" y="499110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826"/>
            <a:ext cx="12607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HE-1: AUTONOMOUS AGENT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단일 진입점 → 4경로 분기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ToolExecutor가 LLM tool_use를 받아 도구 유형과 안전 등급으로 라우팅합니다</a:t>
            </a:r>
            <a:endParaRPr lang="en-US" sz="500" dirty="0"/>
          </a:p>
        </p:txBody>
      </p:sp>
      <p:sp>
        <p:nvSpPr>
          <p:cNvPr id="6" name="Text 4"/>
          <p:cNvSpPr/>
          <p:nvPr/>
        </p:nvSpPr>
        <p:spPr>
          <a:xfrm>
            <a:off x="457200" y="809476"/>
            <a:ext cx="5308550" cy="568077"/>
          </a:xfrm>
          <a:prstGeom prst="roundRect">
            <a:avLst>
              <a:gd name="adj" fmla="val 89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809476"/>
            <a:ext cx="0" cy="568077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936427"/>
            <a:ext cx="5055248" cy="31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</a:t>
            </a:r>
            <a:pPr algn="l" indent="0" marL="0">
              <a:lnSpc>
                <a:spcPts val="1200"/>
              </a:lnSpc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tool_use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블록을 반환하면 </a:t>
            </a:r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ToolCallProcessor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도구 수를 먼저 판단합니다. 단일 도구는 바로 실행, 2개 이상이면 </a:t>
            </a:r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안전 등급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분류 후 Tier에 따라 병렬 또는 순차 실행합니다.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479054"/>
            <a:ext cx="5308550" cy="3445520"/>
          </a:xfrm>
          <a:prstGeom prst="roundRect">
            <a:avLst>
              <a:gd name="adj" fmla="val 147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9125" y="1615529"/>
            <a:ext cx="508439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DECISION TREE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19125" y="1850380"/>
            <a:ext cx="4984700" cy="361950"/>
          </a:xfrm>
          <a:prstGeom prst="roundRect">
            <a:avLst>
              <a:gd name="adj" fmla="val 14035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08483" y="1936105"/>
            <a:ext cx="480598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ToolExecutor.execute()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08483" y="2050405"/>
            <a:ext cx="480598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 — 모든 도구 디스패치</a:t>
            </a:r>
            <a:endParaRPr lang="en-US" sz="500" dirty="0"/>
          </a:p>
        </p:txBody>
      </p:sp>
      <p:sp>
        <p:nvSpPr>
          <p:cNvPr id="14" name="Text 12"/>
          <p:cNvSpPr/>
          <p:nvPr/>
        </p:nvSpPr>
        <p:spPr>
          <a:xfrm>
            <a:off x="619125" y="2313831"/>
            <a:ext cx="1188988" cy="434876"/>
          </a:xfrm>
          <a:prstGeom prst="roundRect">
            <a:avLst>
              <a:gd name="adj" fmla="val 11681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20481" y="2412206"/>
            <a:ext cx="9862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720481" y="2507456"/>
            <a:ext cx="98627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run_bash?</a:t>
            </a:r>
            <a:endParaRPr lang="en-US" sz="500" dirty="0"/>
          </a:p>
        </p:txBody>
      </p:sp>
      <p:sp>
        <p:nvSpPr>
          <p:cNvPr id="17" name="Text 15"/>
          <p:cNvSpPr/>
          <p:nvPr/>
        </p:nvSpPr>
        <p:spPr>
          <a:xfrm>
            <a:off x="720481" y="2574131"/>
            <a:ext cx="98627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3-layer safety</a:t>
            </a:r>
            <a:endParaRPr lang="en-US" sz="500" dirty="0"/>
          </a:p>
        </p:txBody>
      </p:sp>
      <p:sp>
        <p:nvSpPr>
          <p:cNvPr id="18" name="Text 16"/>
          <p:cNvSpPr/>
          <p:nvPr/>
        </p:nvSpPr>
        <p:spPr>
          <a:xfrm>
            <a:off x="1884313" y="2313831"/>
            <a:ext cx="1189137" cy="434876"/>
          </a:xfrm>
          <a:prstGeom prst="roundRect">
            <a:avLst>
              <a:gd name="adj" fmla="val 1168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985668" y="2412206"/>
            <a:ext cx="98642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985668" y="2507456"/>
            <a:ext cx="98642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핸들러?</a:t>
            </a:r>
            <a:endParaRPr lang="en-US" sz="500" dirty="0"/>
          </a:p>
        </p:txBody>
      </p:sp>
      <p:sp>
        <p:nvSpPr>
          <p:cNvPr id="21" name="Text 19"/>
          <p:cNvSpPr/>
          <p:nvPr/>
        </p:nvSpPr>
        <p:spPr>
          <a:xfrm>
            <a:off x="1985668" y="2583656"/>
            <a:ext cx="98642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native tools</a:t>
            </a:r>
            <a:endParaRPr lang="en-US" sz="500" dirty="0"/>
          </a:p>
        </p:txBody>
      </p:sp>
      <p:sp>
        <p:nvSpPr>
          <p:cNvPr id="22" name="Text 20"/>
          <p:cNvSpPr/>
          <p:nvPr/>
        </p:nvSpPr>
        <p:spPr>
          <a:xfrm>
            <a:off x="3149650" y="2313831"/>
            <a:ext cx="1188988" cy="434876"/>
          </a:xfrm>
          <a:prstGeom prst="roundRect">
            <a:avLst>
              <a:gd name="adj" fmla="val 11681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251006" y="2412206"/>
            <a:ext cx="9862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251006" y="2507456"/>
            <a:ext cx="98627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서버?</a:t>
            </a:r>
            <a:endParaRPr lang="en-US" sz="500" dirty="0"/>
          </a:p>
        </p:txBody>
      </p:sp>
      <p:sp>
        <p:nvSpPr>
          <p:cNvPr id="25" name="Text 23"/>
          <p:cNvSpPr/>
          <p:nvPr/>
        </p:nvSpPr>
        <p:spPr>
          <a:xfrm>
            <a:off x="3251006" y="2583656"/>
            <a:ext cx="98627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catalog</a:t>
            </a:r>
            <a:endParaRPr lang="en-US" sz="500" dirty="0"/>
          </a:p>
        </p:txBody>
      </p:sp>
      <p:sp>
        <p:nvSpPr>
          <p:cNvPr id="26" name="Text 24"/>
          <p:cNvSpPr/>
          <p:nvPr/>
        </p:nvSpPr>
        <p:spPr>
          <a:xfrm>
            <a:off x="4414838" y="2313831"/>
            <a:ext cx="1188988" cy="434876"/>
          </a:xfrm>
          <a:prstGeom prst="roundRect">
            <a:avLst>
              <a:gd name="adj" fmla="val 11681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516194" y="2412206"/>
            <a:ext cx="9862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516194" y="2507456"/>
            <a:ext cx="98627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analyze_ip?</a:t>
            </a:r>
            <a:endParaRPr lang="en-US" sz="500" dirty="0"/>
          </a:p>
        </p:txBody>
      </p:sp>
      <p:sp>
        <p:nvSpPr>
          <p:cNvPr id="29" name="Text 27"/>
          <p:cNvSpPr/>
          <p:nvPr/>
        </p:nvSpPr>
        <p:spPr>
          <a:xfrm>
            <a:off x="4516194" y="2574131"/>
            <a:ext cx="98627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13-task graph</a:t>
            </a:r>
            <a:endParaRPr lang="en-US" sz="500" dirty="0"/>
          </a:p>
        </p:txBody>
      </p:sp>
      <p:sp>
        <p:nvSpPr>
          <p:cNvPr id="30" name="Text 28"/>
          <p:cNvSpPr/>
          <p:nvPr/>
        </p:nvSpPr>
        <p:spPr>
          <a:xfrm>
            <a:off x="569278" y="2850207"/>
            <a:ext cx="50843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2개 이상 tool_use 시 — 5-Tier 안전 등급 분류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19125" y="3056483"/>
            <a:ext cx="946100" cy="409575"/>
          </a:xfrm>
          <a:prstGeom prst="roundRect">
            <a:avLst>
              <a:gd name="adj" fmla="val 12403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84048" y="3142208"/>
            <a:ext cx="81625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84048" y="3237458"/>
            <a:ext cx="81625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500" dirty="0"/>
          </a:p>
        </p:txBody>
      </p:sp>
      <p:sp>
        <p:nvSpPr>
          <p:cNvPr id="34" name="Text 32"/>
          <p:cNvSpPr/>
          <p:nvPr/>
        </p:nvSpPr>
        <p:spPr>
          <a:xfrm>
            <a:off x="684048" y="3304133"/>
            <a:ext cx="81625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병렬</a:t>
            </a:r>
            <a:endParaRPr lang="en-US" sz="500" dirty="0"/>
          </a:p>
        </p:txBody>
      </p:sp>
      <p:sp>
        <p:nvSpPr>
          <p:cNvPr id="35" name="Text 33"/>
          <p:cNvSpPr/>
          <p:nvPr/>
        </p:nvSpPr>
        <p:spPr>
          <a:xfrm>
            <a:off x="1628626" y="3056483"/>
            <a:ext cx="946249" cy="409575"/>
          </a:xfrm>
          <a:prstGeom prst="roundRect">
            <a:avLst>
              <a:gd name="adj" fmla="val 12403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693548" y="3142208"/>
            <a:ext cx="81640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693548" y="3237458"/>
            <a:ext cx="81640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1693548" y="3304133"/>
            <a:ext cx="816406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</a:t>
            </a:r>
            <a:endParaRPr lang="en-US" sz="500" dirty="0"/>
          </a:p>
        </p:txBody>
      </p:sp>
      <p:sp>
        <p:nvSpPr>
          <p:cNvPr id="39" name="Text 37"/>
          <p:cNvSpPr/>
          <p:nvPr/>
        </p:nvSpPr>
        <p:spPr>
          <a:xfrm>
            <a:off x="2638276" y="3056483"/>
            <a:ext cx="946249" cy="409575"/>
          </a:xfrm>
          <a:prstGeom prst="roundRect">
            <a:avLst>
              <a:gd name="adj" fmla="val 12403"/>
            </a:avLst>
          </a:prstGeom>
          <a:solidFill>
            <a:srgbClr val="F5C542">
              <a:alpha val="12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703198" y="3142208"/>
            <a:ext cx="81640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703198" y="3237458"/>
            <a:ext cx="81640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500" dirty="0"/>
          </a:p>
        </p:txBody>
      </p:sp>
      <p:sp>
        <p:nvSpPr>
          <p:cNvPr id="42" name="Text 40"/>
          <p:cNvSpPr/>
          <p:nvPr/>
        </p:nvSpPr>
        <p:spPr>
          <a:xfrm>
            <a:off x="2703198" y="3304133"/>
            <a:ext cx="816406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일괄 승인</a:t>
            </a:r>
            <a:endParaRPr lang="en-US" sz="500" dirty="0"/>
          </a:p>
        </p:txBody>
      </p:sp>
      <p:sp>
        <p:nvSpPr>
          <p:cNvPr id="43" name="Text 41"/>
          <p:cNvSpPr/>
          <p:nvPr/>
        </p:nvSpPr>
        <p:spPr>
          <a:xfrm>
            <a:off x="3647926" y="3056483"/>
            <a:ext cx="946249" cy="409575"/>
          </a:xfrm>
          <a:prstGeom prst="roundRect">
            <a:avLst>
              <a:gd name="adj" fmla="val 12403"/>
            </a:avLst>
          </a:prstGeom>
          <a:solidFill>
            <a:srgbClr val="F97316">
              <a:alpha val="12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712848" y="3142208"/>
            <a:ext cx="81640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712848" y="3237458"/>
            <a:ext cx="81640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3712848" y="3304133"/>
            <a:ext cx="816406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4657576" y="3056483"/>
            <a:ext cx="946249" cy="409575"/>
          </a:xfrm>
          <a:prstGeom prst="roundRect">
            <a:avLst>
              <a:gd name="adj" fmla="val 12403"/>
            </a:avLst>
          </a:prstGeom>
          <a:solidFill>
            <a:srgbClr val="EF4444">
              <a:alpha val="12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722498" y="3142208"/>
            <a:ext cx="81640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2498" y="3237458"/>
            <a:ext cx="81640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500" dirty="0"/>
          </a:p>
        </p:txBody>
      </p:sp>
      <p:sp>
        <p:nvSpPr>
          <p:cNvPr id="50" name="Text 48"/>
          <p:cNvSpPr/>
          <p:nvPr/>
        </p:nvSpPr>
        <p:spPr>
          <a:xfrm>
            <a:off x="4722498" y="3304133"/>
            <a:ext cx="816406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HITL</a:t>
            </a:r>
            <a:endParaRPr lang="en-US" sz="500" dirty="0"/>
          </a:p>
        </p:txBody>
      </p:sp>
      <p:sp>
        <p:nvSpPr>
          <p:cNvPr id="51" name="Text 49"/>
          <p:cNvSpPr/>
          <p:nvPr/>
        </p:nvSpPr>
        <p:spPr>
          <a:xfrm>
            <a:off x="5892701" y="809476"/>
            <a:ext cx="2794099" cy="1637407"/>
          </a:xfrm>
          <a:prstGeom prst="roundRect">
            <a:avLst>
              <a:gd name="adj" fmla="val 31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054626" y="945952"/>
            <a:ext cx="25196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Recovery Chain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054626" y="1180802"/>
            <a:ext cx="251965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연속 2회 실패 시 자동 복구 체인 실행</a:t>
            </a:r>
            <a:endParaRPr lang="en-US" sz="500" dirty="0"/>
          </a:p>
        </p:txBody>
      </p:sp>
      <p:sp>
        <p:nvSpPr>
          <p:cNvPr id="54" name="Text 52"/>
          <p:cNvSpPr/>
          <p:nvPr/>
        </p:nvSpPr>
        <p:spPr>
          <a:xfrm>
            <a:off x="6054626" y="1333202"/>
            <a:ext cx="812750" cy="196751"/>
          </a:xfrm>
          <a:prstGeom prst="roundRect">
            <a:avLst>
              <a:gd name="adj" fmla="val 25819"/>
            </a:avLst>
          </a:prstGeom>
          <a:solidFill>
            <a:srgbClr val="34D399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175988" y="1383953"/>
            <a:ext cx="57002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Retry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968877" y="1379190"/>
            <a:ext cx="10963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도구 재시도 (1s backoff)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054626" y="1593354"/>
            <a:ext cx="812750" cy="196751"/>
          </a:xfrm>
          <a:prstGeom prst="roundRect">
            <a:avLst>
              <a:gd name="adj" fmla="val 25819"/>
            </a:avLst>
          </a:prstGeom>
          <a:solidFill>
            <a:srgbClr val="4ECDC4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6175988" y="1644104"/>
            <a:ext cx="57002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Alt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968877" y="1639342"/>
            <a:ext cx="8596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카테고리 대체 도구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054626" y="1853505"/>
            <a:ext cx="812750" cy="196751"/>
          </a:xfrm>
          <a:prstGeom prst="roundRect">
            <a:avLst>
              <a:gd name="adj" fmla="val 25819"/>
            </a:avLst>
          </a:prstGeom>
          <a:solidFill>
            <a:srgbClr val="F5C542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175988" y="1904256"/>
            <a:ext cx="57002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Fallback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968877" y="1899493"/>
            <a:ext cx="7813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저렴한 도구로 강등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054626" y="2113657"/>
            <a:ext cx="812750" cy="196751"/>
          </a:xfrm>
          <a:prstGeom prst="roundRect">
            <a:avLst>
              <a:gd name="adj" fmla="val 25819"/>
            </a:avLst>
          </a:prstGeom>
          <a:solidFill>
            <a:srgbClr val="EF4444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175988" y="2164407"/>
            <a:ext cx="57002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Escalate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968877" y="2159645"/>
            <a:ext cx="8877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사용자에게 에스컬레이션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892701" y="2548384"/>
            <a:ext cx="2794099" cy="2376190"/>
          </a:xfrm>
          <a:prstGeom prst="roundRect">
            <a:avLst>
              <a:gd name="adj" fmla="val 213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Shape 65"/>
          <p:cNvSpPr/>
          <p:nvPr/>
        </p:nvSpPr>
        <p:spPr>
          <a:xfrm>
            <a:off x="5916513" y="2548384"/>
            <a:ext cx="0" cy="2376190"/>
          </a:xfrm>
          <a:prstGeom prst="line">
            <a:avLst/>
          </a:prstGeom>
          <a:noFill/>
          <a:ln w="47625">
            <a:solidFill>
              <a:srgbClr val="F5C54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92726" y="2675334"/>
            <a:ext cx="24905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092726" y="2884884"/>
            <a:ext cx="2490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0-1은 </a:t>
            </a:r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완전 병렬 실행하여 응답 속도를 극대화하고, Tier 3-4는 순차+개별승인으로 안전성을 보장합니다.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6092726" y="3418284"/>
            <a:ext cx="2490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MAX_CONSECUTIVE_FAILURES = 2 · max_recovery = 3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457200" y="4987975"/>
            <a:ext cx="293499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(1179L) + policy.py (431L) + error_recovery.py (461L) · 52 native tools · 12 categories</a:t>
            </a:r>
            <a:endParaRPr lang="en-US" sz="500" dirty="0"/>
          </a:p>
        </p:txBody>
      </p:sp>
      <p:sp>
        <p:nvSpPr>
          <p:cNvPr id="72" name="Text 70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80826"/>
            <a:ext cx="12607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HE-1: AUTONOMOUS AGENT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System: 하드코딩 콜백 → 45-Event Bus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재귀 개선·자기 증강을 위한 실시간 추적 — Claude Code·Devin·OpenHands 리서치 후 개편</a:t>
            </a:r>
            <a:endParaRPr lang="en-US" sz="500" dirty="0"/>
          </a:p>
        </p:txBody>
      </p:sp>
      <p:sp>
        <p:nvSpPr>
          <p:cNvPr id="6" name="Text 4"/>
          <p:cNvSpPr/>
          <p:nvPr/>
        </p:nvSpPr>
        <p:spPr>
          <a:xfrm>
            <a:off x="457200" y="809476"/>
            <a:ext cx="4876800" cy="688032"/>
          </a:xfrm>
          <a:prstGeom prst="roundRect">
            <a:avLst>
              <a:gd name="adj" fmla="val 738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809476"/>
            <a:ext cx="0" cy="688032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910977"/>
            <a:ext cx="4614863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</a:t>
            </a:r>
            <a:pPr algn="l" indent="0" marL="0">
              <a:lnSpc>
                <a:spcPts val="112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DAG 노드 상태·검증 결과·드리프트를 실시간 추적하려면 하드코딩 콜백으로는 확장이 불가능했습니다. 프론티어 하네스를 리서치하고 </a:t>
            </a:r>
            <a:pPr algn="l" indent="0" marL="0">
              <a:lnSpc>
                <a:spcPts val="112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카테고리 45개 이벤트</a:t>
            </a:r>
            <a:pPr algn="l" indent="0" marL="0">
              <a:lnSpc>
                <a:spcPts val="112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개편했습니다.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57225" y="1271736"/>
            <a:ext cx="4614863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600"/>
              </a:spcBef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 패턴:</a:t>
            </a:r>
            <a:pPr algn="l" indent="0" marL="0">
              <a:lnSpc>
                <a:spcPts val="98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하나의 이벤트가 L1(관측)과 L2(반응)를 동시에 지나가는 것이 리플 패턴입니다.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548259"/>
            <a:ext cx="4876800" cy="3392091"/>
          </a:xfrm>
          <a:prstGeom prst="roundRect">
            <a:avLst>
              <a:gd name="adj" fmla="val 149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19125" y="1659285"/>
            <a:ext cx="46440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CORE EVENT CATEGORIES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9125" y="1830735"/>
            <a:ext cx="1422350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0151" y="1891010"/>
            <a:ext cx="12243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Lifecycle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30151" y="1986260"/>
            <a:ext cx="122430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START · END · ERROR</a:t>
            </a:r>
            <a:endParaRPr lang="en-US" sz="500" dirty="0"/>
          </a:p>
        </p:txBody>
      </p:sp>
      <p:sp>
        <p:nvSpPr>
          <p:cNvPr id="15" name="Text 13"/>
          <p:cNvSpPr/>
          <p:nvPr/>
        </p:nvSpPr>
        <p:spPr>
          <a:xfrm>
            <a:off x="2092226" y="1830735"/>
            <a:ext cx="1422350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203252" y="1891010"/>
            <a:ext cx="12243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Execution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203252" y="1986260"/>
            <a:ext cx="122430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 — ENTER · EXIT · ERROR</a:t>
            </a:r>
            <a:endParaRPr lang="en-US" sz="500" dirty="0"/>
          </a:p>
        </p:txBody>
      </p:sp>
      <p:sp>
        <p:nvSpPr>
          <p:cNvPr id="18" name="Text 16"/>
          <p:cNvSpPr/>
          <p:nvPr/>
        </p:nvSpPr>
        <p:spPr>
          <a:xfrm>
            <a:off x="3565327" y="1830735"/>
            <a:ext cx="1471017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676352" y="1891010"/>
            <a:ext cx="127394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L4.5 Automation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676352" y="1986260"/>
            <a:ext cx="12739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events — DRIFT · OUTCOME · TRIGGER</a:t>
            </a:r>
            <a:endParaRPr lang="en-US" sz="500" dirty="0"/>
          </a:p>
        </p:txBody>
      </p:sp>
      <p:sp>
        <p:nvSpPr>
          <p:cNvPr id="21" name="Text 19"/>
          <p:cNvSpPr/>
          <p:nvPr/>
        </p:nvSpPr>
        <p:spPr>
          <a:xfrm>
            <a:off x="619125" y="2163961"/>
            <a:ext cx="1422350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30151" y="2224236"/>
            <a:ext cx="12243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Overflow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30151" y="2319486"/>
            <a:ext cx="122430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80% · 95% · ACTION</a:t>
            </a:r>
            <a:endParaRPr lang="en-US" sz="500" dirty="0"/>
          </a:p>
        </p:txBody>
      </p:sp>
      <p:sp>
        <p:nvSpPr>
          <p:cNvPr id="24" name="Text 22"/>
          <p:cNvSpPr/>
          <p:nvPr/>
        </p:nvSpPr>
        <p:spPr>
          <a:xfrm>
            <a:off x="2092226" y="2163961"/>
            <a:ext cx="1422350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203252" y="2224236"/>
            <a:ext cx="12243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2203252" y="2319486"/>
            <a:ext cx="122430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STARTED · DONE · FAILED</a:t>
            </a:r>
            <a:endParaRPr lang="en-US" sz="500" dirty="0"/>
          </a:p>
        </p:txBody>
      </p:sp>
      <p:sp>
        <p:nvSpPr>
          <p:cNvPr id="27" name="Text 25"/>
          <p:cNvSpPr/>
          <p:nvPr/>
        </p:nvSpPr>
        <p:spPr>
          <a:xfrm>
            <a:off x="619125" y="2497187"/>
            <a:ext cx="1617911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30151" y="2557463"/>
            <a:ext cx="14237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HITL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0151" y="2652713"/>
            <a:ext cx="142377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REQUESTED · GRANTED · DENIED</a:t>
            </a:r>
            <a:endParaRPr lang="en-US" sz="500" dirty="0"/>
          </a:p>
        </p:txBody>
      </p:sp>
      <p:sp>
        <p:nvSpPr>
          <p:cNvPr id="30" name="Text 28"/>
          <p:cNvSpPr/>
          <p:nvPr/>
        </p:nvSpPr>
        <p:spPr>
          <a:xfrm>
            <a:off x="5460950" y="809476"/>
            <a:ext cx="3225850" cy="3444478"/>
          </a:xfrm>
          <a:prstGeom prst="roundRect">
            <a:avLst>
              <a:gd name="adj" fmla="val 15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22875" y="920502"/>
            <a:ext cx="2960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MATURITY MODEL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22875" y="1091952"/>
            <a:ext cx="2902000" cy="330101"/>
          </a:xfrm>
          <a:prstGeom prst="roundRect">
            <a:avLst>
              <a:gd name="adj" fmla="val 15389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733901" y="1152227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Autonomy — 백로그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733901" y="1257002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이력 → 자동 승인 룰 학습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622875" y="1460153"/>
            <a:ext cx="2902000" cy="339626"/>
          </a:xfrm>
          <a:prstGeom prst="roundRect">
            <a:avLst>
              <a:gd name="adj" fmla="val 14958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733901" y="1520428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Decide — 현재 프론티어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733901" y="1625203"/>
            <a:ext cx="273354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CONTEXT_OVERFLOW_ACTION 전략 위임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622875" y="1837879"/>
            <a:ext cx="2902000" cy="339626"/>
          </a:xfrm>
          <a:prstGeom prst="roundRect">
            <a:avLst>
              <a:gd name="adj" fmla="val 14958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733901" y="1898154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React — 자동 반응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33901" y="2002929"/>
            <a:ext cx="273354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 → 스냅샷 · PIPELINE_END → MEMORY.md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622875" y="2215604"/>
            <a:ext cx="2902000" cy="330101"/>
          </a:xfrm>
          <a:prstGeom prst="roundRect">
            <a:avLst>
              <a:gd name="adj" fmla="val 15389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733901" y="2275880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Observe — 기록만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733901" y="2380655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RunLog: ALL 45 events → runs.jsonl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460950" y="4304705"/>
            <a:ext cx="3225850" cy="635645"/>
          </a:xfrm>
          <a:prstGeom prst="roundRect">
            <a:avLst>
              <a:gd name="adj" fmla="val 79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5484763" y="4304705"/>
            <a:ext cx="0" cy="635645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60975" y="4406205"/>
            <a:ext cx="29308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660975" y="4590306"/>
            <a:ext cx="293089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후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120초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내 NODE_EXIT 없으면 파이프라인 강제 중단. Priority 기반 핸들러 순서 보장 (P30→P50→P85).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57200" y="4991100"/>
            <a:ext cx="2646108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v0.30.1: core/hooks/ 추출 (cross-cutting) — 26개 파일 의존성 위반 해소 · 17 handlers registered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8492728" y="4995863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826"/>
            <a:ext cx="12607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HE-1: AUTONOMOUS AGENT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이중 주입 제거 + 동기/비동기 분리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tool_result와 announce가 같은 정보를 2회 주입하는 문제. OpenClaw 패턴 참조, 2파일 4줄로 해결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4953000" cy="783580"/>
          </a:xfrm>
          <a:prstGeom prst="roundRect">
            <a:avLst>
              <a:gd name="adj" fmla="val 648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838051"/>
            <a:ext cx="0" cy="783580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939552"/>
            <a:ext cx="46925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이중 주입 (Double Injection)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7225" y="1120527"/>
            <a:ext cx="4692587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OpenClaw의 Spawn+Announce 패턴을 도입할 때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동기/비동기 분리 조건을 누락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했습니다. delegate_task(동기)가 tool_result로 전체 데이터를 즉시 반환하는데, 다음 라운드에서 announce가 500자 요약을 다시 주입합니다. 서브에이전트 3개 위임 시 6건 메시지 중 50%가 중복입니다.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710482"/>
            <a:ext cx="2432000" cy="3204567"/>
          </a:xfrm>
          <a:prstGeom prst="roundRect">
            <a:avLst>
              <a:gd name="adj" fmla="val 208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1821507"/>
            <a:ext cx="22022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3675" y="1999208"/>
            <a:ext cx="2159050" cy="463451"/>
          </a:xfrm>
          <a:prstGeom prst="roundRect">
            <a:avLst>
              <a:gd name="adj" fmla="val 822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2075408"/>
            <a:ext cx="19951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3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95176" y="2195959"/>
            <a:ext cx="19951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경로1 </a:t>
            </a:r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95176" y="2300734"/>
            <a:ext cx="19951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delegate_task 동기 반환 (전체 데이터)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572085" y="2526060"/>
            <a:ext cx="2202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같은 정보 재주입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93675" y="2694236"/>
            <a:ext cx="2159050" cy="463451"/>
          </a:xfrm>
          <a:prstGeom prst="roundRect">
            <a:avLst>
              <a:gd name="adj" fmla="val 822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5176" y="2770436"/>
            <a:ext cx="19951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95176" y="2890986"/>
            <a:ext cx="19951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경로2 </a:t>
            </a:r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95176" y="2995761"/>
            <a:ext cx="19951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system_event로 500자 요약 재주입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3675" y="4597747"/>
            <a:ext cx="2159050" cy="206276"/>
          </a:xfrm>
          <a:prstGeom prst="roundRect">
            <a:avLst>
              <a:gd name="adj" fmla="val 18470"/>
            </a:avLst>
          </a:prstGeom>
          <a:solidFill>
            <a:srgbClr val="EF4444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9809" y="4648498"/>
            <a:ext cx="2046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같은 내용 2회 수신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978051" y="1710482"/>
            <a:ext cx="2432149" cy="3204567"/>
          </a:xfrm>
          <a:prstGeom prst="roundRect">
            <a:avLst>
              <a:gd name="adj" fmla="val 208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114526" y="1821507"/>
            <a:ext cx="22023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114526" y="1999208"/>
            <a:ext cx="2159198" cy="463451"/>
          </a:xfrm>
          <a:prstGeom prst="roundRect">
            <a:avLst>
              <a:gd name="adj" fmla="val 822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216027" y="2075408"/>
            <a:ext cx="19953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3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216027" y="2195959"/>
            <a:ext cx="19953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경로1 </a:t>
            </a:r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216027" y="2300734"/>
            <a:ext cx="1995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delegate_task 동기 반환 (전체 데이터)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3092934" y="2526060"/>
            <a:ext cx="220238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announce=False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114526" y="2684711"/>
            <a:ext cx="2159198" cy="463451"/>
          </a:xfrm>
          <a:prstGeom prst="roundRect">
            <a:avLst>
              <a:gd name="adj" fmla="val 822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216027" y="2760911"/>
            <a:ext cx="19953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4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216027" y="2881461"/>
            <a:ext cx="19953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 queue </a:t>
            </a:r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비어있음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16027" y="2986236"/>
            <a:ext cx="1995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0건 주입. 부모 polling은 유지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114526" y="4597747"/>
            <a:ext cx="2159198" cy="206276"/>
          </a:xfrm>
          <a:prstGeom prst="roundRect">
            <a:avLst>
              <a:gd name="adj" fmla="val 18470"/>
            </a:avLst>
          </a:prstGeom>
          <a:solidFill>
            <a:srgbClr val="34D399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170658" y="4648498"/>
            <a:ext cx="20469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 1회만 수신. 50% 절감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537150" y="838051"/>
            <a:ext cx="3149650" cy="1431280"/>
          </a:xfrm>
          <a:prstGeom prst="roundRect">
            <a:avLst>
              <a:gd name="adj" fmla="val 35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673626" y="949077"/>
            <a:ext cx="2934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3종 프론티어 비교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673626" y="1149102"/>
            <a:ext cx="1412974" cy="469702"/>
          </a:xfrm>
          <a:prstGeom prst="roundRect">
            <a:avLst>
              <a:gd name="adj" fmla="val 811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762476" y="1212503"/>
            <a:ext cx="12599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5762476" y="1298228"/>
            <a:ext cx="12599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 단일 경로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5762476" y="1383953"/>
            <a:ext cx="12599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 없음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762476" y="1469678"/>
            <a:ext cx="12599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이중 주입 없음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137350" y="1149102"/>
            <a:ext cx="1412974" cy="469702"/>
          </a:xfrm>
          <a:prstGeom prst="roundRect">
            <a:avLst>
              <a:gd name="adj" fmla="val 811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226201" y="1212503"/>
            <a:ext cx="12599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7226201" y="1298228"/>
            <a:ext cx="12599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agentTurn(동기): 콜백 직접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7226201" y="1383953"/>
            <a:ext cx="12599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systemEvent(비동기): announce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226201" y="1469678"/>
            <a:ext cx="12599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동기 시 announce 미사용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673626" y="1669554"/>
            <a:ext cx="1403449" cy="488752"/>
          </a:xfrm>
          <a:prstGeom prst="roundRect">
            <a:avLst>
              <a:gd name="adj" fmla="val 779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762476" y="1732955"/>
            <a:ext cx="1250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762476" y="1818680"/>
            <a:ext cx="1250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저장 (컨텍스트 차단)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5762476" y="1904405"/>
            <a:ext cx="1250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L1-L3: 10K→10 토큰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5762476" y="1990130"/>
            <a:ext cx="1250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이중 주입 없음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7127825" y="1669554"/>
            <a:ext cx="1422499" cy="488752"/>
          </a:xfrm>
          <a:prstGeom prst="roundRect">
            <a:avLst>
              <a:gd name="adj" fmla="val 7795"/>
            </a:avLst>
          </a:prstGeom>
          <a:solidFill>
            <a:srgbClr val="4ECDC4">
              <a:alpha val="6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226201" y="1742480"/>
            <a:ext cx="1250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(After)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7226201" y="1828205"/>
            <a:ext cx="1250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동기: tool_result만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26201" y="1913930"/>
            <a:ext cx="1250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비동기: announce 유지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7226201" y="1999655"/>
            <a:ext cx="1250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 패턴 채택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537150" y="2358182"/>
            <a:ext cx="3149650" cy="866477"/>
          </a:xfrm>
          <a:prstGeom prst="roundRect">
            <a:avLst>
              <a:gd name="adj" fmla="val 586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5673626" y="2469207"/>
            <a:ext cx="2934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동시성 제어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673626" y="2656433"/>
            <a:ext cx="916632" cy="457200"/>
          </a:xfrm>
          <a:prstGeom prst="roundRect">
            <a:avLst>
              <a:gd name="adj" fmla="val 11111"/>
            </a:avLst>
          </a:prstGeom>
          <a:solidFill>
            <a:srgbClr val="4ECDC4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742183" y="2732633"/>
            <a:ext cx="7795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5742183" y="2970758"/>
            <a:ext cx="77951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6653659" y="2656433"/>
            <a:ext cx="916632" cy="457200"/>
          </a:xfrm>
          <a:prstGeom prst="roundRect">
            <a:avLst>
              <a:gd name="adj" fmla="val 11111"/>
            </a:avLst>
          </a:prstGeom>
          <a:solidFill>
            <a:srgbClr val="4ECDC4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722217" y="2732633"/>
            <a:ext cx="7795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722217" y="2904083"/>
            <a:ext cx="77951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</a:t>
            </a:r>
            <a:endParaRPr lang="en-US" sz="500" dirty="0"/>
          </a:p>
        </p:txBody>
      </p:sp>
      <p:sp>
        <p:nvSpPr>
          <p:cNvPr id="66" name="Text 64"/>
          <p:cNvSpPr/>
          <p:nvPr/>
        </p:nvSpPr>
        <p:spPr>
          <a:xfrm>
            <a:off x="7633692" y="2656433"/>
            <a:ext cx="916632" cy="457200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702250" y="2732633"/>
            <a:ext cx="7795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7702250" y="2904083"/>
            <a:ext cx="77951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limit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5537150" y="3313509"/>
            <a:ext cx="3149650" cy="1601539"/>
          </a:xfrm>
          <a:prstGeom prst="roundRect">
            <a:avLst>
              <a:gd name="adj" fmla="val 317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Shape 68"/>
          <p:cNvSpPr/>
          <p:nvPr/>
        </p:nvSpPr>
        <p:spPr>
          <a:xfrm>
            <a:off x="5560963" y="3313509"/>
            <a:ext cx="0" cy="1601539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711726" y="3415010"/>
            <a:ext cx="29050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동기/비동기 경로 분리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711726" y="3589586"/>
            <a:ext cx="290508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Code처럼 announce를 완전히 제거하면 단순하지만 비동기 경로를 포기해야 합니다. OpenClaw 방식을 채택하여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 기본값 True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유지하고, 동기 호출(delegate_task)에서만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announce=False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비활성화합니다. 기존 비동기 경로(systemEvent)는 그대로 작동합니다.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711726" y="4173141"/>
            <a:ext cx="29050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규모: 2파일 4줄. Open-Closed 원칙 준수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457200" y="4978450"/>
            <a:ext cx="3313896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sub_agent.py · delegate(announce=False) 3중 조건: announce AND _announce_enabled AND _parent_session_key</a:t>
            </a:r>
            <a:endParaRPr lang="en-US" sz="500" dirty="0"/>
          </a:p>
        </p:txBody>
      </p:sp>
      <p:sp>
        <p:nvSpPr>
          <p:cNvPr id="75" name="Text 73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826"/>
            <a:ext cx="12607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HE-1: AUTONOMOUS AGENT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단일 Provider 의존 → 3-Provider Chain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Limit·장애 시 파이프라인 전체 중단 방지 — CircuitBreaker 3-state + Exponential Backoff</a:t>
            </a:r>
            <a:endParaRPr lang="en-US" sz="500" dirty="0"/>
          </a:p>
        </p:txBody>
      </p:sp>
      <p:sp>
        <p:nvSpPr>
          <p:cNvPr id="6" name="Text 4"/>
          <p:cNvSpPr/>
          <p:nvPr/>
        </p:nvSpPr>
        <p:spPr>
          <a:xfrm>
            <a:off x="457200" y="809476"/>
            <a:ext cx="5181600" cy="558701"/>
          </a:xfrm>
          <a:prstGeom prst="roundRect">
            <a:avLst>
              <a:gd name="adj" fmla="val 909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809476"/>
            <a:ext cx="0" cy="558701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936427"/>
            <a:ext cx="49257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Provider에 의존하면 Rate Limit이나 장애 시 파이프라인 전체가 중단됩니다. Anthropic·OpenAI·ZhipuAI를 </a:t>
            </a:r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추상화하고, Provider별 독립 </a:t>
            </a:r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배치했습니다.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469678"/>
            <a:ext cx="5181600" cy="2012156"/>
          </a:xfrm>
          <a:prstGeom prst="roundRect">
            <a:avLst>
              <a:gd name="adj" fmla="val 252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9125" y="1606153"/>
            <a:ext cx="49549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CHAIN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19125" y="1845766"/>
            <a:ext cx="1398984" cy="584002"/>
          </a:xfrm>
          <a:prstGeom prst="roundRect">
            <a:avLst>
              <a:gd name="adj" fmla="val 8699"/>
            </a:avLst>
          </a:prstGeom>
          <a:solidFill>
            <a:srgbClr val="818CF8">
              <a:alpha val="12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55600" y="1956792"/>
            <a:ext cx="1148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5600" y="2090142"/>
            <a:ext cx="114855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claude-opus-4-6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55600" y="2185392"/>
            <a:ext cx="114855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claude-sonnet-4-6</a:t>
            </a:r>
            <a:endParaRPr lang="en-US" sz="500" dirty="0"/>
          </a:p>
        </p:txBody>
      </p:sp>
      <p:sp>
        <p:nvSpPr>
          <p:cNvPr id="15" name="Text 13"/>
          <p:cNvSpPr/>
          <p:nvPr/>
        </p:nvSpPr>
        <p:spPr>
          <a:xfrm>
            <a:off x="755600" y="2252067"/>
            <a:ext cx="114855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claude-haiku-3-5</a:t>
            </a:r>
            <a:endParaRPr lang="en-US" sz="500" dirty="0"/>
          </a:p>
        </p:txBody>
      </p:sp>
      <p:sp>
        <p:nvSpPr>
          <p:cNvPr id="16" name="Text 14"/>
          <p:cNvSpPr/>
          <p:nvPr/>
        </p:nvSpPr>
        <p:spPr>
          <a:xfrm>
            <a:off x="2092531" y="1999655"/>
            <a:ext cx="18140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fails</a:t>
            </a:r>
            <a:endParaRPr lang="en-US" sz="500" dirty="0"/>
          </a:p>
        </p:txBody>
      </p:sp>
      <p:sp>
        <p:nvSpPr>
          <p:cNvPr id="17" name="Text 15"/>
          <p:cNvSpPr/>
          <p:nvPr/>
        </p:nvSpPr>
        <p:spPr>
          <a:xfrm>
            <a:off x="2092531" y="2066330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348359" y="1845766"/>
            <a:ext cx="1399133" cy="584002"/>
          </a:xfrm>
          <a:prstGeom prst="roundRect">
            <a:avLst>
              <a:gd name="adj" fmla="val 8699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484834" y="1956792"/>
            <a:ext cx="11487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84834" y="2090142"/>
            <a:ext cx="114870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484834" y="2185392"/>
            <a:ext cx="114870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gpt-5.3</a:t>
            </a:r>
            <a:endParaRPr lang="en-US" sz="500" dirty="0"/>
          </a:p>
        </p:txBody>
      </p:sp>
      <p:sp>
        <p:nvSpPr>
          <p:cNvPr id="22" name="Text 20"/>
          <p:cNvSpPr/>
          <p:nvPr/>
        </p:nvSpPr>
        <p:spPr>
          <a:xfrm>
            <a:off x="2484834" y="2252067"/>
            <a:ext cx="114870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gpt-4o</a:t>
            </a:r>
            <a:endParaRPr lang="en-US" sz="500" dirty="0"/>
          </a:p>
        </p:txBody>
      </p:sp>
      <p:sp>
        <p:nvSpPr>
          <p:cNvPr id="23" name="Text 21"/>
          <p:cNvSpPr/>
          <p:nvPr/>
        </p:nvSpPr>
        <p:spPr>
          <a:xfrm>
            <a:off x="3821914" y="1999655"/>
            <a:ext cx="18140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fails</a:t>
            </a:r>
            <a:endParaRPr lang="en-US" sz="500" dirty="0"/>
          </a:p>
        </p:txBody>
      </p:sp>
      <p:sp>
        <p:nvSpPr>
          <p:cNvPr id="24" name="Text 22"/>
          <p:cNvSpPr/>
          <p:nvPr/>
        </p:nvSpPr>
        <p:spPr>
          <a:xfrm>
            <a:off x="3821914" y="2066330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077742" y="1841004"/>
            <a:ext cx="1399133" cy="593527"/>
          </a:xfrm>
          <a:prstGeom prst="roundRect">
            <a:avLst>
              <a:gd name="adj" fmla="val 8559"/>
            </a:avLst>
          </a:prstGeom>
          <a:solidFill>
            <a:srgbClr val="F5C542">
              <a:alpha val="12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14217" y="1952030"/>
            <a:ext cx="11487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214217" y="2085380"/>
            <a:ext cx="114870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214217" y="2180630"/>
            <a:ext cx="1148706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500" dirty="0"/>
          </a:p>
        </p:txBody>
      </p:sp>
      <p:sp>
        <p:nvSpPr>
          <p:cNvPr id="29" name="Text 27"/>
          <p:cNvSpPr/>
          <p:nvPr/>
        </p:nvSpPr>
        <p:spPr>
          <a:xfrm>
            <a:off x="4214217" y="2256830"/>
            <a:ext cx="114870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 context</a:t>
            </a:r>
            <a:endParaRPr lang="en-US" sz="500" dirty="0"/>
          </a:p>
        </p:txBody>
      </p:sp>
      <p:sp>
        <p:nvSpPr>
          <p:cNvPr id="30" name="Text 28"/>
          <p:cNvSpPr/>
          <p:nvPr/>
        </p:nvSpPr>
        <p:spPr>
          <a:xfrm>
            <a:off x="619125" y="2536031"/>
            <a:ext cx="4857750" cy="809327"/>
          </a:xfrm>
          <a:prstGeom prst="roundRect">
            <a:avLst>
              <a:gd name="adj" fmla="val 627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55600" y="2647057"/>
            <a:ext cx="46764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CircuitBreaker 상태 머신 (Provider별 독립)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55600" y="2828032"/>
            <a:ext cx="1245691" cy="406301"/>
          </a:xfrm>
          <a:prstGeom prst="roundRect">
            <a:avLst>
              <a:gd name="adj" fmla="val 12503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56390" y="2926407"/>
            <a:ext cx="10441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56390" y="3059757"/>
            <a:ext cx="104411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</a:t>
            </a:r>
            <a:endParaRPr lang="en-US" sz="500" dirty="0"/>
          </a:p>
        </p:txBody>
      </p:sp>
      <p:sp>
        <p:nvSpPr>
          <p:cNvPr id="35" name="Text 33"/>
          <p:cNvSpPr/>
          <p:nvPr/>
        </p:nvSpPr>
        <p:spPr>
          <a:xfrm>
            <a:off x="2074042" y="2921645"/>
            <a:ext cx="351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연속 5회 실패</a:t>
            </a:r>
            <a:endParaRPr lang="en-US" sz="500" dirty="0"/>
          </a:p>
        </p:txBody>
      </p:sp>
      <p:sp>
        <p:nvSpPr>
          <p:cNvPr id="36" name="Text 34"/>
          <p:cNvSpPr/>
          <p:nvPr/>
        </p:nvSpPr>
        <p:spPr>
          <a:xfrm>
            <a:off x="2074042" y="2997845"/>
            <a:ext cx="351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498675" y="2828032"/>
            <a:ext cx="1245691" cy="406301"/>
          </a:xfrm>
          <a:prstGeom prst="roundRect">
            <a:avLst>
              <a:gd name="adj" fmla="val 12503"/>
            </a:avLst>
          </a:prstGeom>
          <a:solidFill>
            <a:srgbClr val="EF4444">
              <a:alpha val="12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599465" y="2926407"/>
            <a:ext cx="10441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99465" y="3059757"/>
            <a:ext cx="104411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차단</a:t>
            </a:r>
            <a:endParaRPr lang="en-US" sz="500" dirty="0"/>
          </a:p>
        </p:txBody>
      </p:sp>
      <p:sp>
        <p:nvSpPr>
          <p:cNvPr id="40" name="Text 38"/>
          <p:cNvSpPr/>
          <p:nvPr/>
        </p:nvSpPr>
        <p:spPr>
          <a:xfrm>
            <a:off x="3818587" y="2921645"/>
            <a:ext cx="20190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60초 후</a:t>
            </a:r>
            <a:endParaRPr lang="en-US" sz="500" dirty="0"/>
          </a:p>
        </p:txBody>
      </p:sp>
      <p:sp>
        <p:nvSpPr>
          <p:cNvPr id="41" name="Text 39"/>
          <p:cNvSpPr/>
          <p:nvPr/>
        </p:nvSpPr>
        <p:spPr>
          <a:xfrm>
            <a:off x="3818587" y="2997845"/>
            <a:ext cx="2019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094708" y="2828032"/>
            <a:ext cx="1245691" cy="406301"/>
          </a:xfrm>
          <a:prstGeom prst="roundRect">
            <a:avLst>
              <a:gd name="adj" fmla="val 12503"/>
            </a:avLst>
          </a:prstGeom>
          <a:solidFill>
            <a:srgbClr val="F5C542">
              <a:alpha val="12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195498" y="2926407"/>
            <a:ext cx="10441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195498" y="3059757"/>
            <a:ext cx="104411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5765750" y="809476"/>
            <a:ext cx="2921050" cy="1371005"/>
          </a:xfrm>
          <a:prstGeom prst="roundRect">
            <a:avLst>
              <a:gd name="adj" fmla="val 370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927675" y="945952"/>
            <a:ext cx="26491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에러 분류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927675" y="1190327"/>
            <a:ext cx="1260425" cy="853678"/>
          </a:xfrm>
          <a:prstGeom prst="roundRect">
            <a:avLst>
              <a:gd name="adj" fmla="val 5951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064151" y="1301353"/>
            <a:ext cx="10072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Retryable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241852" y="1479054"/>
            <a:ext cx="80977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RateLimit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064151" y="1828205"/>
            <a:ext cx="100722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Exp. Backoff ±25% Jitter</a:t>
            </a:r>
            <a:endParaRPr lang="en-US" sz="500" dirty="0"/>
          </a:p>
        </p:txBody>
      </p:sp>
      <p:sp>
        <p:nvSpPr>
          <p:cNvPr id="51" name="Text 49"/>
          <p:cNvSpPr/>
          <p:nvPr/>
        </p:nvSpPr>
        <p:spPr>
          <a:xfrm>
            <a:off x="7264301" y="1190327"/>
            <a:ext cx="1260574" cy="853678"/>
          </a:xfrm>
          <a:prstGeom prst="roundRect">
            <a:avLst>
              <a:gd name="adj" fmla="val 5951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00776" y="1301353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Non-retryable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578477" y="1479054"/>
            <a:ext cx="80992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잔액 부족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 오류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초과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400776" y="1856780"/>
            <a:ext cx="1007376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즉시 다음 Provider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5765750" y="2281982"/>
            <a:ext cx="2921050" cy="2642592"/>
          </a:xfrm>
          <a:prstGeom prst="roundRect">
            <a:avLst>
              <a:gd name="adj" fmla="val 19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Shape 54"/>
          <p:cNvSpPr/>
          <p:nvPr/>
        </p:nvSpPr>
        <p:spPr>
          <a:xfrm>
            <a:off x="5789563" y="2281982"/>
            <a:ext cx="0" cy="2642592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65775" y="2408932"/>
            <a:ext cx="2619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설계 결정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965775" y="2628007"/>
            <a:ext cx="26199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메모리가 모델에 종속되지 않습니다.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4-Tier 메모리는 Provider와 분리되어 Failover 시에도 세션 학습 내용이 그대로 유지됩니다.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965775" y="3161407"/>
            <a:ext cx="261999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0"/>
              </a:lnSpc>
              <a:spcBef>
                <a:spcPts val="6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추상화로 새 Provider 추가 시 어댑터 1개만 구현. Thundering Herd 방지를 위해 ±25% Jitter 적용.</a:t>
            </a:r>
            <a:endParaRPr lang="en-US" sz="500" dirty="0"/>
          </a:p>
        </p:txBody>
      </p:sp>
      <p:sp>
        <p:nvSpPr>
          <p:cNvPr id="60" name="Text 58"/>
          <p:cNvSpPr/>
          <p:nvPr/>
        </p:nvSpPr>
        <p:spPr>
          <a:xfrm>
            <a:off x="457200" y="4987975"/>
            <a:ext cx="35998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llm_client.py · circuit_breaker.py · Port/Adapter pattern — 3 providers, 9 models in chain · thread-safe Lock per CircuitBreaker</a:t>
            </a:r>
            <a:endParaRPr lang="en-US" sz="500" dirty="0"/>
          </a:p>
        </p:txBody>
      </p:sp>
      <p:sp>
        <p:nvSpPr>
          <p:cNvPr id="61" name="Text 59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826"/>
            <a:ext cx="12607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HE-1: AUTONOMOUS AGENT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+ Memory: 압축 전략 × 4-Tier 자동 학습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종료 시 인사이트 휘발 방지 — PIPELINE_END → MEMORY.md 자동 축적 루프</a:t>
            </a:r>
            <a:endParaRPr lang="en-US" sz="500" dirty="0"/>
          </a:p>
        </p:txBody>
      </p:sp>
      <p:sp>
        <p:nvSpPr>
          <p:cNvPr id="6" name="Text 4"/>
          <p:cNvSpPr/>
          <p:nvPr/>
        </p:nvSpPr>
        <p:spPr>
          <a:xfrm>
            <a:off x="457200" y="809476"/>
            <a:ext cx="4368701" cy="558701"/>
          </a:xfrm>
          <a:prstGeom prst="roundRect">
            <a:avLst>
              <a:gd name="adj" fmla="val 909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809476"/>
            <a:ext cx="0" cy="558701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936427"/>
            <a:ext cx="409660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서브에이전트는 부모와 독립된 200K 컨텍스트 윈도우를 갖기 때문에 </a:t>
            </a:r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3이면 유효 컨텍스트가 600K로 선형 확장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됩니다. 임계값 초과 시 3-Phase 압축이 자동 발동합니다.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469678"/>
            <a:ext cx="4368701" cy="3454896"/>
          </a:xfrm>
          <a:prstGeom prst="roundRect">
            <a:avLst>
              <a:gd name="adj" fmla="val 147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9125" y="1606153"/>
            <a:ext cx="4125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압축 3-PHASE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19125" y="1850529"/>
            <a:ext cx="1015901" cy="241102"/>
          </a:xfrm>
          <a:prstGeom prst="roundRect">
            <a:avLst>
              <a:gd name="adj" fmla="val 21070"/>
            </a:avLst>
          </a:prstGeom>
          <a:solidFill>
            <a:srgbClr val="F5C542">
              <a:alpha val="12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22212" y="1923455"/>
            <a:ext cx="80972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WARNING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736527" y="1850529"/>
            <a:ext cx="2985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SUMMARIZE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736527" y="1964829"/>
            <a:ext cx="2985998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 블록 &gt;5% 윈도우 → [summarized: N tokens]</a:t>
            </a:r>
            <a:endParaRPr lang="en-US" sz="500" dirty="0"/>
          </a:p>
        </p:txBody>
      </p:sp>
      <p:sp>
        <p:nvSpPr>
          <p:cNvPr id="15" name="Text 13"/>
          <p:cNvSpPr/>
          <p:nvPr/>
        </p:nvSpPr>
        <p:spPr>
          <a:xfrm>
            <a:off x="619125" y="2193131"/>
            <a:ext cx="1015901" cy="241102"/>
          </a:xfrm>
          <a:prstGeom prst="roundRect">
            <a:avLst>
              <a:gd name="adj" fmla="val 21070"/>
            </a:avLst>
          </a:prstGeom>
          <a:solidFill>
            <a:srgbClr val="EF4444">
              <a:alpha val="12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22212" y="2266057"/>
            <a:ext cx="80972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CRITICAL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736527" y="2193131"/>
            <a:ext cx="2985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ADAPTIVE PRUNE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736527" y="2307431"/>
            <a:ext cx="2985998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최신→과거 순 70% 예산 내 유지, first+last 2 보존</a:t>
            </a:r>
            <a:endParaRPr lang="en-US" sz="500" dirty="0"/>
          </a:p>
        </p:txBody>
      </p:sp>
      <p:sp>
        <p:nvSpPr>
          <p:cNvPr id="19" name="Text 17"/>
          <p:cNvSpPr/>
          <p:nvPr/>
        </p:nvSpPr>
        <p:spPr>
          <a:xfrm>
            <a:off x="619125" y="2535734"/>
            <a:ext cx="1015901" cy="250627"/>
          </a:xfrm>
          <a:prstGeom prst="roundRect">
            <a:avLst>
              <a:gd name="adj" fmla="val 20269"/>
            </a:avLst>
          </a:prstGeom>
          <a:solidFill>
            <a:srgbClr val="EF4444">
              <a:alpha val="6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22212" y="2608659"/>
            <a:ext cx="8097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비상 폴백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736527" y="2535734"/>
            <a:ext cx="2985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EMERGENCY PRUNE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736527" y="2650034"/>
            <a:ext cx="2985998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prune_oldest_messages(keep_recent=10) 최후 수단</a:t>
            </a:r>
            <a:endParaRPr lang="en-US" sz="500" dirty="0"/>
          </a:p>
        </p:txBody>
      </p:sp>
      <p:sp>
        <p:nvSpPr>
          <p:cNvPr id="23" name="Text 21"/>
          <p:cNvSpPr/>
          <p:nvPr/>
        </p:nvSpPr>
        <p:spPr>
          <a:xfrm>
            <a:off x="619125" y="2887861"/>
            <a:ext cx="4044851" cy="253901"/>
          </a:xfrm>
          <a:prstGeom prst="roundRect">
            <a:avLst>
              <a:gd name="adj" fmla="val 2000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46075" y="2976711"/>
            <a:ext cx="386676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P6 패턴: 4 chars/token 보수적 추정 → 실제보다 낮게 계산 = 안전 마진 확보</a:t>
            </a:r>
            <a:endParaRPr lang="en-US" sz="500" dirty="0"/>
          </a:p>
        </p:txBody>
      </p:sp>
      <p:sp>
        <p:nvSpPr>
          <p:cNvPr id="25" name="Text 23"/>
          <p:cNvSpPr/>
          <p:nvPr/>
        </p:nvSpPr>
        <p:spPr>
          <a:xfrm>
            <a:off x="4952851" y="809476"/>
            <a:ext cx="3733949" cy="2180332"/>
          </a:xfrm>
          <a:prstGeom prst="roundRect">
            <a:avLst>
              <a:gd name="adj" fmla="val 233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114776" y="945952"/>
            <a:ext cx="34783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피라미드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114776" y="1190327"/>
            <a:ext cx="3410099" cy="377726"/>
          </a:xfrm>
          <a:prstGeom prst="roundRect">
            <a:avLst>
              <a:gd name="adj" fmla="val 13449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251252" y="1288703"/>
            <a:ext cx="104972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(Tier 3) — 최우선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251252" y="1393478"/>
            <a:ext cx="104972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기반 · 현재 작업 맥락</a:t>
            </a:r>
            <a:endParaRPr lang="en-US" sz="500" dirty="0"/>
          </a:p>
        </p:txBody>
      </p:sp>
      <p:sp>
        <p:nvSpPr>
          <p:cNvPr id="30" name="Text 28"/>
          <p:cNvSpPr/>
          <p:nvPr/>
        </p:nvSpPr>
        <p:spPr>
          <a:xfrm>
            <a:off x="8228409" y="1326803"/>
            <a:ext cx="1631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40%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114776" y="1631454"/>
            <a:ext cx="3410099" cy="358676"/>
          </a:xfrm>
          <a:prstGeom prst="roundRect">
            <a:avLst>
              <a:gd name="adj" fmla="val 14163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251252" y="1729829"/>
            <a:ext cx="13270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(Tier 2)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251252" y="1825079"/>
            <a:ext cx="132707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.geode/memory/PROJECT.md · max 200 lines</a:t>
            </a:r>
            <a:endParaRPr lang="en-US" sz="500" dirty="0"/>
          </a:p>
        </p:txBody>
      </p:sp>
      <p:sp>
        <p:nvSpPr>
          <p:cNvPr id="34" name="Text 32"/>
          <p:cNvSpPr/>
          <p:nvPr/>
        </p:nvSpPr>
        <p:spPr>
          <a:xfrm>
            <a:off x="8228409" y="1758404"/>
            <a:ext cx="1631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25%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114776" y="2053530"/>
            <a:ext cx="3410099" cy="368201"/>
          </a:xfrm>
          <a:prstGeom prst="roundRect">
            <a:avLst>
              <a:gd name="adj" fmla="val 13797"/>
            </a:avLst>
          </a:prstGeom>
          <a:solidFill>
            <a:srgbClr val="818CF8">
              <a:alpha val="8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51252" y="2151906"/>
            <a:ext cx="8798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Organization (Tier 1)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251252" y="2247156"/>
            <a:ext cx="87986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 가이드라인 · 공통 루브릭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228409" y="2185243"/>
            <a:ext cx="1631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25%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114776" y="2485132"/>
            <a:ext cx="3410099" cy="368201"/>
          </a:xfrm>
          <a:prstGeom prst="roundRect">
            <a:avLst>
              <a:gd name="adj" fmla="val 13797"/>
            </a:avLst>
          </a:prstGeom>
          <a:solidFill>
            <a:srgbClr val="E2E8F0">
              <a:alpha val="6000"/>
            </a:srgbClr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251252" y="2583507"/>
            <a:ext cx="12054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SOUL (Tier 0) — GEODE.md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251252" y="2678757"/>
            <a:ext cx="120548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정체성 · Karpathy P7 패턴</a:t>
            </a:r>
            <a:endParaRPr lang="en-US" sz="500" dirty="0"/>
          </a:p>
        </p:txBody>
      </p:sp>
      <p:sp>
        <p:nvSpPr>
          <p:cNvPr id="42" name="Text 40"/>
          <p:cNvSpPr/>
          <p:nvPr/>
        </p:nvSpPr>
        <p:spPr>
          <a:xfrm>
            <a:off x="8228409" y="2616845"/>
            <a:ext cx="1631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952851" y="3091309"/>
            <a:ext cx="3733949" cy="1833265"/>
          </a:xfrm>
          <a:prstGeom prst="roundRect">
            <a:avLst>
              <a:gd name="adj" fmla="val 277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4976664" y="3091309"/>
            <a:ext cx="0" cy="1833265"/>
          </a:xfrm>
          <a:prstGeom prst="line">
            <a:avLst/>
          </a:prstGeom>
          <a:noFill/>
          <a:ln w="47625">
            <a:solidFill>
              <a:srgbClr val="34D39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52876" y="3218259"/>
            <a:ext cx="34491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자동 학습 루프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152876" y="3437334"/>
            <a:ext cx="3449154" cy="46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세션이 끝나면 Hook P85 </a:t>
            </a:r>
            <a:pPr algn="l"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memory_write_back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인사이트를 </a:t>
            </a:r>
            <a:pPr algn="l" indent="0" marL="0">
              <a:lnSpc>
                <a:spcPts val="120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.geode/memory/PROJECT.md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자동 축적합니다. 최대 50개 인사이트 (oldest-drop rotation).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4987975"/>
            <a:ext cx="380498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context_monitor.py · memory/context.py (ContextAssembler) · 280-char LLM summary budget · file-based .geode/ hub (git-trackable)</a:t>
            </a:r>
            <a:endParaRPr lang="en-US" sz="500" dirty="0"/>
          </a:p>
        </p:txBody>
      </p:sp>
      <p:sp>
        <p:nvSpPr>
          <p:cNvPr id="48" name="Text 4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1854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HE-1: AUTONOMOUS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6-Phase 동적 조립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9517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 → 변경 추적 불가 + 캐시 히트율 하락. SHA-256 해시와 ephemeral 캐시로 해결.</a:t>
            </a:r>
            <a:endParaRPr lang="en-US" sz="500" dirty="0"/>
          </a:p>
        </p:txBody>
      </p:sp>
      <p:sp>
        <p:nvSpPr>
          <p:cNvPr id="6" name="Text 4"/>
          <p:cNvSpPr/>
          <p:nvPr/>
        </p:nvSpPr>
        <p:spPr>
          <a:xfrm>
            <a:off x="457200" y="872877"/>
            <a:ext cx="4925169" cy="663178"/>
          </a:xfrm>
          <a:prstGeom prst="roundRect">
            <a:avLst>
              <a:gd name="adj" fmla="val 766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872877"/>
            <a:ext cx="0" cy="663178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987177"/>
            <a:ext cx="466419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— 수동 편집의 두 가지 실패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657225" y="1155353"/>
            <a:ext cx="466419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변경 추적 불가: 어느 버전이 어떤 결과를 냈는지 재현 불가.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288554"/>
            <a:ext cx="466419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캐시 히트율 하락: 작은 수정 한 줄이 전체 해시를 바꿔 캐시 미스 유발.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637556"/>
            <a:ext cx="4925169" cy="873026"/>
          </a:xfrm>
          <a:prstGeom prst="roundRect">
            <a:avLst>
              <a:gd name="adj" fmla="val 581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9125" y="1761381"/>
            <a:ext cx="46933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— 6-Phase 조립 파이프라인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19125" y="2024807"/>
            <a:ext cx="612874" cy="323850"/>
          </a:xfrm>
          <a:prstGeom prst="roundRect">
            <a:avLst>
              <a:gd name="adj" fmla="val 1568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3624" y="2101007"/>
            <a:ext cx="4438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03624" y="2196257"/>
            <a:ext cx="44387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정의</a:t>
            </a:r>
            <a:endParaRPr lang="en-US" sz="500" dirty="0"/>
          </a:p>
        </p:txBody>
      </p:sp>
      <p:sp>
        <p:nvSpPr>
          <p:cNvPr id="16" name="Text 14"/>
          <p:cNvSpPr/>
          <p:nvPr/>
        </p:nvSpPr>
        <p:spPr>
          <a:xfrm>
            <a:off x="1282750" y="2139107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412974" y="1986707"/>
            <a:ext cx="613023" cy="400050"/>
          </a:xfrm>
          <a:prstGeom prst="roundRect">
            <a:avLst>
              <a:gd name="adj" fmla="val 1269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497471" y="2062907"/>
            <a:ext cx="4440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497471" y="2158157"/>
            <a:ext cx="4440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노드별 오버라이드</a:t>
            </a:r>
            <a:endParaRPr lang="en-US" sz="500" dirty="0"/>
          </a:p>
        </p:txBody>
      </p:sp>
      <p:sp>
        <p:nvSpPr>
          <p:cNvPr id="20" name="Text 18"/>
          <p:cNvSpPr/>
          <p:nvPr/>
        </p:nvSpPr>
        <p:spPr>
          <a:xfrm>
            <a:off x="2076748" y="2139107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206972" y="2024807"/>
            <a:ext cx="612874" cy="323850"/>
          </a:xfrm>
          <a:prstGeom prst="roundRect">
            <a:avLst>
              <a:gd name="adj" fmla="val 1568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291471" y="2101007"/>
            <a:ext cx="4438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291471" y="2196257"/>
            <a:ext cx="44387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매칭</a:t>
            </a:r>
            <a:endParaRPr lang="en-US" sz="500" dirty="0"/>
          </a:p>
        </p:txBody>
      </p:sp>
      <p:sp>
        <p:nvSpPr>
          <p:cNvPr id="24" name="Text 22"/>
          <p:cNvSpPr/>
          <p:nvPr/>
        </p:nvSpPr>
        <p:spPr>
          <a:xfrm>
            <a:off x="2870597" y="2139107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000821" y="2029569"/>
            <a:ext cx="612874" cy="314325"/>
          </a:xfrm>
          <a:prstGeom prst="roundRect">
            <a:avLst>
              <a:gd name="adj" fmla="val 1616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085320" y="2105769"/>
            <a:ext cx="4438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085320" y="2201019"/>
            <a:ext cx="44387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500" dirty="0"/>
          </a:p>
        </p:txBody>
      </p:sp>
      <p:sp>
        <p:nvSpPr>
          <p:cNvPr id="28" name="Text 26"/>
          <p:cNvSpPr/>
          <p:nvPr/>
        </p:nvSpPr>
        <p:spPr>
          <a:xfrm>
            <a:off x="3664446" y="2139107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794671" y="2024807"/>
            <a:ext cx="612874" cy="323850"/>
          </a:xfrm>
          <a:prstGeom prst="roundRect">
            <a:avLst>
              <a:gd name="adj" fmla="val 1568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79169" y="2101007"/>
            <a:ext cx="4438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879169" y="2196257"/>
            <a:ext cx="44387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접두사</a:t>
            </a:r>
            <a:endParaRPr lang="en-US" sz="500" dirty="0"/>
          </a:p>
        </p:txBody>
      </p:sp>
      <p:sp>
        <p:nvSpPr>
          <p:cNvPr id="32" name="Text 30"/>
          <p:cNvSpPr/>
          <p:nvPr/>
        </p:nvSpPr>
        <p:spPr>
          <a:xfrm>
            <a:off x="4458295" y="2139107"/>
            <a:ext cx="810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588520" y="2015282"/>
            <a:ext cx="631924" cy="342900"/>
          </a:xfrm>
          <a:prstGeom prst="roundRect">
            <a:avLst>
              <a:gd name="adj" fmla="val 14815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682544" y="2101007"/>
            <a:ext cx="4438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682544" y="2196257"/>
            <a:ext cx="44387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추적</a:t>
            </a:r>
            <a:endParaRPr lang="en-US" sz="500" dirty="0"/>
          </a:p>
        </p:txBody>
      </p:sp>
      <p:sp>
        <p:nvSpPr>
          <p:cNvPr id="36" name="Text 34"/>
          <p:cNvSpPr/>
          <p:nvPr/>
        </p:nvSpPr>
        <p:spPr>
          <a:xfrm>
            <a:off x="457200" y="2612082"/>
            <a:ext cx="4925169" cy="669578"/>
          </a:xfrm>
          <a:prstGeom prst="roundRect">
            <a:avLst>
              <a:gd name="adj" fmla="val 75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19125" y="2735907"/>
            <a:ext cx="46933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— 조립 복잡도 vs 캐시 안정성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19125" y="2891433"/>
            <a:ext cx="4693346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Phase가 독립 청크로 분리되어 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변경된 Phase만 해시가 달라집니다.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cache_control 범위가 명확해져 캐시 히트율이 보존됩니다.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509320" y="872877"/>
            <a:ext cx="3177480" cy="1114276"/>
          </a:xfrm>
          <a:prstGeom prst="roundRect">
            <a:avLst>
              <a:gd name="adj" fmla="val 4559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5509320" y="891927"/>
            <a:ext cx="317748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32993" y="1063377"/>
            <a:ext cx="293013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— cache_control: ephemeral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632993" y="1234827"/>
            <a:ext cx="29301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5632993" y="1603028"/>
            <a:ext cx="29301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2회차부터 입력 비용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632993" y="1758553"/>
            <a:ext cx="293013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7개 노드가 동일 시스템 프롬프트 공유 시 적용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5509320" y="2088654"/>
            <a:ext cx="3177480" cy="2800945"/>
          </a:xfrm>
          <a:prstGeom prst="roundRect">
            <a:avLst>
              <a:gd name="adj" fmla="val 181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671245" y="2225129"/>
            <a:ext cx="29107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변경 추적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671245" y="2450455"/>
            <a:ext cx="2853630" cy="763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671245" y="2450455"/>
            <a:ext cx="2910703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조립 완료 시 전체 프롬프트를 SHA-256 해싱하여 버전 고정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671245" y="2663577"/>
            <a:ext cx="2910703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해시 = 동일 프롬프트 → 캐시 히트 보장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671245" y="2876699"/>
            <a:ext cx="2910703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변경 시 HookSystem 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PROMPT_CHANGED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발행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671245" y="3089821"/>
            <a:ext cx="2910703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Skills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전체가 이 파이프라인을 통해 주입됨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57200" y="4965799"/>
            <a:ext cx="3497276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→ override → skill → memory → bootstrap → SHA-256 · 7 노드 공유 · cache_control: ephemeral · 2회차 비용 10%</a:t>
            </a:r>
            <a:endParaRPr lang="en-US" sz="500" dirty="0"/>
          </a:p>
        </p:txBody>
      </p:sp>
      <p:sp>
        <p:nvSpPr>
          <p:cNvPr id="53" name="Text 51"/>
          <p:cNvSpPr/>
          <p:nvPr/>
        </p:nvSpPr>
        <p:spPr>
          <a:xfrm>
            <a:off x="8492728" y="4965799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1854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HE-1: AUTONOMOUS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단순화 + TokenTracker 자체 관측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9517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병목 제거로 LLM 도구 탐색을 열고, 자체 비용 트레이싱으로 루프 비용을 제어합니다.</a:t>
            </a:r>
            <a:endParaRPr lang="en-US" sz="500" dirty="0"/>
          </a:p>
        </p:txBody>
      </p:sp>
      <p:sp>
        <p:nvSpPr>
          <p:cNvPr id="6" name="Text 4"/>
          <p:cNvSpPr/>
          <p:nvPr/>
        </p:nvSpPr>
        <p:spPr>
          <a:xfrm>
            <a:off x="457200" y="872877"/>
            <a:ext cx="41322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단순화 — Before → After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117253"/>
            <a:ext cx="4051250" cy="888802"/>
          </a:xfrm>
          <a:prstGeom prst="roundRect">
            <a:avLst>
              <a:gd name="adj" fmla="val 5716"/>
            </a:avLst>
          </a:prstGeom>
          <a:solidFill>
            <a:srgbClr val="1A1010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19125" y="1241078"/>
            <a:ext cx="38019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3-Layer 병목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9125" y="1441103"/>
            <a:ext cx="3727400" cy="441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9125" y="1441103"/>
            <a:ext cx="3801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(257줄)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LLM 탐색을 가로막는 중앙 레지스트리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19125" y="1609279"/>
            <a:ext cx="3801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— Registry에 종속, 독립 검색 불가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777454"/>
            <a:ext cx="3801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Proxy stub 9개 — 중복 래퍼, 유지 관리 부담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57200" y="2107555"/>
            <a:ext cx="4051250" cy="888802"/>
          </a:xfrm>
          <a:prstGeom prst="roundRect">
            <a:avLst>
              <a:gd name="adj" fmla="val 5716"/>
            </a:avLst>
          </a:prstGeom>
          <a:solidFill>
            <a:srgbClr val="0D1E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9125" y="2231380"/>
            <a:ext cx="38019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2-Layer 직관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9125" y="2431405"/>
            <a:ext cx="3727400" cy="441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9125" y="2431405"/>
            <a:ext cx="3801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Catalog 검색 전용으로 축소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19125" y="2599581"/>
            <a:ext cx="3801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 [mcp.servers]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설정 통합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2767757"/>
            <a:ext cx="3801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44개 서버 auto-discovery · Proxy stub 9개 제거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57200" y="3097857"/>
            <a:ext cx="4051250" cy="669578"/>
          </a:xfrm>
          <a:prstGeom prst="roundRect">
            <a:avLst>
              <a:gd name="adj" fmla="val 75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19125" y="3221682"/>
            <a:ext cx="3801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— 제어 vs 탐색 자유도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19125" y="3377208"/>
            <a:ext cx="380194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Registry는 도구 목록을 완전 통제하지만 LLM의 런타임 탐색을 막습니다. Catalog로 전환하면 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44개 서버를 동적 관리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하면서도 HITL 4-Tier 권한 모델로 실행 경계를 유지합니다.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35401" y="872877"/>
            <a:ext cx="4132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 — 자체 비용 트레이싱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35401" y="1117253"/>
            <a:ext cx="4051399" cy="663178"/>
          </a:xfrm>
          <a:prstGeom prst="roundRect">
            <a:avLst>
              <a:gd name="adj" fmla="val 7660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659213" y="1117253"/>
            <a:ext cx="0" cy="663178"/>
          </a:xfrm>
          <a:prstGeom prst="line">
            <a:avLst/>
          </a:prstGeom>
          <a:noFill/>
          <a:ln w="47625">
            <a:solidFill>
              <a:srgbClr val="F5C5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35426" y="1231553"/>
            <a:ext cx="37729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만들었나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835426" y="1399729"/>
            <a:ext cx="377295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루프는 LLM 턴이 많습니다. LangSmith만으로는 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모델별 비용 내역과 캐시 히트율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추적하기 어려웠습니다.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635401" y="1881932"/>
            <a:ext cx="1974949" cy="664369"/>
          </a:xfrm>
          <a:prstGeom prst="roundRect">
            <a:avLst>
              <a:gd name="adj" fmla="val 764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635401" y="1891457"/>
            <a:ext cx="197494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49701" y="2015282"/>
            <a:ext cx="178127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49701" y="2183457"/>
            <a:ext cx="178127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모델, 입출력 토큰, cache_creation, cache_read 기록. 스레드 안전.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711851" y="1881932"/>
            <a:ext cx="1974949" cy="664369"/>
          </a:xfrm>
          <a:prstGeom prst="roundRect">
            <a:avLst>
              <a:gd name="adj" fmla="val 764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6711851" y="1891457"/>
            <a:ext cx="197494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26151" y="2015282"/>
            <a:ext cx="178127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826151" y="2183457"/>
            <a:ext cx="178127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Anthropic·OpenAI·GLM 실시간 비용 산출. 월별 JSONL 영속 저장.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635401" y="2647801"/>
            <a:ext cx="4051399" cy="2241798"/>
          </a:xfrm>
          <a:prstGeom prst="roundRect">
            <a:avLst>
              <a:gd name="adj" fmla="val 2266"/>
            </a:avLst>
          </a:prstGeom>
          <a:solidFill>
            <a:srgbClr val="060B14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797326" y="2771626"/>
            <a:ext cx="38021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797326" y="2984302"/>
            <a:ext cx="3727549" cy="441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97326" y="2984302"/>
            <a:ext cx="38021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세션/일간/월간 비용 + </a:t>
            </a:r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 실시간 표시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797326" y="3152477"/>
            <a:ext cx="38021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</a:t>
            </a:r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경고 → </a:t>
            </a:r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위험 시 adaptive pruning 자동 발동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97326" y="3320653"/>
            <a:ext cx="38021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ProjectJournal: 프로젝트별 실행 이력 + 누적 비용 추적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57200" y="4965799"/>
            <a:ext cx="35414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MCPRegistry(257줄) 삭제 · Catalog 검색 전용 · config.toml 통합 · TokenTracker ContextVar · 18 모델 가격 레지스트리 · /cost CLI</a:t>
            </a:r>
            <a:endParaRPr lang="en-US" sz="500" dirty="0"/>
          </a:p>
        </p:txBody>
      </p:sp>
      <p:sp>
        <p:nvSpPr>
          <p:cNvPr id="42" name="Text 40"/>
          <p:cNvSpPr/>
          <p:nvPr/>
        </p:nvSpPr>
        <p:spPr>
          <a:xfrm>
            <a:off x="8492728" y="4965799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097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평가의 편향을 병렬 전문가 4명 + 교차 검증 + PSM으로 극복합니다.</a:t>
            </a:r>
            <a:endParaRPr lang="en-US" sz="500" dirty="0"/>
          </a:p>
        </p:txBody>
      </p:sp>
      <p:pic>
        <p:nvPicPr>
          <p:cNvPr id="6" name="Image 0" descr="/Users/mango/workspace/portfolio/geode/slides/assets/v028-diagram-pipeline-d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34926"/>
            <a:ext cx="5715000" cy="265420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577977"/>
            <a:ext cx="5715000" cy="748754"/>
          </a:xfrm>
          <a:prstGeom prst="roundRect">
            <a:avLst>
              <a:gd name="adj" fmla="val 678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619125" y="3689003"/>
            <a:ext cx="3190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 (adapter.py:91-98)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619125" y="3835003"/>
            <a:ext cx="319063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619125" y="3968204"/>
            <a:ext cx="319063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619125" y="4139505"/>
            <a:ext cx="319063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500" dirty="0"/>
          </a:p>
        </p:txBody>
      </p:sp>
      <p:sp>
        <p:nvSpPr>
          <p:cNvPr id="12" name="Text 9"/>
          <p:cNvSpPr/>
          <p:nvPr/>
        </p:nvSpPr>
        <p:spPr>
          <a:xfrm>
            <a:off x="3924895" y="3689003"/>
            <a:ext cx="21270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924895" y="3844528"/>
            <a:ext cx="212708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 80 · A ≥ 60 · B ≥ 40 · C &lt; 40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24895" y="3990529"/>
            <a:ext cx="212708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축 코드 결정 트리 (LLM 아님)</a:t>
            </a:r>
            <a:endParaRPr lang="en-US" sz="500" dirty="0"/>
          </a:p>
        </p:txBody>
      </p:sp>
      <p:sp>
        <p:nvSpPr>
          <p:cNvPr id="15" name="Text 12"/>
          <p:cNvSpPr/>
          <p:nvPr/>
        </p:nvSpPr>
        <p:spPr>
          <a:xfrm>
            <a:off x="457200" y="4415582"/>
            <a:ext cx="5715000" cy="643979"/>
          </a:xfrm>
          <a:prstGeom prst="roundRect">
            <a:avLst>
              <a:gd name="adj" fmla="val 7888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19125" y="4526607"/>
            <a:ext cx="54989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결정 — Clean Context: 앵커링 편향 차단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619125" y="4682133"/>
            <a:ext cx="549897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"Analyst A의 S급 평가가 Analyst B를 편향시킵니다." 각 분석가에게 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전달 — 다른 분석가 점수 완전 차단. 7개 병렬 LLM 호출에서 독립 평가 보장.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299150" y="834926"/>
            <a:ext cx="24354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 — Golden Set 검증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299150" y="1034951"/>
            <a:ext cx="23876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32578" y="1145977"/>
            <a:ext cx="31089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32578" y="1400026"/>
            <a:ext cx="3108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867376" y="1182439"/>
            <a:ext cx="13128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867376" y="1296739"/>
            <a:ext cx="131280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6867376" y="1391989"/>
            <a:ext cx="131280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 → marketing_boost</a:t>
            </a:r>
            <a:endParaRPr lang="en-US" sz="500" dirty="0"/>
          </a:p>
        </p:txBody>
      </p:sp>
      <p:sp>
        <p:nvSpPr>
          <p:cNvPr id="25" name="Text 22"/>
          <p:cNvSpPr/>
          <p:nvPr/>
        </p:nvSpPr>
        <p:spPr>
          <a:xfrm>
            <a:off x="6299150" y="1682502"/>
            <a:ext cx="23876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432578" y="1793528"/>
            <a:ext cx="31089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432578" y="2047577"/>
            <a:ext cx="3108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6867376" y="1829991"/>
            <a:ext cx="13666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6867376" y="1944291"/>
            <a:ext cx="136669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6867376" y="2039541"/>
            <a:ext cx="136669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 → community_activation</a:t>
            </a:r>
            <a:endParaRPr lang="en-US" sz="500" dirty="0"/>
          </a:p>
        </p:txBody>
      </p:sp>
      <p:sp>
        <p:nvSpPr>
          <p:cNvPr id="31" name="Text 28"/>
          <p:cNvSpPr/>
          <p:nvPr/>
        </p:nvSpPr>
        <p:spPr>
          <a:xfrm>
            <a:off x="6299150" y="2330053"/>
            <a:ext cx="23876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6432578" y="2441079"/>
            <a:ext cx="31089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6432578" y="2695129"/>
            <a:ext cx="3108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6867376" y="2477542"/>
            <a:ext cx="13595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the Shell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6867376" y="2591842"/>
            <a:ext cx="1359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700" dirty="0"/>
          </a:p>
        </p:txBody>
      </p:sp>
      <p:sp>
        <p:nvSpPr>
          <p:cNvPr id="36" name="Text 33"/>
          <p:cNvSpPr/>
          <p:nvPr/>
        </p:nvSpPr>
        <p:spPr>
          <a:xfrm>
            <a:off x="6867376" y="2687092"/>
            <a:ext cx="135956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 → platform_expansion</a:t>
            </a:r>
            <a:endParaRPr lang="en-US" sz="500" dirty="0"/>
          </a:p>
        </p:txBody>
      </p:sp>
      <p:sp>
        <p:nvSpPr>
          <p:cNvPr id="37" name="Text 34"/>
          <p:cNvSpPr/>
          <p:nvPr/>
        </p:nvSpPr>
        <p:spPr>
          <a:xfrm>
            <a:off x="6299150" y="2977604"/>
            <a:ext cx="2387650" cy="1921520"/>
          </a:xfrm>
          <a:prstGeom prst="roundRect">
            <a:avLst>
              <a:gd name="adj" fmla="val 26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6435626" y="3088630"/>
            <a:ext cx="2156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(N4)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435626" y="3275856"/>
            <a:ext cx="2114699" cy="552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6435626" y="3275856"/>
            <a:ext cx="215699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 — 스키마·범위·근거·일관성</a:t>
            </a:r>
            <a:endParaRPr lang="en-US" sz="700" dirty="0"/>
          </a:p>
        </p:txBody>
      </p:sp>
      <p:sp>
        <p:nvSpPr>
          <p:cNvPr id="41" name="Text 38"/>
          <p:cNvSpPr/>
          <p:nvPr/>
        </p:nvSpPr>
        <p:spPr>
          <a:xfrm>
            <a:off x="6435626" y="3431381"/>
            <a:ext cx="215699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 — 6종 편향 탐지 (arXiv:2403.00811)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435626" y="3586907"/>
            <a:ext cx="2156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 — Claude×GPT α≥0.67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435626" y="3732907"/>
            <a:ext cx="2156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457200" y="4975324"/>
            <a:ext cx="32399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loopback ≥0.7 · max 5 iterations</a:t>
            </a:r>
            <a:endParaRPr lang="en-US" sz="500" dirty="0"/>
          </a:p>
        </p:txBody>
      </p:sp>
      <p:sp>
        <p:nvSpPr>
          <p:cNvPr id="45" name="Text 42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097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이식성: GEODE → REODE 실증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 0줄로 피봇. DomainPort Protocol이 도메인을 코어에서 분리합니다.</a:t>
            </a:r>
            <a:endParaRPr lang="en-US" sz="500" dirty="0"/>
          </a:p>
        </p:txBody>
      </p:sp>
      <p:sp>
        <p:nvSpPr>
          <p:cNvPr id="6" name="Text 4"/>
          <p:cNvSpPr/>
          <p:nvPr/>
        </p:nvSpPr>
        <p:spPr>
          <a:xfrm>
            <a:off x="457200" y="834926"/>
            <a:ext cx="2848421" cy="1336179"/>
          </a:xfrm>
          <a:prstGeom prst="roundRect">
            <a:avLst>
              <a:gd name="adj" fmla="val 380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853976"/>
            <a:ext cx="2848421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0" y="999976"/>
            <a:ext cx="259449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9600" y="1184077"/>
            <a:ext cx="25944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09600" y="1377702"/>
            <a:ext cx="2543621" cy="66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600" y="1377702"/>
            <a:ext cx="25944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 모듈 · 3,181 테스트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09600" y="1564928"/>
            <a:ext cx="25944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Tools + 44 MCP · 25 Skills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09600" y="1742629"/>
            <a:ext cx="25944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릴리스 무회귀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9600" y="1929854"/>
            <a:ext cx="25944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2272605"/>
            <a:ext cx="2848421" cy="2616994"/>
          </a:xfrm>
          <a:prstGeom prst="roundRect">
            <a:avLst>
              <a:gd name="adj" fmla="val 194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9125" y="2409081"/>
            <a:ext cx="257506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 (15 메서드, 6 카테고리)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19125" y="2590056"/>
            <a:ext cx="2524571" cy="24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9125" y="2590056"/>
            <a:ext cx="25750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(3) · Analyst Config (2) · Evaluator Config (3)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19125" y="2736056"/>
            <a:ext cx="25750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(4) · Classification (5) · Fixtures (2)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9125" y="2932807"/>
            <a:ext cx="2524571" cy="387251"/>
          </a:xfrm>
          <a:prstGeom prst="roundRect">
            <a:avLst>
              <a:gd name="adj" fmla="val 13118"/>
            </a:avLst>
          </a:prstGeom>
          <a:solidFill>
            <a:srgbClr val="060B1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6075" y="3021657"/>
            <a:ext cx="231608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46075" y="3126432"/>
            <a:ext cx="231608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19125" y="3396258"/>
            <a:ext cx="257506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@runtime_checkable Protocol — 상속 없이 15개 메서드 구현하면 즉시 호환. Pipeline 노드는 </a:t>
            </a:r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get_domain_or_none()</a:t>
            </a:r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조회 후 fallback.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32572" y="1438573"/>
            <a:ext cx="2278856" cy="1504504"/>
          </a:xfrm>
          <a:prstGeom prst="roundRect">
            <a:avLst>
              <a:gd name="adj" fmla="val 5065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84662" y="1610023"/>
            <a:ext cx="19746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84662" y="1825823"/>
            <a:ext cx="197467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604022" y="2060525"/>
            <a:ext cx="1935956" cy="323850"/>
          </a:xfrm>
          <a:prstGeom prst="roundRect">
            <a:avLst>
              <a:gd name="adj" fmla="val 15686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14152" y="2136725"/>
            <a:ext cx="171569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714152" y="2231975"/>
            <a:ext cx="171569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500" dirty="0"/>
          </a:p>
        </p:txBody>
      </p:sp>
      <p:sp>
        <p:nvSpPr>
          <p:cNvPr id="30" name="Text 28"/>
          <p:cNvSpPr/>
          <p:nvPr/>
        </p:nvSpPr>
        <p:spPr>
          <a:xfrm>
            <a:off x="3604022" y="2447776"/>
            <a:ext cx="1935956" cy="323850"/>
          </a:xfrm>
          <a:prstGeom prst="roundRect">
            <a:avLst>
              <a:gd name="adj" fmla="val 15686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714152" y="2523976"/>
            <a:ext cx="171569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714152" y="2619226"/>
            <a:ext cx="171569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500" dirty="0"/>
          </a:p>
        </p:txBody>
      </p:sp>
      <p:sp>
        <p:nvSpPr>
          <p:cNvPr id="33" name="Text 31"/>
          <p:cNvSpPr/>
          <p:nvPr/>
        </p:nvSpPr>
        <p:spPr>
          <a:xfrm>
            <a:off x="3432572" y="3044577"/>
            <a:ext cx="2278856" cy="758726"/>
          </a:xfrm>
          <a:prstGeom prst="roundRect">
            <a:avLst>
              <a:gd name="adj" fmla="val 6695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574947" y="3181052"/>
            <a:ext cx="199410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3574947" y="3485852"/>
            <a:ext cx="19941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574947" y="3590627"/>
            <a:ext cx="1994106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· core/verification/ 무변경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4543276" y="3904804"/>
            <a:ext cx="582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79131" y="4076254"/>
            <a:ext cx="7855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스왑으로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전환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838379" y="834926"/>
            <a:ext cx="2848421" cy="1148953"/>
          </a:xfrm>
          <a:prstGeom prst="roundRect">
            <a:avLst>
              <a:gd name="adj" fmla="val 442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5838379" y="853976"/>
            <a:ext cx="2848421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90779" y="999976"/>
            <a:ext cx="259449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v0.21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990779" y="1184077"/>
            <a:ext cx="25944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990779" y="1377702"/>
            <a:ext cx="2543621" cy="479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990779" y="1377702"/>
            <a:ext cx="25944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990779" y="1564928"/>
            <a:ext cx="25944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Pipelines (Migration · Porting · Refactoring)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990779" y="1742629"/>
            <a:ext cx="25944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838379" y="2085380"/>
            <a:ext cx="2848421" cy="2804220"/>
          </a:xfrm>
          <a:prstGeom prst="roundRect">
            <a:avLst>
              <a:gd name="adj" fmla="val 1812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000304" y="2221855"/>
            <a:ext cx="25750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수치 — Java 마이그레이션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988315" y="2447181"/>
            <a:ext cx="12227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5988315" y="2751981"/>
            <a:ext cx="12227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314076" y="2447181"/>
            <a:ext cx="12227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2400" dirty="0"/>
          </a:p>
        </p:txBody>
      </p:sp>
      <p:sp>
        <p:nvSpPr>
          <p:cNvPr id="52" name="Text 50"/>
          <p:cNvSpPr/>
          <p:nvPr/>
        </p:nvSpPr>
        <p:spPr>
          <a:xfrm>
            <a:off x="7314076" y="2751981"/>
            <a:ext cx="122278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Code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988315" y="2958257"/>
            <a:ext cx="12227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2400" dirty="0"/>
          </a:p>
        </p:txBody>
      </p:sp>
      <p:sp>
        <p:nvSpPr>
          <p:cNvPr id="54" name="Text 52"/>
          <p:cNvSpPr/>
          <p:nvPr/>
        </p:nvSpPr>
        <p:spPr>
          <a:xfrm>
            <a:off x="5988315" y="3263057"/>
            <a:ext cx="12227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7314076" y="2958257"/>
            <a:ext cx="12227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1,133</a:t>
            </a:r>
            <a:endParaRPr lang="en-US" sz="2400" dirty="0"/>
          </a:p>
        </p:txBody>
      </p:sp>
      <p:sp>
        <p:nvSpPr>
          <p:cNvPr id="56" name="Text 54"/>
          <p:cNvSpPr/>
          <p:nvPr/>
        </p:nvSpPr>
        <p:spPr>
          <a:xfrm>
            <a:off x="7314076" y="3263057"/>
            <a:ext cx="12227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라운드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000304" y="3469332"/>
            <a:ext cx="2524571" cy="434876"/>
          </a:xfrm>
          <a:prstGeom prst="roundRect">
            <a:avLst>
              <a:gd name="adj" fmla="val 11681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6114263" y="3567708"/>
            <a:ext cx="22966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 패스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114263" y="3729633"/>
            <a:ext cx="22966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</a:t>
            </a:r>
            <a:endParaRPr lang="en-US" sz="500" dirty="0"/>
          </a:p>
        </p:txBody>
      </p:sp>
      <p:sp>
        <p:nvSpPr>
          <p:cNvPr id="60" name="Text 58"/>
          <p:cNvSpPr/>
          <p:nvPr/>
        </p:nvSpPr>
        <p:spPr>
          <a:xfrm>
            <a:off x="457200" y="4965799"/>
            <a:ext cx="374122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15 메서드 · ContextVar DI · core/graph.py 0줄 수정 · REODE: 241 소스 103K LoC · 33 세션 1,133 라운드 · 83/83 빌드 패스</a:t>
            </a:r>
            <a:endParaRPr lang="en-US" sz="500" dirty="0"/>
          </a:p>
        </p:txBody>
      </p:sp>
      <p:sp>
        <p:nvSpPr>
          <p:cNvPr id="61" name="Text 59"/>
          <p:cNvSpPr/>
          <p:nvPr/>
        </p:nvSpPr>
        <p:spPr>
          <a:xfrm>
            <a:off x="8492728" y="4965799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423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/ Security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+ Gateway: Swiss Cheese 방어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3-Layer + Secret Redaction 8패턴 + ChannelBinding 세션 격리로 자율 실행 경계를 제어합니다.</a:t>
            </a:r>
            <a:endParaRPr lang="en-US" sz="500" dirty="0"/>
          </a:p>
        </p:txBody>
      </p:sp>
      <p:pic>
        <p:nvPicPr>
          <p:cNvPr id="6" name="Image 0" descr="/Users/mango/workspace/portfolio/geode/slides/assets/v028-diagram-policy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34926"/>
            <a:ext cx="4572000" cy="20045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928342"/>
            <a:ext cx="4579739" cy="1237952"/>
          </a:xfrm>
          <a:prstGeom prst="roundRect">
            <a:avLst>
              <a:gd name="adj" fmla="val 41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1993850" y="3039368"/>
            <a:ext cx="0" cy="101590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9125" y="3039368"/>
            <a:ext cx="12678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— 9 차단 패턴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619125" y="3207544"/>
            <a:ext cx="1243013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9125" y="3207544"/>
            <a:ext cx="12678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 -rf / · sudo · &gt;/etc/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619125" y="3455194"/>
            <a:ext cx="12678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curl|sh · wget|sh · mkfs.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619125" y="3702844"/>
            <a:ext cx="12678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 if→/dev/ · chmod 777 /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619125" y="3950494"/>
            <a:ext cx="12678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fork bomb :(){:|:&amp;}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3500289" y="3039368"/>
            <a:ext cx="0" cy="101590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25563" y="3039368"/>
            <a:ext cx="12678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 — Resource Limits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2125563" y="3198019"/>
            <a:ext cx="12430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125563" y="3198019"/>
            <a:ext cx="12678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30s 하드 캡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2125563" y="3340894"/>
            <a:ext cx="12678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크기 50MB 상한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2125563" y="3483769"/>
            <a:ext cx="12678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자식 프로세스 64개 상한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2125563" y="3626644"/>
            <a:ext cx="126787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preexec_fn setrlimit 적용</a:t>
            </a:r>
            <a:endParaRPr lang="en-US" sz="500" dirty="0"/>
          </a:p>
        </p:txBody>
      </p:sp>
      <p:sp>
        <p:nvSpPr>
          <p:cNvPr id="22" name="Text 19"/>
          <p:cNvSpPr/>
          <p:nvPr/>
        </p:nvSpPr>
        <p:spPr>
          <a:xfrm>
            <a:off x="3632002" y="3039368"/>
            <a:ext cx="12678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3 — HITL 4-Tier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3632002" y="3198019"/>
            <a:ext cx="124301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632002" y="3198019"/>
            <a:ext cx="12678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— 30 prefix 자동 승인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632002" y="3340894"/>
            <a:ext cx="12678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— 개별 승인 필요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3632002" y="3483769"/>
            <a:ext cx="12678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 — 비용 일괄 승인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3632002" y="3626644"/>
            <a:ext cx="12678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 — 순차 승인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457200" y="4255145"/>
            <a:ext cx="4579739" cy="643979"/>
          </a:xfrm>
          <a:prstGeom prst="roundRect">
            <a:avLst>
              <a:gd name="adj" fmla="val 7888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619125" y="4366171"/>
            <a:ext cx="434100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— safe-first 허용 시 파이프 주입 통과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619125" y="4521696"/>
            <a:ext cx="434100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file.txt | bash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는 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prefix로 SAFE 분류 → 파이프 주입이 통과됩니다. Layer 1의 curl/wget 차단이 원격 코드 실행을 방어합니다.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5163889" y="834926"/>
            <a:ext cx="3522911" cy="1177677"/>
          </a:xfrm>
          <a:prstGeom prst="roundRect">
            <a:avLst>
              <a:gd name="adj" fmla="val 4314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5187702" y="834926"/>
            <a:ext cx="0" cy="1177677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63914" y="961876"/>
            <a:ext cx="323389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Redaction — 8 패턴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5363914" y="1161901"/>
            <a:ext cx="3170486" cy="57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363914" y="1161901"/>
            <a:ext cx="32338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sk-ant-... 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API key</a:t>
            </a:r>
            <a:endParaRPr lang="en-US" sz="700" dirty="0"/>
          </a:p>
        </p:txBody>
      </p:sp>
      <p:sp>
        <p:nvSpPr>
          <p:cNvPr id="36" name="Text 33"/>
          <p:cNvSpPr/>
          <p:nvPr/>
        </p:nvSpPr>
        <p:spPr>
          <a:xfrm>
            <a:off x="5363914" y="1317427"/>
            <a:ext cx="32338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sk-proj-... / sk-... 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</a:t>
            </a:r>
            <a:endParaRPr lang="en-US" sz="700" dirty="0"/>
          </a:p>
        </p:txBody>
      </p:sp>
      <p:sp>
        <p:nvSpPr>
          <p:cNvPr id="37" name="Text 34"/>
          <p:cNvSpPr/>
          <p:nvPr/>
        </p:nvSpPr>
        <p:spPr>
          <a:xfrm>
            <a:off x="5363914" y="1472952"/>
            <a:ext cx="32338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ghp_... / gho_... 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PAT/OAuth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5363914" y="1628477"/>
            <a:ext cx="32338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xoxb-... / xoxp-... </a:t>
            </a:r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Slack</a:t>
            </a:r>
            <a:endParaRPr lang="en-US" sz="700" dirty="0"/>
          </a:p>
        </p:txBody>
      </p:sp>
      <p:sp>
        <p:nvSpPr>
          <p:cNvPr id="39" name="Text 36"/>
          <p:cNvSpPr/>
          <p:nvPr/>
        </p:nvSpPr>
        <p:spPr>
          <a:xfrm>
            <a:off x="5363914" y="1809452"/>
            <a:ext cx="323389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BashTool.to_tool_result() 경계에서 적용 — LLM 컨텍스트 진입 전 차단</a:t>
            </a:r>
            <a:endParaRPr lang="en-US" sz="500" dirty="0"/>
          </a:p>
        </p:txBody>
      </p:sp>
      <p:sp>
        <p:nvSpPr>
          <p:cNvPr id="40" name="Text 37"/>
          <p:cNvSpPr/>
          <p:nvPr/>
        </p:nvSpPr>
        <p:spPr>
          <a:xfrm>
            <a:off x="5163889" y="2101453"/>
            <a:ext cx="3522911" cy="1726109"/>
          </a:xfrm>
          <a:prstGeom prst="roundRect">
            <a:avLst>
              <a:gd name="adj" fmla="val 29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8"/>
          <p:cNvSpPr/>
          <p:nvPr/>
        </p:nvSpPr>
        <p:spPr>
          <a:xfrm>
            <a:off x="5325814" y="2237929"/>
            <a:ext cx="32630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— 채널 세션 격리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325814" y="2450604"/>
            <a:ext cx="3199061" cy="1240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325814" y="2450604"/>
            <a:ext cx="32630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325814" y="2603004"/>
            <a:ext cx="326304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· Discord · Telegram 3채널, 정적 바인딩 규칙으로 결정론적 라우팅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5325814" y="2803475"/>
            <a:ext cx="32630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격리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5325814" y="2965400"/>
            <a:ext cx="326304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gateway:{channel}:{id}[:{sender}][:{thread}]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325814" y="3089672"/>
            <a:ext cx="326304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스레드별 독립 컨텍스트 — 동시 대화 격리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5325814" y="3290143"/>
            <a:ext cx="32630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5325814" y="3442543"/>
            <a:ext cx="32630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hitl_level=0 완전 자율 · quiet=True · echo 2중 방어 (bot_message subtype + _last_ts)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5163889" y="3916412"/>
            <a:ext cx="3522911" cy="643979"/>
          </a:xfrm>
          <a:prstGeom prst="roundRect">
            <a:avLst>
              <a:gd name="adj" fmla="val 7888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8"/>
          <p:cNvSpPr/>
          <p:nvPr/>
        </p:nvSpPr>
        <p:spPr>
          <a:xfrm>
            <a:off x="5325814" y="4027438"/>
            <a:ext cx="32630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설계 원칙 — AND-logic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5325814" y="4182963"/>
            <a:ext cx="326304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도구는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정책을 통과해야 실행됩니다. Org 정책(priority=5)이 최우선. 6개 레이어 중 하나라도 거부하면 차단. Swiss Cheese: 단일 실패를 다음 레이어가 차단합니다.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5163889" y="4649242"/>
            <a:ext cx="3522911" cy="634454"/>
          </a:xfrm>
          <a:prstGeom prst="roundRect">
            <a:avLst>
              <a:gd name="adj" fmla="val 8007"/>
            </a:avLst>
          </a:prstGeom>
          <a:solidFill>
            <a:srgbClr val="1A0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1"/>
          <p:cNvSpPr/>
          <p:nvPr/>
        </p:nvSpPr>
        <p:spPr>
          <a:xfrm>
            <a:off x="5163889" y="4654004"/>
            <a:ext cx="3522911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682038" y="4649242"/>
            <a:ext cx="0" cy="634454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163889" y="5278934"/>
            <a:ext cx="3522911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187702" y="4649242"/>
            <a:ext cx="0" cy="634454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363914" y="4760268"/>
            <a:ext cx="322418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Trust Model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5363914" y="4906268"/>
            <a:ext cx="322418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GEODE는 두 가지 신뢰 모델을 병행합니다. 자율 에이전트는 실행 전 입력을 차단(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Gating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)하고, 분석 파이프라인은 실행 후 출력을 검증(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Validation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)합니다.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457200" y="4975324"/>
            <a:ext cx="4166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blocked patterns · CPU/FSIZE/NPROC limits · 8 secret patterns · 6-layer PolicyChain AND-logic · ChannelBinding 3 pollers · geode serve hitl=0</a:t>
            </a:r>
            <a:endParaRPr lang="en-US" sz="500" dirty="0"/>
          </a:p>
        </p:txBody>
      </p:sp>
      <p:sp>
        <p:nvSpPr>
          <p:cNvPr id="61" name="Text 58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25239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— CONSTRAINTS → 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→ Result: 제약이 품질을 보증한다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9517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 없이 발산하는 LLM을 제어 가능한 결과로 수렴시키는 4가지 인과 경로</a:t>
            </a:r>
            <a:endParaRPr lang="en-US" sz="500" dirty="0"/>
          </a:p>
        </p:txBody>
      </p:sp>
      <p:sp>
        <p:nvSpPr>
          <p:cNvPr id="6" name="Text 4"/>
          <p:cNvSpPr/>
          <p:nvPr/>
        </p:nvSpPr>
        <p:spPr>
          <a:xfrm>
            <a:off x="457200" y="872877"/>
            <a:ext cx="1809750" cy="1906786"/>
          </a:xfrm>
          <a:prstGeom prst="roundRect">
            <a:avLst>
              <a:gd name="adj" fmla="val 4211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009352"/>
            <a:ext cx="151561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619125" y="1126778"/>
            <a:ext cx="15156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-rf / · sudo · curl|bash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9125" y="1291828"/>
            <a:ext cx="15156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bash_tool.py 9 regex + setrlimit — CPU 30s · FSIZE 50MB · NPROC 64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368451" y="1754832"/>
            <a:ext cx="233172" cy="142875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98552" y="872877"/>
            <a:ext cx="1809899" cy="1906786"/>
          </a:xfrm>
          <a:prstGeom prst="roundRect">
            <a:avLst>
              <a:gd name="adj" fmla="val 4210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60477" y="1009352"/>
            <a:ext cx="151577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500" dirty="0"/>
          </a:p>
        </p:txBody>
      </p:sp>
      <p:sp>
        <p:nvSpPr>
          <p:cNvPr id="13" name="Text 11"/>
          <p:cNvSpPr/>
          <p:nvPr/>
        </p:nvSpPr>
        <p:spPr>
          <a:xfrm>
            <a:off x="2860477" y="1126778"/>
            <a:ext cx="1515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사고 0건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860477" y="1301353"/>
            <a:ext cx="15157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9개 패턴이 실행 차단, 리소스 초과는 커널이 강제 종료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2881164"/>
            <a:ext cx="1809750" cy="1906935"/>
          </a:xfrm>
          <a:prstGeom prst="roundRect">
            <a:avLst>
              <a:gd name="adj" fmla="val 4211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9125" y="3017639"/>
            <a:ext cx="151561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500" dirty="0"/>
          </a:p>
        </p:txBody>
      </p:sp>
      <p:sp>
        <p:nvSpPr>
          <p:cNvPr id="17" name="Text 15"/>
          <p:cNvSpPr/>
          <p:nvPr/>
        </p:nvSpPr>
        <p:spPr>
          <a:xfrm>
            <a:off x="619125" y="3135064"/>
            <a:ext cx="15156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키를 LLM 컨텍스트에 노출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19125" y="3309640"/>
            <a:ext cx="15156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redaction.py 8 regex — sk-ant-*, ghp_* 등 출력이 LLM에 도달하기 전 redact_secrets() 호출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368451" y="3763119"/>
            <a:ext cx="233172" cy="142875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98552" y="2881164"/>
            <a:ext cx="1809899" cy="1906935"/>
          </a:xfrm>
          <a:prstGeom prst="roundRect">
            <a:avLst>
              <a:gd name="adj" fmla="val 4210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860477" y="3017639"/>
            <a:ext cx="151577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500" dirty="0"/>
          </a:p>
        </p:txBody>
      </p:sp>
      <p:sp>
        <p:nvSpPr>
          <p:cNvPr id="22" name="Text 20"/>
          <p:cNvSpPr/>
          <p:nvPr/>
        </p:nvSpPr>
        <p:spPr>
          <a:xfrm>
            <a:off x="2860477" y="3135064"/>
            <a:ext cx="1515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누출 0건 — [REDACTED] 치환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860477" y="3309640"/>
            <a:ext cx="15157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8종 패턴 전수 검열, LLM 컨텍스트 경계에서 강제 치환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635401" y="872877"/>
            <a:ext cx="1809899" cy="1906786"/>
          </a:xfrm>
          <a:prstGeom prst="roundRect">
            <a:avLst>
              <a:gd name="adj" fmla="val 4210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97326" y="1009352"/>
            <a:ext cx="151577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500" dirty="0"/>
          </a:p>
        </p:txBody>
      </p:sp>
      <p:sp>
        <p:nvSpPr>
          <p:cNvPr id="26" name="Text 24"/>
          <p:cNvSpPr/>
          <p:nvPr/>
        </p:nvSpPr>
        <p:spPr>
          <a:xfrm>
            <a:off x="4797326" y="1126778"/>
            <a:ext cx="1515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애널리스트 점수를 보고 평가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97326" y="1301353"/>
            <a:ext cx="151577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Context — Send 상태에 analyses: [] 삽입, 각 애널리스트는 빈 배열만 수신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546800" y="1754832"/>
            <a:ext cx="233172" cy="142875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76901" y="872877"/>
            <a:ext cx="1809899" cy="1906786"/>
          </a:xfrm>
          <a:prstGeom prst="roundRect">
            <a:avLst>
              <a:gd name="adj" fmla="val 4210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038826" y="1009352"/>
            <a:ext cx="151577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500" dirty="0"/>
          </a:p>
        </p:txBody>
      </p:sp>
      <p:sp>
        <p:nvSpPr>
          <p:cNvPr id="31" name="Text 29"/>
          <p:cNvSpPr/>
          <p:nvPr/>
        </p:nvSpPr>
        <p:spPr>
          <a:xfrm>
            <a:off x="7038826" y="1126778"/>
            <a:ext cx="1515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앵커링 편향 구조적 차단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038826" y="1301353"/>
            <a:ext cx="15157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애널리스트 독립 병렬 → BiasBuster CV 검사로 2차 확인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635401" y="2881164"/>
            <a:ext cx="1809899" cy="1906935"/>
          </a:xfrm>
          <a:prstGeom prst="roundRect">
            <a:avLst>
              <a:gd name="adj" fmla="val 4210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797326" y="3017639"/>
            <a:ext cx="151577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500" dirty="0"/>
          </a:p>
        </p:txBody>
      </p:sp>
      <p:sp>
        <p:nvSpPr>
          <p:cNvPr id="35" name="Text 33"/>
          <p:cNvSpPr/>
          <p:nvPr/>
        </p:nvSpPr>
        <p:spPr>
          <a:xfrm>
            <a:off x="4797326" y="3135064"/>
            <a:ext cx="1515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미달 결과를 최종 출력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797326" y="3309640"/>
            <a:ext cx="151577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Gate ≥0.7 — 미달 시 gather 노드로 루프백, MAX 5회 반복 후 강제 진행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546800" y="3763119"/>
            <a:ext cx="233172" cy="142875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876901" y="2881164"/>
            <a:ext cx="1809899" cy="1906935"/>
          </a:xfrm>
          <a:prstGeom prst="roundRect">
            <a:avLst>
              <a:gd name="adj" fmla="val 4210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038826" y="3017639"/>
            <a:ext cx="151577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500" dirty="0"/>
          </a:p>
        </p:txBody>
      </p:sp>
      <p:sp>
        <p:nvSpPr>
          <p:cNvPr id="40" name="Text 38"/>
          <p:cNvSpPr/>
          <p:nvPr/>
        </p:nvSpPr>
        <p:spPr>
          <a:xfrm>
            <a:off x="7038826" y="3135064"/>
            <a:ext cx="15157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자가 치유 루프 + 무한 루프 방지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038826" y="3309640"/>
            <a:ext cx="151577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MAX_ITERATIONS=5 하드캡 — weak_areas 기록으로 재실행 시 집중 영역 좁힘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57200" y="4965799"/>
            <a:ext cx="237771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 → 집행 코드 → 측정 가능한 결과 — 모든 CANNOT은 grep 검증된 코드 경로를 갖는다</a:t>
            </a:r>
            <a:endParaRPr lang="en-US" sz="500" dirty="0"/>
          </a:p>
        </p:txBody>
      </p:sp>
      <p:sp>
        <p:nvSpPr>
          <p:cNvPr id="43" name="Text 41"/>
          <p:cNvSpPr/>
          <p:nvPr/>
        </p:nvSpPr>
        <p:spPr>
          <a:xfrm>
            <a:off x="8492728" y="497056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74575"/>
            <a:ext cx="23579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— DESIGN DECISIONS (1/2)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결정: 파이프라인 · 실행 · 보안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항목: [채택] vs [기각] — 왜 이 선택인가를 1줄로 정당화</a:t>
            </a:r>
            <a:endParaRPr lang="en-US" sz="500" dirty="0"/>
          </a:p>
        </p:txBody>
      </p:sp>
      <p:sp>
        <p:nvSpPr>
          <p:cNvPr id="6" name="Shape 4"/>
          <p:cNvSpPr/>
          <p:nvPr/>
        </p:nvSpPr>
        <p:spPr>
          <a:xfrm>
            <a:off x="457200" y="1020663"/>
            <a:ext cx="405125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34926"/>
            <a:ext cx="41322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· 실행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076176"/>
            <a:ext cx="4051250" cy="358527"/>
          </a:xfrm>
          <a:prstGeom prst="roundRect">
            <a:avLst>
              <a:gd name="adj" fmla="val 212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1149102"/>
            <a:ext cx="3905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Plan-and-Execute DAG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ReAct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68226" y="1257002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결정론적 실행 순서 + 병렬 노드 — 재귀 추론 루프 없이 구조화된 다단계 가능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485454"/>
            <a:ext cx="4051250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8226" y="1558379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API 병렬 실행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순차 처리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68226" y="1675805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애널리스트 × 3 평가자 동시 — LangGraph Send가 상태 병합을 자동 처리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57200" y="1904256"/>
            <a:ext cx="4051250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8226" y="1977182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Context (analyses: [])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전체 공유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68226" y="2094607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앵커링 편향 구조적 차단 — 단일 설계 결정이 평가 품질에 가장 큰 영향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2323058"/>
            <a:ext cx="4051250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68226" y="2395984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Gate ≥0.7 루프백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단일 패스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68226" y="2513409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개입 없는 자가 치유 — MAX=5로 무한루프 차단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635401" y="1020663"/>
            <a:ext cx="4051399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5401" y="834926"/>
            <a:ext cx="4132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· 검증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35401" y="1076176"/>
            <a:ext cx="4051399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746427" y="1149102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3중 보안 (regex+limits+redaction)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단일 샌드박스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46427" y="1266527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— 각 레이어가 독립적으로 다른 공격 면을 차단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635401" y="1494979"/>
            <a:ext cx="4051399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746427" y="1567904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AND 체인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OR 허용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46427" y="1685330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정책 통과 필수 — Org 정책(priority=5)이 모든 하위 규칙 오버라이드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635401" y="1913781"/>
            <a:ext cx="4051399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746427" y="1986707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HITL (SAFE/WRITE/DANGEROUS/EXPENSIVE)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이진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46427" y="2104132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안전 접두사 자동 승인 — 세분화로 마찰 최소화, 위험 제어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35401" y="2332583"/>
            <a:ext cx="4051399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746427" y="2405509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Swiss Cheese 검증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단일 종합 검사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746427" y="2522934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G1-G4 구조 + BiasBuster 인지 + Cross-LLM 통계 + Rights 법적 + Calibration 실증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57200" y="4991100"/>
            <a:ext cx="250174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4 + 보안·검증 4 — 채택 근거는 코드 경로와 측정 결과로 뒷받침 (2/2는 다음 슬라이드)</a:t>
            </a:r>
            <a:endParaRPr lang="en-US" sz="500" dirty="0"/>
          </a:p>
        </p:txBody>
      </p:sp>
      <p:sp>
        <p:nvSpPr>
          <p:cNvPr id="35" name="Text 33"/>
          <p:cNvSpPr/>
          <p:nvPr/>
        </p:nvSpPr>
        <p:spPr>
          <a:xfrm>
            <a:off x="8457456" y="4995863"/>
            <a:ext cx="233931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22a / 24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74575"/>
            <a:ext cx="23579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— DESIGN DECISIONS (2/2)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결정: 게이트웨이 · 인프라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8252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결정론적·제로 레이턴시 라우팅부터 도메인 이식성까지 — 8가지 인프라 결정</a:t>
            </a:r>
            <a:endParaRPr lang="en-US" sz="500" dirty="0"/>
          </a:p>
        </p:txBody>
      </p:sp>
      <p:sp>
        <p:nvSpPr>
          <p:cNvPr id="6" name="Shape 4"/>
          <p:cNvSpPr/>
          <p:nvPr/>
        </p:nvSpPr>
        <p:spPr>
          <a:xfrm>
            <a:off x="457200" y="1020663"/>
            <a:ext cx="405125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34926"/>
            <a:ext cx="41322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게이트웨이 · 통신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076176"/>
            <a:ext cx="4051250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1149102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정적 바인딩 라우팅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LLM 의도 라우팅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68226" y="1266527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결정론적·제로 레이턴시·감사 가능 — LLM 라우팅은 비용·지연·불확실성 추가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494979"/>
            <a:ext cx="4051250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8226" y="1567904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Daemon Thread 폴링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asyncio 이벤트 루프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68226" y="1685330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동기 LangGraph와 단순 통합 — 비동기 복잡도 없이 동시성 확보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57200" y="1913781"/>
            <a:ext cx="4051250" cy="358527"/>
          </a:xfrm>
          <a:prstGeom prst="roundRect">
            <a:avLst>
              <a:gd name="adj" fmla="val 212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8226" y="1986707"/>
            <a:ext cx="3905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Prevention (subtype + _last_ts)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DB dedup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68226" y="2094607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경량·DB 의존 없음 — 3초 폴링 주기에 충분한 메모리 기반 dedup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2323058"/>
            <a:ext cx="4051250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68226" y="2395984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계층형 세션 키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플랫 UUID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68226" y="2513409"/>
            <a:ext cx="39057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gateway:ch:id:sender:thread — 스레드별 컨텍스트 격리, 사람이 읽을 수 있는 키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635401" y="1020663"/>
            <a:ext cx="4051399" cy="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5401" y="834926"/>
            <a:ext cx="4132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 · 이식성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35401" y="1076176"/>
            <a:ext cx="4051399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746427" y="1149102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 + ContextVar DI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ABC 상속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46427" y="1266527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구조적 타이핑 — 상속 결합 없음, 스레드 안전 교체 가능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635401" y="1494979"/>
            <a:ext cx="4051399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746427" y="1567904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SqliteSaver + MemorySaver fallback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항상 인메모리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46427" y="1685330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프로덕션 크래시 복구 + 개발 경량 — 단일 팩토리로 환경별 전환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635401" y="1913781"/>
            <a:ext cx="4051399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746427" y="1986707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사이드 점수 계산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LLM composite_score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46427" y="2104132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(axes_sum-8)/32×100 — 투명·검증 가능, LLM 수치는 비교 참고만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35401" y="2332583"/>
            <a:ext cx="4051399" cy="368052"/>
          </a:xfrm>
          <a:prstGeom prst="roundRect">
            <a:avLst>
              <a:gd name="adj" fmla="val 20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746427" y="2405509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= REPL 팩토리 + hitl_level=0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별도 코드베이스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746427" y="2522934"/>
            <a:ext cx="39059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_build_agentic_stack() 재사용 — 동작 플래그만 다름, 코드 중복 0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635401" y="2751386"/>
            <a:ext cx="4051399" cy="368052"/>
          </a:xfrm>
          <a:prstGeom prst="roundRect">
            <a:avLst>
              <a:gd name="adj" fmla="val 20704"/>
            </a:avLst>
          </a:prstGeom>
          <a:solidFill>
            <a:srgbClr val="34D399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635401" y="2756148"/>
            <a:ext cx="4051399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2038" y="2751386"/>
            <a:ext cx="0" cy="368052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35401" y="3114675"/>
            <a:ext cx="4051399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54451" y="2751386"/>
            <a:ext cx="0" cy="368052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75002" y="2824311"/>
            <a:ext cx="38767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이식성 증명: GEODE → REODE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75002" y="2941737"/>
            <a:ext cx="38767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6-Layer 코어 — 도메인 플러그인만 교체, core/graph.py 변경 0줄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57200" y="4991100"/>
            <a:ext cx="232868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게이트웨이 4 + 인프라·이식성 4 — 20가지 결정 완료. 모든 채택 근거는 코드 경로로 검증됨</a:t>
            </a:r>
            <a:endParaRPr lang="en-US" sz="500" dirty="0"/>
          </a:p>
        </p:txBody>
      </p:sp>
      <p:sp>
        <p:nvSpPr>
          <p:cNvPr id="42" name="Text 40"/>
          <p:cNvSpPr/>
          <p:nvPr/>
        </p:nvSpPr>
        <p:spPr>
          <a:xfrm>
            <a:off x="8457456" y="4995863"/>
            <a:ext cx="233931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22b / 24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74575"/>
            <a:ext cx="23941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— GEODE v0.30 + REODE v0.21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0630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 — 전체 지표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시스템을 수렴시키는 4개 축의 실증 결과 (GEODE + REODE 합산)</a:t>
            </a:r>
            <a:endParaRPr lang="en-US" sz="500" dirty="0"/>
          </a:p>
        </p:txBody>
      </p:sp>
      <p:sp>
        <p:nvSpPr>
          <p:cNvPr id="6" name="Text 4"/>
          <p:cNvSpPr/>
          <p:nvPr/>
        </p:nvSpPr>
        <p:spPr>
          <a:xfrm>
            <a:off x="457200" y="784027"/>
            <a:ext cx="2019300" cy="434876"/>
          </a:xfrm>
          <a:prstGeom prst="roundRect">
            <a:avLst>
              <a:gd name="adj" fmla="val 17522"/>
            </a:avLst>
          </a:prstGeom>
          <a:solidFill>
            <a:srgbClr val="818CF8">
              <a:alpha val="8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912614"/>
            <a:ext cx="31403" cy="177701"/>
          </a:xfrm>
          <a:prstGeom prst="roundRect">
            <a:avLst>
              <a:gd name="adj" fmla="val 808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3029" y="844302"/>
            <a:ext cx="17364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663029" y="949077"/>
            <a:ext cx="17364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캐시 90% 절감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527250" y="784027"/>
            <a:ext cx="2019449" cy="434876"/>
          </a:xfrm>
          <a:prstGeom prst="roundRect">
            <a:avLst>
              <a:gd name="adj" fmla="val 17522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638276" y="912614"/>
            <a:ext cx="32296" cy="177701"/>
          </a:xfrm>
          <a:prstGeom prst="roundRect">
            <a:avLst>
              <a:gd name="adj" fmla="val 78648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733973" y="853827"/>
            <a:ext cx="17357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733973" y="958602"/>
            <a:ext cx="17357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while(tool_use) · 54 tools × 50 rounds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597450" y="784027"/>
            <a:ext cx="2019300" cy="434876"/>
          </a:xfrm>
          <a:prstGeom prst="roundRect">
            <a:avLst>
              <a:gd name="adj" fmla="val 17522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08475" y="912614"/>
            <a:ext cx="36165" cy="177701"/>
          </a:xfrm>
          <a:prstGeom prst="roundRect">
            <a:avLst>
              <a:gd name="adj" fmla="val 7023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808041" y="849064"/>
            <a:ext cx="17316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808041" y="953839"/>
            <a:ext cx="17316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5-Layer · 신뢰도 69.4 → 99.8%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667500" y="784027"/>
            <a:ext cx="2019300" cy="434876"/>
          </a:xfrm>
          <a:prstGeom prst="roundRect">
            <a:avLst>
              <a:gd name="adj" fmla="val 17522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78526" y="912614"/>
            <a:ext cx="37654" cy="177701"/>
          </a:xfrm>
          <a:prstGeom prst="roundRect">
            <a:avLst>
              <a:gd name="adj" fmla="val 67456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879580" y="844302"/>
            <a:ext cx="17301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879580" y="949077"/>
            <a:ext cx="1730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36-Event Hook Observer · CUSUM 드리프트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57200" y="1436340"/>
            <a:ext cx="489972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269653"/>
            <a:ext cx="49977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v0.30 — 코드베이스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" y="1491853"/>
            <a:ext cx="1186755" cy="504676"/>
          </a:xfrm>
          <a:prstGeom prst="roundRect">
            <a:avLst>
              <a:gd name="adj" fmla="val 150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58579" y="1552129"/>
            <a:ext cx="983998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58579" y="1831479"/>
            <a:ext cx="9839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모듈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694706" y="1491853"/>
            <a:ext cx="1186904" cy="504676"/>
          </a:xfrm>
          <a:prstGeom prst="roundRect">
            <a:avLst>
              <a:gd name="adj" fmla="val 150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796083" y="1552129"/>
            <a:ext cx="984150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48K+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796083" y="1831479"/>
            <a:ext cx="9841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Code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932361" y="1491853"/>
            <a:ext cx="1186904" cy="504676"/>
          </a:xfrm>
          <a:prstGeom prst="roundRect">
            <a:avLst>
              <a:gd name="adj" fmla="val 150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033738" y="1552129"/>
            <a:ext cx="984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3,159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033738" y="1806029"/>
            <a:ext cx="984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함수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170015" y="1491853"/>
            <a:ext cx="1186904" cy="504676"/>
          </a:xfrm>
          <a:prstGeom prst="roundRect">
            <a:avLst>
              <a:gd name="adj" fmla="val 150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271392" y="1552129"/>
            <a:ext cx="984150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4271392" y="1831479"/>
            <a:ext cx="984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semver 릴리스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57200" y="2047280"/>
            <a:ext cx="2424410" cy="568077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68226" y="2120205"/>
            <a:ext cx="22464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· 도구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68226" y="2237631"/>
            <a:ext cx="224640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9-Node StateGraph DAG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68226" y="2332881"/>
            <a:ext cx="22464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Tools · 44 MCP 서버 · 25 Skills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68226" y="2437656"/>
            <a:ext cx="22464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3채널 Gateway (Slack/Discord/Telegram)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932361" y="2047280"/>
            <a:ext cx="2424559" cy="568077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043386" y="2120205"/>
            <a:ext cx="224655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· 검증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3043386" y="2237631"/>
            <a:ext cx="224655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Bash 차단 · 8 Secret 탐지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3043386" y="2342406"/>
            <a:ext cx="224655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PolicyChain · 4-Tier HITL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043386" y="2437656"/>
            <a:ext cx="224655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80/100 통과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420320" y="1436340"/>
            <a:ext cx="3266480" cy="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20320" y="1269653"/>
            <a:ext cx="33318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v0.21 — 이식성 증명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420320" y="1491853"/>
            <a:ext cx="1607790" cy="479227"/>
          </a:xfrm>
          <a:prstGeom prst="roundRect">
            <a:avLst>
              <a:gd name="adj" fmla="val 1590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517489" y="1552129"/>
            <a:ext cx="1413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517489" y="1806029"/>
            <a:ext cx="141345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078861" y="1491853"/>
            <a:ext cx="1607939" cy="479227"/>
          </a:xfrm>
          <a:prstGeom prst="roundRect">
            <a:avLst>
              <a:gd name="adj" fmla="val 1590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176028" y="1552129"/>
            <a:ext cx="1413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3,274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7176028" y="1806029"/>
            <a:ext cx="141360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420320" y="2021830"/>
            <a:ext cx="3266480" cy="2855119"/>
          </a:xfrm>
          <a:prstGeom prst="roundRect">
            <a:avLst>
              <a:gd name="adj" fmla="val 26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531346" y="2094756"/>
            <a:ext cx="310531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 LoC 마이그레이션 · 83/83 통과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531346" y="2224832"/>
            <a:ext cx="310531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/ 1,133 라운드 / 5h 48m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531346" y="2354907"/>
            <a:ext cx="310531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코드 변경 0줄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531346" y="2484983"/>
            <a:ext cx="31053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≥3.12 · LangGraph · Anthropic SDK · FastAPI · Redis · SQLite · mypy strict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457200" y="4991100"/>
            <a:ext cx="262470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GEODE(184) + REODE(209) = 393 모듈 · 6,433 테스트 — 확률론적 시스템을 루프와 가치로 수렴</a:t>
            </a:r>
            <a:endParaRPr lang="en-US" sz="500" dirty="0"/>
          </a:p>
        </p:txBody>
      </p:sp>
      <p:sp>
        <p:nvSpPr>
          <p:cNvPr id="60" name="Text 58"/>
          <p:cNvSpPr/>
          <p:nvPr/>
        </p:nvSpPr>
        <p:spPr>
          <a:xfrm>
            <a:off x="8492728" y="4995863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2860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74575"/>
            <a:ext cx="21311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 — CLOSING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406301"/>
            <a:ext cx="4244280" cy="1031081"/>
          </a:xfrm>
          <a:prstGeom prst="roundRect">
            <a:avLst>
              <a:gd name="adj" fmla="val 739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457200" y="411063"/>
            <a:ext cx="4244280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696718" y="406301"/>
            <a:ext cx="0" cy="1031081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432620"/>
            <a:ext cx="4244280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1012" y="406301"/>
            <a:ext cx="0" cy="1031081"/>
          </a:xfrm>
          <a:prstGeom prst="line">
            <a:avLst/>
          </a:prstGeom>
          <a:noFill/>
          <a:ln w="47625">
            <a:solidFill>
              <a:srgbClr val="34D3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7225" y="517327"/>
            <a:ext cx="3959977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발산합니다.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7225" y="817066"/>
            <a:ext cx="3959977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57225" y="1116806"/>
            <a:ext cx="39599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기법이 아니라 규율(discipline)입니다 — 제약, 루프, 검증을 체계적으로 설계하는 방법론.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457200" y="1500783"/>
            <a:ext cx="4244280" cy="784027"/>
          </a:xfrm>
          <a:prstGeom prst="roundRect">
            <a:avLst>
              <a:gd name="adj" fmla="val 971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593675" y="1586508"/>
            <a:ext cx="40507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 — 자기 증강 하네스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93675" y="1735634"/>
            <a:ext cx="528935" cy="320576"/>
          </a:xfrm>
          <a:prstGeom prst="roundRect">
            <a:avLst>
              <a:gd name="adj" fmla="val 19808"/>
            </a:avLst>
          </a:prstGeom>
          <a:solidFill>
            <a:srgbClr val="818CF8">
              <a:alpha val="12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88729" y="1795909"/>
            <a:ext cx="33882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688729" y="1891159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루프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1198811" y="182924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389311" y="1735634"/>
            <a:ext cx="528935" cy="320576"/>
          </a:xfrm>
          <a:prstGeom prst="roundRect">
            <a:avLst>
              <a:gd name="adj" fmla="val 19808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1484364" y="1795909"/>
            <a:ext cx="33882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1484364" y="1891159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994446" y="182924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2184946" y="1735634"/>
            <a:ext cx="601563" cy="320576"/>
          </a:xfrm>
          <a:prstGeom prst="roundRect">
            <a:avLst>
              <a:gd name="adj" fmla="val 19808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2279273" y="1795909"/>
            <a:ext cx="41290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279273" y="1891159"/>
            <a:ext cx="41290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862709" y="182924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053209" y="1735634"/>
            <a:ext cx="528935" cy="320576"/>
          </a:xfrm>
          <a:prstGeom prst="roundRect">
            <a:avLst>
              <a:gd name="adj" fmla="val 19808"/>
            </a:avLst>
          </a:prstGeom>
          <a:solidFill>
            <a:srgbClr val="F97316">
              <a:alpha val="12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3148263" y="1795909"/>
            <a:ext cx="33882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3148263" y="1891159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루프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3658344" y="1829246"/>
            <a:ext cx="702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93675" y="2094309"/>
            <a:ext cx="40507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루프가 DEV를 설계하고, RUNTIME이 실행하며, HOOKS가 관측하여 META로 피드백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457200" y="2348210"/>
            <a:ext cx="4244280" cy="679400"/>
          </a:xfrm>
          <a:prstGeom prst="roundRect">
            <a:avLst>
              <a:gd name="adj" fmla="val 1121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3" name="Image 1" descr="/Users/mango/workspace/portfolio/geode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75" y="2433935"/>
            <a:ext cx="507950" cy="50795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203127" y="2503736"/>
            <a:ext cx="123068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1203127" y="2656136"/>
            <a:ext cx="12306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github.com/mangowhoiscloud</a:t>
            </a:r>
            <a:endParaRPr lang="en-US" sz="700" dirty="0"/>
          </a:p>
        </p:txBody>
      </p:sp>
      <p:sp>
        <p:nvSpPr>
          <p:cNvPr id="36" name="Text 32"/>
          <p:cNvSpPr/>
          <p:nvPr/>
        </p:nvSpPr>
        <p:spPr>
          <a:xfrm>
            <a:off x="1203127" y="2776686"/>
            <a:ext cx="12306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mangowhoiscloud@gmail.com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4828431" y="406301"/>
            <a:ext cx="39355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 3가지 가치 명제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828431" y="612577"/>
            <a:ext cx="3858369" cy="720626"/>
          </a:xfrm>
          <a:prstGeom prst="roundRect">
            <a:avLst>
              <a:gd name="adj" fmla="val 10574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5"/>
          <p:cNvSpPr/>
          <p:nvPr/>
        </p:nvSpPr>
        <p:spPr>
          <a:xfrm>
            <a:off x="4828431" y="617339"/>
            <a:ext cx="3858369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682038" y="612577"/>
            <a:ext cx="0" cy="720626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828431" y="1328440"/>
            <a:ext cx="3858369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847481" y="612577"/>
            <a:ext cx="0" cy="720626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993481" y="698302"/>
            <a:ext cx="36279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Scaffold Design — 제약으로 품질 보증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4993481" y="872877"/>
            <a:ext cx="36279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규칙을 코드로 집행 — 9 Bash 차단 · 8 Secret 탐지 · 6-Layer PolicyChain · 36 Event Hooks</a:t>
            </a:r>
            <a:endParaRPr lang="en-US" sz="700" dirty="0"/>
          </a:p>
        </p:txBody>
      </p:sp>
      <p:sp>
        <p:nvSpPr>
          <p:cNvPr id="45" name="Text 41"/>
          <p:cNvSpPr/>
          <p:nvPr/>
        </p:nvSpPr>
        <p:spPr>
          <a:xfrm>
            <a:off x="4993481" y="1123652"/>
            <a:ext cx="36279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결과: 보안 사고 0건 · 키 누출 0건 · 범위 외 호출 0건</a:t>
            </a:r>
            <a:endParaRPr lang="en-US" sz="800" dirty="0"/>
          </a:p>
        </p:txBody>
      </p:sp>
      <p:sp>
        <p:nvSpPr>
          <p:cNvPr id="46" name="Text 42"/>
          <p:cNvSpPr/>
          <p:nvPr/>
        </p:nvSpPr>
        <p:spPr>
          <a:xfrm>
            <a:off x="4828431" y="1396603"/>
            <a:ext cx="3858369" cy="615851"/>
          </a:xfrm>
          <a:prstGeom prst="roundRect">
            <a:avLst>
              <a:gd name="adj" fmla="val 1237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3"/>
          <p:cNvSpPr/>
          <p:nvPr/>
        </p:nvSpPr>
        <p:spPr>
          <a:xfrm>
            <a:off x="4828431" y="1401366"/>
            <a:ext cx="3858369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8682038" y="1396603"/>
            <a:ext cx="0" cy="615851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828431" y="2007691"/>
            <a:ext cx="3858369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847481" y="1396603"/>
            <a:ext cx="0" cy="61585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4993481" y="1482328"/>
            <a:ext cx="36279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System Architecture — 6-Layer + DomainPort</a:t>
            </a:r>
            <a:endParaRPr lang="en-US" sz="800" dirty="0"/>
          </a:p>
        </p:txBody>
      </p:sp>
      <p:sp>
        <p:nvSpPr>
          <p:cNvPr id="52" name="Text 48"/>
          <p:cNvSpPr/>
          <p:nvPr/>
        </p:nvSpPr>
        <p:spPr>
          <a:xfrm>
            <a:off x="4993481" y="1656904"/>
            <a:ext cx="362798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CLI → L5 Domain Plugins. DomainPort Protocol(15 methods) ContextVar DI.</a:t>
            </a:r>
            <a:endParaRPr lang="en-US" sz="700" dirty="0"/>
          </a:p>
        </p:txBody>
      </p:sp>
      <p:sp>
        <p:nvSpPr>
          <p:cNvPr id="53" name="Text 49"/>
          <p:cNvSpPr/>
          <p:nvPr/>
        </p:nvSpPr>
        <p:spPr>
          <a:xfrm>
            <a:off x="4993481" y="1802904"/>
            <a:ext cx="36279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증명: GEODE → REODE — core/graph.py 변경 0줄</a:t>
            </a:r>
            <a:endParaRPr lang="en-US" sz="800" dirty="0"/>
          </a:p>
        </p:txBody>
      </p:sp>
      <p:sp>
        <p:nvSpPr>
          <p:cNvPr id="54" name="Text 50"/>
          <p:cNvSpPr/>
          <p:nvPr/>
        </p:nvSpPr>
        <p:spPr>
          <a:xfrm>
            <a:off x="4828431" y="2075855"/>
            <a:ext cx="3858369" cy="625376"/>
          </a:xfrm>
          <a:prstGeom prst="roundRect">
            <a:avLst>
              <a:gd name="adj" fmla="val 1218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Shape 51"/>
          <p:cNvSpPr/>
          <p:nvPr/>
        </p:nvSpPr>
        <p:spPr>
          <a:xfrm>
            <a:off x="4828431" y="2080617"/>
            <a:ext cx="3858369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8682038" y="2075855"/>
            <a:ext cx="0" cy="625376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28431" y="2696468"/>
            <a:ext cx="3858369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4847481" y="2075855"/>
            <a:ext cx="0" cy="625376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993481" y="2161580"/>
            <a:ext cx="36279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Domain Reasoning — PSM + 5-Layer + CUSUM</a:t>
            </a:r>
            <a:endParaRPr lang="en-US" sz="800" dirty="0"/>
          </a:p>
        </p:txBody>
      </p:sp>
      <p:sp>
        <p:nvSpPr>
          <p:cNvPr id="60" name="Text 56"/>
          <p:cNvSpPr/>
          <p:nvPr/>
        </p:nvSpPr>
        <p:spPr>
          <a:xfrm>
            <a:off x="4993481" y="2336155"/>
            <a:ext cx="36279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Cheese: G1-G4 · BiasBuster · Cross-LLM α≥0.67 · CUSUM 드리프트 관측</a:t>
            </a:r>
            <a:endParaRPr lang="en-US" sz="700" dirty="0"/>
          </a:p>
        </p:txBody>
      </p:sp>
      <p:sp>
        <p:nvSpPr>
          <p:cNvPr id="61" name="Text 57"/>
          <p:cNvSpPr/>
          <p:nvPr/>
        </p:nvSpPr>
        <p:spPr>
          <a:xfrm>
            <a:off x="4993481" y="2491680"/>
            <a:ext cx="36279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결과: Calibration 80/100 · Berserk S-Tier(80-86) 재현 가능</a:t>
            </a:r>
            <a:endParaRPr lang="en-US" sz="800" dirty="0"/>
          </a:p>
        </p:txBody>
      </p:sp>
      <p:sp>
        <p:nvSpPr>
          <p:cNvPr id="62" name="Text 58"/>
          <p:cNvSpPr/>
          <p:nvPr/>
        </p:nvSpPr>
        <p:spPr>
          <a:xfrm>
            <a:off x="457200" y="4975324"/>
            <a:ext cx="242371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v0.30 · Python ≥3.12 · LangGraph · 184 modules · 3,159 tests · 25 releases</a:t>
            </a:r>
            <a:endParaRPr lang="en-US" sz="500" dirty="0"/>
          </a:p>
        </p:txBody>
      </p:sp>
      <p:sp>
        <p:nvSpPr>
          <p:cNvPr id="63" name="Text 59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61776"/>
            <a:ext cx="11336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Timeline: 도메인 파이프라인 → 범용 자율 실행 하네스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과제 전형용 도메인 파이프라인에서 범용 자율 실행 하네스로. 35일 피봇.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457200" y="819001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9752"/>
            <a:ext cx="2573834" cy="25301"/>
          </a:xfrm>
          <a:prstGeom prst="rect">
            <a:avLst/>
          </a:prstGeom>
          <a:solidFill>
            <a:srgbClr val="F5C542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157984" y="819001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284934" y="869752"/>
            <a:ext cx="2573982" cy="25301"/>
          </a:xfrm>
          <a:prstGeom prst="rect">
            <a:avLst/>
          </a:prstGeom>
          <a:solidFill>
            <a:srgbClr val="F9731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858917" y="819001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85867" y="869752"/>
            <a:ext cx="2573982" cy="25301"/>
          </a:xfrm>
          <a:prstGeom prst="rect">
            <a:avLst/>
          </a:prstGeom>
          <a:solidFill>
            <a:srgbClr val="4ECDC4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59850" y="819001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7200" y="1022152"/>
            <a:ext cx="1981200" cy="3553123"/>
          </a:xfrm>
          <a:prstGeom prst="roundRect">
            <a:avLst>
              <a:gd name="adj" fmla="val 2564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57200" y="1041202"/>
            <a:ext cx="198120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33637" y="1022152"/>
            <a:ext cx="0" cy="355312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570512"/>
            <a:ext cx="1981200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963" y="1022152"/>
            <a:ext cx="0" cy="355312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125" y="1187202"/>
            <a:ext cx="611981" cy="180975"/>
          </a:xfrm>
          <a:prstGeom prst="roundRect">
            <a:avLst>
              <a:gd name="adj" fmla="val 28070"/>
            </a:avLst>
          </a:prstGeom>
          <a:solidFill>
            <a:srgbClr val="F5C542">
              <a:alpha val="12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17500" y="1234827"/>
            <a:ext cx="4235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— v0.7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1307306" y="1234827"/>
            <a:ext cx="5402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– Feb 2026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619125" y="1444377"/>
            <a:ext cx="16904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과제 합격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9125" y="1644402"/>
            <a:ext cx="169049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가치추론 DAG. 넥슨 네비게이터실 과제 전형.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19125" y="1987004"/>
            <a:ext cx="1690497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14축 루브릭 + PSM 인과추론 + LangGraph StateGraph.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19125" y="4150072"/>
            <a:ext cx="1657350" cy="288727"/>
          </a:xfrm>
          <a:prstGeom prst="roundRect">
            <a:avLst>
              <a:gd name="adj" fmla="val 175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20626" y="4213473"/>
            <a:ext cx="14834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 StateGraph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720626" y="4299198"/>
            <a:ext cx="148343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종속 파이프라인 시대</a:t>
            </a:r>
            <a:endParaRPr lang="en-US" sz="500" dirty="0"/>
          </a:p>
        </p:txBody>
      </p:sp>
      <p:sp>
        <p:nvSpPr>
          <p:cNvPr id="27" name="Text 25"/>
          <p:cNvSpPr/>
          <p:nvPr/>
        </p:nvSpPr>
        <p:spPr>
          <a:xfrm>
            <a:off x="2539901" y="1022152"/>
            <a:ext cx="1981349" cy="3553123"/>
          </a:xfrm>
          <a:prstGeom prst="roundRect">
            <a:avLst>
              <a:gd name="adj" fmla="val 2564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2539901" y="1041202"/>
            <a:ext cx="1981349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16487" y="1022152"/>
            <a:ext cx="0" cy="3553123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39901" y="4570512"/>
            <a:ext cx="1981349" cy="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44663" y="1022152"/>
            <a:ext cx="0" cy="3553123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01826" y="1187202"/>
            <a:ext cx="594866" cy="180975"/>
          </a:xfrm>
          <a:prstGeom prst="roundRect">
            <a:avLst>
              <a:gd name="adj" fmla="val 28070"/>
            </a:avLst>
          </a:prstGeom>
          <a:solidFill>
            <a:srgbClr val="F97316">
              <a:alpha val="12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800201" y="1234827"/>
            <a:ext cx="4060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v0.8 PIVOT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3372892" y="1234827"/>
            <a:ext cx="4173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초 2026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2701826" y="1444377"/>
            <a:ext cx="16906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Autonomous Pivot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701826" y="1634877"/>
            <a:ext cx="1690649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 → 자율 피봇. 도메인 종속 파이프라인에서 범용 자율 실행 하네스로 전환.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701826" y="1977479"/>
            <a:ext cx="169064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 설계로 도메인 교체 가능성 확보.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701826" y="4150072"/>
            <a:ext cx="1657499" cy="288727"/>
          </a:xfrm>
          <a:prstGeom prst="roundRect">
            <a:avLst>
              <a:gd name="adj" fmla="val 175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803327" y="4213473"/>
            <a:ext cx="148358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DomainPort Protocol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803327" y="4299198"/>
            <a:ext cx="148358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 하네스 설계 전환점</a:t>
            </a:r>
            <a:endParaRPr lang="en-US" sz="500" dirty="0"/>
          </a:p>
        </p:txBody>
      </p:sp>
      <p:sp>
        <p:nvSpPr>
          <p:cNvPr id="41" name="Text 39"/>
          <p:cNvSpPr/>
          <p:nvPr/>
        </p:nvSpPr>
        <p:spPr>
          <a:xfrm>
            <a:off x="4622750" y="1022152"/>
            <a:ext cx="1981200" cy="3553123"/>
          </a:xfrm>
          <a:prstGeom prst="roundRect">
            <a:avLst>
              <a:gd name="adj" fmla="val 2564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4622750" y="1041202"/>
            <a:ext cx="198120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599188" y="1022152"/>
            <a:ext cx="0" cy="3553123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22750" y="4570512"/>
            <a:ext cx="19812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27513" y="1022152"/>
            <a:ext cx="0" cy="3553123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84675" y="1187202"/>
            <a:ext cx="696664" cy="180975"/>
          </a:xfrm>
          <a:prstGeom prst="roundRect">
            <a:avLst>
              <a:gd name="adj" fmla="val 28070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883051" y="1234827"/>
            <a:ext cx="5099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 — v0.30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557540" y="1234827"/>
            <a:ext cx="484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중후 2026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784675" y="1444377"/>
            <a:ext cx="16904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Harness 완성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784675" y="1644402"/>
            <a:ext cx="169049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3중 구조 완성: Scaffold → Runtime → Loop.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84675" y="1987004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4784675" y="1987004"/>
            <a:ext cx="1690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 CLAUDE.md + CI 체계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4784675" y="2110829"/>
            <a:ext cx="1690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Runtime: 45 Hooks + 21 Skills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784675" y="2234654"/>
            <a:ext cx="1690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Loop: while(tool_use) 자율 실행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784675" y="4150072"/>
            <a:ext cx="1657350" cy="288727"/>
          </a:xfrm>
          <a:prstGeom prst="roundRect">
            <a:avLst>
              <a:gd name="adj" fmla="val 175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4886176" y="4213473"/>
            <a:ext cx="14834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tool_use: loop()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886176" y="4299198"/>
            <a:ext cx="148343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 자율 실행 하네스 완성</a:t>
            </a:r>
            <a:endParaRPr lang="en-US" sz="500" dirty="0"/>
          </a:p>
        </p:txBody>
      </p:sp>
      <p:sp>
        <p:nvSpPr>
          <p:cNvPr id="58" name="Text 56"/>
          <p:cNvSpPr/>
          <p:nvPr/>
        </p:nvSpPr>
        <p:spPr>
          <a:xfrm>
            <a:off x="6705451" y="1022152"/>
            <a:ext cx="1981349" cy="3553123"/>
          </a:xfrm>
          <a:prstGeom prst="roundRect">
            <a:avLst>
              <a:gd name="adj" fmla="val 2564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6705451" y="1041202"/>
            <a:ext cx="1981349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682038" y="1022152"/>
            <a:ext cx="0" cy="3553123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05451" y="4570512"/>
            <a:ext cx="1981349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710214" y="1022152"/>
            <a:ext cx="0" cy="3553123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67376" y="1187202"/>
            <a:ext cx="730151" cy="180975"/>
          </a:xfrm>
          <a:prstGeom prst="roundRect">
            <a:avLst>
              <a:gd name="adj" fmla="val 28070"/>
            </a:avLst>
          </a:prstGeom>
          <a:solidFill>
            <a:srgbClr val="818CF8">
              <a:alpha val="12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965752" y="1234827"/>
            <a:ext cx="544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FORK: REODE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7673727" y="1234827"/>
            <a:ext cx="56167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– May 2026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6867376" y="1444377"/>
            <a:ext cx="16906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— DomainPort 실증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6867376" y="1644402"/>
            <a:ext cx="1690649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8→22, Spring 4.3→6.1. 241소스 103K LoC 레거시 마이그레이션.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6867376" y="1987004"/>
            <a:ext cx="169064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빌드 통과. 에이전트 코어 수정 0줄.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867376" y="4150072"/>
            <a:ext cx="1657499" cy="288727"/>
          </a:xfrm>
          <a:prstGeom prst="roundRect">
            <a:avLst>
              <a:gd name="adj" fmla="val 175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6968877" y="4213473"/>
            <a:ext cx="148358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DomainPort: 0 core changes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6968877" y="4299198"/>
            <a:ext cx="148358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범용성 검증 완료</a:t>
            </a:r>
            <a:endParaRPr lang="en-US" sz="500" dirty="0"/>
          </a:p>
        </p:txBody>
      </p:sp>
      <p:sp>
        <p:nvSpPr>
          <p:cNvPr id="72" name="Text 70"/>
          <p:cNvSpPr/>
          <p:nvPr/>
        </p:nvSpPr>
        <p:spPr>
          <a:xfrm>
            <a:off x="457200" y="4651474"/>
            <a:ext cx="8229600" cy="276225"/>
          </a:xfrm>
          <a:prstGeom prst="roundRect">
            <a:avLst>
              <a:gd name="adj" fmla="val 1839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540068" y="4737199"/>
            <a:ext cx="80638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과제 전형용 도메인 파이프라인에서 범용 자율 실행 하네스로. 35일 피봇.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457200" y="4991100"/>
            <a:ext cx="260633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2026 과제 합격 → Feb 면접 탈락 → Mar Pivot → Harness v0.30 완성 → REODE fork 실증</a:t>
            </a:r>
            <a:endParaRPr lang="en-US" sz="500" dirty="0"/>
          </a:p>
        </p:txBody>
      </p:sp>
      <p:sp>
        <p:nvSpPr>
          <p:cNvPr id="75" name="Text 73"/>
          <p:cNvSpPr/>
          <p:nvPr/>
        </p:nvSpPr>
        <p:spPr>
          <a:xfrm>
            <a:off x="8492728" y="4995863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25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mangowhoiscloud</cp:lastModifiedBy>
  <cp:revision>1</cp:revision>
  <dcterms:created xsi:type="dcterms:W3CDTF">2026-03-28T17:50:13Z</dcterms:created>
  <dcterms:modified xsi:type="dcterms:W3CDTF">2026-03-28T17:50:13Z</dcterms:modified>
</cp:coreProperties>
</file>