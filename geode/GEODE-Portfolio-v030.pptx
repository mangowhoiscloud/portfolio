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01" y="1186011"/>
            <a:ext cx="55393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47576" y="1246287"/>
            <a:ext cx="28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v0.30.0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353889" y="1186011"/>
            <a:ext cx="127277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90365" y="1246287"/>
            <a:ext cx="10198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Execution Agent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715518" y="1186011"/>
            <a:ext cx="954732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51993" y="1246287"/>
            <a:ext cx="6954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35-day build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11101" y="1544687"/>
            <a:ext cx="78762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1101" y="1925687"/>
            <a:ext cx="78762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{ observe → learn → act }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1101" y="2157413"/>
            <a:ext cx="5079950" cy="552450"/>
          </a:xfrm>
          <a:prstGeom prst="roundRect">
            <a:avLst>
              <a:gd name="adj" fmla="val 9195"/>
            </a:avLst>
          </a:prstGeom>
          <a:solidFill>
            <a:srgbClr val="161B22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11101" y="2162175"/>
            <a:ext cx="50799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86289" y="2157413"/>
            <a:ext cx="0" cy="55245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101" y="2705100"/>
            <a:ext cx="50799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0151" y="2157413"/>
            <a:ext cx="0" cy="55245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601" y="2281238"/>
            <a:ext cx="48220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발산합니다.</a:t>
            </a:r>
            <a:endParaRPr lang="en-US" sz="8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11101" y="2913013"/>
            <a:ext cx="895648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80211" y="3036838"/>
            <a:ext cx="55742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0211" y="3316188"/>
            <a:ext cx="557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708249" y="2913013"/>
            <a:ext cx="1133029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874986" y="3036838"/>
            <a:ext cx="79955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3,219+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874986" y="3316188"/>
            <a:ext cx="7995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2942779" y="2913013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112210" y="3036838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112210" y="3316188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907780" y="2913013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077212" y="3036838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077212" y="3316188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872782" y="2913013"/>
            <a:ext cx="970657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41142" y="3036838"/>
            <a:ext cx="63393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1,118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041142" y="3316188"/>
            <a:ext cx="6339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11101" y="3652689"/>
            <a:ext cx="78762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days (Feb 21 — Mar 27)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+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events · 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pPr algn="l" indent="0" marL="0">
              <a:spcBef>
                <a:spcPts val="10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rules</a:t>
            </a:r>
            <a:endParaRPr lang="en-US" sz="600" dirty="0"/>
          </a:p>
        </p:txBody>
      </p:sp>
      <p:pic>
        <p:nvPicPr>
          <p:cNvPr id="33" name="Image 1" descr="/Users/mango/workspace/portfolio/geode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50" y="3848249"/>
            <a:ext cx="1117550" cy="11175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11101" y="5000625"/>
            <a:ext cx="1194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— Harness Engineering</a:t>
            </a:r>
            <a:endParaRPr lang="en-US" sz="500" dirty="0"/>
          </a:p>
        </p:txBody>
      </p:sp>
      <p:sp>
        <p:nvSpPr>
          <p:cNvPr id="35" name="Text 31"/>
          <p:cNvSpPr/>
          <p:nvPr/>
        </p:nvSpPr>
        <p:spPr>
          <a:xfrm>
            <a:off x="8238827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24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4-Axis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LLM을 신뢰 가능한 시스템으로 수렴시키는 4개 제어 축. 루프가 데이터를 생산하고, 관측이 포착하고, 검증이 확인하고, 컨텍스트가 다음 반복을 제어한다.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1981200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088827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0626" y="1231702"/>
            <a:ext cx="637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주입 설계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062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6-Phase: template → override → skill → memory → bootstrap 순서로 동적 조립. LLM이 보는 것이 곧 결과.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015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prompt caching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015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 동일 프롬프트 공유 → 입력 비용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절감. 200 turns sliding window.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901" y="863501"/>
            <a:ext cx="1981349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637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3327" y="1088827"/>
            <a:ext cx="535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03327" y="1231702"/>
            <a:ext cx="535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76376" y="1482477"/>
            <a:ext cx="1708398" cy="758130"/>
          </a:xfrm>
          <a:prstGeom prst="roundRect">
            <a:avLst>
              <a:gd name="adj" fmla="val 6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0332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03327" y="1739503"/>
            <a:ext cx="148358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while(tool_use), 최대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라운드. 자연 종료·수렴 감지(동일 에러 4회)·강제 텍스트 등 5가지 경로로 종료.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76376" y="2316807"/>
            <a:ext cx="1708398" cy="817215"/>
          </a:xfrm>
          <a:prstGeom prst="roundRect">
            <a:avLst>
              <a:gd name="adj" fmla="val 6216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12852" y="2415183"/>
            <a:ext cx="1464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tools × 50 rounds 자율 실행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12852" y="2662833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등급. TIER 0-1 병렬, TIER 2 비용 일괄 승인, TIER 3-4 HITL 순차. 3-Provider Failover.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63501"/>
            <a:ext cx="1981200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922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6176" y="1088827"/>
            <a:ext cx="38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6176" y="1231702"/>
            <a:ext cx="380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59226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8617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 → 신뢰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8617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 → GEODE 5-Layer로 진화: 69.4 →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정확도. 단일 LLM 평가의 Confirmation Bias 제거.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9226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9570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5-Layer + Cross-LLM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570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→ BiasBuster(6종) → Claude×GPT 교차검증(α≥0.67) → Confidence Gate(0.7).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05451" y="863501"/>
            <a:ext cx="1981349" cy="371207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41927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68877" y="1088827"/>
            <a:ext cx="449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8877" y="1231702"/>
            <a:ext cx="449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41927" y="1482477"/>
            <a:ext cx="1708398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6887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증명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68877" y="1739503"/>
            <a:ext cx="148358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40-Event Hook Observer가 파이프라인 전 생명주기를 포착. LEARNING.md에 자동 축적. 루프가 작동함을 증명해야 신뢰 가능.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41927" y="2450009"/>
            <a:ext cx="1708398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978402" y="2548384"/>
            <a:ext cx="14641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 / OTEL / CUSUM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78402" y="2691259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18개 모델 가격 레지스트리. 컨텍스트 80% 경고, 95% 위험 시 adaptive pruning 발동.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7641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44117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330202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495401" y="4638973"/>
            <a:ext cx="486370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31877" y="4699248"/>
            <a:ext cx="217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057971" y="4708773"/>
            <a:ext cx="492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data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617119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82318" y="4638973"/>
            <a:ext cx="96634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18793" y="4699248"/>
            <a:ext cx="7072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24859" y="4708773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93357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58557" y="4638973"/>
            <a:ext cx="912912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95032" y="4699248"/>
            <a:ext cx="652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47668" y="4708773"/>
            <a:ext cx="3067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724650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889849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026325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78450"/>
            <a:ext cx="133330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축이 순환하며 LLM의 발산을 수렴으로 제어한다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24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187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META, DEV, RUNTIME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 루프의 공유 기본 단위. RUNTIME이 DEV를 먹이고, DEV가 META를 먹인다.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914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1249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3675" y="1210866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711077" y="949077"/>
            <a:ext cx="1818084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2103" y="1034802"/>
            <a:ext cx="16279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2103" y="1155353"/>
            <a:ext cx="1627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결과 · DRIFT_DETECTED · 세션 회고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7991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72049" y="949077"/>
            <a:ext cx="1818233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83075" y="1034802"/>
            <a:ext cx="16281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83075" y="1155353"/>
            <a:ext cx="16281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· anti-pattern 식별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4103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33170" y="949077"/>
            <a:ext cx="2137321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4195" y="1034802"/>
            <a:ext cx="1953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Scaffold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44195" y="1155353"/>
            <a:ext cx="1953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규칙 추가 · 스킬 21개 · CI 래칫 ≥2900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071991" y="1044327"/>
            <a:ext cx="478334" cy="187226"/>
          </a:xfrm>
          <a:prstGeom prst="roundRect">
            <a:avLst>
              <a:gd name="adj" fmla="val 2035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0841" y="1095077"/>
            <a:ext cx="306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600200" y="1501229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01701" y="1521768"/>
            <a:ext cx="38857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· TURN_COMPLETE → LEARNING.md 업데이트 → CLAUDE.md CANNOT 규칙 추가 · 스킬 생성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7200" y="1691580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3675" y="183267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3675" y="196602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93675" y="2064395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711077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22103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22103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5Q · GAP Audit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33874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26011" y="1802606"/>
            <a:ext cx="1372195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37037" y="1888331"/>
            <a:ext cx="11731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37037" y="2008882"/>
            <a:ext cx="1173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· ruff+mypy+pytest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48957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41094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52120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52120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리뷰 · CI 5/5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363891" y="1934319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56028" y="1802606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67054" y="1888331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67054" y="2008882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PR→main · progress.md 업데이트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029575" y="1897856"/>
            <a:ext cx="520750" cy="187226"/>
          </a:xfrm>
          <a:prstGeom prst="roundRect">
            <a:avLst>
              <a:gd name="adj" fmla="val 20350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118425" y="1948607"/>
            <a:ext cx="3499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600200" y="2354759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01701" y="2375297"/>
            <a:ext cx="4080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→ GEODE.md + MEMORY.md + LEARNING.md 로드 · VERIFICATION_FAIL → 새 DEV PR 트리거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2545110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3675" y="2686199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3675" y="2819549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3675" y="291792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711077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22103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22103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 · SESSION_START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121372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13509" y="2656136"/>
            <a:ext cx="1473250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24535" y="2741861"/>
            <a:ext cx="12762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424535" y="2862411"/>
            <a:ext cx="12762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native + 41 MCP · 4-경로 디스패치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37509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646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0672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140672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· conf ≥0.7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439942" y="278784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32079" y="2656136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43105" y="2741861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743105" y="2862411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Hook 이벤트 · 메모리 저장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093125" y="2751386"/>
            <a:ext cx="457200" cy="187226"/>
          </a:xfrm>
          <a:prstGeom prst="roundRect">
            <a:avLst>
              <a:gd name="adj" fmla="val 2035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181975" y="2802136"/>
            <a:ext cx="2850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57200" y="4978450"/>
            <a:ext cx="163706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워크플로우가 시스템을 만든다. 시스템이 워크플로우를 증명한다.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24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668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ISOMORPHISM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82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Builds Harness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4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SCAFFOLD(빌더)와 GEODE(결과물)는 동일한 아키텍처를 공유한다. 각 컴포넌트는 1:1 구조적 거울을 갖는다.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12602"/>
            <a:ext cx="3683050" cy="4064347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49077"/>
            <a:ext cx="866477" cy="209550"/>
          </a:xfrm>
          <a:prstGeom prst="roundRect">
            <a:avLst>
              <a:gd name="adj" fmla="val 18182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996702"/>
            <a:ext cx="605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36353" y="1010989"/>
            <a:ext cx="1078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GEODE를 빌드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260128"/>
            <a:ext cx="3410099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200" y="1260128"/>
            <a:ext cx="0" cy="38725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226" y="1336328"/>
            <a:ext cx="3251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425줄, 17 CANNOT 규칙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226" y="1485454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도메인: Git · Planning · Quality · Docs · PR · 개발자 에이전트 SOT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171077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200" y="171077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226" y="178697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Scaffold Skills (.claude/skills/)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226" y="192658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geode-gitflow · kent-beck-review · karpathy-patterns · verification-team + 17개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151906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200" y="2151906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226" y="2228106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4226" y="2367707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Lint(ruff) · Type(mypy) · Test(pytest ≥2900) · Security(bandit) · Gate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2593032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3200" y="2593032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226" y="2669232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CANNOT/CAN (17 hard rules + 5 freedoms)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4226" y="2808833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제약 — LLM이 읽고 내면화. CI에서 강제 가능한 hard rule만 포함.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303415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200" y="303415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226" y="311035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4226" y="324996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 · Karpathy · Steinberger · Cherny — 다중 관점 PR 리뷰 시뮬레이션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74696" y="2070348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71051" y="2156073"/>
            <a:ext cx="20174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76518" y="2333923"/>
            <a:ext cx="1906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59201" y="2463998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57526" y="2755999"/>
            <a:ext cx="628799" cy="374452"/>
          </a:xfrm>
          <a:prstGeom prst="roundRect">
            <a:avLst>
              <a:gd name="adj" fmla="val 1356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8678" y="28289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338678" y="29432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(tool_use)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559201" y="3193852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67560" y="3485852"/>
            <a:ext cx="2087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447827" y="3552527"/>
            <a:ext cx="2480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5003602" y="812602"/>
            <a:ext cx="3683198" cy="4064347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0077" y="949077"/>
            <a:ext cx="665113" cy="209550"/>
          </a:xfrm>
          <a:prstGeom prst="roundRect">
            <a:avLst>
              <a:gd name="adj" fmla="val 18182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76552" y="996702"/>
            <a:ext cx="400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81390" y="1010989"/>
            <a:ext cx="9332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runtime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140077" y="1260128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149602" y="1260128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60628" y="1336328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GEODE.md — 71줄, 4 CANNOT 규칙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60628" y="1485454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시 core/memory/organization.py를 통해 로드 · 런타임 에이전트 정체성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140077" y="1710779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49602" y="1710779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60628" y="1786979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Skills (.geode/skills/)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60628" y="1926580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분석가 템플릿: discovery · game-mechanics · growth-potential · player-experience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140077" y="2151906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9602" y="2151906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0628" y="2228106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 (core/verification/)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60628" y="2367707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· BiasBuster · Cross-LLM(α≥0.67) · Confidence Gate 0.7 · Rights Risk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40077" y="2593032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149602" y="2593032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60628" y="2669232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(core/tools/policy.py)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60628" y="2808833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· Org · Mode · Agent(STANDARD/WRITE/DANGEROUS) · Node-scope · Sub-agent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140077" y="3034159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149602" y="3034159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60628" y="3110359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— 6 유형 편향 제거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60628" y="3259485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· recency · anchoring · position · verbosity · self-enhancement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57200" y="4978450"/>
            <a:ext cx="133922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하네스를 빌드하는 하네스는 자신의 구조를 공유한다.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24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26714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26714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품질을 담보한다. 486 PRs, 0 hotfix bypasses, 0 regressions.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277695" y="533549"/>
            <a:ext cx="1409105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4171" y="606475"/>
            <a:ext cx="1158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strictness → 0 regressions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838051"/>
            <a:ext cx="5259288" cy="234851"/>
          </a:xfrm>
          <a:prstGeom prst="roundRect">
            <a:avLst>
              <a:gd name="adj" fmla="val 21631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898327"/>
            <a:ext cx="5086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17 Hard Rules (CLAUDE.md)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23652"/>
            <a:ext cx="2604195" cy="92080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123652"/>
            <a:ext cx="0" cy="92080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200" y="1212503"/>
            <a:ext cx="23778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격리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5600" y="1387078"/>
            <a:ext cx="217884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세션 worktree 삭제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미동기화 상태 브랜치 생성 금지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095202"/>
            <a:ext cx="2604195" cy="2819846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" y="2095202"/>
            <a:ext cx="0" cy="2819846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200" y="2184053"/>
            <a:ext cx="2377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5600" y="2349103"/>
            <a:ext cx="217884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수치에 자리표시자(XXXX)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테스트(-m live) 무단 실행 금지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112145" y="1123652"/>
            <a:ext cx="2604343" cy="911275"/>
          </a:xfrm>
          <a:prstGeom prst="roundRect">
            <a:avLst>
              <a:gd name="adj" fmla="val 55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21670" y="1123652"/>
            <a:ext cx="0" cy="911275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8145" y="1212503"/>
            <a:ext cx="23780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PR </a:t>
            </a:r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10545" y="1377553"/>
            <a:ext cx="2178993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커밋에서 CHANGELOG 누락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4곳 불일치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가드레일 미통과 PR 머지 금지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근거 없이 PR 금지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12145" y="2085677"/>
            <a:ext cx="2604343" cy="2829371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21670" y="2085677"/>
            <a:ext cx="0" cy="282937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8145" y="2174528"/>
            <a:ext cx="2378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58145" y="2349103"/>
            <a:ext cx="237802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CANNOT에 없는 것은 자유롭게 할 수 있다. 17개 경계가 에이전트의 과잉 구현 충동을 구조적으로 제거한다.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17989" y="838051"/>
            <a:ext cx="2868811" cy="234851"/>
          </a:xfrm>
          <a:prstGeom prst="roundRect">
            <a:avLst>
              <a:gd name="adj" fmla="val 21631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54464" y="898327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5 Unconstrained Freedoms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7989" y="1123652"/>
            <a:ext cx="2868811" cy="932259"/>
          </a:xfrm>
          <a:prstGeom prst="roundRect">
            <a:avLst>
              <a:gd name="adj" fmla="val 544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827514" y="1123652"/>
            <a:ext cx="0" cy="93225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6389" y="1212503"/>
            <a:ext cx="2443460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버그/문서 수정 — Plan 없이 바로 구현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플랜 외 개선 발견 — 현재 완료 후 다음 이터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선별 실행 — 최종만 전체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메시지 언어 — 한글/영어 자유</a:t>
            </a:r>
            <a:endParaRPr lang="en-US" sz="700" dirty="0"/>
          </a:p>
          <a:p>
            <a:pPr algn="l" marL="342900" indent="-342900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선택 — 더 빠른 도구 선택 가능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17989" y="2106662"/>
            <a:ext cx="2868811" cy="2808387"/>
          </a:xfrm>
          <a:prstGeom prst="roundRect">
            <a:avLst>
              <a:gd name="adj" fmla="val 1809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54464" y="3121968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Result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0848" y="3337768"/>
            <a:ext cx="4321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50848" y="3617119"/>
            <a:ext cx="43218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7077167" y="3337768"/>
            <a:ext cx="446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77167" y="3617119"/>
            <a:ext cx="4460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 bypasses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018407" y="3337768"/>
            <a:ext cx="33457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018407" y="3617119"/>
            <a:ext cx="3345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928506" y="3785295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PR은 5-job CI를 통과해야만 merge 가능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4978450"/>
            <a:ext cx="14357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17개 제약 + 5개 자유 — 엄격함이 속도를 가능하게 한다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24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Engineering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PRs, 0 regressions — GAP Audit + Socratic Gate가 과잉 구현을 소스에서 차단한다.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73026"/>
            <a:ext cx="870347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0262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0262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829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08522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508522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1584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1584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42961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9844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59844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2906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2906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80941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11166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611166" y="873026"/>
            <a:ext cx="870347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4228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4228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32263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62488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2488" y="873026"/>
            <a:ext cx="870347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5549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5549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Verify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83585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713809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13809" y="873026"/>
            <a:ext cx="870347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6871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56871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Docs-Sync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3490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65131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765131" y="873026"/>
            <a:ext cx="870347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8193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8193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CI Gate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68622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816453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816453" y="873026"/>
            <a:ext cx="870347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59515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59515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1349276"/>
            <a:ext cx="4659511" cy="3587948"/>
          </a:xfrm>
          <a:prstGeom prst="roundRect">
            <a:avLst>
              <a:gd name="adj" fmla="val 14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125" y="1485751"/>
            <a:ext cx="442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5-Question Gate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9125" y="1663452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7975" y="1688753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16943" y="1663452"/>
            <a:ext cx="20326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코드에 이미 있는가? grep/Explore 실측 — 있으면 제거.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9125" y="1872704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07975" y="1898005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16943" y="1872704"/>
            <a:ext cx="2482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이걸 안 하면 무엇이 깨지는가? 실제 장애 시나리오 — 답 없으면 제거.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9125" y="2081957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7975" y="2107257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16943" y="2081957"/>
            <a:ext cx="16381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효과를 어떻게 측정하는가? 측정 불가 시 보류.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19125" y="2291209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07975" y="2316510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16943" y="2291209"/>
            <a:ext cx="1377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구현은? 최소 변경만 채택.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9125" y="2500461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7975" y="2525762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016943" y="2500461"/>
            <a:ext cx="2052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3종 이상에서 동일 패턴인가? 1종만이면 재검증.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18212" y="1349276"/>
            <a:ext cx="3468588" cy="2794546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380137" y="1485751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80137" y="1676251"/>
            <a:ext cx="3144738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380137" y="1679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570488" y="1676251"/>
            <a:ext cx="1325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ruff check + import ratchet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380137" y="1825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70488" y="1822252"/>
            <a:ext cx="15291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mypy + prompt integrity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380137" y="1976140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570488" y="1968252"/>
            <a:ext cx="17216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pytest count &gt;= </a:t>
            </a:r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(현재 3,249+)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380137" y="2126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570488" y="2123777"/>
            <a:ext cx="10480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bandit -r core/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380137" y="2272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818CF8">
              <a:alpha val="25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70488" y="2269778"/>
            <a:ext cx="1168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4/4 all pass to merge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218212" y="4245322"/>
            <a:ext cx="3468588" cy="691902"/>
          </a:xfrm>
          <a:prstGeom prst="roundRect">
            <a:avLst>
              <a:gd name="adj" fmla="val 73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380137" y="4381798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Recovery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380137" y="4559498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E2E fail → Step 3 (Implement)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380137" y="4705499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CI fail → Step 3 (Implement)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57200" y="5000625"/>
            <a:ext cx="30916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blocks duplicate work — Socratic Gate blocks unnecessary work — CI Ratchet blocks regression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24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 이상 프론티어에서 수렴한 패턴만 채택하고, 4인 페르소나가 단일 리뷰어가 놓치는 것을 병렬로 감사한다.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Autonomous Loop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P1→CANNOT 규칙. P4→CI ratchet. P6→컨텍스트 압축. P10→최소 구현.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336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701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1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/ PSPDFKit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01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Session Key. Lane Queue 동시성. Atomic write for .env 보안.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101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65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465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 / Anthropic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6575" y="1304627"/>
            <a:ext cx="176184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AgenticLoop. HITL 3-tier SAFE/WRITE/DANGEROUS. Sliding-window context.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865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230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230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230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 + .owner 소유권. Bash resource limits. Secret redaction.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1900982"/>
            <a:ext cx="200025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268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96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367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367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creator · TDD inventor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9367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구현인가? 불필요한 추상화가 있는가? Error paths 테스트됐는가?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3365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533650" y="1900982"/>
            <a:ext cx="20002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913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365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841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12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7012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AI Director · autoresearch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267012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guard? Ratchet? 이 기능이 컨텍스트 윈도우를 얼마나 소비하는가?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1010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10100" y="1900982"/>
            <a:ext cx="200025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558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010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486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657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4657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PSPDFKit founder · OpenClaw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474657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 (tmp+rename)? 크래시 시 상태 파일이 깨지지 않는가?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86550" y="1891457"/>
            <a:ext cx="2000250" cy="3045768"/>
          </a:xfrm>
          <a:prstGeom prst="roundRect">
            <a:avLst>
              <a:gd name="adj" fmla="val 254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686550" y="1900982"/>
            <a:ext cx="200025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2038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86550" y="4932462"/>
            <a:ext cx="20002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91313" y="1891457"/>
            <a:ext cx="0" cy="304576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3025" y="2012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23025" y="2145357"/>
            <a:ext cx="17618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Lead · ex-Meta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6823025" y="2275433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definitions clear? HITL classification correct? while(tool_use) 루프가 올바른가?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5000625"/>
            <a:ext cx="34839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scaffold skills encode patterns once, reused across all 486 PRs — research time must not exceed implementation time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24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runtime.py 1,476줄에서 185개 모듈, 6개 레이어로 — 새 도메인은 DomainPort Protocol 12 메서드만 구현하면 된다.</a:t>
            </a:r>
            <a:endParaRPr lang="en-US" sz="700" dirty="0"/>
          </a:p>
        </p:txBody>
      </p:sp>
      <p:pic>
        <p:nvPicPr>
          <p:cNvPr id="6" name="Image 0" descr="/Users/mango/workspace/portfolio/geode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598563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400" y="863501"/>
            <a:ext cx="2438400" cy="1644104"/>
          </a:xfrm>
          <a:prstGeom prst="roundRect">
            <a:avLst>
              <a:gd name="adj" fmla="val 309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84875" y="974527"/>
            <a:ext cx="22087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Module Counts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84875" y="1165027"/>
            <a:ext cx="6023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CLI + Agent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300740" y="1165027"/>
            <a:ext cx="2545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+ 8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384875" y="1311027"/>
            <a:ext cx="7684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Infra + Gateway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8251329" y="1311027"/>
            <a:ext cx="304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+ 13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384875" y="1457027"/>
            <a:ext cx="4534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Memory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451354" y="1457027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384875" y="1603028"/>
            <a:ext cx="670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Orchestration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8451354" y="1603028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384875" y="1749028"/>
            <a:ext cx="6407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Tools + MCP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251329" y="1749028"/>
            <a:ext cx="304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+ 18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384875" y="1895029"/>
            <a:ext cx="760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Domain Plugins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8451354" y="189502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384875" y="2045791"/>
            <a:ext cx="216544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4875" y="2201317"/>
            <a:ext cx="2937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126611" y="2101304"/>
            <a:ext cx="4321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248400" y="2583805"/>
            <a:ext cx="2438400" cy="824805"/>
          </a:xfrm>
          <a:prstGeom prst="roundRect">
            <a:avLst>
              <a:gd name="adj" fmla="val 615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384875" y="2694831"/>
            <a:ext cx="22087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— Cross-cutting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84875" y="2872532"/>
            <a:ext cx="220875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(7 모듈)는 L0–L5 전 레이어에서 import 가능한 횡단 관심사. 종속 사이클 해소를 위해 분리 추출.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384875" y="3202335"/>
            <a:ext cx="2208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events · 17 handlers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5000625"/>
            <a:ext cx="26111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12 methods — new domain swap without touching infrastructure code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24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— while(tool_use)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tool_use를 반환하는 한 최대 50 라운드까지 루프를 계속하고, 5가지 경로로 종료한다.</a:t>
            </a:r>
            <a:endParaRPr lang="en-US" sz="700" dirty="0"/>
          </a:p>
        </p:txBody>
      </p:sp>
      <p:pic>
        <p:nvPicPr>
          <p:cNvPr id="6" name="Image 0" descr="/Users/mango/workspace/portfolio/geode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50" y="1650950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1450" y="850702"/>
            <a:ext cx="2565350" cy="1312962"/>
          </a:xfrm>
          <a:prstGeom prst="roundRect">
            <a:avLst>
              <a:gd name="adj" fmla="val 38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3375" y="987177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83375" y="1187202"/>
            <a:ext cx="364034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59575" y="1212503"/>
            <a:ext cx="2158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748909" y="1187202"/>
            <a:ext cx="1324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end_turn 반환 — 자연 완료.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283375" y="1367879"/>
            <a:ext cx="346323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59575" y="1393180"/>
            <a:ext cx="1978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731198" y="1367879"/>
            <a:ext cx="1274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 2라운드에서 텍스트 강제 추출.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83375" y="1548557"/>
            <a:ext cx="543818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59575" y="1573857"/>
            <a:ext cx="39924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928693" y="1548557"/>
            <a:ext cx="11799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4회 반복 → 조기 종료.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83375" y="1729234"/>
            <a:ext cx="427434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59575" y="1754535"/>
            <a:ext cx="2805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812310" y="1729234"/>
            <a:ext cx="16262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Cross-Provider Fallback.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83375" y="1909911"/>
            <a:ext cx="441573" cy="117277"/>
          </a:xfrm>
          <a:prstGeom prst="roundRect">
            <a:avLst>
              <a:gd name="adj" fmla="val 32487"/>
            </a:avLst>
          </a:prstGeom>
          <a:solidFill>
            <a:srgbClr val="8B949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59575" y="1935212"/>
            <a:ext cx="294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6826448" y="1909911"/>
            <a:ext cx="1244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 인터럽트 또는 billing 에러.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21450" y="2239863"/>
            <a:ext cx="2565350" cy="1043880"/>
          </a:xfrm>
          <a:prstGeom prst="roundRect">
            <a:avLst>
              <a:gd name="adj" fmla="val 48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83375" y="2376339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 3단계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83375" y="2576364"/>
            <a:ext cx="434578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59575" y="2601664"/>
            <a:ext cx="2878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turns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6819454" y="2576364"/>
            <a:ext cx="17395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— 최초 메시지 보존, 중간 제거.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3375" y="2849314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59575" y="2874615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664375" y="2849314"/>
            <a:ext cx="13931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80% → compact 압축 발동.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283375" y="3029992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59575" y="3055293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664375" y="3029992"/>
            <a:ext cx="1417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→ emergency prune 자동 발동.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4991100"/>
            <a:ext cx="298296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Code의 while(tool_use) 패턴 참조 — DEFAULT_MAX_ROUNDS=50, WRAP_UP_HEADROOM=2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24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하드코딩 콜백 → 45-Event Bus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재귀 개선·자기 증강을 위한 실시간 추적 — Claude Code·Devin·OpenHands 리서치 후 개편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876800" cy="688032"/>
          </a:xfrm>
          <a:prstGeom prst="roundRect">
            <a:avLst>
              <a:gd name="adj" fmla="val 73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688032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10977"/>
            <a:ext cx="461486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결과·드리프트를 실시간 추적하려면 하드코딩 콜백으로는 확장이 불가능했습니다. 프론티어 하네스를 리서치하고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카테고리 45개 이벤트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271736"/>
            <a:ext cx="46148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패턴:</a:t>
            </a:r>
            <a:pPr algn="l" indent="0" marL="0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하나의 이벤트가 L1(관측)과 L2(반응)를 동시에 지나가는 것이 리플 패턴입니다.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48259"/>
            <a:ext cx="4876800" cy="3392091"/>
          </a:xfrm>
          <a:prstGeom prst="roundRect">
            <a:avLst>
              <a:gd name="adj" fmla="val 14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659285"/>
            <a:ext cx="4644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CORE EVENT CATEGORIES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1830735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151" y="1891010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Lifecycle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0151" y="1986260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 · END · ERROR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2092226" y="1830735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3252" y="1891010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03252" y="1986260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ENTER · EXIT · ERROR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3565327" y="1830735"/>
            <a:ext cx="1471017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76352" y="1891010"/>
            <a:ext cx="12739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L4.5 Automation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76352" y="1986260"/>
            <a:ext cx="12739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 — DRIFT · OUTCOME · TRIGGER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619125" y="2163961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0151" y="2224236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30151" y="2319486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80% · 95% · ACTION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092226" y="2163961"/>
            <a:ext cx="1422350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03252" y="2224236"/>
            <a:ext cx="1224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03252" y="2319486"/>
            <a:ext cx="12243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STARTED · DONE · FAILED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619125" y="2497187"/>
            <a:ext cx="1617911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0151" y="2557463"/>
            <a:ext cx="14237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HITL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30151" y="2652713"/>
            <a:ext cx="142377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REQUESTED · GRANTED · DENIED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460950" y="809476"/>
            <a:ext cx="3225850" cy="3444478"/>
          </a:xfrm>
          <a:prstGeom prst="roundRect">
            <a:avLst>
              <a:gd name="adj" fmla="val 15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22875" y="920502"/>
            <a:ext cx="2960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2875" y="1091952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33901" y="1152227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33901" y="1257002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22875" y="1460153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33901" y="1520428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733901" y="1625203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22875" y="1837879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33901" y="1898154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33901" y="2002929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622875" y="2215604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33901" y="2275880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33901" y="2380655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45 events → runs.jsonl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60950" y="4304705"/>
            <a:ext cx="3225850" cy="635645"/>
          </a:xfrm>
          <a:prstGeom prst="roundRect">
            <a:avLst>
              <a:gd name="adj" fmla="val 79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484763" y="4304705"/>
            <a:ext cx="0" cy="635645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0975" y="4406205"/>
            <a:ext cx="2930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0975" y="4590306"/>
            <a:ext cx="293089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기반 핸들러 순서 보장 (P30→P50→P85).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991100"/>
            <a:ext cx="264610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v0.30.1: core/hooks/ 추출 (cross-cutting) — 26개 파일 의존성 위반 해소 · 17 handlers registered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토큰 폭발 → 4096-token Guard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부모 컨텍스트에 결과를 반환할 때 토큰이 기하급수적으로 증가하는 문제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181600" cy="742801"/>
          </a:xfrm>
          <a:prstGeom prst="roundRect">
            <a:avLst>
              <a:gd name="adj" fmla="val 68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74280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925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7225" y="1120527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"Berserk vs Ghost in the Shell 비교"처럼 병렬 서브에이전트가 각자 전체 분석을</a:t>
            </a:r>
            <a:endParaRPr lang="en-US" sz="8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부모 컨텍스트에 반환하면 토큰이 기하급수적으로 증가합니다.</a:t>
            </a:r>
            <a:endParaRPr lang="en-US" sz="80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부모의 tools·MCP·skills·memory를 전체 상속하되 출력 제어가 필요했습니다.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53778"/>
            <a:ext cx="5181600" cy="3270796"/>
          </a:xfrm>
          <a:prstGeom prst="roundRect">
            <a:avLst>
              <a:gd name="adj" fmla="val 15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790254"/>
            <a:ext cx="49549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+ ANNOUNCE 패턴 (OpenClaw 참조)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2034629"/>
            <a:ext cx="4857750" cy="361950"/>
          </a:xfrm>
          <a:prstGeom prst="roundRect">
            <a:avLst>
              <a:gd name="adj" fmla="val 1403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9752" y="2120354"/>
            <a:ext cx="46764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AgenticLoop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9752" y="2244179"/>
            <a:ext cx="467649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context · tools 52 · MCP 44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570548" y="2472779"/>
            <a:ext cx="49549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delegate() — IsolatedRunner threads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9125" y="2663279"/>
            <a:ext cx="1568351" cy="425351"/>
          </a:xfrm>
          <a:prstGeom prst="roundRect">
            <a:avLst>
              <a:gd name="adj" fmla="val 119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6688" y="2761655"/>
            <a:ext cx="13732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16688" y="2856905"/>
            <a:ext cx="137322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max_rounds=10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716688" y="2923580"/>
            <a:ext cx="137322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AgentMemoryStore (24h TTL)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263676" y="2663279"/>
            <a:ext cx="1568500" cy="425351"/>
          </a:xfrm>
          <a:prstGeom prst="roundRect">
            <a:avLst>
              <a:gd name="adj" fmla="val 119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61237" y="2761655"/>
            <a:ext cx="1373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61237" y="2856905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max_rounds=10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2361237" y="2923580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AgentMemoryStore (24h TTL)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908375" y="2663279"/>
            <a:ext cx="1568500" cy="425351"/>
          </a:xfrm>
          <a:prstGeom prst="roundRect">
            <a:avLst>
              <a:gd name="adj" fmla="val 119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5937" y="2761655"/>
            <a:ext cx="13733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05937" y="2856905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max_rounds=10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005937" y="2923580"/>
            <a:ext cx="13733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AgentMemoryStore (24h TTL)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619125" y="3164830"/>
            <a:ext cx="4857750" cy="396776"/>
          </a:xfrm>
          <a:prstGeom prst="roundRect">
            <a:avLst>
              <a:gd name="adj" fmla="val 12803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9752" y="3263205"/>
            <a:ext cx="46764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반환 시 </a:t>
            </a:r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4096-token guard</a:t>
            </a:r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구조화 요약으로 압축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9752" y="3387030"/>
            <a:ext cx="46764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_announce_queue (thread-safe) → 부모 drain_announced_results()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765750" y="809476"/>
            <a:ext cx="2921050" cy="1647230"/>
          </a:xfrm>
          <a:prstGeom prst="roundRect">
            <a:avLst>
              <a:gd name="adj" fmla="val 30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27675" y="945952"/>
            <a:ext cx="264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27675" y="1190327"/>
            <a:ext cx="1260425" cy="564952"/>
          </a:xfrm>
          <a:prstGeom prst="roundRect">
            <a:avLst>
              <a:gd name="adj" fmla="val 8992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18602" y="1291828"/>
            <a:ext cx="10785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18602" y="1587103"/>
            <a:ext cx="10785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7264301" y="1190327"/>
            <a:ext cx="1260574" cy="564952"/>
          </a:xfrm>
          <a:prstGeom prst="roundRect">
            <a:avLst>
              <a:gd name="adj" fmla="val 8992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55226" y="1291828"/>
            <a:ext cx="10787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55226" y="1501378"/>
            <a:ext cx="10787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dedup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927675" y="1831479"/>
            <a:ext cx="1260425" cy="488752"/>
          </a:xfrm>
          <a:prstGeom prst="roundRect">
            <a:avLst>
              <a:gd name="adj" fmla="val 103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18602" y="1932980"/>
            <a:ext cx="10785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18602" y="2142530"/>
            <a:ext cx="10785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max_total / session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7264301" y="1831479"/>
            <a:ext cx="1260574" cy="488752"/>
          </a:xfrm>
          <a:prstGeom prst="roundRect">
            <a:avLst>
              <a:gd name="adj" fmla="val 103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55226" y="1932980"/>
            <a:ext cx="10787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55226" y="2142530"/>
            <a:ext cx="107872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재귀 깊이 제한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765750" y="2558207"/>
            <a:ext cx="2921050" cy="2366367"/>
          </a:xfrm>
          <a:prstGeom prst="roundRect">
            <a:avLst>
              <a:gd name="adj" fmla="val 21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789563" y="2558207"/>
            <a:ext cx="0" cy="236636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5775" y="2685157"/>
            <a:ext cx="2619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위임의 의미를 살린다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65775" y="2904232"/>
            <a:ext cx="26199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동일한 52 tools·44 MCP·skills·memory를 상속합니다. 단,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위험 도구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(set_api_key, manage_auth 등)는 샌드박스로 차단합니다.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65775" y="3437632"/>
            <a:ext cx="26199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타임아웃·API에러 → 재시도 / 검증에러 → 즉시 중단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57200" y="4987975"/>
            <a:ext cx="37521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sub_agent.py (530L) · IsolatedRunner + ThreadPoolExecutor · error_category: timeout/api_error=retryable, validation=not retryable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단일 Provider 의존 → 3-Provider 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Limit·장애 시 파이프라인 전체 중단 방지 — CircuitBreaker 3-state + Exponential Backoff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181600" cy="558701"/>
          </a:xfrm>
          <a:prstGeom prst="roundRect">
            <a:avLst>
              <a:gd name="adj" fmla="val 90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5870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Provider에 의존하면 Rate Limit이나 장애 시 파이프라인 전체가 중단됩니다. Anthropic·OpenAI·ZhipuAI를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추상화하고, Provider별 독립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배치했습니다.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9678"/>
            <a:ext cx="5181600" cy="2012156"/>
          </a:xfrm>
          <a:prstGeom prst="roundRect">
            <a:avLst>
              <a:gd name="adj" fmla="val 252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06153"/>
            <a:ext cx="4954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CHAIN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45766"/>
            <a:ext cx="1398984" cy="584002"/>
          </a:xfrm>
          <a:prstGeom prst="roundRect">
            <a:avLst>
              <a:gd name="adj" fmla="val 8699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5600" y="1956792"/>
            <a:ext cx="114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600" y="2090142"/>
            <a:ext cx="11485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claude-opus-4-6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55600" y="2185392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claude-sonnet-4-6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755600" y="2252067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claude-haiku-3-5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092531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092531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48359" y="1845766"/>
            <a:ext cx="1399133" cy="584002"/>
          </a:xfrm>
          <a:prstGeom prst="roundRect">
            <a:avLst>
              <a:gd name="adj" fmla="val 8699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84834" y="1956792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4834" y="2090142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4834" y="2185392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gpt-5.3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484834" y="2252067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gpt-4o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821914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821914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77742" y="1841004"/>
            <a:ext cx="1399133" cy="593527"/>
          </a:xfrm>
          <a:prstGeom prst="roundRect">
            <a:avLst>
              <a:gd name="adj" fmla="val 8559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14217" y="1952030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14217" y="2085380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14217" y="2180630"/>
            <a:ext cx="11487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214217" y="2256830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619125" y="2536031"/>
            <a:ext cx="4857750" cy="809327"/>
          </a:xfrm>
          <a:prstGeom prst="roundRect">
            <a:avLst>
              <a:gd name="adj" fmla="val 627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5600" y="2647057"/>
            <a:ext cx="4676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상태 머신 (Provider별 독립)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5600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6390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6390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2074042" y="2921645"/>
            <a:ext cx="351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5회 실패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074042" y="2997845"/>
            <a:ext cx="351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98675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99465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99465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차단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3818587" y="2921645"/>
            <a:ext cx="2019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후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818587" y="2997845"/>
            <a:ext cx="201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94708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95498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95498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765750" y="809476"/>
            <a:ext cx="2921050" cy="1371005"/>
          </a:xfrm>
          <a:prstGeom prst="roundRect">
            <a:avLst>
              <a:gd name="adj" fmla="val 37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27675" y="945952"/>
            <a:ext cx="264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분류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27675" y="1190327"/>
            <a:ext cx="1260425" cy="853678"/>
          </a:xfrm>
          <a:prstGeom prst="roundRect">
            <a:avLst>
              <a:gd name="adj" fmla="val 595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64151" y="1301353"/>
            <a:ext cx="10072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Retryable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1852" y="1479054"/>
            <a:ext cx="8097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64151" y="1828205"/>
            <a:ext cx="10072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 Backoff ±25% Jitter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7264301" y="1190327"/>
            <a:ext cx="1260574" cy="853678"/>
          </a:xfrm>
          <a:prstGeom prst="roundRect">
            <a:avLst>
              <a:gd name="adj" fmla="val 595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00776" y="1301353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Non-retryable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78477" y="1479054"/>
            <a:ext cx="8099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잔액 부족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오류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초과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400776" y="1856780"/>
            <a:ext cx="10073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다음 Provider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5765750" y="2281982"/>
            <a:ext cx="2921050" cy="2642592"/>
          </a:xfrm>
          <a:prstGeom prst="roundRect">
            <a:avLst>
              <a:gd name="adj" fmla="val 19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789563" y="2281982"/>
            <a:ext cx="0" cy="264259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65775" y="2408932"/>
            <a:ext cx="2619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결정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65775" y="2628007"/>
            <a:ext cx="26199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메모리가 모델에 종속되지 않습니다.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4-Tier 메모리는 Provider와 분리되어 Failover 시에도 세션 학습 내용이 그대로 유지됩니다.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65775" y="3161407"/>
            <a:ext cx="2619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"/>
              </a:lnSpc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추상화로 새 Provider 추가 시 어댑터 1개만 구현. Thundering Herd 방지를 위해 ±25% Jitter 적용.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87975"/>
            <a:ext cx="35998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llm_client.py · circuit_breaker.py · Port/Adapter pattern — 3 providers, 9 models in chain · thread-safe Lock per CircuitBreaker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Memory: 압축 전략 × 4-Tier 자동 학습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종료 시 인사이트 휘발 방지 — PIPELINE_END → MEMORY.md 자동 축적 루프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368701" cy="558701"/>
          </a:xfrm>
          <a:prstGeom prst="roundRect">
            <a:avLst>
              <a:gd name="adj" fmla="val 90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587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36427"/>
            <a:ext cx="40966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컨텍스트 윈도우를 갖기 때문에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3이면 유효 컨텍스트가 600K로 선형 확장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됩니다. 임계값 초과 시 3-Phase 압축이 자동 발동합니다.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9678"/>
            <a:ext cx="4368701" cy="3454896"/>
          </a:xfrm>
          <a:prstGeom prst="roundRect">
            <a:avLst>
              <a:gd name="adj" fmla="val 14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06153"/>
            <a:ext cx="4125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50529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2212" y="1923455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WARNING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36527" y="1850529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SUMMARIZE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6527" y="1964829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블록 &gt;5% 윈도우 → [summarized: N tokens]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619125" y="2193131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2212" y="226605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CRITICAL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36527" y="2193131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ADAPTIVE PRUNE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36527" y="2307431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최신→과거 순 70% 예산 내 유지, first+last 2 보존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19125" y="2535734"/>
            <a:ext cx="1015901" cy="250627"/>
          </a:xfrm>
          <a:prstGeom prst="roundRect">
            <a:avLst>
              <a:gd name="adj" fmla="val 20269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2212" y="2608659"/>
            <a:ext cx="8097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비상 폴백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736527" y="2535734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EMERGENCY PRUNE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6527" y="2650034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prune_oldest_messages(keep_recent=10) 최후 수단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19125" y="2887861"/>
            <a:ext cx="4044851" cy="253901"/>
          </a:xfrm>
          <a:prstGeom prst="roundRect">
            <a:avLst>
              <a:gd name="adj" fmla="val 20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075" y="2976711"/>
            <a:ext cx="38667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P6 패턴: 4 chars/token 보수적 추정 → 실제보다 낮게 계산 = 안전 마진 확보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4952851" y="809476"/>
            <a:ext cx="3733949" cy="2180332"/>
          </a:xfrm>
          <a:prstGeom prst="roundRect">
            <a:avLst>
              <a:gd name="adj" fmla="val 233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14776" y="945952"/>
            <a:ext cx="34783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피라미드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14776" y="1190327"/>
            <a:ext cx="3410099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51252" y="1288703"/>
            <a:ext cx="10497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(Tier 3) — 최우선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51252" y="1393478"/>
            <a:ext cx="104972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기반 · 현재 작업 맥락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8228409" y="1326803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14776" y="1631454"/>
            <a:ext cx="3410099" cy="358676"/>
          </a:xfrm>
          <a:prstGeom prst="roundRect">
            <a:avLst>
              <a:gd name="adj" fmla="val 14163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51252" y="1729829"/>
            <a:ext cx="1327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(Tier 2)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251252" y="1825079"/>
            <a:ext cx="13270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.geode/memory/PROJECT.md · max 200 lines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228409" y="1758404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14776" y="2053530"/>
            <a:ext cx="3410099" cy="368201"/>
          </a:xfrm>
          <a:prstGeom prst="roundRect">
            <a:avLst>
              <a:gd name="adj" fmla="val 13797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51252" y="2151906"/>
            <a:ext cx="879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(Tier 1)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251252" y="2247156"/>
            <a:ext cx="8798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공통 루브릭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228409" y="2185243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14776" y="2485132"/>
            <a:ext cx="3410099" cy="368201"/>
          </a:xfrm>
          <a:prstGeom prst="roundRect">
            <a:avLst>
              <a:gd name="adj" fmla="val 13797"/>
            </a:avLst>
          </a:prstGeom>
          <a:solidFill>
            <a:srgbClr val="E2E8F0">
              <a:alpha val="6000"/>
            </a:srgbClr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51252" y="2583507"/>
            <a:ext cx="12054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(Tier 0) — GEODE.md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51252" y="2678757"/>
            <a:ext cx="12054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정체성 · Karpathy P7 패턴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228409" y="261684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952851" y="3091309"/>
            <a:ext cx="3733949" cy="1833265"/>
          </a:xfrm>
          <a:prstGeom prst="roundRect">
            <a:avLst>
              <a:gd name="adj" fmla="val 27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976664" y="3091309"/>
            <a:ext cx="0" cy="1833265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52876" y="3218259"/>
            <a:ext cx="3449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자동 학습 루프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52876" y="3437334"/>
            <a:ext cx="3449154" cy="46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세션이 끝나면 Hook P85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memory_write_back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인사이트를 </a:t>
            </a:r>
            <a:pPr algn="l"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.geode/memory/PROJECT.md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자동 축적합니다. 최대 50개 인사이트 (oldest-drop rotation).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987975"/>
            <a:ext cx="380498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context_monitor.py · memory/context.py (ContextAssembler) · 280-char LLM summary budget · file-based .geode/ hub (git-trackable)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24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6-Phase 동적 조립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 → 변경 추적 불가 + 캐시 히트율 하락. SHA-256 해시와 ephemeral 캐시로 해결.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92516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72877"/>
            <a:ext cx="0" cy="6631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987177"/>
            <a:ext cx="4664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— 수동 편집의 두 가지 실패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7225" y="1155353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변경 추적 불가: 어느 버전이 어떤 결과를 냈는지 재현 불가.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88554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캐시 히트율 하락: 작은 수정 한 줄이 전체 해시를 바꿔 캐시 미스 유발.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37556"/>
            <a:ext cx="4925169" cy="873026"/>
          </a:xfrm>
          <a:prstGeom prst="roundRect">
            <a:avLst>
              <a:gd name="adj" fmla="val 58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1761381"/>
            <a:ext cx="4693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6-Phase 조립 파이프라인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125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362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362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정의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1282750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2974" y="1986707"/>
            <a:ext cx="613023" cy="400050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97471" y="2062907"/>
            <a:ext cx="4440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97471" y="2158157"/>
            <a:ext cx="444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노드별 오버라이드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076748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06972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1471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91471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매칭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870597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00821" y="2029569"/>
            <a:ext cx="612874" cy="314325"/>
          </a:xfrm>
          <a:prstGeom prst="roundRect">
            <a:avLst>
              <a:gd name="adj" fmla="val 161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85320" y="2105769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85320" y="2201019"/>
            <a:ext cx="4438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664446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94671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79169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79169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접두사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4458295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88520" y="2015282"/>
            <a:ext cx="631924" cy="342900"/>
          </a:xfrm>
          <a:prstGeom prst="roundRect">
            <a:avLst>
              <a:gd name="adj" fmla="val 148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8254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8254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0" y="2612082"/>
            <a:ext cx="4925169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125" y="2735907"/>
            <a:ext cx="46933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조립 복잡도 vs 캐시 안정성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9125" y="2891433"/>
            <a:ext cx="469334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Phase가 독립 청크로 분리되어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Phase만 해시가 달라집니다.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범위가 명확해져 캐시 히트율이 보존됩니다.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09320" y="872877"/>
            <a:ext cx="3177480" cy="1114276"/>
          </a:xfrm>
          <a:prstGeom prst="roundRect">
            <a:avLst>
              <a:gd name="adj" fmla="val 45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509320" y="891927"/>
            <a:ext cx="317748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993" y="1063377"/>
            <a:ext cx="29301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cache_control: ephemeral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32993" y="1234827"/>
            <a:ext cx="2930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632993" y="1603028"/>
            <a:ext cx="29301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2회차부터 입력 비용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32993" y="1758553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노드가 동일 시스템 프롬프트 공유 시 적용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509320" y="2088654"/>
            <a:ext cx="3177480" cy="2800945"/>
          </a:xfrm>
          <a:prstGeom prst="roundRect">
            <a:avLst>
              <a:gd name="adj" fmla="val 18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71245" y="2225129"/>
            <a:ext cx="2910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71245" y="2450455"/>
            <a:ext cx="2853630" cy="76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71245" y="2450455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완료 시 전체 프롬프트를 SHA-256 해싱하여 버전 고정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71245" y="2663577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해시 = 동일 프롬프트 → 캐시 히트 보장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71245" y="2876699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변경 시 HookSystem 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PROMPT_CHANGED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발행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671245" y="3089821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Skills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전체가 이 파이프라인을 통해 주입됨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65799"/>
            <a:ext cx="34972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→ override → skill → memory → bootstrap → SHA-256 · 7 노드 공유 · cache_control: ephemeral · 2회차 비용 10%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단순화 + TokenTracker 자체 관측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병목 제거로 LLM 도구 탐색을 열고, 자체 비용 트레이싱으로 루프 비용을 제어합니다.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단순화 — Before → After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17253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1A1010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241078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3-Layer 병목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441103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125" y="1441103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(257줄)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탐색을 가로막는 중앙 레지스트리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9125" y="1609279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— Registry에 종속, 독립 검색 불가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777454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stub 9개 — 중복 래퍼, 유지 관리 부담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107555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0D1E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231380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2-Layer 직관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9125" y="2431405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125" y="2431405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Catalog 검색 전용으로 축소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9581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 [mcp.servers]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설정 통합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767757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 auto-discovery · Proxy stub 9개 제거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097857"/>
            <a:ext cx="4051250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125" y="3221682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제어 vs 탐색 자유도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9125" y="3377208"/>
            <a:ext cx="380194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Registry는 도구 목록을 완전 통제하지만 LLM의 런타임 탐색을 막습니다. Catalog로 전환하면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서버를 동적 관리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하면서도 HITL 4-Tier 권한 모델로 실행 경계를 유지합니다.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35401" y="872877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— 자체 비용 트레이싱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5401" y="1117253"/>
            <a:ext cx="405139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9213" y="1117253"/>
            <a:ext cx="0" cy="663178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5426" y="1231553"/>
            <a:ext cx="37729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만들었나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35426" y="1399729"/>
            <a:ext cx="377295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루프는 LLM 턴이 많습니다. LangSmith만으로는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비용 내역과 캐시 히트율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추적하기 어려웠습니다.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5401" y="1881932"/>
            <a:ext cx="1974949" cy="664369"/>
          </a:xfrm>
          <a:prstGeom prst="roundRect">
            <a:avLst>
              <a:gd name="adj" fmla="val 7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35401" y="1891457"/>
            <a:ext cx="197494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9701" y="2015282"/>
            <a:ext cx="17812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9701" y="2183457"/>
            <a:ext cx="17812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모델, 입출력 토큰, cache_creation, cache_read 기록. 스레드 안전.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711851" y="1881932"/>
            <a:ext cx="1974949" cy="664369"/>
          </a:xfrm>
          <a:prstGeom prst="roundRect">
            <a:avLst>
              <a:gd name="adj" fmla="val 764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711851" y="1891457"/>
            <a:ext cx="197494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6151" y="2015282"/>
            <a:ext cx="17812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26151" y="2183457"/>
            <a:ext cx="178127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Anthropic·OpenAI·GLM 실시간 비용 산출. 월별 JSONL 영속 저장.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35401" y="2647801"/>
            <a:ext cx="4051399" cy="2241798"/>
          </a:xfrm>
          <a:prstGeom prst="roundRect">
            <a:avLst>
              <a:gd name="adj" fmla="val 2266"/>
            </a:avLst>
          </a:prstGeom>
          <a:solidFill>
            <a:srgbClr val="060B14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97326" y="2771626"/>
            <a:ext cx="3802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97326" y="2984302"/>
            <a:ext cx="3727549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97326" y="2984302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세션/일간/월간 비용 + </a:t>
            </a:r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 실시간 표시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97326" y="3152477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경고 → </a:t>
            </a:r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위험 시 adaptive pruning 자동 발동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97326" y="3320653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ProjectJournal: 프로젝트별 실행 이력 + 누적 비용 추적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965799"/>
            <a:ext cx="35414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MCPRegistry(257줄) 삭제 · Catalog 검색 전용 · config.toml 통합 · TokenTracker ContextVar · 18 모델 가격 레지스트리 · /cost CLI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편향을 병렬 전문가 4명 + 교차 검증 + PSM으로 극복합니다.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4926"/>
            <a:ext cx="5715000" cy="26542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77977"/>
            <a:ext cx="5715000" cy="748754"/>
          </a:xfrm>
          <a:prstGeom prst="roundRect">
            <a:avLst>
              <a:gd name="adj" fmla="val 678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9125" y="3689003"/>
            <a:ext cx="3190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 (adapter.py:91-98)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9125" y="3835003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968204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9125" y="4139505"/>
            <a:ext cx="31906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924895" y="3689003"/>
            <a:ext cx="21270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4895" y="3844528"/>
            <a:ext cx="2127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 80 · A ≥ 60 · B ≥ 40 · C &lt; 40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24895" y="3990529"/>
            <a:ext cx="212708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축 코드 결정 트리 (LLM 아님)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457200" y="4415582"/>
            <a:ext cx="5715000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9125" y="4526607"/>
            <a:ext cx="54989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 — Clean Context: 앵커링 편향 차단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9125" y="4682133"/>
            <a:ext cx="54989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"Analyst A의 S급 평가가 Analyst B를 편향시킵니다." 각 분석가에게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전달 — 다른 분석가 점수 완전 차단. 7개 병렬 LLM 호출에서 독립 평가 보장.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99150" y="834926"/>
            <a:ext cx="24354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 검증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99150" y="1034951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32578" y="1145977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32578" y="1400026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867376" y="1182439"/>
            <a:ext cx="1312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67376" y="1296739"/>
            <a:ext cx="13128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867376" y="1391989"/>
            <a:ext cx="1312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 → marketing_boost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6299150" y="1682502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32578" y="1793528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32578" y="2047577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867376" y="1829991"/>
            <a:ext cx="136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67376" y="1944291"/>
            <a:ext cx="136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867376" y="2039541"/>
            <a:ext cx="1366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 → community_activation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299150" y="2330053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32578" y="2441079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32578" y="2695129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67376" y="2477542"/>
            <a:ext cx="135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the Shell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67376" y="2591842"/>
            <a:ext cx="1359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867376" y="2687092"/>
            <a:ext cx="13595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 → platform_expansion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6299150" y="2977604"/>
            <a:ext cx="2387650" cy="1921520"/>
          </a:xfrm>
          <a:prstGeom prst="roundRect">
            <a:avLst>
              <a:gd name="adj" fmla="val 2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435626" y="3088630"/>
            <a:ext cx="2156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(N4)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435626" y="3275856"/>
            <a:ext cx="2114699" cy="55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35626" y="3275856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35626" y="3431381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탐지 (arXiv:2403.00811)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435626" y="3586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435626" y="3732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57200" y="4975324"/>
            <a:ext cx="32399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loopback ≥0.7 · max 5 iterations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24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이식성: GEODE → REODE 실증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 0줄로 피봇. DomainPort Protocol이 도메인을 코어에서 분리합니다.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34926"/>
            <a:ext cx="2848421" cy="1336179"/>
          </a:xfrm>
          <a:prstGeom prst="roundRect">
            <a:avLst>
              <a:gd name="adj" fmla="val 3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53976"/>
            <a:ext cx="2848421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9600" y="1377702"/>
            <a:ext cx="2543621" cy="66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 모듈 · 3,181 테스트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Tools + 44 MCP · 25 Skills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9600" y="1742629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릴리스 무회귀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1929854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272605"/>
            <a:ext cx="2848421" cy="2616994"/>
          </a:xfrm>
          <a:prstGeom prst="roundRect">
            <a:avLst>
              <a:gd name="adj" fmla="val 194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409081"/>
            <a:ext cx="2575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(15 메서드, 6 카테고리)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0056"/>
            <a:ext cx="2524571" cy="24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125" y="2590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(3) · Analyst Config (2) · Evaluator Config (3)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9125" y="2736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(4) · Classification (5) · Fixtures (2)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2932807"/>
            <a:ext cx="2524571" cy="387251"/>
          </a:xfrm>
          <a:prstGeom prst="roundRect">
            <a:avLst>
              <a:gd name="adj" fmla="val 13118"/>
            </a:avLst>
          </a:prstGeom>
          <a:solidFill>
            <a:srgbClr val="060B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6075" y="3021657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6075" y="3126432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9125" y="3396258"/>
            <a:ext cx="25750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15개 메서드 구현하면 즉시 호환. Pipeline 노드는 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get_domain_or_none()</a:t>
            </a:r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조회 후 fallback.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32572" y="1438573"/>
            <a:ext cx="2278856" cy="1504504"/>
          </a:xfrm>
          <a:prstGeom prst="roundRect">
            <a:avLst>
              <a:gd name="adj" fmla="val 5065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84662" y="1610023"/>
            <a:ext cx="1974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84662" y="1825823"/>
            <a:ext cx="197467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04022" y="2060525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14152" y="2136725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14152" y="2231975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04022" y="2447776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14152" y="2523976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14152" y="2619226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432572" y="3044577"/>
            <a:ext cx="2278856" cy="758726"/>
          </a:xfrm>
          <a:prstGeom prst="roundRect">
            <a:avLst>
              <a:gd name="adj" fmla="val 669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74947" y="3181052"/>
            <a:ext cx="19941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74947" y="3485852"/>
            <a:ext cx="1994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74947" y="3590627"/>
            <a:ext cx="19941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43276" y="3904804"/>
            <a:ext cx="5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79131" y="4076254"/>
            <a:ext cx="785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스왑으로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전환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38379" y="834926"/>
            <a:ext cx="2848421" cy="1148953"/>
          </a:xfrm>
          <a:prstGeom prst="roundRect">
            <a:avLst>
              <a:gd name="adj" fmla="val 44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838379" y="853976"/>
            <a:ext cx="2848421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90779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90779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990779" y="1377702"/>
            <a:ext cx="2543621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90779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90779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Pipelines (Migration · Porting · Refactoring)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90779" y="1742629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38379" y="2085380"/>
            <a:ext cx="2848421" cy="2804220"/>
          </a:xfrm>
          <a:prstGeom prst="roundRect">
            <a:avLst>
              <a:gd name="adj" fmla="val 181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00304" y="2221855"/>
            <a:ext cx="25750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88315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988315" y="2751981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14076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314076" y="2751981"/>
            <a:ext cx="1222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88315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5988315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14076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314076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00304" y="3469332"/>
            <a:ext cx="2524571" cy="434876"/>
          </a:xfrm>
          <a:prstGeom prst="roundRect">
            <a:avLst>
              <a:gd name="adj" fmla="val 11681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14263" y="3567708"/>
            <a:ext cx="22966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14263" y="3729633"/>
            <a:ext cx="22966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65799"/>
            <a:ext cx="37412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15 메서드 · ContextVar DI · core/graph.py 0줄 수정 · REODE: 241 소스 103K LoC · 33 세션 1,133 라운드 · 83/83 빌드 패스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24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Gateway: Swiss Cheese 방어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+ Secret Redaction 8패턴 + ChannelBinding 세션 격리로 자율 실행 경계를 제어합니다.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4926"/>
            <a:ext cx="4572000" cy="20045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28342"/>
            <a:ext cx="4579739" cy="1237952"/>
          </a:xfrm>
          <a:prstGeom prst="roundRect">
            <a:avLst>
              <a:gd name="adj" fmla="val 41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993850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125" y="3039368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9 차단 패턴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207544"/>
            <a:ext cx="1243013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125" y="32075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 · sudo · &gt;/etc/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9125" y="345519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curl|sh · wget|sh · mkfs.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9125" y="37028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if→/dev/ · chmod 777 /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19125" y="39504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bomb :(){:|:&amp;}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500289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25563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Resource Limits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125563" y="3198019"/>
            <a:ext cx="12430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25563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30s 하드 캡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125563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크기 50MB 상한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2125563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자식 프로세스 64개 상한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125563" y="3626644"/>
            <a:ext cx="12678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preexec_fn setrlimit 적용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3632002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HITL 4-Tier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632002" y="3198019"/>
            <a:ext cx="1243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32002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— 30 prefix 자동 승인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632002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— 개별 승인 필요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632002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— 비용 일괄 승인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632002" y="362664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— 순차 승인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255145"/>
            <a:ext cx="4579739" cy="643979"/>
          </a:xfrm>
          <a:prstGeom prst="roundRect">
            <a:avLst>
              <a:gd name="adj" fmla="val 7888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125" y="4366171"/>
            <a:ext cx="4341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safe-first 허용 시 파이프 주입 통과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19125" y="4521696"/>
            <a:ext cx="434100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file.txt | bash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prefix로 SAFE 분류 → 파이프 주입이 통과됩니다. Layer 1의 curl/wget 차단이 원격 코드 실행을 방어합니다.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163889" y="834926"/>
            <a:ext cx="3522911" cy="1177677"/>
          </a:xfrm>
          <a:prstGeom prst="roundRect">
            <a:avLst>
              <a:gd name="adj" fmla="val 4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187702" y="834926"/>
            <a:ext cx="0" cy="117767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63914" y="961876"/>
            <a:ext cx="32338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 — 8 패턴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63914" y="1161901"/>
            <a:ext cx="3170486" cy="57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363914" y="1161901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sk-ant-...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API key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363914" y="131742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sk-proj-... / sk-...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363914" y="1472952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ghp_... / gho_...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PAT/OAuth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363914" y="162847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xoxb-... / xoxp-...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363914" y="1809452"/>
            <a:ext cx="32338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BashTool.to_tool_result() 경계에서 적용 — LLM 컨텍스트 진입 전 차단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5163889" y="2101453"/>
            <a:ext cx="3522911" cy="1726109"/>
          </a:xfrm>
          <a:prstGeom prst="roundRect">
            <a:avLst>
              <a:gd name="adj" fmla="val 29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325814" y="2237929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세션 격리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25814" y="2450604"/>
            <a:ext cx="3199061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25814" y="2450604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325814" y="2603004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· Discord · Telegram 3채널, 정적 바인딩 규칙으로 결정론적 라우팅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5325814" y="2803475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격리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325814" y="2965400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gateway:{channel}:{id}[:{sender}][:{thread}]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325814" y="3089672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스레드별 독립 컨텍스트 — 동시 대화 격리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325814" y="3290143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325814" y="3442543"/>
            <a:ext cx="32630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hitl_level=0 완전 자율 · quiet=True · echo 2중 방어 (bot_message subtype + _last_ts)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163889" y="3916412"/>
            <a:ext cx="3522911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325814" y="4027438"/>
            <a:ext cx="3263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설계 원칙 — AND-logic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325814" y="4182963"/>
            <a:ext cx="3263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도구는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정책을 통과해야 실행됩니다. Org 정책(priority=5)이 최우선. 6개 레이어 중 하나라도 거부하면 차단. Swiss Cheese: 단일 실패를 다음 레이어가 차단합니다.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163889" y="4649242"/>
            <a:ext cx="3522911" cy="634454"/>
          </a:xfrm>
          <a:prstGeom prst="roundRect">
            <a:avLst>
              <a:gd name="adj" fmla="val 8007"/>
            </a:avLst>
          </a:prstGeom>
          <a:solidFill>
            <a:srgbClr val="1A0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5163889" y="465400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682038" y="4649242"/>
            <a:ext cx="0" cy="634454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163889" y="527893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187702" y="4649242"/>
            <a:ext cx="0" cy="63445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363914" y="4760268"/>
            <a:ext cx="32241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363914" y="4906268"/>
            <a:ext cx="322418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GEODE는 두 가지 신뢰 모델을 병행합니다. 자율 에이전트는 실행 전 입력을 차단(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)하고, 분석 파이프라인은 실행 후 출력을 검증(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)합니다.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457200" y="4975324"/>
            <a:ext cx="4166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blocked patterns · CPU/FSIZE/NPROC limits · 8 secret patterns · 6-layer PolicyChain AND-logic · ChannelBinding 3 pollers · geode serve hitl=0</a:t>
            </a:r>
            <a:endParaRPr lang="en-US" sz="500" dirty="0"/>
          </a:p>
        </p:txBody>
      </p:sp>
      <p:sp>
        <p:nvSpPr>
          <p:cNvPr id="61" name="Text 58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523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— CONSTRAINTS →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→ Result: 제약이 품질을 보증한다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없이 발산하는 LLM을 제어 가능한 결과로 수렴시키는 4가지 인과 경로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1809750" cy="1906786"/>
          </a:xfrm>
          <a:prstGeom prst="roundRect">
            <a:avLst>
              <a:gd name="adj" fmla="val 421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09352"/>
            <a:ext cx="15156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619125" y="1126778"/>
            <a:ext cx="1515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sudo · curl|bash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91828"/>
            <a:ext cx="151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bash_tool.py 9 regex + setrlimit — CPU 30s · FSIZE 50MB · NPROC 64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68451" y="1754832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8552" y="872877"/>
            <a:ext cx="1809899" cy="1906786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60477" y="1009352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2860477" y="1126778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사고 0건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60477" y="1301353"/>
            <a:ext cx="1515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패턴이 실행 차단, 리소스 초과는 커널이 강제 종료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2881164"/>
            <a:ext cx="1809750" cy="1906935"/>
          </a:xfrm>
          <a:prstGeom prst="roundRect">
            <a:avLst>
              <a:gd name="adj" fmla="val 421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3017639"/>
            <a:ext cx="15156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619125" y="3135064"/>
            <a:ext cx="1515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키를 LLM 컨텍스트에 노출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9125" y="3309640"/>
            <a:ext cx="15156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redaction.py 8 regex — sk-ant-*, ghp_* 등 출력이 LLM에 도달하기 전 redact_secrets() 호출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68451" y="3763119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8552" y="2881164"/>
            <a:ext cx="1809899" cy="1906935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60477" y="3017639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860477" y="3135064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누출 0건 — [REDACTED] 치환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60477" y="3309640"/>
            <a:ext cx="1515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8종 패턴 전수 검열, LLM 컨텍스트 경계에서 강제 치환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5401" y="872877"/>
            <a:ext cx="1809899" cy="1906786"/>
          </a:xfrm>
          <a:prstGeom prst="roundRect">
            <a:avLst>
              <a:gd name="adj" fmla="val 4210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97326" y="1009352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797326" y="1126778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애널리스트 점수를 보고 평가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97326" y="1301353"/>
            <a:ext cx="15157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— Send 상태에 analyses: [] 삽입, 각 애널리스트는 빈 배열만 수신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546800" y="1754832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76901" y="872877"/>
            <a:ext cx="1809899" cy="1906786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38826" y="1009352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7038826" y="1126778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앵커링 편향 구조적 차단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38826" y="1301353"/>
            <a:ext cx="15157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애널리스트 독립 병렬 → BiasBuster CV 검사로 2차 확인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35401" y="2881164"/>
            <a:ext cx="1809899" cy="1906935"/>
          </a:xfrm>
          <a:prstGeom prst="roundRect">
            <a:avLst>
              <a:gd name="adj" fmla="val 4210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97326" y="3017639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4797326" y="3135064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미달 결과를 최종 출력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97326" y="3309640"/>
            <a:ext cx="15157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≥0.7 — 미달 시 gather 노드로 루프백, MAX 5회 반복 후 강제 진행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546800" y="3763119"/>
            <a:ext cx="233172" cy="142875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76901" y="2881164"/>
            <a:ext cx="1809899" cy="1906935"/>
          </a:xfrm>
          <a:prstGeom prst="roundRect">
            <a:avLst>
              <a:gd name="adj" fmla="val 4210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038826" y="3017639"/>
            <a:ext cx="151577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7038826" y="3135064"/>
            <a:ext cx="15157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 치유 루프 + 무한 루프 방지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38826" y="3309640"/>
            <a:ext cx="15157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MAX_ITERATIONS=5 하드캡 — weak_areas 기록으로 재실행 시 집중 영역 좁힘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7200" y="4965799"/>
            <a:ext cx="237771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→ 집행 코드 → 측정 가능한 결과 — 모든 CANNOT은 grep 검증된 코드 경로를 갖는다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8492728" y="497056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57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— DESIGN DECISIONS (1/2)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파이프라인 · 실행 · 보안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항목: [채택] vs [기각] — 왜 이 선택인가를 1줄로 정당화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· 실행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DAG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ReAct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 실행 순서 + 병렬 노드 — 재귀 추론 루프 없이 구조화된 다단계 가능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API 병렬 실행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순차 처리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75805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애널리스트 × 3 평가자 동시 — LangGraph Send가 상태 병합을 자동 처리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04256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7718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(analyses: [])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전체 공유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9460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앵커링 편향 구조적 차단 — 단일 설계 결정이 평가 품질에 가장 큰 영향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23058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9598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≥0.7 루프백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패스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51340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개입 없는 자가 치유 — MAX=5로 무한루프 차단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· 검증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3중 보안 (regex+limits+redaction)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샌드박스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6652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— 각 레이어가 독립적으로 다른 공격 면을 차단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94979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6790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AND 체인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OR 허용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85330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정책 통과 필수 — Org 정책(priority=5)이 모든 하위 규칙 오버라이드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13781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867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(SAFE/WRITE/DANGEROUS/EXPENSIVE)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이진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10413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안전 접두사 자동 승인 — 세분화로 마찰 최소화, 위험 제어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32583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6427" y="240550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Swiss Cheese 검증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종합 검사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46427" y="252293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구조 + BiasBuster 인지 + Cross-LLM 통계 + Rights 법적 + Calibration 실증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4991100"/>
            <a:ext cx="250174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4 + 보안·검증 4 — 채택 근거는 코드 경로와 측정 결과로 뒷받침 (2/2는 다음 슬라이드)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8457456" y="4995863"/>
            <a:ext cx="2339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22a / 24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57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— DESIGN DECISIONS (2/2)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게이트웨이 · 인프라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결정론적·제로 레이턴시 라우팅부터 도메인 이식성까지 — 8가지 인프라 결정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게이트웨이 · 통신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바인딩 라우팅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LLM 의도 라우팅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6652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결정론적·제로 레이턴시·감사 가능 — LLM 라우팅은 비용·지연·불확실성 추가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94979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6790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Thread 폴링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asyncio 이벤트 루프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85330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LangGraph와 단순 통합 — 비동기 복잡도 없이 동시성 확보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13781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86707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Prevention (subtype + _last_ts)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DB dedup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9460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경량·DB 의존 없음 — 3초 폴링 주기에 충분한 메모리 기반 dedup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23058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9598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계층형 세션 키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플랫 UUID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51340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gateway:ch:id:sender:thread — 스레드별 컨텍스트 격리, 사람이 읽을 수 있는 키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· 이식성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+ ContextVar DI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ABC 상속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6652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타이핑 — 상속 결합 없음, 스레드 안전 교체 가능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94979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6790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SqliteSaver + MemorySaver fallback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항상 인메모리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85330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크래시 복구 + 개발 경량 — 단일 팩토리로 환경별 전환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13781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867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사이드 점수 계산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LLM composite_score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10413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(axes_sum-8)/32×100 — 투명·검증 가능, LLM 수치는 비교 참고만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32583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6427" y="240550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= REPL 팩토리 + hitl_level=0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별도 코드베이스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46427" y="252293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_build_agentic_stack() 재사용 — 동작 플래그만 다름, 코드 중복 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35401" y="275138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34D39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35401" y="2756148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2038" y="2751386"/>
            <a:ext cx="0" cy="368052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5401" y="3114675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4451" y="2751386"/>
            <a:ext cx="0" cy="36805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5002" y="2824311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이식성 증명: GEODE → REODE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75002" y="2941737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6-Layer 코어 — 도메인 플러그인만 교체, core/graph.py 변경 0줄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991100"/>
            <a:ext cx="232868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게이트웨이 4 + 인프라·이식성 4 — 20가지 결정 완료. 모든 채택 근거는 코드 경로로 검증됨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57456" y="4995863"/>
            <a:ext cx="2339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22b / 24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94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— GEODE v0.30 + REODE v0.21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전체 지표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시스템을 수렴시키는 4개 축의 실증 결과 (GEODE + REODE 합산)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784027"/>
            <a:ext cx="2019300" cy="434876"/>
          </a:xfrm>
          <a:prstGeom prst="roundRect">
            <a:avLst>
              <a:gd name="adj" fmla="val 17522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912614"/>
            <a:ext cx="31403" cy="177701"/>
          </a:xfrm>
          <a:prstGeom prst="roundRect">
            <a:avLst>
              <a:gd name="adj" fmla="val 808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3029" y="844302"/>
            <a:ext cx="1736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3029" y="949077"/>
            <a:ext cx="17364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캐시 90% 절감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27250" y="784027"/>
            <a:ext cx="2019449" cy="434876"/>
          </a:xfrm>
          <a:prstGeom prst="roundRect">
            <a:avLst>
              <a:gd name="adj" fmla="val 17522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38276" y="912614"/>
            <a:ext cx="32296" cy="177701"/>
          </a:xfrm>
          <a:prstGeom prst="roundRect">
            <a:avLst>
              <a:gd name="adj" fmla="val 78648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3973" y="853827"/>
            <a:ext cx="17357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33973" y="958602"/>
            <a:ext cx="17357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 · 54 tools × 50 rounds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97450" y="784027"/>
            <a:ext cx="2019300" cy="434876"/>
          </a:xfrm>
          <a:prstGeom prst="roundRect">
            <a:avLst>
              <a:gd name="adj" fmla="val 17522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08475" y="912614"/>
            <a:ext cx="36165" cy="177701"/>
          </a:xfrm>
          <a:prstGeom prst="roundRect">
            <a:avLst>
              <a:gd name="adj" fmla="val 7023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8041" y="849064"/>
            <a:ext cx="17316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8041" y="953839"/>
            <a:ext cx="1731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 · 신뢰도 69.4 → 99.8%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67500" y="784027"/>
            <a:ext cx="2019300" cy="434876"/>
          </a:xfrm>
          <a:prstGeom prst="roundRect">
            <a:avLst>
              <a:gd name="adj" fmla="val 17522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78526" y="912614"/>
            <a:ext cx="37654" cy="177701"/>
          </a:xfrm>
          <a:prstGeom prst="roundRect">
            <a:avLst>
              <a:gd name="adj" fmla="val 67456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79580" y="844302"/>
            <a:ext cx="17301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79580" y="949077"/>
            <a:ext cx="17301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36-Event Hook Observer · CUSUM 드리프트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1436340"/>
            <a:ext cx="489972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269653"/>
            <a:ext cx="4997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 — 코드베이스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1491853"/>
            <a:ext cx="1186755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579" y="1552129"/>
            <a:ext cx="9839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579" y="1831479"/>
            <a:ext cx="9839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모듈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694706" y="1491853"/>
            <a:ext cx="1186904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96083" y="155212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48K+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96083" y="183147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32361" y="1491853"/>
            <a:ext cx="1186904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33738" y="1552129"/>
            <a:ext cx="98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3,159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33738" y="1806029"/>
            <a:ext cx="984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함수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70015" y="1491853"/>
            <a:ext cx="1186904" cy="504676"/>
          </a:xfrm>
          <a:prstGeom prst="roundRect">
            <a:avLst>
              <a:gd name="adj" fmla="val 150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71392" y="155212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271392" y="1831479"/>
            <a:ext cx="984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semver 릴리스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2047280"/>
            <a:ext cx="2424410" cy="568077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8226" y="2120205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· 도구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8226" y="2237631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StateGraph DAG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8226" y="2332881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Tools · 44 MCP 서버 · 25 Skills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8226" y="2437656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3채널 Gateway (Slack/Discord/Telegram)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32361" y="2047280"/>
            <a:ext cx="2424559" cy="568077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43386" y="2120205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· 검증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043386" y="2237631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Bash 차단 · 8 Secret 탐지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043386" y="2342406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PolicyChain · 4-Tier HITL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43386" y="2437656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80/100 통과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20320" y="1436340"/>
            <a:ext cx="326648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20320" y="1269653"/>
            <a:ext cx="33318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 — 이식성 증명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20320" y="1491853"/>
            <a:ext cx="1607790" cy="479227"/>
          </a:xfrm>
          <a:prstGeom prst="roundRect">
            <a:avLst>
              <a:gd name="adj" fmla="val 159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17489" y="1552129"/>
            <a:ext cx="1413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517489" y="1806029"/>
            <a:ext cx="14134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78861" y="1491853"/>
            <a:ext cx="1607939" cy="479227"/>
          </a:xfrm>
          <a:prstGeom prst="roundRect">
            <a:avLst>
              <a:gd name="adj" fmla="val 159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76028" y="1552129"/>
            <a:ext cx="141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3,274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76028" y="1806029"/>
            <a:ext cx="14136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20320" y="2021830"/>
            <a:ext cx="3266480" cy="2855119"/>
          </a:xfrm>
          <a:prstGeom prst="roundRect">
            <a:avLst>
              <a:gd name="adj" fmla="val 2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531346" y="2094756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 LoC 마이그레이션 · 83/83 통과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31346" y="2224832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/ 1,133 라운드 / 5h 48m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31346" y="2354907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코드 변경 0줄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31346" y="2484983"/>
            <a:ext cx="31053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≥3.12 · LangGraph · Anthropic SDK · FastAPI · Redis · SQLite · mypy strict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57200" y="4991100"/>
            <a:ext cx="262470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GEODE(184) + REODE(209) = 393 모듈 · 6,433 테스트 — 확률론적 시스템을 루프와 가치로 수렴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74575"/>
            <a:ext cx="2131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CLOSING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406301"/>
            <a:ext cx="4244280" cy="1031081"/>
          </a:xfrm>
          <a:prstGeom prst="roundRect">
            <a:avLst>
              <a:gd name="adj" fmla="val 739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7200" y="411063"/>
            <a:ext cx="424428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96718" y="406301"/>
            <a:ext cx="0" cy="1031081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32620"/>
            <a:ext cx="424428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1012" y="406301"/>
            <a:ext cx="0" cy="1031081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7225" y="517327"/>
            <a:ext cx="395997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7225" y="817066"/>
            <a:ext cx="395997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7225" y="1116806"/>
            <a:ext cx="39599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기법이 아니라 규율(discipline)입니다 — 제약, 루프, 검증을 체계적으로 설계하는 방법론.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1500783"/>
            <a:ext cx="4244280" cy="784027"/>
          </a:xfrm>
          <a:prstGeom prst="roundRect">
            <a:avLst>
              <a:gd name="adj" fmla="val 97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3675" y="1586508"/>
            <a:ext cx="40507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 — 자기 증강 하네스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3675" y="1735634"/>
            <a:ext cx="528935" cy="320576"/>
          </a:xfrm>
          <a:prstGeom prst="roundRect">
            <a:avLst>
              <a:gd name="adj" fmla="val 19808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8729" y="1795909"/>
            <a:ext cx="3388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88729" y="189115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루프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198811" y="182924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89311" y="1735634"/>
            <a:ext cx="528935" cy="320576"/>
          </a:xfrm>
          <a:prstGeom prst="roundRect">
            <a:avLst>
              <a:gd name="adj" fmla="val 19808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484364" y="1795909"/>
            <a:ext cx="3388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484364" y="189115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994446" y="182924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184946" y="1735634"/>
            <a:ext cx="601563" cy="320576"/>
          </a:xfrm>
          <a:prstGeom prst="roundRect">
            <a:avLst>
              <a:gd name="adj" fmla="val 19808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279273" y="1795909"/>
            <a:ext cx="4129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279273" y="1891159"/>
            <a:ext cx="4129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862709" y="182924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053209" y="1735634"/>
            <a:ext cx="528935" cy="320576"/>
          </a:xfrm>
          <a:prstGeom prst="roundRect">
            <a:avLst>
              <a:gd name="adj" fmla="val 19808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148263" y="1795909"/>
            <a:ext cx="3388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48263" y="1891159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루프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658344" y="1829246"/>
            <a:ext cx="70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3675" y="2094309"/>
            <a:ext cx="40507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루프가 DEV를 설계하고, RUNTIME이 실행하며, HOOKS가 관측하여 META로 피드백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57200" y="2348210"/>
            <a:ext cx="4244280" cy="679400"/>
          </a:xfrm>
          <a:prstGeom prst="roundRect">
            <a:avLst>
              <a:gd name="adj" fmla="val 112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1" descr="/Users/mango/workspace/portfolio/geode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75" y="2433935"/>
            <a:ext cx="507950" cy="5079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203127" y="2503736"/>
            <a:ext cx="1230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1203127" y="2656136"/>
            <a:ext cx="1230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github.com/mangowhoiscloud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1203127" y="2776686"/>
            <a:ext cx="1230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mangowhoiscloud@gmail.com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4828431" y="406301"/>
            <a:ext cx="3935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3가지 가치 명제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828431" y="612577"/>
            <a:ext cx="3858369" cy="720626"/>
          </a:xfrm>
          <a:prstGeom prst="roundRect">
            <a:avLst>
              <a:gd name="adj" fmla="val 1057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5"/>
          <p:cNvSpPr/>
          <p:nvPr/>
        </p:nvSpPr>
        <p:spPr>
          <a:xfrm>
            <a:off x="4828431" y="617339"/>
            <a:ext cx="385836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682038" y="612577"/>
            <a:ext cx="0" cy="720626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28431" y="1328440"/>
            <a:ext cx="385836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47481" y="612577"/>
            <a:ext cx="0" cy="720626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93481" y="698302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Scaffold Design — 제약으로 품질 보증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993481" y="872877"/>
            <a:ext cx="3627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규칙을 코드로 집행 — 9 Bash 차단 · 8 Secret 탐지 · 6-Layer PolicyChain · 36 Event Hooks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4993481" y="1123652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보안 사고 0건 · 키 누출 0건 · 범위 외 호출 0건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828431" y="1396603"/>
            <a:ext cx="3858369" cy="615851"/>
          </a:xfrm>
          <a:prstGeom prst="roundRect">
            <a:avLst>
              <a:gd name="adj" fmla="val 123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4828431" y="1401366"/>
            <a:ext cx="385836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682038" y="1396603"/>
            <a:ext cx="0" cy="615851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828431" y="2007691"/>
            <a:ext cx="385836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847481" y="1396603"/>
            <a:ext cx="0" cy="61585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993481" y="1482328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System Architecture — 6-Layer + DomainPort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4993481" y="1656904"/>
            <a:ext cx="36279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CLI → L5 Domain Plugins. DomainPort Protocol(15 methods) ContextVar DI.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4993481" y="1802904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증명: GEODE → REODE — core/graph.py 변경 0줄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828431" y="2075855"/>
            <a:ext cx="3858369" cy="625376"/>
          </a:xfrm>
          <a:prstGeom prst="roundRect">
            <a:avLst>
              <a:gd name="adj" fmla="val 12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1"/>
          <p:cNvSpPr/>
          <p:nvPr/>
        </p:nvSpPr>
        <p:spPr>
          <a:xfrm>
            <a:off x="4828431" y="2080617"/>
            <a:ext cx="385836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682038" y="2075855"/>
            <a:ext cx="0" cy="625376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28431" y="2696468"/>
            <a:ext cx="385836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847481" y="2075855"/>
            <a:ext cx="0" cy="625376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93481" y="2161580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Domain Reasoning — PSM + 5-Layer + CUSUM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4993481" y="2336155"/>
            <a:ext cx="36279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Cheese: G1-G4 · BiasBuster · Cross-LLM α≥0.67 · CUSUM 드리프트 관측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4993481" y="2491680"/>
            <a:ext cx="3627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Calibration 80/100 · Berserk S-Tier(80-86) 재현 가능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457200" y="4975324"/>
            <a:ext cx="242371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 · Python ≥3.12 · LangGraph · 184 modules · 3,159 tests · 25 releases</a:t>
            </a:r>
            <a:endParaRPr lang="en-US" sz="500" dirty="0"/>
          </a:p>
        </p:txBody>
      </p:sp>
      <p:sp>
        <p:nvSpPr>
          <p:cNvPr id="63" name="Text 59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2026-03-28T03:54:13Z</dcterms:created>
  <dcterms:modified xsi:type="dcterms:W3CDTF">2026-03-28T03:54:13Z</dcterms:modified>
</cp:coreProperties>
</file>