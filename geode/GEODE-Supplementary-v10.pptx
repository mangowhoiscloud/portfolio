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6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208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44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640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S06 + S07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Ratchet 실측 + Frontier 채택 판단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88777"/>
            <a:ext cx="4132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 보강: CI 5-Job Ratchet 실측</a:t>
            </a:r>
            <a:endParaRPr lang="en-US" sz="8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2209A6-540D-6C91-0D84-E8E7EECC71EB}"/>
              </a:ext>
            </a:extLst>
          </p:cNvPr>
          <p:cNvGrpSpPr/>
          <p:nvPr/>
        </p:nvGrpSpPr>
        <p:grpSpPr>
          <a:xfrm>
            <a:off x="457200" y="923627"/>
            <a:ext cx="4051250" cy="2125712"/>
            <a:chOff x="457200" y="923627"/>
            <a:chExt cx="4051250" cy="2125712"/>
          </a:xfrm>
        </p:grpSpPr>
        <p:sp>
          <p:nvSpPr>
            <p:cNvPr id="7" name="Text 5"/>
            <p:cNvSpPr/>
            <p:nvPr/>
          </p:nvSpPr>
          <p:spPr>
            <a:xfrm>
              <a:off x="457200" y="923627"/>
              <a:ext cx="4051250" cy="1278582"/>
            </a:xfrm>
            <a:prstGeom prst="roundRect">
              <a:avLst>
                <a:gd name="adj" fmla="val 3973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93675" y="1034653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Job별 실패 빈도 (550+ PR 기준)</a:t>
              </a:r>
              <a:endParaRPr lang="en-US" sz="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93675" y="1218605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ruff format</a:t>
              </a:r>
              <a:endParaRPr lang="en-US" sz="7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558826" y="1202829"/>
              <a:ext cx="2286000" cy="126950"/>
            </a:xfrm>
            <a:prstGeom prst="roundRect">
              <a:avLst>
                <a:gd name="adj" fmla="val 20008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921026" y="1223367"/>
              <a:ext cx="200989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~38%</a:t>
              </a:r>
              <a:endParaRPr lang="en-US" sz="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93675" y="1408956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mypy strict</a:t>
              </a:r>
              <a:endParaRPr lang="en-US" sz="7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58826" y="1393180"/>
              <a:ext cx="1524000" cy="126950"/>
            </a:xfrm>
            <a:prstGeom prst="roundRect">
              <a:avLst>
                <a:gd name="adj" fmla="val 20008"/>
              </a:avLst>
            </a:prstGeom>
            <a:solidFill>
              <a:srgbClr val="F97316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159026" y="1413718"/>
              <a:ext cx="200989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~25%</a:t>
              </a:r>
              <a:endParaRPr lang="en-US" sz="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3675" y="1599307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pytest ≥2900</a:t>
              </a:r>
              <a:endParaRPr lang="en-US" sz="7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558826" y="1583531"/>
              <a:ext cx="634901" cy="126950"/>
            </a:xfrm>
            <a:prstGeom prst="roundRect">
              <a:avLst>
                <a:gd name="adj" fmla="val 20008"/>
              </a:avLst>
            </a:prstGeom>
            <a:solidFill>
              <a:srgbClr val="F5C54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269927" y="1604070"/>
              <a:ext cx="200989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~10%</a:t>
              </a:r>
              <a:endParaRPr lang="en-US" sz="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93675" y="1789658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bandit security</a:t>
              </a:r>
              <a:endParaRPr lang="en-US" sz="7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558826" y="1773882"/>
              <a:ext cx="317450" cy="126950"/>
            </a:xfrm>
            <a:prstGeom prst="roundRect">
              <a:avLst>
                <a:gd name="adj" fmla="val 20008"/>
              </a:avLst>
            </a:prstGeom>
            <a:solidFill>
              <a:srgbClr val="818CF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952476" y="1794421"/>
              <a:ext cx="157725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~5%</a:t>
              </a:r>
              <a:endParaRPr lang="en-US" sz="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93675" y="1975247"/>
              <a:ext cx="906729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gate (종합)</a:t>
              </a:r>
              <a:endParaRPr lang="en-US" sz="7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558826" y="1964234"/>
              <a:ext cx="126950" cy="126950"/>
            </a:xfrm>
            <a:prstGeom prst="roundRect">
              <a:avLst>
                <a:gd name="adj" fmla="val 20008"/>
              </a:avLst>
            </a:prstGeom>
            <a:solidFill>
              <a:srgbClr val="34D39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761976" y="1984772"/>
              <a:ext cx="157725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~2%</a:t>
              </a:r>
              <a:endParaRPr lang="en-US" sz="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" y="2265611"/>
              <a:ext cx="4051250" cy="444103"/>
            </a:xfrm>
            <a:prstGeom prst="roundRect">
              <a:avLst>
                <a:gd name="adj" fmla="val 11439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81012" y="2265611"/>
              <a:ext cx="0" cy="444103"/>
            </a:xfrm>
            <a:prstGeom prst="line">
              <a:avLst/>
            </a:prstGeom>
            <a:noFill/>
            <a:ln w="47625">
              <a:solidFill>
                <a:srgbClr val="818CF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631775" y="2354461"/>
              <a:ext cx="3824719" cy="26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인사이트: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ruff format이 가장 빈번하게 차단합니다. 자동 포매팅이지만 "CI가 잡아줄 거야"라는 안일함을 방지합니다. mypy strict은 타입 안전성의 최후 방어선으로 25%를 차단합니다.</a:t>
              </a:r>
              <a:endParaRPr lang="en-US" sz="7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2773114"/>
              <a:ext cx="4051250" cy="276225"/>
            </a:xfrm>
            <a:prstGeom prst="roundRect">
              <a:avLst>
                <a:gd name="adj" fmla="val 18391"/>
              </a:avLst>
            </a:prstGeom>
            <a:solidFill>
              <a:srgbClr val="161B22"/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dirty="0"/>
                <a:t> </a:t>
              </a: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3675" y="2858839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래칫 추이:</a:t>
              </a:r>
              <a:r>
                <a:rPr lang="en-US" sz="7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2,900 → 3,377. 테스트 수는 단조 증가만 허용합니다. 감소하는 </a:t>
              </a:r>
              <a:r>
                <a:rPr lang="en-US" sz="700" dirty="0" err="1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PR은</a:t>
              </a:r>
              <a:r>
                <a:rPr lang="en-US" sz="7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머지</a:t>
              </a:r>
              <a:r>
                <a:rPr lang="en-US" sz="7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700" dirty="0" err="1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불가</a:t>
              </a:r>
              <a:r>
                <a:rPr lang="en-US" sz="7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70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4635401" y="855464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635401" y="688777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 보강: 채택/기각 판단 프레임워크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5401" y="923627"/>
            <a:ext cx="40513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59213" y="923627"/>
            <a:ext cx="0" cy="444103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9976" y="1012478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"프론티어에서 쓰니까"는 채택 근거가 아닙니다. 3개 이상의 독립 소스가 수렴하고, GEODE 맥락에서 문제를 해결하는 경우에만 채택합니다.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35401" y="1431131"/>
            <a:ext cx="4051399" cy="1592907"/>
          </a:xfrm>
          <a:prstGeom prst="roundRect">
            <a:avLst>
              <a:gd name="adj" fmla="val 31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71876" y="1542157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 vs 기각 실적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71876" y="1710333"/>
            <a:ext cx="3778448" cy="618827"/>
          </a:xfrm>
          <a:prstGeom prst="roundRect">
            <a:avLst>
              <a:gd name="adj" fmla="val 820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82902" y="1783259"/>
            <a:ext cx="36275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 (4건)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82902" y="1913334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동기 루프 (4/4 소스 수렴)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82902" y="1999059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depth=1 재귀 금지 (Claude Code + Codex)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82902" y="2084784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(OpenClaw)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882902" y="2170509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identity (Karpathy P7)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771876" y="2379911"/>
            <a:ext cx="3778448" cy="533102"/>
          </a:xfrm>
          <a:prstGeom prst="roundRect">
            <a:avLst>
              <a:gd name="adj" fmla="val 9529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82902" y="2452836"/>
            <a:ext cx="36275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(3건)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82902" y="2582912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(1/4 소스. callback=no-op, dedup=0)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882902" y="2668637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pipeline (1/4 소스. 인과 체인에 불필요)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82902" y="2754362"/>
            <a:ext cx="3627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의도 라우팅 (0/4 소스. 비용+불확실성 추가)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635401" y="3087439"/>
            <a:ext cx="4051399" cy="27622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1876" y="3173164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기각률 43%.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채택한 것보다 버린 것이 시스템의 단순함을 만들었습니다.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4991100"/>
            <a:ext cx="21899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S06: CI ruff 38% 차단율. S07: Frontier 기각률 43%, "프론티어에서 쓰니까" ≠ 근거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5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509A2D5C-4F03-B258-0E11-20F91D3334E5}"/>
              </a:ext>
            </a:extLst>
          </p:cNvPr>
          <p:cNvSpPr/>
          <p:nvPr/>
        </p:nvSpPr>
        <p:spPr>
          <a:xfrm>
            <a:off x="609600" y="2925514"/>
            <a:ext cx="4051250" cy="27622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5B8A7581-F94E-1865-06E7-42662F00A84E}"/>
              </a:ext>
            </a:extLst>
          </p:cNvPr>
          <p:cNvSpPr/>
          <p:nvPr/>
        </p:nvSpPr>
        <p:spPr>
          <a:xfrm>
            <a:off x="746075" y="3011239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래칫 추이: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2,900 → 3,377. 테스트 수는 단조 증가만 허용합니다. 감소하는 </a:t>
            </a:r>
            <a:r>
              <a:rPr lang="en-US" sz="7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PR은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머지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15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S08 VELOCITY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복리 성장 메커니즘: Phase 5 Simplification 상세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속도가 복리로 증가한 이유. 각 Phase가 다음 Phase의 기반이 되는 구조적 메커니즘.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1652"/>
            <a:ext cx="4051250" cy="660202"/>
          </a:xfrm>
          <a:prstGeom prst="roundRect">
            <a:avLst>
              <a:gd name="adj" fmla="val 76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31652"/>
            <a:ext cx="0" cy="66020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3152"/>
            <a:ext cx="3772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복리의 원리: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N에서 만든 도구가 Phase N+1의 생산성을 높입니다. CANNOT 규칙이 실수를 차단하고, Skills가 반복 작업을 자동화하고, CI가 품질을 보장합니다. 이 3가지가 겹치면서 속도가 가속됩니다.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55255"/>
            <a:ext cx="4051250" cy="1240331"/>
          </a:xfrm>
          <a:prstGeom prst="roundRect">
            <a:avLst>
              <a:gd name="adj" fmla="val 150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666280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Phase별 누적 도구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853505"/>
            <a:ext cx="507950" cy="136327"/>
          </a:xfrm>
          <a:prstGeom prst="roundRect">
            <a:avLst>
              <a:gd name="adj" fmla="val 27948"/>
            </a:avLst>
          </a:prstGeom>
          <a:solidFill>
            <a:srgbClr val="8B949E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320" y="1878806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177826" y="1869281"/>
            <a:ext cx="18198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셋업. 도구 없음. 수작업 100%.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2040582"/>
            <a:ext cx="507950" cy="136327"/>
          </a:xfrm>
          <a:prstGeom prst="roundRect">
            <a:avLst>
              <a:gd name="adj" fmla="val 27948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320" y="2065883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Ph.1-2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77825" y="2056358"/>
            <a:ext cx="2564615" cy="75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5개 + CI 3-Job. 기본 품질 가드레일 확보.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227659"/>
            <a:ext cx="507950" cy="136327"/>
          </a:xfrm>
          <a:prstGeom prst="roundRect">
            <a:avLst>
              <a:gd name="adj" fmla="val 27948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6320" y="2252960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177826" y="2243435"/>
            <a:ext cx="2357830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분리 + Skills 9개 + 5-Persona. </a:t>
            </a: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 폭발.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3675" y="2414736"/>
            <a:ext cx="507950" cy="136327"/>
          </a:xfrm>
          <a:prstGeom prst="roundRect">
            <a:avLst>
              <a:gd name="adj" fmla="val 27948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6320" y="2440037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77826" y="2430512"/>
            <a:ext cx="2564614" cy="89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+ time_budget + 42 Skills. 자동화 비율 상승.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3675" y="2601813"/>
            <a:ext cx="507950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6320" y="2627114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77825" y="2617589"/>
            <a:ext cx="2564613" cy="8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+ SessionLane.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삭제가 속도를 높임.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35401" y="831652"/>
            <a:ext cx="4051399" cy="1101477"/>
          </a:xfrm>
          <a:prstGeom prst="roundRect">
            <a:avLst>
              <a:gd name="adj" fmla="val 461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35401" y="850702"/>
            <a:ext cx="4051399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682038" y="831652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635401" y="1928366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40163" y="831652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71876" y="971252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(v0.36-0.38) 상세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1876" y="1145829"/>
            <a:ext cx="516560" cy="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794427" y="1145828"/>
            <a:ext cx="7710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PRs (#528-558)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71875" y="1288704"/>
            <a:ext cx="450569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399562" y="1288703"/>
            <a:ext cx="1537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67+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71875" y="1431578"/>
            <a:ext cx="639109" cy="79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라인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320534" y="1431578"/>
            <a:ext cx="2343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-835+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71875" y="1574454"/>
            <a:ext cx="874769" cy="79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라인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276034" y="1574453"/>
            <a:ext cx="2797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+3,276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1875" y="1717329"/>
            <a:ext cx="874773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해소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179935" y="1717328"/>
            <a:ext cx="646277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11건 → 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635401" y="1996529"/>
            <a:ext cx="4051399" cy="920502"/>
          </a:xfrm>
          <a:prstGeom prst="roundRect">
            <a:avLst>
              <a:gd name="adj" fmla="val 55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71876" y="2107555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핵심 변환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71876" y="2282130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v0.36.0: Bootstrap 통합 + Scheduler 경화 (4 PRs)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71876" y="2425005"/>
            <a:ext cx="3854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v0.37.0: Thin-only + SessionLane + 4-Layer (6 PRs)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71876" y="2558355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v0.37.1-2: IPC Events 12→30 + UX 부활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71876" y="2701230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LLM Resilience 14항목 경화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635401" y="2980432"/>
            <a:ext cx="40513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59213" y="2980432"/>
            <a:ext cx="0" cy="44410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809976" y="3069282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역설: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5에서 코드를 835줄 삭제했는데 기능은 30 IPC events + LLM Resilience 14항목이 추가되었습니다. 단순화가 새 기능의 공간을 만들었습니다.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83480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 보강: Phase 5 상세 (10 PRs, -835 lines, +3,276 lines, 11 defects→0). 삭제가 새 기능의 공간을 만듦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247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S09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모듈 배분 + 의존성 규칙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192개 모듈이 4개 레이어에 어떻게 분배되는지, 그리고 레이어 간 의존 방향이 왜 단방향인지.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1652"/>
            <a:ext cx="4051250" cy="2133005"/>
          </a:xfrm>
          <a:prstGeom prst="roundRect">
            <a:avLst>
              <a:gd name="adj" fmla="val 238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2677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모듈 배분 (192 total)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42702"/>
            <a:ext cx="381000" cy="304800"/>
          </a:xfrm>
          <a:prstGeom prst="roundRect">
            <a:avLst>
              <a:gd name="adj" fmla="val 125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7352" y="1228427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0875" y="1204615"/>
            <a:ext cx="2618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82926" y="1204615"/>
            <a:ext cx="4988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modules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0875" y="1299865"/>
            <a:ext cx="33875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 (providers, router, errors, fallback) + adapters/ (claude, openai, glm)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3675" y="1510903"/>
            <a:ext cx="381000" cy="304800"/>
          </a:xfrm>
          <a:prstGeom prst="roundRect">
            <a:avLst>
              <a:gd name="adj" fmla="val 125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7352" y="1596628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0875" y="1572816"/>
            <a:ext cx="3626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2926" y="1572816"/>
            <a:ext cx="4988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modules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50875" y="1668066"/>
            <a:ext cx="33875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gateway/(6) + memory/(14) + mcp/(18) + skills/(6) + runtime_wiring/(4) + config + auth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1879104"/>
            <a:ext cx="381000" cy="304800"/>
          </a:xfrm>
          <a:prstGeom prst="roundRect">
            <a:avLst>
              <a:gd name="adj" fmla="val 125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7352" y="1964829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0875" y="1941016"/>
            <a:ext cx="35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82926" y="1941016"/>
            <a:ext cx="4988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modules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0875" y="2036266"/>
            <a:ext cx="33875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orchestration/(14) + tools/(13) + verification/(7) + automation/(13) + hooks/(5)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2247305"/>
            <a:ext cx="381000" cy="304800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352" y="2333030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0875" y="2309217"/>
            <a:ext cx="256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82926" y="2309217"/>
            <a:ext cx="4988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modules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0875" y="2404467"/>
            <a:ext cx="33875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agent/(9) + cli/(21, thin client + UI + commands)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93675" y="2607618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3675" y="2663130"/>
            <a:ext cx="653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(직교축)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82926" y="2663130"/>
            <a:ext cx="498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modules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93675" y="2767905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domains/game_ip/(3 + nodes/7 + config + fixtures/30)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635401" y="831652"/>
            <a:ext cx="4051399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71876" y="942677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방향 규칙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1876" y="1129903"/>
            <a:ext cx="579983" cy="171450"/>
          </a:xfrm>
          <a:prstGeom prst="roundRect">
            <a:avLst>
              <a:gd name="adj" fmla="val 22222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3377" y="1168003"/>
            <a:ext cx="384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Agent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28059" y="115847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05909" y="1129903"/>
            <a:ext cx="682228" cy="171450"/>
          </a:xfrm>
          <a:prstGeom prst="roundRect">
            <a:avLst>
              <a:gd name="adj" fmla="val 22222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07410" y="1168003"/>
            <a:ext cx="4888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Harness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64337" y="115847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42187" y="1129903"/>
            <a:ext cx="686991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43688" y="1168003"/>
            <a:ext cx="4936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Runtime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305377" y="115847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83227" y="1129903"/>
            <a:ext cx="588169" cy="171450"/>
          </a:xfrm>
          <a:prstGeom prst="roundRect">
            <a:avLst>
              <a:gd name="adj" fmla="val 22222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84728" y="1168003"/>
            <a:ext cx="392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Model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71876" y="1377553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상위→하위 단방향. 역방향 import 금지. Hook System만 예외(cross-cutting).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35401" y="1656755"/>
            <a:ext cx="4051399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59213" y="1656755"/>
            <a:ext cx="0" cy="5869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09976" y="1745605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6-Layer에서 발생했던 의존성 문제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09976" y="1888480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L1(Infra)과 L4(Tools)가 서로를 import. L2(Memory)가 L3(Orchestration)을 직접 참조.</a:t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순환 의존이 3곳에서 발생. mypy strict에서 순환 import 경고 12건.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35401" y="2307134"/>
            <a:ext cx="4051399" cy="606028"/>
          </a:xfrm>
          <a:prstGeom prst="roundRect">
            <a:avLst>
              <a:gd name="adj" fmla="val 838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71876" y="2405509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전환 후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71876" y="2548384"/>
            <a:ext cx="385401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순환 import 경고 12건 →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Infra/Gateway를 Runtime으로, Tools/MCP를 Harness로 통합하여 경계를 실제 의존성에 맞췄습니다.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635401" y="2976563"/>
            <a:ext cx="4051399" cy="3810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771876" y="3062288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직교 규칙:</a:t>
            </a: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Domain은 L1(Harness)에서 DomainPort Protocol(ContextVar)로 주입됩니다. Domain이 어떤 레이어도 import하지 않고, 어떤 레이어도 Domain을 직접 import하지 않습니다.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991100"/>
            <a:ext cx="271396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 보강: L3(10) + L2(62) + L1(50) + L0(30) + Domain(40) = 192. 순환 import 12→0. 단방향 의존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154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S10 THIN DAEMON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Auto-start Sequence + TOCTOU 방지 + IPC Wire Protocol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geode를 실행하면 무엇이 일어나는가. 경합 조건 없이 안전하게 daemon을 기동하는 방법.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1652"/>
            <a:ext cx="4051250" cy="1628031"/>
          </a:xfrm>
          <a:prstGeom prst="roundRect">
            <a:avLst>
              <a:gd name="adj" fmla="val 312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2677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실행 시퀀스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990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0471" y="11837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3026" y="1129903"/>
            <a:ext cx="171660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~/.geode/cli.sock 존재 확인. 있으면 연결 시도.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3675" y="13838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0471" y="14376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73026" y="1383804"/>
            <a:ext cx="178507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 없거나 연결 실패 →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pidfile lock 획득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시도.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63770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0471" y="16915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73026" y="1637705"/>
            <a:ext cx="279487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획득 → shutil.which("geode") serve를 subprocess.Popen으로 기동.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189160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0471" y="1945481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73026" y="1891605"/>
            <a:ext cx="232944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 timeout으로 소켓 연결 대기 (MCP 13-server 기동 ~20s).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3675" y="214550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0471" y="2199382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73026" y="2145506"/>
            <a:ext cx="241733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성공 → prompt 전송. 이후 structured events 수신 + 렌더링.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2510433"/>
            <a:ext cx="4051250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1012" y="2510433"/>
            <a:ext cx="0" cy="5869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1775" y="2599283"/>
            <a:ext cx="38247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TOCTOU 방지: pidfile lock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31775" y="2742158"/>
            <a:ext cx="382471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 부재 확인 → 기동 사이에 다른 프로세스가 먼저 기동하는 TOCTOU 경합을 pidfile lock(fcntl.flock)으로 차단합니다. lock 획득 실패 시 대기만 합니다.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5401" y="831652"/>
            <a:ext cx="4051399" cy="1440507"/>
          </a:xfrm>
          <a:prstGeom prst="roundRect">
            <a:avLst>
              <a:gd name="adj" fmla="val 35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1876" y="942677"/>
            <a:ext cx="3854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Wire Protocol (NDJSON)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1876" y="1120378"/>
            <a:ext cx="3778448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3377" y="1183779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→ Server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73377" y="1294805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{"type":"prompt","text":"analyze Berserk"}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873377" y="1380530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{"type":"command","cmd":"/model","args":"sonnet"}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873377" y="1466255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{"type":"resume","session_id":"..."}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71876" y="1666131"/>
            <a:ext cx="3778448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73377" y="1729532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→ Client (30 event types)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73377" y="1840557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{"type":"thinking","content":"..."}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873377" y="1926282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{"type":"tool_start","name":"analyze_ip"}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73377" y="2012007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{"type":"result","text":"...","rounds":3}</a:t>
            </a:r>
            <a:endParaRPr lang="en-US" sz="6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76881E5-B8E3-73DF-7AC6-48F882F17AED}"/>
              </a:ext>
            </a:extLst>
          </p:cNvPr>
          <p:cNvGrpSpPr/>
          <p:nvPr/>
        </p:nvGrpSpPr>
        <p:grpSpPr>
          <a:xfrm>
            <a:off x="4635402" y="2335560"/>
            <a:ext cx="3990491" cy="930027"/>
            <a:chOff x="4635402" y="2335560"/>
            <a:chExt cx="3990491" cy="930027"/>
          </a:xfrm>
        </p:grpSpPr>
        <p:sp>
          <p:nvSpPr>
            <p:cNvPr id="39" name="Text 37"/>
            <p:cNvSpPr/>
            <p:nvPr/>
          </p:nvSpPr>
          <p:spPr>
            <a:xfrm>
              <a:off x="4635402" y="2335560"/>
              <a:ext cx="2445622" cy="930027"/>
            </a:xfrm>
            <a:prstGeom prst="roundRect">
              <a:avLst>
                <a:gd name="adj" fmla="val 5462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771876" y="2446586"/>
              <a:ext cx="3854017" cy="123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8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보안 + 에러 처리</a:t>
              </a:r>
              <a:endParaRPr lang="en-US" sz="8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771876" y="262116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chmod 0o600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소켓 파일 소유자만 접근 가능</a:t>
              </a:r>
              <a:endParaRPr lang="en-US" sz="7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771876" y="276403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listen(1)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serial processing. 동시 연결 1개만 허용</a:t>
              </a:r>
              <a:endParaRPr lang="en-US" sz="7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771876" y="290691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4ECD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BrokenPipe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클라이언트 종료 시 세션 정리</a:t>
              </a:r>
              <a:endParaRPr lang="en-US" sz="7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771876" y="304978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stale socket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서버 비정상 종료 시 소켓 파일 자동 정리</a:t>
              </a:r>
              <a:endParaRPr lang="en-US" sz="700" dirty="0"/>
            </a:p>
          </p:txBody>
        </p:sp>
      </p:grpSp>
      <p:sp>
        <p:nvSpPr>
          <p:cNvPr id="45" name="Text 43"/>
          <p:cNvSpPr/>
          <p:nvPr/>
        </p:nvSpPr>
        <p:spPr>
          <a:xfrm>
            <a:off x="4635401" y="3328988"/>
            <a:ext cx="4051399" cy="400943"/>
          </a:xfrm>
          <a:prstGeom prst="roundRect">
            <a:avLst>
              <a:gd name="adj" fmla="val 126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59213" y="3328988"/>
            <a:ext cx="0" cy="400943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09976" y="3405188"/>
            <a:ext cx="382487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gRPC/HTTP가 아닌가: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로컬 전용이므로 네트워크 스택 불필요. 외부 의존성 0. line-delimited JSON은 파싱 라이브러리 없이 readline()만으로 디코딩 가능합니다.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73294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보강: 5-step auto-start + pidfile TOCTOU 방지 + NDJSON wire protocol + chmod 0o600 보안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0191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S11 IPC EVENTS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IPC Events 상세 렌더링 맵 + ContextVar 전파 문제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8777"/>
            <a:ext cx="5435650" cy="4238923"/>
          </a:xfrm>
          <a:prstGeom prst="roundRect">
            <a:avLst>
              <a:gd name="adj" fmla="val 11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787152"/>
            <a:ext cx="52659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Events → EventRenderer 렌더링 매핑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3675" y="974378"/>
            <a:ext cx="1703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(3)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93675" y="1098203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→ 텍스트 스트림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593675" y="1212503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→ 최종 결과 패널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593675" y="1326803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→ 에러 박스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593675" y="1491853"/>
            <a:ext cx="1703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(3)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93675" y="1615678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→ 사고 spinner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593675" y="1729978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model_switched → 모델 배지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593675" y="1844278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checkpoint_saved → ✓ 표시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593675" y="2009329"/>
            <a:ext cx="1703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(4)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3675" y="2133154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tool_start → 이름+spinner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593675" y="2247454"/>
            <a:ext cx="170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tool_end → ✓+duration_s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593675" y="2352229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tool_approval → HITL 프롬프트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593675" y="2466529"/>
            <a:ext cx="17034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command_result → 커맨드 응답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339876" y="974378"/>
            <a:ext cx="1703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 (4)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339876" y="10982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model_escalation → 모델 승급 알림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339876" y="12125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cost_budget_exceeded → 비용 경고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2339876" y="13268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time_budget_expired → 시간 초과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339876" y="14411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convergence_detected → 수렴 알림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2339876" y="1606153"/>
            <a:ext cx="1703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(3)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339876" y="1729978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goal_decomposition → 분해 트리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2339876" y="1844278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tool_backpressure → 속도 제한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2339876" y="1958578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tool_diversity_forced → 도구 교체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2339876" y="2123629"/>
            <a:ext cx="1703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(7)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339876" y="2247454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gather/analysis/eval/score/verify → 단계별 패널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2339876" y="2361754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pipeline_header/result → 헤더+결과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4086225" y="974378"/>
            <a:ext cx="1703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(4)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086225" y="10982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feedback_loop → 루프백 표시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086225" y="12125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node_skipped → skip 사유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4086225" y="13268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→ 상태 라인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086225" y="1441103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→ 진행률 바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086225" y="1606153"/>
            <a:ext cx="1703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(2)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086225" y="1729978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activity_spinner → 작업 중 애니메이션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086225" y="1844278"/>
            <a:ext cx="17035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cost_update → 실시간 비용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6019800" y="688777"/>
            <a:ext cx="2667000" cy="878681"/>
          </a:xfrm>
          <a:prstGeom prst="roundRect">
            <a:avLst>
              <a:gd name="adj" fmla="val 57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43613" y="688777"/>
            <a:ext cx="0" cy="87868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94375" y="790277"/>
            <a:ext cx="24127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발견: ContextVar 스레드 미전파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94375" y="933152"/>
            <a:ext cx="241278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ContextVar는 asyncio Task에는 자동 전파되지만 threading.Thread에는 전파되지 않습니다.</a:t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CLIPoller가 daemon thread에서 실행되면서 AgenticLoop의 ContextVar를 읽지 못했습니다.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19800" y="1630859"/>
            <a:ext cx="2667000" cy="737741"/>
          </a:xfrm>
          <a:prstGeom prst="roundRect">
            <a:avLst>
              <a:gd name="adj" fmla="val 6886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6275" y="1741884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copy_context()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156275" y="1884759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 생성 시 copy_context().run()으로 부모 컨텍스트를 명시적으로 복사합니다. 이 패턴은 SharedServices 전체에 적용되었습니다.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19800" y="2432000"/>
            <a:ext cx="2667000" cy="737741"/>
          </a:xfrm>
          <a:prstGeom prst="roundRect">
            <a:avLst>
              <a:gd name="adj" fmla="val 68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56275" y="2543026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 job 정리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56275" y="2685901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전환 중 action 필드가 빈 스케줄러 잡 13개 발견. NL Parser가 생성했으나 action을 채우지 않은 잡입니다. 전수 삭제 후 create 시 action 필수 검증 추가.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19800" y="3233142"/>
            <a:ext cx="2667000" cy="737741"/>
          </a:xfrm>
          <a:prstGeom prst="roundRect">
            <a:avLst>
              <a:gd name="adj" fmla="val 68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56275" y="3344168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ColorSystem 문제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156275" y="3487043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serve가 /dev/null로 리다이렉트되면 Rich가 ColorSystem=None으로 판단. ANSI 코드 미출력. IPC 모드에서 ColorSystem을 강제 설정하여 해결.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7200" y="4991100"/>
            <a:ext cx="27837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보강: 30 events 전수 렌더링 맵 + ContextVar copy_context() + zombie 13건 + ColorSystem 강제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86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S15 SUBAGENT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CoalescingQueue가 구조적으로 불필요한 증명 + C3/H2 Race Trace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55464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88777"/>
            <a:ext cx="4132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 dedup이 발화할 수 없는 이유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23627"/>
            <a:ext cx="4051250" cy="1353145"/>
          </a:xfrm>
          <a:prstGeom prst="roundRect">
            <a:avLst>
              <a:gd name="adj" fmla="val 37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034653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동기 루프 타이밍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202829"/>
            <a:ext cx="888950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2510" y="1240929"/>
            <a:ext cx="751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533376" y="1233041"/>
            <a:ext cx="2592884" cy="101501"/>
          </a:xfrm>
          <a:prstGeom prst="roundRect">
            <a:avLst>
              <a:gd name="adj" fmla="val 25024"/>
            </a:avLst>
          </a:prstGeom>
          <a:solidFill>
            <a:srgbClr val="4ECDC4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77010" y="1240929"/>
            <a:ext cx="1988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2-30s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3675" y="1440954"/>
            <a:ext cx="888950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510" y="1479054"/>
            <a:ext cx="751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533376" y="1471166"/>
            <a:ext cx="2529334" cy="101501"/>
          </a:xfrm>
          <a:prstGeom prst="roundRect">
            <a:avLst>
              <a:gd name="adj" fmla="val 25024"/>
            </a:avLst>
          </a:prstGeom>
          <a:solidFill>
            <a:srgbClr val="F5C542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13461" y="1479054"/>
            <a:ext cx="263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0.1-60s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679079"/>
            <a:ext cx="888950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2510" y="1717179"/>
            <a:ext cx="751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window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533376" y="1709291"/>
            <a:ext cx="38100" cy="101501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22227" y="1717179"/>
            <a:ext cx="1946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1917204"/>
            <a:ext cx="38538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루프에서 같은 키로 재제출하려면 LLM call(2s+) + tool exec(0.1s+) = 최소 2.1초가 필요합니다. 250ms 윈도우 안에 재제출이 도착하는 것은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구조적으로 불가능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340173"/>
            <a:ext cx="4051250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1012" y="2340173"/>
            <a:ext cx="0" cy="569119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1775" y="2429024"/>
            <a:ext cx="38247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검증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31775" y="2571899"/>
            <a:ext cx="382471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CoalescingQueue의 dedup 콜백이 실제로 발화한 횟수: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0회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전체 세션 이력에서 한 번도 dedup이 작동한 적이 없습니다. callback 자체도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_k, _d: None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(no-op).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35401" y="845939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35401" y="688777"/>
            <a:ext cx="41324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+ H2 Race Condition Traces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35401" y="914102"/>
            <a:ext cx="4051399" cy="971252"/>
          </a:xfrm>
          <a:prstGeom prst="roundRect">
            <a:avLst>
              <a:gd name="adj" fmla="val 52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1876" y="1025128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Scheduler jobs.json 경합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1876" y="1180654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read(jobs.json) → job_list = [A, B]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71876" y="130447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read(jobs.json) → job_list = [A, B]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71876" y="1428304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write([A, B, C])  # C 추가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71876" y="155212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write([A, B, D])  # C 유실!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71876" y="1688604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fcntl.flock(LOCK_EX). 파일 수준 배타 잠금.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35401" y="1948755"/>
            <a:ext cx="4051399" cy="971252"/>
          </a:xfrm>
          <a:prstGeom prst="roundRect">
            <a:avLst>
              <a:gd name="adj" fmla="val 52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1876" y="205978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announce 중복 발행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71876" y="2215307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check _active[key] → False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71876" y="2339132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check _active[key] → False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71876" y="2462957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set _active[key]=True, announce()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71876" y="2586782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set _active[key]=True, announce()  # 중복!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71876" y="2723257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Lane.try_acquire()/manual_release() atomic check-and-set.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635401" y="2983409"/>
            <a:ext cx="4051399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659213" y="2983409"/>
            <a:ext cx="0" cy="426244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09976" y="3072259"/>
            <a:ext cx="382487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SessionLane이 두 결함을 동시에 해소하는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per-key Semaphore(1)이 같은 키의 동시 접근을 원천 차단합니다. C3은 같은 jobs.json에, H2는 같은 session key에 대한 동시 접근이었습니다.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991100"/>
            <a:ext cx="330463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 보강: dedup 발화 0회(구조적 불가능). C3 jobs.json race + H2 announce race → SessionLane per-key Sem(1) 해소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245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S23 SIMPLE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삭제한 코드 인벤토리 + 삭제 전후 커버리지 증명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8777"/>
            <a:ext cx="4051250" cy="1882973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799802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삭제된 코드 인벤토리 (835+ lines)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3675" y="1223665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3675" y="999827"/>
            <a:ext cx="1200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REPL bootstrap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095077"/>
            <a:ext cx="12007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core/cli/__init__.py 내 독립 실행 경로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044255" y="1018877"/>
            <a:ext cx="334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-487줄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3675" y="1525191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3675" y="1291828"/>
            <a:ext cx="13739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클래스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1396603"/>
            <a:ext cx="13739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core/orchestration/coalescing_queue.py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044255" y="1315641"/>
            <a:ext cx="334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-148줄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3675" y="1826716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3675" y="1593354"/>
            <a:ext cx="15796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hardcoded lane 정의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1698129"/>
            <a:ext cx="15796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gateway_lane, scheduler_lane, global_lane 등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044255" y="1617166"/>
            <a:ext cx="334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-120줄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675" y="2118717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3675" y="1894880"/>
            <a:ext cx="16942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orphan hook events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3675" y="1990130"/>
            <a:ext cx="16942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GATEWAY_*, PROMPT_DRIFT 등 발화 0회 이벤트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107805" y="1913930"/>
            <a:ext cx="269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3675" y="2186880"/>
            <a:ext cx="16920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bootstrap 로직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291655"/>
            <a:ext cx="16920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bootstrap_geode() + GeodeRuntime.create() 중복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107805" y="2210693"/>
            <a:ext cx="269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35401" y="688777"/>
            <a:ext cx="4051399" cy="1418630"/>
          </a:xfrm>
          <a:prstGeom prst="roundRect">
            <a:avLst>
              <a:gd name="adj" fmla="val 358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1876" y="799802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전후 품질 지표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71876" y="1115616"/>
            <a:ext cx="3778448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71876" y="987028"/>
            <a:ext cx="2289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301085" y="987028"/>
            <a:ext cx="5141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(v0.35)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109793" y="987028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(v0.38)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71876" y="1171129"/>
            <a:ext cx="211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25059" y="1171129"/>
            <a:ext cx="2269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93273" y="1171129"/>
            <a:ext cx="4661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 (+33)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1876" y="1317129"/>
            <a:ext cx="342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74631" y="1317129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189714" y="1317129"/>
            <a:ext cx="367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(-10)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71876" y="1463129"/>
            <a:ext cx="4784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errors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46094" y="146312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500765" y="146312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71876" y="1609130"/>
            <a:ext cx="5325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violations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72585" y="16091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500765" y="16091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1876" y="1755130"/>
            <a:ext cx="5038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858595" y="17551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500765" y="175513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71876" y="1901130"/>
            <a:ext cx="6497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(C/H/M)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78960" y="1901130"/>
            <a:ext cx="3210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263830" y="1901130"/>
            <a:ext cx="2922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open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35401" y="2170807"/>
            <a:ext cx="4051399" cy="736402"/>
          </a:xfrm>
          <a:prstGeom prst="roundRect">
            <a:avLst>
              <a:gd name="adj" fmla="val 68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59213" y="2170807"/>
            <a:ext cx="0" cy="736402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809976" y="2272308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삭제의 3가지 검증 기준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09976" y="2415183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삭제 후 테스트가 통과하는가? (CI 5/5)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809976" y="2558058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삭제된 코드가 실제로 실행된 적 있는가? (coverage + runtime log)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09976" y="2700933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5-Persona 중 누구도 반대하지 않는가?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635401" y="2970609"/>
            <a:ext cx="4051399" cy="419993"/>
          </a:xfrm>
          <a:prstGeom prst="roundRect">
            <a:avLst>
              <a:gd name="adj" fmla="val 1209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71876" y="3056334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원칙: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"harm이 없으니 남겨두자"는 유지 근거가 아닙니다. 코드는 존재하는 것만으로 인지 부하, 의존성, 테스트 유지 비용을 발생시킵니다.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57200" y="4991100"/>
            <a:ext cx="27251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 보강: 835+ lines 삭제 인벤토리 5건. Tests +33, Modules -10, Defects 11→0. 삭제의 3 검증 기준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612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S24 GATEWAY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구조적 결함 전수 해소 맵 (C1-C4, H1-H8, M1)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8777"/>
            <a:ext cx="2972842" cy="304800"/>
          </a:xfrm>
          <a:prstGeom prst="roundRect">
            <a:avLst>
              <a:gd name="adj" fmla="val 16667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707827"/>
            <a:ext cx="2972842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425279" y="688777"/>
            <a:ext cx="0" cy="30480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988814"/>
            <a:ext cx="2972842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1963" y="688777"/>
            <a:ext cx="0" cy="30480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8226" y="803077"/>
            <a:ext cx="2805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(4건)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044327"/>
            <a:ext cx="2972842" cy="419100"/>
          </a:xfrm>
          <a:prstGeom prst="roundRect">
            <a:avLst>
              <a:gd name="adj" fmla="val 1212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130052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agentic_ref race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225302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list → ContextVar 교체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68226" y="1311027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 #525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457200" y="1514177"/>
            <a:ext cx="2972842" cy="419100"/>
          </a:xfrm>
          <a:prstGeom prst="roundRect">
            <a:avLst>
              <a:gd name="adj" fmla="val 1212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8226" y="1599902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TaskGraph unsync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8226" y="1695152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threading.Lock on state transitions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68226" y="1780877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 #525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457200" y="1984028"/>
            <a:ext cx="2972842" cy="419100"/>
          </a:xfrm>
          <a:prstGeom prst="roundRect">
            <a:avLst>
              <a:gd name="adj" fmla="val 1212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226" y="2069753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Dual scheduler race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68226" y="2165003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fcntl.flock on jobs.json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8226" y="2250728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 #531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457200" y="2453878"/>
            <a:ext cx="2972842" cy="419100"/>
          </a:xfrm>
          <a:prstGeom prst="roundRect">
            <a:avLst>
              <a:gd name="adj" fmla="val 1212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2539603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LaneQueue leak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68226" y="2634853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acquired/active 분리 추적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68226" y="2720578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 #525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531543" y="688777"/>
            <a:ext cx="2972842" cy="304800"/>
          </a:xfrm>
          <a:prstGeom prst="roundRect">
            <a:avLst>
              <a:gd name="adj" fmla="val 16667"/>
            </a:avLst>
          </a:prstGeom>
          <a:solidFill>
            <a:srgbClr val="F9731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531543" y="707827"/>
            <a:ext cx="297284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99622" y="688777"/>
            <a:ext cx="0" cy="30480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531543" y="988814"/>
            <a:ext cx="2972842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536305" y="688777"/>
            <a:ext cx="0" cy="30480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42568" y="803077"/>
            <a:ext cx="2805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(6건)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531543" y="1044327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42568" y="1117253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Zombie threads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42568" y="1212503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_active에서 timeout 시 제거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642568" y="1298228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 #526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531543" y="1488579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42568" y="1561505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Announce double-pub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42568" y="1656755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check-and-set in lock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642568" y="1742480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 #531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531543" y="1932831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642568" y="2005757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HookSystem x2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42568" y="2101007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build_shared_services(hook=boot)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642568" y="2186732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 #530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3531543" y="2377083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642568" y="2450009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H5: Readiness race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42568" y="2545259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+ Event 동기화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642568" y="2630984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 #530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3531543" y="2821335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642568" y="2894261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H6: 6 orphan hooks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642568" y="2989511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발화 0회 이벤트 삭제 46→40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42568" y="3075236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 #526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3531543" y="3265587"/>
            <a:ext cx="2972842" cy="393502"/>
          </a:xfrm>
          <a:prstGeom prst="roundRect">
            <a:avLst>
              <a:gd name="adj" fmla="val 129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642568" y="3338513"/>
            <a:ext cx="2805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H8: env whitelist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42568" y="3433763"/>
            <a:ext cx="28058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subprocess에 10개 변수만 전달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642568" y="3519488"/>
            <a:ext cx="28058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 #526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6605885" y="688777"/>
            <a:ext cx="2080915" cy="304800"/>
          </a:xfrm>
          <a:prstGeom prst="roundRect">
            <a:avLst>
              <a:gd name="adj" fmla="val 16667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605885" y="707827"/>
            <a:ext cx="208091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8682038" y="688777"/>
            <a:ext cx="0" cy="30480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605885" y="988814"/>
            <a:ext cx="2080915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610648" y="688777"/>
            <a:ext cx="0" cy="30480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716911" y="803077"/>
            <a:ext cx="18960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(1건)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605885" y="1044327"/>
            <a:ext cx="2080915" cy="419100"/>
          </a:xfrm>
          <a:prstGeom prst="roundRect">
            <a:avLst>
              <a:gd name="adj" fmla="val 1212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716911" y="1130052"/>
            <a:ext cx="18960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M1: Config pollers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716911" y="1225302"/>
            <a:ext cx="18960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_POLLER_REGISTRY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716911" y="1311027"/>
            <a:ext cx="18960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 #535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6605885" y="1514177"/>
            <a:ext cx="2080915" cy="3413522"/>
          </a:xfrm>
          <a:prstGeom prst="roundRect">
            <a:avLst>
              <a:gd name="adj" fmla="val 244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742361" y="1625203"/>
            <a:ext cx="18441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해소 타임라인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742361" y="1812429"/>
            <a:ext cx="2973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423970" y="1812429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3건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742361" y="1955304"/>
            <a:ext cx="2973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8423970" y="1955304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3건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742361" y="2098179"/>
            <a:ext cx="2973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v0.36.0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423970" y="2098179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742361" y="2241054"/>
            <a:ext cx="2973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423970" y="2241054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1건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742361" y="2388691"/>
            <a:ext cx="1807964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6742361" y="2431554"/>
            <a:ext cx="1569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465493" y="24315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7200" y="4991100"/>
            <a:ext cx="242113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 보강: C4+H6+M1 = 11 defects. v0.35.0~v0.37.0 4개 버전에 걸쳐 전수 해소. 잔여 0건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992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S26 TRADEOFFS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기각된 대안 상세: 왜 gRPC가 아닌지, 왜 ReAct가 아닌지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55464"/>
            <a:ext cx="40512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88777"/>
            <a:ext cx="4132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기각된 아키텍처 대안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0977"/>
            <a:ext cx="4051250" cy="711994"/>
          </a:xfrm>
          <a:prstGeom prst="roundRect">
            <a:avLst>
              <a:gd name="adj" fmla="val 713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009352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HTTP 서버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152227"/>
            <a:ext cx="38538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로컬 전용 통신에 protobuf 컴파일, HTTP 서버 의존성 추가는 과잉입니다. grpcio(~40MB)는 ARM64에서 빌드 시간 3분 이상. Unix socket은 의존성 0, readline()만으로 디코딩 가능합니다.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3675" y="1438870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0 vs grpcio 40MB. 선택은 명확합니다.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1673721"/>
            <a:ext cx="4051250" cy="836265"/>
          </a:xfrm>
          <a:prstGeom prst="roundRect">
            <a:avLst>
              <a:gd name="adj" fmla="val 607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675" y="1772096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 이벤트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1914971"/>
            <a:ext cx="385386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LangGraph StateGraph는 동기 API입니다. async wrapper를 씌우면 run_in_executor 호출이 모든 노드에 필요합니다. I/O async와 Architecture async를 혼동하면 안 됩니다. 인과적 의존 체인에서 async는 복잡도만 추가합니다.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2325886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Devin, autoresearch 모두 동기 루프를 선택한 이유와 동일합니다.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2560737"/>
            <a:ext cx="4051250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3675" y="2659112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유지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801987"/>
            <a:ext cx="38538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L1(Infra)과 L4(Tools)가 서로 import하는 순환 의존 12건. 6개 레이어 경계가 실제 코드 의존성과 불일치했습니다. 4-Layer로 통합하자 순환 import 0건.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635401" y="855464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35401" y="688777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기각된 파이프라인 대안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35401" y="910977"/>
            <a:ext cx="4051399" cy="702469"/>
          </a:xfrm>
          <a:prstGeom prst="roundRect">
            <a:avLst>
              <a:gd name="adj" fmla="val 7232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1876" y="1009352"/>
            <a:ext cx="3854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(Reasoning + Acting)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71876" y="1142702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파이프라인 실행 순서가 비결정적입니다. 4 analyst x 3 evaluator를 ReAct로 실행하면 순서 재현이 불가능합니다. Plan-and-Execute DAG는 결정론적 순서 + 병렬 노드를 동시에 제공합니다.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71876" y="1429345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 불가능한 비결정적 파이프라인은 프로덕션에 부적합합니다.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35401" y="1664196"/>
            <a:ext cx="4051399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1876" y="176257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컨텍스트 공유 (analyses: full)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71876" y="1905446"/>
            <a:ext cx="385401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평가자가 이전 분석 결과를 보면 앵커링 편향이 발생합니다. Clean Context(analyses: [])로 각 평가자에게 빈 상태를 주면 독립적 판단이 보장됩니다. 이 단일 결정이 평가 품질에 가장 큰 영향을 미쳤습니다.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5401" y="2427387"/>
            <a:ext cx="4051399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1876" y="2525762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의도 라우팅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71876" y="2668637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라우팅 자체에 LLM 호출 비용 + 레이턴시 + 불확실성이 추가됩니다. 정적 바인딩은 결정론적, 제로 레이턴시, 감사 가능합니다. 4개 프론티어 에이전트 중 0개가 LLM 라우팅을 사용합니다.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4991100"/>
            <a:ext cx="26277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S26 보강: 기각 7건 상세. gRPC(40MB), asyncio(인과 체인), ReAct(비결정), LLM 라우팅(0/4 소스)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757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S27 TRADEOFFS 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 LLM Resilience: 14항목 경화 + Error Classification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v0.38.0에서 추가된 LLM 장애 복구 14항목. 실행 트레이드오프의 최신 진화입니다.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1652"/>
            <a:ext cx="4051250" cy="1740098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30027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Resilience 14항목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17253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(3)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41078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Backoff jitter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364903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C1b: Cross-provider failover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93675" y="1488728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Fallback cost ratio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93675" y="1663303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(3)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3675" y="1787128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A2: 80% proactive warning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910953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A3: Checkpoint resume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3675" y="2034778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B2: Error propagation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520851" y="1117253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(5)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20851" y="1241078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B1: Degraded fallback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520851" y="1364903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B3: Pipeline timeout 600s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520851" y="1488728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B4: Degraded scoring penalty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520851" y="1612553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B5: Verification enrichment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520851" y="1736378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B6: Evaluator partial retry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20851" y="1910953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(3)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520851" y="2034778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B7: History trimming(10)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520851" y="2158603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B8: Gather retryable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520851" y="2282428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35401" y="831652"/>
            <a:ext cx="4051399" cy="1183928"/>
          </a:xfrm>
          <a:prstGeom prst="roundRect">
            <a:avLst>
              <a:gd name="adj" fmla="val 429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1876" y="942677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Classification (v0.38 신규)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71876" y="1233041"/>
            <a:ext cx="3778448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71876" y="1117253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타입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8265468" y="1117253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복구 전략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71876" y="1275904"/>
            <a:ext cx="58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RateLimitError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71333" y="1275904"/>
            <a:ext cx="998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 backoff + cross-provider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71876" y="1409254"/>
            <a:ext cx="776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AuthenticationError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908727" y="1409254"/>
            <a:ext cx="654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실패 (복구 불가)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71876" y="1542604"/>
            <a:ext cx="4432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BillingError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80611" y="1542604"/>
            <a:ext cx="5811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저비용 모델로 전환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71876" y="1675954"/>
            <a:ext cx="6700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ContextOverflow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459563" y="1675954"/>
            <a:ext cx="11125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+ halved-keep prune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71876" y="1809304"/>
            <a:ext cx="5255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TimeoutError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63011" y="1809304"/>
            <a:ext cx="905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retry(1) + fallback provider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35401" y="2078980"/>
            <a:ext cx="4051399" cy="720179"/>
          </a:xfrm>
          <a:prstGeom prst="roundRect">
            <a:avLst>
              <a:gd name="adj" fmla="val 70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59213" y="2078980"/>
            <a:ext cx="0" cy="72017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09976" y="2167830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Fallback 트레이드오프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09976" y="2310705"/>
            <a:ext cx="3824871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 소진 시 크래시 대신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is_degraded=True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반환합니다. 결과의 신뢰도는 낮지만 파이프라인이 중단되지 않습니다. 점수에는 비례적 신뢰도 감소(penalty)가 적용되어 degraded 소스의 영향력이 줄어듭니다.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35401" y="2862560"/>
            <a:ext cx="4051399" cy="578644"/>
          </a:xfrm>
          <a:prstGeom prst="roundRect">
            <a:avLst>
              <a:gd name="adj" fmla="val 87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1876" y="2960936"/>
            <a:ext cx="3854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71876" y="3094286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exhaustion 시 기존: 루프 중단. v0.38: summarize(keep_recent 절반) 후 루프를 계속합니다. 정보 손실 대신 작업 완료를 우선합니다.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635401" y="3504605"/>
            <a:ext cx="4051399" cy="3810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71876" y="3590330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+2: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FALLBACK_CROSS_PROVIDER, PIPELINE_TIMEOUT. 42 events 관측 체계로 resilience 경로도 추적합니다.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7200" y="4991100"/>
            <a:ext cx="289643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 보강: v0.38 LLM Resilience 14항목 + Error Classification 5종 + Degraded Fallback + Hook 40→42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303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S28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vs REODE 기술 스택 상세 비교 + 이식성 메커니즘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8777"/>
            <a:ext cx="4051250" cy="1545431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799802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비교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3675" y="1115616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3675" y="999827"/>
            <a:ext cx="12845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53059" y="999827"/>
            <a:ext cx="12847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112591" y="999827"/>
            <a:ext cx="12845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93675" y="11584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53059" y="115847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112591" y="11584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22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2918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53059" y="129182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FastAPI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112591" y="12918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6.1 + Spring Boot 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4251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SDK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53059" y="142517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SDK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12591" y="14251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Java SDK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93675" y="15585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53059" y="155852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Redis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112591" y="15585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16918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53059" y="169187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strict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112591" y="16918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javac + IDE checks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18252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53059" y="182522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112591" y="182522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93675" y="19585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853059" y="1958578"/>
            <a:ext cx="1284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112591" y="1958578"/>
            <a:ext cx="1284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635401" y="688777"/>
            <a:ext cx="4051399" cy="612279"/>
          </a:xfrm>
          <a:prstGeom prst="roundRect">
            <a:avLst>
              <a:gd name="adj" fmla="val 82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59213" y="688777"/>
            <a:ext cx="0" cy="612279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09976" y="790277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이식의 핵심: 무엇이 바뀌지 않았는가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09976" y="933152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루프, DomainPort Protocol, 5-Tier Safety, PolicyChain AND-logic, time_budget_s 실행 제약. 이 5가지가 동일하기 때문에 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변경 0줄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도메인 교체가 가능했습니다.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35401" y="1364456"/>
            <a:ext cx="4051399" cy="1371302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71876" y="1475482"/>
            <a:ext cx="38540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마이그레이션 실측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71876" y="1662708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737425" y="1662708"/>
            <a:ext cx="829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Java + 355 JSP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1876" y="1805583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규모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031510" y="1805583"/>
            <a:ext cx="5291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103,983 LoC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71876" y="1948458"/>
            <a:ext cx="6524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대상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507932" y="1948458"/>
            <a:ext cx="1063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1.8→22, Spring 4→6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1876" y="2091333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시간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244036" y="2091333"/>
            <a:ext cx="312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71876" y="2234208"/>
            <a:ext cx="4368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488138" y="2234208"/>
            <a:ext cx="10834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 rounds / 33 sessions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71876" y="2377083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0591" y="2377083"/>
            <a:ext cx="2547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~$388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71876" y="2519958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결과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893248" y="2519958"/>
            <a:ext cx="6702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pass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635401" y="2799159"/>
            <a:ext cx="4051399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71876" y="2897535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대비 비용 효율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71876" y="3040410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Java 마이그레이션을 시니어 엔지니어가 수행하면 2-4주 예상. GEODE는 5h 48m, $388. 시간 80x, 비용 50x 이상 효율적입니다.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991100"/>
            <a:ext cx="28051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 보강: 기술 스택 7-layer 비교. 5가지 공유 패턴 = core 0줄. REODE 103K LoC, 5h48m, $388, 83/83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7491" y="4991100"/>
            <a:ext cx="1930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876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SUPPLEMENTARY: S29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Phase별 PR/릴리스 상세 + 핵심 전환점 3가지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8778"/>
            <a:ext cx="4051250" cy="1604812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799802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Phase별 정량 분석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3675" y="1115616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3675" y="999827"/>
            <a:ext cx="7124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286411" y="999827"/>
            <a:ext cx="582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859182" y="999827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287387" y="999827"/>
            <a:ext cx="21052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산출물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93675" y="1171129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 (v0.1-7)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6411" y="1171129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859182" y="1171129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7387" y="1171129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DAG, 14축 루브릭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93675" y="1317129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 (v0.8)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86411" y="1317129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59182" y="1317129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7387" y="1317129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DomainPort, Token Guard 철폐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93675" y="1463129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 (v0.24-30)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86411" y="1463129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859182" y="1463129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7387" y="1463129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47 Tools, 40 Hooks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93675" y="1609130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 (v0.31-35)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86411" y="1609130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59182" y="1609130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87387" y="1609130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SharedServices, 42 Skills, Hardening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1755130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 (v0.36-38)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286411" y="1755130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859182" y="1755130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7387" y="1755130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Thin-only, 4-Layer, Resilience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93675" y="1905893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93675" y="1948755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86411" y="1948755"/>
            <a:ext cx="582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59182" y="1948755"/>
            <a:ext cx="453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287387" y="1948755"/>
            <a:ext cx="21052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regressions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635401" y="855464"/>
            <a:ext cx="40513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35401" y="688777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핵심 전환점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35401" y="923627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35401" y="942677"/>
            <a:ext cx="405139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682038" y="923627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635401" y="1659434"/>
            <a:ext cx="40513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640163" y="923627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771876" y="1050578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1: Identity Pivot (v0.8)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71876" y="1193453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자율 피봇. "Undervalued IP Analyzer"에서 "Autonomous Execution Harness"로. DomainPort Protocol 설계. 도메인 종속에서 범용으로 전환한 결정입니다.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71876" y="1480096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전환이 없었다면 REODE 이식은 불가능했습니다.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635401" y="1727597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635401" y="1746647"/>
            <a:ext cx="4051399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682038" y="1727597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635401" y="2463403"/>
            <a:ext cx="405139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640163" y="1727597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71876" y="1854547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2: SharedServices Gateway (v0.35)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71876" y="1997422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create_session(mode) 단일 팩토리. REPL, Slack, Scheduler가 동일한 리소스를 공유합니다. 이 패턴이 thin-only 전환의 전제 조건이었습니다.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71876" y="2284065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팩토리 없이는 unified daemon 구현이 불가능했습니다.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635401" y="2531566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635401" y="2550616"/>
            <a:ext cx="40513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8682038" y="2531566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635401" y="3267373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640163" y="2531566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771876" y="2658517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3: "이거 필요해?" (v0.37)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71876" y="2801392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 단순화. 복잡함을 추가하는 것보다 제거하는 것이 더 어렵습니다. 202→192 모듈, 6→4 레이어, 5→2 게이트. 줄였지만 기능은 더 추가되었습니다.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71876" y="3088035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단순화 없이는 v0.38 LLM Resilience 14항목 추가 공간이 없었습니다.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991100"/>
            <a:ext cx="302516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 보강: 5 Phase, 44 releases, 550+ PRs. 전환점 3가지: Pivot(v0.8), SharedServices(v0.35), 단순화(v0.37)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3497</Words>
  <Application>Microsoft Macintosh PowerPoint</Application>
  <PresentationFormat>화면 슬라이드 쇼(16:9)</PresentationFormat>
  <Paragraphs>481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v0.38 — Supplementary Materials</dc:title>
  <dc:subject>PptxGenJS Presentation</dc:subject>
  <dc:creator>mangowhoiscloud</dc:creator>
  <cp:lastModifiedBy>mng polar</cp:lastModifiedBy>
  <cp:revision>2</cp:revision>
  <dcterms:created xsi:type="dcterms:W3CDTF">2026-03-30T16:09:49Z</dcterms:created>
  <dcterms:modified xsi:type="dcterms:W3CDTF">2026-03-30T16:44:06Z</dcterms:modified>
</cp:coreProperties>
</file>